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media/image-10-1.jpg" ContentType="image/jpg"/>
  <Override PartName="/ppt/media/image-22-1.jpg" ContentType="image/jpg"/>
  <Override PartName="/ppt/media/image-35-1.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Lst>
  <p:notesMasterIdLst>
    <p:notesMasterId r:id="rId6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notesMaster" Target="notesMasters/notesMaster1.xml"/><Relationship Id="rId65" Type="http://schemas.openxmlformats.org/officeDocument/2006/relationships/presProps" Target="presProps.xml"/><Relationship Id="rId66" Type="http://schemas.openxmlformats.org/officeDocument/2006/relationships/viewProps" Target="viewProps.xml"/><Relationship Id="rId67" Type="http://schemas.openxmlformats.org/officeDocument/2006/relationships/theme" Target="theme/theme1.xml"/><Relationship Id="rId68"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bytes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cat>
            <c:multiLvlStrRef>
              <c:f>Sheet1!$A$2:$A$8</c:f>
              <c:multiLvlStrCache>
                <c:ptCount val="7"/>
                <c:lvl>
                  <c:pt idx="0">
                    <c:v>version</c:v>
                  </c:pt>
                  <c:pt idx="1">
                    <c:v>marker</c:v>
                  </c:pt>
                  <c:pt idx="2">
                    <c:v>flag</c:v>
                  </c:pt>
                  <c:pt idx="3">
                    <c:v>input</c:v>
                  </c:pt>
                  <c:pt idx="4">
                    <c:v>output</c:v>
                  </c:pt>
                  <c:pt idx="5">
                    <c:v>witness</c:v>
                  </c:pt>
                  <c:pt idx="6">
                    <c:v>lock</c:v>
                  </c:pt>
                </c:lvl>
              </c:multiLvlStrCache>
            </c:multiLvlStrRef>
          </c:cat>
          <c:val>
            <c:numRef>
              <c:f>Sheet1!$B$2:$B$8</c:f>
              <c:numCache>
                <c:formatCode>General</c:formatCode>
                <c:ptCount val="7"/>
                <c:pt idx="0">
                  <c:v>4</c:v>
                </c:pt>
                <c:pt idx="1">
                  <c:v>1</c:v>
                </c:pt>
                <c:pt idx="2">
                  <c:v>1</c:v>
                </c:pt>
                <c:pt idx="3">
                  <c:v>42</c:v>
                </c:pt>
                <c:pt idx="4">
                  <c:v>75</c:v>
                </c:pt>
                <c:pt idx="5">
                  <c:v>67</c:v>
                </c:pt>
                <c:pt idx="6">
                  <c:v>4</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bytes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cat>
            <c:multiLvlStrRef>
              <c:f>Sheet1!$A$2:$A$7</c:f>
              <c:multiLvlStrCache>
                <c:ptCount val="6"/>
                <c:lvl>
                  <c:pt idx="0">
                    <c:v>1</c:v>
                  </c:pt>
                  <c:pt idx="1">
                    <c:v>252</c:v>
                  </c:pt>
                  <c:pt idx="2">
                    <c:v>253</c:v>
                  </c:pt>
                  <c:pt idx="3">
                    <c:v>65535</c:v>
                  </c:pt>
                  <c:pt idx="4">
                    <c:v>65536</c:v>
                  </c:pt>
                  <c:pt idx="5">
                    <c:v>2**32</c:v>
                  </c:pt>
                </c:lvl>
              </c:multiLvlStrCache>
            </c:multiLvlStrRef>
          </c:cat>
          <c:val>
            <c:numRef>
              <c:f>Sheet1!$B$2:$B$7</c:f>
              <c:numCache>
                <c:formatCode>General</c:formatCode>
                <c:ptCount val="6"/>
                <c:pt idx="0">
                  <c:v>1</c:v>
                </c:pt>
                <c:pt idx="1">
                  <c:v>1</c:v>
                </c:pt>
                <c:pt idx="2">
                  <c:v>3</c:v>
                </c:pt>
                <c:pt idx="3">
                  <c:v>3</c:v>
                </c:pt>
                <c:pt idx="4">
                  <c:v>5</c:v>
                </c:pt>
                <c:pt idx="5">
                  <c:v>9</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satoshis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cat>
            <c:multiLvlStrRef>
              <c:f>Sheet1!$A$2:$A$4</c:f>
              <c:multiLvlStrCache>
                <c:ptCount val="3"/>
                <c:lvl>
                  <c:pt idx="0">
                    <c:v>output 0</c:v>
                  </c:pt>
                  <c:pt idx="1">
                    <c:v>output 1</c:v>
                  </c:pt>
                  <c:pt idx="2">
                    <c:v>fee</c:v>
                  </c:pt>
                </c:lvl>
              </c:multiLvlStrCache>
            </c:multiLvlStrRef>
          </c:cat>
          <c:val>
            <c:numRef>
              <c:f>Sheet1!$B$2:$B$4</c:f>
              <c:numCache>
                <c:formatCode>General</c:formatCode>
                <c:ptCount val="3"/>
                <c:pt idx="0">
                  <c:v>20000</c:v>
                </c:pt>
                <c:pt idx="1">
                  <c:v>75000</c:v>
                </c:pt>
                <c:pt idx="2">
                  <c:v>5000</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satoshis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P2PKH</c:v>
                  </c:pt>
                  <c:pt idx="1">
                    <c:v>P2WPKH</c:v>
                  </c:pt>
                  <c:pt idx="2">
                    <c:v>P2TR</c:v>
                  </c:pt>
                  <c:pt idx="3">
                    <c:v>RET</c:v>
                  </c:pt>
                </c:lvl>
              </c:multiLvlStrCache>
            </c:multiLvlStrRef>
          </c:cat>
          <c:val>
            <c:numRef>
              <c:f>Sheet1!$B$2:$B$5</c:f>
              <c:numCache>
                <c:formatCode>General</c:formatCode>
                <c:ptCount val="4"/>
                <c:pt idx="0">
                  <c:v>546</c:v>
                </c:pt>
                <c:pt idx="1">
                  <c:v>294</c:v>
                </c:pt>
                <c:pt idx="2">
                  <c:v>330</c:v>
                </c:pt>
                <c:pt idx="3">
                  <c:v>0</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seconds after the first</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dPt>
            <c:idx val="8"/>
            <c:invertIfNegative val="0"/>
            <c:bubble3D val="0"/>
            <c:spPr>
              <a:solidFill>
                <a:srgbClr val="D97A14"/>
              </a:solidFill>
              <a:effectLst/>
            </c:spPr>
          </c:dPt>
          <c:dPt>
            <c:idx val="9"/>
            <c:invertIfNegative val="0"/>
            <c:bubble3D val="0"/>
            <c:spPr>
              <a:solidFill>
                <a:srgbClr val="2F6D62"/>
              </a:solidFill>
              <a:effectLst/>
            </c:spPr>
          </c:dPt>
          <c:dPt>
            <c:idx val="10"/>
            <c:invertIfNegative val="0"/>
            <c:bubble3D val="0"/>
            <c:spPr>
              <a:solidFill>
                <a:srgbClr val="D97A14"/>
              </a:solidFill>
              <a:effectLst/>
            </c:spPr>
          </c:dPt>
          <c:cat>
            <c:multiLvlStrRef>
              <c:f>Sheet1!$A$2:$A$12</c:f>
              <c:multiLvlStrCache>
                <c:ptCount val="11"/>
                <c:lvl>
                  <c:pt idx="0">
                    <c:v>b1</c:v>
                  </c:pt>
                  <c:pt idx="1">
                    <c:v>b2</c:v>
                  </c:pt>
                  <c:pt idx="2">
                    <c:v>b3</c:v>
                  </c:pt>
                  <c:pt idx="3">
                    <c:v>b4</c:v>
                  </c:pt>
                  <c:pt idx="4">
                    <c:v>b5</c:v>
                  </c:pt>
                  <c:pt idx="5">
                    <c:v>b6</c:v>
                  </c:pt>
                  <c:pt idx="6">
                    <c:v>b7</c:v>
                  </c:pt>
                  <c:pt idx="7">
                    <c:v>b8</c:v>
                  </c:pt>
                  <c:pt idx="8">
                    <c:v>b9</c:v>
                  </c:pt>
                  <c:pt idx="9">
                    <c:v>b10</c:v>
                  </c:pt>
                  <c:pt idx="10">
                    <c:v>b11</c:v>
                  </c:pt>
                </c:lvl>
              </c:multiLvlStrCache>
            </c:multiLvlStrRef>
          </c:cat>
          <c:val>
            <c:numRef>
              <c:f>Sheet1!$B$2:$B$12</c:f>
              <c:numCache>
                <c:formatCode>General</c:formatCode>
                <c:ptCount val="11"/>
                <c:pt idx="0">
                  <c:v>1500</c:v>
                </c:pt>
                <c:pt idx="1">
                  <c:v>2100</c:v>
                </c:pt>
                <c:pt idx="2">
                  <c:v>500</c:v>
                </c:pt>
                <c:pt idx="3">
                  <c:v>2700</c:v>
                </c:pt>
                <c:pt idx="4">
                  <c:v>2400</c:v>
                </c:pt>
                <c:pt idx="5">
                  <c:v>0</c:v>
                </c:pt>
                <c:pt idx="6">
                  <c:v>2600</c:v>
                </c:pt>
                <c:pt idx="7">
                  <c:v>1800</c:v>
                </c:pt>
                <c:pt idx="8">
                  <c:v>1200</c:v>
                </c:pt>
                <c:pt idx="9">
                  <c:v>2300</c:v>
                </c:pt>
                <c:pt idx="10">
                  <c:v>2500</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bitcoin per block</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dPt>
            <c:idx val="7"/>
            <c:invertIfNegative val="0"/>
            <c:bubble3D val="0"/>
            <c:spPr>
              <a:solidFill>
                <a:srgbClr val="2F6D62"/>
              </a:solidFill>
              <a:effectLst/>
            </c:spPr>
          </c:dPt>
          <c:dPt>
            <c:idx val="8"/>
            <c:invertIfNegative val="0"/>
            <c:bubble3D val="0"/>
            <c:spPr>
              <a:solidFill>
                <a:srgbClr val="D97A14"/>
              </a:solidFill>
              <a:effectLst/>
            </c:spPr>
          </c:dPt>
          <c:cat>
            <c:multiLvlStrRef>
              <c:f>Sheet1!$A$2:$A$10</c:f>
              <c:multiLvlStrCache>
                <c:ptCount val="9"/>
                <c:lvl>
                  <c:pt idx="0">
                    <c:v>0</c:v>
                  </c:pt>
                  <c:pt idx="1">
                    <c:v>1</c:v>
                  </c:pt>
                  <c:pt idx="2">
                    <c:v>2</c:v>
                  </c:pt>
                  <c:pt idx="3">
                    <c:v>3</c:v>
                  </c:pt>
                  <c:pt idx="4">
                    <c:v>4</c:v>
                  </c:pt>
                  <c:pt idx="5">
                    <c:v>5</c:v>
                  </c:pt>
                  <c:pt idx="6">
                    <c:v>6</c:v>
                  </c:pt>
                  <c:pt idx="7">
                    <c:v>7</c:v>
                  </c:pt>
                  <c:pt idx="8">
                    <c:v>8</c:v>
                  </c:pt>
                </c:lvl>
              </c:multiLvlStrCache>
            </c:multiLvlStrRef>
          </c:cat>
          <c:val>
            <c:numRef>
              <c:f>Sheet1!$B$2:$B$10</c:f>
              <c:numCache>
                <c:formatCode>General</c:formatCode>
                <c:ptCount val="9"/>
                <c:pt idx="0">
                  <c:v>50</c:v>
                </c:pt>
                <c:pt idx="1">
                  <c:v>25</c:v>
                </c:pt>
                <c:pt idx="2">
                  <c:v>12.5</c:v>
                </c:pt>
                <c:pt idx="3">
                  <c:v>6.25</c:v>
                </c:pt>
                <c:pt idx="4">
                  <c:v>3.125</c:v>
                </c:pt>
                <c:pt idx="5">
                  <c:v>1.5625</c:v>
                </c:pt>
                <c:pt idx="6">
                  <c:v>0.78125</c:v>
                </c:pt>
                <c:pt idx="7">
                  <c:v>0.390625</c:v>
                </c:pt>
                <c:pt idx="8">
                  <c:v>0.1953125</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weight units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dPt>
            <c:idx val="4"/>
            <c:invertIfNegative val="0"/>
            <c:bubble3D val="0"/>
            <c:spPr>
              <a:solidFill>
                <a:srgbClr val="D97A14"/>
              </a:solidFill>
              <a:effectLst/>
            </c:spPr>
          </c:dPt>
          <c:dPt>
            <c:idx val="5"/>
            <c:invertIfNegative val="0"/>
            <c:bubble3D val="0"/>
            <c:spPr>
              <a:solidFill>
                <a:srgbClr val="2F6D62"/>
              </a:solidFill>
              <a:effectLst/>
            </c:spPr>
          </c:dPt>
          <c:dPt>
            <c:idx val="6"/>
            <c:invertIfNegative val="0"/>
            <c:bubble3D val="0"/>
            <c:spPr>
              <a:solidFill>
                <a:srgbClr val="D97A14"/>
              </a:solidFill>
              <a:effectLst/>
            </c:spPr>
          </c:dPt>
          <c:cat>
            <c:multiLvlStrRef>
              <c:f>Sheet1!$A$2:$A$8</c:f>
              <c:multiLvlStrCache>
                <c:ptCount val="7"/>
                <c:lvl>
                  <c:pt idx="0">
                    <c:v>version</c:v>
                  </c:pt>
                  <c:pt idx="1">
                    <c:v>marker</c:v>
                  </c:pt>
                  <c:pt idx="2">
                    <c:v>flag</c:v>
                  </c:pt>
                  <c:pt idx="3">
                    <c:v>input</c:v>
                  </c:pt>
                  <c:pt idx="4">
                    <c:v>output</c:v>
                  </c:pt>
                  <c:pt idx="5">
                    <c:v>witness</c:v>
                  </c:pt>
                  <c:pt idx="6">
                    <c:v>lock</c:v>
                  </c:pt>
                </c:lvl>
              </c:multiLvlStrCache>
            </c:multiLvlStrRef>
          </c:cat>
          <c:val>
            <c:numRef>
              <c:f>Sheet1!$B$2:$B$8</c:f>
              <c:numCache>
                <c:formatCode>General</c:formatCode>
                <c:ptCount val="7"/>
                <c:pt idx="0">
                  <c:v>16</c:v>
                </c:pt>
                <c:pt idx="1">
                  <c:v>1</c:v>
                </c:pt>
                <c:pt idx="2">
                  <c:v>1</c:v>
                </c:pt>
                <c:pt idx="3">
                  <c:v>168</c:v>
                </c:pt>
                <c:pt idx="4">
                  <c:v>300</c:v>
                </c:pt>
                <c:pt idx="5">
                  <c:v>67</c:v>
                </c:pt>
                <c:pt idx="6">
                  <c:v>16</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reads one real Bitcoin transaction, Alice's payment to Bob from the book, byte by byte. Every number was computed from those bytes with the chapter's own Python library, and no Bitcoin Core node was available where it was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eight parts that follow the order of the bytes of a transaction. Four true stories and eighteen code examples are spread across them. The examples are listed in the same order in the chapter code tab of the course page, so every slide can be rerun.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seven questions are the chapter's own, rewritten so that each has an answer on a slide. We return to them in the summary. A reader who can answer all seven has understood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chapter has eight branches and 107 concepts. Each branch gets a divider, concept cards with everyday comparisons, code that runs, and some branches a true story. The deck follows the order in which the bytes of a transaction are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opens one real transaction. We read Alice's payment byte by byte and compare its two serializations. A story about the first transaction ever closes the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Transaction, The ownership record of a full node, The parts of a transaction and Serialized transaction.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library parses Alice's transaction from the book into named fields and adds up their lengths. The seven groups add back to the 194 bytes of the serialized transaction, so no byte is unexplained. It is example 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Extended serialization format, Legacy serialization, Partially signed bitcoin transaction and Byte map.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payment is written twice. The legacy form leaves out marker, flag and witness, and its hash is the txid that explorers show. The extended form has its own hash, the wtxid. It is example 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2009-01-12. On 11 January 2009 Hal Finney posted two words, running bitcoin, and the next day the software's author sent him 10 BTC. The lesson is that the format you are reading is the one from block 170.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six bytes of a transaction are not data about money. They tell a node which rules apply and whether a witness follows, so every later field is read correctly.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Version 1, Version 2 and BIP68 and The version 3 proposal.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bytes decide how everything after them is read. The version says which rules apply, and the zero marker with the one flag announces a witness. A legacy parser would read the zero as an empty input list. It is example 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Presigned transactions, Marker byte and Flag byte.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Inputs name the coins a transaction spends, and they state no amount. We meet the compact count, the outpoint and its two byte orders, and the database of unspent coins.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Input count, CompactSize unsigned integer, Other variable-length integers and Outpoint.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Counts in a transaction use a variable-length integer. Up to 252 it is one byte; beyond that a first byte of fd, fe or ff says that two, four or eight more bytes follow. It is example 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The previous transaction's identifier, Output index, The rule against double spending and Conflicting transactions.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input points at a coin by the txid of an earlier transaction and an output number. The bytes are stored in one order and printed in the reverse order, which is a classic source of mistakes. It is example 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The UTXO database, Digest, Internal byte order and Display byte order.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full node keeps a database of unspent outputs. Applying a transaction removes the coins its inputs name and adds the coins its outputs create. The difference in value is the fee. It is example 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2010-05-22. Four days after offering 10,000 BTC on the bitcointalk forum to anyone who would send him two pizzas, Laszlo Hanyecz reported that the deal was done. The lesson is that an input count of 131 is what one-output payments can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Input script and Script length prefix.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four-byte field has carried three meanings in fifteen years. We decode it against two proposals, BIP125 and BIP68, and see why bit 31 matters.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Sequence number, Setup and refund transactions, Payment channel and The replacement bandwidth attack.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four bytes signal finality, opt-in replacement under BIP125 and a relative timelock under BIP68. Setting bit 31 switches the timelock off, which is why the third value shows none. It is example 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Opt-in replace-by-fee, The BIP125 signal, BIP68 relative timelock and The type flag.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demand an hour, the type flag is set and the value counts units of 512 seconds, so an hour rounds up to 4,096 seconds. Counted in blocks, thirty blocks after a coin confirms is the earliest spend. It is example 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The disable flag and The 16-bit mask.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Outputs hold the amounts and the locks. The part ends with a block that created 184 billion bitcoins and with the policy that keeps tiny outputs out of everyone's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Output count, Amount, Satoshi and The consensus range of an amount.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Outputs state amounts in satoshis. The input states none, so the spent coin's value comes from the record of that coin. What the outputs do not take is the fee that the miner collects. It is example 9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Uneconomical output, Dust limit, Data-carrier output and Output script.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August 2010 a block carried two outputs of about 92 billion bitcoins each. Their sum wrapped around to a negative number, which passed the check on the total. Checking every output closes the hole. It is example 10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2010-08-15. Block 74,638 contained a transaction with two outputs of 92,233,720,368.54277039 BTC each. The lesson is that a signed amount needs a range check; the chain learned it the hard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Script size limits, Anyone-can-spend scripts and Standard transaction outputs.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output is dust when it costs more to spend than it is worth, at the relay fee. Segwit outputs are cheaper to spend, so their limit is lower. A data-carrier output can never be spent and is exempt. It is example 11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witness is the proof that a spender may spend. We see how proofs inside the input script made identifiers malleable, and how segregated witness repaired that as a soft fork.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Witness, Public key and signature as witness, Contract protocols and Circular dependency.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small number can be pushed on the script stack in four ways. Each way is a different byte string, so the same payment gets four different legacy identifiers. This was the malleability that software could not ignore. It is example 12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Third-party transaction malleability, Alternative push encodings, Second-party transaction malleability and Wanted malleability.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segregated witness the signature lives outside the txid. Replacing it leaves the txid unchanged, so chains of unconfirmed payments stay valid. The wtxid still covers the witness and changes. It is example 13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true story, dated 2014-02-10. On 7 February 2014 Mt. Gox halted bitcoin withdrawals, and on 10 February it issued a press release blaming a bug in the bitcoin software: someone could alter transaction details to make it seem that a sending of bitcoins had not occurred when it had.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Segregated witness, Hard fork, Soft fork and Witness program.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Witness structure, Witness stack, Witness item and A legacy input's witness.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Segregated witness was a soft fork. Old nodes saw the new outputs as anyone-can-spend scripts and accepted the blocks, while upgraded nodes enforced the witness rules. That is why it could be activated without a split.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special cases of a transaction: one that may not be mined before a time, and one that creates new coins. The clock and the money supply both follow from simple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The lock time field, Lock time as a block height, Lock time as an epoch time and Median time past.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Block timestamps are not monotonic, so a time lock is compared with the median of the last eleven. Values below 500 million are heights; larger ones are times. The median lags the highest timestamp. It is example 14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Coinbase transaction, The null outpoint, The coinbase field and Block subsidy.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subsidy starts at 50 bitcoin and is halved every 210,000 blocks by a right shift. It reaches zero after block 6,929,999, and the total ever issued stays just below 21 million. It is example 15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Block reward and Maturity rule.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coinbase has one input that points at nothing. Its coins are locked for 100 blocks, so that a reorganisation cannot invalidate coins that were already spent. Block 9's coins were spendable by block 170. It is example 16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part closes with what a block is filled by, and with the hashes and rule sets that every figure of the chapter rests on. We recompute the weight 569 from the bytes.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Weight, Vbytes, The block weight limit and Weight factors.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field weighs its bytes times four, except the marker, the flag and the witness, which weigh one. The sum is the 569 the book quotes, and dividing by four gives 143 virtual bytes. It is example 17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Hash function, Double SHA-256, Transaction identifier and Witness transaction identifier.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txid is not a field. It is the double SHA-256 of the legacy serialization, shown in reverse byte order. We recompute it from the bytes and it matches the library and the explorer. It is example 18 in the chapter code tab of the course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cards cover Relay policy and Consensus rule. Each pairs a short meaning with something from everyday life, so that the idea can be retold in your own words. The full explanation is on the course page, chapter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five lines are the deck in miniature, one for each group of parts. A line that feels unproven should send you back to its code slide, because every figure in it was computed there. The chapter code tab of the course page lets you rerun all eighteen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here is free to read, and every link was opened on the date in the subtitle. A good exercise is to take any confirmed transaction from the explorer and run the chapter code on its hexadecimal. The course page for chapter 6 carries the full resource list.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computation that ran on a slide of this deck. The course page for chapter 6 has every word behind them, the stories with their sources, and the question bank to test yourself.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hyperlink" Target="https://mempool.space/tx/f4184fc596403b9d638783cf57adfe4c75c605f6356fbc91338530e9831e9e16"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hyperlink" Target="https://bitcointalk.org/index.php?topic=137.0" TargetMode="External"/><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hyperlink" Target="https://en.bitcoin.it/wiki/Value_overflow_incident" TargetMode="External"/><Relationship Id="rId3" Type="http://schemas.openxmlformats.org/officeDocument/2006/relationships/slideLayout" Target="../slideLayouts/slideLayout1.xml"/><Relationship Id="rId4"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hyperlink" Target="https://arxiv.org/abs/1403.6676" TargetMode="External"/><Relationship Id="rId3" Type="http://schemas.openxmlformats.org/officeDocument/2006/relationships/slideLayout" Target="../slideLayouts/slideLayout1.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chart" Target="../charts/chart5.xml"/><Relationship Id="rId2" Type="http://schemas.openxmlformats.org/officeDocument/2006/relationships/slideLayout" Target="../slideLayouts/slideLayout1.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chart" Target="../charts/chart7.xml"/><Relationship Id="rId2" Type="http://schemas.openxmlformats.org/officeDocument/2006/relationships/slideLayout" Target="../slideLayouts/slideLayout1.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hyperlink" Target="https://raw.githubusercontent.com/bitcoinbook/bitcoinbook/develop/ch06_transactions.adoc" TargetMode="External"/><Relationship Id="rId2" Type="http://schemas.openxmlformats.org/officeDocument/2006/relationships/hyperlink" Target="https://arxiv.org/abs/1403.6676" TargetMode="External"/><Relationship Id="rId3" Type="http://schemas.openxmlformats.org/officeDocument/2006/relationships/hyperlink" Target="https://bips.dev/141/" TargetMode="External"/><Relationship Id="rId4" Type="http://schemas.openxmlformats.org/officeDocument/2006/relationships/hyperlink" Target="https://bips.dev/68/" TargetMode="External"/><Relationship Id="rId5" Type="http://schemas.openxmlformats.org/officeDocument/2006/relationships/hyperlink" Target="https://bips.dev/125/" TargetMode="External"/><Relationship Id="rId6" Type="http://schemas.openxmlformats.org/officeDocument/2006/relationships/hyperlink" Target="https://mempool.space/tx/466200308696215bbc949d5141a49a4138ecdfdfaa2a8029c1f9bcecd1f96177" TargetMode="External"/><Relationship Id="rId7" Type="http://schemas.openxmlformats.org/officeDocument/2006/relationships/hyperlink" Target="https://en.bitcoin.it/wiki/Transaction" TargetMode="External"/><Relationship Id="rId8" Type="http://schemas.openxmlformats.org/officeDocument/2006/relationships/hyperlink" Target="https://bitcointalk.org/index.php?topic=137.0" TargetMode="External"/><Relationship Id="rId9" Type="http://schemas.openxmlformats.org/officeDocument/2006/relationships/hyperlink" Target="https://bitcointalk.org/index.php?topic=822.0" TargetMode="External"/><Relationship Id="rId10" Type="http://schemas.openxmlformats.org/officeDocument/2006/relationships/hyperlink" Target="https://www.youtube.com/embed/PrcJD4rznyA" TargetMode="External"/><Relationship Id="rId11" Type="http://schemas.openxmlformats.org/officeDocument/2006/relationships/slideLayout" Target="../slideLayouts/slideLayout1.xml"/><Relationship Id="rId1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a:t>
            </a:r>
            <a:endParaRPr lang="en-US" sz="3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Chapter 6: Transactions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One real transaction, 194 bytes, read field by field, with every number recomputed</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SEN0401 Special Topics in Software Engineering: Block Chain · Fall 2026 · Yusuf Altunel, PhD · İstanbul Kültür University</a:t>
            </a:r>
            <a:endParaRPr lang="en-US" sz="1200" dirty="0"/>
          </a:p>
        </p:txBody>
      </p:sp>
      <p:pic>
        <p:nvPicPr>
          <p:cNvPr id="11" name="Image 0" descr="../../03-materials/ch06/assets/mbc3_0601.png">    </p:cNvPr>
          <p:cNvPicPr>
            <a:picLocks noChangeAspect="1"/>
          </p:cNvPicPr>
          <p:nvPr/>
        </p:nvPicPr>
        <p:blipFill>
          <a:blip r:embed="rId1"/>
          <a:srcRect l="0" r="0" t="0" b="0"/>
          <a:stretch/>
        </p:blipFill>
        <p:spPr>
          <a:xfrm>
            <a:off x="6309360" y="320040"/>
            <a:ext cx="2377440" cy="1600200"/>
          </a:xfrm>
          <a:prstGeom prst="rect">
            <a:avLst/>
          </a:prstGeom>
        </p:spPr>
      </p:pic>
      <p:sp>
        <p:nvSpPr>
          <p:cNvPr id="12" name="Text 9"/>
          <p:cNvSpPr txBox="1"/>
          <p:nvPr/>
        </p:nvSpPr>
        <p:spPr>
          <a:xfrm>
            <a:off x="548640" y="3749040"/>
            <a:ext cx="8046720" cy="365760"/>
          </a:xfrm>
          <a:prstGeom prst="rect">
            <a:avLst/>
          </a:prstGeom>
          <a:noFill/>
          <a:ln/>
        </p:spPr>
        <p:txBody>
          <a:bodyPr wrap="square" lIns="0" tIns="0" rIns="0" bIns="0" rtlCol="0" anchor="t"/>
          <a:lstStyle/>
          <a:p>
            <a:pPr indent="0" marL="0">
              <a:buNone/>
            </a:pPr>
            <a:r>
              <a:rPr lang="en-US" sz="1000" i="1" dirty="0">
                <a:solidFill>
                  <a:srgbClr val="6E655C"/>
                </a:solidFill>
                <a:latin typeface="Calibri" pitchFamily="34" charset="0"/>
                <a:ea typeface="Calibri" pitchFamily="34" charset="-122"/>
                <a:cs typeface="Calibri" pitchFamily="34" charset="-120"/>
              </a:rPr>
              <a:t>Figure: a byte map of a transaction, Antonopoulos and Harding, Mastering Bitcoin 3e, CC BY-SA 4.0. Python 3.14.6, no Bitcoin Core node.</a:t>
            </a:r>
            <a:endParaRPr lang="en-US" sz="1000" dirty="0"/>
          </a:p>
        </p:txBody>
      </p:sp>
      <p:sp>
        <p:nvSpPr>
          <p:cNvPr id="13"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 / 62</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Eight parts; every number is a slide you can jump to</a:t>
            </a:r>
            <a:endParaRPr lang="en-US" sz="1300" dirty="0"/>
          </a:p>
        </p:txBody>
      </p:sp>
      <p:sp>
        <p:nvSpPr>
          <p:cNvPr id="6" name="Shape 4"/>
          <p:cNvSpPr/>
          <p:nvPr/>
        </p:nvSpPr>
        <p:spPr>
          <a:xfrm>
            <a:off x="457200" y="1280160"/>
            <a:ext cx="1822704" cy="981456"/>
          </a:xfrm>
          <a:prstGeom prst="roundRect">
            <a:avLst>
              <a:gd name="adj" fmla="val 7453"/>
            </a:avLst>
          </a:prstGeom>
          <a:solidFill>
            <a:srgbClr val="F2ECE1"/>
          </a:solidFill>
          <a:ln w="12700">
            <a:solidFill>
              <a:srgbClr val="DFD6C7"/>
            </a:solidFill>
            <a:prstDash val="solid"/>
          </a:ln>
        </p:spPr>
      </p:sp>
      <p:sp>
        <p:nvSpPr>
          <p:cNvPr id="7" name="Text 5"/>
          <p:cNvSpPr txBox="1"/>
          <p:nvPr/>
        </p:nvSpPr>
        <p:spPr>
          <a:xfrm>
            <a:off x="548640" y="1335024"/>
            <a:ext cx="1639824" cy="871728"/>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1. Questions and the chapter map</a:t>
            </a:r>
            <a:endParaRPr lang="en-US" sz="1150" dirty="0"/>
          </a:p>
          <a:p>
            <a:pPr algn="ctr" indent="0" marL="0">
              <a:buNone/>
            </a:pPr>
            <a:r>
              <a:rPr lang="en-US" sz="1050" dirty="0">
                <a:solidFill>
                  <a:srgbClr val="6E655C"/>
                </a:solidFill>
                <a:latin typeface="Calibri" pitchFamily="34" charset="0"/>
                <a:ea typeface="Calibri" pitchFamily="34" charset="-122"/>
                <a:cs typeface="Calibri" pitchFamily="34" charset="-120"/>
              </a:rPr>
              <a:t>(slides 3-4)</a:t>
            </a:r>
            <a:endParaRPr lang="en-US" sz="1150" dirty="0"/>
          </a:p>
        </p:txBody>
      </p:sp>
      <p:sp>
        <p:nvSpPr>
          <p:cNvPr id="8" name="Shape 6"/>
          <p:cNvSpPr/>
          <p:nvPr/>
        </p:nvSpPr>
        <p:spPr>
          <a:xfrm>
            <a:off x="2426208" y="1280160"/>
            <a:ext cx="1822704" cy="981456"/>
          </a:xfrm>
          <a:prstGeom prst="roundRect">
            <a:avLst>
              <a:gd name="adj" fmla="val 7453"/>
            </a:avLst>
          </a:prstGeom>
          <a:solidFill>
            <a:srgbClr val="F2ECE1"/>
          </a:solidFill>
          <a:ln w="12700">
            <a:solidFill>
              <a:srgbClr val="DFD6C7"/>
            </a:solidFill>
            <a:prstDash val="solid"/>
          </a:ln>
        </p:spPr>
      </p:sp>
      <p:sp>
        <p:nvSpPr>
          <p:cNvPr id="9" name="Text 7"/>
          <p:cNvSpPr txBox="1"/>
          <p:nvPr/>
        </p:nvSpPr>
        <p:spPr>
          <a:xfrm>
            <a:off x="2517648" y="1335024"/>
            <a:ext cx="1639824" cy="871728"/>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2. What a transaction is</a:t>
            </a:r>
            <a:endParaRPr lang="en-US" sz="1150" dirty="0"/>
          </a:p>
          <a:p>
            <a:pPr algn="ctr" indent="0" marL="0">
              <a:buNone/>
            </a:pPr>
            <a:r>
              <a:rPr lang="en-US" sz="1050" dirty="0">
                <a:solidFill>
                  <a:srgbClr val="6E655C"/>
                </a:solidFill>
                <a:latin typeface="Calibri" pitchFamily="34" charset="0"/>
                <a:ea typeface="Calibri" pitchFamily="34" charset="-122"/>
                <a:cs typeface="Calibri" pitchFamily="34" charset="-120"/>
              </a:rPr>
              <a:t>(slides 5-10)</a:t>
            </a:r>
            <a:endParaRPr lang="en-US" sz="1150" dirty="0"/>
          </a:p>
        </p:txBody>
      </p:sp>
      <p:sp>
        <p:nvSpPr>
          <p:cNvPr id="10" name="Shape 8"/>
          <p:cNvSpPr/>
          <p:nvPr/>
        </p:nvSpPr>
        <p:spPr>
          <a:xfrm>
            <a:off x="4395216" y="1280160"/>
            <a:ext cx="1822704" cy="981456"/>
          </a:xfrm>
          <a:prstGeom prst="roundRect">
            <a:avLst>
              <a:gd name="adj" fmla="val 7453"/>
            </a:avLst>
          </a:prstGeom>
          <a:solidFill>
            <a:srgbClr val="F2ECE1"/>
          </a:solidFill>
          <a:ln w="12700">
            <a:solidFill>
              <a:srgbClr val="DFD6C7"/>
            </a:solidFill>
            <a:prstDash val="solid"/>
          </a:ln>
        </p:spPr>
      </p:sp>
      <p:sp>
        <p:nvSpPr>
          <p:cNvPr id="11" name="Text 9"/>
          <p:cNvSpPr txBox="1"/>
          <p:nvPr/>
        </p:nvSpPr>
        <p:spPr>
          <a:xfrm>
            <a:off x="4486656" y="1335024"/>
            <a:ext cx="1639824" cy="871728"/>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3. Version, marker and flag</a:t>
            </a:r>
            <a:endParaRPr lang="en-US" sz="1150" dirty="0"/>
          </a:p>
          <a:p>
            <a:pPr algn="ctr" indent="0" marL="0">
              <a:buNone/>
            </a:pPr>
            <a:r>
              <a:rPr lang="en-US" sz="1050" dirty="0">
                <a:solidFill>
                  <a:srgbClr val="6E655C"/>
                </a:solidFill>
                <a:latin typeface="Calibri" pitchFamily="34" charset="0"/>
                <a:ea typeface="Calibri" pitchFamily="34" charset="-122"/>
                <a:cs typeface="Calibri" pitchFamily="34" charset="-120"/>
              </a:rPr>
              <a:t>(slides 11-14)</a:t>
            </a:r>
            <a:endParaRPr lang="en-US" sz="1150" dirty="0"/>
          </a:p>
        </p:txBody>
      </p:sp>
      <p:sp>
        <p:nvSpPr>
          <p:cNvPr id="12" name="Shape 10"/>
          <p:cNvSpPr/>
          <p:nvPr/>
        </p:nvSpPr>
        <p:spPr>
          <a:xfrm>
            <a:off x="457200" y="2389632"/>
            <a:ext cx="1822704" cy="981456"/>
          </a:xfrm>
          <a:prstGeom prst="roundRect">
            <a:avLst>
              <a:gd name="adj" fmla="val 7453"/>
            </a:avLst>
          </a:prstGeom>
          <a:solidFill>
            <a:srgbClr val="F2ECE1"/>
          </a:solidFill>
          <a:ln w="12700">
            <a:solidFill>
              <a:srgbClr val="DFD6C7"/>
            </a:solidFill>
            <a:prstDash val="solid"/>
          </a:ln>
        </p:spPr>
      </p:sp>
      <p:sp>
        <p:nvSpPr>
          <p:cNvPr id="13" name="Text 11"/>
          <p:cNvSpPr txBox="1"/>
          <p:nvPr/>
        </p:nvSpPr>
        <p:spPr>
          <a:xfrm>
            <a:off x="548640" y="2444496"/>
            <a:ext cx="1639824" cy="871728"/>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4. Inputs</a:t>
            </a:r>
            <a:endParaRPr lang="en-US" sz="1150" dirty="0"/>
          </a:p>
          <a:p>
            <a:pPr algn="ctr" indent="0" marL="0">
              <a:buNone/>
            </a:pPr>
            <a:r>
              <a:rPr lang="en-US" sz="1050" dirty="0">
                <a:solidFill>
                  <a:srgbClr val="6E655C"/>
                </a:solidFill>
                <a:latin typeface="Calibri" pitchFamily="34" charset="0"/>
                <a:ea typeface="Calibri" pitchFamily="34" charset="-122"/>
                <a:cs typeface="Calibri" pitchFamily="34" charset="-120"/>
              </a:rPr>
              <a:t>(slides 15-23)</a:t>
            </a:r>
            <a:endParaRPr lang="en-US" sz="1150" dirty="0"/>
          </a:p>
        </p:txBody>
      </p:sp>
      <p:sp>
        <p:nvSpPr>
          <p:cNvPr id="14" name="Shape 12"/>
          <p:cNvSpPr/>
          <p:nvPr/>
        </p:nvSpPr>
        <p:spPr>
          <a:xfrm>
            <a:off x="2426208" y="2389632"/>
            <a:ext cx="1822704" cy="981456"/>
          </a:xfrm>
          <a:prstGeom prst="roundRect">
            <a:avLst>
              <a:gd name="adj" fmla="val 7453"/>
            </a:avLst>
          </a:prstGeom>
          <a:solidFill>
            <a:srgbClr val="F2ECE1"/>
          </a:solidFill>
          <a:ln w="12700">
            <a:solidFill>
              <a:srgbClr val="DFD6C7"/>
            </a:solidFill>
            <a:prstDash val="solid"/>
          </a:ln>
        </p:spPr>
      </p:sp>
      <p:sp>
        <p:nvSpPr>
          <p:cNvPr id="15" name="Text 13"/>
          <p:cNvSpPr txBox="1"/>
          <p:nvPr/>
        </p:nvSpPr>
        <p:spPr>
          <a:xfrm>
            <a:off x="2517648" y="2444496"/>
            <a:ext cx="1639824" cy="871728"/>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5. The sequence field</a:t>
            </a:r>
            <a:endParaRPr lang="en-US" sz="1150" dirty="0"/>
          </a:p>
          <a:p>
            <a:pPr algn="ctr" indent="0" marL="0">
              <a:buNone/>
            </a:pPr>
            <a:r>
              <a:rPr lang="en-US" sz="1050" dirty="0">
                <a:solidFill>
                  <a:srgbClr val="6E655C"/>
                </a:solidFill>
                <a:latin typeface="Calibri" pitchFamily="34" charset="0"/>
                <a:ea typeface="Calibri" pitchFamily="34" charset="-122"/>
                <a:cs typeface="Calibri" pitchFamily="34" charset="-120"/>
              </a:rPr>
              <a:t>(slides 24-29)</a:t>
            </a:r>
            <a:endParaRPr lang="en-US" sz="1150" dirty="0"/>
          </a:p>
        </p:txBody>
      </p:sp>
      <p:sp>
        <p:nvSpPr>
          <p:cNvPr id="16" name="Shape 14"/>
          <p:cNvSpPr/>
          <p:nvPr/>
        </p:nvSpPr>
        <p:spPr>
          <a:xfrm>
            <a:off x="4395216" y="2389632"/>
            <a:ext cx="1822704" cy="981456"/>
          </a:xfrm>
          <a:prstGeom prst="roundRect">
            <a:avLst>
              <a:gd name="adj" fmla="val 7453"/>
            </a:avLst>
          </a:prstGeom>
          <a:solidFill>
            <a:srgbClr val="F2ECE1"/>
          </a:solidFill>
          <a:ln w="12700">
            <a:solidFill>
              <a:srgbClr val="DFD6C7"/>
            </a:solidFill>
            <a:prstDash val="solid"/>
          </a:ln>
        </p:spPr>
      </p:sp>
      <p:sp>
        <p:nvSpPr>
          <p:cNvPr id="17" name="Text 15"/>
          <p:cNvSpPr txBox="1"/>
          <p:nvPr/>
        </p:nvSpPr>
        <p:spPr>
          <a:xfrm>
            <a:off x="4486656" y="2444496"/>
            <a:ext cx="1639824" cy="871728"/>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6. Outputs</a:t>
            </a:r>
            <a:endParaRPr lang="en-US" sz="1150" dirty="0"/>
          </a:p>
          <a:p>
            <a:pPr algn="ctr" indent="0" marL="0">
              <a:buNone/>
            </a:pPr>
            <a:r>
              <a:rPr lang="en-US" sz="1050" dirty="0">
                <a:solidFill>
                  <a:srgbClr val="6E655C"/>
                </a:solidFill>
                <a:latin typeface="Calibri" pitchFamily="34" charset="0"/>
                <a:ea typeface="Calibri" pitchFamily="34" charset="-122"/>
                <a:cs typeface="Calibri" pitchFamily="34" charset="-120"/>
              </a:rPr>
              <a:t>(slides 30-37)</a:t>
            </a:r>
            <a:endParaRPr lang="en-US" sz="1150" dirty="0"/>
          </a:p>
        </p:txBody>
      </p:sp>
      <p:sp>
        <p:nvSpPr>
          <p:cNvPr id="18" name="Shape 16"/>
          <p:cNvSpPr/>
          <p:nvPr/>
        </p:nvSpPr>
        <p:spPr>
          <a:xfrm>
            <a:off x="457200" y="3499104"/>
            <a:ext cx="1822704" cy="981456"/>
          </a:xfrm>
          <a:prstGeom prst="roundRect">
            <a:avLst>
              <a:gd name="adj" fmla="val 7453"/>
            </a:avLst>
          </a:prstGeom>
          <a:solidFill>
            <a:srgbClr val="F2ECE1"/>
          </a:solidFill>
          <a:ln w="12700">
            <a:solidFill>
              <a:srgbClr val="DFD6C7"/>
            </a:solidFill>
            <a:prstDash val="solid"/>
          </a:ln>
        </p:spPr>
      </p:sp>
      <p:sp>
        <p:nvSpPr>
          <p:cNvPr id="19" name="Text 17"/>
          <p:cNvSpPr txBox="1"/>
          <p:nvPr/>
        </p:nvSpPr>
        <p:spPr>
          <a:xfrm>
            <a:off x="548640" y="3553968"/>
            <a:ext cx="1639824" cy="871728"/>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7. Witnesses</a:t>
            </a:r>
            <a:endParaRPr lang="en-US" sz="1150" dirty="0"/>
          </a:p>
          <a:p>
            <a:pPr algn="ctr" indent="0" marL="0">
              <a:buNone/>
            </a:pPr>
            <a:r>
              <a:rPr lang="en-US" sz="1050" dirty="0">
                <a:solidFill>
                  <a:srgbClr val="6E655C"/>
                </a:solidFill>
                <a:latin typeface="Calibri" pitchFamily="34" charset="0"/>
                <a:ea typeface="Calibri" pitchFamily="34" charset="-122"/>
                <a:cs typeface="Calibri" pitchFamily="34" charset="-120"/>
              </a:rPr>
              <a:t>(slides 38-46)</a:t>
            </a:r>
            <a:endParaRPr lang="en-US" sz="1150" dirty="0"/>
          </a:p>
        </p:txBody>
      </p:sp>
      <p:sp>
        <p:nvSpPr>
          <p:cNvPr id="20" name="Shape 18"/>
          <p:cNvSpPr/>
          <p:nvPr/>
        </p:nvSpPr>
        <p:spPr>
          <a:xfrm>
            <a:off x="2426208" y="3499104"/>
            <a:ext cx="1822704" cy="981456"/>
          </a:xfrm>
          <a:prstGeom prst="roundRect">
            <a:avLst>
              <a:gd name="adj" fmla="val 7453"/>
            </a:avLst>
          </a:prstGeom>
          <a:solidFill>
            <a:srgbClr val="F2ECE1"/>
          </a:solidFill>
          <a:ln w="12700">
            <a:solidFill>
              <a:srgbClr val="DFD6C7"/>
            </a:solidFill>
            <a:prstDash val="solid"/>
          </a:ln>
        </p:spPr>
      </p:sp>
      <p:sp>
        <p:nvSpPr>
          <p:cNvPr id="21" name="Text 19"/>
          <p:cNvSpPr txBox="1"/>
          <p:nvPr/>
        </p:nvSpPr>
        <p:spPr>
          <a:xfrm>
            <a:off x="2517648" y="3553968"/>
            <a:ext cx="1639824" cy="871728"/>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8. Lock time and the coinbase</a:t>
            </a:r>
            <a:endParaRPr lang="en-US" sz="1150" dirty="0"/>
          </a:p>
          <a:p>
            <a:pPr algn="ctr" indent="0" marL="0">
              <a:buNone/>
            </a:pPr>
            <a:r>
              <a:rPr lang="en-US" sz="1050" dirty="0">
                <a:solidFill>
                  <a:srgbClr val="6E655C"/>
                </a:solidFill>
                <a:latin typeface="Calibri" pitchFamily="34" charset="0"/>
                <a:ea typeface="Calibri" pitchFamily="34" charset="-122"/>
                <a:cs typeface="Calibri" pitchFamily="34" charset="-120"/>
              </a:rPr>
              <a:t>(slides 47-53)</a:t>
            </a:r>
            <a:endParaRPr lang="en-US" sz="1150" dirty="0"/>
          </a:p>
        </p:txBody>
      </p:sp>
      <p:sp>
        <p:nvSpPr>
          <p:cNvPr id="22" name="Shape 20"/>
          <p:cNvSpPr/>
          <p:nvPr/>
        </p:nvSpPr>
        <p:spPr>
          <a:xfrm>
            <a:off x="4395216" y="3499104"/>
            <a:ext cx="1822704" cy="981456"/>
          </a:xfrm>
          <a:prstGeom prst="roundRect">
            <a:avLst>
              <a:gd name="adj" fmla="val 7453"/>
            </a:avLst>
          </a:prstGeom>
          <a:solidFill>
            <a:srgbClr val="F2ECE1"/>
          </a:solidFill>
          <a:ln w="12700">
            <a:solidFill>
              <a:srgbClr val="DFD6C7"/>
            </a:solidFill>
            <a:prstDash val="solid"/>
          </a:ln>
        </p:spPr>
      </p:sp>
      <p:sp>
        <p:nvSpPr>
          <p:cNvPr id="23" name="Text 21"/>
          <p:cNvSpPr txBox="1"/>
          <p:nvPr/>
        </p:nvSpPr>
        <p:spPr>
          <a:xfrm>
            <a:off x="4486656" y="3553968"/>
            <a:ext cx="1639824" cy="871728"/>
          </a:xfrm>
          <a:prstGeom prst="rect">
            <a:avLst/>
          </a:prstGeom>
          <a:noFill/>
          <a:ln/>
        </p:spPr>
        <p:txBody>
          <a:bodyPr wrap="square" lIns="0" tIns="0" rIns="0" bIns="0" rtlCol="0" anchor="ctr"/>
          <a:lstStyle/>
          <a:p>
            <a:pPr algn="ctr" indent="0" marL="0">
              <a:buNone/>
            </a:pPr>
            <a:r>
              <a:rPr lang="en-US" sz="1150" b="1" dirty="0">
                <a:solidFill>
                  <a:srgbClr val="2B2622"/>
                </a:solidFill>
                <a:latin typeface="Calibri" pitchFamily="34" charset="0"/>
                <a:ea typeface="Calibri" pitchFamily="34" charset="-122"/>
                <a:cs typeface="Calibri" pitchFamily="34" charset="-120"/>
              </a:rPr>
              <a:t>9. Weight and foundations</a:t>
            </a:r>
            <a:endParaRPr lang="en-US" sz="1150" dirty="0"/>
          </a:p>
          <a:p>
            <a:pPr algn="ctr" indent="0" marL="0">
              <a:buNone/>
            </a:pPr>
            <a:r>
              <a:rPr lang="en-US" sz="1050" dirty="0">
                <a:solidFill>
                  <a:srgbClr val="6E655C"/>
                </a:solidFill>
                <a:latin typeface="Calibri" pitchFamily="34" charset="0"/>
                <a:ea typeface="Calibri" pitchFamily="34" charset="-122"/>
                <a:cs typeface="Calibri" pitchFamily="34" charset="-120"/>
              </a:rPr>
              <a:t>(slides 54-62)</a:t>
            </a:r>
            <a:endParaRPr lang="en-US" sz="1150" dirty="0"/>
          </a:p>
        </p:txBody>
      </p:sp>
      <p:sp>
        <p:nvSpPr>
          <p:cNvPr id="24" name="Shape 22"/>
          <p:cNvSpPr/>
          <p:nvPr/>
        </p:nvSpPr>
        <p:spPr>
          <a:xfrm>
            <a:off x="6446520" y="1280160"/>
            <a:ext cx="2240280" cy="981456"/>
          </a:xfrm>
          <a:prstGeom prst="roundRect">
            <a:avLst>
              <a:gd name="adj" fmla="val 7453"/>
            </a:avLst>
          </a:prstGeom>
          <a:solidFill>
            <a:srgbClr val="F2ECE1"/>
          </a:solidFill>
          <a:ln w="12700">
            <a:solidFill>
              <a:srgbClr val="DFD6C7"/>
            </a:solidFill>
            <a:prstDash val="solid"/>
          </a:ln>
        </p:spPr>
      </p:sp>
      <p:sp>
        <p:nvSpPr>
          <p:cNvPr id="25" name="Text 23"/>
          <p:cNvSpPr txBox="1"/>
          <p:nvPr/>
        </p:nvSpPr>
        <p:spPr>
          <a:xfrm>
            <a:off x="6556248" y="1316736"/>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62</a:t>
            </a:r>
            <a:endParaRPr lang="en-US" sz="2600" dirty="0"/>
          </a:p>
        </p:txBody>
      </p:sp>
      <p:sp>
        <p:nvSpPr>
          <p:cNvPr id="26" name="Text 24"/>
          <p:cNvSpPr txBox="1"/>
          <p:nvPr/>
        </p:nvSpPr>
        <p:spPr>
          <a:xfrm>
            <a:off x="6556248" y="1790517"/>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27" name="Shape 25"/>
          <p:cNvSpPr/>
          <p:nvPr/>
        </p:nvSpPr>
        <p:spPr>
          <a:xfrm>
            <a:off x="6446520" y="2389632"/>
            <a:ext cx="2240280" cy="981456"/>
          </a:xfrm>
          <a:prstGeom prst="roundRect">
            <a:avLst>
              <a:gd name="adj" fmla="val 7453"/>
            </a:avLst>
          </a:prstGeom>
          <a:solidFill>
            <a:srgbClr val="F2ECE1"/>
          </a:solidFill>
          <a:ln w="12700">
            <a:solidFill>
              <a:srgbClr val="DFD6C7"/>
            </a:solidFill>
            <a:prstDash val="solid"/>
          </a:ln>
        </p:spPr>
      </p:sp>
      <p:sp>
        <p:nvSpPr>
          <p:cNvPr id="28" name="Text 26"/>
          <p:cNvSpPr txBox="1"/>
          <p:nvPr/>
        </p:nvSpPr>
        <p:spPr>
          <a:xfrm>
            <a:off x="6556248" y="2426208"/>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4</a:t>
            </a:r>
            <a:endParaRPr lang="en-US" sz="2600" dirty="0"/>
          </a:p>
        </p:txBody>
      </p:sp>
      <p:sp>
        <p:nvSpPr>
          <p:cNvPr id="29" name="Text 27"/>
          <p:cNvSpPr txBox="1"/>
          <p:nvPr/>
        </p:nvSpPr>
        <p:spPr>
          <a:xfrm>
            <a:off x="6556248" y="2899989"/>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each told by 5N1K</a:t>
            </a:r>
            <a:endParaRPr lang="en-US" sz="1100" dirty="0"/>
          </a:p>
        </p:txBody>
      </p:sp>
      <p:sp>
        <p:nvSpPr>
          <p:cNvPr id="30" name="Shape 28"/>
          <p:cNvSpPr/>
          <p:nvPr/>
        </p:nvSpPr>
        <p:spPr>
          <a:xfrm>
            <a:off x="6446520" y="3499104"/>
            <a:ext cx="2240280" cy="981456"/>
          </a:xfrm>
          <a:prstGeom prst="roundRect">
            <a:avLst>
              <a:gd name="adj" fmla="val 7453"/>
            </a:avLst>
          </a:prstGeom>
          <a:solidFill>
            <a:srgbClr val="F2ECE1"/>
          </a:solidFill>
          <a:ln w="12700">
            <a:solidFill>
              <a:srgbClr val="DFD6C7"/>
            </a:solidFill>
            <a:prstDash val="solid"/>
          </a:ln>
        </p:spPr>
      </p:sp>
      <p:sp>
        <p:nvSpPr>
          <p:cNvPr id="31" name="Text 29"/>
          <p:cNvSpPr txBox="1"/>
          <p:nvPr/>
        </p:nvSpPr>
        <p:spPr>
          <a:xfrm>
            <a:off x="6556248" y="3535680"/>
            <a:ext cx="2020824" cy="473781"/>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18</a:t>
            </a:r>
            <a:endParaRPr lang="en-US" sz="2600" dirty="0"/>
          </a:p>
        </p:txBody>
      </p:sp>
      <p:sp>
        <p:nvSpPr>
          <p:cNvPr id="32" name="Text 30"/>
          <p:cNvSpPr txBox="1"/>
          <p:nvPr/>
        </p:nvSpPr>
        <p:spPr>
          <a:xfrm>
            <a:off x="6556248" y="4009461"/>
            <a:ext cx="2020824" cy="431841"/>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code examples with a picture of each result</a:t>
            </a:r>
            <a:endParaRPr lang="en-US" sz="110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Eight parts, one real transaction, and a summary you can check</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62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Its own competency questions; we return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does a Bitcoin transaction ask full nodes to do?</a:t>
            </a:r>
            <a:endParaRPr lang="en-US" sz="1200" dirty="0"/>
          </a:p>
        </p:txBody>
      </p:sp>
      <p:sp>
        <p:nvSpPr>
          <p:cNvPr id="9" name="Shape 7"/>
          <p:cNvSpPr/>
          <p:nvPr/>
        </p:nvSpPr>
        <p:spPr>
          <a:xfrm>
            <a:off x="457200" y="1773936"/>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73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37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is a transaction serialized in the extended and the legacy format?</a:t>
            </a:r>
            <a:endParaRPr lang="en-US" sz="1200" dirty="0"/>
          </a:p>
        </p:txBody>
      </p:sp>
      <p:sp>
        <p:nvSpPr>
          <p:cNvPr id="12" name="Shape 10"/>
          <p:cNvSpPr/>
          <p:nvPr/>
        </p:nvSpPr>
        <p:spPr>
          <a:xfrm>
            <a:off x="457200" y="2231136"/>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311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1945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What do the version, marker and flag tell a node?</a:t>
            </a:r>
            <a:endParaRPr lang="en-US" sz="1200" dirty="0"/>
          </a:p>
        </p:txBody>
      </p:sp>
      <p:sp>
        <p:nvSpPr>
          <p:cNvPr id="15" name="Shape 13"/>
          <p:cNvSpPr/>
          <p:nvPr/>
        </p:nvSpPr>
        <p:spPr>
          <a:xfrm>
            <a:off x="457200" y="2688336"/>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6883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517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Which three meanings has the sequence field carried?</a:t>
            </a:r>
            <a:endParaRPr lang="en-US" sz="1200" dirty="0"/>
          </a:p>
        </p:txBody>
      </p:sp>
      <p:sp>
        <p:nvSpPr>
          <p:cNvPr id="18" name="Shape 16"/>
          <p:cNvSpPr/>
          <p:nvPr/>
        </p:nvSpPr>
        <p:spPr>
          <a:xfrm>
            <a:off x="457200" y="3145536"/>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455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089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Why did witnesses in the input script make the identifier malleable?</a:t>
            </a:r>
            <a:endParaRPr lang="en-US" sz="1200" dirty="0"/>
          </a:p>
        </p:txBody>
      </p:sp>
      <p:sp>
        <p:nvSpPr>
          <p:cNvPr id="21" name="Shape 19"/>
          <p:cNvSpPr/>
          <p:nvPr/>
        </p:nvSpPr>
        <p:spPr>
          <a:xfrm>
            <a:off x="457200" y="3602736"/>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02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5661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How are weight and vbytes computed, and does 569 reproduce from the bytes?</a:t>
            </a:r>
            <a:endParaRPr lang="en-US" sz="1200" dirty="0"/>
          </a:p>
        </p:txBody>
      </p:sp>
      <p:sp>
        <p:nvSpPr>
          <p:cNvPr id="24" name="Shape 22"/>
          <p:cNvSpPr/>
          <p:nvPr/>
        </p:nvSpPr>
        <p:spPr>
          <a:xfrm>
            <a:off x="457200" y="4059936"/>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0599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023360"/>
            <a:ext cx="7662672" cy="420624"/>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Who creates new bitcoins, and when can they be spent?</a:t>
            </a:r>
            <a:endParaRPr lang="en-US" sz="120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62</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chapter, eight branches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concept map the whole deck hangs on</a:t>
            </a:r>
            <a:endParaRPr lang="en-US" sz="1300" dirty="0"/>
          </a:p>
        </p:txBody>
      </p:sp>
      <p:sp>
        <p:nvSpPr>
          <p:cNvPr id="6" name="Shape 4"/>
          <p:cNvSpPr/>
          <p:nvPr/>
        </p:nvSpPr>
        <p:spPr>
          <a:xfrm>
            <a:off x="457200" y="1280160"/>
            <a:ext cx="1947672" cy="1490472"/>
          </a:xfrm>
          <a:prstGeom prst="roundRect">
            <a:avLst>
              <a:gd name="adj" fmla="val 4908"/>
            </a:avLst>
          </a:prstGeom>
          <a:solidFill>
            <a:srgbClr val="F2ECE1"/>
          </a:solidFill>
          <a:ln w="12700">
            <a:solidFill>
              <a:srgbClr val="DFD6C7"/>
            </a:solidFill>
            <a:prstDash val="solid"/>
          </a:ln>
        </p:spPr>
      </p:sp>
      <p:sp>
        <p:nvSpPr>
          <p:cNvPr id="7" name="Text 5"/>
          <p:cNvSpPr txBox="1"/>
          <p:nvPr/>
        </p:nvSpPr>
        <p:spPr>
          <a:xfrm>
            <a:off x="548640" y="1335024"/>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What a transaction is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10 concepts</a:t>
            </a:r>
            <a:endParaRPr lang="en-US" sz="1250" dirty="0"/>
          </a:p>
        </p:txBody>
      </p:sp>
      <p:sp>
        <p:nvSpPr>
          <p:cNvPr id="8" name="Shape 6"/>
          <p:cNvSpPr/>
          <p:nvPr/>
        </p:nvSpPr>
        <p:spPr>
          <a:xfrm>
            <a:off x="2551176" y="1280160"/>
            <a:ext cx="1947672" cy="1490472"/>
          </a:xfrm>
          <a:prstGeom prst="roundRect">
            <a:avLst>
              <a:gd name="adj" fmla="val 4908"/>
            </a:avLst>
          </a:prstGeom>
          <a:solidFill>
            <a:srgbClr val="F2ECE1"/>
          </a:solidFill>
          <a:ln w="12700">
            <a:solidFill>
              <a:srgbClr val="DFD6C7"/>
            </a:solidFill>
            <a:prstDash val="solid"/>
          </a:ln>
        </p:spPr>
      </p:sp>
      <p:sp>
        <p:nvSpPr>
          <p:cNvPr id="9" name="Text 7"/>
          <p:cNvSpPr txBox="1"/>
          <p:nvPr/>
        </p:nvSpPr>
        <p:spPr>
          <a:xfrm>
            <a:off x="2642616" y="1335024"/>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Version, marker and flag</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8 concepts</a:t>
            </a:r>
            <a:endParaRPr lang="en-US" sz="1250" dirty="0"/>
          </a:p>
        </p:txBody>
      </p:sp>
      <p:sp>
        <p:nvSpPr>
          <p:cNvPr id="10" name="Shape 8"/>
          <p:cNvSpPr/>
          <p:nvPr/>
        </p:nvSpPr>
        <p:spPr>
          <a:xfrm>
            <a:off x="4645152" y="1280160"/>
            <a:ext cx="1947672" cy="1490472"/>
          </a:xfrm>
          <a:prstGeom prst="roundRect">
            <a:avLst>
              <a:gd name="adj" fmla="val 4908"/>
            </a:avLst>
          </a:prstGeom>
          <a:solidFill>
            <a:srgbClr val="D97A14"/>
          </a:solidFill>
          <a:ln w="12700">
            <a:solidFill>
              <a:srgbClr val="D97A14"/>
            </a:solidFill>
            <a:prstDash val="solid"/>
          </a:ln>
        </p:spPr>
      </p:sp>
      <p:sp>
        <p:nvSpPr>
          <p:cNvPr id="11" name="Text 9"/>
          <p:cNvSpPr txBox="1"/>
          <p:nvPr/>
        </p:nvSpPr>
        <p:spPr>
          <a:xfrm>
            <a:off x="4736592" y="1335024"/>
            <a:ext cx="1764792" cy="138074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Inputs</a:t>
            </a:r>
            <a:endParaRPr lang="en-US" sz="1250" dirty="0"/>
          </a:p>
          <a:p>
            <a:pPr algn="ctr" indent="0" marL="0">
              <a:buNone/>
            </a:pPr>
            <a:r>
              <a:rPr lang="en-US" sz="1050" dirty="0">
                <a:solidFill>
                  <a:srgbClr val="FFFFFF"/>
                </a:solidFill>
                <a:latin typeface="Calibri" pitchFamily="34" charset="0"/>
                <a:ea typeface="Calibri" pitchFamily="34" charset="-122"/>
                <a:cs typeface="Calibri" pitchFamily="34" charset="-120"/>
              </a:rPr>
              <a:t>18 concepts</a:t>
            </a:r>
            <a:endParaRPr lang="en-US" sz="1250" dirty="0"/>
          </a:p>
        </p:txBody>
      </p:sp>
      <p:sp>
        <p:nvSpPr>
          <p:cNvPr id="12" name="Shape 10"/>
          <p:cNvSpPr/>
          <p:nvPr/>
        </p:nvSpPr>
        <p:spPr>
          <a:xfrm>
            <a:off x="6739128" y="1280160"/>
            <a:ext cx="1947672" cy="1490472"/>
          </a:xfrm>
          <a:prstGeom prst="roundRect">
            <a:avLst>
              <a:gd name="adj" fmla="val 4908"/>
            </a:avLst>
          </a:prstGeom>
          <a:solidFill>
            <a:srgbClr val="F2ECE1"/>
          </a:solidFill>
          <a:ln w="12700">
            <a:solidFill>
              <a:srgbClr val="DFD6C7"/>
            </a:solidFill>
            <a:prstDash val="solid"/>
          </a:ln>
        </p:spPr>
      </p:sp>
      <p:sp>
        <p:nvSpPr>
          <p:cNvPr id="13" name="Text 11"/>
          <p:cNvSpPr txBox="1"/>
          <p:nvPr/>
        </p:nvSpPr>
        <p:spPr>
          <a:xfrm>
            <a:off x="6830568" y="1335024"/>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The sequence field</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13 concepts</a:t>
            </a:r>
            <a:endParaRPr lang="en-US" sz="1250" dirty="0"/>
          </a:p>
        </p:txBody>
      </p:sp>
      <p:sp>
        <p:nvSpPr>
          <p:cNvPr id="14" name="Shape 12"/>
          <p:cNvSpPr/>
          <p:nvPr/>
        </p:nvSpPr>
        <p:spPr>
          <a:xfrm>
            <a:off x="457200" y="2898648"/>
            <a:ext cx="1947672" cy="1490472"/>
          </a:xfrm>
          <a:prstGeom prst="roundRect">
            <a:avLst>
              <a:gd name="adj" fmla="val 4908"/>
            </a:avLst>
          </a:prstGeom>
          <a:solidFill>
            <a:srgbClr val="F2ECE1"/>
          </a:solidFill>
          <a:ln w="12700">
            <a:solidFill>
              <a:srgbClr val="DFD6C7"/>
            </a:solidFill>
            <a:prstDash val="solid"/>
          </a:ln>
        </p:spPr>
      </p:sp>
      <p:sp>
        <p:nvSpPr>
          <p:cNvPr id="15" name="Text 13"/>
          <p:cNvSpPr txBox="1"/>
          <p:nvPr/>
        </p:nvSpPr>
        <p:spPr>
          <a:xfrm>
            <a:off x="548640" y="2953512"/>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Outputs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14 concepts</a:t>
            </a:r>
            <a:endParaRPr lang="en-US" sz="1250" dirty="0"/>
          </a:p>
        </p:txBody>
      </p:sp>
      <p:sp>
        <p:nvSpPr>
          <p:cNvPr id="16" name="Shape 14"/>
          <p:cNvSpPr/>
          <p:nvPr/>
        </p:nvSpPr>
        <p:spPr>
          <a:xfrm>
            <a:off x="2551176" y="2898648"/>
            <a:ext cx="1947672" cy="1490472"/>
          </a:xfrm>
          <a:prstGeom prst="roundRect">
            <a:avLst>
              <a:gd name="adj" fmla="val 4908"/>
            </a:avLst>
          </a:prstGeom>
          <a:solidFill>
            <a:srgbClr val="F2ECE1"/>
          </a:solidFill>
          <a:ln w="12700">
            <a:solidFill>
              <a:srgbClr val="DFD6C7"/>
            </a:solidFill>
            <a:prstDash val="solid"/>
          </a:ln>
        </p:spPr>
      </p:sp>
      <p:sp>
        <p:nvSpPr>
          <p:cNvPr id="17" name="Text 15"/>
          <p:cNvSpPr txBox="1"/>
          <p:nvPr/>
        </p:nvSpPr>
        <p:spPr>
          <a:xfrm>
            <a:off x="2642616" y="2953512"/>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Witnesses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20 concepts</a:t>
            </a:r>
            <a:endParaRPr lang="en-US" sz="1250" dirty="0"/>
          </a:p>
        </p:txBody>
      </p:sp>
      <p:sp>
        <p:nvSpPr>
          <p:cNvPr id="18" name="Shape 16"/>
          <p:cNvSpPr/>
          <p:nvPr/>
        </p:nvSpPr>
        <p:spPr>
          <a:xfrm>
            <a:off x="4645152" y="2898648"/>
            <a:ext cx="1947672" cy="1490472"/>
          </a:xfrm>
          <a:prstGeom prst="roundRect">
            <a:avLst>
              <a:gd name="adj" fmla="val 4908"/>
            </a:avLst>
          </a:prstGeom>
          <a:solidFill>
            <a:srgbClr val="F2ECE1"/>
          </a:solidFill>
          <a:ln w="12700">
            <a:solidFill>
              <a:srgbClr val="DFD6C7"/>
            </a:solidFill>
            <a:prstDash val="solid"/>
          </a:ln>
        </p:spPr>
      </p:sp>
      <p:sp>
        <p:nvSpPr>
          <p:cNvPr id="19" name="Text 17"/>
          <p:cNvSpPr txBox="1"/>
          <p:nvPr/>
        </p:nvSpPr>
        <p:spPr>
          <a:xfrm>
            <a:off x="4736592" y="2953512"/>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Lock time and the coinbase</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12 concepts</a:t>
            </a:r>
            <a:endParaRPr lang="en-US" sz="1250" dirty="0"/>
          </a:p>
        </p:txBody>
      </p:sp>
      <p:sp>
        <p:nvSpPr>
          <p:cNvPr id="20" name="Shape 18"/>
          <p:cNvSpPr/>
          <p:nvPr/>
        </p:nvSpPr>
        <p:spPr>
          <a:xfrm>
            <a:off x="6739128" y="2898648"/>
            <a:ext cx="1947672" cy="1490472"/>
          </a:xfrm>
          <a:prstGeom prst="roundRect">
            <a:avLst>
              <a:gd name="adj" fmla="val 4908"/>
            </a:avLst>
          </a:prstGeom>
          <a:solidFill>
            <a:srgbClr val="F2ECE1"/>
          </a:solidFill>
          <a:ln w="12700">
            <a:solidFill>
              <a:srgbClr val="DFD6C7"/>
            </a:solidFill>
            <a:prstDash val="solid"/>
          </a:ln>
        </p:spPr>
      </p:sp>
      <p:sp>
        <p:nvSpPr>
          <p:cNvPr id="21" name="Text 19"/>
          <p:cNvSpPr txBox="1"/>
          <p:nvPr/>
        </p:nvSpPr>
        <p:spPr>
          <a:xfrm>
            <a:off x="6830568" y="2953512"/>
            <a:ext cx="1764792" cy="1380744"/>
          </a:xfrm>
          <a:prstGeom prst="rect">
            <a:avLst/>
          </a:prstGeom>
          <a:noFill/>
          <a:ln/>
        </p:spPr>
        <p:txBody>
          <a:bodyPr wrap="square" lIns="0" tIns="0" rIns="0" bIns="0" rtlCol="0" anchor="ctr"/>
          <a:lstStyle/>
          <a:p>
            <a:pPr algn="ctr" indent="0" marL="0">
              <a:buNone/>
            </a:pPr>
            <a:r>
              <a:rPr lang="en-US" sz="1250" b="1" dirty="0">
                <a:solidFill>
                  <a:srgbClr val="2B2622"/>
                </a:solidFill>
                <a:latin typeface="Calibri" pitchFamily="34" charset="0"/>
                <a:ea typeface="Calibri" pitchFamily="34" charset="-122"/>
                <a:cs typeface="Calibri" pitchFamily="34" charset="-120"/>
              </a:rPr>
              <a:t>Weight and foundations</a:t>
            </a:r>
            <a:endParaRPr lang="en-US" sz="1250" dirty="0"/>
          </a:p>
          <a:p>
            <a:pPr algn="ctr" indent="0" marL="0">
              <a:buNone/>
            </a:pPr>
            <a:r>
              <a:rPr lang="en-US" sz="1050" dirty="0">
                <a:solidFill>
                  <a:srgbClr val="6E655C"/>
                </a:solidFill>
                <a:latin typeface="Calibri" pitchFamily="34" charset="0"/>
                <a:ea typeface="Calibri" pitchFamily="34" charset="-122"/>
                <a:cs typeface="Calibri" pitchFamily="34" charset="-120"/>
              </a:rPr>
              <a:t>12 concepts</a:t>
            </a:r>
            <a:endParaRPr lang="en-US" sz="12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Eight branches; every slide today lives on this map</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62</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What a transaction is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transaction is a signed letter asking every ledger to update itself.</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Idea of a transaction</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What a transaction is and what each node does with it.</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signed letter that asks every ledger to change.</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Serialization formats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ways a transaction is written out as bytes.</a:t>
            </a:r>
            <a:endParaRPr lang="en-US" sz="1150" dirty="0"/>
          </a:p>
        </p:txBody>
      </p:sp>
      <p:sp>
        <p:nvSpPr>
          <p:cNvPr id="13" name="Text 11"/>
          <p:cNvSpPr txBox="1"/>
          <p:nvPr/>
        </p:nvSpPr>
        <p:spPr>
          <a:xfrm>
            <a:off x="480060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packing a letter flat for the post.</a:t>
            </a:r>
            <a:endParaRPr lang="en-US" sz="11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914400"/>
                <a:gridCol w="822960"/>
                <a:gridCol w="1737360"/>
                <a:gridCol w="1737360"/>
                <a:gridCol w="1737360"/>
                <a:gridCol w="914400"/>
              </a:tblGrid>
              <a:tr h="36576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Version</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Marker Flag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Inputs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Outputs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Witnesses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Lock 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62</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a transaction is: concepts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74090"/>
          </a:xfrm>
          <a:prstGeom prst="roundRect">
            <a:avLst>
              <a:gd name="adj" fmla="val 6231"/>
            </a:avLst>
          </a:prstGeom>
          <a:solidFill>
            <a:srgbClr val="F2ECE1"/>
          </a:solidFill>
          <a:ln w="12700">
            <a:solidFill>
              <a:srgbClr val="DFD6C7"/>
            </a:solidFill>
            <a:prstDash val="solid"/>
          </a:ln>
        </p:spPr>
      </p:sp>
      <p:sp>
        <p:nvSpPr>
          <p:cNvPr id="7" name="Shape 5"/>
          <p:cNvSpPr/>
          <p:nvPr/>
        </p:nvSpPr>
        <p:spPr>
          <a:xfrm>
            <a:off x="475488" y="1408176"/>
            <a:ext cx="64008" cy="91805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Transaction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request to thousands of databases.</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signed letter asking every bank branch to update its ledger.</a:t>
            </a:r>
            <a:endParaRPr lang="en-US" sz="1150" dirty="0"/>
          </a:p>
        </p:txBody>
      </p:sp>
      <p:sp>
        <p:nvSpPr>
          <p:cNvPr id="10" name="Shape 8"/>
          <p:cNvSpPr/>
          <p:nvPr/>
        </p:nvSpPr>
        <p:spPr>
          <a:xfrm>
            <a:off x="4645152" y="1280160"/>
            <a:ext cx="4041648" cy="1174090"/>
          </a:xfrm>
          <a:prstGeom prst="roundRect">
            <a:avLst>
              <a:gd name="adj" fmla="val 6231"/>
            </a:avLst>
          </a:prstGeom>
          <a:solidFill>
            <a:srgbClr val="F2ECE1"/>
          </a:solidFill>
          <a:ln w="12700">
            <a:solidFill>
              <a:srgbClr val="DFD6C7"/>
            </a:solidFill>
            <a:prstDash val="solid"/>
          </a:ln>
        </p:spPr>
      </p:sp>
      <p:sp>
        <p:nvSpPr>
          <p:cNvPr id="11" name="Shape 9"/>
          <p:cNvSpPr/>
          <p:nvPr/>
        </p:nvSpPr>
        <p:spPr>
          <a:xfrm>
            <a:off x="4663440" y="1408176"/>
            <a:ext cx="64008" cy="91805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ownership record of a full node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Every node keeps the same register.</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land register that every town keeps an identical copy of.</a:t>
            </a:r>
            <a:endParaRPr lang="en-US" sz="1150" dirty="0"/>
          </a:p>
        </p:txBody>
      </p:sp>
      <p:sp>
        <p:nvSpPr>
          <p:cNvPr id="14" name="Shape 12"/>
          <p:cNvSpPr/>
          <p:nvPr/>
        </p:nvSpPr>
        <p:spPr>
          <a:xfrm>
            <a:off x="457200" y="2582266"/>
            <a:ext cx="4041648" cy="1174090"/>
          </a:xfrm>
          <a:prstGeom prst="roundRect">
            <a:avLst>
              <a:gd name="adj" fmla="val 6231"/>
            </a:avLst>
          </a:prstGeom>
          <a:solidFill>
            <a:srgbClr val="F2ECE1"/>
          </a:solidFill>
          <a:ln w="12700">
            <a:solidFill>
              <a:srgbClr val="DFD6C7"/>
            </a:solidFill>
            <a:prstDash val="solid"/>
          </a:ln>
        </p:spPr>
      </p:sp>
      <p:sp>
        <p:nvSpPr>
          <p:cNvPr id="15" name="Shape 13"/>
          <p:cNvSpPr/>
          <p:nvPr/>
        </p:nvSpPr>
        <p:spPr>
          <a:xfrm>
            <a:off x="475488" y="2710282"/>
            <a:ext cx="64008" cy="918058"/>
          </a:xfrm>
          <a:prstGeom prst="rect">
            <a:avLst/>
          </a:prstGeom>
          <a:solidFill>
            <a:srgbClr val="D97A14"/>
          </a:solidFill>
          <a:ln w="12700">
            <a:solidFill>
              <a:srgbClr val="D97A14"/>
            </a:solidFill>
            <a:prstDash val="solid"/>
          </a:ln>
        </p:spPr>
      </p:sp>
      <p:sp>
        <p:nvSpPr>
          <p:cNvPr id="16" name="Text 14"/>
          <p:cNvSpPr txBox="1"/>
          <p:nvPr/>
        </p:nvSpPr>
        <p:spPr>
          <a:xfrm>
            <a:off x="640080"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parts of a transaction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Five top-level fields, plus two for segwit.</a:t>
            </a:r>
            <a:endParaRPr lang="en-US" sz="1300" dirty="0"/>
          </a:p>
        </p:txBody>
      </p:sp>
      <p:sp>
        <p:nvSpPr>
          <p:cNvPr id="17" name="Text 15"/>
          <p:cNvSpPr txBox="1"/>
          <p:nvPr/>
        </p:nvSpPr>
        <p:spPr>
          <a:xfrm>
            <a:off x="640080" y="310804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cheque with boxes for payer, payee, amount and signature.</a:t>
            </a:r>
            <a:endParaRPr lang="en-US" sz="1150" dirty="0"/>
          </a:p>
        </p:txBody>
      </p:sp>
      <p:sp>
        <p:nvSpPr>
          <p:cNvPr id="18" name="Shape 16"/>
          <p:cNvSpPr/>
          <p:nvPr/>
        </p:nvSpPr>
        <p:spPr>
          <a:xfrm>
            <a:off x="4645152" y="2582266"/>
            <a:ext cx="4041648" cy="1174090"/>
          </a:xfrm>
          <a:prstGeom prst="roundRect">
            <a:avLst>
              <a:gd name="adj" fmla="val 6231"/>
            </a:avLst>
          </a:prstGeom>
          <a:solidFill>
            <a:srgbClr val="F2ECE1"/>
          </a:solidFill>
          <a:ln w="12700">
            <a:solidFill>
              <a:srgbClr val="DFD6C7"/>
            </a:solidFill>
            <a:prstDash val="solid"/>
          </a:ln>
        </p:spPr>
      </p:sp>
      <p:sp>
        <p:nvSpPr>
          <p:cNvPr id="19" name="Shape 17"/>
          <p:cNvSpPr/>
          <p:nvPr/>
        </p:nvSpPr>
        <p:spPr>
          <a:xfrm>
            <a:off x="4663440" y="2710282"/>
            <a:ext cx="64008" cy="918058"/>
          </a:xfrm>
          <a:prstGeom prst="rect">
            <a:avLst/>
          </a:prstGeom>
          <a:solidFill>
            <a:srgbClr val="D97A14"/>
          </a:solidFill>
          <a:ln w="12700">
            <a:solidFill>
              <a:srgbClr val="D97A14"/>
            </a:solidFill>
            <a:prstDash val="solid"/>
          </a:ln>
        </p:spPr>
      </p:sp>
      <p:sp>
        <p:nvSpPr>
          <p:cNvPr id="20" name="Text 18"/>
          <p:cNvSpPr txBox="1"/>
          <p:nvPr/>
        </p:nvSpPr>
        <p:spPr>
          <a:xfrm>
            <a:off x="4828032"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Serialized transaction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194 bytes Bitcoin Core returned.</a:t>
            </a:r>
            <a:endParaRPr lang="en-US" sz="1300" dirty="0"/>
          </a:p>
        </p:txBody>
      </p:sp>
      <p:sp>
        <p:nvSpPr>
          <p:cNvPr id="21" name="Text 19"/>
          <p:cNvSpPr txBox="1"/>
          <p:nvPr/>
        </p:nvSpPr>
        <p:spPr>
          <a:xfrm>
            <a:off x="4828032" y="310804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letter flattened into one long strip of tape.</a:t>
            </a:r>
            <a:endParaRPr lang="en-US" sz="1150" dirty="0"/>
          </a:p>
        </p:txBody>
      </p:sp>
      <p:sp>
        <p:nvSpPr>
          <p:cNvPr id="22" name="Text 20"/>
          <p:cNvSpPr txBox="1"/>
          <p:nvPr/>
        </p:nvSpPr>
        <p:spPr>
          <a:xfrm>
            <a:off x="4828032" y="3519526"/>
            <a:ext cx="3767328" cy="191110"/>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A Serialized Bitcoin Transaction</a:t>
            </a:r>
            <a:endParaRPr lang="en-US" sz="100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62</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194 bytes, every one named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Alice's transaction, parsed from its hexadecimal text</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tx = parse_tx(ALICE)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b="1" dirty="0">
                <a:solidFill>
                  <a:srgbClr val="F2A860"/>
                </a:solidFill>
                <a:latin typeface="Courier New" pitchFamily="34" charset="0"/>
                <a:ea typeface="Courier New" pitchFamily="34" charset="-122"/>
                <a:cs typeface="Courier New" pitchFamily="34" charset="-120"/>
              </a:rPr>
              <a:t>from</a:t>
            </a:r>
            <a:r>
              <a:rPr lang="en-US" sz="1000" dirty="0">
                <a:solidFill>
                  <a:srgbClr val="E6EDF3"/>
                </a:solidFill>
                <a:latin typeface="Courier New" pitchFamily="34" charset="0"/>
                <a:ea typeface="Courier New" pitchFamily="34" charset="-122"/>
                <a:cs typeface="Courier New" pitchFamily="34" charset="-120"/>
              </a:rPr>
              <a:t> collections </a:t>
            </a:r>
            <a:r>
              <a:rPr lang="en-US" sz="1000" b="1" dirty="0">
                <a:solidFill>
                  <a:srgbClr val="F2A860"/>
                </a:solidFill>
                <a:latin typeface="Courier New" pitchFamily="34" charset="0"/>
                <a:ea typeface="Courier New" pitchFamily="34" charset="-122"/>
                <a:cs typeface="Courier New" pitchFamily="34" charset="-120"/>
              </a:rPr>
              <a:t>import</a:t>
            </a:r>
            <a:r>
              <a:rPr lang="en-US" sz="1000" dirty="0">
                <a:solidFill>
                  <a:srgbClr val="E6EDF3"/>
                </a:solidFill>
                <a:latin typeface="Courier New" pitchFamily="34" charset="0"/>
                <a:ea typeface="Courier New" pitchFamily="34" charset="-122"/>
                <a:cs typeface="Courier New" pitchFamily="34" charset="-120"/>
              </a:rPr>
              <a:t> defaultdict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g = defaultdict(int)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p,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tx[</a:t>
            </a:r>
            <a:r>
              <a:rPr lang="en-US" sz="1000" dirty="0">
                <a:solidFill>
                  <a:srgbClr val="9ECBFF"/>
                </a:solidFill>
                <a:latin typeface="Courier New" pitchFamily="34" charset="0"/>
                <a:ea typeface="Courier New" pitchFamily="34" charset="-122"/>
                <a:cs typeface="Courier New" pitchFamily="34" charset="-120"/>
              </a:rPr>
              <a:t>'spans'</a:t>
            </a:r>
            <a:r>
              <a:rPr lang="en-US" sz="1000" dirty="0">
                <a:solidFill>
                  <a:srgbClr val="E6EDF3"/>
                </a:solidFill>
                <a:latin typeface="Courier New" pitchFamily="34" charset="0"/>
                <a:ea typeface="Courier New" pitchFamily="34" charset="-122"/>
                <a:cs typeface="Courier New" pitchFamily="34" charset="-120"/>
              </a:rPr>
              <a:t>]: g[s.split()[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 n</a:t>
            </a:r>
            <a:endParaRPr lang="en-US" sz="1000" dirty="0"/>
          </a:p>
        </p:txBody>
      </p:sp>
      <p:sp>
        <p:nvSpPr>
          <p:cNvPr id="10" name="Shape 8"/>
          <p:cNvSpPr/>
          <p:nvPr/>
        </p:nvSpPr>
        <p:spPr>
          <a:xfrm>
            <a:off x="457200" y="3083357"/>
            <a:ext cx="5074920" cy="476402"/>
          </a:xfrm>
          <a:prstGeom prst="roundRect">
            <a:avLst>
              <a:gd name="adj" fmla="val 15355"/>
            </a:avLst>
          </a:prstGeom>
          <a:solidFill>
            <a:srgbClr val="23272E"/>
          </a:solidFill>
          <a:ln w="12700">
            <a:solidFill>
              <a:srgbClr val="23272E"/>
            </a:solidFill>
            <a:prstDash val="solid"/>
          </a:ln>
        </p:spPr>
      </p:sp>
      <p:sp>
        <p:nvSpPr>
          <p:cNvPr id="11" name="Text 9"/>
          <p:cNvSpPr txBox="1"/>
          <p:nvPr/>
        </p:nvSpPr>
        <p:spPr>
          <a:xfrm>
            <a:off x="603504" y="3156509"/>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sum(g.values())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194</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library names every field of the transaction and where it sits.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Walk the fields in byte order and add up their lengths, one total per group.</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719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groups add back to the whole transaction: no byte is left over.</a:t>
            </a:r>
            <a:endParaRPr lang="en-US" sz="1050" dirty="0"/>
          </a:p>
        </p:txBody>
      </p:sp>
      <p:sp>
        <p:nvSpPr>
          <p:cNvPr id="21" name="Text 19"/>
          <p:cNvSpPr txBox="1"/>
          <p:nvPr/>
        </p:nvSpPr>
        <p:spPr>
          <a:xfrm>
            <a:off x="457200" y="3843223"/>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ALICE, PREV, FIRST and tx come from the chapter setup</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bytes per field group (all 194)</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Outputs and the witness take the most bytes; version and lock time take four each.</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Every byte belongs to a named field, and the fields come in a fixed order</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62</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a transaction is: concepts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74090"/>
          </a:xfrm>
          <a:prstGeom prst="roundRect">
            <a:avLst>
              <a:gd name="adj" fmla="val 6231"/>
            </a:avLst>
          </a:prstGeom>
          <a:solidFill>
            <a:srgbClr val="F2ECE1"/>
          </a:solidFill>
          <a:ln w="12700">
            <a:solidFill>
              <a:srgbClr val="DFD6C7"/>
            </a:solidFill>
            <a:prstDash val="solid"/>
          </a:ln>
        </p:spPr>
      </p:sp>
      <p:sp>
        <p:nvSpPr>
          <p:cNvPr id="7" name="Shape 5"/>
          <p:cNvSpPr/>
          <p:nvPr/>
        </p:nvSpPr>
        <p:spPr>
          <a:xfrm>
            <a:off x="475488" y="1408176"/>
            <a:ext cx="64008" cy="91805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Extended serialization format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Marker 00, flag 01, witness at the end.</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same letter with a signed slip tucked in at the end.</a:t>
            </a:r>
            <a:endParaRPr lang="en-US" sz="1150" dirty="0"/>
          </a:p>
        </p:txBody>
      </p:sp>
      <p:sp>
        <p:nvSpPr>
          <p:cNvPr id="10" name="Shape 8"/>
          <p:cNvSpPr/>
          <p:nvPr/>
        </p:nvSpPr>
        <p:spPr>
          <a:xfrm>
            <a:off x="4645152" y="1280160"/>
            <a:ext cx="4041648" cy="1174090"/>
          </a:xfrm>
          <a:prstGeom prst="roundRect">
            <a:avLst>
              <a:gd name="adj" fmla="val 6231"/>
            </a:avLst>
          </a:prstGeom>
          <a:solidFill>
            <a:srgbClr val="F2ECE1"/>
          </a:solidFill>
          <a:ln w="12700">
            <a:solidFill>
              <a:srgbClr val="DFD6C7"/>
            </a:solidFill>
            <a:prstDash val="solid"/>
          </a:ln>
        </p:spPr>
      </p:sp>
      <p:sp>
        <p:nvSpPr>
          <p:cNvPr id="11" name="Shape 9"/>
          <p:cNvSpPr/>
          <p:nvPr/>
        </p:nvSpPr>
        <p:spPr>
          <a:xfrm>
            <a:off x="4663440" y="1408176"/>
            <a:ext cx="64008" cy="91805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Legacy serialization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No marker, no flag, no witness.</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plain letter, before the extra slip was invented.</a:t>
            </a:r>
            <a:endParaRPr lang="en-US" sz="1150" dirty="0"/>
          </a:p>
        </p:txBody>
      </p:sp>
      <p:sp>
        <p:nvSpPr>
          <p:cNvPr id="14" name="Shape 12"/>
          <p:cNvSpPr/>
          <p:nvPr/>
        </p:nvSpPr>
        <p:spPr>
          <a:xfrm>
            <a:off x="457200" y="2582266"/>
            <a:ext cx="4041648" cy="1174090"/>
          </a:xfrm>
          <a:prstGeom prst="roundRect">
            <a:avLst>
              <a:gd name="adj" fmla="val 6231"/>
            </a:avLst>
          </a:prstGeom>
          <a:solidFill>
            <a:srgbClr val="F2ECE1"/>
          </a:solidFill>
          <a:ln w="12700">
            <a:solidFill>
              <a:srgbClr val="DFD6C7"/>
            </a:solidFill>
            <a:prstDash val="solid"/>
          </a:ln>
        </p:spPr>
      </p:sp>
      <p:sp>
        <p:nvSpPr>
          <p:cNvPr id="15" name="Shape 13"/>
          <p:cNvSpPr/>
          <p:nvPr/>
        </p:nvSpPr>
        <p:spPr>
          <a:xfrm>
            <a:off x="475488" y="2710282"/>
            <a:ext cx="64008" cy="918058"/>
          </a:xfrm>
          <a:prstGeom prst="rect">
            <a:avLst/>
          </a:prstGeom>
          <a:solidFill>
            <a:srgbClr val="D97A14"/>
          </a:solidFill>
          <a:ln w="12700">
            <a:solidFill>
              <a:srgbClr val="D97A14"/>
            </a:solidFill>
            <a:prstDash val="solid"/>
          </a:ln>
        </p:spPr>
      </p:sp>
      <p:sp>
        <p:nvSpPr>
          <p:cNvPr id="16" name="Text 14"/>
          <p:cNvSpPr txBox="1"/>
          <p:nvPr/>
        </p:nvSpPr>
        <p:spPr>
          <a:xfrm>
            <a:off x="640080"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Partially signed bitcoin transaction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template passed between programs.</a:t>
            </a:r>
            <a:endParaRPr lang="en-US" sz="1300" dirty="0"/>
          </a:p>
        </p:txBody>
      </p:sp>
      <p:sp>
        <p:nvSpPr>
          <p:cNvPr id="17" name="Text 15"/>
          <p:cNvSpPr txBox="1"/>
          <p:nvPr/>
        </p:nvSpPr>
        <p:spPr>
          <a:xfrm>
            <a:off x="640080" y="310804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form passed round the office until every signer has signed.</a:t>
            </a:r>
            <a:endParaRPr lang="en-US" sz="1150" dirty="0"/>
          </a:p>
        </p:txBody>
      </p:sp>
      <p:sp>
        <p:nvSpPr>
          <p:cNvPr id="18" name="Text 16"/>
          <p:cNvSpPr txBox="1"/>
          <p:nvPr/>
        </p:nvSpPr>
        <p:spPr>
          <a:xfrm>
            <a:off x="640080" y="3519526"/>
            <a:ext cx="3767328" cy="191110"/>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PSBT</a:t>
            </a:r>
            <a:endParaRPr lang="en-US" sz="1000" dirty="0"/>
          </a:p>
        </p:txBody>
      </p:sp>
      <p:sp>
        <p:nvSpPr>
          <p:cNvPr id="19" name="Shape 17"/>
          <p:cNvSpPr/>
          <p:nvPr/>
        </p:nvSpPr>
        <p:spPr>
          <a:xfrm>
            <a:off x="4645152" y="2582266"/>
            <a:ext cx="4041648" cy="1174090"/>
          </a:xfrm>
          <a:prstGeom prst="roundRect">
            <a:avLst>
              <a:gd name="adj" fmla="val 6231"/>
            </a:avLst>
          </a:prstGeom>
          <a:solidFill>
            <a:srgbClr val="F2ECE1"/>
          </a:solidFill>
          <a:ln w="12700">
            <a:solidFill>
              <a:srgbClr val="DFD6C7"/>
            </a:solidFill>
            <a:prstDash val="solid"/>
          </a:ln>
        </p:spPr>
      </p:sp>
      <p:sp>
        <p:nvSpPr>
          <p:cNvPr id="20" name="Shape 18"/>
          <p:cNvSpPr/>
          <p:nvPr/>
        </p:nvSpPr>
        <p:spPr>
          <a:xfrm>
            <a:off x="4663440" y="2710282"/>
            <a:ext cx="64008" cy="918058"/>
          </a:xfrm>
          <a:prstGeom prst="rect">
            <a:avLst/>
          </a:prstGeom>
          <a:solidFill>
            <a:srgbClr val="D97A14"/>
          </a:solidFill>
          <a:ln w="12700">
            <a:solidFill>
              <a:srgbClr val="D97A14"/>
            </a:solidFill>
            <a:prstDash val="solid"/>
          </a:ln>
        </p:spPr>
      </p:sp>
      <p:sp>
        <p:nvSpPr>
          <p:cNvPr id="21" name="Text 19"/>
          <p:cNvSpPr txBox="1"/>
          <p:nvPr/>
        </p:nvSpPr>
        <p:spPr>
          <a:xfrm>
            <a:off x="4828032"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Byte map</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Every field at its offset.</a:t>
            </a:r>
            <a:endParaRPr lang="en-US" sz="1300" dirty="0"/>
          </a:p>
        </p:txBody>
      </p:sp>
      <p:sp>
        <p:nvSpPr>
          <p:cNvPr id="22" name="Text 20"/>
          <p:cNvSpPr txBox="1"/>
          <p:nvPr/>
        </p:nvSpPr>
        <p:spPr>
          <a:xfrm>
            <a:off x="4828032" y="310804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floor plan showing which room each byte lives in.</a:t>
            </a:r>
            <a:endParaRPr lang="en-US" sz="115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62</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Two serializations, two identifiers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Extended with the witness, legacy without it</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ext = serialize(tx, witness=</a:t>
            </a:r>
            <a:r>
              <a:rPr lang="en-US" sz="1000" b="1" dirty="0">
                <a:solidFill>
                  <a:srgbClr val="F2A860"/>
                </a:solidFill>
                <a:latin typeface="Courier New" pitchFamily="34" charset="0"/>
                <a:ea typeface="Courier New" pitchFamily="34" charset="-122"/>
                <a:cs typeface="Courier New" pitchFamily="34" charset="-120"/>
              </a:rPr>
              <a:t>True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leg = serialize(tx, witness=</a:t>
            </a:r>
            <a:r>
              <a:rPr lang="en-US" sz="1000" b="1" dirty="0">
                <a:solidFill>
                  <a:srgbClr val="F2A860"/>
                </a:solidFill>
                <a:latin typeface="Courier New" pitchFamily="34" charset="0"/>
                <a:ea typeface="Courier New" pitchFamily="34" charset="-122"/>
                <a:cs typeface="Courier New" pitchFamily="34" charset="-120"/>
              </a:rPr>
              <a:t>False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360066"/>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ids = [wtxid(ALICE)[:</a:t>
            </a:r>
            <a:r>
              <a:rPr lang="en-US" sz="1000" dirty="0">
                <a:solidFill>
                  <a:srgbClr val="FFD28A"/>
                </a:solidFill>
                <a:latin typeface="Courier New" pitchFamily="34" charset="0"/>
                <a:ea typeface="Courier New" pitchFamily="34" charset="-122"/>
                <a:cs typeface="Courier New" pitchFamily="34" charset="-120"/>
              </a:rPr>
              <a:t>16</a:t>
            </a:r>
            <a:r>
              <a:rPr lang="en-US" sz="1000" dirty="0">
                <a:solidFill>
                  <a:srgbClr val="E6EDF3"/>
                </a:solidFill>
                <a:latin typeface="Courier New" pitchFamily="34" charset="0"/>
                <a:ea typeface="Courier New" pitchFamily="34" charset="-122"/>
                <a:cs typeface="Courier New" pitchFamily="34" charset="-120"/>
              </a:rPr>
              <a:t>], txid(ALICE)[:</a:t>
            </a:r>
            <a:r>
              <a:rPr lang="en-US" sz="1000" dirty="0">
                <a:solidFill>
                  <a:srgbClr val="FFD28A"/>
                </a:solidFill>
                <a:latin typeface="Courier New" pitchFamily="34" charset="0"/>
                <a:ea typeface="Courier New" pitchFamily="34" charset="-122"/>
                <a:cs typeface="Courier New" pitchFamily="34" charset="-120"/>
              </a:rPr>
              <a:t>16</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991917"/>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sizes = [len(ext), len(leg)]</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[194, 125]</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same payment is written twice: once with the witness, once without.</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legacy form is shorter, and each form has its own hash.</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Sizes in bytes: the extended form carries marker, flag and witness.</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ALICE, PREV, FIRST and tx as set up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two forms of one payment</a:t>
            </a:r>
            <a:endParaRPr lang="en-US" sz="11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777240"/>
                <a:gridCol w="502920"/>
                <a:gridCol w="169164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Form</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Hash (16 hex digits)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Extended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194</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f7cdbc7cf8b910d3</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Legacy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125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466200308696215b</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287121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69 extra bytes are marker, flag and witness. The txid hashes the legacy form; the wtxid hashes the extended one.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txid hashes the legacy bytes only; the wtxid hashes everything</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62</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Ten bitcoins to Hal Finney, block 170</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first transaction ever to spend an output</a:t>
            </a:r>
            <a:endParaRPr lang="en-US" sz="1300" dirty="0"/>
          </a:p>
        </p:txBody>
      </p:sp>
      <p:pic>
        <p:nvPicPr>
          <p:cNvPr id="6" name="Image 0" descr="../../03-materials/ch06/assets/photo_hal_finney_1972.jpg">    </p:cNvPr>
          <p:cNvPicPr>
            <a:picLocks noChangeAspect="1"/>
          </p:cNvPicPr>
          <p:nvPr/>
        </p:nvPicPr>
        <p:blipFill>
          <a:blip r:embed="rId1"/>
          <a:srcRect l="0" r="0" t="0" b="0"/>
          <a:stretch/>
        </p:blipFill>
        <p:spPr>
          <a:xfrm>
            <a:off x="457200" y="1280160"/>
            <a:ext cx="2377440" cy="2331720"/>
          </a:xfrm>
          <a:prstGeom prst="rect">
            <a:avLst/>
          </a:prstGeom>
        </p:spPr>
      </p:pic>
      <p:sp>
        <p:nvSpPr>
          <p:cNvPr id="7" name="Text 4"/>
          <p:cNvSpPr txBox="1"/>
          <p:nvPr/>
        </p:nvSpPr>
        <p:spPr>
          <a:xfrm>
            <a:off x="457200" y="3630168"/>
            <a:ext cx="23774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Hal Finney, 1972 - Daily News-Post, public domain</a:t>
            </a:r>
            <a:endParaRPr lang="en-US" sz="900" dirty="0"/>
          </a:p>
        </p:txBody>
      </p:sp>
      <p:sp>
        <p:nvSpPr>
          <p:cNvPr id="8" name="Shape 5"/>
          <p:cNvSpPr/>
          <p:nvPr/>
        </p:nvSpPr>
        <p:spPr>
          <a:xfrm>
            <a:off x="310896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3383280" y="128016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Satoshi Nakamoto sent Hal Finney 10 bitcoins, the first transaction ever to spend an output.</a:t>
            </a:r>
            <a:endParaRPr lang="en-US" sz="1150" dirty="0"/>
          </a:p>
        </p:txBody>
      </p:sp>
      <p:sp>
        <p:nvSpPr>
          <p:cNvPr id="10" name="Shape 7"/>
          <p:cNvSpPr/>
          <p:nvPr/>
        </p:nvSpPr>
        <p:spPr>
          <a:xfrm>
            <a:off x="310896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383280" y="189738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Finney had started the software the day before and wanted to test the network with a real payment.</a:t>
            </a:r>
            <a:endParaRPr lang="en-US" sz="1150" dirty="0"/>
          </a:p>
        </p:txBody>
      </p:sp>
      <p:sp>
        <p:nvSpPr>
          <p:cNvPr id="12" name="Shape 9"/>
          <p:cNvSpPr/>
          <p:nvPr/>
        </p:nvSpPr>
        <p:spPr>
          <a:xfrm>
            <a:off x="310896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383280" y="251460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One input points at the coinbase of block 9; two outputs pay 10 BTC to Finney and 40 BTC back.</a:t>
            </a:r>
            <a:endParaRPr lang="en-US" sz="1150" dirty="0"/>
          </a:p>
        </p:txBody>
      </p:sp>
      <p:sp>
        <p:nvSpPr>
          <p:cNvPr id="14" name="Shape 11"/>
          <p:cNvSpPr/>
          <p:nvPr/>
        </p:nvSpPr>
        <p:spPr>
          <a:xfrm>
            <a:off x="310896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383280" y="313182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Legacy format, no marker, no flag, no witness: every field this chapter reads was already there.</a:t>
            </a:r>
            <a:endParaRPr lang="en-US" sz="1150" dirty="0"/>
          </a:p>
        </p:txBody>
      </p:sp>
      <p:sp>
        <p:nvSpPr>
          <p:cNvPr id="16" name="Shape 13"/>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Satoshi Nakamoto (sender…</a:t>
            </a:r>
            <a:endParaRPr lang="en-US" sz="750" dirty="0"/>
          </a:p>
        </p:txBody>
      </p:sp>
      <p:sp>
        <p:nvSpPr>
          <p:cNvPr id="18" name="Shape 15"/>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170 of the block…</a:t>
            </a:r>
            <a:endParaRPr lang="en-US" sz="750" dirty="0"/>
          </a:p>
        </p:txBody>
      </p:sp>
      <p:sp>
        <p:nvSpPr>
          <p:cNvPr id="20" name="Shape 17"/>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2009-01-12</a:t>
            </a:r>
            <a:endParaRPr lang="en-US" sz="750" dirty="0"/>
          </a:p>
        </p:txBody>
      </p:sp>
      <p:sp>
        <p:nvSpPr>
          <p:cNvPr id="22" name="Shape 19"/>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Satoshi to Finney, block 170 (tx)</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mempool.space</a:t>
            </a:r>
            <a:endParaRPr lang="en-US" sz="7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62</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Version, marker and flag</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Version, marker and flag are the edition number and labels on the envelope.</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version field</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Four bytes that say which rule edition applies.</a:t>
            </a:r>
            <a:endParaRPr lang="en-US" sz="1150" dirty="0"/>
          </a:p>
        </p:txBody>
      </p:sp>
      <p:sp>
        <p:nvSpPr>
          <p:cNvPr id="9" name="Text 7"/>
          <p:cNvSpPr txBox="1"/>
          <p:nvPr/>
        </p:nvSpPr>
        <p:spPr>
          <a:xfrm>
            <a:off x="77724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edition number printed on a form.</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Marker and flag</a:t>
            </a:r>
            <a:endParaRPr lang="en-US" sz="1200" dirty="0"/>
          </a:p>
        </p:txBody>
      </p:sp>
      <p:sp>
        <p:nvSpPr>
          <p:cNvPr id="12" name="Text 10"/>
          <p:cNvSpPr txBox="1"/>
          <p:nvPr/>
        </p:nvSpPr>
        <p:spPr>
          <a:xfrm>
            <a:off x="4800600" y="2487168"/>
            <a:ext cx="3840480" cy="214884"/>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Two bytes that announce the witness format.</a:t>
            </a:r>
            <a:endParaRPr lang="en-US" sz="1150" dirty="0"/>
          </a:p>
        </p:txBody>
      </p:sp>
      <p:sp>
        <p:nvSpPr>
          <p:cNvPr id="13" name="Text 11"/>
          <p:cNvSpPr txBox="1"/>
          <p:nvPr/>
        </p:nvSpPr>
        <p:spPr>
          <a:xfrm>
            <a:off x="4800600" y="2729484"/>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fragile label on a parcel.</a:t>
            </a:r>
            <a:endParaRPr lang="en-US" sz="11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914400"/>
                <a:gridCol w="822960"/>
                <a:gridCol w="1737360"/>
                <a:gridCol w="1737360"/>
                <a:gridCol w="1737360"/>
                <a:gridCol w="914400"/>
              </a:tblGrid>
              <a:tr h="36576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Version</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Marker Flag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Inputs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Outputs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Witnesses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Lock 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62</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Version, marker and flag (1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339596"/>
          </a:xfrm>
          <a:prstGeom prst="roundRect">
            <a:avLst>
              <a:gd name="adj" fmla="val 5461"/>
            </a:avLst>
          </a:prstGeom>
          <a:solidFill>
            <a:srgbClr val="F2ECE1"/>
          </a:solidFill>
          <a:ln w="12700">
            <a:solidFill>
              <a:srgbClr val="DFD6C7"/>
            </a:solidFill>
            <a:prstDash val="solid"/>
          </a:ln>
        </p:spPr>
      </p:sp>
      <p:sp>
        <p:nvSpPr>
          <p:cNvPr id="7" name="Shape 5"/>
          <p:cNvSpPr/>
          <p:nvPr/>
        </p:nvSpPr>
        <p:spPr>
          <a:xfrm>
            <a:off x="475488" y="1408176"/>
            <a:ext cx="64008" cy="1083564"/>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Version 1</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01000000 in the first four bytes.</a:t>
            </a:r>
            <a:endParaRPr lang="en-US" sz="1300" dirty="0"/>
          </a:p>
        </p:txBody>
      </p:sp>
      <p:sp>
        <p:nvSpPr>
          <p:cNvPr id="9" name="Text 7"/>
          <p:cNvSpPr txBox="1"/>
          <p:nvPr/>
        </p:nvSpPr>
        <p:spPr>
          <a:xfrm>
            <a:off x="640080" y="1984248"/>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edition 1 of a form, still valid in every office.</a:t>
            </a:r>
            <a:endParaRPr lang="en-US" sz="1150" dirty="0"/>
          </a:p>
        </p:txBody>
      </p:sp>
      <p:sp>
        <p:nvSpPr>
          <p:cNvPr id="10" name="Shape 8"/>
          <p:cNvSpPr/>
          <p:nvPr/>
        </p:nvSpPr>
        <p:spPr>
          <a:xfrm>
            <a:off x="3249168" y="1280160"/>
            <a:ext cx="2645664" cy="1339596"/>
          </a:xfrm>
          <a:prstGeom prst="roundRect">
            <a:avLst>
              <a:gd name="adj" fmla="val 5461"/>
            </a:avLst>
          </a:prstGeom>
          <a:solidFill>
            <a:srgbClr val="F2ECE1"/>
          </a:solidFill>
          <a:ln w="12700">
            <a:solidFill>
              <a:srgbClr val="DFD6C7"/>
            </a:solidFill>
            <a:prstDash val="solid"/>
          </a:ln>
        </p:spPr>
      </p:sp>
      <p:sp>
        <p:nvSpPr>
          <p:cNvPr id="11" name="Shape 9"/>
          <p:cNvSpPr/>
          <p:nvPr/>
        </p:nvSpPr>
        <p:spPr>
          <a:xfrm>
            <a:off x="3267456" y="1408176"/>
            <a:ext cx="64008" cy="1083564"/>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Version 2 and BIP68</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version that turns sequence into a timelock.</a:t>
            </a:r>
            <a:endParaRPr lang="en-US" sz="1300" dirty="0"/>
          </a:p>
        </p:txBody>
      </p:sp>
      <p:sp>
        <p:nvSpPr>
          <p:cNvPr id="13" name="Text 11"/>
          <p:cNvSpPr txBox="1"/>
          <p:nvPr/>
        </p:nvSpPr>
        <p:spPr>
          <a:xfrm>
            <a:off x="3432048" y="1984248"/>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edition 2, which adds a waiting-period box to the form.</a:t>
            </a:r>
            <a:endParaRPr lang="en-US" sz="1150" dirty="0"/>
          </a:p>
        </p:txBody>
      </p:sp>
      <p:sp>
        <p:nvSpPr>
          <p:cNvPr id="14" name="Shape 12"/>
          <p:cNvSpPr/>
          <p:nvPr/>
        </p:nvSpPr>
        <p:spPr>
          <a:xfrm>
            <a:off x="6041136" y="1280160"/>
            <a:ext cx="2645664" cy="1339596"/>
          </a:xfrm>
          <a:prstGeom prst="roundRect">
            <a:avLst>
              <a:gd name="adj" fmla="val 5461"/>
            </a:avLst>
          </a:prstGeom>
          <a:solidFill>
            <a:srgbClr val="F2ECE1"/>
          </a:solidFill>
          <a:ln w="12700">
            <a:solidFill>
              <a:srgbClr val="DFD6C7"/>
            </a:solidFill>
            <a:prstDash val="solid"/>
          </a:ln>
        </p:spPr>
      </p:sp>
      <p:sp>
        <p:nvSpPr>
          <p:cNvPr id="15" name="Shape 13"/>
          <p:cNvSpPr/>
          <p:nvPr/>
        </p:nvSpPr>
        <p:spPr>
          <a:xfrm>
            <a:off x="6059424" y="1408176"/>
            <a:ext cx="64008" cy="1083564"/>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version 3 proposal</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policy, not a consensus change.</a:t>
            </a:r>
            <a:endParaRPr lang="en-US" sz="1300" dirty="0"/>
          </a:p>
        </p:txBody>
      </p:sp>
      <p:sp>
        <p:nvSpPr>
          <p:cNvPr id="17" name="Text 15"/>
          <p:cNvSpPr txBox="1"/>
          <p:nvPr/>
        </p:nvSpPr>
        <p:spPr>
          <a:xfrm>
            <a:off x="6224016" y="1984248"/>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draft edition that offices may choose to accept.</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62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first six bytes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Version, marker and flag in Alice's transaction</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raw = bytes.fromhex(ALICE)</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version = int.from_bytes(raw[</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'little'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589581"/>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662733"/>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marker, flag = raw[</a:t>
            </a:r>
            <a:r>
              <a:rPr lang="en-US" sz="1000" dirty="0">
                <a:solidFill>
                  <a:srgbClr val="FFD28A"/>
                </a:solidFill>
                <a:latin typeface="Courier New" pitchFamily="34" charset="0"/>
                <a:ea typeface="Courier New" pitchFamily="34" charset="-122"/>
                <a:cs typeface="Courier New" pitchFamily="34" charset="-120"/>
              </a:rPr>
              <a:t>4</a:t>
            </a:r>
            <a:r>
              <a:rPr lang="en-US" sz="1000" dirty="0">
                <a:solidFill>
                  <a:srgbClr val="E6EDF3"/>
                </a:solidFill>
                <a:latin typeface="Courier New" pitchFamily="34" charset="0"/>
                <a:ea typeface="Courier New" pitchFamily="34" charset="-122"/>
                <a:cs typeface="Courier New" pitchFamily="34" charset="-120"/>
              </a:rPr>
              <a:t>], raw[</a:t>
            </a:r>
            <a:r>
              <a:rPr lang="en-US" sz="1000" dirty="0">
                <a:solidFill>
                  <a:srgbClr val="FFD28A"/>
                </a:solidFill>
                <a:latin typeface="Courier New" pitchFamily="34" charset="0"/>
                <a:ea typeface="Courier New" pitchFamily="34" charset="-122"/>
                <a:cs typeface="Courier New" pitchFamily="34" charset="-120"/>
              </a:rPr>
              <a:t>5</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head = raw[:</a:t>
            </a:r>
            <a:r>
              <a:rPr lang="en-US" sz="1000" dirty="0">
                <a:solidFill>
                  <a:srgbClr val="FFD28A"/>
                </a:solidFill>
                <a:latin typeface="Courier New" pitchFamily="34" charset="0"/>
                <a:ea typeface="Courier New" pitchFamily="34" charset="-122"/>
                <a:cs typeface="Courier New" pitchFamily="34" charset="-120"/>
              </a:rPr>
              <a:t>6</a:t>
            </a:r>
            <a:r>
              <a:rPr lang="en-US" sz="1000" dirty="0">
                <a:solidFill>
                  <a:srgbClr val="E6EDF3"/>
                </a:solidFill>
                <a:latin typeface="Courier New" pitchFamily="34" charset="0"/>
                <a:ea typeface="Courier New" pitchFamily="34" charset="-122"/>
                <a:cs typeface="Courier New" pitchFamily="34" charset="-120"/>
              </a:rPr>
              <a:t>].hex()</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head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'010000000001'</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Raw bytes let us address single bytes of the transaction.</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version takes four bytes, least significant byte first.</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Marker zero and flag one announce that a witness follows.</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ALICE, PREV, FIRST and tx as set up on slide 7</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first six bytes, read</a:t>
            </a:r>
            <a:endParaRPr lang="en-US" sz="11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005840"/>
                <a:gridCol w="914400"/>
                <a:gridCol w="10515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Field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Value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01000000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version</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marker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flag</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296265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zero where a count is expected tells a node that the extended format, with a witness, follows.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zero marker where an input count would be tells old and new nodes apart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62</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Version, marker and flag (2 of 2)</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685239"/>
          </a:xfrm>
          <a:prstGeom prst="roundRect">
            <a:avLst>
              <a:gd name="adj" fmla="val 4341"/>
            </a:avLst>
          </a:prstGeom>
          <a:solidFill>
            <a:srgbClr val="F2ECE1"/>
          </a:solidFill>
          <a:ln w="12700">
            <a:solidFill>
              <a:srgbClr val="DFD6C7"/>
            </a:solidFill>
            <a:prstDash val="solid"/>
          </a:ln>
        </p:spPr>
      </p:sp>
      <p:sp>
        <p:nvSpPr>
          <p:cNvPr id="7" name="Shape 5"/>
          <p:cNvSpPr/>
          <p:nvPr/>
        </p:nvSpPr>
        <p:spPr>
          <a:xfrm>
            <a:off x="475488" y="1408176"/>
            <a:ext cx="64008" cy="1429207"/>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Presigned transactions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Signed now, broadcast years later.</a:t>
            </a:r>
            <a:endParaRPr lang="en-US" sz="1300" dirty="0"/>
          </a:p>
        </p:txBody>
      </p:sp>
      <p:sp>
        <p:nvSpPr>
          <p:cNvPr id="9" name="Text 7"/>
          <p:cNvSpPr txBox="1"/>
          <p:nvPr/>
        </p:nvSpPr>
        <p:spPr>
          <a:xfrm>
            <a:off x="640080" y="1984248"/>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post-dated cheque kept in a drawer.</a:t>
            </a:r>
            <a:endParaRPr lang="en-US" sz="1150" dirty="0"/>
          </a:p>
        </p:txBody>
      </p:sp>
      <p:sp>
        <p:nvSpPr>
          <p:cNvPr id="10" name="Shape 8"/>
          <p:cNvSpPr/>
          <p:nvPr/>
        </p:nvSpPr>
        <p:spPr>
          <a:xfrm>
            <a:off x="3249168" y="1280160"/>
            <a:ext cx="2645664" cy="1685239"/>
          </a:xfrm>
          <a:prstGeom prst="roundRect">
            <a:avLst>
              <a:gd name="adj" fmla="val 4341"/>
            </a:avLst>
          </a:prstGeom>
          <a:solidFill>
            <a:srgbClr val="F2ECE1"/>
          </a:solidFill>
          <a:ln w="12700">
            <a:solidFill>
              <a:srgbClr val="DFD6C7"/>
            </a:solidFill>
            <a:prstDash val="solid"/>
          </a:ln>
        </p:spPr>
      </p:sp>
      <p:sp>
        <p:nvSpPr>
          <p:cNvPr id="11" name="Shape 9"/>
          <p:cNvSpPr/>
          <p:nvPr/>
        </p:nvSpPr>
        <p:spPr>
          <a:xfrm>
            <a:off x="3267456" y="1408176"/>
            <a:ext cx="64008" cy="1429207"/>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Marker byte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zero where a count cannot be zero.</a:t>
            </a:r>
            <a:endParaRPr lang="en-US" sz="1300" dirty="0"/>
          </a:p>
        </p:txBody>
      </p:sp>
      <p:sp>
        <p:nvSpPr>
          <p:cNvPr id="13" name="Text 11"/>
          <p:cNvSpPr txBox="1"/>
          <p:nvPr/>
        </p:nvSpPr>
        <p:spPr>
          <a:xfrm>
            <a:off x="3432048" y="1984248"/>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sticker on a parcel saying special contents inside.</a:t>
            </a:r>
            <a:endParaRPr lang="en-US" sz="1150" dirty="0"/>
          </a:p>
        </p:txBody>
      </p:sp>
      <p:sp>
        <p:nvSpPr>
          <p:cNvPr id="14" name="Text 12"/>
          <p:cNvSpPr txBox="1"/>
          <p:nvPr/>
        </p:nvSpPr>
        <p:spPr>
          <a:xfrm>
            <a:off x="3432048" y="2574036"/>
            <a:ext cx="2371344" cy="346558"/>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Extended Marker and Flag</a:t>
            </a:r>
            <a:endParaRPr lang="en-US" sz="1000" dirty="0"/>
          </a:p>
        </p:txBody>
      </p:sp>
      <p:sp>
        <p:nvSpPr>
          <p:cNvPr id="15" name="Shape 13"/>
          <p:cNvSpPr/>
          <p:nvPr/>
        </p:nvSpPr>
        <p:spPr>
          <a:xfrm>
            <a:off x="6041136" y="1280160"/>
            <a:ext cx="2645664" cy="1685239"/>
          </a:xfrm>
          <a:prstGeom prst="roundRect">
            <a:avLst>
              <a:gd name="adj" fmla="val 4341"/>
            </a:avLst>
          </a:prstGeom>
          <a:solidFill>
            <a:srgbClr val="F2ECE1"/>
          </a:solidFill>
          <a:ln w="12700">
            <a:solidFill>
              <a:srgbClr val="DFD6C7"/>
            </a:solidFill>
            <a:prstDash val="solid"/>
          </a:ln>
        </p:spPr>
      </p:sp>
      <p:sp>
        <p:nvSpPr>
          <p:cNvPr id="16" name="Shape 14"/>
          <p:cNvSpPr/>
          <p:nvPr/>
        </p:nvSpPr>
        <p:spPr>
          <a:xfrm>
            <a:off x="6059424" y="1408176"/>
            <a:ext cx="64008" cy="1429207"/>
          </a:xfrm>
          <a:prstGeom prst="rect">
            <a:avLst/>
          </a:prstGeom>
          <a:solidFill>
            <a:srgbClr val="D97A14"/>
          </a:solidFill>
          <a:ln w="12700">
            <a:solidFill>
              <a:srgbClr val="D97A14"/>
            </a:solidFill>
            <a:prstDash val="solid"/>
          </a:ln>
        </p:spPr>
      </p:sp>
      <p:sp>
        <p:nvSpPr>
          <p:cNvPr id="17" name="Text 15"/>
          <p:cNvSpPr txBox="1"/>
          <p:nvPr/>
        </p:nvSpPr>
        <p:spPr>
          <a:xfrm>
            <a:off x="6224016"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Flag byte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One, with other values reserved.</a:t>
            </a:r>
            <a:endParaRPr lang="en-US" sz="1300" dirty="0"/>
          </a:p>
        </p:txBody>
      </p:sp>
      <p:sp>
        <p:nvSpPr>
          <p:cNvPr id="18" name="Text 16"/>
          <p:cNvSpPr txBox="1"/>
          <p:nvPr/>
        </p:nvSpPr>
        <p:spPr>
          <a:xfrm>
            <a:off x="6224016" y="1984248"/>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second sticker that names the kind of extras.</a:t>
            </a:r>
            <a:endParaRPr lang="en-US" sz="1150" dirty="0"/>
          </a:p>
        </p:txBody>
      </p:sp>
      <p:sp>
        <p:nvSpPr>
          <p:cNvPr id="19"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0"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1"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62</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Inputs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Inputs are the banknotes you hand over, each named by its address.</a:t>
            </a:r>
            <a:endParaRPr lang="en-US" sz="1500" dirty="0"/>
          </a:p>
        </p:txBody>
      </p:sp>
      <p:sp>
        <p:nvSpPr>
          <p:cNvPr id="6" name="Shape 4"/>
          <p:cNvSpPr/>
          <p:nvPr/>
        </p:nvSpPr>
        <p:spPr>
          <a:xfrm>
            <a:off x="777240" y="2103120"/>
            <a:ext cx="182880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The input list</a:t>
            </a:r>
            <a:endParaRPr lang="en-US" sz="1100" dirty="0"/>
          </a:p>
        </p:txBody>
      </p:sp>
      <p:sp>
        <p:nvSpPr>
          <p:cNvPr id="8" name="Text 6"/>
          <p:cNvSpPr txBox="1"/>
          <p:nvPr/>
        </p:nvSpPr>
        <p:spPr>
          <a:xfrm>
            <a:off x="777240" y="2487168"/>
            <a:ext cx="1828800" cy="377647"/>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The list of coins this transaction spends.</a:t>
            </a:r>
            <a:endParaRPr lang="en-US" sz="1100" dirty="0"/>
          </a:p>
        </p:txBody>
      </p:sp>
      <p:sp>
        <p:nvSpPr>
          <p:cNvPr id="9" name="Text 7"/>
          <p:cNvSpPr txBox="1"/>
          <p:nvPr/>
        </p:nvSpPr>
        <p:spPr>
          <a:xfrm>
            <a:off x="777240" y="2892247"/>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receipt listing the notes you hand over.</a:t>
            </a:r>
            <a:endParaRPr lang="en-US" sz="1100" dirty="0"/>
          </a:p>
        </p:txBody>
      </p:sp>
      <p:sp>
        <p:nvSpPr>
          <p:cNvPr id="10" name="Shape 8"/>
          <p:cNvSpPr/>
          <p:nvPr/>
        </p:nvSpPr>
        <p:spPr>
          <a:xfrm>
            <a:off x="2788920" y="2103120"/>
            <a:ext cx="182880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286207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The outpoint</a:t>
            </a:r>
            <a:endParaRPr lang="en-US" sz="1100" dirty="0"/>
          </a:p>
        </p:txBody>
      </p:sp>
      <p:sp>
        <p:nvSpPr>
          <p:cNvPr id="12" name="Text 10"/>
          <p:cNvSpPr txBox="1"/>
          <p:nvPr/>
        </p:nvSpPr>
        <p:spPr>
          <a:xfrm>
            <a:off x="278892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The address of one coin: a transaction and an output number.</a:t>
            </a:r>
            <a:endParaRPr lang="en-US" sz="1100" dirty="0"/>
          </a:p>
        </p:txBody>
      </p:sp>
      <p:sp>
        <p:nvSpPr>
          <p:cNvPr id="13" name="Text 11"/>
          <p:cNvSpPr txBox="1"/>
          <p:nvPr/>
        </p:nvSpPr>
        <p:spPr>
          <a:xfrm>
            <a:off x="278892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street address with building and flat.</a:t>
            </a:r>
            <a:endParaRPr lang="en-US" sz="1100" dirty="0"/>
          </a:p>
        </p:txBody>
      </p:sp>
      <p:sp>
        <p:nvSpPr>
          <p:cNvPr id="14" name="Shape 12"/>
          <p:cNvSpPr/>
          <p:nvPr/>
        </p:nvSpPr>
        <p:spPr>
          <a:xfrm>
            <a:off x="4800600" y="2103120"/>
            <a:ext cx="182880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487375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Byte order</a:t>
            </a:r>
            <a:endParaRPr lang="en-US" sz="1100" dirty="0"/>
          </a:p>
        </p:txBody>
      </p:sp>
      <p:sp>
        <p:nvSpPr>
          <p:cNvPr id="16" name="Text 14"/>
          <p:cNvSpPr txBox="1"/>
          <p:nvPr/>
        </p:nvSpPr>
        <p:spPr>
          <a:xfrm>
            <a:off x="480060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The same 32 bytes can be read in two directions.</a:t>
            </a:r>
            <a:endParaRPr lang="en-US" sz="1100" dirty="0"/>
          </a:p>
        </p:txBody>
      </p:sp>
      <p:sp>
        <p:nvSpPr>
          <p:cNvPr id="17" name="Text 15"/>
          <p:cNvSpPr txBox="1"/>
          <p:nvPr/>
        </p:nvSpPr>
        <p:spPr>
          <a:xfrm>
            <a:off x="480060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book you can read from the front or the back.</a:t>
            </a:r>
            <a:endParaRPr lang="en-US" sz="1100" dirty="0"/>
          </a:p>
        </p:txBody>
      </p:sp>
      <p:sp>
        <p:nvSpPr>
          <p:cNvPr id="18" name="Shape 16"/>
          <p:cNvSpPr/>
          <p:nvPr/>
        </p:nvSpPr>
        <p:spPr>
          <a:xfrm>
            <a:off x="6812280" y="2103120"/>
            <a:ext cx="1828800" cy="310896"/>
          </a:xfrm>
          <a:prstGeom prst="roundRect">
            <a:avLst>
              <a:gd name="adj" fmla="val 50000"/>
            </a:avLst>
          </a:prstGeom>
          <a:solidFill>
            <a:srgbClr val="D97A14"/>
          </a:solidFill>
          <a:ln w="12700">
            <a:solidFill>
              <a:srgbClr val="D97A14"/>
            </a:solidFill>
            <a:prstDash val="solid"/>
          </a:ln>
        </p:spPr>
      </p:sp>
      <p:sp>
        <p:nvSpPr>
          <p:cNvPr id="19" name="Text 17"/>
          <p:cNvSpPr txBox="1"/>
          <p:nvPr/>
        </p:nvSpPr>
        <p:spPr>
          <a:xfrm>
            <a:off x="688543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The input script</a:t>
            </a:r>
            <a:endParaRPr lang="en-US" sz="1100" dirty="0"/>
          </a:p>
        </p:txBody>
      </p:sp>
      <p:sp>
        <p:nvSpPr>
          <p:cNvPr id="20" name="Text 18"/>
          <p:cNvSpPr txBox="1"/>
          <p:nvPr/>
        </p:nvSpPr>
        <p:spPr>
          <a:xfrm>
            <a:off x="6812280" y="2487168"/>
            <a:ext cx="1828800" cy="377647"/>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The slot where legacy inputs put their proof.</a:t>
            </a:r>
            <a:endParaRPr lang="en-US" sz="1100" dirty="0"/>
          </a:p>
        </p:txBody>
      </p:sp>
      <p:sp>
        <p:nvSpPr>
          <p:cNvPr id="21" name="Text 19"/>
          <p:cNvSpPr txBox="1"/>
          <p:nvPr/>
        </p:nvSpPr>
        <p:spPr>
          <a:xfrm>
            <a:off x="6812280" y="2892247"/>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 keyhole that legacy inputs fill with the key.</a:t>
            </a:r>
            <a:endParaRPr lang="en-US" sz="11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914400"/>
                <a:gridCol w="822960"/>
                <a:gridCol w="1737360"/>
                <a:gridCol w="1737360"/>
                <a:gridCol w="1737360"/>
                <a:gridCol w="914400"/>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Version</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Marker Flag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Inputs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Outputs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Witnesses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Lock 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62</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Inputs: concepts (1 of 4)</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74090"/>
          </a:xfrm>
          <a:prstGeom prst="roundRect">
            <a:avLst>
              <a:gd name="adj" fmla="val 6231"/>
            </a:avLst>
          </a:prstGeom>
          <a:solidFill>
            <a:srgbClr val="F2ECE1"/>
          </a:solidFill>
          <a:ln w="12700">
            <a:solidFill>
              <a:srgbClr val="DFD6C7"/>
            </a:solidFill>
            <a:prstDash val="solid"/>
          </a:ln>
        </p:spPr>
      </p:sp>
      <p:sp>
        <p:nvSpPr>
          <p:cNvPr id="7" name="Shape 5"/>
          <p:cNvSpPr/>
          <p:nvPr/>
        </p:nvSpPr>
        <p:spPr>
          <a:xfrm>
            <a:off x="475488" y="1408176"/>
            <a:ext cx="64008" cy="91805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Input count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At least one, in practice a few thousand.</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counting how many cheques are stapled to a payment.</a:t>
            </a:r>
            <a:endParaRPr lang="en-US" sz="1150" dirty="0"/>
          </a:p>
        </p:txBody>
      </p:sp>
      <p:sp>
        <p:nvSpPr>
          <p:cNvPr id="10" name="Text 8"/>
          <p:cNvSpPr txBox="1"/>
          <p:nvPr/>
        </p:nvSpPr>
        <p:spPr>
          <a:xfrm>
            <a:off x="640080" y="2217420"/>
            <a:ext cx="3767328" cy="191110"/>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Length of Transaction Input List</a:t>
            </a:r>
            <a:endParaRPr lang="en-US" sz="1000" dirty="0"/>
          </a:p>
        </p:txBody>
      </p:sp>
      <p:sp>
        <p:nvSpPr>
          <p:cNvPr id="11" name="Shape 9"/>
          <p:cNvSpPr/>
          <p:nvPr/>
        </p:nvSpPr>
        <p:spPr>
          <a:xfrm>
            <a:off x="4645152" y="1280160"/>
            <a:ext cx="4041648" cy="1174090"/>
          </a:xfrm>
          <a:prstGeom prst="roundRect">
            <a:avLst>
              <a:gd name="adj" fmla="val 6231"/>
            </a:avLst>
          </a:prstGeom>
          <a:solidFill>
            <a:srgbClr val="F2ECE1"/>
          </a:solidFill>
          <a:ln w="12700">
            <a:solidFill>
              <a:srgbClr val="DFD6C7"/>
            </a:solidFill>
            <a:prstDash val="solid"/>
          </a:ln>
        </p:spPr>
      </p:sp>
      <p:sp>
        <p:nvSpPr>
          <p:cNvPr id="12" name="Shape 10"/>
          <p:cNvSpPr/>
          <p:nvPr/>
        </p:nvSpPr>
        <p:spPr>
          <a:xfrm>
            <a:off x="4663440" y="1408176"/>
            <a:ext cx="64008" cy="918058"/>
          </a:xfrm>
          <a:prstGeom prst="rect">
            <a:avLst/>
          </a:prstGeom>
          <a:solidFill>
            <a:srgbClr val="D97A14"/>
          </a:solidFill>
          <a:ln w="12700">
            <a:solidFill>
              <a:srgbClr val="D97A14"/>
            </a:solidFill>
            <a:prstDash val="solid"/>
          </a:ln>
        </p:spPr>
      </p:sp>
      <p:sp>
        <p:nvSpPr>
          <p:cNvPr id="13" name="Text 11"/>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CompactSize unsigned integer</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1, 3, 5 or 9 bytes, by value.</a:t>
            </a:r>
            <a:endParaRPr lang="en-US" sz="1300" dirty="0"/>
          </a:p>
        </p:txBody>
      </p:sp>
      <p:sp>
        <p:nvSpPr>
          <p:cNvPr id="14" name="Text 12"/>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ticket machine: small numbers get short tickets.</a:t>
            </a:r>
            <a:endParaRPr lang="en-US" sz="1150" dirty="0"/>
          </a:p>
        </p:txBody>
      </p:sp>
      <p:sp>
        <p:nvSpPr>
          <p:cNvPr id="15" name="Shape 13"/>
          <p:cNvSpPr/>
          <p:nvPr/>
        </p:nvSpPr>
        <p:spPr>
          <a:xfrm>
            <a:off x="457200" y="2582266"/>
            <a:ext cx="4041648" cy="1174090"/>
          </a:xfrm>
          <a:prstGeom prst="roundRect">
            <a:avLst>
              <a:gd name="adj" fmla="val 6231"/>
            </a:avLst>
          </a:prstGeom>
          <a:solidFill>
            <a:srgbClr val="F2ECE1"/>
          </a:solidFill>
          <a:ln w="12700">
            <a:solidFill>
              <a:srgbClr val="DFD6C7"/>
            </a:solidFill>
            <a:prstDash val="solid"/>
          </a:ln>
        </p:spPr>
      </p:sp>
      <p:sp>
        <p:nvSpPr>
          <p:cNvPr id="16" name="Shape 14"/>
          <p:cNvSpPr/>
          <p:nvPr/>
        </p:nvSpPr>
        <p:spPr>
          <a:xfrm>
            <a:off x="475488" y="2710282"/>
            <a:ext cx="64008" cy="918058"/>
          </a:xfrm>
          <a:prstGeom prst="rect">
            <a:avLst/>
          </a:prstGeom>
          <a:solidFill>
            <a:srgbClr val="D97A14"/>
          </a:solidFill>
          <a:ln w="12700">
            <a:solidFill>
              <a:srgbClr val="D97A14"/>
            </a:solidFill>
            <a:prstDash val="solid"/>
          </a:ln>
        </p:spPr>
      </p:sp>
      <p:sp>
        <p:nvSpPr>
          <p:cNvPr id="17" name="Text 15"/>
          <p:cNvSpPr txBox="1"/>
          <p:nvPr/>
        </p:nvSpPr>
        <p:spPr>
          <a:xfrm>
            <a:off x="640080"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Other variable-length integers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Three encodings, one name that is safe.</a:t>
            </a:r>
            <a:endParaRPr lang="en-US" sz="1300" dirty="0"/>
          </a:p>
        </p:txBody>
      </p:sp>
      <p:sp>
        <p:nvSpPr>
          <p:cNvPr id="18" name="Text 16"/>
          <p:cNvSpPr txBox="1"/>
          <p:nvPr/>
        </p:nvSpPr>
        <p:spPr>
          <a:xfrm>
            <a:off x="640080" y="310804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three kinds of ticket sold under one name.</a:t>
            </a:r>
            <a:endParaRPr lang="en-US" sz="1150" dirty="0"/>
          </a:p>
        </p:txBody>
      </p:sp>
      <p:sp>
        <p:nvSpPr>
          <p:cNvPr id="19" name="Shape 17"/>
          <p:cNvSpPr/>
          <p:nvPr/>
        </p:nvSpPr>
        <p:spPr>
          <a:xfrm>
            <a:off x="4645152" y="2582266"/>
            <a:ext cx="4041648" cy="1174090"/>
          </a:xfrm>
          <a:prstGeom prst="roundRect">
            <a:avLst>
              <a:gd name="adj" fmla="val 6231"/>
            </a:avLst>
          </a:prstGeom>
          <a:solidFill>
            <a:srgbClr val="F2ECE1"/>
          </a:solidFill>
          <a:ln w="12700">
            <a:solidFill>
              <a:srgbClr val="DFD6C7"/>
            </a:solidFill>
            <a:prstDash val="solid"/>
          </a:ln>
        </p:spPr>
      </p:sp>
      <p:sp>
        <p:nvSpPr>
          <p:cNvPr id="20" name="Shape 18"/>
          <p:cNvSpPr/>
          <p:nvPr/>
        </p:nvSpPr>
        <p:spPr>
          <a:xfrm>
            <a:off x="4663440" y="2710282"/>
            <a:ext cx="64008" cy="918058"/>
          </a:xfrm>
          <a:prstGeom prst="rect">
            <a:avLst/>
          </a:prstGeom>
          <a:solidFill>
            <a:srgbClr val="D97A14"/>
          </a:solidFill>
          <a:ln w="12700">
            <a:solidFill>
              <a:srgbClr val="D97A14"/>
            </a:solidFill>
            <a:prstDash val="solid"/>
          </a:ln>
        </p:spPr>
      </p:sp>
      <p:sp>
        <p:nvSpPr>
          <p:cNvPr id="21" name="Text 19"/>
          <p:cNvSpPr txBox="1"/>
          <p:nvPr/>
        </p:nvSpPr>
        <p:spPr>
          <a:xfrm>
            <a:off x="4828032"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Outpoint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36 bytes: a txid and an index.</a:t>
            </a:r>
            <a:endParaRPr lang="en-US" sz="1300" dirty="0"/>
          </a:p>
        </p:txBody>
      </p:sp>
      <p:sp>
        <p:nvSpPr>
          <p:cNvPr id="22" name="Text 20"/>
          <p:cNvSpPr txBox="1"/>
          <p:nvPr/>
        </p:nvSpPr>
        <p:spPr>
          <a:xfrm>
            <a:off x="4828032" y="310804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street address: building number plus flat number.</a:t>
            </a:r>
            <a:endParaRPr lang="en-US" sz="115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62</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CompactSize: counting in few bytes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bytes a count takes grow with the count</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values =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252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253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65535</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65536</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32</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sizes = [len(cs_encode(n))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values]</a:t>
            </a:r>
            <a:endParaRPr lang="en-US" sz="1000" dirty="0"/>
          </a:p>
        </p:txBody>
      </p:sp>
      <p:sp>
        <p:nvSpPr>
          <p:cNvPr id="10" name="Shape 8"/>
          <p:cNvSpPr/>
          <p:nvPr/>
        </p:nvSpPr>
        <p:spPr>
          <a:xfrm>
            <a:off x="457200" y="275417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82732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prefix = [cs_encode(n)[:</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].hex()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values]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sizes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 1, 3, 3, 5, 9]</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Six counts, chosen at the edges where the encoding changes length.</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Encode each count as a transaction does, and measure the bytes it takes.</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first byte of each encoding: fd, fe or ff announce a longer number.</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ALICE, PREV, FIRST and tx as set up on slide 7</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bytes taken by each count</a:t>
            </a:r>
            <a:endParaRPr lang="en-US" sz="1100" dirty="0"/>
          </a:p>
        </p:txBody>
      </p:sp>
      <p:graphicFrame>
        <p:nvGraphicFramePr>
          <p:cNvPr id="23" name="Chart 0" descr=""/>
          <p:cNvGraphicFramePr/>
          <p:nvPr/>
        </p:nvGraphicFramePr>
        <p:xfrm>
          <a:off x="5715000" y="1591056"/>
          <a:ext cx="2971800" cy="225856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First bytes written: 01 fc fd fd fe ff. The values fd, fe and ff announce longer numbers.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Small counts cost one byte; the first byte warns when a longer number follows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62</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Inputs: concepts (2 of 4)</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63550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previous transaction's identifier</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first 32 bytes of an outpoint.</a:t>
            </a:r>
            <a:endParaRPr lang="en-US" sz="1300" dirty="0"/>
          </a:p>
        </p:txBody>
      </p:sp>
      <p:sp>
        <p:nvSpPr>
          <p:cNvPr id="9" name="Text 7"/>
          <p:cNvSpPr txBox="1"/>
          <p:nvPr/>
        </p:nvSpPr>
        <p:spPr>
          <a:xfrm>
            <a:off x="640080" y="2007108"/>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building number in that address.</a:t>
            </a:r>
            <a:endParaRPr lang="en-US" sz="1150" dirty="0"/>
          </a:p>
        </p:txBody>
      </p:sp>
      <p:sp>
        <p:nvSpPr>
          <p:cNvPr id="10" name="Shape 8"/>
          <p:cNvSpPr/>
          <p:nvPr/>
        </p:nvSpPr>
        <p:spPr>
          <a:xfrm>
            <a:off x="4645152" y="1280160"/>
            <a:ext cx="4041648" cy="1097280"/>
          </a:xfrm>
          <a:prstGeom prst="roundRect">
            <a:avLst>
              <a:gd name="adj" fmla="val 6667"/>
            </a:avLst>
          </a:prstGeom>
          <a:solidFill>
            <a:srgbClr val="F2ECE1"/>
          </a:solidFill>
          <a:ln w="12700">
            <a:solidFill>
              <a:srgbClr val="DFD6C7"/>
            </a:solidFill>
            <a:prstDash val="solid"/>
          </a:ln>
        </p:spPr>
      </p:sp>
      <p:sp>
        <p:nvSpPr>
          <p:cNvPr id="11" name="Shape 9"/>
          <p:cNvSpPr/>
          <p:nvPr/>
        </p:nvSpPr>
        <p:spPr>
          <a:xfrm>
            <a:off x="4663440" y="1408176"/>
            <a:ext cx="64008" cy="84124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Output index</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Four bytes counting from zero.</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flat number inside the building, counted from zero.</a:t>
            </a:r>
            <a:endParaRPr lang="en-US" sz="1150" dirty="0"/>
          </a:p>
        </p:txBody>
      </p:sp>
      <p:sp>
        <p:nvSpPr>
          <p:cNvPr id="14" name="Shape 12"/>
          <p:cNvSpPr/>
          <p:nvPr/>
        </p:nvSpPr>
        <p:spPr>
          <a:xfrm>
            <a:off x="457200" y="2505456"/>
            <a:ext cx="4041648" cy="1097280"/>
          </a:xfrm>
          <a:prstGeom prst="roundRect">
            <a:avLst>
              <a:gd name="adj" fmla="val 6667"/>
            </a:avLst>
          </a:prstGeom>
          <a:solidFill>
            <a:srgbClr val="F2ECE1"/>
          </a:solidFill>
          <a:ln w="12700">
            <a:solidFill>
              <a:srgbClr val="DFD6C7"/>
            </a:solidFill>
            <a:prstDash val="solid"/>
          </a:ln>
        </p:spPr>
      </p:sp>
      <p:sp>
        <p:nvSpPr>
          <p:cNvPr id="15" name="Shape 13"/>
          <p:cNvSpPr/>
          <p:nvPr/>
        </p:nvSpPr>
        <p:spPr>
          <a:xfrm>
            <a:off x="475488" y="2633472"/>
            <a:ext cx="64008" cy="841248"/>
          </a:xfrm>
          <a:prstGeom prst="rect">
            <a:avLst/>
          </a:prstGeom>
          <a:solidFill>
            <a:srgbClr val="D97A14"/>
          </a:solidFill>
          <a:ln w="12700">
            <a:solidFill>
              <a:srgbClr val="D97A14"/>
            </a:solidFill>
            <a:prstDash val="solid"/>
          </a:ln>
        </p:spPr>
      </p:sp>
      <p:sp>
        <p:nvSpPr>
          <p:cNvPr id="16" name="Text 14"/>
          <p:cNvSpPr txBox="1"/>
          <p:nvPr/>
        </p:nvSpPr>
        <p:spPr>
          <a:xfrm>
            <a:off x="640080" y="256946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rule against double spending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An output is spent at most once.</a:t>
            </a:r>
            <a:endParaRPr lang="en-US" sz="1300" dirty="0"/>
          </a:p>
        </p:txBody>
      </p:sp>
      <p:sp>
        <p:nvSpPr>
          <p:cNvPr id="17" name="Text 15"/>
          <p:cNvSpPr txBox="1"/>
          <p:nvPr/>
        </p:nvSpPr>
        <p:spPr>
          <a:xfrm>
            <a:off x="640080" y="303123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banknote that can be handed over only once.</a:t>
            </a:r>
            <a:endParaRPr lang="en-US" sz="1150" dirty="0"/>
          </a:p>
        </p:txBody>
      </p:sp>
      <p:sp>
        <p:nvSpPr>
          <p:cNvPr id="18" name="Shape 16"/>
          <p:cNvSpPr/>
          <p:nvPr/>
        </p:nvSpPr>
        <p:spPr>
          <a:xfrm>
            <a:off x="4645152" y="2505456"/>
            <a:ext cx="4041648" cy="1097280"/>
          </a:xfrm>
          <a:prstGeom prst="roundRect">
            <a:avLst>
              <a:gd name="adj" fmla="val 6667"/>
            </a:avLst>
          </a:prstGeom>
          <a:solidFill>
            <a:srgbClr val="F2ECE1"/>
          </a:solidFill>
          <a:ln w="12700">
            <a:solidFill>
              <a:srgbClr val="DFD6C7"/>
            </a:solidFill>
            <a:prstDash val="solid"/>
          </a:ln>
        </p:spPr>
      </p:sp>
      <p:sp>
        <p:nvSpPr>
          <p:cNvPr id="19" name="Shape 17"/>
          <p:cNvSpPr/>
          <p:nvPr/>
        </p:nvSpPr>
        <p:spPr>
          <a:xfrm>
            <a:off x="4663440" y="2633472"/>
            <a:ext cx="64008" cy="841248"/>
          </a:xfrm>
          <a:prstGeom prst="rect">
            <a:avLst/>
          </a:prstGeom>
          <a:solidFill>
            <a:srgbClr val="D97A14"/>
          </a:solidFill>
          <a:ln w="12700">
            <a:solidFill>
              <a:srgbClr val="D97A14"/>
            </a:solidFill>
            <a:prstDash val="solid"/>
          </a:ln>
        </p:spPr>
      </p:sp>
      <p:sp>
        <p:nvSpPr>
          <p:cNvPr id="20" name="Text 18"/>
          <p:cNvSpPr txBox="1"/>
          <p:nvPr/>
        </p:nvSpPr>
        <p:spPr>
          <a:xfrm>
            <a:off x="4828032" y="256946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Conflicting transactions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Same outpoint, two spenders.</a:t>
            </a:r>
            <a:endParaRPr lang="en-US" sz="1300" dirty="0"/>
          </a:p>
        </p:txBody>
      </p:sp>
      <p:sp>
        <p:nvSpPr>
          <p:cNvPr id="21" name="Text 19"/>
          <p:cNvSpPr txBox="1"/>
          <p:nvPr/>
        </p:nvSpPr>
        <p:spPr>
          <a:xfrm>
            <a:off x="4828032" y="303123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two cheques written against the same banknote.</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62</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outpoint, read both ways round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Which coin an input spends</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i0 = tx[</a:t>
            </a:r>
            <a:r>
              <a:rPr lang="en-US" sz="1000" dirty="0">
                <a:solidFill>
                  <a:srgbClr val="9ECBFF"/>
                </a:solidFill>
                <a:latin typeface="Courier New" pitchFamily="34" charset="0"/>
                <a:ea typeface="Courier New" pitchFamily="34" charset="-122"/>
                <a:cs typeface="Courier New" pitchFamily="34" charset="-120"/>
              </a:rPr>
              <a:t>'inputs'</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stored = i0[</a:t>
            </a:r>
            <a:r>
              <a:rPr lang="en-US" sz="1000" dirty="0">
                <a:solidFill>
                  <a:srgbClr val="9ECBFF"/>
                </a:solidFill>
                <a:latin typeface="Courier New" pitchFamily="34" charset="0"/>
                <a:ea typeface="Courier New" pitchFamily="34" charset="-122"/>
                <a:cs typeface="Courier New" pitchFamily="34" charset="-120"/>
              </a:rPr>
              <a:t>'txid_internal'</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286914"/>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360066"/>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shown = internal_to_display(stored)</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back = display_to_internal(shown)</a:t>
            </a:r>
            <a:endParaRPr lang="en-US" sz="1000" dirty="0"/>
          </a:p>
        </p:txBody>
      </p:sp>
      <p:sp>
        <p:nvSpPr>
          <p:cNvPr id="10" name="Shape 8"/>
          <p:cNvSpPr/>
          <p:nvPr/>
        </p:nvSpPr>
        <p:spPr>
          <a:xfrm>
            <a:off x="457200" y="3247949"/>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321101"/>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check = back == stored </a:t>
            </a:r>
            <a:r>
              <a:rPr lang="en-US" sz="1000" b="1" dirty="0">
                <a:solidFill>
                  <a:srgbClr val="F2A860"/>
                </a:solidFill>
                <a:latin typeface="Courier New" pitchFamily="34" charset="0"/>
                <a:ea typeface="Courier New" pitchFamily="34" charset="-122"/>
                <a:cs typeface="Courier New" pitchFamily="34" charset="-120"/>
              </a:rPr>
              <a:t>and</a:t>
            </a:r>
            <a:r>
              <a:rPr lang="en-US" sz="1000" dirty="0">
                <a:solidFill>
                  <a:srgbClr val="E6EDF3"/>
                </a:solidFill>
                <a:latin typeface="Courier New" pitchFamily="34" charset="0"/>
                <a:ea typeface="Courier New" pitchFamily="34" charset="-122"/>
                <a:cs typeface="Courier New" pitchFamily="34" charset="-120"/>
              </a:rPr>
              <a:t> shown == txid(PREV)</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check</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An input names a coin: the txid of an earlier transaction and an output number.</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0749"/>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Explorers print the same 32 bytes in reverse order, and reversing twice restores them.</a:t>
            </a:r>
            <a:endParaRPr lang="en-US" sz="1050" dirty="0"/>
          </a:p>
        </p:txBody>
      </p:sp>
      <p:sp>
        <p:nvSpPr>
          <p:cNvPr id="18" name="Shape 16"/>
          <p:cNvSpPr/>
          <p:nvPr/>
        </p:nvSpPr>
        <p:spPr>
          <a:xfrm>
            <a:off x="365760" y="3174797"/>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479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7290"/>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printed form equals the earlier transaction's txid; the index says which output.</a:t>
            </a:r>
            <a:endParaRPr lang="en-US" sz="1050" dirty="0"/>
          </a:p>
        </p:txBody>
      </p:sp>
      <p:sp>
        <p:nvSpPr>
          <p:cNvPr id="21" name="Text 19"/>
          <p:cNvSpPr txBox="1"/>
          <p:nvPr/>
        </p:nvSpPr>
        <p:spPr>
          <a:xfrm>
            <a:off x="457200" y="4337914"/>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ALICE, PREV, FIRST and tx as set up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one outpoint, read both ways</a:t>
            </a:r>
            <a:endParaRPr lang="en-US" sz="11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508760"/>
                <a:gridCol w="146304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Form</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First 16 hex digits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Stored in the input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eb3ae38f27191aa5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Printed by explorers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4ac5418026798669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Reversing back restores it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Input 0 spends output 1 of the earlier transaction. The stored and printed forms are mirror images.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An input states no amount; it names a coin by transaction and output number</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62</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Inputs: concepts (3 of 4)</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74090"/>
          </a:xfrm>
          <a:prstGeom prst="roundRect">
            <a:avLst>
              <a:gd name="adj" fmla="val 6231"/>
            </a:avLst>
          </a:prstGeom>
          <a:solidFill>
            <a:srgbClr val="F2ECE1"/>
          </a:solidFill>
          <a:ln w="12700">
            <a:solidFill>
              <a:srgbClr val="DFD6C7"/>
            </a:solidFill>
            <a:prstDash val="solid"/>
          </a:ln>
        </p:spPr>
      </p:sp>
      <p:sp>
        <p:nvSpPr>
          <p:cNvPr id="7" name="Shape 5"/>
          <p:cNvSpPr/>
          <p:nvPr/>
        </p:nvSpPr>
        <p:spPr>
          <a:xfrm>
            <a:off x="475488" y="1408176"/>
            <a:ext cx="64008" cy="91805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UTXO database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Remove what is spent, add what is created.</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drawer holding only the banknotes nobody has spent.</a:t>
            </a:r>
            <a:endParaRPr lang="en-US" sz="1150" dirty="0"/>
          </a:p>
        </p:txBody>
      </p:sp>
      <p:sp>
        <p:nvSpPr>
          <p:cNvPr id="10" name="Text 8"/>
          <p:cNvSpPr txBox="1"/>
          <p:nvPr/>
        </p:nvSpPr>
        <p:spPr>
          <a:xfrm>
            <a:off x="640080" y="2217420"/>
            <a:ext cx="3767328" cy="191110"/>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Utreexo</a:t>
            </a:r>
            <a:endParaRPr lang="en-US" sz="1000" dirty="0"/>
          </a:p>
        </p:txBody>
      </p:sp>
      <p:sp>
        <p:nvSpPr>
          <p:cNvPr id="11" name="Shape 9"/>
          <p:cNvSpPr/>
          <p:nvPr/>
        </p:nvSpPr>
        <p:spPr>
          <a:xfrm>
            <a:off x="4645152" y="1280160"/>
            <a:ext cx="4041648" cy="1174090"/>
          </a:xfrm>
          <a:prstGeom prst="roundRect">
            <a:avLst>
              <a:gd name="adj" fmla="val 6231"/>
            </a:avLst>
          </a:prstGeom>
          <a:solidFill>
            <a:srgbClr val="F2ECE1"/>
          </a:solidFill>
          <a:ln w="12700">
            <a:solidFill>
              <a:srgbClr val="DFD6C7"/>
            </a:solidFill>
            <a:prstDash val="solid"/>
          </a:ln>
        </p:spPr>
      </p:sp>
      <p:sp>
        <p:nvSpPr>
          <p:cNvPr id="12" name="Shape 10"/>
          <p:cNvSpPr/>
          <p:nvPr/>
        </p:nvSpPr>
        <p:spPr>
          <a:xfrm>
            <a:off x="4663440" y="1408176"/>
            <a:ext cx="64008" cy="918058"/>
          </a:xfrm>
          <a:prstGeom prst="rect">
            <a:avLst/>
          </a:prstGeom>
          <a:solidFill>
            <a:srgbClr val="D97A14"/>
          </a:solidFill>
          <a:ln w="12700">
            <a:solidFill>
              <a:srgbClr val="D97A14"/>
            </a:solidFill>
            <a:prstDash val="solid"/>
          </a:ln>
        </p:spPr>
      </p:sp>
      <p:sp>
        <p:nvSpPr>
          <p:cNvPr id="13" name="Text 11"/>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Digest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32 bytes that identify a transaction.</a:t>
            </a:r>
            <a:endParaRPr lang="en-US" sz="1300" dirty="0"/>
          </a:p>
        </p:txBody>
      </p:sp>
      <p:sp>
        <p:nvSpPr>
          <p:cNvPr id="14" name="Text 12"/>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fingerprint taken from a whole document.</a:t>
            </a:r>
            <a:endParaRPr lang="en-US" sz="1150" dirty="0"/>
          </a:p>
        </p:txBody>
      </p:sp>
      <p:sp>
        <p:nvSpPr>
          <p:cNvPr id="15" name="Shape 13"/>
          <p:cNvSpPr/>
          <p:nvPr/>
        </p:nvSpPr>
        <p:spPr>
          <a:xfrm>
            <a:off x="457200" y="2582266"/>
            <a:ext cx="4041648" cy="1174090"/>
          </a:xfrm>
          <a:prstGeom prst="roundRect">
            <a:avLst>
              <a:gd name="adj" fmla="val 6231"/>
            </a:avLst>
          </a:prstGeom>
          <a:solidFill>
            <a:srgbClr val="F2ECE1"/>
          </a:solidFill>
          <a:ln w="12700">
            <a:solidFill>
              <a:srgbClr val="DFD6C7"/>
            </a:solidFill>
            <a:prstDash val="solid"/>
          </a:ln>
        </p:spPr>
      </p:sp>
      <p:sp>
        <p:nvSpPr>
          <p:cNvPr id="16" name="Shape 14"/>
          <p:cNvSpPr/>
          <p:nvPr/>
        </p:nvSpPr>
        <p:spPr>
          <a:xfrm>
            <a:off x="475488" y="2710282"/>
            <a:ext cx="64008" cy="918058"/>
          </a:xfrm>
          <a:prstGeom prst="rect">
            <a:avLst/>
          </a:prstGeom>
          <a:solidFill>
            <a:srgbClr val="D97A14"/>
          </a:solidFill>
          <a:ln w="12700">
            <a:solidFill>
              <a:srgbClr val="D97A14"/>
            </a:solidFill>
            <a:prstDash val="solid"/>
          </a:ln>
        </p:spPr>
      </p:sp>
      <p:sp>
        <p:nvSpPr>
          <p:cNvPr id="17" name="Text 15"/>
          <p:cNvSpPr txBox="1"/>
          <p:nvPr/>
        </p:nvSpPr>
        <p:spPr>
          <a:xfrm>
            <a:off x="640080"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Internal byte order</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order inside the bytes.</a:t>
            </a:r>
            <a:endParaRPr lang="en-US" sz="1300" dirty="0"/>
          </a:p>
        </p:txBody>
      </p:sp>
      <p:sp>
        <p:nvSpPr>
          <p:cNvPr id="18" name="Text 16"/>
          <p:cNvSpPr txBox="1"/>
          <p:nvPr/>
        </p:nvSpPr>
        <p:spPr>
          <a:xfrm>
            <a:off x="640080" y="310804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reading a phone number from its last digit.</a:t>
            </a:r>
            <a:endParaRPr lang="en-US" sz="1150" dirty="0"/>
          </a:p>
        </p:txBody>
      </p:sp>
      <p:sp>
        <p:nvSpPr>
          <p:cNvPr id="19" name="Shape 17"/>
          <p:cNvSpPr/>
          <p:nvPr/>
        </p:nvSpPr>
        <p:spPr>
          <a:xfrm>
            <a:off x="4645152" y="2582266"/>
            <a:ext cx="4041648" cy="1174090"/>
          </a:xfrm>
          <a:prstGeom prst="roundRect">
            <a:avLst>
              <a:gd name="adj" fmla="val 6231"/>
            </a:avLst>
          </a:prstGeom>
          <a:solidFill>
            <a:srgbClr val="F2ECE1"/>
          </a:solidFill>
          <a:ln w="12700">
            <a:solidFill>
              <a:srgbClr val="DFD6C7"/>
            </a:solidFill>
            <a:prstDash val="solid"/>
          </a:ln>
        </p:spPr>
      </p:sp>
      <p:sp>
        <p:nvSpPr>
          <p:cNvPr id="20" name="Shape 18"/>
          <p:cNvSpPr/>
          <p:nvPr/>
        </p:nvSpPr>
        <p:spPr>
          <a:xfrm>
            <a:off x="4663440" y="2710282"/>
            <a:ext cx="64008" cy="918058"/>
          </a:xfrm>
          <a:prstGeom prst="rect">
            <a:avLst/>
          </a:prstGeom>
          <a:solidFill>
            <a:srgbClr val="D97A14"/>
          </a:solidFill>
          <a:ln w="12700">
            <a:solidFill>
              <a:srgbClr val="D97A14"/>
            </a:solidFill>
            <a:prstDash val="solid"/>
          </a:ln>
        </p:spPr>
      </p:sp>
      <p:sp>
        <p:nvSpPr>
          <p:cNvPr id="21" name="Text 19"/>
          <p:cNvSpPr txBox="1"/>
          <p:nvPr/>
        </p:nvSpPr>
        <p:spPr>
          <a:xfrm>
            <a:off x="4828032"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Display byte order</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order on the screen.</a:t>
            </a:r>
            <a:endParaRPr lang="en-US" sz="1300" dirty="0"/>
          </a:p>
        </p:txBody>
      </p:sp>
      <p:sp>
        <p:nvSpPr>
          <p:cNvPr id="22" name="Text 20"/>
          <p:cNvSpPr txBox="1"/>
          <p:nvPr/>
        </p:nvSpPr>
        <p:spPr>
          <a:xfrm>
            <a:off x="4828032" y="310804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reading the phone number the usual way round.</a:t>
            </a:r>
            <a:endParaRPr lang="en-US" sz="115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62</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spend updates the UTXO set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Remove what is spent, add what is created</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prev = PREV_REC[</a:t>
            </a:r>
            <a:r>
              <a:rPr lang="en-US" sz="1000" dirty="0">
                <a:solidFill>
                  <a:srgbClr val="9ECBFF"/>
                </a:solidFill>
                <a:latin typeface="Courier New" pitchFamily="34" charset="0"/>
                <a:ea typeface="Courier New" pitchFamily="34" charset="-122"/>
                <a:cs typeface="Courier New" pitchFamily="34" charset="-120"/>
              </a:rPr>
              <a:t>'vout'</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utxo = {(txid(PREV), </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 prev[</a:t>
            </a:r>
            <a:r>
              <a:rPr lang="en-US" sz="1000" dirty="0">
                <a:solidFill>
                  <a:srgbClr val="9ECBFF"/>
                </a:solidFill>
                <a:latin typeface="Courier New" pitchFamily="34" charset="0"/>
                <a:ea typeface="Courier New" pitchFamily="34" charset="-122"/>
                <a:cs typeface="Courier New" pitchFamily="34" charset="-120"/>
              </a:rPr>
              <a:t>'value'</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before = sorted(utxo.values())</a:t>
            </a:r>
            <a:endParaRPr lang="en-US" sz="1000" dirty="0"/>
          </a:p>
        </p:txBody>
      </p:sp>
      <p:sp>
        <p:nvSpPr>
          <p:cNvPr id="8" name="Shape 6"/>
          <p:cNvSpPr/>
          <p:nvPr/>
        </p:nvSpPr>
        <p:spPr>
          <a:xfrm>
            <a:off x="457200" y="2287829"/>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360981"/>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i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tx[</a:t>
            </a:r>
            <a:r>
              <a:rPr lang="en-US" sz="1000" dirty="0">
                <a:solidFill>
                  <a:srgbClr val="9ECBFF"/>
                </a:solidFill>
                <a:latin typeface="Courier New" pitchFamily="34" charset="0"/>
                <a:ea typeface="Courier New" pitchFamily="34" charset="-122"/>
                <a:cs typeface="Courier New" pitchFamily="34" charset="-120"/>
              </a:rPr>
              <a:t>'inputs'</a:t>
            </a:r>
            <a:r>
              <a:rPr lang="en-US" sz="1000" dirty="0">
                <a:solidFill>
                  <a:srgbClr val="E6EDF3"/>
                </a:solidFill>
                <a:latin typeface="Courier New" pitchFamily="34" charset="0"/>
                <a:ea typeface="Courier New" pitchFamily="34" charset="-122"/>
                <a:cs typeface="Courier New" pitchFamily="34" charset="-120"/>
              </a:rPr>
              <a:t>]: del utxo[(i[</a:t>
            </a:r>
            <a:r>
              <a:rPr lang="en-US" sz="1000" dirty="0">
                <a:solidFill>
                  <a:srgbClr val="9ECBFF"/>
                </a:solidFill>
                <a:latin typeface="Courier New" pitchFamily="34" charset="0"/>
                <a:ea typeface="Courier New" pitchFamily="34" charset="-122"/>
                <a:cs typeface="Courier New" pitchFamily="34" charset="-120"/>
              </a:rPr>
              <a:t>'txid'</a:t>
            </a:r>
            <a:r>
              <a:rPr lang="en-US" sz="1000" dirty="0">
                <a:solidFill>
                  <a:srgbClr val="E6EDF3"/>
                </a:solidFill>
                <a:latin typeface="Courier New" pitchFamily="34" charset="0"/>
                <a:ea typeface="Courier New" pitchFamily="34" charset="-122"/>
                <a:cs typeface="Courier New" pitchFamily="34" charset="-120"/>
              </a:rPr>
              <a:t>], i[</a:t>
            </a:r>
            <a:r>
              <a:rPr lang="en-US" sz="1000" dirty="0">
                <a:solidFill>
                  <a:srgbClr val="9ECBFF"/>
                </a:solidFill>
                <a:latin typeface="Courier New" pitchFamily="34" charset="0"/>
                <a:ea typeface="Courier New" pitchFamily="34" charset="-122"/>
                <a:cs typeface="Courier New" pitchFamily="34" charset="-120"/>
              </a:rPr>
              <a:t>'vout'</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 outs = txid(ALICE), tx[</a:t>
            </a:r>
            <a:r>
              <a:rPr lang="en-US" sz="1000" dirty="0">
                <a:solidFill>
                  <a:srgbClr val="9ECBFF"/>
                </a:solidFill>
                <a:latin typeface="Courier New" pitchFamily="34" charset="0"/>
                <a:ea typeface="Courier New" pitchFamily="34" charset="-122"/>
                <a:cs typeface="Courier New" pitchFamily="34" charset="-120"/>
              </a:rPr>
              <a:t>'outputs'</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utxo |= {(t, n): o[</a:t>
            </a:r>
            <a:r>
              <a:rPr lang="en-US" sz="1000" dirty="0">
                <a:solidFill>
                  <a:srgbClr val="9ECBFF"/>
                </a:solidFill>
                <a:latin typeface="Courier New" pitchFamily="34" charset="0"/>
                <a:ea typeface="Courier New" pitchFamily="34" charset="-122"/>
                <a:cs typeface="Courier New" pitchFamily="34" charset="-120"/>
              </a:rPr>
              <a:t>'value'</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n, o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enumerate(outs)}</a:t>
            </a:r>
            <a:endParaRPr lang="en-US" sz="1000" dirty="0"/>
          </a:p>
        </p:txBody>
      </p:sp>
      <p:sp>
        <p:nvSpPr>
          <p:cNvPr id="10" name="Shape 8"/>
          <p:cNvSpPr/>
          <p:nvPr/>
        </p:nvSpPr>
        <p:spPr>
          <a:xfrm>
            <a:off x="457200" y="3249778"/>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322930"/>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fee = sum(before) - sum(utxo.values())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fee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5000</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99522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Before the payment the set holds the one coin Alice spends.</a:t>
            </a:r>
            <a:endParaRPr lang="en-US" sz="1050" dirty="0"/>
          </a:p>
        </p:txBody>
      </p:sp>
      <p:sp>
        <p:nvSpPr>
          <p:cNvPr id="15" name="Shape 13"/>
          <p:cNvSpPr/>
          <p:nvPr/>
        </p:nvSpPr>
        <p:spPr>
          <a:xfrm>
            <a:off x="365760" y="2214677"/>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467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957170"/>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input removes the coin it names; each output adds a new coin.</a:t>
            </a:r>
            <a:endParaRPr lang="en-US" sz="1050" dirty="0"/>
          </a:p>
        </p:txBody>
      </p:sp>
      <p:sp>
        <p:nvSpPr>
          <p:cNvPr id="18" name="Shape 16"/>
          <p:cNvSpPr/>
          <p:nvPr/>
        </p:nvSpPr>
        <p:spPr>
          <a:xfrm>
            <a:off x="365760" y="3176626"/>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176626"/>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911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What is left over is the fee; no field of the transaction states it.</a:t>
            </a:r>
            <a:endParaRPr lang="en-US" sz="1050" dirty="0"/>
          </a:p>
        </p:txBody>
      </p:sp>
      <p:sp>
        <p:nvSpPr>
          <p:cNvPr id="21" name="Text 19"/>
          <p:cNvSpPr txBox="1"/>
          <p:nvPr/>
        </p:nvSpPr>
        <p:spPr>
          <a:xfrm>
            <a:off x="457200" y="417515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ALICE, PREV, FIRST and tx as set up on slide 7</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set of unspent outputs</a:t>
            </a:r>
            <a:endParaRPr lang="en-US" sz="1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914400"/>
                <a:gridCol w="548640"/>
                <a:gridCol w="15087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Step</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Coins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Satoshis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Before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After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20,000 + 75,000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Left over: fee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5,000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296265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fee of 5,000 satoshis is no field; it is 100,000 minus 95,000.</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Nodes keep only unspent outputs; the fee is whatever is left over</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62</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10,000 bitcoins for two pizzas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most famous purchase ever made with bitcoin</a:t>
            </a:r>
            <a:endParaRPr lang="en-US" sz="1300" dirty="0"/>
          </a:p>
        </p:txBody>
      </p:sp>
      <p:pic>
        <p:nvPicPr>
          <p:cNvPr id="6" name="Image 0" descr="../../03-materials/ch06/assets/photo_papa_johns_jacksonville.jpg">    </p:cNvPr>
          <p:cNvPicPr>
            <a:picLocks noChangeAspect="1"/>
          </p:cNvPicPr>
          <p:nvPr/>
        </p:nvPicPr>
        <p:blipFill>
          <a:blip r:embed="rId1"/>
          <a:srcRect l="0" r="0" t="0" b="0"/>
          <a:stretch/>
        </p:blipFill>
        <p:spPr>
          <a:xfrm>
            <a:off x="457200" y="1280160"/>
            <a:ext cx="2377440" cy="2331720"/>
          </a:xfrm>
          <a:prstGeom prst="rect">
            <a:avLst/>
          </a:prstGeom>
        </p:spPr>
      </p:pic>
      <p:sp>
        <p:nvSpPr>
          <p:cNvPr id="7" name="Text 4"/>
          <p:cNvSpPr txBox="1"/>
          <p:nvPr/>
        </p:nvSpPr>
        <p:spPr>
          <a:xfrm>
            <a:off x="457200" y="3630168"/>
            <a:ext cx="23774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Papa John's plaque - Sanjev Rajaram, CC0</a:t>
            </a:r>
            <a:endParaRPr lang="en-US" sz="900" dirty="0"/>
          </a:p>
        </p:txBody>
      </p:sp>
      <p:sp>
        <p:nvSpPr>
          <p:cNvPr id="8" name="Shape 5"/>
          <p:cNvSpPr/>
          <p:nvPr/>
        </p:nvSpPr>
        <p:spPr>
          <a:xfrm>
            <a:off x="310896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3383280" y="128016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Laszlo Hanyecz paid 10,000 bitcoins for two pizzas that a forum user ordered for him.</a:t>
            </a:r>
            <a:endParaRPr lang="en-US" sz="1150" dirty="0"/>
          </a:p>
        </p:txBody>
      </p:sp>
      <p:sp>
        <p:nvSpPr>
          <p:cNvPr id="10" name="Shape 7"/>
          <p:cNvSpPr/>
          <p:nvPr/>
        </p:nvSpPr>
        <p:spPr>
          <a:xfrm>
            <a:off x="310896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383280" y="189738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He wanted to show that bitcoin could buy something real; his forum offer began four days earlier.</a:t>
            </a:r>
            <a:endParaRPr lang="en-US" sz="1150" dirty="0"/>
          </a:p>
        </p:txBody>
      </p:sp>
      <p:sp>
        <p:nvSpPr>
          <p:cNvPr id="12" name="Shape 9"/>
          <p:cNvSpPr/>
          <p:nvPr/>
        </p:nvSpPr>
        <p:spPr>
          <a:xfrm>
            <a:off x="310896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383280" y="251460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The payment confirmed in block 57,043: 131 inputs, one output of 10,000 BTC, a fee of 0.99 BTC.</a:t>
            </a:r>
            <a:endParaRPr lang="en-US" sz="1150" dirty="0"/>
          </a:p>
        </p:txBody>
      </p:sp>
      <p:sp>
        <p:nvSpPr>
          <p:cNvPr id="14" name="Shape 11"/>
          <p:cNvSpPr/>
          <p:nvPr/>
        </p:nvSpPr>
        <p:spPr>
          <a:xfrm>
            <a:off x="310896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383280" y="313182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A wallet that gathered many 50 BTC rewards must list every one of them as an input.</a:t>
            </a:r>
            <a:endParaRPr lang="en-US" sz="1150" dirty="0"/>
          </a:p>
        </p:txBody>
      </p:sp>
      <p:sp>
        <p:nvSpPr>
          <p:cNvPr id="16" name="Shape 13"/>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Laszlo Hanyecz, programm…</a:t>
            </a:r>
            <a:endParaRPr lang="en-US" sz="750" dirty="0"/>
          </a:p>
        </p:txBody>
      </p:sp>
      <p:sp>
        <p:nvSpPr>
          <p:cNvPr id="18" name="Shape 15"/>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a Papa John's on Atlan…</a:t>
            </a:r>
            <a:endParaRPr lang="en-US" sz="750" dirty="0"/>
          </a:p>
        </p:txBody>
      </p:sp>
      <p:sp>
        <p:nvSpPr>
          <p:cNvPr id="20" name="Shape 17"/>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2010-05-22</a:t>
            </a:r>
            <a:endParaRPr lang="en-US" sz="750" dirty="0"/>
          </a:p>
        </p:txBody>
      </p:sp>
      <p:sp>
        <p:nvSpPr>
          <p:cNvPr id="22" name="Shape 19"/>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Pizza for bitcoins? (bitcointalk thread)</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bitcointalk.org</a:t>
            </a:r>
            <a:endParaRPr lang="en-US" sz="7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62</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Inputs: concepts (4 of 4)</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Input script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107 bytes for a legacy spend, 0 for segwit.</a:t>
            </a:r>
            <a:endParaRPr lang="en-US" sz="1300" dirty="0"/>
          </a:p>
        </p:txBody>
      </p:sp>
      <p:sp>
        <p:nvSpPr>
          <p:cNvPr id="9" name="Text 7"/>
          <p:cNvSpPr txBox="1"/>
          <p:nvPr/>
        </p:nvSpPr>
        <p:spPr>
          <a:xfrm>
            <a:off x="640080" y="1805940"/>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key you hand over at the door.</a:t>
            </a:r>
            <a:endParaRPr lang="en-US" sz="1150" dirty="0"/>
          </a:p>
        </p:txBody>
      </p:sp>
      <p:sp>
        <p:nvSpPr>
          <p:cNvPr id="10" name="Shape 8"/>
          <p:cNvSpPr/>
          <p:nvPr/>
        </p:nvSpPr>
        <p:spPr>
          <a:xfrm>
            <a:off x="4645152" y="1280160"/>
            <a:ext cx="4041648" cy="1097280"/>
          </a:xfrm>
          <a:prstGeom prst="roundRect">
            <a:avLst>
              <a:gd name="adj" fmla="val 6667"/>
            </a:avLst>
          </a:prstGeom>
          <a:solidFill>
            <a:srgbClr val="F2ECE1"/>
          </a:solidFill>
          <a:ln w="12700">
            <a:solidFill>
              <a:srgbClr val="DFD6C7"/>
            </a:solidFill>
            <a:prstDash val="solid"/>
          </a:ln>
        </p:spPr>
      </p:sp>
      <p:sp>
        <p:nvSpPr>
          <p:cNvPr id="11" name="Shape 9"/>
          <p:cNvSpPr/>
          <p:nvPr/>
        </p:nvSpPr>
        <p:spPr>
          <a:xfrm>
            <a:off x="4663440" y="1408176"/>
            <a:ext cx="64008" cy="84124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Script length prefix</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0x6b says 107 bytes follow.</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label on a box saying how many items it holds.</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62</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The sequence field</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The sequence field is a booth ticket whose meaning changed three times.</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Sequence replacement</a:t>
            </a:r>
            <a:endParaRPr lang="en-US" sz="1200" dirty="0"/>
          </a:p>
        </p:txBody>
      </p:sp>
      <p:sp>
        <p:nvSpPr>
          <p:cNvPr id="8" name="Text 6"/>
          <p:cNvSpPr txBox="1"/>
          <p:nvPr/>
        </p:nvSpPr>
        <p:spPr>
          <a:xfrm>
            <a:off x="77724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first use of the field: replace an unfinished transaction.</a:t>
            </a:r>
            <a:endParaRPr lang="en-US" sz="1150" dirty="0"/>
          </a:p>
        </p:txBody>
      </p:sp>
      <p:sp>
        <p:nvSpPr>
          <p:cNvPr id="9" name="Text 7"/>
          <p:cNvSpPr txBox="1"/>
          <p:nvPr/>
        </p:nvSpPr>
        <p:spPr>
          <a:xfrm>
            <a:off x="777240" y="3086100"/>
            <a:ext cx="2499360"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order slip you can reissue until the kitchen closes.</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Opt-in replace-by-fee</a:t>
            </a:r>
            <a:endParaRPr lang="en-US" sz="1200" dirty="0"/>
          </a:p>
        </p:txBody>
      </p:sp>
      <p:sp>
        <p:nvSpPr>
          <p:cNvPr id="12" name="Text 10"/>
          <p:cNvSpPr txBox="1"/>
          <p:nvPr/>
        </p:nvSpPr>
        <p:spPr>
          <a:xfrm>
            <a:off x="345948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later transaction that pays more replaces an earlier one.</a:t>
            </a:r>
            <a:endParaRPr lang="en-US" sz="1150" dirty="0"/>
          </a:p>
        </p:txBody>
      </p:sp>
      <p:sp>
        <p:nvSpPr>
          <p:cNvPr id="13" name="Text 11"/>
          <p:cNvSpPr txBox="1"/>
          <p:nvPr/>
        </p:nvSpPr>
        <p:spPr>
          <a:xfrm>
            <a:off x="345948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outbidding someone at an auction.</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Relative timelock</a:t>
            </a:r>
            <a:endParaRPr lang="en-US" sz="1200" dirty="0"/>
          </a:p>
        </p:txBody>
      </p:sp>
      <p:sp>
        <p:nvSpPr>
          <p:cNvPr id="16" name="Text 14"/>
          <p:cNvSpPr txBox="1"/>
          <p:nvPr/>
        </p:nvSpPr>
        <p:spPr>
          <a:xfrm>
            <a:off x="614172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coin that cannot be spent until some time after it arrived.</a:t>
            </a:r>
            <a:endParaRPr lang="en-US" sz="1150" dirty="0"/>
          </a:p>
        </p:txBody>
      </p:sp>
      <p:sp>
        <p:nvSpPr>
          <p:cNvPr id="17" name="Text 15"/>
          <p:cNvSpPr txBox="1"/>
          <p:nvPr/>
        </p:nvSpPr>
        <p:spPr>
          <a:xfrm>
            <a:off x="614172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gift card that activates a week after purchase.</a:t>
            </a:r>
            <a:endParaRPr lang="en-US" sz="115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914400"/>
                <a:gridCol w="822960"/>
                <a:gridCol w="1737360"/>
                <a:gridCol w="1737360"/>
                <a:gridCol w="1737360"/>
                <a:gridCol w="914400"/>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Version</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Marker Flag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Inputs: sequence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Outputs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Witnesses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Lock 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62</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sequence field: concepts (1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29538"/>
          </a:xfrm>
          <a:prstGeom prst="roundRect">
            <a:avLst>
              <a:gd name="adj" fmla="val 5502"/>
            </a:avLst>
          </a:prstGeom>
          <a:solidFill>
            <a:srgbClr val="F2ECE1"/>
          </a:solidFill>
          <a:ln w="12700">
            <a:solidFill>
              <a:srgbClr val="DFD6C7"/>
            </a:solidFill>
            <a:prstDash val="solid"/>
          </a:ln>
        </p:spPr>
      </p:sp>
      <p:sp>
        <p:nvSpPr>
          <p:cNvPr id="7" name="Shape 5"/>
          <p:cNvSpPr/>
          <p:nvPr/>
        </p:nvSpPr>
        <p:spPr>
          <a:xfrm>
            <a:off x="475488" y="1408176"/>
            <a:ext cx="64008" cy="107350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Sequence number</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last four bytes of an input.</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counter on a ticket that the booth can reissue.</a:t>
            </a:r>
            <a:endParaRPr lang="en-US" sz="1150" dirty="0"/>
          </a:p>
        </p:txBody>
      </p:sp>
      <p:sp>
        <p:nvSpPr>
          <p:cNvPr id="10" name="Shape 8"/>
          <p:cNvSpPr/>
          <p:nvPr/>
        </p:nvSpPr>
        <p:spPr>
          <a:xfrm>
            <a:off x="4645152" y="1280160"/>
            <a:ext cx="4041648" cy="1329538"/>
          </a:xfrm>
          <a:prstGeom prst="roundRect">
            <a:avLst>
              <a:gd name="adj" fmla="val 5502"/>
            </a:avLst>
          </a:prstGeom>
          <a:solidFill>
            <a:srgbClr val="F2ECE1"/>
          </a:solidFill>
          <a:ln w="12700">
            <a:solidFill>
              <a:srgbClr val="DFD6C7"/>
            </a:solidFill>
            <a:prstDash val="solid"/>
          </a:ln>
        </p:spPr>
      </p:sp>
      <p:sp>
        <p:nvSpPr>
          <p:cNvPr id="11" name="Shape 9"/>
          <p:cNvSpPr/>
          <p:nvPr/>
        </p:nvSpPr>
        <p:spPr>
          <a:xfrm>
            <a:off x="4663440" y="1408176"/>
            <a:ext cx="64008" cy="107350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Setup and refund transactions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deposit that needs both signatures.</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locked deposit box that needs two keys.</a:t>
            </a:r>
            <a:endParaRPr lang="en-US" sz="1150" dirty="0"/>
          </a:p>
        </p:txBody>
      </p:sp>
      <p:sp>
        <p:nvSpPr>
          <p:cNvPr id="14" name="Text 12"/>
          <p:cNvSpPr txBox="1"/>
          <p:nvPr/>
        </p:nvSpPr>
        <p:spPr>
          <a:xfrm>
            <a:off x="4828032" y="2217420"/>
            <a:ext cx="3767328" cy="191110"/>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setup transaction</a:t>
            </a:r>
            <a:endParaRPr lang="en-US" sz="1000" dirty="0"/>
          </a:p>
        </p:txBody>
      </p:sp>
      <p:sp>
        <p:nvSpPr>
          <p:cNvPr id="15" name="Shape 13"/>
          <p:cNvSpPr/>
          <p:nvPr/>
        </p:nvSpPr>
        <p:spPr>
          <a:xfrm>
            <a:off x="457200" y="2737714"/>
            <a:ext cx="4041648" cy="1329538"/>
          </a:xfrm>
          <a:prstGeom prst="roundRect">
            <a:avLst>
              <a:gd name="adj" fmla="val 5502"/>
            </a:avLst>
          </a:prstGeom>
          <a:solidFill>
            <a:srgbClr val="F2ECE1"/>
          </a:solidFill>
          <a:ln w="12700">
            <a:solidFill>
              <a:srgbClr val="DFD6C7"/>
            </a:solidFill>
            <a:prstDash val="solid"/>
          </a:ln>
        </p:spPr>
      </p:sp>
      <p:sp>
        <p:nvSpPr>
          <p:cNvPr id="16" name="Shape 14"/>
          <p:cNvSpPr/>
          <p:nvPr/>
        </p:nvSpPr>
        <p:spPr>
          <a:xfrm>
            <a:off x="475488" y="2865730"/>
            <a:ext cx="64008" cy="1073506"/>
          </a:xfrm>
          <a:prstGeom prst="rect">
            <a:avLst/>
          </a:prstGeom>
          <a:solidFill>
            <a:srgbClr val="D97A14"/>
          </a:solidFill>
          <a:ln w="12700">
            <a:solidFill>
              <a:srgbClr val="D97A14"/>
            </a:solidFill>
            <a:prstDash val="solid"/>
          </a:ln>
        </p:spPr>
      </p:sp>
      <p:sp>
        <p:nvSpPr>
          <p:cNvPr id="17" name="Text 15"/>
          <p:cNvSpPr txBox="1"/>
          <p:nvPr/>
        </p:nvSpPr>
        <p:spPr>
          <a:xfrm>
            <a:off x="640080" y="280172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Payment channel</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Many versions, one broadcast.</a:t>
            </a:r>
            <a:endParaRPr lang="en-US" sz="1300" dirty="0"/>
          </a:p>
        </p:txBody>
      </p:sp>
      <p:sp>
        <p:nvSpPr>
          <p:cNvPr id="18" name="Text 16"/>
          <p:cNvSpPr txBox="1"/>
          <p:nvPr/>
        </p:nvSpPr>
        <p:spPr>
          <a:xfrm>
            <a:off x="640080" y="326349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bar tab: many orders, one bill at the end.</a:t>
            </a:r>
            <a:endParaRPr lang="en-US" sz="1150" dirty="0"/>
          </a:p>
        </p:txBody>
      </p:sp>
      <p:sp>
        <p:nvSpPr>
          <p:cNvPr id="19" name="Text 17"/>
          <p:cNvSpPr txBox="1"/>
          <p:nvPr/>
        </p:nvSpPr>
        <p:spPr>
          <a:xfrm>
            <a:off x="640080" y="3674974"/>
            <a:ext cx="3767328" cy="191110"/>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high-frequency transactions</a:t>
            </a:r>
            <a:endParaRPr lang="en-US" sz="1000" dirty="0"/>
          </a:p>
        </p:txBody>
      </p:sp>
      <p:sp>
        <p:nvSpPr>
          <p:cNvPr id="20" name="Shape 18"/>
          <p:cNvSpPr/>
          <p:nvPr/>
        </p:nvSpPr>
        <p:spPr>
          <a:xfrm>
            <a:off x="4645152" y="2737714"/>
            <a:ext cx="4041648" cy="1329538"/>
          </a:xfrm>
          <a:prstGeom prst="roundRect">
            <a:avLst>
              <a:gd name="adj" fmla="val 5502"/>
            </a:avLst>
          </a:prstGeom>
          <a:solidFill>
            <a:srgbClr val="F2ECE1"/>
          </a:solidFill>
          <a:ln w="12700">
            <a:solidFill>
              <a:srgbClr val="DFD6C7"/>
            </a:solidFill>
            <a:prstDash val="solid"/>
          </a:ln>
        </p:spPr>
      </p:sp>
      <p:sp>
        <p:nvSpPr>
          <p:cNvPr id="21" name="Shape 19"/>
          <p:cNvSpPr/>
          <p:nvPr/>
        </p:nvSpPr>
        <p:spPr>
          <a:xfrm>
            <a:off x="4663440" y="2865730"/>
            <a:ext cx="64008" cy="1073506"/>
          </a:xfrm>
          <a:prstGeom prst="rect">
            <a:avLst/>
          </a:prstGeom>
          <a:solidFill>
            <a:srgbClr val="D97A14"/>
          </a:solidFill>
          <a:ln w="12700">
            <a:solidFill>
              <a:srgbClr val="D97A14"/>
            </a:solidFill>
            <a:prstDash val="solid"/>
          </a:ln>
        </p:spPr>
      </p:sp>
      <p:sp>
        <p:nvSpPr>
          <p:cNvPr id="22" name="Text 20"/>
          <p:cNvSpPr txBox="1"/>
          <p:nvPr/>
        </p:nvSpPr>
        <p:spPr>
          <a:xfrm>
            <a:off x="4828032" y="280172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replacement bandwidth attack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20 KB in, 10 GB out, every minute.</a:t>
            </a:r>
            <a:endParaRPr lang="en-US" sz="1300" dirty="0"/>
          </a:p>
        </p:txBody>
      </p:sp>
      <p:sp>
        <p:nvSpPr>
          <p:cNvPr id="23" name="Text 21"/>
          <p:cNvSpPr txBox="1"/>
          <p:nvPr/>
        </p:nvSpPr>
        <p:spPr>
          <a:xfrm>
            <a:off x="4828032" y="326349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refiling the same form again and again to clog the office.</a:t>
            </a:r>
            <a:endParaRPr lang="en-US" sz="1150" dirty="0"/>
          </a:p>
        </p:txBody>
      </p:sp>
      <p:sp>
        <p:nvSpPr>
          <p:cNvPr id="24" name="Text 22"/>
          <p:cNvSpPr txBox="1"/>
          <p:nvPr/>
        </p:nvSpPr>
        <p:spPr>
          <a:xfrm>
            <a:off x="4828032" y="3674974"/>
            <a:ext cx="3767328" cy="346558"/>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Original sequence-based transaction replacement</a:t>
            </a:r>
            <a:endParaRPr lang="en-US" sz="100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62</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Four sequence values, three meanings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Final, replaceable, and a relative timelock</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seqs = (0xffffffff, 0xfffffffe, 0xfffffffd, </a:t>
            </a:r>
            <a:r>
              <a:rPr lang="en-US" sz="1000" dirty="0">
                <a:solidFill>
                  <a:srgbClr val="FFD28A"/>
                </a:solidFill>
                <a:latin typeface="Courier New" pitchFamily="34" charset="0"/>
                <a:ea typeface="Courier New" pitchFamily="34" charset="-122"/>
                <a:cs typeface="Courier New" pitchFamily="34" charset="-120"/>
              </a:rPr>
              <a:t>30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ds = [sequence_decode(s)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seqs]</a:t>
            </a:r>
            <a:endParaRPr lang="en-US" sz="1000" dirty="0"/>
          </a:p>
        </p:txBody>
      </p:sp>
      <p:sp>
        <p:nvSpPr>
          <p:cNvPr id="10" name="Shape 8"/>
          <p:cNvSpPr/>
          <p:nvPr/>
        </p:nvSpPr>
        <p:spPr>
          <a:xfrm>
            <a:off x="457200" y="2754173"/>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827325"/>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keys = (</a:t>
            </a:r>
            <a:r>
              <a:rPr lang="en-US" sz="1000" dirty="0">
                <a:solidFill>
                  <a:srgbClr val="9ECBFF"/>
                </a:solidFill>
                <a:latin typeface="Courier New" pitchFamily="34" charset="0"/>
                <a:ea typeface="Courier New" pitchFamily="34" charset="-122"/>
                <a:cs typeface="Courier New" pitchFamily="34" charset="-120"/>
              </a:rPr>
              <a:t>'hex'</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'rbf_signal'</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'relative_timelock'</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rows = [tuple(d[k]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keys)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d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ds]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rows[</a:t>
            </a:r>
            <a:r>
              <a:rPr lang="en-US" sz="1000" dirty="0">
                <a:solidFill>
                  <a:srgbClr val="FFD28A"/>
                </a:solidFill>
                <a:latin typeface="Courier New" pitchFamily="34" charset="0"/>
                <a:ea typeface="Courier New" pitchFamily="34" charset="-122"/>
                <a:cs typeface="Courier New" pitchFamily="34" charset="-120"/>
              </a:rPr>
              <a:t>3</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('0x0000001e', True, ('blocks', 30))</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Four typical values: final, almost final, replaceable, and thirty blocks.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decoder applies BIP68 and BIP125, which reused the same field.</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588106"/>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row shows the replace signal and the relative timelock.</a:t>
            </a:r>
            <a:endParaRPr lang="en-US" sz="1050" dirty="0"/>
          </a:p>
        </p:txBody>
      </p:sp>
      <p:sp>
        <p:nvSpPr>
          <p:cNvPr id="21" name="Text 19"/>
          <p:cNvSpPr txBox="1"/>
          <p:nvPr/>
        </p:nvSpPr>
        <p:spPr>
          <a:xfrm>
            <a:off x="457200" y="384413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ALICE, PREV, FIRST and tx as set up on slide 7</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four values decoded</a:t>
            </a:r>
            <a:endParaRPr lang="en-US" sz="11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097280"/>
                <a:gridCol w="914400"/>
                <a:gridCol w="9601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Sequence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Replaceable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Timelock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0xffffffff</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none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0xfffffffe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none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0xfffffffd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none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0x0000001e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30 blocks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first two are final or almost final; the third signals replacement; only the last carries a timelock.</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Bit 31 of the sequence field is the security bit of this chapter</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62</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sequence field: concepts (2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29538"/>
          </a:xfrm>
          <a:prstGeom prst="roundRect">
            <a:avLst>
              <a:gd name="adj" fmla="val 5502"/>
            </a:avLst>
          </a:prstGeom>
          <a:solidFill>
            <a:srgbClr val="F2ECE1"/>
          </a:solidFill>
          <a:ln w="12700">
            <a:solidFill>
              <a:srgbClr val="DFD6C7"/>
            </a:solidFill>
            <a:prstDash val="solid"/>
          </a:ln>
        </p:spPr>
      </p:sp>
      <p:sp>
        <p:nvSpPr>
          <p:cNvPr id="7" name="Shape 5"/>
          <p:cNvSpPr/>
          <p:nvPr/>
        </p:nvSpPr>
        <p:spPr>
          <a:xfrm>
            <a:off x="475488" y="1408176"/>
            <a:ext cx="64008" cy="107350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Opt-in replace-by-fee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higher fee rate replaces a lower one.</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form that says I may be replaced by a better-paid one.</a:t>
            </a:r>
            <a:endParaRPr lang="en-US" sz="1150" dirty="0"/>
          </a:p>
        </p:txBody>
      </p:sp>
      <p:sp>
        <p:nvSpPr>
          <p:cNvPr id="10" name="Shape 8"/>
          <p:cNvSpPr/>
          <p:nvPr/>
        </p:nvSpPr>
        <p:spPr>
          <a:xfrm>
            <a:off x="4645152" y="1280160"/>
            <a:ext cx="4041648" cy="1329538"/>
          </a:xfrm>
          <a:prstGeom prst="roundRect">
            <a:avLst>
              <a:gd name="adj" fmla="val 5502"/>
            </a:avLst>
          </a:prstGeom>
          <a:solidFill>
            <a:srgbClr val="F2ECE1"/>
          </a:solidFill>
          <a:ln w="12700">
            <a:solidFill>
              <a:srgbClr val="DFD6C7"/>
            </a:solidFill>
            <a:prstDash val="solid"/>
          </a:ln>
        </p:spPr>
      </p:sp>
      <p:sp>
        <p:nvSpPr>
          <p:cNvPr id="11" name="Shape 9"/>
          <p:cNvSpPr/>
          <p:nvPr/>
        </p:nvSpPr>
        <p:spPr>
          <a:xfrm>
            <a:off x="4663440" y="1408176"/>
            <a:ext cx="64008" cy="107350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BIP125 signal</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Below 0xfffffffe means replaceable.</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tick box marked amendable on the form.</a:t>
            </a:r>
            <a:endParaRPr lang="en-US" sz="1150" dirty="0"/>
          </a:p>
        </p:txBody>
      </p:sp>
      <p:sp>
        <p:nvSpPr>
          <p:cNvPr id="14" name="Text 12"/>
          <p:cNvSpPr txBox="1"/>
          <p:nvPr/>
        </p:nvSpPr>
        <p:spPr>
          <a:xfrm>
            <a:off x="4828032" y="2217420"/>
            <a:ext cx="3767328" cy="346558"/>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Opt-in transaction replacement signaling</a:t>
            </a:r>
            <a:endParaRPr lang="en-US" sz="1000" dirty="0"/>
          </a:p>
        </p:txBody>
      </p:sp>
      <p:sp>
        <p:nvSpPr>
          <p:cNvPr id="15" name="Shape 13"/>
          <p:cNvSpPr/>
          <p:nvPr/>
        </p:nvSpPr>
        <p:spPr>
          <a:xfrm>
            <a:off x="457200" y="2737714"/>
            <a:ext cx="4041648" cy="1329538"/>
          </a:xfrm>
          <a:prstGeom prst="roundRect">
            <a:avLst>
              <a:gd name="adj" fmla="val 5502"/>
            </a:avLst>
          </a:prstGeom>
          <a:solidFill>
            <a:srgbClr val="F2ECE1"/>
          </a:solidFill>
          <a:ln w="12700">
            <a:solidFill>
              <a:srgbClr val="DFD6C7"/>
            </a:solidFill>
            <a:prstDash val="solid"/>
          </a:ln>
        </p:spPr>
      </p:sp>
      <p:sp>
        <p:nvSpPr>
          <p:cNvPr id="16" name="Shape 14"/>
          <p:cNvSpPr/>
          <p:nvPr/>
        </p:nvSpPr>
        <p:spPr>
          <a:xfrm>
            <a:off x="475488" y="2865730"/>
            <a:ext cx="64008" cy="1073506"/>
          </a:xfrm>
          <a:prstGeom prst="rect">
            <a:avLst/>
          </a:prstGeom>
          <a:solidFill>
            <a:srgbClr val="D97A14"/>
          </a:solidFill>
          <a:ln w="12700">
            <a:solidFill>
              <a:srgbClr val="D97A14"/>
            </a:solidFill>
            <a:prstDash val="solid"/>
          </a:ln>
        </p:spPr>
      </p:sp>
      <p:sp>
        <p:nvSpPr>
          <p:cNvPr id="17" name="Text 15"/>
          <p:cNvSpPr txBox="1"/>
          <p:nvPr/>
        </p:nvSpPr>
        <p:spPr>
          <a:xfrm>
            <a:off x="640080" y="280172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BIP68 relative timelock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30 blocks: confirm 29 blocks after the output.</a:t>
            </a:r>
            <a:endParaRPr lang="en-US" sz="1300" dirty="0"/>
          </a:p>
        </p:txBody>
      </p:sp>
      <p:sp>
        <p:nvSpPr>
          <p:cNvPr id="18" name="Text 16"/>
          <p:cNvSpPr txBox="1"/>
          <p:nvPr/>
        </p:nvSpPr>
        <p:spPr>
          <a:xfrm>
            <a:off x="640080" y="326349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coupon valid only some days after purchase.</a:t>
            </a:r>
            <a:endParaRPr lang="en-US" sz="1150" dirty="0"/>
          </a:p>
        </p:txBody>
      </p:sp>
      <p:sp>
        <p:nvSpPr>
          <p:cNvPr id="19" name="Text 17"/>
          <p:cNvSpPr txBox="1"/>
          <p:nvPr/>
        </p:nvSpPr>
        <p:spPr>
          <a:xfrm>
            <a:off x="640080" y="3674974"/>
            <a:ext cx="3767328" cy="346558"/>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Sequence as a consensus-enforced relative timelock</a:t>
            </a:r>
            <a:endParaRPr lang="en-US" sz="1000" dirty="0"/>
          </a:p>
        </p:txBody>
      </p:sp>
      <p:sp>
        <p:nvSpPr>
          <p:cNvPr id="20" name="Shape 18"/>
          <p:cNvSpPr/>
          <p:nvPr/>
        </p:nvSpPr>
        <p:spPr>
          <a:xfrm>
            <a:off x="4645152" y="2737714"/>
            <a:ext cx="4041648" cy="1329538"/>
          </a:xfrm>
          <a:prstGeom prst="roundRect">
            <a:avLst>
              <a:gd name="adj" fmla="val 5502"/>
            </a:avLst>
          </a:prstGeom>
          <a:solidFill>
            <a:srgbClr val="F2ECE1"/>
          </a:solidFill>
          <a:ln w="12700">
            <a:solidFill>
              <a:srgbClr val="DFD6C7"/>
            </a:solidFill>
            <a:prstDash val="solid"/>
          </a:ln>
        </p:spPr>
      </p:sp>
      <p:sp>
        <p:nvSpPr>
          <p:cNvPr id="21" name="Shape 19"/>
          <p:cNvSpPr/>
          <p:nvPr/>
        </p:nvSpPr>
        <p:spPr>
          <a:xfrm>
            <a:off x="4663440" y="2865730"/>
            <a:ext cx="64008" cy="1073506"/>
          </a:xfrm>
          <a:prstGeom prst="rect">
            <a:avLst/>
          </a:prstGeom>
          <a:solidFill>
            <a:srgbClr val="D97A14"/>
          </a:solidFill>
          <a:ln w="12700">
            <a:solidFill>
              <a:srgbClr val="D97A14"/>
            </a:solidFill>
            <a:prstDash val="solid"/>
          </a:ln>
        </p:spPr>
      </p:sp>
      <p:sp>
        <p:nvSpPr>
          <p:cNvPr id="22" name="Text 20"/>
          <p:cNvSpPr txBox="1"/>
          <p:nvPr/>
        </p:nvSpPr>
        <p:spPr>
          <a:xfrm>
            <a:off x="4828032" y="280172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type flag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Bit 22 chooses blocks or 512-second units.</a:t>
            </a:r>
            <a:endParaRPr lang="en-US" sz="1300" dirty="0"/>
          </a:p>
        </p:txBody>
      </p:sp>
      <p:sp>
        <p:nvSpPr>
          <p:cNvPr id="23" name="Text 21"/>
          <p:cNvSpPr txBox="1"/>
          <p:nvPr/>
        </p:nvSpPr>
        <p:spPr>
          <a:xfrm>
            <a:off x="4828032" y="326349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switch choosing between counting turns and counting minutes.</a:t>
            </a:r>
            <a:endParaRPr lang="en-US" sz="115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27 / 62</a:t>
            </a:r>
            <a:endParaRPr lang="en-US" sz="11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BIP68: an hour as a sequence number</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the 32 bits of the field are divided</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 = sequence_for(seconds=</a:t>
            </a:r>
            <a:r>
              <a:rPr lang="en-US" sz="1000" dirty="0">
                <a:solidFill>
                  <a:srgbClr val="FFD28A"/>
                </a:solidFill>
                <a:latin typeface="Courier New" pitchFamily="34" charset="0"/>
                <a:ea typeface="Courier New" pitchFamily="34" charset="-122"/>
                <a:cs typeface="Courier New" pitchFamily="34" charset="-120"/>
              </a:rPr>
              <a:t>3600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rt = sequence_decode(s)[</a:t>
            </a:r>
            <a:r>
              <a:rPr lang="en-US" sz="1000" dirty="0">
                <a:solidFill>
                  <a:srgbClr val="9ECBFF"/>
                </a:solidFill>
                <a:latin typeface="Courier New" pitchFamily="34" charset="0"/>
                <a:ea typeface="Courier New" pitchFamily="34" charset="-122"/>
                <a:cs typeface="Courier New" pitchFamily="34" charset="-120"/>
              </a:rPr>
              <a:t>'relative_timelock'</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first = earliest_block(</a:t>
            </a:r>
            <a:r>
              <a:rPr lang="en-US" sz="1000" dirty="0">
                <a:solidFill>
                  <a:srgbClr val="FFD28A"/>
                </a:solidFill>
                <a:latin typeface="Courier New" pitchFamily="34" charset="0"/>
                <a:ea typeface="Courier New" pitchFamily="34" charset="-122"/>
                <a:cs typeface="Courier New" pitchFamily="34" charset="-120"/>
              </a:rPr>
              <a:t>774958</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30</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918765"/>
            <a:ext cx="5074920" cy="972007"/>
          </a:xfrm>
          <a:prstGeom prst="roundRect">
            <a:avLst>
              <a:gd name="adj" fmla="val 7526"/>
            </a:avLst>
          </a:prstGeom>
          <a:solidFill>
            <a:srgbClr val="23272E"/>
          </a:solidFill>
          <a:ln w="12700">
            <a:solidFill>
              <a:srgbClr val="23272E"/>
            </a:solidFill>
            <a:prstDash val="solid"/>
          </a:ln>
        </p:spPr>
      </p:sp>
      <p:sp>
        <p:nvSpPr>
          <p:cNvPr id="11" name="Text 9"/>
          <p:cNvSpPr txBox="1"/>
          <p:nvPr/>
        </p:nvSpPr>
        <p:spPr>
          <a:xfrm>
            <a:off x="603504" y="2991917"/>
            <a:ext cx="4800600" cy="843991"/>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dis = hex(SEQUENCE_LOCKTIME_DISABLE_FLAG)</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typ = hex(SEQUENCE_LOCKTIME_TYPE_FLAG)</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msk = hex(SEQUENCE_LOCKTIME_MASK)</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first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774988</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hour is counted in units of 512 seconds, with the type flag set.</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Thirty blocks after a coin confirmed at 774,958 is the earliest spend.</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820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Three masks split the 32 bits into two flags and a 16-bit value.</a:t>
            </a:r>
            <a:endParaRPr lang="en-US" sz="1050" dirty="0"/>
          </a:p>
        </p:txBody>
      </p:sp>
      <p:sp>
        <p:nvSpPr>
          <p:cNvPr id="21" name="Text 19"/>
          <p:cNvSpPr txBox="1"/>
          <p:nvPr/>
        </p:nvSpPr>
        <p:spPr>
          <a:xfrm>
            <a:off x="457200" y="417423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ALICE, PREV, FIRST and tx as set up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sequence values and BIP68 masks</a:t>
            </a:r>
            <a:endParaRPr lang="en-US" sz="11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868680"/>
                <a:gridCol w="210312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Quantity</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One hour</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0x400008 = 4,096 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Earliest block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774,988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Masks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0x80000000, 0x400000, 0xffff</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An hour rounds up to eight units of 512 seconds, which is 4,096 seconds.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Disable flag, type flag and a 16-bit value share one field</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28 / 62</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sequence field: concepts (3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disable flag</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Bit 31 switches the timelock off.</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off switch that makes the coupon valid at once.</a:t>
            </a:r>
            <a:endParaRPr lang="en-US" sz="1150" dirty="0"/>
          </a:p>
        </p:txBody>
      </p:sp>
      <p:sp>
        <p:nvSpPr>
          <p:cNvPr id="10" name="Shape 8"/>
          <p:cNvSpPr/>
          <p:nvPr/>
        </p:nvSpPr>
        <p:spPr>
          <a:xfrm>
            <a:off x="4645152" y="1280160"/>
            <a:ext cx="4041648" cy="1097280"/>
          </a:xfrm>
          <a:prstGeom prst="roundRect">
            <a:avLst>
              <a:gd name="adj" fmla="val 6667"/>
            </a:avLst>
          </a:prstGeom>
          <a:solidFill>
            <a:srgbClr val="F2ECE1"/>
          </a:solidFill>
          <a:ln w="12700">
            <a:solidFill>
              <a:srgbClr val="DFD6C7"/>
            </a:solidFill>
            <a:prstDash val="solid"/>
          </a:ln>
        </p:spPr>
      </p:sp>
      <p:sp>
        <p:nvSpPr>
          <p:cNvPr id="11" name="Shape 9"/>
          <p:cNvSpPr/>
          <p:nvPr/>
        </p:nvSpPr>
        <p:spPr>
          <a:xfrm>
            <a:off x="4663440" y="1408176"/>
            <a:ext cx="64008" cy="84124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16-bit mask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65,535 blocks or units, about a year.</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counter with room for only 65,535 ticks.</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29 / 62</a:t>
            </a:r>
            <a:endParaRPr lang="en-US" sz="11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Outputs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Outputs are the lines of a till receipt: an amount and who may collect it.</a:t>
            </a:r>
            <a:endParaRPr lang="en-US" sz="1500" dirty="0"/>
          </a:p>
        </p:txBody>
      </p:sp>
      <p:sp>
        <p:nvSpPr>
          <p:cNvPr id="6" name="Shape 4"/>
          <p:cNvSpPr/>
          <p:nvPr/>
        </p:nvSpPr>
        <p:spPr>
          <a:xfrm>
            <a:off x="777240" y="2103120"/>
            <a:ext cx="249936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output list</a:t>
            </a:r>
            <a:endParaRPr lang="en-US" sz="1200" dirty="0"/>
          </a:p>
        </p:txBody>
      </p:sp>
      <p:sp>
        <p:nvSpPr>
          <p:cNvPr id="8" name="Text 6"/>
          <p:cNvSpPr txBox="1"/>
          <p:nvPr/>
        </p:nvSpPr>
        <p:spPr>
          <a:xfrm>
            <a:off x="77724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list of new coins the transaction creates.</a:t>
            </a:r>
            <a:endParaRPr lang="en-US" sz="1150" dirty="0"/>
          </a:p>
        </p:txBody>
      </p:sp>
      <p:sp>
        <p:nvSpPr>
          <p:cNvPr id="9" name="Text 7"/>
          <p:cNvSpPr txBox="1"/>
          <p:nvPr/>
        </p:nvSpPr>
        <p:spPr>
          <a:xfrm>
            <a:off x="77724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change a till hands back.</a:t>
            </a:r>
            <a:endParaRPr lang="en-US" sz="1150" dirty="0"/>
          </a:p>
        </p:txBody>
      </p:sp>
      <p:sp>
        <p:nvSpPr>
          <p:cNvPr id="10" name="Shape 8"/>
          <p:cNvSpPr/>
          <p:nvPr/>
        </p:nvSpPr>
        <p:spPr>
          <a:xfrm>
            <a:off x="3459480" y="2103120"/>
            <a:ext cx="249936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353263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Dust policy</a:t>
            </a:r>
            <a:endParaRPr lang="en-US" sz="1200" dirty="0"/>
          </a:p>
        </p:txBody>
      </p:sp>
      <p:sp>
        <p:nvSpPr>
          <p:cNvPr id="12" name="Text 10"/>
          <p:cNvSpPr txBox="1"/>
          <p:nvPr/>
        </p:nvSpPr>
        <p:spPr>
          <a:xfrm>
            <a:off x="3459480" y="2487168"/>
            <a:ext cx="2499360" cy="571500"/>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Rules that keep tiny coins from clogging everyone's database.</a:t>
            </a:r>
            <a:endParaRPr lang="en-US" sz="1150" dirty="0"/>
          </a:p>
        </p:txBody>
      </p:sp>
      <p:sp>
        <p:nvSpPr>
          <p:cNvPr id="13" name="Text 11"/>
          <p:cNvSpPr txBox="1"/>
          <p:nvPr/>
        </p:nvSpPr>
        <p:spPr>
          <a:xfrm>
            <a:off x="3459480" y="3086100"/>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bank that refuses to count single cents.</a:t>
            </a:r>
            <a:endParaRPr lang="en-US" sz="1150" dirty="0"/>
          </a:p>
        </p:txBody>
      </p:sp>
      <p:sp>
        <p:nvSpPr>
          <p:cNvPr id="14" name="Shape 12"/>
          <p:cNvSpPr/>
          <p:nvPr/>
        </p:nvSpPr>
        <p:spPr>
          <a:xfrm>
            <a:off x="6141720" y="2103120"/>
            <a:ext cx="249936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6214872" y="2103120"/>
            <a:ext cx="235305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The output script</a:t>
            </a:r>
            <a:endParaRPr lang="en-US" sz="1200" dirty="0"/>
          </a:p>
        </p:txBody>
      </p:sp>
      <p:sp>
        <p:nvSpPr>
          <p:cNvPr id="16" name="Text 14"/>
          <p:cNvSpPr txBox="1"/>
          <p:nvPr/>
        </p:nvSpPr>
        <p:spPr>
          <a:xfrm>
            <a:off x="6141720" y="2487168"/>
            <a:ext cx="249936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lock that decides who may spend the new coin.</a:t>
            </a:r>
            <a:endParaRPr lang="en-US" sz="1150" dirty="0"/>
          </a:p>
        </p:txBody>
      </p:sp>
      <p:sp>
        <p:nvSpPr>
          <p:cNvPr id="17" name="Text 15"/>
          <p:cNvSpPr txBox="1"/>
          <p:nvPr/>
        </p:nvSpPr>
        <p:spPr>
          <a:xfrm>
            <a:off x="6141720" y="2907792"/>
            <a:ext cx="249936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lock fitted to a new deposit box.</a:t>
            </a:r>
            <a:endParaRPr lang="en-US" sz="115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914400"/>
                <a:gridCol w="822960"/>
                <a:gridCol w="1737360"/>
                <a:gridCol w="1737360"/>
                <a:gridCol w="1737360"/>
                <a:gridCol w="914400"/>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Version</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Marker Flag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Inputs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Outputs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Witnesses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Lock 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19"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30 / 62</a:t>
            </a:r>
            <a:endParaRPr lang="en-US" sz="11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Outputs: concepts (1 of 3)</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Output count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Two outputs: a payment and change.</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how many envelopes of money leave the till.</a:t>
            </a:r>
            <a:endParaRPr lang="en-US" sz="1150" dirty="0"/>
          </a:p>
        </p:txBody>
      </p:sp>
      <p:sp>
        <p:nvSpPr>
          <p:cNvPr id="10" name="Shape 8"/>
          <p:cNvSpPr/>
          <p:nvPr/>
        </p:nvSpPr>
        <p:spPr>
          <a:xfrm>
            <a:off x="4645152" y="1280160"/>
            <a:ext cx="4041648" cy="1097280"/>
          </a:xfrm>
          <a:prstGeom prst="roundRect">
            <a:avLst>
              <a:gd name="adj" fmla="val 6667"/>
            </a:avLst>
          </a:prstGeom>
          <a:solidFill>
            <a:srgbClr val="F2ECE1"/>
          </a:solidFill>
          <a:ln w="12700">
            <a:solidFill>
              <a:srgbClr val="DFD6C7"/>
            </a:solidFill>
            <a:prstDash val="solid"/>
          </a:ln>
        </p:spPr>
      </p:sp>
      <p:sp>
        <p:nvSpPr>
          <p:cNvPr id="11" name="Shape 9"/>
          <p:cNvSpPr/>
          <p:nvPr/>
        </p:nvSpPr>
        <p:spPr>
          <a:xfrm>
            <a:off x="4663440" y="1408176"/>
            <a:ext cx="64008" cy="84124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Amount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8 bytes, little-endian, in satoshis.</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sum on a cheque, written in the smallest coins.</a:t>
            </a:r>
            <a:endParaRPr lang="en-US" sz="1150" dirty="0"/>
          </a:p>
        </p:txBody>
      </p:sp>
      <p:sp>
        <p:nvSpPr>
          <p:cNvPr id="14" name="Shape 12"/>
          <p:cNvSpPr/>
          <p:nvPr/>
        </p:nvSpPr>
        <p:spPr>
          <a:xfrm>
            <a:off x="457200" y="2505456"/>
            <a:ext cx="4041648" cy="1097280"/>
          </a:xfrm>
          <a:prstGeom prst="roundRect">
            <a:avLst>
              <a:gd name="adj" fmla="val 6667"/>
            </a:avLst>
          </a:prstGeom>
          <a:solidFill>
            <a:srgbClr val="F2ECE1"/>
          </a:solidFill>
          <a:ln w="12700">
            <a:solidFill>
              <a:srgbClr val="DFD6C7"/>
            </a:solidFill>
            <a:prstDash val="solid"/>
          </a:ln>
        </p:spPr>
      </p:sp>
      <p:sp>
        <p:nvSpPr>
          <p:cNvPr id="15" name="Shape 13"/>
          <p:cNvSpPr/>
          <p:nvPr/>
        </p:nvSpPr>
        <p:spPr>
          <a:xfrm>
            <a:off x="475488" y="2633472"/>
            <a:ext cx="64008" cy="841248"/>
          </a:xfrm>
          <a:prstGeom prst="rect">
            <a:avLst/>
          </a:prstGeom>
          <a:solidFill>
            <a:srgbClr val="D97A14"/>
          </a:solidFill>
          <a:ln w="12700">
            <a:solidFill>
              <a:srgbClr val="D97A14"/>
            </a:solidFill>
            <a:prstDash val="solid"/>
          </a:ln>
        </p:spPr>
      </p:sp>
      <p:sp>
        <p:nvSpPr>
          <p:cNvPr id="16" name="Text 14"/>
          <p:cNvSpPr txBox="1"/>
          <p:nvPr/>
        </p:nvSpPr>
        <p:spPr>
          <a:xfrm>
            <a:off x="640080" y="256946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Satoshi</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100 million to a bitcoin.</a:t>
            </a:r>
            <a:endParaRPr lang="en-US" sz="1300" dirty="0"/>
          </a:p>
        </p:txBody>
      </p:sp>
      <p:sp>
        <p:nvSpPr>
          <p:cNvPr id="17" name="Text 15"/>
          <p:cNvSpPr txBox="1"/>
          <p:nvPr/>
        </p:nvSpPr>
        <p:spPr>
          <a:xfrm>
            <a:off x="640080" y="303123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cent that is a hundred-millionth of the whole note.</a:t>
            </a:r>
            <a:endParaRPr lang="en-US" sz="1150" dirty="0"/>
          </a:p>
        </p:txBody>
      </p:sp>
      <p:sp>
        <p:nvSpPr>
          <p:cNvPr id="18" name="Shape 16"/>
          <p:cNvSpPr/>
          <p:nvPr/>
        </p:nvSpPr>
        <p:spPr>
          <a:xfrm>
            <a:off x="4645152" y="2505456"/>
            <a:ext cx="4041648" cy="1097280"/>
          </a:xfrm>
          <a:prstGeom prst="roundRect">
            <a:avLst>
              <a:gd name="adj" fmla="val 6667"/>
            </a:avLst>
          </a:prstGeom>
          <a:solidFill>
            <a:srgbClr val="F2ECE1"/>
          </a:solidFill>
          <a:ln w="12700">
            <a:solidFill>
              <a:srgbClr val="DFD6C7"/>
            </a:solidFill>
            <a:prstDash val="solid"/>
          </a:ln>
        </p:spPr>
      </p:sp>
      <p:sp>
        <p:nvSpPr>
          <p:cNvPr id="19" name="Shape 17"/>
          <p:cNvSpPr/>
          <p:nvPr/>
        </p:nvSpPr>
        <p:spPr>
          <a:xfrm>
            <a:off x="4663440" y="2633472"/>
            <a:ext cx="64008" cy="841248"/>
          </a:xfrm>
          <a:prstGeom prst="rect">
            <a:avLst/>
          </a:prstGeom>
          <a:solidFill>
            <a:srgbClr val="D97A14"/>
          </a:solidFill>
          <a:ln w="12700">
            <a:solidFill>
              <a:srgbClr val="D97A14"/>
            </a:solidFill>
            <a:prstDash val="solid"/>
          </a:ln>
        </p:spPr>
      </p:sp>
      <p:sp>
        <p:nvSpPr>
          <p:cNvPr id="20" name="Text 18"/>
          <p:cNvSpPr txBox="1"/>
          <p:nvPr/>
        </p:nvSpPr>
        <p:spPr>
          <a:xfrm>
            <a:off x="4828032" y="256946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consensus range of an amount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From 0 to 2.1 quadrillion.</a:t>
            </a:r>
            <a:endParaRPr lang="en-US" sz="1300" dirty="0"/>
          </a:p>
        </p:txBody>
      </p:sp>
      <p:sp>
        <p:nvSpPr>
          <p:cNvPr id="21" name="Text 19"/>
          <p:cNvSpPr txBox="1"/>
          <p:nvPr/>
        </p:nvSpPr>
        <p:spPr>
          <a:xfrm>
            <a:off x="4828032" y="303123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cheque form that cannot print negative or absurd sums.</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31 / 62</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Amounts, change and the fee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An output is an amount and a condition</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paid = [o[</a:t>
            </a:r>
            <a:r>
              <a:rPr lang="en-US" sz="1000" dirty="0">
                <a:solidFill>
                  <a:srgbClr val="9ECBFF"/>
                </a:solidFill>
                <a:latin typeface="Courier New" pitchFamily="34" charset="0"/>
                <a:ea typeface="Courier New" pitchFamily="34" charset="-122"/>
                <a:cs typeface="Courier New" pitchFamily="34" charset="-120"/>
              </a:rPr>
              <a:t>'value'</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o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tx[</a:t>
            </a:r>
            <a:r>
              <a:rPr lang="en-US" sz="1000" dirty="0">
                <a:solidFill>
                  <a:srgbClr val="9ECBFF"/>
                </a:solidFill>
                <a:latin typeface="Courier New" pitchFamily="34" charset="0"/>
                <a:ea typeface="Courier New" pitchFamily="34" charset="-122"/>
                <a:cs typeface="Courier New" pitchFamily="34" charset="-120"/>
              </a:rPr>
              <a:t>'outputs'</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funds = PREV_REC[</a:t>
            </a:r>
            <a:r>
              <a:rPr lang="en-US" sz="1000" dirty="0">
                <a:solidFill>
                  <a:srgbClr val="9ECBFF"/>
                </a:solidFill>
                <a:latin typeface="Courier New" pitchFamily="34" charset="0"/>
                <a:ea typeface="Courier New" pitchFamily="34" charset="-122"/>
                <a:cs typeface="Courier New" pitchFamily="34" charset="-120"/>
              </a:rPr>
              <a:t>'vout'</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9ECBFF"/>
                </a:solidFill>
                <a:latin typeface="Courier New" pitchFamily="34" charset="0"/>
                <a:ea typeface="Courier New" pitchFamily="34" charset="-122"/>
                <a:cs typeface="Courier New" pitchFamily="34" charset="-120"/>
              </a:rPr>
              <a:t>'value'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10" name="Shape 8"/>
          <p:cNvSpPr/>
          <p:nvPr/>
        </p:nvSpPr>
        <p:spPr>
          <a:xfrm>
            <a:off x="457200" y="2589581"/>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662733"/>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fee = funds - sum(paid)</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parts = paid + [fee]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fee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5000</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output states an amount, in satoshis, the smallest unit.</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input states no amount; it is read from the coin that is spent.</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fee is only a difference between inputs and outputs.</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ALICE, PREV, FIRST and tx as set up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satoshis in each output, and the fee</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spent coin held 100,000 satoshis; the outputs take 95,000 and the remaining 5,000 is the fee.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No field holds a balance or a fee; both are differences</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32 / 62</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Outputs: concepts (2 of 3)</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329538"/>
          </a:xfrm>
          <a:prstGeom prst="roundRect">
            <a:avLst>
              <a:gd name="adj" fmla="val 5502"/>
            </a:avLst>
          </a:prstGeom>
          <a:solidFill>
            <a:srgbClr val="F2ECE1"/>
          </a:solidFill>
          <a:ln w="12700">
            <a:solidFill>
              <a:srgbClr val="DFD6C7"/>
            </a:solidFill>
            <a:prstDash val="solid"/>
          </a:ln>
        </p:spPr>
      </p:sp>
      <p:sp>
        <p:nvSpPr>
          <p:cNvPr id="7" name="Shape 5"/>
          <p:cNvSpPr/>
          <p:nvPr/>
        </p:nvSpPr>
        <p:spPr>
          <a:xfrm>
            <a:off x="475488" y="1408176"/>
            <a:ext cx="64008" cy="107350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Uneconomical output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Worth less than the fee to spend it.</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coin so small the postage costs more than the coin.</a:t>
            </a:r>
            <a:endParaRPr lang="en-US" sz="1150" dirty="0"/>
          </a:p>
        </p:txBody>
      </p:sp>
      <p:sp>
        <p:nvSpPr>
          <p:cNvPr id="10" name="Text 8"/>
          <p:cNvSpPr txBox="1"/>
          <p:nvPr/>
        </p:nvSpPr>
        <p:spPr>
          <a:xfrm>
            <a:off x="640080" y="2217420"/>
            <a:ext cx="3767328" cy="346558"/>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Uneconomical outputs and disallowed dust</a:t>
            </a:r>
            <a:endParaRPr lang="en-US" sz="1000" dirty="0"/>
          </a:p>
        </p:txBody>
      </p:sp>
      <p:sp>
        <p:nvSpPr>
          <p:cNvPr id="11" name="Shape 9"/>
          <p:cNvSpPr/>
          <p:nvPr/>
        </p:nvSpPr>
        <p:spPr>
          <a:xfrm>
            <a:off x="4645152" y="1280160"/>
            <a:ext cx="4041648" cy="1329538"/>
          </a:xfrm>
          <a:prstGeom prst="roundRect">
            <a:avLst>
              <a:gd name="adj" fmla="val 5502"/>
            </a:avLst>
          </a:prstGeom>
          <a:solidFill>
            <a:srgbClr val="F2ECE1"/>
          </a:solidFill>
          <a:ln w="12700">
            <a:solidFill>
              <a:srgbClr val="DFD6C7"/>
            </a:solidFill>
            <a:prstDash val="solid"/>
          </a:ln>
        </p:spPr>
      </p:sp>
      <p:sp>
        <p:nvSpPr>
          <p:cNvPr id="12" name="Shape 10"/>
          <p:cNvSpPr/>
          <p:nvPr/>
        </p:nvSpPr>
        <p:spPr>
          <a:xfrm>
            <a:off x="4663440" y="1408176"/>
            <a:ext cx="64008" cy="1073506"/>
          </a:xfrm>
          <a:prstGeom prst="rect">
            <a:avLst/>
          </a:prstGeom>
          <a:solidFill>
            <a:srgbClr val="D97A14"/>
          </a:solidFill>
          <a:ln w="12700">
            <a:solidFill>
              <a:srgbClr val="D97A14"/>
            </a:solidFill>
            <a:prstDash val="solid"/>
          </a:ln>
        </p:spPr>
      </p:sp>
      <p:sp>
        <p:nvSpPr>
          <p:cNvPr id="13" name="Text 11"/>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Dust limit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546 satoshis, from 182 bytes at 3,000 sat/kvB.</a:t>
            </a:r>
            <a:endParaRPr lang="en-US" sz="1300" dirty="0"/>
          </a:p>
        </p:txBody>
      </p:sp>
      <p:sp>
        <p:nvSpPr>
          <p:cNvPr id="14" name="Text 12"/>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smallest coin the post office agrees to carry.</a:t>
            </a:r>
            <a:endParaRPr lang="en-US" sz="1150" dirty="0"/>
          </a:p>
        </p:txBody>
      </p:sp>
      <p:sp>
        <p:nvSpPr>
          <p:cNvPr id="15" name="Shape 13"/>
          <p:cNvSpPr/>
          <p:nvPr/>
        </p:nvSpPr>
        <p:spPr>
          <a:xfrm>
            <a:off x="457200" y="2737714"/>
            <a:ext cx="4041648" cy="1329538"/>
          </a:xfrm>
          <a:prstGeom prst="roundRect">
            <a:avLst>
              <a:gd name="adj" fmla="val 5502"/>
            </a:avLst>
          </a:prstGeom>
          <a:solidFill>
            <a:srgbClr val="F2ECE1"/>
          </a:solidFill>
          <a:ln w="12700">
            <a:solidFill>
              <a:srgbClr val="DFD6C7"/>
            </a:solidFill>
            <a:prstDash val="solid"/>
          </a:ln>
        </p:spPr>
      </p:sp>
      <p:sp>
        <p:nvSpPr>
          <p:cNvPr id="16" name="Shape 14"/>
          <p:cNvSpPr/>
          <p:nvPr/>
        </p:nvSpPr>
        <p:spPr>
          <a:xfrm>
            <a:off x="475488" y="2865730"/>
            <a:ext cx="64008" cy="1073506"/>
          </a:xfrm>
          <a:prstGeom prst="rect">
            <a:avLst/>
          </a:prstGeom>
          <a:solidFill>
            <a:srgbClr val="D97A14"/>
          </a:solidFill>
          <a:ln w="12700">
            <a:solidFill>
              <a:srgbClr val="D97A14"/>
            </a:solidFill>
            <a:prstDash val="solid"/>
          </a:ln>
        </p:spPr>
      </p:sp>
      <p:sp>
        <p:nvSpPr>
          <p:cNvPr id="17" name="Text 15"/>
          <p:cNvSpPr txBox="1"/>
          <p:nvPr/>
        </p:nvSpPr>
        <p:spPr>
          <a:xfrm>
            <a:off x="640080" y="280172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Data-carrier output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OP_RETURN: unspendable, so not dust.</a:t>
            </a:r>
            <a:endParaRPr lang="en-US" sz="1300" dirty="0"/>
          </a:p>
        </p:txBody>
      </p:sp>
      <p:sp>
        <p:nvSpPr>
          <p:cNvPr id="18" name="Text 16"/>
          <p:cNvSpPr txBox="1"/>
          <p:nvPr/>
        </p:nvSpPr>
        <p:spPr>
          <a:xfrm>
            <a:off x="640080" y="326349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note stuck on a parcel, carrying no money.</a:t>
            </a:r>
            <a:endParaRPr lang="en-US" sz="1150" dirty="0"/>
          </a:p>
        </p:txBody>
      </p:sp>
      <p:sp>
        <p:nvSpPr>
          <p:cNvPr id="19" name="Shape 17"/>
          <p:cNvSpPr/>
          <p:nvPr/>
        </p:nvSpPr>
        <p:spPr>
          <a:xfrm>
            <a:off x="4645152" y="2737714"/>
            <a:ext cx="4041648" cy="1329538"/>
          </a:xfrm>
          <a:prstGeom prst="roundRect">
            <a:avLst>
              <a:gd name="adj" fmla="val 5502"/>
            </a:avLst>
          </a:prstGeom>
          <a:solidFill>
            <a:srgbClr val="F2ECE1"/>
          </a:solidFill>
          <a:ln w="12700">
            <a:solidFill>
              <a:srgbClr val="DFD6C7"/>
            </a:solidFill>
            <a:prstDash val="solid"/>
          </a:ln>
        </p:spPr>
      </p:sp>
      <p:sp>
        <p:nvSpPr>
          <p:cNvPr id="20" name="Shape 18"/>
          <p:cNvSpPr/>
          <p:nvPr/>
        </p:nvSpPr>
        <p:spPr>
          <a:xfrm>
            <a:off x="4663440" y="2865730"/>
            <a:ext cx="64008" cy="1073506"/>
          </a:xfrm>
          <a:prstGeom prst="rect">
            <a:avLst/>
          </a:prstGeom>
          <a:solidFill>
            <a:srgbClr val="D97A14"/>
          </a:solidFill>
          <a:ln w="12700">
            <a:solidFill>
              <a:srgbClr val="D97A14"/>
            </a:solidFill>
            <a:prstDash val="solid"/>
          </a:ln>
        </p:spPr>
      </p:sp>
      <p:sp>
        <p:nvSpPr>
          <p:cNvPr id="21" name="Text 19"/>
          <p:cNvSpPr txBox="1"/>
          <p:nvPr/>
        </p:nvSpPr>
        <p:spPr>
          <a:xfrm>
            <a:off x="4828032" y="280172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Output script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34 bytes to Bob, 22 bytes of change.</a:t>
            </a:r>
            <a:endParaRPr lang="en-US" sz="1300" dirty="0"/>
          </a:p>
        </p:txBody>
      </p:sp>
      <p:sp>
        <p:nvSpPr>
          <p:cNvPr id="22" name="Text 20"/>
          <p:cNvSpPr txBox="1"/>
          <p:nvPr/>
        </p:nvSpPr>
        <p:spPr>
          <a:xfrm>
            <a:off x="4828032" y="326349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lock fitted to the coin: whoever opens it may spend.</a:t>
            </a:r>
            <a:endParaRPr lang="en-US" sz="115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33 / 62</a:t>
            </a:r>
            <a:endParaRPr lang="en-US" sz="11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2010 overflow,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How two huge outputs added up to a negative number</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out = </a:t>
            </a:r>
            <a:r>
              <a:rPr lang="en-US" sz="1000" dirty="0">
                <a:solidFill>
                  <a:srgbClr val="FFD28A"/>
                </a:solidFill>
                <a:latin typeface="Courier New" pitchFamily="34" charset="0"/>
                <a:ea typeface="Courier New" pitchFamily="34" charset="-122"/>
                <a:cs typeface="Courier New" pitchFamily="34" charset="-120"/>
              </a:rPr>
              <a:t>9223372036854277039</a:t>
            </a:r>
            <a:endParaRPr lang="en-US" sz="1000" dirty="0"/>
          </a:p>
        </p:txBody>
      </p:sp>
      <p:sp>
        <p:nvSpPr>
          <p:cNvPr id="8" name="Shape 6"/>
          <p:cNvSpPr/>
          <p:nvPr/>
        </p:nvSpPr>
        <p:spPr>
          <a:xfrm>
            <a:off x="457200" y="1957730"/>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03088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wrapped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 * out) &amp; 0xffffffffffffffff</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total = wrapped -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64</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if</a:t>
            </a:r>
            <a:r>
              <a:rPr lang="en-US" sz="1000" dirty="0">
                <a:solidFill>
                  <a:srgbClr val="E6EDF3"/>
                </a:solidFill>
                <a:latin typeface="Courier New" pitchFamily="34" charset="0"/>
                <a:ea typeface="Courier New" pitchFamily="34" charset="-122"/>
                <a:cs typeface="Courier New" pitchFamily="34" charset="-120"/>
              </a:rPr>
              <a:t> wrapped &gt;= </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r>
              <a:rPr lang="en-US" sz="1000" dirty="0">
                <a:solidFill>
                  <a:srgbClr val="FFD28A"/>
                </a:solidFill>
                <a:latin typeface="Courier New" pitchFamily="34" charset="0"/>
                <a:ea typeface="Courier New" pitchFamily="34" charset="-122"/>
                <a:cs typeface="Courier New" pitchFamily="34" charset="-120"/>
              </a:rPr>
              <a:t>63</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else</a:t>
            </a:r>
            <a:r>
              <a:rPr lang="en-US" sz="1000" dirty="0">
                <a:solidFill>
                  <a:srgbClr val="E6EDF3"/>
                </a:solidFill>
                <a:latin typeface="Courier New" pitchFamily="34" charset="0"/>
                <a:ea typeface="Courier New" pitchFamily="34" charset="-122"/>
                <a:cs typeface="Courier New" pitchFamily="34" charset="-120"/>
              </a:rPr>
              <a:t> wrapped</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naive_ok = total &lt;= MAX_MONEY</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fixed_ok = money_range(out)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(naive_ok, fixed_ok)</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False)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Each of the two outputs of block 74,638 held this many satoshis.</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Added as 64-bit signed integers, two such amounts wrap to a negative number.</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check on the total passed; a check on each output refuses the block.</a:t>
            </a:r>
            <a:endParaRPr lang="en-US" sz="1050" dirty="0"/>
          </a:p>
        </p:txBody>
      </p:sp>
      <p:sp>
        <p:nvSpPr>
          <p:cNvPr id="21" name="Text 19"/>
          <p:cNvSpPr txBox="1"/>
          <p:nvPr/>
        </p:nvSpPr>
        <p:spPr>
          <a:xfrm>
            <a:off x="457200" y="417332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ALICE, PREV, FIRST and tx as set up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the arithmetic of block 74,638</a:t>
            </a:r>
            <a:endParaRPr lang="en-US" sz="11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600200"/>
                <a:gridCol w="137160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Check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Two outputs added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-997,538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Old test: total in range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True: accepted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New test: each in range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False: refused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 negative total is below the limit, so only the per-output check catches it.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Check each amount and the total: one check on the total was not enough</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34 / 62</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block that created 184 billion bitcoins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bug that created money out of thin air</a:t>
            </a:r>
            <a:endParaRPr lang="en-US" sz="1300" dirty="0"/>
          </a:p>
        </p:txBody>
      </p:sp>
      <p:pic>
        <p:nvPicPr>
          <p:cNvPr id="6" name="Image 0" descr="../../03-materials/ch06/assets/photo_satoshi_bust_budapest.jpg">    </p:cNvPr>
          <p:cNvPicPr>
            <a:picLocks noChangeAspect="1"/>
          </p:cNvPicPr>
          <p:nvPr/>
        </p:nvPicPr>
        <p:blipFill>
          <a:blip r:embed="rId1"/>
          <a:srcRect l="0" r="0" t="0" b="0"/>
          <a:stretch/>
        </p:blipFill>
        <p:spPr>
          <a:xfrm>
            <a:off x="457200" y="1280160"/>
            <a:ext cx="2377440" cy="2331720"/>
          </a:xfrm>
          <a:prstGeom prst="rect">
            <a:avLst/>
          </a:prstGeom>
        </p:spPr>
      </p:pic>
      <p:sp>
        <p:nvSpPr>
          <p:cNvPr id="7" name="Text 4"/>
          <p:cNvSpPr txBox="1"/>
          <p:nvPr/>
        </p:nvSpPr>
        <p:spPr>
          <a:xfrm>
            <a:off x="457200" y="3630168"/>
            <a:ext cx="23774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Satoshi bust, Budapest - Fekist, CC BY-SA 4.0</a:t>
            </a:r>
            <a:endParaRPr lang="en-US" sz="900" dirty="0"/>
          </a:p>
        </p:txBody>
      </p:sp>
      <p:sp>
        <p:nvSpPr>
          <p:cNvPr id="8" name="Shape 5"/>
          <p:cNvSpPr/>
          <p:nvPr/>
        </p:nvSpPr>
        <p:spPr>
          <a:xfrm>
            <a:off x="310896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3383280" y="128016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Block 74,638 held a transaction with two outputs of 92 billion bitcoins each, 184 billion in all.</a:t>
            </a:r>
            <a:endParaRPr lang="en-US" sz="1150" dirty="0"/>
          </a:p>
        </p:txBody>
      </p:sp>
      <p:sp>
        <p:nvSpPr>
          <p:cNvPr id="10" name="Shape 7"/>
          <p:cNvSpPr/>
          <p:nvPr/>
        </p:nvSpPr>
        <p:spPr>
          <a:xfrm>
            <a:off x="310896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383280" y="189738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Added as 64-bit integers the amounts wrapped to a small negative number, which passed the check.</a:t>
            </a:r>
            <a:endParaRPr lang="en-US" sz="1150" dirty="0"/>
          </a:p>
        </p:txBody>
      </p:sp>
      <p:sp>
        <p:nvSpPr>
          <p:cNvPr id="12" name="Shape 9"/>
          <p:cNvSpPr/>
          <p:nvPr/>
        </p:nvSpPr>
        <p:spPr>
          <a:xfrm>
            <a:off x="310896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383280" y="251460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Jeff Garzik reported it within two hours; Satoshi patched it in about five; the chain recovered at block 74,691.</a:t>
            </a:r>
            <a:endParaRPr lang="en-US" sz="1150" dirty="0"/>
          </a:p>
        </p:txBody>
      </p:sp>
      <p:sp>
        <p:nvSpPr>
          <p:cNvPr id="14" name="Shape 11"/>
          <p:cNvSpPr/>
          <p:nvPr/>
        </p:nvSpPr>
        <p:spPr>
          <a:xfrm>
            <a:off x="310896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383280" y="313182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Bitcoin Core still cites the bug, CVE-2010-5139, in tx_check.cpp.</a:t>
            </a:r>
            <a:endParaRPr lang="en-US" sz="1150" dirty="0"/>
          </a:p>
        </p:txBody>
      </p:sp>
      <p:sp>
        <p:nvSpPr>
          <p:cNvPr id="16" name="Shape 13"/>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an unknown attacker; Jef…</a:t>
            </a:r>
            <a:endParaRPr lang="en-US" sz="750" dirty="0"/>
          </a:p>
        </p:txBody>
      </p:sp>
      <p:sp>
        <p:nvSpPr>
          <p:cNvPr id="18" name="Shape 15"/>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block 74,638 - and the…</a:t>
            </a:r>
            <a:endParaRPr lang="en-US" sz="750" dirty="0"/>
          </a:p>
        </p:txBody>
      </p:sp>
      <p:sp>
        <p:nvSpPr>
          <p:cNvPr id="20" name="Shape 17"/>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2010-08-15</a:t>
            </a:r>
            <a:endParaRPr lang="en-US" sz="750" dirty="0"/>
          </a:p>
        </p:txBody>
      </p:sp>
      <p:sp>
        <p:nvSpPr>
          <p:cNvPr id="22" name="Shape 19"/>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Value overflow incident (Bitcoin Wiki)</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en.bitcoin.it</a:t>
            </a:r>
            <a:endParaRPr lang="en-US" sz="7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35 / 62</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Outputs: concepts (3 of 3)</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2645664" cy="1362456"/>
          </a:xfrm>
          <a:prstGeom prst="roundRect">
            <a:avLst>
              <a:gd name="adj" fmla="val 5369"/>
            </a:avLst>
          </a:prstGeom>
          <a:solidFill>
            <a:srgbClr val="F2ECE1"/>
          </a:solidFill>
          <a:ln w="12700">
            <a:solidFill>
              <a:srgbClr val="DFD6C7"/>
            </a:solidFill>
            <a:prstDash val="solid"/>
          </a:ln>
        </p:spPr>
      </p:sp>
      <p:sp>
        <p:nvSpPr>
          <p:cNvPr id="7" name="Shape 5"/>
          <p:cNvSpPr/>
          <p:nvPr/>
        </p:nvSpPr>
        <p:spPr>
          <a:xfrm>
            <a:off x="475488" y="1408176"/>
            <a:ext cx="64008" cy="1106424"/>
          </a:xfrm>
          <a:prstGeom prst="rect">
            <a:avLst/>
          </a:prstGeom>
          <a:solidFill>
            <a:srgbClr val="D97A14"/>
          </a:solidFill>
          <a:ln w="12700">
            <a:solidFill>
              <a:srgbClr val="D97A14"/>
            </a:solidFill>
            <a:prstDash val="solid"/>
          </a:ln>
        </p:spPr>
      </p:sp>
      <p:sp>
        <p:nvSpPr>
          <p:cNvPr id="8" name="Text 6"/>
          <p:cNvSpPr txBox="1"/>
          <p:nvPr/>
        </p:nvSpPr>
        <p:spPr>
          <a:xfrm>
            <a:off x="640080" y="1344168"/>
            <a:ext cx="2371344"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Script size limits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Zero at minimum, 10,000 bytes to spend.</a:t>
            </a:r>
            <a:endParaRPr lang="en-US" sz="1300" dirty="0"/>
          </a:p>
        </p:txBody>
      </p:sp>
      <p:sp>
        <p:nvSpPr>
          <p:cNvPr id="9" name="Text 7"/>
          <p:cNvSpPr txBox="1"/>
          <p:nvPr/>
        </p:nvSpPr>
        <p:spPr>
          <a:xfrm>
            <a:off x="640080" y="1984248"/>
            <a:ext cx="2371344" cy="571500"/>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cap on how long the lock's instructions may be.</a:t>
            </a:r>
            <a:endParaRPr lang="en-US" sz="1150" dirty="0"/>
          </a:p>
        </p:txBody>
      </p:sp>
      <p:sp>
        <p:nvSpPr>
          <p:cNvPr id="10" name="Shape 8"/>
          <p:cNvSpPr/>
          <p:nvPr/>
        </p:nvSpPr>
        <p:spPr>
          <a:xfrm>
            <a:off x="3249168" y="1280160"/>
            <a:ext cx="2645664" cy="1362456"/>
          </a:xfrm>
          <a:prstGeom prst="roundRect">
            <a:avLst>
              <a:gd name="adj" fmla="val 5369"/>
            </a:avLst>
          </a:prstGeom>
          <a:solidFill>
            <a:srgbClr val="F2ECE1"/>
          </a:solidFill>
          <a:ln w="12700">
            <a:solidFill>
              <a:srgbClr val="DFD6C7"/>
            </a:solidFill>
            <a:prstDash val="solid"/>
          </a:ln>
        </p:spPr>
      </p:sp>
      <p:sp>
        <p:nvSpPr>
          <p:cNvPr id="11" name="Shape 9"/>
          <p:cNvSpPr/>
          <p:nvPr/>
        </p:nvSpPr>
        <p:spPr>
          <a:xfrm>
            <a:off x="3267456" y="1408176"/>
            <a:ext cx="64008" cy="1106424"/>
          </a:xfrm>
          <a:prstGeom prst="rect">
            <a:avLst/>
          </a:prstGeom>
          <a:solidFill>
            <a:srgbClr val="D97A14"/>
          </a:solidFill>
          <a:ln w="12700">
            <a:solidFill>
              <a:srgbClr val="D97A14"/>
            </a:solidFill>
            <a:prstDash val="solid"/>
          </a:ln>
        </p:spPr>
      </p:sp>
      <p:sp>
        <p:nvSpPr>
          <p:cNvPr id="12" name="Text 10"/>
          <p:cNvSpPr txBox="1"/>
          <p:nvPr/>
        </p:nvSpPr>
        <p:spPr>
          <a:xfrm>
            <a:off x="3432048" y="1344168"/>
            <a:ext cx="2371344"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Anyone-can-spend scripts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An empty script that OP_TRUE satisfies.</a:t>
            </a:r>
            <a:endParaRPr lang="en-US" sz="1300" dirty="0"/>
          </a:p>
        </p:txBody>
      </p:sp>
      <p:sp>
        <p:nvSpPr>
          <p:cNvPr id="13" name="Text 11"/>
          <p:cNvSpPr txBox="1"/>
          <p:nvPr/>
        </p:nvSpPr>
        <p:spPr>
          <a:xfrm>
            <a:off x="3432048" y="2185416"/>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safe left unlocked in the street.</a:t>
            </a:r>
            <a:endParaRPr lang="en-US" sz="1150" dirty="0"/>
          </a:p>
        </p:txBody>
      </p:sp>
      <p:sp>
        <p:nvSpPr>
          <p:cNvPr id="14" name="Shape 12"/>
          <p:cNvSpPr/>
          <p:nvPr/>
        </p:nvSpPr>
        <p:spPr>
          <a:xfrm>
            <a:off x="6041136" y="1280160"/>
            <a:ext cx="2645664" cy="1362456"/>
          </a:xfrm>
          <a:prstGeom prst="roundRect">
            <a:avLst>
              <a:gd name="adj" fmla="val 5369"/>
            </a:avLst>
          </a:prstGeom>
          <a:solidFill>
            <a:srgbClr val="F2ECE1"/>
          </a:solidFill>
          <a:ln w="12700">
            <a:solidFill>
              <a:srgbClr val="DFD6C7"/>
            </a:solidFill>
            <a:prstDash val="solid"/>
          </a:ln>
        </p:spPr>
      </p:sp>
      <p:sp>
        <p:nvSpPr>
          <p:cNvPr id="15" name="Shape 13"/>
          <p:cNvSpPr/>
          <p:nvPr/>
        </p:nvSpPr>
        <p:spPr>
          <a:xfrm>
            <a:off x="6059424" y="1408176"/>
            <a:ext cx="64008" cy="1106424"/>
          </a:xfrm>
          <a:prstGeom prst="rect">
            <a:avLst/>
          </a:prstGeom>
          <a:solidFill>
            <a:srgbClr val="D97A14"/>
          </a:solidFill>
          <a:ln w="12700">
            <a:solidFill>
              <a:srgbClr val="D97A14"/>
            </a:solidFill>
            <a:prstDash val="solid"/>
          </a:ln>
        </p:spPr>
      </p:sp>
      <p:sp>
        <p:nvSpPr>
          <p:cNvPr id="16" name="Text 14"/>
          <p:cNvSpPr txBox="1"/>
          <p:nvPr/>
        </p:nvSpPr>
        <p:spPr>
          <a:xfrm>
            <a:off x="6224016" y="1344168"/>
            <a:ext cx="2371344" cy="813816"/>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Standard transaction outputs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few templates relay policy allows.</a:t>
            </a:r>
            <a:endParaRPr lang="en-US" sz="1300" dirty="0"/>
          </a:p>
        </p:txBody>
      </p:sp>
      <p:sp>
        <p:nvSpPr>
          <p:cNvPr id="17" name="Text 15"/>
          <p:cNvSpPr txBox="1"/>
          <p:nvPr/>
        </p:nvSpPr>
        <p:spPr>
          <a:xfrm>
            <a:off x="6224016" y="2185416"/>
            <a:ext cx="2371344"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few lock models the post office accepts.</a:t>
            </a:r>
            <a:endParaRPr lang="en-US" sz="115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36 / 62</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Dust limits by output type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smallest output a node will relay</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P2PKH = </a:t>
            </a:r>
            <a:r>
              <a:rPr lang="en-US" sz="1000" dirty="0">
                <a:solidFill>
                  <a:srgbClr val="9ECBFF"/>
                </a:solidFill>
                <a:latin typeface="Courier New" pitchFamily="34" charset="0"/>
                <a:ea typeface="Courier New" pitchFamily="34" charset="-122"/>
                <a:cs typeface="Courier New" pitchFamily="34" charset="-120"/>
              </a:rPr>
              <a:t>'76a914'</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9ECBFF"/>
                </a:solidFill>
                <a:latin typeface="Courier New" pitchFamily="34" charset="0"/>
                <a:ea typeface="Courier New" pitchFamily="34" charset="-122"/>
                <a:cs typeface="Courier New" pitchFamily="34" charset="-120"/>
              </a:rPr>
              <a:t>'00'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20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9ECBFF"/>
                </a:solidFill>
                <a:latin typeface="Courier New" pitchFamily="34" charset="0"/>
                <a:ea typeface="Courier New" pitchFamily="34" charset="-122"/>
                <a:cs typeface="Courier New" pitchFamily="34" charset="-120"/>
              </a:rPr>
              <a:t>'88ac'</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P2WPKH = </a:t>
            </a:r>
            <a:r>
              <a:rPr lang="en-US" sz="1000" dirty="0">
                <a:solidFill>
                  <a:srgbClr val="9ECBFF"/>
                </a:solidFill>
                <a:latin typeface="Courier New" pitchFamily="34" charset="0"/>
                <a:ea typeface="Courier New" pitchFamily="34" charset="-122"/>
                <a:cs typeface="Courier New" pitchFamily="34" charset="-120"/>
              </a:rPr>
              <a:t>'0014'</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9ECBFF"/>
                </a:solidFill>
                <a:latin typeface="Courier New" pitchFamily="34" charset="0"/>
                <a:ea typeface="Courier New" pitchFamily="34" charset="-122"/>
                <a:cs typeface="Courier New" pitchFamily="34" charset="-120"/>
              </a:rPr>
              <a:t>'00'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20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P2TR, RET = </a:t>
            </a:r>
            <a:r>
              <a:rPr lang="en-US" sz="1000" dirty="0">
                <a:solidFill>
                  <a:srgbClr val="9ECBFF"/>
                </a:solidFill>
                <a:latin typeface="Courier New" pitchFamily="34" charset="0"/>
                <a:ea typeface="Courier New" pitchFamily="34" charset="-122"/>
                <a:cs typeface="Courier New" pitchFamily="34" charset="-120"/>
              </a:rPr>
              <a:t>'5120'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9ECBFF"/>
                </a:solidFill>
                <a:latin typeface="Courier New" pitchFamily="34" charset="0"/>
                <a:ea typeface="Courier New" pitchFamily="34" charset="-122"/>
                <a:cs typeface="Courier New" pitchFamily="34" charset="-120"/>
              </a:rPr>
              <a:t>'00'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32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'6a04deadbeef'</a:t>
            </a:r>
            <a:endParaRPr lang="en-US" sz="1000" dirty="0"/>
          </a:p>
        </p:txBody>
      </p:sp>
      <p:sp>
        <p:nvSpPr>
          <p:cNvPr id="8" name="Shape 6"/>
          <p:cNvSpPr/>
          <p:nvPr/>
        </p:nvSpPr>
        <p:spPr>
          <a:xfrm>
            <a:off x="457200" y="2287829"/>
            <a:ext cx="5074920" cy="806501"/>
          </a:xfrm>
          <a:prstGeom prst="roundRect">
            <a:avLst>
              <a:gd name="adj" fmla="val 9070"/>
            </a:avLst>
          </a:prstGeom>
          <a:solidFill>
            <a:srgbClr val="23272E"/>
          </a:solidFill>
          <a:ln w="12700">
            <a:solidFill>
              <a:srgbClr val="23272E"/>
            </a:solidFill>
            <a:prstDash val="solid"/>
          </a:ln>
        </p:spPr>
      </p:sp>
      <p:sp>
        <p:nvSpPr>
          <p:cNvPr id="9" name="Text 7"/>
          <p:cNvSpPr txBox="1"/>
          <p:nvPr/>
        </p:nvSpPr>
        <p:spPr>
          <a:xfrm>
            <a:off x="603504" y="2360981"/>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scripts = (P2PKH, P2WPKH, P2TR, RET)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limits = [dust_threshold(s)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s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scripts]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limits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[546, 294, 330, 0]</a:t>
            </a:r>
            <a:endParaRPr lang="en-US" sz="1000" dirty="0"/>
          </a:p>
        </p:txBody>
      </p:sp>
      <p:sp>
        <p:nvSpPr>
          <p:cNvPr id="10" name="Shape 8"/>
          <p:cNvSpPr/>
          <p:nvPr/>
        </p:nvSpPr>
        <p:spPr>
          <a:xfrm>
            <a:off x="365760" y="1252728"/>
            <a:ext cx="237744" cy="237744"/>
          </a:xfrm>
          <a:prstGeom prst="ellipse">
            <a:avLst/>
          </a:prstGeom>
          <a:solidFill>
            <a:srgbClr val="D97A14"/>
          </a:solidFill>
          <a:ln w="12700">
            <a:solidFill>
              <a:srgbClr val="D97A14"/>
            </a:solidFill>
            <a:prstDash val="solid"/>
          </a:ln>
        </p:spPr>
      </p:sp>
      <p:sp>
        <p:nvSpPr>
          <p:cNvPr id="11" name="Text 9"/>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2" name="Text 10"/>
          <p:cNvSpPr txBox="1"/>
          <p:nvPr/>
        </p:nvSpPr>
        <p:spPr>
          <a:xfrm>
            <a:off x="731520" y="1995221"/>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Four output scripts: three that can be spent and one data carrier.</a:t>
            </a:r>
            <a:endParaRPr lang="en-US" sz="1050" dirty="0"/>
          </a:p>
        </p:txBody>
      </p:sp>
      <p:sp>
        <p:nvSpPr>
          <p:cNvPr id="13" name="Shape 11"/>
          <p:cNvSpPr/>
          <p:nvPr/>
        </p:nvSpPr>
        <p:spPr>
          <a:xfrm>
            <a:off x="365760" y="2214677"/>
            <a:ext cx="237744" cy="237744"/>
          </a:xfrm>
          <a:prstGeom prst="ellipse">
            <a:avLst/>
          </a:prstGeom>
          <a:solidFill>
            <a:srgbClr val="D97A14"/>
          </a:solidFill>
          <a:ln w="12700">
            <a:solidFill>
              <a:srgbClr val="D97A14"/>
            </a:solidFill>
            <a:prstDash val="solid"/>
          </a:ln>
        </p:spPr>
      </p:sp>
      <p:sp>
        <p:nvSpPr>
          <p:cNvPr id="14" name="Text 12"/>
          <p:cNvSpPr txBox="1"/>
          <p:nvPr/>
        </p:nvSpPr>
        <p:spPr>
          <a:xfrm>
            <a:off x="365760" y="2214677"/>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5" name="Text 13"/>
          <p:cNvSpPr txBox="1"/>
          <p:nvPr/>
        </p:nvSpPr>
        <p:spPr>
          <a:xfrm>
            <a:off x="731520" y="312176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limit is the cost of creating plus spending an output, at the relay fee.</a:t>
            </a:r>
            <a:endParaRPr lang="en-US" sz="1050" dirty="0"/>
          </a:p>
        </p:txBody>
      </p:sp>
      <p:sp>
        <p:nvSpPr>
          <p:cNvPr id="16" name="Text 14"/>
          <p:cNvSpPr txBox="1"/>
          <p:nvPr/>
        </p:nvSpPr>
        <p:spPr>
          <a:xfrm>
            <a:off x="457200" y="354238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ALICE, PREV, FIRST and tx as set up on slide 7</a:t>
            </a:r>
            <a:endParaRPr lang="en-US" sz="900" dirty="0"/>
          </a:p>
        </p:txBody>
      </p:sp>
      <p:sp>
        <p:nvSpPr>
          <p:cNvPr id="17" name="Text 15"/>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dust limit in satoshis, at 3,000 sat/kvB</a:t>
            </a:r>
            <a:endParaRPr lang="en-US" sz="1100" dirty="0"/>
          </a:p>
        </p:txBody>
      </p:sp>
      <p:graphicFrame>
        <p:nvGraphicFramePr>
          <p:cNvPr id="18"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19" name="Text 16"/>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An output below its limit is not relayed. OP_RETURN outputs cannot be spent, so their limit is zero.</a:t>
            </a:r>
            <a:endParaRPr lang="en-US" sz="1150" dirty="0"/>
          </a:p>
        </p:txBody>
      </p:sp>
      <p:sp>
        <p:nvSpPr>
          <p:cNvPr id="20" name="Shape 17"/>
          <p:cNvSpPr/>
          <p:nvPr/>
        </p:nvSpPr>
        <p:spPr>
          <a:xfrm>
            <a:off x="457200" y="4636008"/>
            <a:ext cx="91440" cy="310896"/>
          </a:xfrm>
          <a:prstGeom prst="rect">
            <a:avLst/>
          </a:prstGeom>
          <a:solidFill>
            <a:srgbClr val="D97A14"/>
          </a:solidFill>
          <a:ln w="12700">
            <a:solidFill>
              <a:srgbClr val="D97A14"/>
            </a:solidFill>
            <a:prstDash val="solid"/>
          </a:ln>
        </p:spPr>
      </p:sp>
      <p:sp>
        <p:nvSpPr>
          <p:cNvPr id="21" name="Text 1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Dust is a policy about who pays for the UTXO set: everyone, for ever</a:t>
            </a:r>
            <a:endParaRPr lang="en-US" sz="1350" dirty="0"/>
          </a:p>
        </p:txBody>
      </p:sp>
      <p:sp>
        <p:nvSpPr>
          <p:cNvPr id="22" name="Text 1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37 / 62</a:t>
            </a:r>
            <a:endParaRPr lang="en-US" sz="11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Witnesses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witness is the ID you show at the counter, kept off the receipt.</a:t>
            </a:r>
            <a:endParaRPr lang="en-US" sz="1500" dirty="0"/>
          </a:p>
        </p:txBody>
      </p:sp>
      <p:sp>
        <p:nvSpPr>
          <p:cNvPr id="6" name="Shape 4"/>
          <p:cNvSpPr/>
          <p:nvPr/>
        </p:nvSpPr>
        <p:spPr>
          <a:xfrm>
            <a:off x="777240" y="2103120"/>
            <a:ext cx="182880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Idea of a witness</a:t>
            </a:r>
            <a:endParaRPr lang="en-US" sz="1100" dirty="0"/>
          </a:p>
        </p:txBody>
      </p:sp>
      <p:sp>
        <p:nvSpPr>
          <p:cNvPr id="8" name="Text 6"/>
          <p:cNvSpPr txBox="1"/>
          <p:nvPr/>
        </p:nvSpPr>
        <p:spPr>
          <a:xfrm>
            <a:off x="77724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Evidence that the spender may spend, kept apart.</a:t>
            </a:r>
            <a:endParaRPr lang="en-US" sz="1100" dirty="0"/>
          </a:p>
        </p:txBody>
      </p:sp>
      <p:sp>
        <p:nvSpPr>
          <p:cNvPr id="9" name="Text 7"/>
          <p:cNvSpPr txBox="1"/>
          <p:nvPr/>
        </p:nvSpPr>
        <p:spPr>
          <a:xfrm>
            <a:off x="777240" y="3062326"/>
            <a:ext cx="1828800" cy="377647"/>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the ID card you show at the counter.</a:t>
            </a:r>
            <a:endParaRPr lang="en-US" sz="1100" dirty="0"/>
          </a:p>
        </p:txBody>
      </p:sp>
      <p:sp>
        <p:nvSpPr>
          <p:cNvPr id="10" name="Shape 8"/>
          <p:cNvSpPr/>
          <p:nvPr/>
        </p:nvSpPr>
        <p:spPr>
          <a:xfrm>
            <a:off x="2788920" y="2103120"/>
            <a:ext cx="182880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286207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Malleability</a:t>
            </a:r>
            <a:endParaRPr lang="en-US" sz="1100" dirty="0"/>
          </a:p>
        </p:txBody>
      </p:sp>
      <p:sp>
        <p:nvSpPr>
          <p:cNvPr id="12" name="Text 10"/>
          <p:cNvSpPr txBox="1"/>
          <p:nvPr/>
        </p:nvSpPr>
        <p:spPr>
          <a:xfrm>
            <a:off x="278892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Changing a transaction's identifier without changing what it pays.</a:t>
            </a:r>
            <a:endParaRPr lang="en-US" sz="1100" dirty="0"/>
          </a:p>
        </p:txBody>
      </p:sp>
      <p:sp>
        <p:nvSpPr>
          <p:cNvPr id="13" name="Text 11"/>
          <p:cNvSpPr txBox="1"/>
          <p:nvPr/>
        </p:nvSpPr>
        <p:spPr>
          <a:xfrm>
            <a:off x="278892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re-spelling a name so the filing clerk loses the receipt.</a:t>
            </a:r>
            <a:endParaRPr lang="en-US" sz="1100" dirty="0"/>
          </a:p>
        </p:txBody>
      </p:sp>
      <p:sp>
        <p:nvSpPr>
          <p:cNvPr id="14" name="Shape 12"/>
          <p:cNvSpPr/>
          <p:nvPr/>
        </p:nvSpPr>
        <p:spPr>
          <a:xfrm>
            <a:off x="4800600" y="2103120"/>
            <a:ext cx="1828800" cy="310896"/>
          </a:xfrm>
          <a:prstGeom prst="roundRect">
            <a:avLst>
              <a:gd name="adj" fmla="val 50000"/>
            </a:avLst>
          </a:prstGeom>
          <a:solidFill>
            <a:srgbClr val="D97A14"/>
          </a:solidFill>
          <a:ln w="12700">
            <a:solidFill>
              <a:srgbClr val="D97A14"/>
            </a:solidFill>
            <a:prstDash val="solid"/>
          </a:ln>
        </p:spPr>
      </p:sp>
      <p:sp>
        <p:nvSpPr>
          <p:cNvPr id="15" name="Text 13"/>
          <p:cNvSpPr txBox="1"/>
          <p:nvPr/>
        </p:nvSpPr>
        <p:spPr>
          <a:xfrm>
            <a:off x="487375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Segwit</a:t>
            </a:r>
            <a:endParaRPr lang="en-US" sz="1100" dirty="0"/>
          </a:p>
        </p:txBody>
      </p:sp>
      <p:sp>
        <p:nvSpPr>
          <p:cNvPr id="16" name="Text 14"/>
          <p:cNvSpPr txBox="1"/>
          <p:nvPr/>
        </p:nvSpPr>
        <p:spPr>
          <a:xfrm>
            <a:off x="480060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The upgrade that moved the proof out of the identifier.</a:t>
            </a:r>
            <a:endParaRPr lang="en-US" sz="1100" dirty="0"/>
          </a:p>
        </p:txBody>
      </p:sp>
      <p:sp>
        <p:nvSpPr>
          <p:cNvPr id="17" name="Text 15"/>
          <p:cNvSpPr txBox="1"/>
          <p:nvPr/>
        </p:nvSpPr>
        <p:spPr>
          <a:xfrm>
            <a:off x="480060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keeping the passport photo off the ticket number.</a:t>
            </a:r>
            <a:endParaRPr lang="en-US" sz="1100" dirty="0"/>
          </a:p>
        </p:txBody>
      </p:sp>
      <p:sp>
        <p:nvSpPr>
          <p:cNvPr id="18" name="Shape 16"/>
          <p:cNvSpPr/>
          <p:nvPr/>
        </p:nvSpPr>
        <p:spPr>
          <a:xfrm>
            <a:off x="6812280" y="2103120"/>
            <a:ext cx="1828800" cy="310896"/>
          </a:xfrm>
          <a:prstGeom prst="roundRect">
            <a:avLst>
              <a:gd name="adj" fmla="val 50000"/>
            </a:avLst>
          </a:prstGeom>
          <a:solidFill>
            <a:srgbClr val="D97A14"/>
          </a:solidFill>
          <a:ln w="12700">
            <a:solidFill>
              <a:srgbClr val="D97A14"/>
            </a:solidFill>
            <a:prstDash val="solid"/>
          </a:ln>
        </p:spPr>
      </p:sp>
      <p:sp>
        <p:nvSpPr>
          <p:cNvPr id="19" name="Text 17"/>
          <p:cNvSpPr txBox="1"/>
          <p:nvPr/>
        </p:nvSpPr>
        <p:spPr>
          <a:xfrm>
            <a:off x="6885432" y="2103120"/>
            <a:ext cx="16824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Witness layout</a:t>
            </a:r>
            <a:endParaRPr lang="en-US" sz="1100" dirty="0"/>
          </a:p>
        </p:txBody>
      </p:sp>
      <p:sp>
        <p:nvSpPr>
          <p:cNvPr id="20" name="Text 18"/>
          <p:cNvSpPr txBox="1"/>
          <p:nvPr/>
        </p:nvSpPr>
        <p:spPr>
          <a:xfrm>
            <a:off x="6812280" y="2487168"/>
            <a:ext cx="1828800" cy="547726"/>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How the separate proofs are written after the main fields.</a:t>
            </a:r>
            <a:endParaRPr lang="en-US" sz="1100" dirty="0"/>
          </a:p>
        </p:txBody>
      </p:sp>
      <p:sp>
        <p:nvSpPr>
          <p:cNvPr id="21" name="Text 19"/>
          <p:cNvSpPr txBox="1"/>
          <p:nvPr/>
        </p:nvSpPr>
        <p:spPr>
          <a:xfrm>
            <a:off x="6812280" y="3062326"/>
            <a:ext cx="1828800" cy="547726"/>
          </a:xfrm>
          <a:prstGeom prst="rect">
            <a:avLst/>
          </a:prstGeom>
          <a:noFill/>
          <a:ln/>
        </p:spPr>
        <p:txBody>
          <a:bodyPr wrap="square" lIns="0" tIns="0" rIns="0" bIns="0" rtlCol="0" anchor="t"/>
          <a:lstStyle/>
          <a:p>
            <a:pPr indent="0" marL="0">
              <a:buNone/>
            </a:pPr>
            <a:r>
              <a:rPr lang="en-US" sz="1100" i="1" dirty="0">
                <a:solidFill>
                  <a:srgbClr val="2F6D62"/>
                </a:solidFill>
                <a:latin typeface="Calibri" pitchFamily="34" charset="0"/>
                <a:ea typeface="Calibri" pitchFamily="34" charset="-122"/>
                <a:cs typeface="Calibri" pitchFamily="34" charset="-120"/>
              </a:rPr>
              <a:t>Think of annex pages bound behind the main letter.</a:t>
            </a:r>
            <a:endParaRPr lang="en-US" sz="11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914400"/>
                <a:gridCol w="822960"/>
                <a:gridCol w="1737360"/>
                <a:gridCol w="1737360"/>
                <a:gridCol w="1737360"/>
                <a:gridCol w="914400"/>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Version</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Marker Flag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Inputs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Outputs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Witnesses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Lock 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r>
            </a:tbl>
          </a:graphicData>
        </a:graphic>
      </p:graphicFrame>
      <p:sp>
        <p:nvSpPr>
          <p:cNvPr id="23" name="Text 2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38 / 62</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Witnesses: concepts (1 of 4)</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74090"/>
          </a:xfrm>
          <a:prstGeom prst="roundRect">
            <a:avLst>
              <a:gd name="adj" fmla="val 6231"/>
            </a:avLst>
          </a:prstGeom>
          <a:solidFill>
            <a:srgbClr val="F2ECE1"/>
          </a:solidFill>
          <a:ln w="12700">
            <a:solidFill>
              <a:srgbClr val="DFD6C7"/>
            </a:solidFill>
            <a:prstDash val="solid"/>
          </a:ln>
        </p:spPr>
      </p:sp>
      <p:sp>
        <p:nvSpPr>
          <p:cNvPr id="7" name="Shape 5"/>
          <p:cNvSpPr/>
          <p:nvPr/>
        </p:nvSpPr>
        <p:spPr>
          <a:xfrm>
            <a:off x="475488" y="1408176"/>
            <a:ext cx="64008" cy="91805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Witness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value 2 solves 2 OP_ADD 4 OP_EQUAL.</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answer to the riddle printed on the lock.</a:t>
            </a:r>
            <a:endParaRPr lang="en-US" sz="1150" dirty="0"/>
          </a:p>
        </p:txBody>
      </p:sp>
      <p:sp>
        <p:nvSpPr>
          <p:cNvPr id="10" name="Shape 8"/>
          <p:cNvSpPr/>
          <p:nvPr/>
        </p:nvSpPr>
        <p:spPr>
          <a:xfrm>
            <a:off x="4645152" y="1280160"/>
            <a:ext cx="4041648" cy="1174090"/>
          </a:xfrm>
          <a:prstGeom prst="roundRect">
            <a:avLst>
              <a:gd name="adj" fmla="val 6231"/>
            </a:avLst>
          </a:prstGeom>
          <a:solidFill>
            <a:srgbClr val="F2ECE1"/>
          </a:solidFill>
          <a:ln w="12700">
            <a:solidFill>
              <a:srgbClr val="DFD6C7"/>
            </a:solidFill>
            <a:prstDash val="solid"/>
          </a:ln>
        </p:spPr>
      </p:sp>
      <p:sp>
        <p:nvSpPr>
          <p:cNvPr id="11" name="Shape 9"/>
          <p:cNvSpPr/>
          <p:nvPr/>
        </p:nvSpPr>
        <p:spPr>
          <a:xfrm>
            <a:off x="4663440" y="1408176"/>
            <a:ext cx="64008" cy="91805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Public key and signature as witness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problem only the key holder can solve.</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signature only the account holder can produce.</a:t>
            </a:r>
            <a:endParaRPr lang="en-US" sz="1150" dirty="0"/>
          </a:p>
        </p:txBody>
      </p:sp>
      <p:sp>
        <p:nvSpPr>
          <p:cNvPr id="14" name="Shape 12"/>
          <p:cNvSpPr/>
          <p:nvPr/>
        </p:nvSpPr>
        <p:spPr>
          <a:xfrm>
            <a:off x="457200" y="2582266"/>
            <a:ext cx="4041648" cy="1174090"/>
          </a:xfrm>
          <a:prstGeom prst="roundRect">
            <a:avLst>
              <a:gd name="adj" fmla="val 6231"/>
            </a:avLst>
          </a:prstGeom>
          <a:solidFill>
            <a:srgbClr val="F2ECE1"/>
          </a:solidFill>
          <a:ln w="12700">
            <a:solidFill>
              <a:srgbClr val="DFD6C7"/>
            </a:solidFill>
            <a:prstDash val="solid"/>
          </a:ln>
        </p:spPr>
      </p:sp>
      <p:sp>
        <p:nvSpPr>
          <p:cNvPr id="15" name="Shape 13"/>
          <p:cNvSpPr/>
          <p:nvPr/>
        </p:nvSpPr>
        <p:spPr>
          <a:xfrm>
            <a:off x="475488" y="2710282"/>
            <a:ext cx="64008" cy="918058"/>
          </a:xfrm>
          <a:prstGeom prst="rect">
            <a:avLst/>
          </a:prstGeom>
          <a:solidFill>
            <a:srgbClr val="D97A14"/>
          </a:solidFill>
          <a:ln w="12700">
            <a:solidFill>
              <a:srgbClr val="D97A14"/>
            </a:solidFill>
            <a:prstDash val="solid"/>
          </a:ln>
        </p:spPr>
      </p:sp>
      <p:sp>
        <p:nvSpPr>
          <p:cNvPr id="16" name="Text 14"/>
          <p:cNvSpPr txBox="1"/>
          <p:nvPr/>
        </p:nvSpPr>
        <p:spPr>
          <a:xfrm>
            <a:off x="640080"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Contract protocols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Transactions signed out of order.</a:t>
            </a:r>
            <a:endParaRPr lang="en-US" sz="1300" dirty="0"/>
          </a:p>
        </p:txBody>
      </p:sp>
      <p:sp>
        <p:nvSpPr>
          <p:cNvPr id="17" name="Text 15"/>
          <p:cNvSpPr txBox="1"/>
          <p:nvPr/>
        </p:nvSpPr>
        <p:spPr>
          <a:xfrm>
            <a:off x="640080" y="310804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agreements signed in advance so nobody can walk away.</a:t>
            </a:r>
            <a:endParaRPr lang="en-US" sz="1150" dirty="0"/>
          </a:p>
        </p:txBody>
      </p:sp>
      <p:sp>
        <p:nvSpPr>
          <p:cNvPr id="18" name="Text 16"/>
          <p:cNvSpPr txBox="1"/>
          <p:nvPr/>
        </p:nvSpPr>
        <p:spPr>
          <a:xfrm>
            <a:off x="640080" y="3519526"/>
            <a:ext cx="3767328" cy="191110"/>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trustless protocol</a:t>
            </a:r>
            <a:endParaRPr lang="en-US" sz="1000" dirty="0"/>
          </a:p>
        </p:txBody>
      </p:sp>
      <p:sp>
        <p:nvSpPr>
          <p:cNvPr id="19" name="Shape 17"/>
          <p:cNvSpPr/>
          <p:nvPr/>
        </p:nvSpPr>
        <p:spPr>
          <a:xfrm>
            <a:off x="4645152" y="2582266"/>
            <a:ext cx="4041648" cy="1174090"/>
          </a:xfrm>
          <a:prstGeom prst="roundRect">
            <a:avLst>
              <a:gd name="adj" fmla="val 6231"/>
            </a:avLst>
          </a:prstGeom>
          <a:solidFill>
            <a:srgbClr val="F2ECE1"/>
          </a:solidFill>
          <a:ln w="12700">
            <a:solidFill>
              <a:srgbClr val="DFD6C7"/>
            </a:solidFill>
            <a:prstDash val="solid"/>
          </a:ln>
        </p:spPr>
      </p:sp>
      <p:sp>
        <p:nvSpPr>
          <p:cNvPr id="20" name="Shape 18"/>
          <p:cNvSpPr/>
          <p:nvPr/>
        </p:nvSpPr>
        <p:spPr>
          <a:xfrm>
            <a:off x="4663440" y="2710282"/>
            <a:ext cx="64008" cy="918058"/>
          </a:xfrm>
          <a:prstGeom prst="rect">
            <a:avLst/>
          </a:prstGeom>
          <a:solidFill>
            <a:srgbClr val="D97A14"/>
          </a:solidFill>
          <a:ln w="12700">
            <a:solidFill>
              <a:srgbClr val="D97A14"/>
            </a:solidFill>
            <a:prstDash val="solid"/>
          </a:ln>
        </p:spPr>
      </p:sp>
      <p:sp>
        <p:nvSpPr>
          <p:cNvPr id="21" name="Text 19"/>
          <p:cNvSpPr txBox="1"/>
          <p:nvPr/>
        </p:nvSpPr>
        <p:spPr>
          <a:xfrm>
            <a:off x="4828032"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Circular dependency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refund needs the deposit's txid first.</a:t>
            </a:r>
            <a:endParaRPr lang="en-US" sz="1300" dirty="0"/>
          </a:p>
        </p:txBody>
      </p:sp>
      <p:sp>
        <p:nvSpPr>
          <p:cNvPr id="22" name="Text 20"/>
          <p:cNvSpPr txBox="1"/>
          <p:nvPr/>
        </p:nvSpPr>
        <p:spPr>
          <a:xfrm>
            <a:off x="4828032" y="3108046"/>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needing the key to get the key.</a:t>
            </a:r>
            <a:endParaRPr lang="en-US" sz="1150" dirty="0"/>
          </a:p>
        </p:txBody>
      </p:sp>
      <p:sp>
        <p:nvSpPr>
          <p:cNvPr id="23" name="Text 21"/>
          <p:cNvSpPr txBox="1"/>
          <p:nvPr/>
        </p:nvSpPr>
        <p:spPr>
          <a:xfrm>
            <a:off x="4828032" y="3341218"/>
            <a:ext cx="3767328" cy="191110"/>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Circular Dependencies</a:t>
            </a:r>
            <a:endParaRPr lang="en-US" sz="1000" dirty="0"/>
          </a:p>
        </p:txBody>
      </p:sp>
      <p:sp>
        <p:nvSpPr>
          <p:cNvPr id="24"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5"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6"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39 / 62</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One spend, four identifiers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Push encodings and third-party malleability</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enc = push_encodings(</a:t>
            </a:r>
            <a:r>
              <a:rPr lang="en-US" sz="1000" dirty="0">
                <a:solidFill>
                  <a:srgbClr val="FFD28A"/>
                </a:solidFill>
                <a:latin typeface="Courier New" pitchFamily="34" charset="0"/>
                <a:ea typeface="Courier New" pitchFamily="34" charset="-122"/>
                <a:cs typeface="Courier New" pitchFamily="34" charset="-120"/>
              </a:rPr>
              <a:t>2</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195474"/>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swap = </a:t>
            </a:r>
            <a:r>
              <a:rPr lang="en-US" sz="1000" b="1" dirty="0">
                <a:solidFill>
                  <a:srgbClr val="F2A860"/>
                </a:solidFill>
                <a:latin typeface="Courier New" pitchFamily="34" charset="0"/>
                <a:ea typeface="Courier New" pitchFamily="34" charset="-122"/>
                <a:cs typeface="Courier New" pitchFamily="34" charset="-120"/>
              </a:rPr>
              <a:t>lambda</a:t>
            </a:r>
            <a:r>
              <a:rPr lang="en-US" sz="1000" dirty="0">
                <a:solidFill>
                  <a:srgbClr val="E6EDF3"/>
                </a:solidFill>
                <a:latin typeface="Courier New" pitchFamily="34" charset="0"/>
                <a:ea typeface="Courier New" pitchFamily="34" charset="-122"/>
                <a:cs typeface="Courier New" pitchFamily="34" charset="-120"/>
              </a:rPr>
              <a:t> s: with_input_script(FIRST, 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ids = {k: txid(swap(s))[:</a:t>
            </a:r>
            <a:r>
              <a:rPr lang="en-US" sz="1000" dirty="0">
                <a:solidFill>
                  <a:srgbClr val="FFD28A"/>
                </a:solidFill>
                <a:latin typeface="Courier New" pitchFamily="34" charset="0"/>
                <a:ea typeface="Courier New" pitchFamily="34" charset="-122"/>
                <a:cs typeface="Courier New" pitchFamily="34" charset="-120"/>
              </a:rPr>
              <a:t>8</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s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enc.items()}</a:t>
            </a:r>
            <a:endParaRPr lang="en-US" sz="1000" dirty="0"/>
          </a:p>
        </p:txBody>
      </p:sp>
      <p:sp>
        <p:nvSpPr>
          <p:cNvPr id="10" name="Shape 8"/>
          <p:cNvSpPr/>
          <p:nvPr/>
        </p:nvSpPr>
        <p:spPr>
          <a:xfrm>
            <a:off x="457200" y="3083357"/>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3156509"/>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distinct = len(set(ids.values()))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distinct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4</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One small number can be pushed on the script stack in four different ways.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Swap each encoding into the first-ever spend; the payment itself is unchanged.</a:t>
            </a:r>
            <a:endParaRPr lang="en-US" sz="1050" dirty="0"/>
          </a:p>
        </p:txBody>
      </p:sp>
      <p:sp>
        <p:nvSpPr>
          <p:cNvPr id="18" name="Shape 16"/>
          <p:cNvSpPr/>
          <p:nvPr/>
        </p:nvSpPr>
        <p:spPr>
          <a:xfrm>
            <a:off x="365760" y="3010205"/>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0205"/>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Four different byte strings give four different legacy identifiers.</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ALICE, PREV, FIRST and tx as set up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four pushes of the number 2</a:t>
            </a:r>
            <a:endParaRPr lang="en-US" sz="11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051560"/>
                <a:gridCol w="822960"/>
                <a:gridCol w="109728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Encoding</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Script</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New txid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OP_2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52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0423a53a</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OP_PUSH1 0x02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0102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b3485f99</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OP_PUSH2 0x0002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020200</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18da36d1</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OP_PUSHDATA1 0x0102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4c0102</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4d986cd8</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41985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4 encodings give 4 different identifiers for one payment.</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stranger could change the txid without changing the payment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40 / 62</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Witnesses: concepts (2 of 4)</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84148"/>
          </a:xfrm>
          <a:prstGeom prst="roundRect">
            <a:avLst>
              <a:gd name="adj" fmla="val 6178"/>
            </a:avLst>
          </a:prstGeom>
          <a:solidFill>
            <a:srgbClr val="F2ECE1"/>
          </a:solidFill>
          <a:ln w="12700">
            <a:solidFill>
              <a:srgbClr val="DFD6C7"/>
            </a:solidFill>
            <a:prstDash val="solid"/>
          </a:ln>
        </p:spPr>
      </p:sp>
      <p:sp>
        <p:nvSpPr>
          <p:cNvPr id="7" name="Shape 5"/>
          <p:cNvSpPr/>
          <p:nvPr/>
        </p:nvSpPr>
        <p:spPr>
          <a:xfrm>
            <a:off x="475488" y="1408176"/>
            <a:ext cx="64008" cy="92811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Third-party transaction malleability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stranger changes the txid, not the payment.</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stranger rewording your cheque without changing the sum.</a:t>
            </a:r>
            <a:endParaRPr lang="en-US" sz="1150" dirty="0"/>
          </a:p>
        </p:txBody>
      </p:sp>
      <p:sp>
        <p:nvSpPr>
          <p:cNvPr id="10" name="Shape 8"/>
          <p:cNvSpPr/>
          <p:nvPr/>
        </p:nvSpPr>
        <p:spPr>
          <a:xfrm>
            <a:off x="4645152" y="1280160"/>
            <a:ext cx="4041648" cy="1184148"/>
          </a:xfrm>
          <a:prstGeom prst="roundRect">
            <a:avLst>
              <a:gd name="adj" fmla="val 6178"/>
            </a:avLst>
          </a:prstGeom>
          <a:solidFill>
            <a:srgbClr val="F2ECE1"/>
          </a:solidFill>
          <a:ln w="12700">
            <a:solidFill>
              <a:srgbClr val="DFD6C7"/>
            </a:solidFill>
            <a:prstDash val="solid"/>
          </a:ln>
        </p:spPr>
      </p:sp>
      <p:sp>
        <p:nvSpPr>
          <p:cNvPr id="11" name="Shape 9"/>
          <p:cNvSpPr/>
          <p:nvPr/>
        </p:nvSpPr>
        <p:spPr>
          <a:xfrm>
            <a:off x="4663440" y="1408176"/>
            <a:ext cx="64008" cy="92811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Alternative push encodings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Four byte strings for the number 2.</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four ways to write the same number in words.</a:t>
            </a:r>
            <a:endParaRPr lang="en-US" sz="1150" dirty="0"/>
          </a:p>
        </p:txBody>
      </p:sp>
      <p:sp>
        <p:nvSpPr>
          <p:cNvPr id="14" name="Shape 12"/>
          <p:cNvSpPr/>
          <p:nvPr/>
        </p:nvSpPr>
        <p:spPr>
          <a:xfrm>
            <a:off x="457200" y="2592324"/>
            <a:ext cx="4041648" cy="1184148"/>
          </a:xfrm>
          <a:prstGeom prst="roundRect">
            <a:avLst>
              <a:gd name="adj" fmla="val 6178"/>
            </a:avLst>
          </a:prstGeom>
          <a:solidFill>
            <a:srgbClr val="F2ECE1"/>
          </a:solidFill>
          <a:ln w="12700">
            <a:solidFill>
              <a:srgbClr val="DFD6C7"/>
            </a:solidFill>
            <a:prstDash val="solid"/>
          </a:ln>
        </p:spPr>
      </p:sp>
      <p:sp>
        <p:nvSpPr>
          <p:cNvPr id="15" name="Shape 13"/>
          <p:cNvSpPr/>
          <p:nvPr/>
        </p:nvSpPr>
        <p:spPr>
          <a:xfrm>
            <a:off x="475488" y="2720340"/>
            <a:ext cx="64008" cy="928116"/>
          </a:xfrm>
          <a:prstGeom prst="rect">
            <a:avLst/>
          </a:prstGeom>
          <a:solidFill>
            <a:srgbClr val="D97A14"/>
          </a:solidFill>
          <a:ln w="12700">
            <a:solidFill>
              <a:srgbClr val="D97A14"/>
            </a:solidFill>
            <a:prstDash val="solid"/>
          </a:ln>
        </p:spPr>
      </p:sp>
      <p:sp>
        <p:nvSpPr>
          <p:cNvPr id="16" name="Text 14"/>
          <p:cNvSpPr txBox="1"/>
          <p:nvPr/>
        </p:nvSpPr>
        <p:spPr>
          <a:xfrm>
            <a:off x="640080" y="2656332"/>
            <a:ext cx="3767328" cy="63550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Second-party transaction malleability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counterparty re-signs and changes the txid.</a:t>
            </a:r>
            <a:endParaRPr lang="en-US" sz="1300" dirty="0"/>
          </a:p>
        </p:txBody>
      </p:sp>
      <p:sp>
        <p:nvSpPr>
          <p:cNvPr id="17" name="Text 15"/>
          <p:cNvSpPr txBox="1"/>
          <p:nvPr/>
        </p:nvSpPr>
        <p:spPr>
          <a:xfrm>
            <a:off x="640080" y="331927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your partner re-signing a document with another pen.</a:t>
            </a:r>
            <a:endParaRPr lang="en-US" sz="1150" dirty="0"/>
          </a:p>
        </p:txBody>
      </p:sp>
      <p:sp>
        <p:nvSpPr>
          <p:cNvPr id="18" name="Shape 16"/>
          <p:cNvSpPr/>
          <p:nvPr/>
        </p:nvSpPr>
        <p:spPr>
          <a:xfrm>
            <a:off x="4645152" y="2592324"/>
            <a:ext cx="4041648" cy="1184148"/>
          </a:xfrm>
          <a:prstGeom prst="roundRect">
            <a:avLst>
              <a:gd name="adj" fmla="val 6178"/>
            </a:avLst>
          </a:prstGeom>
          <a:solidFill>
            <a:srgbClr val="F2ECE1"/>
          </a:solidFill>
          <a:ln w="12700">
            <a:solidFill>
              <a:srgbClr val="DFD6C7"/>
            </a:solidFill>
            <a:prstDash val="solid"/>
          </a:ln>
        </p:spPr>
      </p:sp>
      <p:sp>
        <p:nvSpPr>
          <p:cNvPr id="19" name="Shape 17"/>
          <p:cNvSpPr/>
          <p:nvPr/>
        </p:nvSpPr>
        <p:spPr>
          <a:xfrm>
            <a:off x="4663440" y="2720340"/>
            <a:ext cx="64008" cy="928116"/>
          </a:xfrm>
          <a:prstGeom prst="rect">
            <a:avLst/>
          </a:prstGeom>
          <a:solidFill>
            <a:srgbClr val="D97A14"/>
          </a:solidFill>
          <a:ln w="12700">
            <a:solidFill>
              <a:srgbClr val="D97A14"/>
            </a:solidFill>
            <a:prstDash val="solid"/>
          </a:ln>
        </p:spPr>
      </p:sp>
      <p:sp>
        <p:nvSpPr>
          <p:cNvPr id="20" name="Text 18"/>
          <p:cNvSpPr txBox="1"/>
          <p:nvPr/>
        </p:nvSpPr>
        <p:spPr>
          <a:xfrm>
            <a:off x="4828032" y="265633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Wanted malleability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Mutation the sender allows.</a:t>
            </a:r>
            <a:endParaRPr lang="en-US" sz="1300" dirty="0"/>
          </a:p>
        </p:txBody>
      </p:sp>
      <p:sp>
        <p:nvSpPr>
          <p:cNvPr id="21" name="Text 19"/>
          <p:cNvSpPr txBox="1"/>
          <p:nvPr/>
        </p:nvSpPr>
        <p:spPr>
          <a:xfrm>
            <a:off x="4828032" y="311810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form with a box for changes allowed by me.</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41 / 62</a:t>
            </a:r>
            <a:endParaRPr lang="en-US" sz="11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Segwit: change the witness, keep the txid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What the two identifiers cover</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mutated = with_witness_item(ALICE, </a:t>
            </a:r>
            <a:r>
              <a:rPr lang="en-US" sz="1000" dirty="0">
                <a:solidFill>
                  <a:srgbClr val="9ECBFF"/>
                </a:solidFill>
                <a:latin typeface="Courier New" pitchFamily="34" charset="0"/>
                <a:ea typeface="Courier New" pitchFamily="34" charset="-122"/>
                <a:cs typeface="Courier New" pitchFamily="34" charset="-120"/>
              </a:rPr>
              <a:t>'00'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65</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476402"/>
          </a:xfrm>
          <a:prstGeom prst="roundRect">
            <a:avLst>
              <a:gd name="adj" fmla="val 15355"/>
            </a:avLst>
          </a:prstGeom>
          <a:solidFill>
            <a:srgbClr val="23272E"/>
          </a:solidFill>
          <a:ln w="12700">
            <a:solidFill>
              <a:srgbClr val="23272E"/>
            </a:solidFill>
            <a:prstDash val="solid"/>
          </a:ln>
        </p:spPr>
      </p:sp>
      <p:sp>
        <p:nvSpPr>
          <p:cNvPr id="9" name="Text 7"/>
          <p:cNvSpPr txBox="1"/>
          <p:nvPr/>
        </p:nvSpPr>
        <p:spPr>
          <a:xfrm>
            <a:off x="603504" y="203088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same_txid = txid(mutated) == txid(ALICE)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same_wtxid = wtxid(mutated) == wtxid(ALICE)</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 b = txid(ALICE)[:</a:t>
            </a:r>
            <a:r>
              <a:rPr lang="en-US" sz="1000" dirty="0">
                <a:solidFill>
                  <a:srgbClr val="FFD28A"/>
                </a:solidFill>
                <a:latin typeface="Courier New" pitchFamily="34" charset="0"/>
                <a:ea typeface="Courier New" pitchFamily="34" charset="-122"/>
                <a:cs typeface="Courier New" pitchFamily="34" charset="-120"/>
              </a:rPr>
              <a:t>12</a:t>
            </a:r>
            <a:r>
              <a:rPr lang="en-US" sz="1000" dirty="0">
                <a:solidFill>
                  <a:srgbClr val="E6EDF3"/>
                </a:solidFill>
                <a:latin typeface="Courier New" pitchFamily="34" charset="0"/>
                <a:ea typeface="Courier New" pitchFamily="34" charset="-122"/>
                <a:cs typeface="Courier New" pitchFamily="34" charset="-120"/>
              </a:rPr>
              <a:t>], wtxid(ALICE)[:</a:t>
            </a:r>
            <a:r>
              <a:rPr lang="en-US" sz="1000" dirty="0">
                <a:solidFill>
                  <a:srgbClr val="FFD28A"/>
                </a:solidFill>
                <a:latin typeface="Courier New" pitchFamily="34" charset="0"/>
                <a:ea typeface="Courier New" pitchFamily="34" charset="-122"/>
                <a:cs typeface="Courier New" pitchFamily="34" charset="-120"/>
              </a:rPr>
              <a:t>12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 = wtxid(mutated)[:</a:t>
            </a:r>
            <a:r>
              <a:rPr lang="en-US" sz="1000" dirty="0">
                <a:solidFill>
                  <a:srgbClr val="FFD28A"/>
                </a:solidFill>
                <a:latin typeface="Courier New" pitchFamily="34" charset="0"/>
                <a:ea typeface="Courier New" pitchFamily="34" charset="-122"/>
                <a:cs typeface="Courier New" pitchFamily="34" charset="-120"/>
              </a:rPr>
              <a:t>12</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(same_txid, same_wtxid)</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False)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Replace the signature in the witness by 65 zero bytes.</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txid ignores the witness and stays; the wtxid covers it and changes.</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Twelve hex digits of each identifier, for the table beside the listing.</a:t>
            </a:r>
            <a:endParaRPr lang="en-US" sz="1050" dirty="0"/>
          </a:p>
        </p:txBody>
      </p:sp>
      <p:sp>
        <p:nvSpPr>
          <p:cNvPr id="21" name="Text 19"/>
          <p:cNvSpPr txBox="1"/>
          <p:nvPr/>
        </p:nvSpPr>
        <p:spPr>
          <a:xfrm>
            <a:off x="457200" y="4173322"/>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ALICE, PREV, FIRST and tx as set up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12 hex digits of each identifier</a:t>
            </a:r>
            <a:endParaRPr lang="en-US" sz="11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777240"/>
                <a:gridCol w="1097280"/>
                <a:gridCol w="1097280"/>
              </a:tblGrid>
              <a:tr h="274320">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Identifier</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Before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After</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txid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466200308696</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466200308696</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wtxid</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f7cdbc7cf8b9</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00" dirty="0">
                          <a:solidFill>
                            <a:srgbClr val="2B2622"/>
                          </a:solidFill>
                          <a:latin typeface="Calibri" pitchFamily="34" charset="0"/>
                          <a:ea typeface="Calibri" pitchFamily="34" charset="-122"/>
                          <a:cs typeface="Calibri" pitchFamily="34" charset="-120"/>
                        </a:rPr>
                        <a:t>06f7a607a82e</a:t>
                      </a:r>
                      <a:endParaRPr lang="en-US" sz="90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287121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Only the wtxid notices the new witness; the txid, and everything built on it, stays valid.</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What a hash covers decides what can safely be built on it</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42 / 62</a:t>
            </a:r>
            <a:endParaRPr lang="en-US" sz="11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Mt. Gox blames malleability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An exchange blames the protocol, and researchers check</a:t>
            </a:r>
            <a:endParaRPr lang="en-US" sz="1300" dirty="0"/>
          </a:p>
        </p:txBody>
      </p:sp>
      <p:pic>
        <p:nvPicPr>
          <p:cNvPr id="6" name="Image 0" descr="../../03-materials/ch06/assets/photo_mtgox_logo.png">    </p:cNvPr>
          <p:cNvPicPr>
            <a:picLocks noChangeAspect="1"/>
          </p:cNvPicPr>
          <p:nvPr/>
        </p:nvPicPr>
        <p:blipFill>
          <a:blip r:embed="rId1"/>
          <a:srcRect l="0" r="0" t="0" b="0"/>
          <a:stretch/>
        </p:blipFill>
        <p:spPr>
          <a:xfrm>
            <a:off x="457200" y="1280160"/>
            <a:ext cx="2377440" cy="2331720"/>
          </a:xfrm>
          <a:prstGeom prst="rect">
            <a:avLst/>
          </a:prstGeom>
        </p:spPr>
      </p:pic>
      <p:sp>
        <p:nvSpPr>
          <p:cNvPr id="7" name="Text 4"/>
          <p:cNvSpPr txBox="1"/>
          <p:nvPr/>
        </p:nvSpPr>
        <p:spPr>
          <a:xfrm>
            <a:off x="457200" y="3630168"/>
            <a:ext cx="2377440" cy="329184"/>
          </a:xfrm>
          <a:prstGeom prst="rect">
            <a:avLst/>
          </a:prstGeom>
          <a:noFill/>
          <a:ln/>
        </p:spPr>
        <p:txBody>
          <a:bodyPr wrap="square" lIns="0" tIns="0" rIns="0" bIns="0" rtlCol="0" anchor="ctr"/>
          <a:lstStyle/>
          <a:p>
            <a:pPr algn="ctr" indent="0" marL="0">
              <a:buNone/>
            </a:pPr>
            <a:r>
              <a:rPr lang="en-US" sz="900" i="1" dirty="0">
                <a:solidFill>
                  <a:srgbClr val="6E655C"/>
                </a:solidFill>
                <a:latin typeface="Calibri" pitchFamily="34" charset="0"/>
                <a:ea typeface="Calibri" pitchFamily="34" charset="-122"/>
                <a:cs typeface="Calibri" pitchFamily="34" charset="-120"/>
              </a:rPr>
              <a:t>Mt. Gox logo - author unknown, public domain</a:t>
            </a:r>
            <a:endParaRPr lang="en-US" sz="900" dirty="0"/>
          </a:p>
        </p:txBody>
      </p:sp>
      <p:sp>
        <p:nvSpPr>
          <p:cNvPr id="8" name="Shape 5"/>
          <p:cNvSpPr/>
          <p:nvPr/>
        </p:nvSpPr>
        <p:spPr>
          <a:xfrm>
            <a:off x="3108960" y="1524762"/>
            <a:ext cx="128016" cy="128016"/>
          </a:xfrm>
          <a:prstGeom prst="diamond">
            <a:avLst/>
          </a:prstGeom>
          <a:solidFill>
            <a:srgbClr val="D97A14"/>
          </a:solidFill>
          <a:ln w="12700">
            <a:solidFill>
              <a:srgbClr val="D97A14"/>
            </a:solidFill>
            <a:prstDash val="solid"/>
          </a:ln>
        </p:spPr>
      </p:sp>
      <p:sp>
        <p:nvSpPr>
          <p:cNvPr id="9" name="Text 6"/>
          <p:cNvSpPr txBox="1"/>
          <p:nvPr/>
        </p:nvSpPr>
        <p:spPr>
          <a:xfrm>
            <a:off x="3383280" y="128016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WHAT: Mt. Gox halted withdrawals and blamed transaction malleability for missing bitcoins.</a:t>
            </a:r>
            <a:endParaRPr lang="en-US" sz="1150" dirty="0"/>
          </a:p>
        </p:txBody>
      </p:sp>
      <p:sp>
        <p:nvSpPr>
          <p:cNvPr id="10" name="Shape 7"/>
          <p:cNvSpPr/>
          <p:nvPr/>
        </p:nvSpPr>
        <p:spPr>
          <a:xfrm>
            <a:off x="3108960" y="2141982"/>
            <a:ext cx="128016" cy="128016"/>
          </a:xfrm>
          <a:prstGeom prst="diamond">
            <a:avLst/>
          </a:prstGeom>
          <a:solidFill>
            <a:srgbClr val="D97A14"/>
          </a:solidFill>
          <a:ln w="12700">
            <a:solidFill>
              <a:srgbClr val="D97A14"/>
            </a:solidFill>
            <a:prstDash val="solid"/>
          </a:ln>
        </p:spPr>
      </p:sp>
      <p:sp>
        <p:nvSpPr>
          <p:cNvPr id="11" name="Text 8"/>
          <p:cNvSpPr txBox="1"/>
          <p:nvPr/>
        </p:nvSpPr>
        <p:spPr>
          <a:xfrm>
            <a:off x="3383280" y="189738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WHY: A stranger can re-encode an input script, change the txid and make a payment look as if it failed.</a:t>
            </a:r>
            <a:endParaRPr lang="en-US" sz="1150" dirty="0"/>
          </a:p>
        </p:txBody>
      </p:sp>
      <p:sp>
        <p:nvSpPr>
          <p:cNvPr id="12" name="Shape 9"/>
          <p:cNvSpPr/>
          <p:nvPr/>
        </p:nvSpPr>
        <p:spPr>
          <a:xfrm>
            <a:off x="3108960" y="2759202"/>
            <a:ext cx="128016" cy="128016"/>
          </a:xfrm>
          <a:prstGeom prst="diamond">
            <a:avLst/>
          </a:prstGeom>
          <a:solidFill>
            <a:srgbClr val="D97A14"/>
          </a:solidFill>
          <a:ln w="12700">
            <a:solidFill>
              <a:srgbClr val="D97A14"/>
            </a:solidFill>
            <a:prstDash val="solid"/>
          </a:ln>
        </p:spPr>
      </p:sp>
      <p:sp>
        <p:nvSpPr>
          <p:cNvPr id="13" name="Text 10"/>
          <p:cNvSpPr txBox="1"/>
          <p:nvPr/>
        </p:nvSpPr>
        <p:spPr>
          <a:xfrm>
            <a:off x="3383280" y="251460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HOW: Decker and Wattenhofer of ETH Zurich recorded a year of traffic: only 1,811 BTC were hit before the press release.</a:t>
            </a:r>
            <a:endParaRPr lang="en-US" sz="1150" dirty="0"/>
          </a:p>
        </p:txBody>
      </p:sp>
      <p:sp>
        <p:nvSpPr>
          <p:cNvPr id="14" name="Shape 11"/>
          <p:cNvSpPr/>
          <p:nvPr/>
        </p:nvSpPr>
        <p:spPr>
          <a:xfrm>
            <a:off x="3108960" y="3376422"/>
            <a:ext cx="128016" cy="128016"/>
          </a:xfrm>
          <a:prstGeom prst="diamond">
            <a:avLst/>
          </a:prstGeom>
          <a:solidFill>
            <a:srgbClr val="D97A14"/>
          </a:solidFill>
          <a:ln w="12700">
            <a:solidFill>
              <a:srgbClr val="D97A14"/>
            </a:solidFill>
            <a:prstDash val="solid"/>
          </a:ln>
        </p:spPr>
      </p:sp>
      <p:sp>
        <p:nvSpPr>
          <p:cNvPr id="15" name="Text 12"/>
          <p:cNvSpPr txBox="1"/>
          <p:nvPr/>
        </p:nvSpPr>
        <p:spPr>
          <a:xfrm>
            <a:off x="3383280" y="3131820"/>
            <a:ext cx="5303520" cy="617220"/>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SO WHAT: Segregated witness took the input script out of the txid in 2017.</a:t>
            </a:r>
            <a:endParaRPr lang="en-US" sz="1150" dirty="0"/>
          </a:p>
        </p:txBody>
      </p:sp>
      <p:sp>
        <p:nvSpPr>
          <p:cNvPr id="16" name="Shape 13"/>
          <p:cNvSpPr/>
          <p:nvPr/>
        </p:nvSpPr>
        <p:spPr>
          <a:xfrm>
            <a:off x="457200" y="4114800"/>
            <a:ext cx="1738092" cy="365760"/>
          </a:xfrm>
          <a:prstGeom prst="roundRect">
            <a:avLst>
              <a:gd name="adj" fmla="val 50000"/>
            </a:avLst>
          </a:prstGeom>
          <a:solidFill>
            <a:srgbClr val="EFE9DC"/>
          </a:solidFill>
          <a:ln w="9525">
            <a:solidFill>
              <a:srgbClr val="DFD6C7"/>
            </a:solidFill>
            <a:prstDash val="solid"/>
          </a:ln>
        </p:spPr>
      </p:sp>
      <p:sp>
        <p:nvSpPr>
          <p:cNvPr id="17" name="Text 14"/>
          <p:cNvSpPr txBox="1"/>
          <p:nvPr/>
        </p:nvSpPr>
        <p:spPr>
          <a:xfrm>
            <a:off x="548640" y="4114800"/>
            <a:ext cx="1591788"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900" dirty="0">
                <a:solidFill>
                  <a:srgbClr val="2B2622"/>
                </a:solidFill>
                <a:latin typeface="Calibri" pitchFamily="34" charset="0"/>
                <a:ea typeface="Calibri" pitchFamily="34" charset="-122"/>
                <a:cs typeface="Calibri" pitchFamily="34" charset="-120"/>
              </a:rPr>
              <a:t>Mt. Gox, then the larges…</a:t>
            </a:r>
            <a:endParaRPr lang="en-US" sz="750" dirty="0"/>
          </a:p>
        </p:txBody>
      </p:sp>
      <p:sp>
        <p:nvSpPr>
          <p:cNvPr id="18" name="Shape 15"/>
          <p:cNvSpPr/>
          <p:nvPr/>
        </p:nvSpPr>
        <p:spPr>
          <a:xfrm>
            <a:off x="2305020" y="4114800"/>
            <a:ext cx="1659087" cy="365760"/>
          </a:xfrm>
          <a:prstGeom prst="roundRect">
            <a:avLst>
              <a:gd name="adj" fmla="val 50000"/>
            </a:avLst>
          </a:prstGeom>
          <a:solidFill>
            <a:srgbClr val="EFE9DC"/>
          </a:solidFill>
          <a:ln w="9525">
            <a:solidFill>
              <a:srgbClr val="DFD6C7"/>
            </a:solidFill>
            <a:prstDash val="solid"/>
          </a:ln>
        </p:spPr>
      </p:sp>
      <p:sp>
        <p:nvSpPr>
          <p:cNvPr id="19" name="Text 16"/>
          <p:cNvSpPr txBox="1"/>
          <p:nvPr/>
        </p:nvSpPr>
        <p:spPr>
          <a:xfrm>
            <a:off x="2396460" y="4114800"/>
            <a:ext cx="1512783"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900" dirty="0">
                <a:solidFill>
                  <a:srgbClr val="2B2622"/>
                </a:solidFill>
                <a:latin typeface="Calibri" pitchFamily="34" charset="0"/>
                <a:ea typeface="Calibri" pitchFamily="34" charset="-122"/>
                <a:cs typeface="Calibri" pitchFamily="34" charset="-120"/>
              </a:rPr>
              <a:t>Shibuya, Tokyo - and t…</a:t>
            </a:r>
            <a:endParaRPr lang="en-US" sz="750" dirty="0"/>
          </a:p>
        </p:txBody>
      </p:sp>
      <p:sp>
        <p:nvSpPr>
          <p:cNvPr id="20" name="Shape 17"/>
          <p:cNvSpPr/>
          <p:nvPr/>
        </p:nvSpPr>
        <p:spPr>
          <a:xfrm>
            <a:off x="4073835" y="4114800"/>
            <a:ext cx="1343071" cy="365760"/>
          </a:xfrm>
          <a:prstGeom prst="roundRect">
            <a:avLst>
              <a:gd name="adj" fmla="val 50000"/>
            </a:avLst>
          </a:prstGeom>
          <a:solidFill>
            <a:srgbClr val="EFE9DC"/>
          </a:solidFill>
          <a:ln w="9525">
            <a:solidFill>
              <a:srgbClr val="DFD6C7"/>
            </a:solidFill>
            <a:prstDash val="solid"/>
          </a:ln>
        </p:spPr>
      </p:sp>
      <p:sp>
        <p:nvSpPr>
          <p:cNvPr id="21" name="Text 18"/>
          <p:cNvSpPr txBox="1"/>
          <p:nvPr/>
        </p:nvSpPr>
        <p:spPr>
          <a:xfrm>
            <a:off x="4165275" y="4114800"/>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2014-02-10</a:t>
            </a:r>
            <a:endParaRPr lang="en-US" sz="750" dirty="0"/>
          </a:p>
        </p:txBody>
      </p:sp>
      <p:sp>
        <p:nvSpPr>
          <p:cNvPr id="22" name="Shape 19"/>
          <p:cNvSpPr/>
          <p:nvPr/>
        </p:nvSpPr>
        <p:spPr>
          <a:xfrm>
            <a:off x="5526634" y="4114800"/>
            <a:ext cx="3160166" cy="365760"/>
          </a:xfrm>
          <a:prstGeom prst="roundRect">
            <a:avLst>
              <a:gd name="adj" fmla="val 50000"/>
            </a:avLst>
          </a:prstGeom>
          <a:solidFill>
            <a:srgbClr val="2F6D62"/>
          </a:solidFill>
          <a:ln w="9525">
            <a:solidFill>
              <a:srgbClr val="2F6D62"/>
            </a:solidFill>
            <a:prstDash val="solid"/>
          </a:ln>
        </p:spPr>
      </p:sp>
      <p:sp>
        <p:nvSpPr>
          <p:cNvPr id="23" name="Text 20"/>
          <p:cNvSpPr txBox="1"/>
          <p:nvPr/>
        </p:nvSpPr>
        <p:spPr>
          <a:xfrm>
            <a:off x="5618074" y="4114800"/>
            <a:ext cx="3013862"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Transaction Malleability and MtGox (paper)</a:t>
            </a:r>
            <a:endParaRPr lang="en-US" sz="750" dirty="0"/>
          </a:p>
          <a:p>
            <a:pPr indent="0" marL="0">
              <a:buNone/>
            </a:pPr>
            <a:r>
              <a:rPr lang="en-US" sz="700" dirty="0">
                <a:solidFill>
                  <a:srgbClr val="D7E4E0"/>
                </a:solidFill>
                <a:latin typeface="Calibri" pitchFamily="34" charset="0"/>
                <a:ea typeface="Calibri" pitchFamily="34" charset="-122"/>
                <a:cs typeface="Calibri" pitchFamily="34" charset="-120"/>
              </a:rPr>
              <a:t>arxiv.org</a:t>
            </a:r>
            <a:endParaRPr lang="en-US" sz="750" dirty="0"/>
          </a:p>
        </p:txBody>
      </p:sp>
      <p:sp>
        <p:nvSpPr>
          <p:cNvPr id="24"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43 / 62</a:t>
            </a:r>
            <a:endParaRPr lang="en-US" sz="11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Witnesses: concepts (3 of 4)</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Segregated witness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witness stays out of the txid.</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moving the signatures to a separate page the receipt ignores.</a:t>
            </a:r>
            <a:endParaRPr lang="en-US" sz="1150" dirty="0"/>
          </a:p>
        </p:txBody>
      </p:sp>
      <p:sp>
        <p:nvSpPr>
          <p:cNvPr id="10" name="Shape 8"/>
          <p:cNvSpPr/>
          <p:nvPr/>
        </p:nvSpPr>
        <p:spPr>
          <a:xfrm>
            <a:off x="4645152" y="1280160"/>
            <a:ext cx="4041648" cy="1097280"/>
          </a:xfrm>
          <a:prstGeom prst="roundRect">
            <a:avLst>
              <a:gd name="adj" fmla="val 6667"/>
            </a:avLst>
          </a:prstGeom>
          <a:solidFill>
            <a:srgbClr val="F2ECE1"/>
          </a:solidFill>
          <a:ln w="12700">
            <a:solidFill>
              <a:srgbClr val="DFD6C7"/>
            </a:solidFill>
            <a:prstDash val="solid"/>
          </a:ln>
        </p:spPr>
      </p:sp>
      <p:sp>
        <p:nvSpPr>
          <p:cNvPr id="11" name="Shape 9"/>
          <p:cNvSpPr/>
          <p:nvPr/>
        </p:nvSpPr>
        <p:spPr>
          <a:xfrm>
            <a:off x="4663440" y="1408176"/>
            <a:ext cx="64008" cy="84124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Hard fork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change old nodes would reject.</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new road standard that old cars cannot drive on.</a:t>
            </a:r>
            <a:endParaRPr lang="en-US" sz="1150" dirty="0"/>
          </a:p>
        </p:txBody>
      </p:sp>
      <p:sp>
        <p:nvSpPr>
          <p:cNvPr id="14" name="Shape 12"/>
          <p:cNvSpPr/>
          <p:nvPr/>
        </p:nvSpPr>
        <p:spPr>
          <a:xfrm>
            <a:off x="457200" y="2505456"/>
            <a:ext cx="4041648" cy="1097280"/>
          </a:xfrm>
          <a:prstGeom prst="roundRect">
            <a:avLst>
              <a:gd name="adj" fmla="val 6667"/>
            </a:avLst>
          </a:prstGeom>
          <a:solidFill>
            <a:srgbClr val="F2ECE1"/>
          </a:solidFill>
          <a:ln w="12700">
            <a:solidFill>
              <a:srgbClr val="DFD6C7"/>
            </a:solidFill>
            <a:prstDash val="solid"/>
          </a:ln>
        </p:spPr>
      </p:sp>
      <p:sp>
        <p:nvSpPr>
          <p:cNvPr id="15" name="Shape 13"/>
          <p:cNvSpPr/>
          <p:nvPr/>
        </p:nvSpPr>
        <p:spPr>
          <a:xfrm>
            <a:off x="475488" y="2633472"/>
            <a:ext cx="64008" cy="841248"/>
          </a:xfrm>
          <a:prstGeom prst="rect">
            <a:avLst/>
          </a:prstGeom>
          <a:solidFill>
            <a:srgbClr val="D97A14"/>
          </a:solidFill>
          <a:ln w="12700">
            <a:solidFill>
              <a:srgbClr val="D97A14"/>
            </a:solidFill>
            <a:prstDash val="solid"/>
          </a:ln>
        </p:spPr>
      </p:sp>
      <p:sp>
        <p:nvSpPr>
          <p:cNvPr id="16" name="Text 14"/>
          <p:cNvSpPr txBox="1"/>
          <p:nvPr/>
        </p:nvSpPr>
        <p:spPr>
          <a:xfrm>
            <a:off x="640080" y="256946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Soft fork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New nodes reject more, accept no more.</a:t>
            </a:r>
            <a:endParaRPr lang="en-US" sz="1300" dirty="0"/>
          </a:p>
        </p:txBody>
      </p:sp>
      <p:sp>
        <p:nvSpPr>
          <p:cNvPr id="17" name="Text 15"/>
          <p:cNvSpPr txBox="1"/>
          <p:nvPr/>
        </p:nvSpPr>
        <p:spPr>
          <a:xfrm>
            <a:off x="640080" y="303123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stricter road rule that old cars can still obey.</a:t>
            </a:r>
            <a:endParaRPr lang="en-US" sz="1150" dirty="0"/>
          </a:p>
        </p:txBody>
      </p:sp>
      <p:sp>
        <p:nvSpPr>
          <p:cNvPr id="18" name="Shape 16"/>
          <p:cNvSpPr/>
          <p:nvPr/>
        </p:nvSpPr>
        <p:spPr>
          <a:xfrm>
            <a:off x="4645152" y="2505456"/>
            <a:ext cx="4041648" cy="1097280"/>
          </a:xfrm>
          <a:prstGeom prst="roundRect">
            <a:avLst>
              <a:gd name="adj" fmla="val 6667"/>
            </a:avLst>
          </a:prstGeom>
          <a:solidFill>
            <a:srgbClr val="F2ECE1"/>
          </a:solidFill>
          <a:ln w="12700">
            <a:solidFill>
              <a:srgbClr val="DFD6C7"/>
            </a:solidFill>
            <a:prstDash val="solid"/>
          </a:ln>
        </p:spPr>
      </p:sp>
      <p:sp>
        <p:nvSpPr>
          <p:cNvPr id="19" name="Shape 17"/>
          <p:cNvSpPr/>
          <p:nvPr/>
        </p:nvSpPr>
        <p:spPr>
          <a:xfrm>
            <a:off x="4663440" y="2633472"/>
            <a:ext cx="64008" cy="841248"/>
          </a:xfrm>
          <a:prstGeom prst="rect">
            <a:avLst/>
          </a:prstGeom>
          <a:solidFill>
            <a:srgbClr val="D97A14"/>
          </a:solidFill>
          <a:ln w="12700">
            <a:solidFill>
              <a:srgbClr val="D97A14"/>
            </a:solidFill>
            <a:prstDash val="solid"/>
          </a:ln>
        </p:spPr>
      </p:sp>
      <p:sp>
        <p:nvSpPr>
          <p:cNvPr id="20" name="Text 18"/>
          <p:cNvSpPr txBox="1"/>
          <p:nvPr/>
        </p:nvSpPr>
        <p:spPr>
          <a:xfrm>
            <a:off x="4828032" y="256946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Witness program</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version number and 2 to 40 bytes.</a:t>
            </a:r>
            <a:endParaRPr lang="en-US" sz="1300" dirty="0"/>
          </a:p>
        </p:txBody>
      </p:sp>
      <p:sp>
        <p:nvSpPr>
          <p:cNvPr id="21" name="Text 19"/>
          <p:cNvSpPr txBox="1"/>
          <p:nvPr/>
        </p:nvSpPr>
        <p:spPr>
          <a:xfrm>
            <a:off x="4828032" y="303123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lock label saying which kind of key fits.</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44 / 62</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Witnesses: concepts (4 of 4)</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74090"/>
          </a:xfrm>
          <a:prstGeom prst="roundRect">
            <a:avLst>
              <a:gd name="adj" fmla="val 6231"/>
            </a:avLst>
          </a:prstGeom>
          <a:solidFill>
            <a:srgbClr val="F2ECE1"/>
          </a:solidFill>
          <a:ln w="12700">
            <a:solidFill>
              <a:srgbClr val="DFD6C7"/>
            </a:solidFill>
            <a:prstDash val="solid"/>
          </a:ln>
        </p:spPr>
      </p:sp>
      <p:sp>
        <p:nvSpPr>
          <p:cNvPr id="7" name="Shape 5"/>
          <p:cNvSpPr/>
          <p:nvPr/>
        </p:nvSpPr>
        <p:spPr>
          <a:xfrm>
            <a:off x="475488" y="1408176"/>
            <a:ext cx="64008" cy="91805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Witness structure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new field for what the input script held.</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annex page stapled to the transaction.</a:t>
            </a:r>
            <a:endParaRPr lang="en-US" sz="1150" dirty="0"/>
          </a:p>
        </p:txBody>
      </p:sp>
      <p:sp>
        <p:nvSpPr>
          <p:cNvPr id="10" name="Text 8"/>
          <p:cNvSpPr txBox="1"/>
          <p:nvPr/>
        </p:nvSpPr>
        <p:spPr>
          <a:xfrm>
            <a:off x="640080" y="2217420"/>
            <a:ext cx="3767328" cy="191110"/>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Witness Structure Serialization</a:t>
            </a:r>
            <a:endParaRPr lang="en-US" sz="1000" dirty="0"/>
          </a:p>
        </p:txBody>
      </p:sp>
      <p:sp>
        <p:nvSpPr>
          <p:cNvPr id="11" name="Shape 9"/>
          <p:cNvSpPr/>
          <p:nvPr/>
        </p:nvSpPr>
        <p:spPr>
          <a:xfrm>
            <a:off x="4645152" y="1280160"/>
            <a:ext cx="4041648" cy="1174090"/>
          </a:xfrm>
          <a:prstGeom prst="roundRect">
            <a:avLst>
              <a:gd name="adj" fmla="val 6231"/>
            </a:avLst>
          </a:prstGeom>
          <a:solidFill>
            <a:srgbClr val="F2ECE1"/>
          </a:solidFill>
          <a:ln w="12700">
            <a:solidFill>
              <a:srgbClr val="DFD6C7"/>
            </a:solidFill>
            <a:prstDash val="solid"/>
          </a:ln>
        </p:spPr>
      </p:sp>
      <p:sp>
        <p:nvSpPr>
          <p:cNvPr id="12" name="Shape 10"/>
          <p:cNvSpPr/>
          <p:nvPr/>
        </p:nvSpPr>
        <p:spPr>
          <a:xfrm>
            <a:off x="4663440" y="1408176"/>
            <a:ext cx="64008" cy="918058"/>
          </a:xfrm>
          <a:prstGeom prst="rect">
            <a:avLst/>
          </a:prstGeom>
          <a:solidFill>
            <a:srgbClr val="D97A14"/>
          </a:solidFill>
          <a:ln w="12700">
            <a:solidFill>
              <a:srgbClr val="D97A14"/>
            </a:solidFill>
            <a:prstDash val="solid"/>
          </a:ln>
        </p:spPr>
      </p:sp>
      <p:sp>
        <p:nvSpPr>
          <p:cNvPr id="13" name="Text 11"/>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Witness stack</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One stack per input, counted by the inputs.</a:t>
            </a:r>
            <a:endParaRPr lang="en-US" sz="1300" dirty="0"/>
          </a:p>
        </p:txBody>
      </p:sp>
      <p:sp>
        <p:nvSpPr>
          <p:cNvPr id="14" name="Text 12"/>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pile of papers handed in for one input.</a:t>
            </a:r>
            <a:endParaRPr lang="en-US" sz="1150" dirty="0"/>
          </a:p>
        </p:txBody>
      </p:sp>
      <p:sp>
        <p:nvSpPr>
          <p:cNvPr id="15" name="Shape 13"/>
          <p:cNvSpPr/>
          <p:nvPr/>
        </p:nvSpPr>
        <p:spPr>
          <a:xfrm>
            <a:off x="457200" y="2582266"/>
            <a:ext cx="4041648" cy="1174090"/>
          </a:xfrm>
          <a:prstGeom prst="roundRect">
            <a:avLst>
              <a:gd name="adj" fmla="val 6231"/>
            </a:avLst>
          </a:prstGeom>
          <a:solidFill>
            <a:srgbClr val="F2ECE1"/>
          </a:solidFill>
          <a:ln w="12700">
            <a:solidFill>
              <a:srgbClr val="DFD6C7"/>
            </a:solidFill>
            <a:prstDash val="solid"/>
          </a:ln>
        </p:spPr>
      </p:sp>
      <p:sp>
        <p:nvSpPr>
          <p:cNvPr id="16" name="Shape 14"/>
          <p:cNvSpPr/>
          <p:nvPr/>
        </p:nvSpPr>
        <p:spPr>
          <a:xfrm>
            <a:off x="475488" y="2710282"/>
            <a:ext cx="64008" cy="918058"/>
          </a:xfrm>
          <a:prstGeom prst="rect">
            <a:avLst/>
          </a:prstGeom>
          <a:solidFill>
            <a:srgbClr val="D97A14"/>
          </a:solidFill>
          <a:ln w="12700">
            <a:solidFill>
              <a:srgbClr val="D97A14"/>
            </a:solidFill>
            <a:prstDash val="solid"/>
          </a:ln>
        </p:spPr>
      </p:sp>
      <p:sp>
        <p:nvSpPr>
          <p:cNvPr id="17" name="Text 15"/>
          <p:cNvSpPr txBox="1"/>
          <p:nvPr/>
        </p:nvSpPr>
        <p:spPr>
          <a:xfrm>
            <a:off x="640080"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Witness item</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65-byte signature, length-prefixed.</a:t>
            </a:r>
            <a:endParaRPr lang="en-US" sz="1300" dirty="0"/>
          </a:p>
        </p:txBody>
      </p:sp>
      <p:sp>
        <p:nvSpPr>
          <p:cNvPr id="18" name="Text 16"/>
          <p:cNvSpPr txBox="1"/>
          <p:nvPr/>
        </p:nvSpPr>
        <p:spPr>
          <a:xfrm>
            <a:off x="640080" y="310804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one sheet in the pile, with its length stamped on.</a:t>
            </a:r>
            <a:endParaRPr lang="en-US" sz="1150" dirty="0"/>
          </a:p>
        </p:txBody>
      </p:sp>
      <p:sp>
        <p:nvSpPr>
          <p:cNvPr id="19" name="Shape 17"/>
          <p:cNvSpPr/>
          <p:nvPr/>
        </p:nvSpPr>
        <p:spPr>
          <a:xfrm>
            <a:off x="4645152" y="2582266"/>
            <a:ext cx="4041648" cy="1174090"/>
          </a:xfrm>
          <a:prstGeom prst="roundRect">
            <a:avLst>
              <a:gd name="adj" fmla="val 6231"/>
            </a:avLst>
          </a:prstGeom>
          <a:solidFill>
            <a:srgbClr val="F2ECE1"/>
          </a:solidFill>
          <a:ln w="12700">
            <a:solidFill>
              <a:srgbClr val="DFD6C7"/>
            </a:solidFill>
            <a:prstDash val="solid"/>
          </a:ln>
        </p:spPr>
      </p:sp>
      <p:sp>
        <p:nvSpPr>
          <p:cNvPr id="20" name="Shape 18"/>
          <p:cNvSpPr/>
          <p:nvPr/>
        </p:nvSpPr>
        <p:spPr>
          <a:xfrm>
            <a:off x="4663440" y="2710282"/>
            <a:ext cx="64008" cy="918058"/>
          </a:xfrm>
          <a:prstGeom prst="rect">
            <a:avLst/>
          </a:prstGeom>
          <a:solidFill>
            <a:srgbClr val="D97A14"/>
          </a:solidFill>
          <a:ln w="12700">
            <a:solidFill>
              <a:srgbClr val="D97A14"/>
            </a:solidFill>
            <a:prstDash val="solid"/>
          </a:ln>
        </p:spPr>
      </p:sp>
      <p:sp>
        <p:nvSpPr>
          <p:cNvPr id="21" name="Text 19"/>
          <p:cNvSpPr txBox="1"/>
          <p:nvPr/>
        </p:nvSpPr>
        <p:spPr>
          <a:xfrm>
            <a:off x="4828032"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A legacy input's witness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 stack of zero items.</a:t>
            </a:r>
            <a:endParaRPr lang="en-US" sz="1300" dirty="0"/>
          </a:p>
        </p:txBody>
      </p:sp>
      <p:sp>
        <p:nvSpPr>
          <p:cNvPr id="22" name="Text 20"/>
          <p:cNvSpPr txBox="1"/>
          <p:nvPr/>
        </p:nvSpPr>
        <p:spPr>
          <a:xfrm>
            <a:off x="4828032" y="310804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an empty annex: nothing stapled to old-style inputs.</a:t>
            </a:r>
            <a:endParaRPr lang="en-US" sz="115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45 / 62</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Hard fork or soft fork?</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Why segregated witness could be activated without splitting the network</a:t>
            </a:r>
            <a:endParaRPr lang="en-US" sz="1300" dirty="0"/>
          </a:p>
        </p:txBody>
      </p:sp>
      <p:sp>
        <p:nvSpPr>
          <p:cNvPr id="6" name="Shape 4"/>
          <p:cNvSpPr/>
          <p:nvPr/>
        </p:nvSpPr>
        <p:spPr>
          <a:xfrm>
            <a:off x="457200" y="1325880"/>
            <a:ext cx="3931920" cy="3108960"/>
          </a:xfrm>
          <a:prstGeom prst="roundRect">
            <a:avLst>
              <a:gd name="adj" fmla="val 2941"/>
            </a:avLst>
          </a:prstGeom>
          <a:solidFill>
            <a:srgbClr val="F2ECE1"/>
          </a:solidFill>
          <a:ln w="15875">
            <a:solidFill>
              <a:srgbClr val="D97A14"/>
            </a:solidFill>
            <a:prstDash val="solid"/>
          </a:ln>
        </p:spPr>
      </p:sp>
      <p:sp>
        <p:nvSpPr>
          <p:cNvPr id="7" name="Text 5"/>
          <p:cNvSpPr txBox="1"/>
          <p:nvPr/>
        </p:nvSpPr>
        <p:spPr>
          <a:xfrm>
            <a:off x="640080" y="1435608"/>
            <a:ext cx="3566160" cy="365760"/>
          </a:xfrm>
          <a:prstGeom prst="rect">
            <a:avLst/>
          </a:prstGeom>
          <a:noFill/>
          <a:ln/>
        </p:spPr>
        <p:txBody>
          <a:bodyPr wrap="square" lIns="0" tIns="0" rIns="0" bIns="0" rtlCol="0" anchor="ctr"/>
          <a:lstStyle/>
          <a:p>
            <a:pPr indent="0" marL="0">
              <a:buNone/>
            </a:pPr>
            <a:r>
              <a:rPr lang="en-US" sz="1500" b="1" dirty="0">
                <a:solidFill>
                  <a:srgbClr val="D97A14"/>
                </a:solidFill>
                <a:latin typeface="Cambria" pitchFamily="34" charset="0"/>
                <a:ea typeface="Cambria" pitchFamily="34" charset="-122"/>
                <a:cs typeface="Cambria" pitchFamily="34" charset="-120"/>
              </a:rPr>
              <a:t>A hard fork loosens the rules</a:t>
            </a:r>
            <a:endParaRPr lang="en-US" sz="1500" dirty="0"/>
          </a:p>
        </p:txBody>
      </p:sp>
      <p:sp>
        <p:nvSpPr>
          <p:cNvPr id="8" name="Text 6"/>
          <p:cNvSpPr txBox="1"/>
          <p:nvPr/>
        </p:nvSpPr>
        <p:spPr>
          <a:xfrm>
            <a:off x="64008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Blocks that old nodes reject become valid.</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Every node must upgrade, or the chain splits.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a new road standard that old cars cannot use.</a:t>
            </a:r>
            <a:endParaRPr lang="en-US" sz="1250" dirty="0"/>
          </a:p>
        </p:txBody>
      </p:sp>
      <p:sp>
        <p:nvSpPr>
          <p:cNvPr id="9" name="Shape 7"/>
          <p:cNvSpPr/>
          <p:nvPr/>
        </p:nvSpPr>
        <p:spPr>
          <a:xfrm>
            <a:off x="4754880" y="1325880"/>
            <a:ext cx="3931920" cy="3108960"/>
          </a:xfrm>
          <a:prstGeom prst="roundRect">
            <a:avLst>
              <a:gd name="adj" fmla="val 2941"/>
            </a:avLst>
          </a:prstGeom>
          <a:solidFill>
            <a:srgbClr val="F2ECE1"/>
          </a:solidFill>
          <a:ln w="15875">
            <a:solidFill>
              <a:srgbClr val="2F6D62"/>
            </a:solidFill>
            <a:prstDash val="solid"/>
          </a:ln>
        </p:spPr>
      </p:sp>
      <p:sp>
        <p:nvSpPr>
          <p:cNvPr id="10" name="Text 8"/>
          <p:cNvSpPr txBox="1"/>
          <p:nvPr/>
        </p:nvSpPr>
        <p:spPr>
          <a:xfrm>
            <a:off x="4937760" y="1435608"/>
            <a:ext cx="3566160" cy="365760"/>
          </a:xfrm>
          <a:prstGeom prst="rect">
            <a:avLst/>
          </a:prstGeom>
          <a:noFill/>
          <a:ln/>
        </p:spPr>
        <p:txBody>
          <a:bodyPr wrap="square" lIns="0" tIns="0" rIns="0" bIns="0" rtlCol="0" anchor="ctr"/>
          <a:lstStyle/>
          <a:p>
            <a:pPr indent="0" marL="0">
              <a:buNone/>
            </a:pPr>
            <a:r>
              <a:rPr lang="en-US" sz="1500" b="1" dirty="0">
                <a:solidFill>
                  <a:srgbClr val="2F6D62"/>
                </a:solidFill>
                <a:latin typeface="Cambria" pitchFamily="34" charset="0"/>
                <a:ea typeface="Cambria" pitchFamily="34" charset="-122"/>
                <a:cs typeface="Cambria" pitchFamily="34" charset="-120"/>
              </a:rPr>
              <a:t>A soft fork tightens the rules</a:t>
            </a:r>
            <a:endParaRPr lang="en-US" sz="1500" dirty="0"/>
          </a:p>
        </p:txBody>
      </p:sp>
      <p:sp>
        <p:nvSpPr>
          <p:cNvPr id="11" name="Text 9"/>
          <p:cNvSpPr txBox="1"/>
          <p:nvPr/>
        </p:nvSpPr>
        <p:spPr>
          <a:xfrm>
            <a:off x="4937760" y="1856232"/>
            <a:ext cx="3566160" cy="2450592"/>
          </a:xfrm>
          <a:prstGeom prst="rect">
            <a:avLst/>
          </a:prstGeom>
          <a:noFill/>
          <a:ln/>
        </p:spPr>
        <p:txBody>
          <a:bodyPr wrap="square" lIns="0" tIns="0" rIns="0" bIns="0" rtlCol="0" anchor="t"/>
          <a:lstStyle/>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New nodes reject more; they accept nothing new.</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Old nodes still follow the chain and accept its blocks.</a:t>
            </a:r>
            <a:endParaRPr lang="en-US" sz="1250" dirty="0"/>
          </a:p>
          <a:p>
            <a:pPr marL="342900" indent="-342900">
              <a:spcAft>
                <a:spcPts val="500"/>
              </a:spcAft>
              <a:buSzPct val="100000"/>
              <a:buChar char="•"/>
            </a:pPr>
            <a:r>
              <a:rPr lang="en-US" sz="1250" dirty="0">
                <a:solidFill>
                  <a:srgbClr val="2B2622"/>
                </a:solidFill>
                <a:latin typeface="Calibri" pitchFamily="34" charset="0"/>
                <a:ea typeface="Calibri" pitchFamily="34" charset="-122"/>
                <a:cs typeface="Calibri" pitchFamily="34" charset="-120"/>
              </a:rPr>
              <a:t>Like a stricter speed limit that old cars can still obey.</a:t>
            </a:r>
            <a:endParaRPr lang="en-US" sz="1250" dirty="0"/>
          </a:p>
        </p:txBody>
      </p:sp>
      <p:sp>
        <p:nvSpPr>
          <p:cNvPr id="12" name="Shape 10"/>
          <p:cNvSpPr/>
          <p:nvPr/>
        </p:nvSpPr>
        <p:spPr>
          <a:xfrm>
            <a:off x="457200" y="4636008"/>
            <a:ext cx="91440" cy="310896"/>
          </a:xfrm>
          <a:prstGeom prst="rect">
            <a:avLst/>
          </a:prstGeom>
          <a:solidFill>
            <a:srgbClr val="D97A14"/>
          </a:solidFill>
          <a:ln w="12700">
            <a:solidFill>
              <a:srgbClr val="D97A14"/>
            </a:solidFill>
            <a:prstDash val="solid"/>
          </a:ln>
        </p:spPr>
      </p:sp>
      <p:sp>
        <p:nvSpPr>
          <p:cNvPr id="13" name="Text 1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soft fork can only restrict; old nodes keep accepting the blocks</a:t>
            </a:r>
            <a:endParaRPr lang="en-US" sz="1350" dirty="0"/>
          </a:p>
        </p:txBody>
      </p:sp>
      <p:sp>
        <p:nvSpPr>
          <p:cNvPr id="14"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46 / 62</a:t>
            </a:r>
            <a:endParaRPr lang="en-US" sz="11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Lock time and the coinbase</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A lock time is a post-dated cheque; a coinbase is the mint's wage slip.</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Lock time</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A rule that a transaction may not enter a block before a time.</a:t>
            </a:r>
            <a:endParaRPr lang="en-US" sz="1150" dirty="0"/>
          </a:p>
        </p:txBody>
      </p:sp>
      <p:sp>
        <p:nvSpPr>
          <p:cNvPr id="9" name="Text 7"/>
          <p:cNvSpPr txBox="1"/>
          <p:nvPr/>
        </p:nvSpPr>
        <p:spPr>
          <a:xfrm>
            <a:off x="77724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post-dated cheque.</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Coinbase transactions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first transaction of every block, which creates new coins.</a:t>
            </a:r>
            <a:endParaRPr lang="en-US" sz="1150" dirty="0"/>
          </a:p>
        </p:txBody>
      </p:sp>
      <p:sp>
        <p:nvSpPr>
          <p:cNvPr id="13" name="Text 11"/>
          <p:cNvSpPr txBox="1"/>
          <p:nvPr/>
        </p:nvSpPr>
        <p:spPr>
          <a:xfrm>
            <a:off x="480060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mint's wage slip for the miner.</a:t>
            </a:r>
            <a:endParaRPr lang="en-US" sz="115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914400"/>
                <a:gridCol w="822960"/>
                <a:gridCol w="1737360"/>
                <a:gridCol w="1737360"/>
                <a:gridCol w="1737360"/>
                <a:gridCol w="914400"/>
              </a:tblGrid>
              <a:tr h="365760">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Version</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Marker Flag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Inputs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Outputs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dirty="0">
                          <a:solidFill>
                            <a:srgbClr val="2B2622"/>
                          </a:solidFill>
                          <a:latin typeface="Calibri" pitchFamily="34" charset="0"/>
                          <a:ea typeface="Calibri" pitchFamily="34" charset="-122"/>
                          <a:cs typeface="Calibri" pitchFamily="34" charset="-120"/>
                        </a:rPr>
                        <a:t>Witnesses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2ECE1"/>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Lock 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47 / 62</a:t>
            </a:r>
            <a:endParaRPr lang="en-US" sz="11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Lock time and the coinbase (1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lock time field</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Zero: eligible for any block.</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do-not-open-before date on an envelope.</a:t>
            </a:r>
            <a:endParaRPr lang="en-US" sz="1150" dirty="0"/>
          </a:p>
        </p:txBody>
      </p:sp>
      <p:sp>
        <p:nvSpPr>
          <p:cNvPr id="10" name="Shape 8"/>
          <p:cNvSpPr/>
          <p:nvPr/>
        </p:nvSpPr>
        <p:spPr>
          <a:xfrm>
            <a:off x="4645152" y="1280160"/>
            <a:ext cx="4041648" cy="1097280"/>
          </a:xfrm>
          <a:prstGeom prst="roundRect">
            <a:avLst>
              <a:gd name="adj" fmla="val 6667"/>
            </a:avLst>
          </a:prstGeom>
          <a:solidFill>
            <a:srgbClr val="F2ECE1"/>
          </a:solidFill>
          <a:ln w="12700">
            <a:solidFill>
              <a:srgbClr val="DFD6C7"/>
            </a:solidFill>
            <a:prstDash val="solid"/>
          </a:ln>
        </p:spPr>
      </p:sp>
      <p:sp>
        <p:nvSpPr>
          <p:cNvPr id="11" name="Shape 9"/>
          <p:cNvSpPr/>
          <p:nvPr/>
        </p:nvSpPr>
        <p:spPr>
          <a:xfrm>
            <a:off x="4663440" y="1408176"/>
            <a:ext cx="64008" cy="84124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Lock time as a block height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123,456 means block 123,456 or later.</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do not open before a numbered page of the logbook.</a:t>
            </a:r>
            <a:endParaRPr lang="en-US" sz="1150" dirty="0"/>
          </a:p>
        </p:txBody>
      </p:sp>
      <p:sp>
        <p:nvSpPr>
          <p:cNvPr id="14" name="Shape 12"/>
          <p:cNvSpPr/>
          <p:nvPr/>
        </p:nvSpPr>
        <p:spPr>
          <a:xfrm>
            <a:off x="457200" y="2505456"/>
            <a:ext cx="4041648" cy="1097280"/>
          </a:xfrm>
          <a:prstGeom prst="roundRect">
            <a:avLst>
              <a:gd name="adj" fmla="val 6667"/>
            </a:avLst>
          </a:prstGeom>
          <a:solidFill>
            <a:srgbClr val="F2ECE1"/>
          </a:solidFill>
          <a:ln w="12700">
            <a:solidFill>
              <a:srgbClr val="DFD6C7"/>
            </a:solidFill>
            <a:prstDash val="solid"/>
          </a:ln>
        </p:spPr>
      </p:sp>
      <p:sp>
        <p:nvSpPr>
          <p:cNvPr id="15" name="Shape 13"/>
          <p:cNvSpPr/>
          <p:nvPr/>
        </p:nvSpPr>
        <p:spPr>
          <a:xfrm>
            <a:off x="475488" y="2633472"/>
            <a:ext cx="64008" cy="841248"/>
          </a:xfrm>
          <a:prstGeom prst="rect">
            <a:avLst/>
          </a:prstGeom>
          <a:solidFill>
            <a:srgbClr val="D97A14"/>
          </a:solidFill>
          <a:ln w="12700">
            <a:solidFill>
              <a:srgbClr val="D97A14"/>
            </a:solidFill>
            <a:prstDash val="solid"/>
          </a:ln>
        </p:spPr>
      </p:sp>
      <p:sp>
        <p:nvSpPr>
          <p:cNvPr id="16" name="Text 14"/>
          <p:cNvSpPr txBox="1"/>
          <p:nvPr/>
        </p:nvSpPr>
        <p:spPr>
          <a:xfrm>
            <a:off x="640080" y="256946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Lock time as an epoch time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500,000,000 or more is a timestamp.</a:t>
            </a:r>
            <a:endParaRPr lang="en-US" sz="1300" dirty="0"/>
          </a:p>
        </p:txBody>
      </p:sp>
      <p:sp>
        <p:nvSpPr>
          <p:cNvPr id="17" name="Text 15"/>
          <p:cNvSpPr txBox="1"/>
          <p:nvPr/>
        </p:nvSpPr>
        <p:spPr>
          <a:xfrm>
            <a:off x="640080" y="303123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do not open before this calendar date.</a:t>
            </a:r>
            <a:endParaRPr lang="en-US" sz="1150" dirty="0"/>
          </a:p>
        </p:txBody>
      </p:sp>
      <p:sp>
        <p:nvSpPr>
          <p:cNvPr id="18" name="Shape 16"/>
          <p:cNvSpPr/>
          <p:nvPr/>
        </p:nvSpPr>
        <p:spPr>
          <a:xfrm>
            <a:off x="4645152" y="2505456"/>
            <a:ext cx="4041648" cy="1097280"/>
          </a:xfrm>
          <a:prstGeom prst="roundRect">
            <a:avLst>
              <a:gd name="adj" fmla="val 6667"/>
            </a:avLst>
          </a:prstGeom>
          <a:solidFill>
            <a:srgbClr val="F2ECE1"/>
          </a:solidFill>
          <a:ln w="12700">
            <a:solidFill>
              <a:srgbClr val="DFD6C7"/>
            </a:solidFill>
            <a:prstDash val="solid"/>
          </a:ln>
        </p:spPr>
      </p:sp>
      <p:sp>
        <p:nvSpPr>
          <p:cNvPr id="19" name="Shape 17"/>
          <p:cNvSpPr/>
          <p:nvPr/>
        </p:nvSpPr>
        <p:spPr>
          <a:xfrm>
            <a:off x="4663440" y="2633472"/>
            <a:ext cx="64008" cy="841248"/>
          </a:xfrm>
          <a:prstGeom prst="rect">
            <a:avLst/>
          </a:prstGeom>
          <a:solidFill>
            <a:srgbClr val="D97A14"/>
          </a:solidFill>
          <a:ln w="12700">
            <a:solidFill>
              <a:srgbClr val="D97A14"/>
            </a:solidFill>
            <a:prstDash val="solid"/>
          </a:ln>
        </p:spPr>
      </p:sp>
      <p:sp>
        <p:nvSpPr>
          <p:cNvPr id="20" name="Text 18"/>
          <p:cNvSpPr txBox="1"/>
          <p:nvPr/>
        </p:nvSpPr>
        <p:spPr>
          <a:xfrm>
            <a:off x="4828032" y="256946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Median time past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middle of eleven block times.</a:t>
            </a:r>
            <a:endParaRPr lang="en-US" sz="1300" dirty="0"/>
          </a:p>
        </p:txBody>
      </p:sp>
      <p:sp>
        <p:nvSpPr>
          <p:cNvPr id="21" name="Text 19"/>
          <p:cNvSpPr txBox="1"/>
          <p:nvPr/>
        </p:nvSpPr>
        <p:spPr>
          <a:xfrm>
            <a:off x="4828032" y="303123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asking the middle voter, not the loudest.</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48 / 62</a:t>
            </a:r>
            <a:endParaRPr lang="en-US" sz="11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Lock time and the median time past</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Which clock a lock time is read against</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ks = (</a:t>
            </a:r>
            <a:r>
              <a:rPr lang="en-US" sz="1000" dirty="0">
                <a:solidFill>
                  <a:srgbClr val="FFD28A"/>
                </a:solidFill>
                <a:latin typeface="Courier New" pitchFamily="34" charset="0"/>
                <a:ea typeface="Courier New" pitchFamily="34" charset="-122"/>
                <a:cs typeface="Courier New" pitchFamily="34" charset="-120"/>
              </a:rPr>
              <a:t>15</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21</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5</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27</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24</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26</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18</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23</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25</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times = [</a:t>
            </a:r>
            <a:r>
              <a:rPr lang="en-US" sz="1000" dirty="0">
                <a:solidFill>
                  <a:srgbClr val="FFD28A"/>
                </a:solidFill>
                <a:latin typeface="Courier New" pitchFamily="34" charset="0"/>
                <a:ea typeface="Courier New" pitchFamily="34" charset="-122"/>
                <a:cs typeface="Courier New" pitchFamily="34" charset="-120"/>
              </a:rPr>
              <a:t>1675556500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100</a:t>
            </a:r>
            <a:r>
              <a:rPr lang="en-US" sz="1000" dirty="0">
                <a:solidFill>
                  <a:srgbClr val="E6EDF3"/>
                </a:solidFill>
                <a:latin typeface="Courier New" pitchFamily="34" charset="0"/>
                <a:ea typeface="Courier New" pitchFamily="34" charset="-122"/>
                <a:cs typeface="Courier New" pitchFamily="34" charset="-120"/>
              </a:rPr>
              <a:t> * k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k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ks]</a:t>
            </a:r>
            <a:endParaRPr lang="en-US" sz="1000" dirty="0"/>
          </a:p>
        </p:txBody>
      </p:sp>
      <p:sp>
        <p:nvSpPr>
          <p:cNvPr id="8" name="Shape 6"/>
          <p:cNvSpPr/>
          <p:nvPr/>
        </p:nvSpPr>
        <p:spPr>
          <a:xfrm>
            <a:off x="457200" y="2122322"/>
            <a:ext cx="5074920" cy="641909"/>
          </a:xfrm>
          <a:prstGeom prst="roundRect">
            <a:avLst>
              <a:gd name="adj" fmla="val 11396"/>
            </a:avLst>
          </a:prstGeom>
          <a:solidFill>
            <a:srgbClr val="23272E"/>
          </a:solidFill>
          <a:ln w="12700">
            <a:solidFill>
              <a:srgbClr val="23272E"/>
            </a:solidFill>
            <a:prstDash val="solid"/>
          </a:ln>
        </p:spPr>
      </p:sp>
      <p:sp>
        <p:nvSpPr>
          <p:cNvPr id="9" name="Text 7"/>
          <p:cNvSpPr txBox="1"/>
          <p:nvPr/>
        </p:nvSpPr>
        <p:spPr>
          <a:xfrm>
            <a:off x="603504" y="2195474"/>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mtp = median_time_past(times)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offsets = [t - </a:t>
            </a:r>
            <a:r>
              <a:rPr lang="en-US" sz="1000" dirty="0">
                <a:solidFill>
                  <a:srgbClr val="FFD28A"/>
                </a:solidFill>
                <a:latin typeface="Courier New" pitchFamily="34" charset="0"/>
                <a:ea typeface="Courier New" pitchFamily="34" charset="-122"/>
                <a:cs typeface="Courier New" pitchFamily="34" charset="-120"/>
              </a:rPr>
              <a:t>1675556500</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t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times]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mtp_offset = mtp - </a:t>
            </a:r>
            <a:r>
              <a:rPr lang="en-US" sz="1000" dirty="0">
                <a:solidFill>
                  <a:srgbClr val="FFD28A"/>
                </a:solidFill>
                <a:latin typeface="Courier New" pitchFamily="34" charset="0"/>
                <a:ea typeface="Courier New" pitchFamily="34" charset="-122"/>
                <a:cs typeface="Courier New" pitchFamily="34" charset="-120"/>
              </a:rPr>
              <a:t>1675556500</a:t>
            </a:r>
            <a:endParaRPr lang="en-US" sz="1000" dirty="0"/>
          </a:p>
        </p:txBody>
      </p:sp>
      <p:sp>
        <p:nvSpPr>
          <p:cNvPr id="10" name="Shape 8"/>
          <p:cNvSpPr/>
          <p:nvPr/>
        </p:nvSpPr>
        <p:spPr>
          <a:xfrm>
            <a:off x="457200" y="3084271"/>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3157423"/>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lt = (</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123456</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1675556500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kinds = [locktime_decode(n)[</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n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lt]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mtp_offset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2100</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Eleven block times, out of order, as they are on the real chain.</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median time past is the middle of the eleven, not the newest.</a:t>
            </a:r>
            <a:endParaRPr lang="en-US" sz="1050" dirty="0"/>
          </a:p>
        </p:txBody>
      </p:sp>
      <p:sp>
        <p:nvSpPr>
          <p:cNvPr id="18" name="Shape 16"/>
          <p:cNvSpPr/>
          <p:nvPr/>
        </p:nvSpPr>
        <p:spPr>
          <a:xfrm>
            <a:off x="365760" y="301111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111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820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lock time below 500 million is a height; a larger one is a time.</a:t>
            </a:r>
            <a:endParaRPr lang="en-US" sz="1050" dirty="0"/>
          </a:p>
        </p:txBody>
      </p:sp>
      <p:sp>
        <p:nvSpPr>
          <p:cNvPr id="21" name="Text 19"/>
          <p:cNvSpPr txBox="1"/>
          <p:nvPr/>
        </p:nvSpPr>
        <p:spPr>
          <a:xfrm>
            <a:off x="457200" y="417423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ALICE, PREV, FIRST and tx as set up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block times, seconds after 1675556500</a:t>
            </a:r>
            <a:endParaRPr lang="en-US" sz="1100" dirty="0"/>
          </a:p>
        </p:txBody>
      </p:sp>
      <p:graphicFrame>
        <p:nvGraphicFramePr>
          <p:cNvPr id="23" name="Chart 0" descr=""/>
          <p:cNvGraphicFramePr/>
          <p:nvPr/>
        </p:nvGraphicFramePr>
        <p:xfrm>
          <a:off x="5715000" y="1773936"/>
          <a:ext cx="2971800" cy="189280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758184"/>
            <a:ext cx="2971800" cy="78638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median of the eleven is 2,100 s, 600 s below the highest. Lock time kinds: any block, block height, epoch time.</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Lock time says not before; nothing in a transaction says not after</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49 / 62</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Lock time and the coinbase (2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74090"/>
          </a:xfrm>
          <a:prstGeom prst="roundRect">
            <a:avLst>
              <a:gd name="adj" fmla="val 6231"/>
            </a:avLst>
          </a:prstGeom>
          <a:solidFill>
            <a:srgbClr val="F2ECE1"/>
          </a:solidFill>
          <a:ln w="12700">
            <a:solidFill>
              <a:srgbClr val="DFD6C7"/>
            </a:solidFill>
            <a:prstDash val="solid"/>
          </a:ln>
        </p:spPr>
      </p:sp>
      <p:sp>
        <p:nvSpPr>
          <p:cNvPr id="7" name="Shape 5"/>
          <p:cNvSpPr/>
          <p:nvPr/>
        </p:nvSpPr>
        <p:spPr>
          <a:xfrm>
            <a:off x="475488" y="1408176"/>
            <a:ext cx="64008" cy="91805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Coinbase transaction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First in the block, made by the miner.</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bonus the mint pays whoever closes the page.</a:t>
            </a:r>
            <a:endParaRPr lang="en-US" sz="1150" dirty="0"/>
          </a:p>
        </p:txBody>
      </p:sp>
      <p:sp>
        <p:nvSpPr>
          <p:cNvPr id="10" name="Text 8"/>
          <p:cNvSpPr txBox="1"/>
          <p:nvPr/>
        </p:nvSpPr>
        <p:spPr>
          <a:xfrm>
            <a:off x="640080" y="2217420"/>
            <a:ext cx="3767328" cy="191110"/>
          </a:xfrm>
          <a:prstGeom prst="rect">
            <a:avLst/>
          </a:prstGeom>
          <a:noFill/>
          <a:ln/>
        </p:spPr>
        <p:txBody>
          <a:bodyPr wrap="square" lIns="0" tIns="0" rIns="0" bIns="0" rtlCol="0" anchor="t"/>
          <a:lstStyle/>
          <a:p>
            <a:pPr indent="0" marL="0">
              <a:buNone/>
            </a:pPr>
            <a:r>
              <a:rPr lang="en-US" sz="1000" dirty="0">
                <a:solidFill>
                  <a:srgbClr val="6E655C"/>
                </a:solidFill>
                <a:latin typeface="Calibri" pitchFamily="34" charset="0"/>
                <a:ea typeface="Calibri" pitchFamily="34" charset="-122"/>
                <a:cs typeface="Calibri" pitchFamily="34" charset="-120"/>
              </a:rPr>
              <a:t>Also called: generation transaction</a:t>
            </a:r>
            <a:endParaRPr lang="en-US" sz="1000" dirty="0"/>
          </a:p>
        </p:txBody>
      </p:sp>
      <p:sp>
        <p:nvSpPr>
          <p:cNvPr id="11" name="Shape 9"/>
          <p:cNvSpPr/>
          <p:nvPr/>
        </p:nvSpPr>
        <p:spPr>
          <a:xfrm>
            <a:off x="4645152" y="1280160"/>
            <a:ext cx="4041648" cy="1174090"/>
          </a:xfrm>
          <a:prstGeom prst="roundRect">
            <a:avLst>
              <a:gd name="adj" fmla="val 6231"/>
            </a:avLst>
          </a:prstGeom>
          <a:solidFill>
            <a:srgbClr val="F2ECE1"/>
          </a:solidFill>
          <a:ln w="12700">
            <a:solidFill>
              <a:srgbClr val="DFD6C7"/>
            </a:solidFill>
            <a:prstDash val="solid"/>
          </a:ln>
        </p:spPr>
      </p:sp>
      <p:sp>
        <p:nvSpPr>
          <p:cNvPr id="12" name="Shape 10"/>
          <p:cNvSpPr/>
          <p:nvPr/>
        </p:nvSpPr>
        <p:spPr>
          <a:xfrm>
            <a:off x="4663440" y="1408176"/>
            <a:ext cx="64008" cy="918058"/>
          </a:xfrm>
          <a:prstGeom prst="rect">
            <a:avLst/>
          </a:prstGeom>
          <a:solidFill>
            <a:srgbClr val="D97A14"/>
          </a:solidFill>
          <a:ln w="12700">
            <a:solidFill>
              <a:srgbClr val="D97A14"/>
            </a:solidFill>
            <a:prstDash val="solid"/>
          </a:ln>
        </p:spPr>
      </p:sp>
      <p:sp>
        <p:nvSpPr>
          <p:cNvPr id="13" name="Text 11"/>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null outpoint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32 zero bytes and index 0xffffffff.</a:t>
            </a:r>
            <a:endParaRPr lang="en-US" sz="1300" dirty="0"/>
          </a:p>
        </p:txBody>
      </p:sp>
      <p:sp>
        <p:nvSpPr>
          <p:cNvPr id="14" name="Text 12"/>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ticket with no previous holder: printed new.</a:t>
            </a:r>
            <a:endParaRPr lang="en-US" sz="1150" dirty="0"/>
          </a:p>
        </p:txBody>
      </p:sp>
      <p:sp>
        <p:nvSpPr>
          <p:cNvPr id="15" name="Shape 13"/>
          <p:cNvSpPr/>
          <p:nvPr/>
        </p:nvSpPr>
        <p:spPr>
          <a:xfrm>
            <a:off x="457200" y="2582266"/>
            <a:ext cx="4041648" cy="1174090"/>
          </a:xfrm>
          <a:prstGeom prst="roundRect">
            <a:avLst>
              <a:gd name="adj" fmla="val 6231"/>
            </a:avLst>
          </a:prstGeom>
          <a:solidFill>
            <a:srgbClr val="F2ECE1"/>
          </a:solidFill>
          <a:ln w="12700">
            <a:solidFill>
              <a:srgbClr val="DFD6C7"/>
            </a:solidFill>
            <a:prstDash val="solid"/>
          </a:ln>
        </p:spPr>
      </p:sp>
      <p:sp>
        <p:nvSpPr>
          <p:cNvPr id="16" name="Shape 14"/>
          <p:cNvSpPr/>
          <p:nvPr/>
        </p:nvSpPr>
        <p:spPr>
          <a:xfrm>
            <a:off x="475488" y="2710282"/>
            <a:ext cx="64008" cy="918058"/>
          </a:xfrm>
          <a:prstGeom prst="rect">
            <a:avLst/>
          </a:prstGeom>
          <a:solidFill>
            <a:srgbClr val="D97A14"/>
          </a:solidFill>
          <a:ln w="12700">
            <a:solidFill>
              <a:srgbClr val="D97A14"/>
            </a:solidFill>
            <a:prstDash val="solid"/>
          </a:ln>
        </p:spPr>
      </p:sp>
      <p:sp>
        <p:nvSpPr>
          <p:cNvPr id="17" name="Text 15"/>
          <p:cNvSpPr txBox="1"/>
          <p:nvPr/>
        </p:nvSpPr>
        <p:spPr>
          <a:xfrm>
            <a:off x="640080"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coinbase field</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2 to 100 bytes, beginning with the height.</a:t>
            </a:r>
            <a:endParaRPr lang="en-US" sz="1300" dirty="0"/>
          </a:p>
        </p:txBody>
      </p:sp>
      <p:sp>
        <p:nvSpPr>
          <p:cNvPr id="18" name="Text 16"/>
          <p:cNvSpPr txBox="1"/>
          <p:nvPr/>
        </p:nvSpPr>
        <p:spPr>
          <a:xfrm>
            <a:off x="640080" y="3108046"/>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free text box on the bonus slip.</a:t>
            </a:r>
            <a:endParaRPr lang="en-US" sz="1150" dirty="0"/>
          </a:p>
        </p:txBody>
      </p:sp>
      <p:sp>
        <p:nvSpPr>
          <p:cNvPr id="19" name="Shape 17"/>
          <p:cNvSpPr/>
          <p:nvPr/>
        </p:nvSpPr>
        <p:spPr>
          <a:xfrm>
            <a:off x="4645152" y="2582266"/>
            <a:ext cx="4041648" cy="1174090"/>
          </a:xfrm>
          <a:prstGeom prst="roundRect">
            <a:avLst>
              <a:gd name="adj" fmla="val 6231"/>
            </a:avLst>
          </a:prstGeom>
          <a:solidFill>
            <a:srgbClr val="F2ECE1"/>
          </a:solidFill>
          <a:ln w="12700">
            <a:solidFill>
              <a:srgbClr val="DFD6C7"/>
            </a:solidFill>
            <a:prstDash val="solid"/>
          </a:ln>
        </p:spPr>
      </p:sp>
      <p:sp>
        <p:nvSpPr>
          <p:cNvPr id="20" name="Shape 18"/>
          <p:cNvSpPr/>
          <p:nvPr/>
        </p:nvSpPr>
        <p:spPr>
          <a:xfrm>
            <a:off x="4663440" y="2710282"/>
            <a:ext cx="64008" cy="918058"/>
          </a:xfrm>
          <a:prstGeom prst="rect">
            <a:avLst/>
          </a:prstGeom>
          <a:solidFill>
            <a:srgbClr val="D97A14"/>
          </a:solidFill>
          <a:ln w="12700">
            <a:solidFill>
              <a:srgbClr val="D97A14"/>
            </a:solidFill>
            <a:prstDash val="solid"/>
          </a:ln>
        </p:spPr>
      </p:sp>
      <p:sp>
        <p:nvSpPr>
          <p:cNvPr id="21" name="Text 19"/>
          <p:cNvSpPr txBox="1"/>
          <p:nvPr/>
        </p:nvSpPr>
        <p:spPr>
          <a:xfrm>
            <a:off x="4828032" y="264627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Block subsidy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50 BTC, halved every 210,000 blocks.</a:t>
            </a:r>
            <a:endParaRPr lang="en-US" sz="1300" dirty="0"/>
          </a:p>
        </p:txBody>
      </p:sp>
      <p:sp>
        <p:nvSpPr>
          <p:cNvPr id="22" name="Text 20"/>
          <p:cNvSpPr txBox="1"/>
          <p:nvPr/>
        </p:nvSpPr>
        <p:spPr>
          <a:xfrm>
            <a:off x="4828032" y="310804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bonus that halves every four years of work.</a:t>
            </a:r>
            <a:endParaRPr lang="en-US" sz="115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50 / 62</a:t>
            </a:r>
            <a:endParaRPr lang="en-US" sz="11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subsidy, halving by halving</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New bitcoin created by each block</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 = </a:t>
            </a:r>
            <a:r>
              <a:rPr lang="en-US" sz="1000" dirty="0">
                <a:solidFill>
                  <a:srgbClr val="FFD28A"/>
                </a:solidFill>
                <a:latin typeface="Courier New" pitchFamily="34" charset="0"/>
                <a:ea typeface="Courier New" pitchFamily="34" charset="-122"/>
                <a:cs typeface="Courier New" pitchFamily="34" charset="-120"/>
              </a:rPr>
              <a:t>210000</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subs = [block_subsidy(n * h) / COIN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h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range(</a:t>
            </a:r>
            <a:r>
              <a:rPr lang="en-US" sz="1000" dirty="0">
                <a:solidFill>
                  <a:srgbClr val="FFD28A"/>
                </a:solidFill>
                <a:latin typeface="Courier New" pitchFamily="34" charset="0"/>
                <a:ea typeface="Courier New" pitchFamily="34" charset="-122"/>
                <a:cs typeface="Courier New" pitchFamily="34" charset="-120"/>
              </a:rPr>
              <a:t>9</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2122322"/>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195474"/>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last = last_subsidy_height()</a:t>
            </a:r>
            <a:endParaRPr lang="en-US" sz="1000" dirty="0"/>
          </a:p>
        </p:txBody>
      </p:sp>
      <p:sp>
        <p:nvSpPr>
          <p:cNvPr id="10" name="Shape 8"/>
          <p:cNvSpPr/>
          <p:nvPr/>
        </p:nvSpPr>
        <p:spPr>
          <a:xfrm>
            <a:off x="457200" y="2754173"/>
            <a:ext cx="5074920" cy="641909"/>
          </a:xfrm>
          <a:prstGeom prst="roundRect">
            <a:avLst>
              <a:gd name="adj" fmla="val 11396"/>
            </a:avLst>
          </a:prstGeom>
          <a:solidFill>
            <a:srgbClr val="23272E"/>
          </a:solidFill>
          <a:ln w="12700">
            <a:solidFill>
              <a:srgbClr val="23272E"/>
            </a:solidFill>
            <a:prstDash val="solid"/>
          </a:ln>
        </p:spPr>
      </p:sp>
      <p:sp>
        <p:nvSpPr>
          <p:cNvPr id="11" name="Text 9"/>
          <p:cNvSpPr txBox="1"/>
          <p:nvPr/>
        </p:nvSpPr>
        <p:spPr>
          <a:xfrm>
            <a:off x="603504" y="2827325"/>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total = total_subsidy() / COIN</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last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6929999</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subsidy halves at every multiple of 210,000 blocks.</a:t>
            </a:r>
            <a:endParaRPr lang="en-US" sz="1050" dirty="0"/>
          </a:p>
        </p:txBody>
      </p:sp>
      <p:sp>
        <p:nvSpPr>
          <p:cNvPr id="15" name="Shape 13"/>
          <p:cNvSpPr/>
          <p:nvPr/>
        </p:nvSpPr>
        <p:spPr>
          <a:xfrm>
            <a:off x="365760" y="2049170"/>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049170"/>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461565"/>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After the block found here the subsidy is zero for good.</a:t>
            </a:r>
            <a:endParaRPr lang="en-US" sz="1050" dirty="0"/>
          </a:p>
        </p:txBody>
      </p:sp>
      <p:sp>
        <p:nvSpPr>
          <p:cNvPr id="18" name="Shape 16"/>
          <p:cNvSpPr/>
          <p:nvPr/>
        </p:nvSpPr>
        <p:spPr>
          <a:xfrm>
            <a:off x="365760" y="2681021"/>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681021"/>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Everything ever issued stays just below 21 million bitcoin.</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ALICE, PREV, FIRST and tx as set up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subsidy in bitcoin, by halving number</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last subsidy is paid at block 6,929,999; the total ever issued is 20,999,999.9769 bitcoin.</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The coinbase is the only transaction that creates bitcoin</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51 / 62</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Lock time and the coinbase (3 of 3)</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Block reward</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Fees plus subsidy, as a ceiling.</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bonus plus the tips from customers.</a:t>
            </a:r>
            <a:endParaRPr lang="en-US" sz="1150" dirty="0"/>
          </a:p>
        </p:txBody>
      </p:sp>
      <p:sp>
        <p:nvSpPr>
          <p:cNvPr id="10" name="Shape 8"/>
          <p:cNvSpPr/>
          <p:nvPr/>
        </p:nvSpPr>
        <p:spPr>
          <a:xfrm>
            <a:off x="4645152" y="1280160"/>
            <a:ext cx="4041648" cy="1097280"/>
          </a:xfrm>
          <a:prstGeom prst="roundRect">
            <a:avLst>
              <a:gd name="adj" fmla="val 6667"/>
            </a:avLst>
          </a:prstGeom>
          <a:solidFill>
            <a:srgbClr val="F2ECE1"/>
          </a:solidFill>
          <a:ln w="12700">
            <a:solidFill>
              <a:srgbClr val="DFD6C7"/>
            </a:solidFill>
            <a:prstDash val="solid"/>
          </a:ln>
        </p:spPr>
      </p:sp>
      <p:sp>
        <p:nvSpPr>
          <p:cNvPr id="11" name="Shape 9"/>
          <p:cNvSpPr/>
          <p:nvPr/>
        </p:nvSpPr>
        <p:spPr>
          <a:xfrm>
            <a:off x="4663440" y="1408176"/>
            <a:ext cx="64008" cy="84124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Maturity rule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100 confirmations before spending.</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wages you cannot spend until the pay clears.</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52 / 62</a:t>
            </a:r>
            <a:endParaRPr lang="en-US" sz="11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coinbase and its maturity</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null input, and 100 blocks of waiting</a:t>
            </a:r>
            <a:endParaRPr lang="en-US" sz="1300" dirty="0"/>
          </a:p>
        </p:txBody>
      </p:sp>
      <p:sp>
        <p:nvSpPr>
          <p:cNvPr id="6" name="Shape 4"/>
          <p:cNvSpPr/>
          <p:nvPr/>
        </p:nvSpPr>
        <p:spPr>
          <a:xfrm>
            <a:off x="457200" y="1325880"/>
            <a:ext cx="5074920" cy="476402"/>
          </a:xfrm>
          <a:prstGeom prst="roundRect">
            <a:avLst>
              <a:gd name="adj" fmla="val 15355"/>
            </a:avLst>
          </a:prstGeom>
          <a:solidFill>
            <a:srgbClr val="23272E"/>
          </a:solidFill>
          <a:ln w="12700">
            <a:solidFill>
              <a:srgbClr val="23272E"/>
            </a:solidFill>
            <a:prstDash val="solid"/>
          </a:ln>
        </p:spPr>
      </p:sp>
      <p:sp>
        <p:nvSpPr>
          <p:cNvPr id="7" name="Text 5"/>
          <p:cNvSpPr txBox="1"/>
          <p:nvPr/>
        </p:nvSpPr>
        <p:spPr>
          <a:xfrm>
            <a:off x="603504" y="1399032"/>
            <a:ext cx="4800600" cy="348386"/>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null = {</a:t>
            </a:r>
            <a:r>
              <a:rPr lang="en-US" sz="1000" dirty="0">
                <a:solidFill>
                  <a:srgbClr val="9ECBFF"/>
                </a:solidFill>
                <a:latin typeface="Courier New" pitchFamily="34" charset="0"/>
                <a:ea typeface="Courier New" pitchFamily="34" charset="-122"/>
                <a:cs typeface="Courier New" pitchFamily="34" charset="-120"/>
              </a:rPr>
              <a:t>'txid'</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'00'</a:t>
            </a:r>
            <a:r>
              <a:rPr lang="en-US" sz="1000" dirty="0">
                <a:solidFill>
                  <a:srgbClr val="E6EDF3"/>
                </a:solidFill>
                <a:latin typeface="Courier New" pitchFamily="34" charset="0"/>
                <a:ea typeface="Courier New" pitchFamily="34" charset="-122"/>
                <a:cs typeface="Courier New" pitchFamily="34" charset="-120"/>
              </a:rPr>
              <a:t> * </a:t>
            </a:r>
            <a:r>
              <a:rPr lang="en-US" sz="1000" dirty="0">
                <a:solidFill>
                  <a:srgbClr val="FFD28A"/>
                </a:solidFill>
                <a:latin typeface="Courier New" pitchFamily="34" charset="0"/>
                <a:ea typeface="Courier New" pitchFamily="34" charset="-122"/>
                <a:cs typeface="Courier New" pitchFamily="34" charset="-120"/>
              </a:rPr>
              <a:t>32</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9ECBFF"/>
                </a:solidFill>
                <a:latin typeface="Courier New" pitchFamily="34" charset="0"/>
                <a:ea typeface="Courier New" pitchFamily="34" charset="-122"/>
                <a:cs typeface="Courier New" pitchFamily="34" charset="-120"/>
              </a:rPr>
              <a:t>'vout'</a:t>
            </a:r>
            <a:r>
              <a:rPr lang="en-US" sz="1000" dirty="0">
                <a:solidFill>
                  <a:srgbClr val="E6EDF3"/>
                </a:solidFill>
                <a:latin typeface="Courier New" pitchFamily="34" charset="0"/>
                <a:ea typeface="Courier New" pitchFamily="34" charset="-122"/>
                <a:cs typeface="Courier New" pitchFamily="34" charset="-120"/>
              </a:rPr>
              <a:t>: 0xffffffff}</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cb = {</a:t>
            </a:r>
            <a:r>
              <a:rPr lang="en-US" sz="1000" dirty="0">
                <a:solidFill>
                  <a:srgbClr val="9ECBFF"/>
                </a:solidFill>
                <a:latin typeface="Courier New" pitchFamily="34" charset="0"/>
                <a:ea typeface="Courier New" pitchFamily="34" charset="-122"/>
                <a:cs typeface="Courier New" pitchFamily="34" charset="-120"/>
              </a:rPr>
              <a:t>'inputs'</a:t>
            </a:r>
            <a:r>
              <a:rPr lang="en-US" sz="1000" dirty="0">
                <a:solidFill>
                  <a:srgbClr val="E6EDF3"/>
                </a:solidFill>
                <a:latin typeface="Courier New" pitchFamily="34" charset="0"/>
                <a:ea typeface="Courier New" pitchFamily="34" charset="-122"/>
                <a:cs typeface="Courier New" pitchFamily="34" charset="-120"/>
              </a:rPr>
              <a:t>: [null]}</a:t>
            </a:r>
            <a:endParaRPr lang="en-US" sz="1000" dirty="0"/>
          </a:p>
        </p:txBody>
      </p:sp>
      <p:sp>
        <p:nvSpPr>
          <p:cNvPr id="8" name="Shape 6"/>
          <p:cNvSpPr/>
          <p:nvPr/>
        </p:nvSpPr>
        <p:spPr>
          <a:xfrm>
            <a:off x="457200" y="2286914"/>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360066"/>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flags = (is_coinbase(cb), is_coinbase(tx))</a:t>
            </a:r>
            <a:endParaRPr lang="en-US" sz="1000" dirty="0"/>
          </a:p>
        </p:txBody>
      </p:sp>
      <p:sp>
        <p:nvSpPr>
          <p:cNvPr id="10" name="Shape 8"/>
          <p:cNvSpPr/>
          <p:nvPr/>
        </p:nvSpPr>
        <p:spPr>
          <a:xfrm>
            <a:off x="457200" y="2918765"/>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991917"/>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hs = (</a:t>
            </a:r>
            <a:r>
              <a:rPr lang="en-US" sz="1000" dirty="0">
                <a:solidFill>
                  <a:srgbClr val="FFD28A"/>
                </a:solidFill>
                <a:latin typeface="Courier New" pitchFamily="34" charset="0"/>
                <a:ea typeface="Courier New" pitchFamily="34" charset="-122"/>
                <a:cs typeface="Courier New" pitchFamily="34" charset="-120"/>
              </a:rPr>
              <a:t>100</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108</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109</a:t>
            </a:r>
            <a:r>
              <a:rPr lang="en-US" sz="1000" dirty="0">
                <a:solidFill>
                  <a:srgbClr val="E6EDF3"/>
                </a:solidFill>
                <a:latin typeface="Courier New" pitchFamily="34" charset="0"/>
                <a:ea typeface="Courier New" pitchFamily="34" charset="-122"/>
                <a:cs typeface="Courier New" pitchFamily="34" charset="-120"/>
              </a:rPr>
              <a:t>, </a:t>
            </a:r>
            <a:r>
              <a:rPr lang="en-US" sz="1000" dirty="0">
                <a:solidFill>
                  <a:srgbClr val="FFD28A"/>
                </a:solidFill>
                <a:latin typeface="Courier New" pitchFamily="34" charset="0"/>
                <a:ea typeface="Courier New" pitchFamily="34" charset="-122"/>
                <a:cs typeface="Courier New" pitchFamily="34" charset="-120"/>
              </a:rPr>
              <a:t>170</a:t>
            </a:r>
            <a:r>
              <a:rPr lang="en-US" sz="1000" dirty="0">
                <a:solidFill>
                  <a:srgbClr val="E6EDF3"/>
                </a:solidFill>
                <a:latin typeface="Courier New" pitchFamily="34" charset="0"/>
                <a:ea typeface="Courier New" pitchFamily="34" charset="-122"/>
                <a:cs typeface="Courier New" pitchFamily="34" charset="-120"/>
              </a:rPr>
              <a: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ages = [(h, h - </a:t>
            </a:r>
            <a:r>
              <a:rPr lang="en-US" sz="1000" dirty="0">
                <a:solidFill>
                  <a:srgbClr val="FFD28A"/>
                </a:solidFill>
                <a:latin typeface="Courier New" pitchFamily="34" charset="0"/>
                <a:ea typeface="Courier New" pitchFamily="34" charset="-122"/>
                <a:cs typeface="Courier New" pitchFamily="34" charset="-120"/>
              </a:rPr>
              <a:t>9</a:t>
            </a:r>
            <a:r>
              <a:rPr lang="en-US" sz="1000" dirty="0">
                <a:solidFill>
                  <a:srgbClr val="E6EDF3"/>
                </a:solidFill>
                <a:latin typeface="Courier New" pitchFamily="34" charset="0"/>
                <a:ea typeface="Courier New" pitchFamily="34" charset="-122"/>
                <a:cs typeface="Courier New" pitchFamily="34" charset="-120"/>
              </a:rPr>
              <a:t>, coinbase_mature(</a:t>
            </a:r>
            <a:r>
              <a:rPr lang="en-US" sz="1000" dirty="0">
                <a:solidFill>
                  <a:srgbClr val="FFD28A"/>
                </a:solidFill>
                <a:latin typeface="Courier New" pitchFamily="34" charset="0"/>
                <a:ea typeface="Courier New" pitchFamily="34" charset="-122"/>
                <a:cs typeface="Courier New" pitchFamily="34" charset="-120"/>
              </a:rPr>
              <a:t>9</a:t>
            </a:r>
            <a:r>
              <a:rPr lang="en-US" sz="1000" dirty="0">
                <a:solidFill>
                  <a:srgbClr val="E6EDF3"/>
                </a:solidFill>
                <a:latin typeface="Courier New" pitchFamily="34" charset="0"/>
                <a:ea typeface="Courier New" pitchFamily="34" charset="-122"/>
                <a:cs typeface="Courier New" pitchFamily="34" charset="-120"/>
              </a:rPr>
              <a:t>, h))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h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hs]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flags</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 False)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82971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coinbase input points at nothing: a null txid and the largest output index.</a:t>
            </a:r>
            <a:endParaRPr lang="en-US" sz="1050" dirty="0"/>
          </a:p>
        </p:txBody>
      </p:sp>
      <p:sp>
        <p:nvSpPr>
          <p:cNvPr id="15" name="Shape 13"/>
          <p:cNvSpPr/>
          <p:nvPr/>
        </p:nvSpPr>
        <p:spPr>
          <a:xfrm>
            <a:off x="365760" y="2213762"/>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213762"/>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626157"/>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Alice's transaction is an ordinary one, not a coinbase.</a:t>
            </a:r>
            <a:endParaRPr lang="en-US" sz="1050" dirty="0"/>
          </a:p>
        </p:txBody>
      </p:sp>
      <p:sp>
        <p:nvSpPr>
          <p:cNvPr id="18" name="Shape 16"/>
          <p:cNvSpPr/>
          <p:nvPr/>
        </p:nvSpPr>
        <p:spPr>
          <a:xfrm>
            <a:off x="365760" y="2845613"/>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845613"/>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752698"/>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 coin created at block 9 may be spent only 100 blocks later.</a:t>
            </a:r>
            <a:endParaRPr lang="en-US" sz="1050" dirty="0"/>
          </a:p>
        </p:txBody>
      </p:sp>
      <p:sp>
        <p:nvSpPr>
          <p:cNvPr id="21" name="Text 19"/>
          <p:cNvSpPr txBox="1"/>
          <p:nvPr/>
        </p:nvSpPr>
        <p:spPr>
          <a:xfrm>
            <a:off x="457200" y="4008730"/>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ALICE, PREV, FIRST and tx as set up on slide 7</a:t>
            </a:r>
            <a:endParaRPr lang="en-US" sz="900" dirty="0"/>
          </a:p>
        </p:txBody>
      </p:sp>
      <p:sp>
        <p:nvSpPr>
          <p:cNvPr id="22" name="Text 20"/>
          <p:cNvSpPr txBox="1"/>
          <p:nvPr/>
        </p:nvSpPr>
        <p:spPr>
          <a:xfrm>
            <a:off x="5715000" y="1325880"/>
            <a:ext cx="2971800" cy="21945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a coin created at block 9</a:t>
            </a:r>
            <a:endParaRPr lang="en-US" sz="11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715000" y="1591056"/>
          <a:ext cx="2971800" cy="914400"/>
        </p:xfrm>
        <a:graphic>
          <a:graphicData uri="http://schemas.openxmlformats.org/drawingml/2006/table">
            <a:tbl>
              <a:tblPr/>
              <a:tblGrid>
                <a:gridCol w="1188720"/>
                <a:gridCol w="731520"/>
                <a:gridCol w="105156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Spend at block</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Age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Spendable?</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91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108</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99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no</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109</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100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170</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161</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236976"/>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is_coinbase is True for the null input and False for Alice's transaction.</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Newly created coins cannot be spent until 100 blocks have passed</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53 / 62</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Shape 1"/>
          <p:cNvSpPr/>
          <p:nvPr/>
        </p:nvSpPr>
        <p:spPr>
          <a:xfrm>
            <a:off x="457200" y="960120"/>
            <a:ext cx="128016" cy="1417320"/>
          </a:xfrm>
          <a:prstGeom prst="rect">
            <a:avLst/>
          </a:prstGeom>
          <a:solidFill>
            <a:srgbClr val="D97A14"/>
          </a:solidFill>
          <a:ln w="12700">
            <a:solidFill>
              <a:srgbClr val="D97A14"/>
            </a:solidFill>
            <a:prstDash val="solid"/>
          </a:ln>
        </p:spPr>
      </p:sp>
      <p:sp>
        <p:nvSpPr>
          <p:cNvPr id="4" name="Text 2"/>
          <p:cNvSpPr txBox="1"/>
          <p:nvPr/>
        </p:nvSpPr>
        <p:spPr>
          <a:xfrm>
            <a:off x="777240" y="932688"/>
            <a:ext cx="7863840" cy="658368"/>
          </a:xfrm>
          <a:prstGeom prst="rect">
            <a:avLst/>
          </a:prstGeom>
          <a:noFill/>
          <a:ln/>
        </p:spPr>
        <p:txBody>
          <a:bodyPr wrap="square" lIns="0" tIns="0" rIns="0" bIns="0" rtlCol="0" anchor="ctr"/>
          <a:lstStyle/>
          <a:p>
            <a:pPr indent="0" marL="0">
              <a:buNone/>
            </a:pPr>
            <a:r>
              <a:rPr lang="en-US" sz="3200" b="1" dirty="0">
                <a:solidFill>
                  <a:srgbClr val="2B2622"/>
                </a:solidFill>
                <a:latin typeface="Cambria" pitchFamily="34" charset="0"/>
                <a:ea typeface="Cambria" pitchFamily="34" charset="-122"/>
                <a:cs typeface="Cambria" pitchFamily="34" charset="-120"/>
              </a:rPr>
              <a:t>Weight and foundations</a:t>
            </a:r>
            <a:endParaRPr lang="en-US" sz="3200" dirty="0"/>
          </a:p>
        </p:txBody>
      </p:sp>
      <p:sp>
        <p:nvSpPr>
          <p:cNvPr id="5" name="Text 3"/>
          <p:cNvSpPr txBox="1"/>
          <p:nvPr/>
        </p:nvSpPr>
        <p:spPr>
          <a:xfrm>
            <a:off x="777240" y="1645920"/>
            <a:ext cx="7863840" cy="384048"/>
          </a:xfrm>
          <a:prstGeom prst="rect">
            <a:avLst/>
          </a:prstGeom>
          <a:noFill/>
          <a:ln/>
        </p:spPr>
        <p:txBody>
          <a:bodyPr wrap="square" lIns="0" tIns="0" rIns="0" bIns="0" rtlCol="0" anchor="t"/>
          <a:lstStyle/>
          <a:p>
            <a:pPr indent="0" marL="0">
              <a:buNone/>
            </a:pPr>
            <a:r>
              <a:rPr lang="en-US" sz="1500" i="1" dirty="0">
                <a:solidFill>
                  <a:srgbClr val="2F6D62"/>
                </a:solidFill>
                <a:latin typeface="Calibri" pitchFamily="34" charset="0"/>
                <a:ea typeface="Calibri" pitchFamily="34" charset="-122"/>
                <a:cs typeface="Calibri" pitchFamily="34" charset="-120"/>
              </a:rPr>
              <a:t>Weight is a transaction's postage; foundations are the post office's rules.</a:t>
            </a:r>
            <a:endParaRPr lang="en-US" sz="1500" dirty="0"/>
          </a:p>
        </p:txBody>
      </p:sp>
      <p:sp>
        <p:nvSpPr>
          <p:cNvPr id="6" name="Shape 4"/>
          <p:cNvSpPr/>
          <p:nvPr/>
        </p:nvSpPr>
        <p:spPr>
          <a:xfrm>
            <a:off x="777240" y="2103120"/>
            <a:ext cx="3840480" cy="310896"/>
          </a:xfrm>
          <a:prstGeom prst="roundRect">
            <a:avLst>
              <a:gd name="adj" fmla="val 50000"/>
            </a:avLst>
          </a:prstGeom>
          <a:solidFill>
            <a:srgbClr val="D97A14"/>
          </a:solidFill>
          <a:ln w="12700">
            <a:solidFill>
              <a:srgbClr val="D97A14"/>
            </a:solidFill>
            <a:prstDash val="solid"/>
          </a:ln>
        </p:spPr>
      </p:sp>
      <p:sp>
        <p:nvSpPr>
          <p:cNvPr id="7" name="Text 5"/>
          <p:cNvSpPr txBox="1"/>
          <p:nvPr/>
        </p:nvSpPr>
        <p:spPr>
          <a:xfrm>
            <a:off x="85039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Weight and vbytes</a:t>
            </a:r>
            <a:endParaRPr lang="en-US" sz="1200" dirty="0"/>
          </a:p>
        </p:txBody>
      </p:sp>
      <p:sp>
        <p:nvSpPr>
          <p:cNvPr id="8" name="Text 6"/>
          <p:cNvSpPr txBox="1"/>
          <p:nvPr/>
        </p:nvSpPr>
        <p:spPr>
          <a:xfrm>
            <a:off x="77724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measure that decides how much block space a transaction uses.</a:t>
            </a:r>
            <a:endParaRPr lang="en-US" sz="1150" dirty="0"/>
          </a:p>
        </p:txBody>
      </p:sp>
      <p:sp>
        <p:nvSpPr>
          <p:cNvPr id="9" name="Text 7"/>
          <p:cNvSpPr txBox="1"/>
          <p:nvPr/>
        </p:nvSpPr>
        <p:spPr>
          <a:xfrm>
            <a:off x="777240" y="2907792"/>
            <a:ext cx="3840480"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postage that charges less for the small print.</a:t>
            </a:r>
            <a:endParaRPr lang="en-US" sz="1150" dirty="0"/>
          </a:p>
        </p:txBody>
      </p:sp>
      <p:sp>
        <p:nvSpPr>
          <p:cNvPr id="10" name="Shape 8"/>
          <p:cNvSpPr/>
          <p:nvPr/>
        </p:nvSpPr>
        <p:spPr>
          <a:xfrm>
            <a:off x="4800600" y="2103120"/>
            <a:ext cx="3840480" cy="310896"/>
          </a:xfrm>
          <a:prstGeom prst="roundRect">
            <a:avLst>
              <a:gd name="adj" fmla="val 50000"/>
            </a:avLst>
          </a:prstGeom>
          <a:solidFill>
            <a:srgbClr val="D97A14"/>
          </a:solidFill>
          <a:ln w="12700">
            <a:solidFill>
              <a:srgbClr val="D97A14"/>
            </a:solidFill>
            <a:prstDash val="solid"/>
          </a:ln>
        </p:spPr>
      </p:sp>
      <p:sp>
        <p:nvSpPr>
          <p:cNvPr id="11" name="Text 9"/>
          <p:cNvSpPr txBox="1"/>
          <p:nvPr/>
        </p:nvSpPr>
        <p:spPr>
          <a:xfrm>
            <a:off x="4873752" y="2103120"/>
            <a:ext cx="3694176"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Foundations</a:t>
            </a:r>
            <a:endParaRPr lang="en-US" sz="1200" dirty="0"/>
          </a:p>
        </p:txBody>
      </p:sp>
      <p:sp>
        <p:nvSpPr>
          <p:cNvPr id="12" name="Text 10"/>
          <p:cNvSpPr txBox="1"/>
          <p:nvPr/>
        </p:nvSpPr>
        <p:spPr>
          <a:xfrm>
            <a:off x="4800600" y="2487168"/>
            <a:ext cx="3840480" cy="393192"/>
          </a:xfrm>
          <a:prstGeom prst="rect">
            <a:avLst/>
          </a:prstGeom>
          <a:noFill/>
          <a:ln/>
        </p:spPr>
        <p:txBody>
          <a:bodyPr wrap="square" lIns="0" tIns="0" rIns="0" bIns="0" rtlCol="0" anchor="t"/>
          <a:lstStyle/>
          <a:p>
            <a:pPr indent="0" marL="0">
              <a:buNone/>
            </a:pPr>
            <a:r>
              <a:rPr lang="en-US" sz="1150" dirty="0">
                <a:solidFill>
                  <a:srgbClr val="2B2622"/>
                </a:solidFill>
                <a:latin typeface="Calibri" pitchFamily="34" charset="0"/>
                <a:ea typeface="Calibri" pitchFamily="34" charset="-122"/>
                <a:cs typeface="Calibri" pitchFamily="34" charset="-120"/>
              </a:rPr>
              <a:t>The hashes, identifiers and rule sets the chapter rests on.</a:t>
            </a:r>
            <a:endParaRPr lang="en-US" sz="1150" dirty="0"/>
          </a:p>
        </p:txBody>
      </p:sp>
      <p:sp>
        <p:nvSpPr>
          <p:cNvPr id="13" name="Text 11"/>
          <p:cNvSpPr txBox="1"/>
          <p:nvPr/>
        </p:nvSpPr>
        <p:spPr>
          <a:xfrm>
            <a:off x="4800600" y="2907792"/>
            <a:ext cx="3840480"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foundations under a house.</a:t>
            </a:r>
            <a:endParaRPr lang="en-US" sz="115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777240" y="3950208"/>
          <a:ext cx="7863840" cy="914400"/>
        </p:xfrm>
        <a:graphic>
          <a:graphicData uri="http://schemas.openxmlformats.org/drawingml/2006/table">
            <a:tbl>
              <a:tblPr/>
              <a:tblGrid>
                <a:gridCol w="914400"/>
                <a:gridCol w="822960"/>
                <a:gridCol w="1737360"/>
                <a:gridCol w="1737360"/>
                <a:gridCol w="1737360"/>
                <a:gridCol w="914400"/>
              </a:tblGrid>
              <a:tr h="365760">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Version</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Marker Flag</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Inputs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Outputs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Witnesses</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Lock time</a:t>
                      </a:r>
                      <a:endParaRPr lang="en-US" sz="1000" dirty="0">
                        <a:latin typeface="Calibri" charset="0"/>
                        <a:ea typeface="Calibri" charset="0"/>
                        <a:cs typeface="Calibri" charset="0"/>
                      </a:endParaRPr>
                    </a:p>
                  </a:txBody>
                  <a:tcPr marL="91440" marR="91440" marT="45720" marB="45720" anchor="ctr">
                    <a:lnL w="19050" cap="flat" cmpd="sng" algn="ctr">
                      <a:solidFill>
                        <a:srgbClr val="FFFFFF"/>
                      </a:solidFill>
                      <a:prstDash val="solid"/>
                      <a:round/>
                      <a:headEnd type="none" w="med" len="med"/>
                      <a:tailEnd type="none" w="med" len="med"/>
                    </a:lnL>
                    <a:lnR w="1905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D97A14"/>
                    </a:solidFill>
                  </a:tcPr>
                </a:tc>
              </a:tr>
            </a:tbl>
          </a:graphicData>
        </a:graphic>
      </p:graphicFrame>
      <p:sp>
        <p:nvSpPr>
          <p:cNvPr id="15" name="Text 1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54 / 62</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Weight and foundations (1 of 3)</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161288"/>
          </a:xfrm>
          <a:prstGeom prst="roundRect">
            <a:avLst>
              <a:gd name="adj" fmla="val 6299"/>
            </a:avLst>
          </a:prstGeom>
          <a:solidFill>
            <a:srgbClr val="F2ECE1"/>
          </a:solidFill>
          <a:ln w="12700">
            <a:solidFill>
              <a:srgbClr val="DFD6C7"/>
            </a:solidFill>
            <a:prstDash val="solid"/>
          </a:ln>
        </p:spPr>
      </p:sp>
      <p:sp>
        <p:nvSpPr>
          <p:cNvPr id="7" name="Shape 5"/>
          <p:cNvSpPr/>
          <p:nvPr/>
        </p:nvSpPr>
        <p:spPr>
          <a:xfrm>
            <a:off x="475488" y="1408176"/>
            <a:ext cx="64008" cy="905256"/>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Weight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3 times the legacy size plus the full size.</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postage priced by volume, with signatures at a discount.</a:t>
            </a:r>
            <a:endParaRPr lang="en-US" sz="1150" dirty="0"/>
          </a:p>
        </p:txBody>
      </p:sp>
      <p:sp>
        <p:nvSpPr>
          <p:cNvPr id="10" name="Shape 8"/>
          <p:cNvSpPr/>
          <p:nvPr/>
        </p:nvSpPr>
        <p:spPr>
          <a:xfrm>
            <a:off x="4645152" y="1280160"/>
            <a:ext cx="4041648" cy="1161288"/>
          </a:xfrm>
          <a:prstGeom prst="roundRect">
            <a:avLst>
              <a:gd name="adj" fmla="val 6299"/>
            </a:avLst>
          </a:prstGeom>
          <a:solidFill>
            <a:srgbClr val="F2ECE1"/>
          </a:solidFill>
          <a:ln w="12700">
            <a:solidFill>
              <a:srgbClr val="DFD6C7"/>
            </a:solidFill>
            <a:prstDash val="solid"/>
          </a:ln>
        </p:spPr>
      </p:sp>
      <p:sp>
        <p:nvSpPr>
          <p:cNvPr id="11" name="Shape 9"/>
          <p:cNvSpPr/>
          <p:nvPr/>
        </p:nvSpPr>
        <p:spPr>
          <a:xfrm>
            <a:off x="4663440" y="1408176"/>
            <a:ext cx="64008" cy="905256"/>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Vbytes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Weight divided by four, rounded up.</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parcel size after the discount is applied.</a:t>
            </a:r>
            <a:endParaRPr lang="en-US" sz="1150" dirty="0"/>
          </a:p>
        </p:txBody>
      </p:sp>
      <p:sp>
        <p:nvSpPr>
          <p:cNvPr id="14" name="Shape 12"/>
          <p:cNvSpPr/>
          <p:nvPr/>
        </p:nvSpPr>
        <p:spPr>
          <a:xfrm>
            <a:off x="457200" y="2569464"/>
            <a:ext cx="4041648" cy="1161288"/>
          </a:xfrm>
          <a:prstGeom prst="roundRect">
            <a:avLst>
              <a:gd name="adj" fmla="val 6299"/>
            </a:avLst>
          </a:prstGeom>
          <a:solidFill>
            <a:srgbClr val="F2ECE1"/>
          </a:solidFill>
          <a:ln w="12700">
            <a:solidFill>
              <a:srgbClr val="DFD6C7"/>
            </a:solidFill>
            <a:prstDash val="solid"/>
          </a:ln>
        </p:spPr>
      </p:sp>
      <p:sp>
        <p:nvSpPr>
          <p:cNvPr id="15" name="Shape 13"/>
          <p:cNvSpPr/>
          <p:nvPr/>
        </p:nvSpPr>
        <p:spPr>
          <a:xfrm>
            <a:off x="475488" y="2697480"/>
            <a:ext cx="64008" cy="905256"/>
          </a:xfrm>
          <a:prstGeom prst="rect">
            <a:avLst/>
          </a:prstGeom>
          <a:solidFill>
            <a:srgbClr val="D97A14"/>
          </a:solidFill>
          <a:ln w="12700">
            <a:solidFill>
              <a:srgbClr val="D97A14"/>
            </a:solidFill>
            <a:prstDash val="solid"/>
          </a:ln>
        </p:spPr>
      </p:sp>
      <p:sp>
        <p:nvSpPr>
          <p:cNvPr id="16" name="Text 14"/>
          <p:cNvSpPr txBox="1"/>
          <p:nvPr/>
        </p:nvSpPr>
        <p:spPr>
          <a:xfrm>
            <a:off x="640080" y="2633472"/>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The block weight limit</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4 million weight a block.</a:t>
            </a:r>
            <a:endParaRPr lang="en-US" sz="1300" dirty="0"/>
          </a:p>
        </p:txBody>
      </p:sp>
      <p:sp>
        <p:nvSpPr>
          <p:cNvPr id="17" name="Text 15"/>
          <p:cNvSpPr txBox="1"/>
          <p:nvPr/>
        </p:nvSpPr>
        <p:spPr>
          <a:xfrm>
            <a:off x="640080" y="3095244"/>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lorry that carries four million weight units.</a:t>
            </a:r>
            <a:endParaRPr lang="en-US" sz="1150" dirty="0"/>
          </a:p>
        </p:txBody>
      </p:sp>
      <p:sp>
        <p:nvSpPr>
          <p:cNvPr id="18" name="Shape 16"/>
          <p:cNvSpPr/>
          <p:nvPr/>
        </p:nvSpPr>
        <p:spPr>
          <a:xfrm>
            <a:off x="4645152" y="2569464"/>
            <a:ext cx="4041648" cy="1161288"/>
          </a:xfrm>
          <a:prstGeom prst="roundRect">
            <a:avLst>
              <a:gd name="adj" fmla="val 6299"/>
            </a:avLst>
          </a:prstGeom>
          <a:solidFill>
            <a:srgbClr val="F2ECE1"/>
          </a:solidFill>
          <a:ln w="12700">
            <a:solidFill>
              <a:srgbClr val="DFD6C7"/>
            </a:solidFill>
            <a:prstDash val="solid"/>
          </a:ln>
        </p:spPr>
      </p:sp>
      <p:sp>
        <p:nvSpPr>
          <p:cNvPr id="19" name="Shape 17"/>
          <p:cNvSpPr/>
          <p:nvPr/>
        </p:nvSpPr>
        <p:spPr>
          <a:xfrm>
            <a:off x="4663440" y="2697480"/>
            <a:ext cx="64008" cy="905256"/>
          </a:xfrm>
          <a:prstGeom prst="rect">
            <a:avLst/>
          </a:prstGeom>
          <a:solidFill>
            <a:srgbClr val="D97A14"/>
          </a:solidFill>
          <a:ln w="12700">
            <a:solidFill>
              <a:srgbClr val="D97A14"/>
            </a:solidFill>
            <a:prstDash val="solid"/>
          </a:ln>
        </p:spPr>
      </p:sp>
      <p:sp>
        <p:nvSpPr>
          <p:cNvPr id="20" name="Text 18"/>
          <p:cNvSpPr txBox="1"/>
          <p:nvPr/>
        </p:nvSpPr>
        <p:spPr>
          <a:xfrm>
            <a:off x="4828032" y="2633472"/>
            <a:ext cx="3767328" cy="612648"/>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Weight factors</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4 for most fields, 1 for marker, flag and witness.</a:t>
            </a:r>
            <a:endParaRPr lang="en-US" sz="1300" dirty="0"/>
          </a:p>
        </p:txBody>
      </p:sp>
      <p:sp>
        <p:nvSpPr>
          <p:cNvPr id="21" name="Text 19"/>
          <p:cNvSpPr txBox="1"/>
          <p:nvPr/>
        </p:nvSpPr>
        <p:spPr>
          <a:xfrm>
            <a:off x="4828032" y="3273552"/>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price list: four for plain bytes, one for annex bytes.</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55 / 62</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569: weight by field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Where the weight of Alice's transaction comes from</a:t>
            </a:r>
            <a:endParaRPr lang="en-US" sz="1300" dirty="0"/>
          </a:p>
        </p:txBody>
      </p:sp>
      <p:sp>
        <p:nvSpPr>
          <p:cNvPr id="6" name="Shape 4"/>
          <p:cNvSpPr/>
          <p:nvPr/>
        </p:nvSpPr>
        <p:spPr>
          <a:xfrm>
            <a:off x="457200" y="1325880"/>
            <a:ext cx="5074920" cy="641909"/>
          </a:xfrm>
          <a:prstGeom prst="roundRect">
            <a:avLst>
              <a:gd name="adj" fmla="val 11396"/>
            </a:avLst>
          </a:prstGeom>
          <a:solidFill>
            <a:srgbClr val="23272E"/>
          </a:solidFill>
          <a:ln w="12700">
            <a:solidFill>
              <a:srgbClr val="23272E"/>
            </a:solidFill>
            <a:prstDash val="solid"/>
          </a:ln>
        </p:spPr>
      </p:sp>
      <p:sp>
        <p:nvSpPr>
          <p:cNvPr id="7" name="Text 5"/>
          <p:cNvSpPr txBox="1"/>
          <p:nvPr/>
        </p:nvSpPr>
        <p:spPr>
          <a:xfrm>
            <a:off x="603504" y="1399032"/>
            <a:ext cx="4800600" cy="513893"/>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fw = field_weights(ALICE)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b="1" dirty="0">
                <a:solidFill>
                  <a:srgbClr val="F2A860"/>
                </a:solidFill>
                <a:latin typeface="Courier New" pitchFamily="34" charset="0"/>
                <a:ea typeface="Courier New" pitchFamily="34" charset="-122"/>
                <a:cs typeface="Courier New" pitchFamily="34" charset="-120"/>
              </a:rPr>
              <a:t>from</a:t>
            </a:r>
            <a:r>
              <a:rPr lang="en-US" sz="1000" dirty="0">
                <a:solidFill>
                  <a:srgbClr val="E6EDF3"/>
                </a:solidFill>
                <a:latin typeface="Courier New" pitchFamily="34" charset="0"/>
                <a:ea typeface="Courier New" pitchFamily="34" charset="-122"/>
                <a:cs typeface="Courier New" pitchFamily="34" charset="-120"/>
              </a:rPr>
              <a:t> collections </a:t>
            </a:r>
            <a:r>
              <a:rPr lang="en-US" sz="1000" b="1" dirty="0">
                <a:solidFill>
                  <a:srgbClr val="F2A860"/>
                </a:solidFill>
                <a:latin typeface="Courier New" pitchFamily="34" charset="0"/>
                <a:ea typeface="Courier New" pitchFamily="34" charset="-122"/>
                <a:cs typeface="Courier New" pitchFamily="34" charset="-120"/>
              </a:rPr>
              <a:t>import</a:t>
            </a:r>
            <a:r>
              <a:rPr lang="en-US" sz="1000" dirty="0">
                <a:solidFill>
                  <a:srgbClr val="E6EDF3"/>
                </a:solidFill>
                <a:latin typeface="Courier New" pitchFamily="34" charset="0"/>
                <a:ea typeface="Courier New" pitchFamily="34" charset="-122"/>
                <a:cs typeface="Courier New" pitchFamily="34" charset="-120"/>
              </a:rPr>
              <a:t> defaultdict</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W = defaultdict(int)</a:t>
            </a:r>
            <a:endParaRPr lang="en-US" sz="1000" dirty="0"/>
          </a:p>
        </p:txBody>
      </p:sp>
      <p:sp>
        <p:nvSpPr>
          <p:cNvPr id="8" name="Shape 6"/>
          <p:cNvSpPr/>
          <p:nvPr/>
        </p:nvSpPr>
        <p:spPr>
          <a:xfrm>
            <a:off x="457200" y="2452421"/>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525573"/>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b="1" dirty="0">
                <a:solidFill>
                  <a:srgbClr val="F2A860"/>
                </a:solidFill>
                <a:latin typeface="Courier New" pitchFamily="34" charset="0"/>
                <a:ea typeface="Courier New" pitchFamily="34" charset="-122"/>
                <a:cs typeface="Courier New" pitchFamily="34" charset="-120"/>
              </a:rPr>
              <a:t>for</a:t>
            </a:r>
            <a:r>
              <a:rPr lang="en-US" sz="1000" dirty="0">
                <a:solidFill>
                  <a:srgbClr val="E6EDF3"/>
                </a:solidFill>
                <a:latin typeface="Courier New" pitchFamily="34" charset="0"/>
                <a:ea typeface="Courier New" pitchFamily="34" charset="-122"/>
                <a:cs typeface="Courier New" pitchFamily="34" charset="-120"/>
              </a:rPr>
              <a:t> nm, n, f, w </a:t>
            </a:r>
            <a:r>
              <a:rPr lang="en-US" sz="1000" b="1" dirty="0">
                <a:solidFill>
                  <a:srgbClr val="F2A860"/>
                </a:solidFill>
                <a:latin typeface="Courier New" pitchFamily="34" charset="0"/>
                <a:ea typeface="Courier New" pitchFamily="34" charset="-122"/>
                <a:cs typeface="Courier New" pitchFamily="34" charset="-120"/>
              </a:rPr>
              <a:t>in</a:t>
            </a:r>
            <a:r>
              <a:rPr lang="en-US" sz="1000" dirty="0">
                <a:solidFill>
                  <a:srgbClr val="E6EDF3"/>
                </a:solidFill>
                <a:latin typeface="Courier New" pitchFamily="34" charset="0"/>
                <a:ea typeface="Courier New" pitchFamily="34" charset="-122"/>
                <a:cs typeface="Courier New" pitchFamily="34" charset="-120"/>
              </a:rPr>
              <a:t> fw: W[nm.split()[</a:t>
            </a:r>
            <a:r>
              <a:rPr lang="en-US" sz="1000" dirty="0">
                <a:solidFill>
                  <a:srgbClr val="FFD28A"/>
                </a:solidFill>
                <a:latin typeface="Courier New" pitchFamily="34" charset="0"/>
                <a:ea typeface="Courier New" pitchFamily="34" charset="-122"/>
                <a:cs typeface="Courier New" pitchFamily="34" charset="-120"/>
              </a:rPr>
              <a:t>0</a:t>
            </a:r>
            <a:r>
              <a:rPr lang="en-US" sz="1000" dirty="0">
                <a:solidFill>
                  <a:srgbClr val="E6EDF3"/>
                </a:solidFill>
                <a:latin typeface="Courier New" pitchFamily="34" charset="0"/>
                <a:ea typeface="Courier New" pitchFamily="34" charset="-122"/>
                <a:cs typeface="Courier New" pitchFamily="34" charset="-120"/>
              </a:rPr>
              <a:t>]] += w</a:t>
            </a:r>
            <a:endParaRPr lang="en-US" sz="1000" dirty="0"/>
          </a:p>
        </p:txBody>
      </p:sp>
      <p:sp>
        <p:nvSpPr>
          <p:cNvPr id="10" name="Shape 8"/>
          <p:cNvSpPr/>
          <p:nvPr/>
        </p:nvSpPr>
        <p:spPr>
          <a:xfrm>
            <a:off x="457200" y="3084271"/>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3157423"/>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total = sum(W.values())</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vb = vbytes(ALICE)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(total, vb)</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(569, 143)</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995221"/>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Every field weighs its bytes times four, except marker, flag and witness.</a:t>
            </a:r>
            <a:endParaRPr lang="en-US" sz="1050" dirty="0"/>
          </a:p>
        </p:txBody>
      </p:sp>
      <p:sp>
        <p:nvSpPr>
          <p:cNvPr id="15" name="Shape 13"/>
          <p:cNvSpPr/>
          <p:nvPr/>
        </p:nvSpPr>
        <p:spPr>
          <a:xfrm>
            <a:off x="365760" y="2379269"/>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237926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79166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Add the weights up per group of fields.</a:t>
            </a:r>
            <a:endParaRPr lang="en-US" sz="1050" dirty="0"/>
          </a:p>
        </p:txBody>
      </p:sp>
      <p:sp>
        <p:nvSpPr>
          <p:cNvPr id="18" name="Shape 16"/>
          <p:cNvSpPr/>
          <p:nvPr/>
        </p:nvSpPr>
        <p:spPr>
          <a:xfrm>
            <a:off x="365760" y="301111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301111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918204"/>
            <a:ext cx="4800600" cy="374904"/>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The weights add up to the book's 569; virtual bytes are a quarter, rounded up.</a:t>
            </a:r>
            <a:endParaRPr lang="en-US" sz="1050" dirty="0"/>
          </a:p>
        </p:txBody>
      </p:sp>
      <p:sp>
        <p:nvSpPr>
          <p:cNvPr id="21" name="Text 19"/>
          <p:cNvSpPr txBox="1"/>
          <p:nvPr/>
        </p:nvSpPr>
        <p:spPr>
          <a:xfrm>
            <a:off x="457200" y="4338828"/>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ALICE, PREV, FIRST and tx as set up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weight units per field group (total 569)</a:t>
            </a:r>
            <a:endParaRPr lang="en-US" sz="1100" dirty="0"/>
          </a:p>
        </p:txBody>
      </p:sp>
      <p:graphicFrame>
        <p:nvGraphicFramePr>
          <p:cNvPr id="23" name="Chart 0" descr=""/>
          <p:cNvGraphicFramePr/>
          <p:nvPr/>
        </p:nvGraphicFramePr>
        <p:xfrm>
          <a:off x="5715000" y="1773936"/>
          <a:ext cx="2971800" cy="2075688"/>
        </p:xfrm>
        <a:graphic xmlns:a="http://schemas.openxmlformats.org/drawingml/2006/main">
          <a:graphicData uri="http://schemas.openxmlformats.org/drawingml/2006/chart">
            <c:chart xmlns:c="http://schemas.openxmlformats.org/drawingml/2006/chart" r:id="rId1"/>
          </a:graphicData>
        </a:graphic>
      </p:graphicFrame>
      <p:sp>
        <p:nvSpPr>
          <p:cNvPr id="24" name="Text 21"/>
          <p:cNvSpPr txBox="1"/>
          <p:nvPr/>
        </p:nvSpPr>
        <p:spPr>
          <a:xfrm>
            <a:off x="5715000" y="3941064"/>
            <a:ext cx="2971800" cy="60350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Total weight 569; divided by four and rounded up that is 143 virtual bytes.</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Weight is what a block is filled by, and witness bytes cost a quarter</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56 / 62</a:t>
            </a:r>
            <a:endParaRPr lang="en-US" sz="11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Weight and foundations (2 of 3)</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Hash function</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Any input, a fixed 32-byte digest.</a:t>
            </a:r>
            <a:endParaRPr lang="en-US" sz="1300" dirty="0"/>
          </a:p>
        </p:txBody>
      </p:sp>
      <p:sp>
        <p:nvSpPr>
          <p:cNvPr id="9" name="Text 7"/>
          <p:cNvSpPr txBox="1"/>
          <p:nvPr/>
        </p:nvSpPr>
        <p:spPr>
          <a:xfrm>
            <a:off x="640080"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meat grinder: any input, a result of fixed size.</a:t>
            </a:r>
            <a:endParaRPr lang="en-US" sz="1150" dirty="0"/>
          </a:p>
        </p:txBody>
      </p:sp>
      <p:sp>
        <p:nvSpPr>
          <p:cNvPr id="10" name="Shape 8"/>
          <p:cNvSpPr/>
          <p:nvPr/>
        </p:nvSpPr>
        <p:spPr>
          <a:xfrm>
            <a:off x="4645152" y="1280160"/>
            <a:ext cx="4041648" cy="1097280"/>
          </a:xfrm>
          <a:prstGeom prst="roundRect">
            <a:avLst>
              <a:gd name="adj" fmla="val 6667"/>
            </a:avLst>
          </a:prstGeom>
          <a:solidFill>
            <a:srgbClr val="F2ECE1"/>
          </a:solidFill>
          <a:ln w="12700">
            <a:solidFill>
              <a:srgbClr val="DFD6C7"/>
            </a:solidFill>
            <a:prstDash val="solid"/>
          </a:ln>
        </p:spPr>
      </p:sp>
      <p:sp>
        <p:nvSpPr>
          <p:cNvPr id="11" name="Shape 9"/>
          <p:cNvSpPr/>
          <p:nvPr/>
        </p:nvSpPr>
        <p:spPr>
          <a:xfrm>
            <a:off x="4663440" y="1408176"/>
            <a:ext cx="64008" cy="84124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Double SHA-256</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SHA-256 of SHA-256.</a:t>
            </a:r>
            <a:endParaRPr lang="en-US" sz="1300" dirty="0"/>
          </a:p>
        </p:txBody>
      </p:sp>
      <p:sp>
        <p:nvSpPr>
          <p:cNvPr id="13" name="Text 11"/>
          <p:cNvSpPr txBox="1"/>
          <p:nvPr/>
        </p:nvSpPr>
        <p:spPr>
          <a:xfrm>
            <a:off x="4828032" y="1805940"/>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running the grinder twice for safety.</a:t>
            </a:r>
            <a:endParaRPr lang="en-US" sz="1150" dirty="0"/>
          </a:p>
        </p:txBody>
      </p:sp>
      <p:sp>
        <p:nvSpPr>
          <p:cNvPr id="14" name="Shape 12"/>
          <p:cNvSpPr/>
          <p:nvPr/>
        </p:nvSpPr>
        <p:spPr>
          <a:xfrm>
            <a:off x="457200" y="2505456"/>
            <a:ext cx="4041648" cy="1097280"/>
          </a:xfrm>
          <a:prstGeom prst="roundRect">
            <a:avLst>
              <a:gd name="adj" fmla="val 6667"/>
            </a:avLst>
          </a:prstGeom>
          <a:solidFill>
            <a:srgbClr val="F2ECE1"/>
          </a:solidFill>
          <a:ln w="12700">
            <a:solidFill>
              <a:srgbClr val="DFD6C7"/>
            </a:solidFill>
            <a:prstDash val="solid"/>
          </a:ln>
        </p:spPr>
      </p:sp>
      <p:sp>
        <p:nvSpPr>
          <p:cNvPr id="15" name="Shape 13"/>
          <p:cNvSpPr/>
          <p:nvPr/>
        </p:nvSpPr>
        <p:spPr>
          <a:xfrm>
            <a:off x="475488" y="2633472"/>
            <a:ext cx="64008" cy="841248"/>
          </a:xfrm>
          <a:prstGeom prst="rect">
            <a:avLst/>
          </a:prstGeom>
          <a:solidFill>
            <a:srgbClr val="D97A14"/>
          </a:solidFill>
          <a:ln w="12700">
            <a:solidFill>
              <a:srgbClr val="D97A14"/>
            </a:solidFill>
            <a:prstDash val="solid"/>
          </a:ln>
        </p:spPr>
      </p:sp>
      <p:sp>
        <p:nvSpPr>
          <p:cNvPr id="16" name="Text 14"/>
          <p:cNvSpPr txBox="1"/>
          <p:nvPr/>
        </p:nvSpPr>
        <p:spPr>
          <a:xfrm>
            <a:off x="640080" y="256946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Transaction identifier</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Double SHA-256 of the legacy bytes, reversed.</a:t>
            </a:r>
            <a:endParaRPr lang="en-US" sz="1300" dirty="0"/>
          </a:p>
        </p:txBody>
      </p:sp>
      <p:sp>
        <p:nvSpPr>
          <p:cNvPr id="17" name="Text 15"/>
          <p:cNvSpPr txBox="1"/>
          <p:nvPr/>
        </p:nvSpPr>
        <p:spPr>
          <a:xfrm>
            <a:off x="640080" y="303123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parcel's tracking number from its plain contents.</a:t>
            </a:r>
            <a:endParaRPr lang="en-US" sz="1150" dirty="0"/>
          </a:p>
        </p:txBody>
      </p:sp>
      <p:sp>
        <p:nvSpPr>
          <p:cNvPr id="18" name="Shape 16"/>
          <p:cNvSpPr/>
          <p:nvPr/>
        </p:nvSpPr>
        <p:spPr>
          <a:xfrm>
            <a:off x="4645152" y="2505456"/>
            <a:ext cx="4041648" cy="1097280"/>
          </a:xfrm>
          <a:prstGeom prst="roundRect">
            <a:avLst>
              <a:gd name="adj" fmla="val 6667"/>
            </a:avLst>
          </a:prstGeom>
          <a:solidFill>
            <a:srgbClr val="F2ECE1"/>
          </a:solidFill>
          <a:ln w="12700">
            <a:solidFill>
              <a:srgbClr val="DFD6C7"/>
            </a:solidFill>
            <a:prstDash val="solid"/>
          </a:ln>
        </p:spPr>
      </p:sp>
      <p:sp>
        <p:nvSpPr>
          <p:cNvPr id="19" name="Shape 17"/>
          <p:cNvSpPr/>
          <p:nvPr/>
        </p:nvSpPr>
        <p:spPr>
          <a:xfrm>
            <a:off x="4663440" y="2633472"/>
            <a:ext cx="64008" cy="841248"/>
          </a:xfrm>
          <a:prstGeom prst="rect">
            <a:avLst/>
          </a:prstGeom>
          <a:solidFill>
            <a:srgbClr val="D97A14"/>
          </a:solidFill>
          <a:ln w="12700">
            <a:solidFill>
              <a:srgbClr val="D97A14"/>
            </a:solidFill>
            <a:prstDash val="solid"/>
          </a:ln>
        </p:spPr>
      </p:sp>
      <p:sp>
        <p:nvSpPr>
          <p:cNvPr id="20" name="Text 18"/>
          <p:cNvSpPr txBox="1"/>
          <p:nvPr/>
        </p:nvSpPr>
        <p:spPr>
          <a:xfrm>
            <a:off x="4828032" y="2569464"/>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Witness transaction identifier</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The hash of everything, witness included.</a:t>
            </a:r>
            <a:endParaRPr lang="en-US" sz="1300" dirty="0"/>
          </a:p>
        </p:txBody>
      </p:sp>
      <p:sp>
        <p:nvSpPr>
          <p:cNvPr id="21" name="Text 19"/>
          <p:cNvSpPr txBox="1"/>
          <p:nvPr/>
        </p:nvSpPr>
        <p:spPr>
          <a:xfrm>
            <a:off x="4828032" y="3031236"/>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a tracking number that counts the annex too.</a:t>
            </a:r>
            <a:endParaRPr lang="en-US" sz="1150" dirty="0"/>
          </a:p>
        </p:txBody>
      </p:sp>
      <p:sp>
        <p:nvSpPr>
          <p:cNvPr id="22" name="Shape 20"/>
          <p:cNvSpPr/>
          <p:nvPr/>
        </p:nvSpPr>
        <p:spPr>
          <a:xfrm>
            <a:off x="457200" y="4636008"/>
            <a:ext cx="91440" cy="310896"/>
          </a:xfrm>
          <a:prstGeom prst="rect">
            <a:avLst/>
          </a:prstGeom>
          <a:solidFill>
            <a:srgbClr val="D97A14"/>
          </a:solidFill>
          <a:ln w="12700">
            <a:solidFill>
              <a:srgbClr val="D97A14"/>
            </a:solidFill>
            <a:prstDash val="solid"/>
          </a:ln>
        </p:spPr>
      </p:sp>
      <p:sp>
        <p:nvSpPr>
          <p:cNvPr id="23" name="Text 21"/>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24" name="Text 22"/>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57 / 62</a:t>
            </a:r>
            <a:endParaRPr lang="en-US" sz="11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How a txid is made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Double SHA-256 of the legacy bytes, reversed</a:t>
            </a:r>
            <a:endParaRPr lang="en-US" sz="1300" dirty="0"/>
          </a:p>
        </p:txBody>
      </p:sp>
      <p:sp>
        <p:nvSpPr>
          <p:cNvPr id="6" name="Shape 4"/>
          <p:cNvSpPr/>
          <p:nvPr/>
        </p:nvSpPr>
        <p:spPr>
          <a:xfrm>
            <a:off x="457200" y="1325880"/>
            <a:ext cx="5074920" cy="311810"/>
          </a:xfrm>
          <a:prstGeom prst="roundRect">
            <a:avLst>
              <a:gd name="adj" fmla="val 23460"/>
            </a:avLst>
          </a:prstGeom>
          <a:solidFill>
            <a:srgbClr val="23272E"/>
          </a:solidFill>
          <a:ln w="12700">
            <a:solidFill>
              <a:srgbClr val="23272E"/>
            </a:solidFill>
            <a:prstDash val="solid"/>
          </a:ln>
        </p:spPr>
      </p:sp>
      <p:sp>
        <p:nvSpPr>
          <p:cNvPr id="7" name="Text 5"/>
          <p:cNvSpPr txBox="1"/>
          <p:nvPr/>
        </p:nvSpPr>
        <p:spPr>
          <a:xfrm>
            <a:off x="603504" y="139903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leg = serialize(tx, witness=</a:t>
            </a:r>
            <a:r>
              <a:rPr lang="en-US" sz="1000" b="1" dirty="0">
                <a:solidFill>
                  <a:srgbClr val="F2A860"/>
                </a:solidFill>
                <a:latin typeface="Courier New" pitchFamily="34" charset="0"/>
                <a:ea typeface="Courier New" pitchFamily="34" charset="-122"/>
                <a:cs typeface="Courier New" pitchFamily="34" charset="-120"/>
              </a:rPr>
              <a:t>False</a:t>
            </a:r>
            <a:r>
              <a:rPr lang="en-US" sz="1000" dirty="0">
                <a:solidFill>
                  <a:srgbClr val="E6EDF3"/>
                </a:solidFill>
                <a:latin typeface="Courier New" pitchFamily="34" charset="0"/>
                <a:ea typeface="Courier New" pitchFamily="34" charset="-122"/>
                <a:cs typeface="Courier New" pitchFamily="34" charset="-120"/>
              </a:rPr>
              <a:t>)</a:t>
            </a:r>
            <a:endParaRPr lang="en-US" sz="1000" dirty="0"/>
          </a:p>
        </p:txBody>
      </p:sp>
      <p:sp>
        <p:nvSpPr>
          <p:cNvPr id="8" name="Shape 6"/>
          <p:cNvSpPr/>
          <p:nvPr/>
        </p:nvSpPr>
        <p:spPr>
          <a:xfrm>
            <a:off x="457200" y="1957730"/>
            <a:ext cx="5074920" cy="311810"/>
          </a:xfrm>
          <a:prstGeom prst="roundRect">
            <a:avLst>
              <a:gd name="adj" fmla="val 23460"/>
            </a:avLst>
          </a:prstGeom>
          <a:solidFill>
            <a:srgbClr val="23272E"/>
          </a:solidFill>
          <a:ln w="12700">
            <a:solidFill>
              <a:srgbClr val="23272E"/>
            </a:solidFill>
            <a:prstDash val="solid"/>
          </a:ln>
        </p:spPr>
      </p:sp>
      <p:sp>
        <p:nvSpPr>
          <p:cNvPr id="9" name="Text 7"/>
          <p:cNvSpPr txBox="1"/>
          <p:nvPr/>
        </p:nvSpPr>
        <p:spPr>
          <a:xfrm>
            <a:off x="603504" y="2030882"/>
            <a:ext cx="4800600" cy="18379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h2 = sha256(sha256(leg))</a:t>
            </a:r>
            <a:endParaRPr lang="en-US" sz="1000" dirty="0"/>
          </a:p>
        </p:txBody>
      </p:sp>
      <p:sp>
        <p:nvSpPr>
          <p:cNvPr id="10" name="Shape 8"/>
          <p:cNvSpPr/>
          <p:nvPr/>
        </p:nvSpPr>
        <p:spPr>
          <a:xfrm>
            <a:off x="457200" y="2589581"/>
            <a:ext cx="5074920" cy="806501"/>
          </a:xfrm>
          <a:prstGeom prst="roundRect">
            <a:avLst>
              <a:gd name="adj" fmla="val 9070"/>
            </a:avLst>
          </a:prstGeom>
          <a:solidFill>
            <a:srgbClr val="23272E"/>
          </a:solidFill>
          <a:ln w="12700">
            <a:solidFill>
              <a:srgbClr val="23272E"/>
            </a:solidFill>
            <a:prstDash val="solid"/>
          </a:ln>
        </p:spPr>
      </p:sp>
      <p:sp>
        <p:nvSpPr>
          <p:cNvPr id="11" name="Text 9"/>
          <p:cNvSpPr txBox="1"/>
          <p:nvPr/>
        </p:nvSpPr>
        <p:spPr>
          <a:xfrm>
            <a:off x="603504" y="2662733"/>
            <a:ext cx="4800600" cy="678485"/>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shown = h2[::-</a:t>
            </a:r>
            <a:r>
              <a:rPr lang="en-US" sz="1000" dirty="0">
                <a:solidFill>
                  <a:srgbClr val="FFD28A"/>
                </a:solidFill>
                <a:latin typeface="Courier New" pitchFamily="34" charset="0"/>
                <a:ea typeface="Courier New" pitchFamily="34" charset="-122"/>
                <a:cs typeface="Courier New" pitchFamily="34" charset="-120"/>
              </a:rPr>
              <a:t>1</a:t>
            </a:r>
            <a:r>
              <a:rPr lang="en-US" sz="1000" dirty="0">
                <a:solidFill>
                  <a:srgbClr val="E6EDF3"/>
                </a:solidFill>
                <a:latin typeface="Courier New" pitchFamily="34" charset="0"/>
                <a:ea typeface="Courier New" pitchFamily="34" charset="-122"/>
                <a:cs typeface="Courier New" pitchFamily="34" charset="-120"/>
              </a:rPr>
              <a:t>].hex()</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 = shown == txid(ALICE)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same</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True</a:t>
            </a:r>
            <a:endParaRPr lang="en-US" sz="1000" dirty="0"/>
          </a:p>
        </p:txBody>
      </p:sp>
      <p:sp>
        <p:nvSpPr>
          <p:cNvPr id="12" name="Shape 10"/>
          <p:cNvSpPr/>
          <p:nvPr/>
        </p:nvSpPr>
        <p:spPr>
          <a:xfrm>
            <a:off x="365760" y="1252728"/>
            <a:ext cx="237744" cy="237744"/>
          </a:xfrm>
          <a:prstGeom prst="ellipse">
            <a:avLst/>
          </a:prstGeom>
          <a:solidFill>
            <a:srgbClr val="D97A14"/>
          </a:solidFill>
          <a:ln w="12700">
            <a:solidFill>
              <a:srgbClr val="D97A14"/>
            </a:solidFill>
            <a:prstDash val="solid"/>
          </a:ln>
        </p:spPr>
      </p:sp>
      <p:sp>
        <p:nvSpPr>
          <p:cNvPr id="13" name="Text 11"/>
          <p:cNvSpPr txBox="1"/>
          <p:nvPr/>
        </p:nvSpPr>
        <p:spPr>
          <a:xfrm>
            <a:off x="365760" y="125272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a:t>
            </a:r>
            <a:endParaRPr lang="en-US" sz="1100" dirty="0"/>
          </a:p>
        </p:txBody>
      </p:sp>
      <p:sp>
        <p:nvSpPr>
          <p:cNvPr id="14" name="Text 12"/>
          <p:cNvSpPr txBox="1"/>
          <p:nvPr/>
        </p:nvSpPr>
        <p:spPr>
          <a:xfrm>
            <a:off x="731520" y="1665122"/>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Start from the legacy bytes: the witness is not part of the txid.</a:t>
            </a:r>
            <a:endParaRPr lang="en-US" sz="1050" dirty="0"/>
          </a:p>
        </p:txBody>
      </p:sp>
      <p:sp>
        <p:nvSpPr>
          <p:cNvPr id="15" name="Shape 13"/>
          <p:cNvSpPr/>
          <p:nvPr/>
        </p:nvSpPr>
        <p:spPr>
          <a:xfrm>
            <a:off x="365760" y="1884578"/>
            <a:ext cx="237744" cy="237744"/>
          </a:xfrm>
          <a:prstGeom prst="ellipse">
            <a:avLst/>
          </a:prstGeom>
          <a:solidFill>
            <a:srgbClr val="D97A14"/>
          </a:solidFill>
          <a:ln w="12700">
            <a:solidFill>
              <a:srgbClr val="D97A14"/>
            </a:solidFill>
            <a:prstDash val="solid"/>
          </a:ln>
        </p:spPr>
      </p:sp>
      <p:sp>
        <p:nvSpPr>
          <p:cNvPr id="16" name="Text 14"/>
          <p:cNvSpPr txBox="1"/>
          <p:nvPr/>
        </p:nvSpPr>
        <p:spPr>
          <a:xfrm>
            <a:off x="365760" y="1884578"/>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7" name="Text 15"/>
          <p:cNvSpPr txBox="1"/>
          <p:nvPr/>
        </p:nvSpPr>
        <p:spPr>
          <a:xfrm>
            <a:off x="731520" y="2296973"/>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Hash the bytes twice with SHA-256, the second hash of the first.</a:t>
            </a:r>
            <a:endParaRPr lang="en-US" sz="1050" dirty="0"/>
          </a:p>
        </p:txBody>
      </p:sp>
      <p:sp>
        <p:nvSpPr>
          <p:cNvPr id="18" name="Shape 16"/>
          <p:cNvSpPr/>
          <p:nvPr/>
        </p:nvSpPr>
        <p:spPr>
          <a:xfrm>
            <a:off x="365760" y="2516429"/>
            <a:ext cx="237744" cy="237744"/>
          </a:xfrm>
          <a:prstGeom prst="ellipse">
            <a:avLst/>
          </a:prstGeom>
          <a:solidFill>
            <a:srgbClr val="D97A14"/>
          </a:solidFill>
          <a:ln w="12700">
            <a:solidFill>
              <a:srgbClr val="D97A14"/>
            </a:solidFill>
            <a:prstDash val="solid"/>
          </a:ln>
        </p:spPr>
      </p:sp>
      <p:sp>
        <p:nvSpPr>
          <p:cNvPr id="19" name="Text 17"/>
          <p:cNvSpPr txBox="1"/>
          <p:nvPr/>
        </p:nvSpPr>
        <p:spPr>
          <a:xfrm>
            <a:off x="365760" y="2516429"/>
            <a:ext cx="237744"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3</a:t>
            </a:r>
            <a:endParaRPr lang="en-US" sz="1100" dirty="0"/>
          </a:p>
        </p:txBody>
      </p:sp>
      <p:sp>
        <p:nvSpPr>
          <p:cNvPr id="20" name="Text 18"/>
          <p:cNvSpPr txBox="1"/>
          <p:nvPr/>
        </p:nvSpPr>
        <p:spPr>
          <a:xfrm>
            <a:off x="731520" y="3423514"/>
            <a:ext cx="4800600" cy="210312"/>
          </a:xfrm>
          <a:prstGeom prst="rect">
            <a:avLst/>
          </a:prstGeom>
          <a:noFill/>
          <a:ln/>
        </p:spPr>
        <p:txBody>
          <a:bodyPr wrap="square" lIns="0" tIns="0" rIns="0" bIns="0" rtlCol="0" anchor="t"/>
          <a:lstStyle/>
          <a:p>
            <a:pPr indent="0" marL="0">
              <a:buNone/>
            </a:pPr>
            <a:r>
              <a:rPr lang="en-US" sz="1050" dirty="0">
                <a:solidFill>
                  <a:srgbClr val="2B2622"/>
                </a:solidFill>
                <a:latin typeface="Calibri" pitchFamily="34" charset="0"/>
                <a:ea typeface="Calibri" pitchFamily="34" charset="-122"/>
                <a:cs typeface="Calibri" pitchFamily="34" charset="-120"/>
              </a:rPr>
              <a:t>Reverse the digest for display: the result is the library's txid.</a:t>
            </a:r>
            <a:endParaRPr lang="en-US" sz="1050" dirty="0"/>
          </a:p>
        </p:txBody>
      </p:sp>
      <p:sp>
        <p:nvSpPr>
          <p:cNvPr id="21" name="Text 19"/>
          <p:cNvSpPr txBox="1"/>
          <p:nvPr/>
        </p:nvSpPr>
        <p:spPr>
          <a:xfrm>
            <a:off x="457200" y="3679546"/>
            <a:ext cx="5074920" cy="182880"/>
          </a:xfrm>
          <a:prstGeom prst="rect">
            <a:avLst/>
          </a:prstGeom>
          <a:noFill/>
          <a:ln/>
        </p:spPr>
        <p:txBody>
          <a:bodyPr wrap="square" lIns="0" tIns="0" rIns="0" bIns="0" rtlCol="0" anchor="ctr"/>
          <a:lstStyle/>
          <a:p>
            <a:pPr algn="l" indent="0" marL="0">
              <a:buNone/>
            </a:pPr>
            <a:r>
              <a:rPr lang="en-US" sz="900" i="1" dirty="0">
                <a:solidFill>
                  <a:srgbClr val="6E655C"/>
                </a:solidFill>
                <a:latin typeface="Calibri" pitchFamily="34" charset="0"/>
                <a:ea typeface="Calibri" pitchFamily="34" charset="-122"/>
                <a:cs typeface="Calibri" pitchFamily="34" charset="-120"/>
              </a:rPr>
              <a:t>run under Python 3.14.6 - ALICE, PREV, FIRST and tx as set up on slide 7</a:t>
            </a:r>
            <a:endParaRPr lang="en-US" sz="900" dirty="0"/>
          </a:p>
        </p:txBody>
      </p:sp>
      <p:sp>
        <p:nvSpPr>
          <p:cNvPr id="22" name="Text 20"/>
          <p:cNvSpPr txBox="1"/>
          <p:nvPr/>
        </p:nvSpPr>
        <p:spPr>
          <a:xfrm>
            <a:off x="5715000" y="1325880"/>
            <a:ext cx="2971800" cy="402336"/>
          </a:xfrm>
          <a:prstGeom prst="rect">
            <a:avLst/>
          </a:prstGeom>
          <a:noFill/>
          <a:ln/>
        </p:spPr>
        <p:txBody>
          <a:bodyPr wrap="square" lIns="0" tIns="0" rIns="0" bIns="0" rtlCol="0" anchor="t"/>
          <a:lstStyle/>
          <a:p>
            <a:pPr algn="l" indent="0" marL="0">
              <a:buNone/>
            </a:pPr>
            <a:r>
              <a:rPr lang="en-US" sz="1100" b="1" dirty="0">
                <a:solidFill>
                  <a:srgbClr val="6E655C"/>
                </a:solidFill>
                <a:latin typeface="Calibri" pitchFamily="34" charset="0"/>
                <a:ea typeface="Calibri" pitchFamily="34" charset="-122"/>
                <a:cs typeface="Calibri" pitchFamily="34" charset="-120"/>
              </a:rPr>
              <a:t>Result: from the legacy bytes to the txid</a:t>
            </a:r>
            <a:endParaRPr lang="en-US" sz="11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5715000" y="1773936"/>
          <a:ext cx="2971800" cy="914400"/>
        </p:xfrm>
        <a:graphic>
          <a:graphicData uri="http://schemas.openxmlformats.org/drawingml/2006/table">
            <a:tbl>
              <a:tblPr/>
              <a:tblGrid>
                <a:gridCol w="1508760"/>
                <a:gridCol w="1463040"/>
              </a:tblGrid>
              <a:tr h="274320">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Step</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Result</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Legacy bytes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125</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Double SHA-256, reversed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466200308696215b</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274320">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Equals the library's txid</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950" dirty="0">
                          <a:solidFill>
                            <a:srgbClr val="2B2622"/>
                          </a:solidFill>
                          <a:latin typeface="Calibri" pitchFamily="34" charset="0"/>
                          <a:ea typeface="Calibri" pitchFamily="34" charset="-122"/>
                          <a:cs typeface="Calibri" pitchFamily="34" charset="-120"/>
                        </a:rPr>
                        <a:t>yes</a:t>
                      </a:r>
                      <a:endParaRPr lang="en-US" sz="9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24" name="Text 21"/>
          <p:cNvSpPr txBox="1"/>
          <p:nvPr/>
        </p:nvSpPr>
        <p:spPr>
          <a:xfrm>
            <a:off x="5715000" y="3145536"/>
            <a:ext cx="2971800" cy="420624"/>
          </a:xfrm>
          <a:prstGeom prst="rect">
            <a:avLst/>
          </a:prstGeom>
          <a:noFill/>
          <a:ln/>
        </p:spPr>
        <p:txBody>
          <a:bodyPr wrap="square" lIns="0" tIns="0" rIns="0" bIns="0" rtlCol="0" anchor="t"/>
          <a:lstStyle/>
          <a:p>
            <a:pPr algn="l" indent="0" marL="0">
              <a:buNone/>
            </a:pPr>
            <a:r>
              <a:rPr lang="en-US" sz="1150" i="1" dirty="0">
                <a:solidFill>
                  <a:srgbClr val="2B2622"/>
                </a:solidFill>
                <a:latin typeface="Calibri" pitchFamily="34" charset="0"/>
                <a:ea typeface="Calibri" pitchFamily="34" charset="-122"/>
                <a:cs typeface="Calibri" pitchFamily="34" charset="-120"/>
              </a:rPr>
              <a:t>The reversed digest equals the library's txid.</a:t>
            </a:r>
            <a:endParaRPr lang="en-US" sz="1150" dirty="0"/>
          </a:p>
        </p:txBody>
      </p:sp>
      <p:sp>
        <p:nvSpPr>
          <p:cNvPr id="25" name="Shape 22"/>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Identifiers are computed, never stored: anyone can recompute them</a:t>
            </a:r>
            <a:endParaRPr lang="en-US" sz="1350" dirty="0"/>
          </a:p>
        </p:txBody>
      </p:sp>
      <p:sp>
        <p:nvSpPr>
          <p:cNvPr id="27" name="Text 2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58 / 62</a:t>
            </a:r>
            <a:endParaRPr lang="en-US" sz="11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Weight and foundations (3 of 3)</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card: the meaning in a few words, then something you already know</a:t>
            </a:r>
            <a:endParaRPr lang="en-US" sz="1300" dirty="0"/>
          </a:p>
        </p:txBody>
      </p:sp>
      <p:sp>
        <p:nvSpPr>
          <p:cNvPr id="6" name="Shape 4"/>
          <p:cNvSpPr/>
          <p:nvPr/>
        </p:nvSpPr>
        <p:spPr>
          <a:xfrm>
            <a:off x="457200" y="1280160"/>
            <a:ext cx="4041648" cy="1097280"/>
          </a:xfrm>
          <a:prstGeom prst="roundRect">
            <a:avLst>
              <a:gd name="adj" fmla="val 6667"/>
            </a:avLst>
          </a:prstGeom>
          <a:solidFill>
            <a:srgbClr val="F2ECE1"/>
          </a:solidFill>
          <a:ln w="12700">
            <a:solidFill>
              <a:srgbClr val="DFD6C7"/>
            </a:solidFill>
            <a:prstDash val="solid"/>
          </a:ln>
        </p:spPr>
      </p:sp>
      <p:sp>
        <p:nvSpPr>
          <p:cNvPr id="7" name="Shape 5"/>
          <p:cNvSpPr/>
          <p:nvPr/>
        </p:nvSpPr>
        <p:spPr>
          <a:xfrm>
            <a:off x="475488" y="1408176"/>
            <a:ext cx="64008" cy="841248"/>
          </a:xfrm>
          <a:prstGeom prst="rect">
            <a:avLst/>
          </a:prstGeom>
          <a:solidFill>
            <a:srgbClr val="D97A14"/>
          </a:solidFill>
          <a:ln w="12700">
            <a:solidFill>
              <a:srgbClr val="D97A14"/>
            </a:solidFill>
            <a:prstDash val="solid"/>
          </a:ln>
        </p:spPr>
      </p:sp>
      <p:sp>
        <p:nvSpPr>
          <p:cNvPr id="8" name="Text 6"/>
          <p:cNvSpPr txBox="1"/>
          <p:nvPr/>
        </p:nvSpPr>
        <p:spPr>
          <a:xfrm>
            <a:off x="640080"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Relay policy</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What a node chooses to relay and keep.</a:t>
            </a:r>
            <a:endParaRPr lang="en-US" sz="1300" dirty="0"/>
          </a:p>
        </p:txBody>
      </p:sp>
      <p:sp>
        <p:nvSpPr>
          <p:cNvPr id="9" name="Text 7"/>
          <p:cNvSpPr txBox="1"/>
          <p:nvPr/>
        </p:nvSpPr>
        <p:spPr>
          <a:xfrm>
            <a:off x="640080" y="1805940"/>
            <a:ext cx="3767328" cy="214884"/>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house rules of one post office.</a:t>
            </a:r>
            <a:endParaRPr lang="en-US" sz="1150" dirty="0"/>
          </a:p>
        </p:txBody>
      </p:sp>
      <p:sp>
        <p:nvSpPr>
          <p:cNvPr id="10" name="Shape 8"/>
          <p:cNvSpPr/>
          <p:nvPr/>
        </p:nvSpPr>
        <p:spPr>
          <a:xfrm>
            <a:off x="4645152" y="1280160"/>
            <a:ext cx="4041648" cy="1097280"/>
          </a:xfrm>
          <a:prstGeom prst="roundRect">
            <a:avLst>
              <a:gd name="adj" fmla="val 6667"/>
            </a:avLst>
          </a:prstGeom>
          <a:solidFill>
            <a:srgbClr val="F2ECE1"/>
          </a:solidFill>
          <a:ln w="12700">
            <a:solidFill>
              <a:srgbClr val="DFD6C7"/>
            </a:solidFill>
            <a:prstDash val="solid"/>
          </a:ln>
        </p:spPr>
      </p:sp>
      <p:sp>
        <p:nvSpPr>
          <p:cNvPr id="11" name="Shape 9"/>
          <p:cNvSpPr/>
          <p:nvPr/>
        </p:nvSpPr>
        <p:spPr>
          <a:xfrm>
            <a:off x="4663440" y="1408176"/>
            <a:ext cx="64008" cy="841248"/>
          </a:xfrm>
          <a:prstGeom prst="rect">
            <a:avLst/>
          </a:prstGeom>
          <a:solidFill>
            <a:srgbClr val="D97A14"/>
          </a:solidFill>
          <a:ln w="12700">
            <a:solidFill>
              <a:srgbClr val="D97A14"/>
            </a:solidFill>
            <a:prstDash val="solid"/>
          </a:ln>
        </p:spPr>
      </p:sp>
      <p:sp>
        <p:nvSpPr>
          <p:cNvPr id="12" name="Text 10"/>
          <p:cNvSpPr txBox="1"/>
          <p:nvPr/>
        </p:nvSpPr>
        <p:spPr>
          <a:xfrm>
            <a:off x="4828032" y="1344168"/>
            <a:ext cx="3767328" cy="434340"/>
          </a:xfrm>
          <a:prstGeom prst="rect">
            <a:avLst/>
          </a:prstGeom>
          <a:noFill/>
          <a:ln/>
        </p:spPr>
        <p:txBody>
          <a:bodyPr wrap="square" lIns="0" tIns="0" rIns="0" bIns="0" rtlCol="0" anchor="t"/>
          <a:lstStyle/>
          <a:p>
            <a:pPr indent="0" marL="0">
              <a:spcAft>
                <a:spcPts val="200"/>
              </a:spcAft>
              <a:buNone/>
            </a:pPr>
            <a:r>
              <a:rPr lang="en-US" sz="1300" b="1" dirty="0">
                <a:solidFill>
                  <a:srgbClr val="2B2622"/>
                </a:solidFill>
                <a:latin typeface="Cambria" pitchFamily="34" charset="0"/>
                <a:ea typeface="Cambria" pitchFamily="34" charset="-122"/>
                <a:cs typeface="Cambria" pitchFamily="34" charset="-120"/>
              </a:rPr>
              <a:t>Consensus rule</a:t>
            </a:r>
            <a:endParaRPr lang="en-US" sz="1300" dirty="0"/>
          </a:p>
          <a:p>
            <a:pPr indent="0" marL="0">
              <a:spcAft>
                <a:spcPts val="200"/>
              </a:spcAft>
              <a:buNone/>
            </a:pPr>
            <a:r>
              <a:rPr lang="en-US" sz="1150" dirty="0">
                <a:solidFill>
                  <a:srgbClr val="2B2622"/>
                </a:solidFill>
                <a:latin typeface="Calibri" pitchFamily="34" charset="0"/>
                <a:ea typeface="Calibri" pitchFamily="34" charset="-122"/>
                <a:cs typeface="Calibri" pitchFamily="34" charset="-120"/>
              </a:rPr>
              <a:t>What every node must enforce identically.</a:t>
            </a:r>
            <a:endParaRPr lang="en-US" sz="1300" dirty="0"/>
          </a:p>
        </p:txBody>
      </p:sp>
      <p:sp>
        <p:nvSpPr>
          <p:cNvPr id="13" name="Text 11"/>
          <p:cNvSpPr txBox="1"/>
          <p:nvPr/>
        </p:nvSpPr>
        <p:spPr>
          <a:xfrm>
            <a:off x="4828032" y="1805940"/>
            <a:ext cx="3767328" cy="393192"/>
          </a:xfrm>
          <a:prstGeom prst="rect">
            <a:avLst/>
          </a:prstGeom>
          <a:noFill/>
          <a:ln/>
        </p:spPr>
        <p:txBody>
          <a:bodyPr wrap="square" lIns="0" tIns="0" rIns="0" bIns="0" rtlCol="0" anchor="t"/>
          <a:lstStyle/>
          <a:p>
            <a:pPr indent="0" marL="0">
              <a:buNone/>
            </a:pPr>
            <a:r>
              <a:rPr lang="en-US" sz="1150" i="1" dirty="0">
                <a:solidFill>
                  <a:srgbClr val="2F6D62"/>
                </a:solidFill>
                <a:latin typeface="Calibri" pitchFamily="34" charset="0"/>
                <a:ea typeface="Calibri" pitchFamily="34" charset="-122"/>
                <a:cs typeface="Calibri" pitchFamily="34" charset="-120"/>
              </a:rPr>
              <a:t>Think of the law every post office must obey identically.</a:t>
            </a:r>
            <a:endParaRPr lang="en-US" sz="1150" dirty="0"/>
          </a:p>
        </p:txBody>
      </p:sp>
      <p:sp>
        <p:nvSpPr>
          <p:cNvPr id="14" name="Shape 12"/>
          <p:cNvSpPr/>
          <p:nvPr/>
        </p:nvSpPr>
        <p:spPr>
          <a:xfrm>
            <a:off x="457200" y="4636008"/>
            <a:ext cx="91440" cy="310896"/>
          </a:xfrm>
          <a:prstGeom prst="rect">
            <a:avLst/>
          </a:prstGeom>
          <a:solidFill>
            <a:srgbClr val="D97A14"/>
          </a:solidFill>
          <a:ln w="12700">
            <a:solidFill>
              <a:srgbClr val="D97A14"/>
            </a:solidFill>
            <a:prstDash val="solid"/>
          </a:ln>
        </p:spPr>
      </p:sp>
      <p:sp>
        <p:nvSpPr>
          <p:cNvPr id="15" name="Text 13"/>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Say each idea twice: once as the meaning, once as the everyday comparison</a:t>
            </a:r>
            <a:endParaRPr lang="en-US" sz="1350" dirty="0"/>
          </a:p>
        </p:txBody>
      </p:sp>
      <p:sp>
        <p:nvSpPr>
          <p:cNvPr id="16" name="Text 14"/>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59 / 62</a:t>
            </a:r>
            <a:endParaRPr lang="en-US" sz="11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five lines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One line per part, each provable from its slides</a:t>
            </a:r>
            <a:endParaRPr lang="en-US" sz="1300" dirty="0"/>
          </a:p>
        </p:txBody>
      </p:sp>
      <p:sp>
        <p:nvSpPr>
          <p:cNvPr id="6" name="Shape 4"/>
          <p:cNvSpPr/>
          <p:nvPr/>
        </p:nvSpPr>
        <p:spPr>
          <a:xfrm>
            <a:off x="457200" y="140817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40817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371600"/>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 transaction asks strangers to update their ledgers: inputs point, witnesses prove, outputs assign.</a:t>
            </a:r>
            <a:endParaRPr lang="en-US" sz="1250" dirty="0"/>
          </a:p>
        </p:txBody>
      </p:sp>
      <p:sp>
        <p:nvSpPr>
          <p:cNvPr id="9" name="Shape 7"/>
          <p:cNvSpPr/>
          <p:nvPr/>
        </p:nvSpPr>
        <p:spPr>
          <a:xfrm>
            <a:off x="457200" y="2011680"/>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201168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75104"/>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sequence field has meant three things, and the lock time is read against the median of eleven blocks.</a:t>
            </a:r>
            <a:endParaRPr lang="en-US" sz="1250" dirty="0"/>
          </a:p>
        </p:txBody>
      </p:sp>
      <p:sp>
        <p:nvSpPr>
          <p:cNvPr id="12" name="Shape 10"/>
          <p:cNvSpPr/>
          <p:nvPr/>
        </p:nvSpPr>
        <p:spPr>
          <a:xfrm>
            <a:off x="457200" y="2615184"/>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61518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578608"/>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An output is an amount and a condition; the fee is a difference, and dust is a policy about everyone's database.</a:t>
            </a:r>
            <a:endParaRPr lang="en-US" sz="1250" dirty="0"/>
          </a:p>
        </p:txBody>
      </p:sp>
      <p:sp>
        <p:nvSpPr>
          <p:cNvPr id="15" name="Shape 13"/>
          <p:cNvSpPr/>
          <p:nvPr/>
        </p:nvSpPr>
        <p:spPr>
          <a:xfrm>
            <a:off x="457200" y="3218688"/>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3218688"/>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3182112"/>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Witnesses in the input script made identifiers malleable; segregated witness moved them out, as a soft fork.</a:t>
            </a:r>
            <a:endParaRPr lang="en-US" sz="1250" dirty="0"/>
          </a:p>
        </p:txBody>
      </p:sp>
      <p:sp>
        <p:nvSpPr>
          <p:cNvPr id="18" name="Shape 16"/>
          <p:cNvSpPr/>
          <p:nvPr/>
        </p:nvSpPr>
        <p:spPr>
          <a:xfrm>
            <a:off x="457200" y="382219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82219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785616"/>
            <a:ext cx="7662672" cy="566928"/>
          </a:xfrm>
          <a:prstGeom prst="rect">
            <a:avLst/>
          </a:prstGeom>
          <a:noFill/>
          <a:ln/>
        </p:spPr>
        <p:txBody>
          <a:bodyPr wrap="square" lIns="0" tIns="0" rIns="0" bIns="0" rtlCol="0" anchor="ctr"/>
          <a:lstStyle/>
          <a:p>
            <a:pPr indent="0" marL="0">
              <a:buNone/>
            </a:pPr>
            <a:r>
              <a:rPr lang="en-US" sz="1250" dirty="0">
                <a:solidFill>
                  <a:srgbClr val="2B2622"/>
                </a:solidFill>
                <a:latin typeface="Calibri" pitchFamily="34" charset="0"/>
                <a:ea typeface="Calibri" pitchFamily="34" charset="-122"/>
                <a:cs typeface="Calibri" pitchFamily="34" charset="-120"/>
              </a:rPr>
              <a:t>The coinbase creates coins under a schedule that ends at block 6,929,999, and weight is what a block is filled by.</a:t>
            </a:r>
            <a:endParaRPr lang="en-US" sz="1250" dirty="0"/>
          </a:p>
        </p:txBody>
      </p:sp>
      <p:sp>
        <p:nvSpPr>
          <p:cNvPr id="21" name="Shape 19"/>
          <p:cNvSpPr/>
          <p:nvPr/>
        </p:nvSpPr>
        <p:spPr>
          <a:xfrm>
            <a:off x="457200" y="4636008"/>
            <a:ext cx="91440" cy="310896"/>
          </a:xfrm>
          <a:prstGeom prst="rect">
            <a:avLst/>
          </a:prstGeom>
          <a:solidFill>
            <a:srgbClr val="D97A14"/>
          </a:solidFill>
          <a:ln w="12700">
            <a:solidFill>
              <a:srgbClr val="D97A14"/>
            </a:solidFill>
            <a:prstDash val="solid"/>
          </a:ln>
        </p:spPr>
      </p:sp>
      <p:sp>
        <p:nvSpPr>
          <p:cNvPr id="22" name="Text 2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line feels unproven, the code slide of its part carries the receipt</a:t>
            </a:r>
            <a:endParaRPr lang="en-US" sz="1350" dirty="0"/>
          </a:p>
        </p:txBody>
      </p:sp>
      <p:sp>
        <p:nvSpPr>
          <p:cNvPr id="23" name="Text 2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60 / 62</a:t>
            </a:r>
            <a:endParaRPr lang="en-US" sz="11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t>
            </a:r>
            <a:endParaRPr lang="en-US" sz="18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Checked 2026-10-22; every entry is a live link in this file</a:t>
            </a:r>
            <a:endParaRPr lang="en-US" sz="1300" dirty="0"/>
          </a:p>
        </p:txBody>
      </p:sp>
      <p:sp>
        <p:nvSpPr>
          <p:cNvPr id="6" name="Text 4"/>
          <p:cNvSpPr txBox="1"/>
          <p:nvPr/>
        </p:nvSpPr>
        <p:spPr>
          <a:xfrm>
            <a:off x="45720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Read</a:t>
            </a:r>
            <a:endParaRPr lang="en-US" sz="1250" dirty="0"/>
          </a:p>
        </p:txBody>
      </p:sp>
      <p:sp>
        <p:nvSpPr>
          <p:cNvPr id="7" name="Shape 5"/>
          <p:cNvSpPr/>
          <p:nvPr/>
        </p:nvSpPr>
        <p:spPr>
          <a:xfrm>
            <a:off x="493776" y="171907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Mastering Bitcoin, ch. 6: Transactions</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Chapter text as AsciiDoc source, plain text, free to read</a:t>
            </a:r>
            <a:endParaRPr lang="en-US" sz="1000" dirty="0"/>
          </a:p>
        </p:txBody>
      </p:sp>
      <p:sp>
        <p:nvSpPr>
          <p:cNvPr id="9" name="Shape 7"/>
          <p:cNvSpPr/>
          <p:nvPr/>
        </p:nvSpPr>
        <p:spPr>
          <a:xfrm>
            <a:off x="493776" y="2121408"/>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Transaction Malleability and MtGox (paper)</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Decker and Wattenhofer's measurements, free to download</a:t>
            </a:r>
            <a:endParaRPr lang="en-US" sz="1000" dirty="0"/>
          </a:p>
        </p:txBody>
      </p:sp>
      <p:sp>
        <p:nvSpPr>
          <p:cNvPr id="11" name="Text 9"/>
          <p:cNvSpPr txBox="1"/>
          <p:nvPr/>
        </p:nvSpPr>
        <p:spPr>
          <a:xfrm>
            <a:off x="45720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Standards</a:t>
            </a:r>
            <a:endParaRPr lang="en-US" sz="1250" dirty="0"/>
          </a:p>
        </p:txBody>
      </p:sp>
      <p:sp>
        <p:nvSpPr>
          <p:cNvPr id="12" name="Shape 10"/>
          <p:cNvSpPr/>
          <p:nvPr/>
        </p:nvSpPr>
        <p:spPr>
          <a:xfrm>
            <a:off x="493776" y="2871216"/>
            <a:ext cx="82296" cy="82296"/>
          </a:xfrm>
          <a:prstGeom prst="ellipse">
            <a:avLst/>
          </a:prstGeom>
          <a:solidFill>
            <a:srgbClr val="D97A14"/>
          </a:solidFill>
          <a:ln w="12700">
            <a:solidFill>
              <a:srgbClr val="D97A14"/>
            </a:solidFill>
            <a:prstDash val="solid"/>
          </a:ln>
        </p:spPr>
      </p:sp>
      <p:sp>
        <p:nvSpPr>
          <p:cNvPr id="13" name="Text 11"/>
          <p:cNvSpPr txBox="1"/>
          <p:nvPr/>
        </p:nvSpPr>
        <p:spPr>
          <a:xfrm>
            <a:off x="65836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BIP 141: Segregated Witness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Weight, witness data and the new transaction format  bips.dev</a:t>
            </a:r>
            <a:endParaRPr lang="en-US" sz="1000" dirty="0"/>
          </a:p>
        </p:txBody>
      </p:sp>
      <p:sp>
        <p:nvSpPr>
          <p:cNvPr id="14" name="Shape 12"/>
          <p:cNvSpPr/>
          <p:nvPr/>
        </p:nvSpPr>
        <p:spPr>
          <a:xfrm>
            <a:off x="493776" y="3273552"/>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BIP 68: Relative lock-time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Locking an input by sequence numbers  bips.dev</a:t>
            </a:r>
            <a:endParaRPr lang="en-US" sz="1000" dirty="0"/>
          </a:p>
        </p:txBody>
      </p:sp>
      <p:sp>
        <p:nvSpPr>
          <p:cNvPr id="16" name="Shape 14"/>
          <p:cNvSpPr/>
          <p:nvPr/>
        </p:nvSpPr>
        <p:spPr>
          <a:xfrm>
            <a:off x="493776" y="3675888"/>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60273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BIP 125: Opt-in Replace-by-Fee (spec)</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How a transaction signals that it may be replaced  bips.dev</a:t>
            </a:r>
            <a:endParaRPr lang="en-US" sz="1000" dirty="0"/>
          </a:p>
        </p:txBody>
      </p:sp>
      <p:sp>
        <p:nvSpPr>
          <p:cNvPr id="18" name="Text 16"/>
          <p:cNvSpPr txBox="1"/>
          <p:nvPr/>
        </p:nvSpPr>
        <p:spPr>
          <a:xfrm>
            <a:off x="4732020" y="1371600"/>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Tools</a:t>
            </a:r>
            <a:endParaRPr lang="en-US" sz="1250" dirty="0"/>
          </a:p>
        </p:txBody>
      </p:sp>
      <p:sp>
        <p:nvSpPr>
          <p:cNvPr id="19" name="Shape 17"/>
          <p:cNvSpPr/>
          <p:nvPr/>
        </p:nvSpPr>
        <p:spPr>
          <a:xfrm>
            <a:off x="4768596" y="1719072"/>
            <a:ext cx="82296" cy="82296"/>
          </a:xfrm>
          <a:prstGeom prst="ellipse">
            <a:avLst/>
          </a:prstGeom>
          <a:solidFill>
            <a:srgbClr val="D97A14"/>
          </a:solidFill>
          <a:ln w="12700">
            <a:solidFill>
              <a:srgbClr val="D97A14"/>
            </a:solidFill>
            <a:prstDash val="solid"/>
          </a:ln>
        </p:spPr>
      </p:sp>
      <p:sp>
        <p:nvSpPr>
          <p:cNvPr id="20" name="Text 18"/>
          <p:cNvSpPr txBox="1"/>
          <p:nvPr/>
        </p:nvSpPr>
        <p:spPr>
          <a:xfrm>
            <a:off x="4933188" y="164592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Alice's transaction on mempool.space (tx)</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Block 775,072: the payment this chapter builds  mempool.space</a:t>
            </a:r>
            <a:endParaRPr lang="en-US" sz="1000" dirty="0"/>
          </a:p>
        </p:txBody>
      </p:sp>
      <p:sp>
        <p:nvSpPr>
          <p:cNvPr id="21" name="Shape 19"/>
          <p:cNvSpPr/>
          <p:nvPr/>
        </p:nvSpPr>
        <p:spPr>
          <a:xfrm>
            <a:off x="4768596" y="2121408"/>
            <a:ext cx="82296" cy="82296"/>
          </a:xfrm>
          <a:prstGeom prst="ellipse">
            <a:avLst/>
          </a:prstGeom>
          <a:solidFill>
            <a:srgbClr val="D97A14"/>
          </a:solidFill>
          <a:ln w="12700">
            <a:solidFill>
              <a:srgbClr val="D97A14"/>
            </a:solidFill>
            <a:prstDash val="solid"/>
          </a:ln>
        </p:spPr>
      </p:sp>
      <p:sp>
        <p:nvSpPr>
          <p:cNvPr id="22" name="Text 20"/>
          <p:cNvSpPr txBox="1"/>
          <p:nvPr/>
        </p:nvSpPr>
        <p:spPr>
          <a:xfrm>
            <a:off x="4933188" y="2048256"/>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Bitcoin Wiki: Transaction (guide)</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Fields of a transaction, explained on the wiki  en.bitcoin.it</a:t>
            </a:r>
            <a:endParaRPr lang="en-US" sz="1000" dirty="0"/>
          </a:p>
        </p:txBody>
      </p:sp>
      <p:sp>
        <p:nvSpPr>
          <p:cNvPr id="23" name="Text 21"/>
          <p:cNvSpPr txBox="1"/>
          <p:nvPr/>
        </p:nvSpPr>
        <p:spPr>
          <a:xfrm>
            <a:off x="4732020" y="2523744"/>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Community</a:t>
            </a:r>
            <a:endParaRPr lang="en-US" sz="1250" dirty="0"/>
          </a:p>
        </p:txBody>
      </p:sp>
      <p:sp>
        <p:nvSpPr>
          <p:cNvPr id="24" name="Shape 22"/>
          <p:cNvSpPr/>
          <p:nvPr/>
        </p:nvSpPr>
        <p:spPr>
          <a:xfrm>
            <a:off x="4768596" y="2871216"/>
            <a:ext cx="82296" cy="82296"/>
          </a:xfrm>
          <a:prstGeom prst="ellipse">
            <a:avLst/>
          </a:prstGeom>
          <a:solidFill>
            <a:srgbClr val="D97A14"/>
          </a:solidFill>
          <a:ln w="12700">
            <a:solidFill>
              <a:srgbClr val="D97A14"/>
            </a:solidFill>
            <a:prstDash val="solid"/>
          </a:ln>
        </p:spPr>
      </p:sp>
      <p:sp>
        <p:nvSpPr>
          <p:cNvPr id="25" name="Text 23"/>
          <p:cNvSpPr txBox="1"/>
          <p:nvPr/>
        </p:nvSpPr>
        <p:spPr>
          <a:xfrm>
            <a:off x="4933188" y="2798064"/>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Pizza for bitcoins? (bitcointalk thread)</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Laszlo Hanyecz's offer of 10,000 bitcoins, May 2010</a:t>
            </a:r>
            <a:endParaRPr lang="en-US" sz="1000" dirty="0"/>
          </a:p>
        </p:txBody>
      </p:sp>
      <p:sp>
        <p:nvSpPr>
          <p:cNvPr id="26" name="Shape 24"/>
          <p:cNvSpPr/>
          <p:nvPr/>
        </p:nvSpPr>
        <p:spPr>
          <a:xfrm>
            <a:off x="4768596" y="3273552"/>
            <a:ext cx="82296" cy="82296"/>
          </a:xfrm>
          <a:prstGeom prst="ellipse">
            <a:avLst/>
          </a:prstGeom>
          <a:solidFill>
            <a:srgbClr val="D97A14"/>
          </a:solidFill>
          <a:ln w="12700">
            <a:solidFill>
              <a:srgbClr val="D97A14"/>
            </a:solidFill>
            <a:prstDash val="solid"/>
          </a:ln>
        </p:spPr>
      </p:sp>
      <p:sp>
        <p:nvSpPr>
          <p:cNvPr id="27" name="Text 25"/>
          <p:cNvSpPr txBox="1"/>
          <p:nvPr/>
        </p:nvSpPr>
        <p:spPr>
          <a:xfrm>
            <a:off x="4933188" y="3200400"/>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Strange block 74638 (bitcointalk thread)</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The forum thread where the overflow was found live</a:t>
            </a:r>
            <a:endParaRPr lang="en-US" sz="1000" dirty="0"/>
          </a:p>
        </p:txBody>
      </p:sp>
      <p:sp>
        <p:nvSpPr>
          <p:cNvPr id="28" name="Text 26"/>
          <p:cNvSpPr txBox="1"/>
          <p:nvPr/>
        </p:nvSpPr>
        <p:spPr>
          <a:xfrm>
            <a:off x="4732020" y="3675888"/>
            <a:ext cx="3954780" cy="274320"/>
          </a:xfrm>
          <a:prstGeom prst="rect">
            <a:avLst/>
          </a:prstGeom>
          <a:noFill/>
          <a:ln/>
        </p:spPr>
        <p:txBody>
          <a:bodyPr wrap="square" lIns="0" tIns="0" rIns="0" bIns="0" rtlCol="0" anchor="ctr"/>
          <a:lstStyle/>
          <a:p>
            <a:pPr indent="0" marL="0">
              <a:buNone/>
            </a:pPr>
            <a:r>
              <a:rPr lang="en-US" sz="1250" b="1" dirty="0">
                <a:solidFill>
                  <a:srgbClr val="2F6D62"/>
                </a:solidFill>
                <a:latin typeface="Cambria" pitchFamily="34" charset="0"/>
                <a:ea typeface="Cambria" pitchFamily="34" charset="-122"/>
                <a:cs typeface="Cambria" pitchFamily="34" charset="-120"/>
              </a:rPr>
              <a:t>Watch</a:t>
            </a:r>
            <a:endParaRPr lang="en-US" sz="1250" dirty="0"/>
          </a:p>
        </p:txBody>
      </p:sp>
      <p:sp>
        <p:nvSpPr>
          <p:cNvPr id="29" name="Shape 27"/>
          <p:cNvSpPr/>
          <p:nvPr/>
        </p:nvSpPr>
        <p:spPr>
          <a:xfrm>
            <a:off x="4768596" y="4023360"/>
            <a:ext cx="82296" cy="82296"/>
          </a:xfrm>
          <a:prstGeom prst="ellipse">
            <a:avLst/>
          </a:prstGeom>
          <a:solidFill>
            <a:srgbClr val="D97A14"/>
          </a:solidFill>
          <a:ln w="12700">
            <a:solidFill>
              <a:srgbClr val="D97A14"/>
            </a:solidFill>
            <a:prstDash val="solid"/>
          </a:ln>
        </p:spPr>
      </p:sp>
      <p:sp>
        <p:nvSpPr>
          <p:cNvPr id="30" name="Text 28"/>
          <p:cNvSpPr txBox="1"/>
          <p:nvPr/>
        </p:nvSpPr>
        <p:spPr>
          <a:xfrm>
            <a:off x="4933188" y="3950208"/>
            <a:ext cx="3753612" cy="384048"/>
          </a:xfrm>
          <a:prstGeom prst="rect">
            <a:avLst/>
          </a:prstGeom>
          <a:noFill/>
          <a:ln/>
        </p:spPr>
        <p:txBody>
          <a:bodyPr wrap="square" lIns="0" tIns="0" rIns="0" bIns="0" rtlCol="0" anchor="t"/>
          <a:lstStyle/>
          <a:p>
            <a:pPr indent="0" marL="0">
              <a:buNone/>
            </a:pPr>
            <a:r>
              <a:rPr lang="en-US" sz="1000" b="1"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Bitcoin transaction (tutorial video)</a:t>
            </a:r>
            <a:endParaRPr lang="en-US" sz="1000" dirty="0"/>
          </a:p>
          <a:p>
            <a:pPr indent="0" marL="0">
              <a:buNone/>
            </a:pPr>
            <a:r>
              <a:rPr lang="en-US" sz="800" dirty="0">
                <a:solidFill>
                  <a:srgbClr val="2B2622"/>
                </a:solidFill>
                <a:latin typeface="Calibri" pitchFamily="34" charset="0"/>
                <a:ea typeface="Calibri" pitchFamily="34" charset="-122"/>
                <a:cs typeface="Calibri" pitchFamily="34" charset="-120"/>
              </a:rPr>
              <a:t>Mobilefish.com walks through inputs, outputs and signatures</a:t>
            </a:r>
            <a:endParaRPr lang="en-US" sz="1000" dirty="0"/>
          </a:p>
        </p:txBody>
      </p:sp>
      <p:sp>
        <p:nvSpPr>
          <p:cNvPr id="31" name="Shape 29"/>
          <p:cNvSpPr/>
          <p:nvPr/>
        </p:nvSpPr>
        <p:spPr>
          <a:xfrm>
            <a:off x="457200" y="4636008"/>
            <a:ext cx="91440" cy="310896"/>
          </a:xfrm>
          <a:prstGeom prst="rect">
            <a:avLst/>
          </a:prstGeom>
          <a:solidFill>
            <a:srgbClr val="D97A14"/>
          </a:solidFill>
          <a:ln w="12700">
            <a:solidFill>
              <a:srgbClr val="D97A14"/>
            </a:solidFill>
            <a:prstDash val="solid"/>
          </a:ln>
        </p:spPr>
      </p:sp>
      <p:sp>
        <p:nvSpPr>
          <p:cNvPr id="32" name="Text 3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Parse any transaction yourself and match the explorer's identifier and weight</a:t>
            </a:r>
            <a:endParaRPr lang="en-US" sz="1350" dirty="0"/>
          </a:p>
        </p:txBody>
      </p:sp>
      <p:sp>
        <p:nvSpPr>
          <p:cNvPr id="33" name="Text 3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61 / 62</a:t>
            </a:r>
            <a:endParaRPr lang="en-US" sz="11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0" y="0"/>
            <a:ext cx="9144000" cy="219456"/>
          </a:xfrm>
          <a:prstGeom prst="rect">
            <a:avLst/>
          </a:prstGeom>
          <a:solidFill>
            <a:srgbClr val="D97A14"/>
          </a:solidFill>
          <a:ln w="12700">
            <a:solidFill>
              <a:srgbClr val="D97A14"/>
            </a:solidFill>
            <a:prstDash val="solid"/>
          </a:ln>
        </p:spPr>
      </p:sp>
      <p:sp>
        <p:nvSpPr>
          <p:cNvPr id="3" name="Text 1"/>
          <p:cNvSpPr txBox="1"/>
          <p:nvPr/>
        </p:nvSpPr>
        <p:spPr>
          <a:xfrm>
            <a:off x="548640" y="1325880"/>
            <a:ext cx="8046720" cy="868680"/>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you should now be able to say</a:t>
            </a:r>
            <a:endParaRPr lang="en-US" sz="2800" dirty="0"/>
          </a:p>
        </p:txBody>
      </p:sp>
      <p:sp>
        <p:nvSpPr>
          <p:cNvPr id="4" name="Text 2"/>
          <p:cNvSpPr txBox="1"/>
          <p:nvPr/>
        </p:nvSpPr>
        <p:spPr>
          <a:xfrm>
            <a:off x="548640" y="2194560"/>
            <a:ext cx="8046720" cy="548640"/>
          </a:xfrm>
          <a:prstGeom prst="rect">
            <a:avLst/>
          </a:prstGeom>
          <a:noFill/>
          <a:ln/>
        </p:spPr>
        <p:txBody>
          <a:bodyPr wrap="square" lIns="0" tIns="0" rIns="0" bIns="0" rtlCol="0" anchor="t"/>
          <a:lstStyle/>
          <a:p>
            <a:pPr indent="0" marL="0">
              <a:buNone/>
            </a:pPr>
            <a:r>
              <a:rPr lang="en-US" sz="1600" dirty="0">
                <a:solidFill>
                  <a:srgbClr val="2F6D62"/>
                </a:solidFill>
                <a:latin typeface="Calibri" pitchFamily="34" charset="0"/>
                <a:ea typeface="Calibri" pitchFamily="34" charset="-122"/>
                <a:cs typeface="Calibri" pitchFamily="34" charset="-120"/>
              </a:rPr>
              <a:t>And where each claim gets its proof</a:t>
            </a:r>
            <a:endParaRPr lang="en-US" sz="1600" dirty="0"/>
          </a:p>
        </p:txBody>
      </p:sp>
      <p:sp>
        <p:nvSpPr>
          <p:cNvPr id="5" name="Text 3"/>
          <p:cNvSpPr txBox="1"/>
          <p:nvPr/>
        </p:nvSpPr>
        <p:spPr>
          <a:xfrm>
            <a:off x="548640" y="2788920"/>
            <a:ext cx="8046720" cy="150876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a transaction asks of full nodes</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What sequence and lock time permit</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Why identifiers were malleable, and the fix</a:t>
            </a:r>
            <a:endParaRPr lang="en-US" sz="1600" dirty="0"/>
          </a:p>
          <a:p>
            <a:pPr marL="342900" indent="-342900">
              <a:spcAft>
                <a:spcPts val="400"/>
              </a:spcAft>
              <a:buSzPct val="100000"/>
              <a:buChar char="•"/>
            </a:pPr>
            <a:r>
              <a:rPr lang="en-US" sz="1600" dirty="0">
                <a:solidFill>
                  <a:srgbClr val="2B2622"/>
                </a:solidFill>
                <a:latin typeface="Calibri" pitchFamily="34" charset="0"/>
                <a:ea typeface="Calibri" pitchFamily="34" charset="-122"/>
                <a:cs typeface="Calibri" pitchFamily="34" charset="-120"/>
              </a:rPr>
              <a:t>How 569 is computed; who creates bitcoin</a:t>
            </a:r>
            <a:endParaRPr lang="en-US" sz="1600" dirty="0"/>
          </a:p>
        </p:txBody>
      </p:sp>
      <p:sp>
        <p:nvSpPr>
          <p:cNvPr id="6" name="Text 4"/>
          <p:cNvSpPr txBox="1"/>
          <p:nvPr/>
        </p:nvSpPr>
        <p:spPr>
          <a:xfrm>
            <a:off x="548640" y="4407408"/>
            <a:ext cx="7132320" cy="457200"/>
          </a:xfrm>
          <a:prstGeom prst="rect">
            <a:avLst/>
          </a:prstGeom>
          <a:noFill/>
          <a:ln/>
        </p:spPr>
        <p:txBody>
          <a:bodyPr wrap="square" lIns="0" tIns="0" rIns="0" bIns="0" rtlCol="0" anchor="ctr"/>
          <a:lstStyle/>
          <a:p>
            <a:pPr indent="0" marL="0">
              <a:buNone/>
            </a:pPr>
            <a:r>
              <a:rPr lang="en-US" sz="2000" i="1" dirty="0">
                <a:solidFill>
                  <a:srgbClr val="6E655C"/>
                </a:solidFill>
                <a:latin typeface="Cambria" pitchFamily="34" charset="0"/>
                <a:ea typeface="Cambria" pitchFamily="34" charset="-122"/>
                <a:cs typeface="Cambria" pitchFamily="34" charset="-120"/>
              </a:rPr>
              <a:t>Questions?</a:t>
            </a:r>
            <a:endParaRPr lang="en-US" sz="2000" dirty="0"/>
          </a:p>
        </p:txBody>
      </p:sp>
      <p:sp>
        <p:nvSpPr>
          <p:cNvPr id="7" name="Text 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62 / 62</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62</Slides>
  <Notes>62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62</vt:i4>
      </vt:variant>
    </vt:vector>
  </HeadingPairs>
  <TitlesOfParts>
    <vt:vector size="6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SEN0401 Chapter 6</dc:title>
  <dc:subject>PptxGenJS Presentation</dc:subject>
  <dc:creator>Yusuf Altunel</dc:creator>
  <cp:lastModifiedBy>Yusuf Altunel</cp:lastModifiedBy>
  <cp:revision>1</cp:revision>
  <dcterms:created xsi:type="dcterms:W3CDTF">2026-10-22T19:01:59Z</dcterms:created>
  <dcterms:modified xsi:type="dcterms:W3CDTF">2026-10-22T19:01:59Z</dcterms:modified>
  <cp:version>2.1.0</cp:version>
</cp:coreProperties>
</file>