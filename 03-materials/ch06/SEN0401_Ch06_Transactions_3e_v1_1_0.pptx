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5-1.jpg" ContentType="image/jpg"/>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Dust threshold by output type (satoshis, 3,000 sat/kvB)</a:t>
            </a:r>
          </a:p>
        </c:rich>
      </c:tx>
      <c:layout/>
      <c:overlay val="0"/>
    </c:title>
    <c:autoTitleDeleted val="0"/>
    <c:plotArea>
      <c:layout/>
      <c:barChart>
        <c:barDir val="col"/>
        <c:grouping val="clustered"/>
        <c:varyColors val="0"/>
        <c:ser>
          <c:idx val="0"/>
          <c:order val="0"/>
          <c:tx>
            <c:strRef>
              <c:f>Sheet1!$B$1</c:f>
              <c:strCache>
                <c:ptCount val="1"/>
                <c:pt idx="0">
                  <c:v>dust threshold</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 (legacy)</c:v>
                  </c:pt>
                  <c:pt idx="1">
                    <c:v>P2WPKH (segwit v0)</c:v>
                  </c:pt>
                  <c:pt idx="2">
                    <c:v>P2TR (taproot)</c:v>
                  </c:pt>
                  <c:pt idx="3">
                    <c:v>OP_RETURN</c:v>
                  </c:pt>
                </c:lvl>
              </c:multiLvlStrCache>
            </c:multiLvlStrRef>
          </c:cat>
          <c:val>
            <c:numRef>
              <c:f>Sheet1!$B$2:$B$5</c:f>
              <c:numCache>
                <c:formatCode>General</c:formatCode>
                <c:ptCount val="4"/>
                <c:pt idx="0">
                  <c:v>546</c:v>
                </c:pt>
                <c:pt idx="1">
                  <c:v>294</c:v>
                </c:pt>
                <c:pt idx="2">
                  <c:v>330</c:v>
                </c:pt>
                <c:pt idx="3">
                  <c:v>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at each halving (BTC)</a:t>
            </a:r>
          </a:p>
        </c:rich>
      </c:tx>
      <c:layout/>
      <c:overlay val="0"/>
    </c:title>
    <c:autoTitleDeleted val="0"/>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210000</c:v>
                  </c:pt>
                  <c:pt idx="2">
                    <c:v>420000</c:v>
                  </c:pt>
                  <c:pt idx="3">
                    <c:v>630000</c:v>
                  </c:pt>
                  <c:pt idx="4">
                    <c:v>840000</c:v>
                  </c:pt>
                  <c:pt idx="5">
                    <c:v>1050000</c:v>
                  </c:pt>
                  <c:pt idx="6">
                    <c:v>1260000</c:v>
                  </c:pt>
                  <c:pt idx="7">
                    <c:v>1470000</c:v>
                  </c:pt>
                  <c:pt idx="8">
                    <c:v>1680000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each field of Alice's transaction</a:t>
            </a:r>
          </a:p>
        </c:rich>
      </c:tx>
      <c:layout/>
      <c:overlay val="0"/>
    </c:title>
    <c:autoTitleDeleted val="0"/>
    <c:plotArea>
      <c:layout/>
      <c:barChart>
        <c:barDir val="col"/>
        <c:grouping val="clustered"/>
        <c:varyColors val="0"/>
        <c:ser>
          <c:idx val="0"/>
          <c:order val="0"/>
          <c:tx>
            <c:strRef>
              <c:f>Sheet1!$B$1</c:f>
              <c:strCache>
                <c:ptCount val="1"/>
                <c:pt idx="0">
                  <c:v>weight</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cat>
            <c:multiLvlStrRef>
              <c:f>Sheet1!$A$2:$A$13</c:f>
              <c:multiLvlStrCache>
                <c:ptCount val="12"/>
                <c:lvl>
                  <c:pt idx="0">
                    <c:v>version</c:v>
                  </c:pt>
                  <c:pt idx="1">
                    <c:v>marker+flag</c:v>
                  </c:pt>
                  <c:pt idx="2">
                    <c:v>in count</c:v>
                  </c:pt>
                  <c:pt idx="3">
                    <c:v>outpoint</c:v>
                  </c:pt>
                  <c:pt idx="4">
                    <c:v>in script</c:v>
                  </c:pt>
                  <c:pt idx="5">
                    <c:v>sequence</c:v>
                  </c:pt>
                  <c:pt idx="6">
                    <c:v>out count</c:v>
                  </c:pt>
                  <c:pt idx="7">
                    <c:v>amounts</c:v>
                  </c:pt>
                  <c:pt idx="8">
                    <c:v>out scripts</c:v>
                  </c:pt>
                  <c:pt idx="9">
                    <c:v>wit count</c:v>
                  </c:pt>
                  <c:pt idx="10">
                    <c:v>wit items</c:v>
                  </c:pt>
                  <c:pt idx="11">
                    <c:v>lock time</c:v>
                  </c:pt>
                </c:lvl>
              </c:multiLvlStrCache>
            </c:multiLvlStrRef>
          </c:cat>
          <c:val>
            <c:numRef>
              <c:f>Sheet1!$B$2:$B$13</c:f>
              <c:numCache>
                <c:formatCode>General</c:formatCode>
                <c:ptCount val="12"/>
                <c:pt idx="0">
                  <c:v>16</c:v>
                </c:pt>
                <c:pt idx="1">
                  <c:v>2</c:v>
                </c:pt>
                <c:pt idx="2">
                  <c:v>4</c:v>
                </c:pt>
                <c:pt idx="3">
                  <c:v>144</c:v>
                </c:pt>
                <c:pt idx="4">
                  <c:v>4</c:v>
                </c:pt>
                <c:pt idx="5">
                  <c:v>16</c:v>
                </c:pt>
                <c:pt idx="6">
                  <c:v>4</c:v>
                </c:pt>
                <c:pt idx="7">
                  <c:v>64</c:v>
                </c:pt>
                <c:pt idx="8">
                  <c:v>232</c:v>
                </c:pt>
                <c:pt idx="9">
                  <c:v>1</c:v>
                </c:pt>
                <c:pt idx="10">
                  <c:v>66</c:v>
                </c:pt>
                <c:pt idx="11">
                  <c:v>16</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book's own example, byte by byte. Every number on the slides was computed from those bytes with the Python standard library and the chapter's own library, and the identifier and the weight were compared with an independent explorer's record of the same transaction, because no Bitcoin Core node was available where this deck was built. The full text of every slide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transaction the reader can parse alone. One story is the first transaction ever to spend an output, one is the most expensive pizza in history, one is a block that briefly created 184 billion bitcoins, and one is an exchange that blamed the protocol.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seven questions are the chapter's own competency questions, and each one is answered by a slide range of this deck and in full on the course page. The full explanation is on the course page, chapter 6, under What a transaction is, in the concept What a transaction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count under each branch is how many concepts the course page explains for it; the deck walks the spine of the eight in the order the bytes are serialized. The full explanation is on the course page, chapter 6, under Inputs and What a transaction is, in the concepts What a transaction is,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picture is the book's map of the inputs field of Alice's transaction, which the slides of this part recompute from the hexadecimal. The full explanation is on the course page, chapter 6, under Serialization formats and What a transaction is, in the concepts What a transaction is, Serialization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transaction, f4184fc5..., sits in block 170 and is the first ever to spend an output: its single input points at the coinbase of block 9, 161 blocks earlier, and its two outputs pay 10 BTC to Finney's public key and 40 BTC back to the sender. The lesson is this: The format you are reading is the one from block 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serialized transaction is the transaction written as bytes in Bitcoin Core's format. The book retrieves Alice's payment to Bob again with the getrawtransaction command and prints the result as hexadecimal, two characters per byte, noting that it takes 64 hexadecimal characters to display 32 bytes (Antonopoulos and Harding, 2023). Read the first console from the top: the two lengths agree, the marker is zero and the flag one, and the counts are what the byte map shows. The full explanation is on the course page, chapter 6, under Serialization formats, in the concepts Serialized transaction, Byte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outpoint is the field of an input that points at the output being spent. The full explanation is on the course page, chapter 6, under Internal and display byte order and The outpoint, in the concepts Outpoint, Display byte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payment, a1075db5..., confirmed in block 57,043 on 22 May 2010: 131 inputs, because his wallet gathered mining rewards of 50 BTC each, and a single output of 10,000 BTC, with 0.99 BTC left as the fee. The lesson is this: An input count of 131 is what one-output payments can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last four bytes of an input, which the book calls its sequence number, and follows the three meanings the field has carried. The figure is BIP68's own layout of the sequence field as the book reproduces it: the disable flag, the type flag and the sixteen bits of value. A question to think about is this: how one field can carry three meanings without the three ever colliding? The full explanation is on the course page, chapter 6, under Lock time and The sequence field, in the concepts The sequence field, 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number is the four-byte unsigned integer that ends each input, after the outpoint and the input script. The book says the final four bytes of an input are its sequence number and that the use and meaning of this field has changed over time (Antonopoulos and Harding, 2023). The full explanation is on the course page, chapter 6, under Original sequence-based replacement and Sequence as a relative timelock, in the concepts Sequence number, BIP68 relative timelock.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 time field is the final field in a serialized transaction. The first console decodes Alice's zero, the funding transaction's 774,957 and a block's time; the second sorts eleven timestamps and takes the sixth, which trails the newest by 600 seconds in this sample. A question to think about is this: why a time lock set for noon is usually only satisfiable in the early afternoon? The full explanation is on the course page, chapter 6, under Lock time, in the concepts The lock time field, Median time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outputs field, the 75 bytes of Alice's transaction that assign her bitcoins to new conditions. The full explanation is on the course page, chapter 6, under Outputs and The output list, in the concepts Outputs, The output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amount is the first field of a specific output. The book says it is also called value in Bitcoin Core, that it is an 8-byte signed integer indicating the number of satoshis to transfer, that a satoshi is the smallest unit of bitcoin that can be represented in an on-chain transaction, and that there are 100 million satoshis in a bitcoin (Antonopoulos and Harding, 2023). The full explanation is on the course page, chapter 6, under The output list and The output script, in the concepts Amount, Output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Added as 64-bit integers the two amounts overflowed to a small negative number, so the check that outputs do not exceed inputs passed and the chain accepted 184 billion bitcoins out of thin air. The lesson is this: A signed amount needs a range check; the chain learned it the hard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dust limit is the value below which a relaying node treats an output as dust and refuses to relay or mine the transaction that creates it. The bars are computed, never quoted: the console's fourth line produced them, and the last line shows the rate and the sizes that give 546 and 294. The full explanation is on the course page, chapter 6, under Uneconomical outputs and dust, in the concepts Dust limit, Data-carrier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explains the witness structure, the 67 bytes near the end of Alice's transaction that prove she was allowed to spend. The figure is the book's map of the witness structure: one stack for Alice's one input, holding one 65-byte item, her signature. A question to think about is this: what a court would ask of a witness that it cannot ask of a number? The full explanation is on the course page, chapter 6, under The idea of a witness and Witnesses, in the concepts Witnesses, The idea of a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transaction malleability is the second problem: it is often possible to solve the same script in different ways. The first console's set has four members, one per encoding; the second console's last line is the whole of segregated witness in two booleans. A question to think about is this: what Bob loses when a stranger's re-encoded copy of Alice's transaction confirms instead of hers? The full explanation is on the course page, chapter 6, under Segregated witness and The malleability problems, in the concepts Third-party transaction malleability, Segregated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 That is third-party malleability - a stranger re-encodes a push in the input script, the txid changes, and software that tracks payments by txid believes the payment failed. The lesson is this: Track outpoints, not txids - and do not blame the protocol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 fork is a backward-compatible change to the consensus rules. The two columns are the book's own sentence turned into a table, and the console checks it on Alice's bytes: two witness programs, an empty input script, a witness item. A question to think about is this: why a change that only tightens the rules can be enforced by a minority of nodes while a change that loosens them cannot? The full explanation is on the course page, chapter 6, under Segregated witness, in the concepts Soft fork, Witness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first transaction in each block. The figure is the book's map of Alice's transaction drawn in weight units rather than bytes: the witness shrinks to a quarter and everything else stays. A question to think about is this: why the two maps of the same transaction have different shapes? The full explanation is on the course page, chapter 6, under Coinbase transactions and Weight and vbytes, in the concepts Coinbase transactions, Weight and vbytes.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is the part of a coinbase's claim that consists of bitcoins that have never previously been circulated. The book says the subsidy started at 50 BTC per block and halves every 210,000 blocks, approximately every four years, with values rounded down to the nearest satoshi, and it dates the subsidy to block 6,720,000 (Antonopoulos and Harding, 2023). The full explanation is on the course page, chapter 6, under Coinbase transactions, in the concepts Block subsidy, Maturity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is the modern unit of measurement for the size of Bitcoin transactions and blocks. The book says each block is limited in the amount of transaction data it can contain, so most software needs to measure the transactions it creates or processes, and that the unit is called weight (Antonopoulos and Harding, 2023). The full explanation is on the course page, chapter 6, under Weight and vbytes, in the concepts Weight, Weight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take any confirmed transaction from the explorer, paste its hexadecimal into the chapter's library on the course page, and check that the identifier and the weight you compute are the ones the explorer shows.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against the chapter's own transaction, the standards and Bitcoin Core's sources. The course page for chapter 6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en.bitcoin.it/wiki/Value_overflow_incident"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rxiv.org/abs/1403.6676"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raw.githubusercontent.com/bitcoin/bips/master/bip-0141.mediawiki" TargetMode="External"/><Relationship Id="rId4" Type="http://schemas.openxmlformats.org/officeDocument/2006/relationships/hyperlink" Target="https://raw.githubusercontent.com/bitcoin/bips/master/bip-0068.mediawiki" TargetMode="External"/><Relationship Id="rId5" Type="http://schemas.openxmlformats.org/officeDocument/2006/relationships/hyperlink" Target="https://raw.githubusercontent.com/bitcoin/bips/master/bip-0125.mediawiki"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learnmeabitcoin.com/technical/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 and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5212080" y="1005840"/>
            <a:ext cx="3566160" cy="2377440"/>
          </a:xfrm>
          <a:prstGeom prst="rect">
            <a:avLst/>
          </a:prstGeom>
        </p:spPr>
      </p:pic>
      <p:sp>
        <p:nvSpPr>
          <p:cNvPr id="12" name="Text 9"/>
          <p:cNvSpPr txBox="1"/>
          <p:nvPr/>
        </p:nvSpPr>
        <p:spPr>
          <a:xfrm>
            <a:off x="521208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byte map of Alice's transaction - Antonopoulos &amp; Harding,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byte by byte - block 170 and the pizza  (slides 5-9)</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Sequence and lock time - three meanings, three readings  (slides 10-12)</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Outputs - amounts, the 2010 overflow, dust  (slides 13-16)</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the coinbase, the weight, and resources  (slides 17-26)</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transaction you have parsed yourself</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placing witnesses in the input script make the transaction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the chapter's figure of 569 for Alice's transaction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do the chapter's statements differ from the standards?</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one per field group; the deck follows the bytes in order and stops at four true stories.</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transaction, byte by byte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transaction asks of strangers, and how it is written as bytes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request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194 bytes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outpoints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Byte order</a:t>
            </a:r>
            <a:endParaRPr lang="en-US" sz="1400" dirty="0"/>
          </a:p>
        </p:txBody>
      </p:sp>
      <p:pic>
        <p:nvPicPr>
          <p:cNvPr id="14" name="Image 0" descr="../../03-materials/ch06/assets/mbc3_0602.png">    </p:cNvPr>
          <p:cNvPicPr>
            <a:picLocks noChangeAspect="1"/>
          </p:cNvPicPr>
          <p:nvPr/>
        </p:nvPicPr>
        <p:blipFill>
          <a:blip r:embed="rId1"/>
          <a:srcRect l="0" r="0" t="0" b="0"/>
          <a:stretch/>
        </p:blipFill>
        <p:spPr>
          <a:xfrm>
            <a:off x="5577840" y="2011680"/>
            <a:ext cx="3200400" cy="960120"/>
          </a:xfrm>
          <a:prstGeom prst="rect">
            <a:avLst/>
          </a:prstGeom>
        </p:spPr>
      </p:pic>
      <p:sp>
        <p:nvSpPr>
          <p:cNvPr id="15" name="Text 12"/>
          <p:cNvSpPr txBox="1"/>
          <p:nvPr/>
        </p:nvSpPr>
        <p:spPr>
          <a:xfrm>
            <a:off x="5577840" y="299008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inputs field of Alice's transaction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2009-01-12</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325880"/>
            <a:ext cx="2377440" cy="2697480"/>
          </a:xfrm>
          <a:prstGeom prst="rect">
            <a:avLst/>
          </a:prstGeom>
        </p:spPr>
      </p:pic>
      <p:sp>
        <p:nvSpPr>
          <p:cNvPr id="7" name="Text 4"/>
          <p:cNvSpPr txBox="1"/>
          <p:nvPr/>
        </p:nvSpPr>
        <p:spPr>
          <a:xfrm>
            <a:off x="457200" y="404164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427607"/>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32588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11 January 2009: Finney posts two words, running bitcoin</a:t>
            </a:r>
            <a:endParaRPr lang="en-US" sz="1250" dirty="0"/>
          </a:p>
        </p:txBody>
      </p:sp>
      <p:sp>
        <p:nvSpPr>
          <p:cNvPr id="10" name="Shape 7"/>
          <p:cNvSpPr/>
          <p:nvPr/>
        </p:nvSpPr>
        <p:spPr>
          <a:xfrm>
            <a:off x="3108960" y="1759077"/>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65735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next day the author of the software sends him 10 BTC</a:t>
            </a:r>
            <a:endParaRPr lang="en-US" sz="1250" dirty="0"/>
          </a:p>
        </p:txBody>
      </p:sp>
      <p:sp>
        <p:nvSpPr>
          <p:cNvPr id="12" name="Shape 9"/>
          <p:cNvSpPr/>
          <p:nvPr/>
        </p:nvSpPr>
        <p:spPr>
          <a:xfrm>
            <a:off x="3108960" y="2090547"/>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198882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One input spends the coinbase of block 9; two outputs, 10 and 40 BTC</a:t>
            </a:r>
            <a:endParaRPr lang="en-US" sz="1250" dirty="0"/>
          </a:p>
        </p:txBody>
      </p:sp>
      <p:sp>
        <p:nvSpPr>
          <p:cNvPr id="14" name="Shape 11"/>
          <p:cNvSpPr/>
          <p:nvPr/>
        </p:nvSpPr>
        <p:spPr>
          <a:xfrm>
            <a:off x="3108960" y="2422017"/>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232029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Legacy format: no marker, no flag, no witness - parsed below</a:t>
            </a:r>
            <a:endParaRPr lang="en-US" sz="1250" dirty="0"/>
          </a:p>
        </p:txBody>
      </p:sp>
      <p:sp>
        <p:nvSpPr>
          <p:cNvPr id="16" name="Text 13"/>
          <p:cNvSpPr txBox="1"/>
          <p:nvPr/>
        </p:nvSpPr>
        <p:spPr>
          <a:xfrm>
            <a:off x="3108960" y="2724912"/>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first transaction, from its saved bytes</a:t>
            </a:r>
            <a:endParaRPr lang="en-US" sz="1150" dirty="0"/>
          </a:p>
        </p:txBody>
      </p:sp>
      <p:sp>
        <p:nvSpPr>
          <p:cNvPr id="17" name="Shape 14"/>
          <p:cNvSpPr/>
          <p:nvPr/>
        </p:nvSpPr>
        <p:spPr>
          <a:xfrm>
            <a:off x="3108960" y="2999232"/>
            <a:ext cx="5577840" cy="731520"/>
          </a:xfrm>
          <a:prstGeom prst="roundRect">
            <a:avLst>
              <a:gd name="adj" fmla="val 12500"/>
            </a:avLst>
          </a:prstGeom>
          <a:solidFill>
            <a:srgbClr val="23272E"/>
          </a:solidFill>
          <a:ln w="12700">
            <a:solidFill>
              <a:srgbClr val="23272E"/>
            </a:solidFill>
            <a:prstDash val="solid"/>
          </a:ln>
        </p:spPr>
      </p:sp>
      <p:sp>
        <p:nvSpPr>
          <p:cNvPr id="18" name="Text 15"/>
          <p:cNvSpPr txBox="1"/>
          <p:nvPr/>
        </p:nvSpPr>
        <p:spPr>
          <a:xfrm>
            <a:off x="3291840" y="3118104"/>
            <a:ext cx="521208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parse_tx(FIRST)[</a:t>
            </a:r>
            <a:r>
              <a:rPr lang="en-US" sz="900" dirty="0">
                <a:solidFill>
                  <a:srgbClr val="9ECBFF"/>
                </a:solidFill>
                <a:latin typeface="Courier New" pitchFamily="34" charset="0"/>
                <a:ea typeface="Courier New" pitchFamily="34" charset="-122"/>
                <a:cs typeface="Courier New" pitchFamily="34" charset="-120"/>
              </a:rPr>
              <a:t>'segwit'</a:t>
            </a:r>
            <a:r>
              <a:rPr lang="en-US" sz="900" dirty="0">
                <a:solidFill>
                  <a:srgbClr val="E6EDF3"/>
                </a:solidFill>
                <a:latin typeface="Courier New" pitchFamily="34" charset="0"/>
                <a:ea typeface="Courier New" pitchFamily="34" charset="-122"/>
                <a:cs typeface="Courier New" pitchFamily="34" charset="-120"/>
              </a:rPr>
              <a:t>], FIRST_REC[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 170)</a:t>
            </a:r>
            <a:endParaRPr lang="en-US" sz="900" dirty="0"/>
          </a:p>
        </p:txBody>
      </p:sp>
      <p:sp>
        <p:nvSpPr>
          <p:cNvPr id="19" name="Text 16"/>
          <p:cNvSpPr txBox="1"/>
          <p:nvPr/>
        </p:nvSpPr>
        <p:spPr>
          <a:xfrm>
            <a:off x="3108960" y="3749040"/>
            <a:ext cx="55778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7"/>
          <p:cNvSpPr/>
          <p:nvPr/>
        </p:nvSpPr>
        <p:spPr>
          <a:xfrm>
            <a:off x="3108960" y="4041648"/>
            <a:ext cx="1627083"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200400" y="4041648"/>
            <a:ext cx="148077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(send…</a:t>
            </a:r>
            <a:endParaRPr lang="en-US" sz="750" dirty="0"/>
          </a:p>
        </p:txBody>
      </p:sp>
      <p:sp>
        <p:nvSpPr>
          <p:cNvPr id="22" name="Shape 19"/>
          <p:cNvSpPr/>
          <p:nvPr/>
        </p:nvSpPr>
        <p:spPr>
          <a:xfrm>
            <a:off x="4845771" y="4041648"/>
            <a:ext cx="1627083"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937211" y="4041648"/>
            <a:ext cx="148077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block…</a:t>
            </a:r>
            <a:endParaRPr lang="en-US" sz="750" dirty="0"/>
          </a:p>
        </p:txBody>
      </p:sp>
      <p:sp>
        <p:nvSpPr>
          <p:cNvPr id="24" name="Shape 21"/>
          <p:cNvSpPr/>
          <p:nvPr/>
        </p:nvSpPr>
        <p:spPr>
          <a:xfrm>
            <a:off x="6582583" y="4041648"/>
            <a:ext cx="892272"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6674023" y="4041648"/>
            <a:ext cx="74596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a:t>
            </a:r>
            <a:endParaRPr lang="en-US" sz="750" dirty="0"/>
          </a:p>
        </p:txBody>
      </p:sp>
      <p:sp>
        <p:nvSpPr>
          <p:cNvPr id="26" name="Shape 23"/>
          <p:cNvSpPr/>
          <p:nvPr/>
        </p:nvSpPr>
        <p:spPr>
          <a:xfrm>
            <a:off x="7584582" y="4041648"/>
            <a:ext cx="1102218"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676022" y="4041648"/>
            <a:ext cx="955914"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seven fields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legacy form is 125 bytes; the marker, the flag and the 67-byte witness structure are the other 69.</a:t>
            </a:r>
            <a:endParaRPr lang="en-US" sz="1250" dirty="0"/>
          </a:p>
        </p:txBody>
      </p:sp>
      <p:sp>
        <p:nvSpPr>
          <p:cNvPr id="7" name="Text 5"/>
          <p:cNvSpPr txBox="1"/>
          <p:nvPr/>
        </p:nvSpPr>
        <p:spPr>
          <a:xfrm>
            <a:off x="457200" y="153619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size, version, marker and flag, counts, lock time: version 1, extended format, one input, two outputs</a:t>
            </a:r>
            <a:endParaRPr lang="en-US" sz="1150" dirty="0"/>
          </a:p>
        </p:txBody>
      </p:sp>
      <p:sp>
        <p:nvSpPr>
          <p:cNvPr id="8" name="Shape 6"/>
          <p:cNvSpPr/>
          <p:nvPr/>
        </p:nvSpPr>
        <p:spPr>
          <a:xfrm>
            <a:off x="457200" y="1810512"/>
            <a:ext cx="8229600" cy="1097280"/>
          </a:xfrm>
          <a:prstGeom prst="roundRect">
            <a:avLst>
              <a:gd name="adj" fmla="val 8333"/>
            </a:avLst>
          </a:prstGeom>
          <a:solidFill>
            <a:srgbClr val="23272E"/>
          </a:solidFill>
          <a:ln w="12700">
            <a:solidFill>
              <a:srgbClr val="23272E"/>
            </a:solidFill>
            <a:prstDash val="solid"/>
          </a:ln>
        </p:spPr>
      </p:sp>
      <p:sp>
        <p:nvSpPr>
          <p:cNvPr id="9" name="Text 7"/>
          <p:cNvSpPr txBox="1"/>
          <p:nvPr/>
        </p:nvSpPr>
        <p:spPr>
          <a:xfrm>
            <a:off x="640080" y="1929384"/>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len(ALICE) //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'size'</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(194, 194)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tx[</a:t>
            </a:r>
            <a:r>
              <a:rPr lang="en-US" sz="830" dirty="0">
                <a:solidFill>
                  <a:srgbClr val="9ECBFF"/>
                </a:solidFill>
                <a:latin typeface="Courier New" pitchFamily="34" charset="0"/>
                <a:ea typeface="Courier New" pitchFamily="34" charset="-122"/>
                <a:cs typeface="Courier New" pitchFamily="34" charset="-120"/>
              </a:rPr>
              <a:t>'version'</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'marker'</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'flag'</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'segwit'</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0, 1,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len(tx[</a:t>
            </a:r>
            <a:r>
              <a:rPr lang="en-US" sz="830" dirty="0">
                <a:solidFill>
                  <a:srgbClr val="9ECBFF"/>
                </a:solidFill>
                <a:latin typeface="Courier New" pitchFamily="34" charset="0"/>
                <a:ea typeface="Courier New" pitchFamily="34" charset="-122"/>
                <a:cs typeface="Courier New" pitchFamily="34" charset="-120"/>
              </a:rPr>
              <a:t>'inputs'</a:t>
            </a:r>
            <a:r>
              <a:rPr lang="en-US" sz="830" dirty="0">
                <a:solidFill>
                  <a:srgbClr val="E6EDF3"/>
                </a:solidFill>
                <a:latin typeface="Courier New" pitchFamily="34" charset="0"/>
                <a:ea typeface="Courier New" pitchFamily="34" charset="-122"/>
                <a:cs typeface="Courier New" pitchFamily="34" charset="-120"/>
              </a:rPr>
              <a:t>]), len(tx[</a:t>
            </a:r>
            <a:r>
              <a:rPr lang="en-US" sz="830" dirty="0">
                <a:solidFill>
                  <a:srgbClr val="9ECBFF"/>
                </a:solidFill>
                <a:latin typeface="Courier New" pitchFamily="34" charset="0"/>
                <a:ea typeface="Courier New" pitchFamily="34" charset="-122"/>
                <a:cs typeface="Courier New" pitchFamily="34" charset="-120"/>
              </a:rPr>
              <a:t>'outputs'</a:t>
            </a:r>
            <a:r>
              <a:rPr lang="en-US" sz="830" dirty="0">
                <a:solidFill>
                  <a:srgbClr val="E6EDF3"/>
                </a:solidFill>
                <a:latin typeface="Courier New" pitchFamily="34" charset="0"/>
                <a:ea typeface="Courier New" pitchFamily="34" charset="-122"/>
                <a:cs typeface="Courier New" pitchFamily="34" charset="-120"/>
              </a:rPr>
              <a:t>]), len(tx[</a:t>
            </a:r>
            <a:r>
              <a:rPr lang="en-US" sz="830" dirty="0">
                <a:solidFill>
                  <a:srgbClr val="9ECBFF"/>
                </a:solidFill>
                <a:latin typeface="Courier New" pitchFamily="34" charset="0"/>
                <a:ea typeface="Courier New" pitchFamily="34" charset="-122"/>
                <a:cs typeface="Courier New" pitchFamily="34" charset="-120"/>
              </a:rPr>
              <a:t>'witness'</a:t>
            </a:r>
            <a:r>
              <a:rPr lang="en-US" sz="830" dirty="0">
                <a:solidFill>
                  <a:srgbClr val="E6EDF3"/>
                </a:solidFill>
                <a:latin typeface="Courier New" pitchFamily="34" charset="0"/>
                <a:ea typeface="Courier New" pitchFamily="34" charset="-122"/>
                <a:cs typeface="Courier New" pitchFamily="34" charset="-120"/>
              </a:rPr>
              <a:t>][</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'locktime'</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(1, 2, 1, 0)</a:t>
            </a:r>
            <a:endParaRPr lang="en-US" sz="830" dirty="0"/>
          </a:p>
        </p:txBody>
      </p:sp>
      <p:sp>
        <p:nvSpPr>
          <p:cNvPr id="10" name="Text 8"/>
          <p:cNvSpPr txBox="1"/>
          <p:nvPr/>
        </p:nvSpPr>
        <p:spPr>
          <a:xfrm>
            <a:off x="457200" y="292608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fixed fields at their offsets; all the spans sum to 194 bytes</a:t>
            </a:r>
            <a:endParaRPr lang="en-US" sz="1150" dirty="0"/>
          </a:p>
        </p:txBody>
      </p:sp>
      <p:sp>
        <p:nvSpPr>
          <p:cNvPr id="12" name="Shape 10"/>
          <p:cNvSpPr/>
          <p:nvPr/>
        </p:nvSpPr>
        <p:spPr>
          <a:xfrm>
            <a:off x="457200" y="3127248"/>
            <a:ext cx="8229600" cy="777240"/>
          </a:xfrm>
          <a:prstGeom prst="roundRect">
            <a:avLst>
              <a:gd name="adj" fmla="val 11765"/>
            </a:avLst>
          </a:prstGeom>
          <a:solidFill>
            <a:srgbClr val="23272E"/>
          </a:solidFill>
          <a:ln w="12700">
            <a:solidFill>
              <a:srgbClr val="23272E"/>
            </a:solidFill>
            <a:prstDash val="solid"/>
          </a:ln>
        </p:spPr>
      </p:sp>
      <p:sp>
        <p:nvSpPr>
          <p:cNvPr id="13" name="Text 11"/>
          <p:cNvSpPr txBox="1"/>
          <p:nvPr/>
        </p:nvSpPr>
        <p:spPr>
          <a:xfrm>
            <a:off x="640080" y="3246120"/>
            <a:ext cx="786384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s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tx[</a:t>
            </a:r>
            <a:r>
              <a:rPr lang="en-US" sz="760" dirty="0">
                <a:solidFill>
                  <a:srgbClr val="9ECBFF"/>
                </a:solidFill>
                <a:latin typeface="Courier New" pitchFamily="34" charset="0"/>
                <a:ea typeface="Courier New" pitchFamily="34" charset="-122"/>
                <a:cs typeface="Courier New" pitchFamily="34" charset="-120"/>
              </a:rPr>
              <a:t>'spans'</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s[</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'version'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'marker'</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'flag'</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'lock time'</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[('version', 0, 4), ('marker', 4, 1), ('flag', 5, 1), ('lock time', 190, 4)]</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sum(k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n, p, k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tx[</a:t>
            </a:r>
            <a:r>
              <a:rPr lang="en-US" sz="760" dirty="0">
                <a:solidFill>
                  <a:srgbClr val="9ECBFF"/>
                </a:solidFill>
                <a:latin typeface="Courier New" pitchFamily="34" charset="0"/>
                <a:ea typeface="Courier New" pitchFamily="34" charset="-122"/>
                <a:cs typeface="Courier New" pitchFamily="34" charset="-120"/>
              </a:rPr>
              <a:t>'spans'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194</a:t>
            </a:r>
            <a:endParaRPr lang="en-US" sz="760" dirty="0"/>
          </a:p>
        </p:txBody>
      </p:sp>
      <p:sp>
        <p:nvSpPr>
          <p:cNvPr id="14" name="Text 12"/>
          <p:cNvSpPr txBox="1"/>
          <p:nvPr/>
        </p:nvSpPr>
        <p:spPr>
          <a:xfrm>
            <a:off x="457200" y="39227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87952"/>
            <a:ext cx="3118104"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187952"/>
            <a:ext cx="311810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extended format, version 1</a:t>
            </a:r>
            <a:endParaRPr lang="en-US" sz="1000" dirty="0"/>
          </a:p>
        </p:txBody>
      </p:sp>
      <p:sp>
        <p:nvSpPr>
          <p:cNvPr id="17" name="Shape 15"/>
          <p:cNvSpPr/>
          <p:nvPr/>
        </p:nvSpPr>
        <p:spPr>
          <a:xfrm>
            <a:off x="3776472" y="4187952"/>
            <a:ext cx="2697480"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3776472" y="4187952"/>
            <a:ext cx="269748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 in, 2 out, 1 witness</a:t>
            </a:r>
            <a:endParaRPr lang="en-US" sz="1000" dirty="0"/>
          </a:p>
        </p:txBody>
      </p:sp>
      <p:sp>
        <p:nvSpPr>
          <p:cNvPr id="19" name="Shape 17"/>
          <p:cNvSpPr/>
          <p:nvPr/>
        </p:nvSpPr>
        <p:spPr>
          <a:xfrm>
            <a:off x="6675120" y="4187952"/>
            <a:ext cx="154076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6675120" y="4187952"/>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 0</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are found in order</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Inputs: an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32 bytes of identifier, 4 of index - and the byte order that trips everyone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outpoint: the identifier in internal order, index 1, and the 100,000-satoshi output in block 774,958</a:t>
            </a:r>
            <a:endParaRPr lang="en-US" sz="1150" dirty="0"/>
          </a:p>
        </p:txBody>
      </p:sp>
      <p:sp>
        <p:nvSpPr>
          <p:cNvPr id="7" name="Shape 5"/>
          <p:cNvSpPr/>
          <p:nvPr/>
        </p:nvSpPr>
        <p:spPr>
          <a:xfrm>
            <a:off x="457200" y="137160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490472"/>
            <a:ext cx="78638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i0 = tx[</a:t>
            </a:r>
            <a:r>
              <a:rPr lang="en-US" sz="900" dirty="0">
                <a:solidFill>
                  <a:srgbClr val="9ECBFF"/>
                </a:solidFill>
                <a:latin typeface="Courier New" pitchFamily="34" charset="0"/>
                <a:ea typeface="Courier New" pitchFamily="34" charset="-122"/>
                <a:cs typeface="Courier New" pitchFamily="34" charset="-120"/>
              </a:rPr>
              <a:t>'inputs'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i0[</a:t>
            </a:r>
            <a:r>
              <a:rPr lang="en-US" sz="900" dirty="0">
                <a:solidFill>
                  <a:srgbClr val="9ECBFF"/>
                </a:solidFill>
                <a:latin typeface="Courier New" pitchFamily="34" charset="0"/>
                <a:ea typeface="Courier New" pitchFamily="34" charset="-122"/>
                <a:cs typeface="Courier New" pitchFamily="34" charset="-120"/>
              </a:rPr>
              <a:t>'txid_internal'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 i0[</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('eb3ae38f27191aa5', 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internal_to_display(i0[</a:t>
            </a:r>
            <a:r>
              <a:rPr lang="en-US" sz="900" dirty="0">
                <a:solidFill>
                  <a:srgbClr val="9ECBFF"/>
                </a:solidFill>
                <a:latin typeface="Courier New" pitchFamily="34" charset="0"/>
                <a:ea typeface="Courier New" pitchFamily="34" charset="-122"/>
                <a:cs typeface="Courier New" pitchFamily="34" charset="-120"/>
              </a:rPr>
              <a:t>'txid_internal'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PREV_REC[</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PREV_REC[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(100000, 774958)</a:t>
            </a:r>
            <a:endParaRPr lang="en-US" sz="900" dirty="0"/>
          </a:p>
        </p:txBody>
      </p:sp>
      <p:sp>
        <p:nvSpPr>
          <p:cNvPr id="9" name="Text 7"/>
          <p:cNvSpPr txBox="1"/>
          <p:nvPr/>
        </p:nvSpPr>
        <p:spPr>
          <a:xfrm>
            <a:off x="457200" y="2715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6974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fold-tac pipeline in Python: the reversed bytes equal the identifier the library computes</a:t>
            </a:r>
            <a:endParaRPr lang="en-US" sz="1150" dirty="0"/>
          </a:p>
        </p:txBody>
      </p:sp>
      <p:sp>
        <p:nvSpPr>
          <p:cNvPr id="11" name="Shape 9"/>
          <p:cNvSpPr/>
          <p:nvPr/>
        </p:nvSpPr>
        <p:spPr>
          <a:xfrm>
            <a:off x="457200" y="2971800"/>
            <a:ext cx="8229600" cy="1097280"/>
          </a:xfrm>
          <a:prstGeom prst="roundRect">
            <a:avLst>
              <a:gd name="adj" fmla="val 8333"/>
            </a:avLst>
          </a:prstGeom>
          <a:solidFill>
            <a:srgbClr val="23272E"/>
          </a:solidFill>
          <a:ln w="12700">
            <a:solidFill>
              <a:srgbClr val="23272E"/>
            </a:solidFill>
            <a:prstDash val="solid"/>
          </a:ln>
        </p:spPr>
      </p:sp>
      <p:sp>
        <p:nvSpPr>
          <p:cNvPr id="12" name="Text 10"/>
          <p:cNvSpPr txBox="1"/>
          <p:nvPr/>
        </p:nvSpPr>
        <p:spPr>
          <a:xfrm>
            <a:off x="640080" y="3090672"/>
            <a:ext cx="7863840" cy="8595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 = </a:t>
            </a:r>
            <a:r>
              <a:rPr lang="en-US" sz="900" dirty="0">
                <a:solidFill>
                  <a:srgbClr val="9ECBFF"/>
                </a:solidFill>
                <a:latin typeface="Courier New" pitchFamily="34" charset="0"/>
                <a:ea typeface="Courier New" pitchFamily="34" charset="-122"/>
                <a:cs typeface="Courier New" pitchFamily="34" charset="-120"/>
              </a:rPr>
              <a:t>'eb3ae38f27191aa5f3850dc9cad00492b88b72404f9da135698679268041c54a'</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.join(reversed([d[i:i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64</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txid(PREV)[:</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p:txBody>
      </p:sp>
      <p:sp>
        <p:nvSpPr>
          <p:cNvPr id="13" name="Text 11"/>
          <p:cNvSpPr txBox="1"/>
          <p:nvPr/>
        </p:nvSpPr>
        <p:spPr>
          <a:xfrm>
            <a:off x="457200" y="4087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206240"/>
            <a:ext cx="200345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eb3a... hashed</a:t>
            </a:r>
            <a:endParaRPr lang="en-US" sz="1100" dirty="0"/>
          </a:p>
        </p:txBody>
      </p:sp>
      <p:sp>
        <p:nvSpPr>
          <p:cNvPr id="16" name="Shape 14"/>
          <p:cNvSpPr/>
          <p:nvPr/>
        </p:nvSpPr>
        <p:spPr>
          <a:xfrm>
            <a:off x="2661818" y="4206240"/>
            <a:ext cx="188777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661818"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4ac5... shown</a:t>
            </a:r>
            <a:endParaRPr lang="en-US" sz="1100" dirty="0"/>
          </a:p>
        </p:txBody>
      </p:sp>
      <p:sp>
        <p:nvSpPr>
          <p:cNvPr id="18" name="Shape 16"/>
          <p:cNvSpPr/>
          <p:nvPr/>
        </p:nvSpPr>
        <p:spPr>
          <a:xfrm>
            <a:off x="4750765" y="4206240"/>
            <a:ext cx="188777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750765"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two spellings</a:t>
            </a:r>
            <a:endParaRPr lang="en-US" sz="11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the node reads it from the output the outpoint names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2010-05-22</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325880"/>
            <a:ext cx="2194560" cy="2697480"/>
          </a:xfrm>
          <a:prstGeom prst="rect">
            <a:avLst/>
          </a:prstGeom>
        </p:spPr>
      </p:pic>
      <p:sp>
        <p:nvSpPr>
          <p:cNvPr id="7" name="Text 4"/>
          <p:cNvSpPr txBox="1"/>
          <p:nvPr/>
        </p:nvSpPr>
        <p:spPr>
          <a:xfrm>
            <a:off x="457200" y="40416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plaque at Papa John's, Jacksonville - photo: Sanjev Rajaram, CC0</a:t>
            </a:r>
            <a:endParaRPr lang="en-US" sz="900" dirty="0"/>
          </a:p>
        </p:txBody>
      </p:sp>
      <p:sp>
        <p:nvSpPr>
          <p:cNvPr id="8" name="Shape 5"/>
          <p:cNvSpPr/>
          <p:nvPr/>
        </p:nvSpPr>
        <p:spPr>
          <a:xfrm>
            <a:off x="292608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22 May 2010: Laszlo Hanyecz pays 10,000 BTC for two pizzas</a:t>
            </a:r>
            <a:endParaRPr lang="en-US" sz="1250" dirty="0"/>
          </a:p>
        </p:txBody>
      </p:sp>
      <p:sp>
        <p:nvSpPr>
          <p:cNvPr id="10" name="Shape 7"/>
          <p:cNvSpPr/>
          <p:nvPr/>
        </p:nvSpPr>
        <p:spPr>
          <a:xfrm>
            <a:off x="292608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69164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131 inputs, one output, and 0.99 BTC left to the miner as fee</a:t>
            </a:r>
            <a:endParaRPr lang="en-US" sz="1250" dirty="0"/>
          </a:p>
        </p:txBody>
      </p:sp>
      <p:sp>
        <p:nvSpPr>
          <p:cNvPr id="12" name="Shape 9"/>
          <p:cNvSpPr/>
          <p:nvPr/>
        </p:nvSpPr>
        <p:spPr>
          <a:xfrm>
            <a:off x="292608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05740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 57,043 - and the whole 23,620-byte transaction parses below</a:t>
            </a:r>
            <a:endParaRPr lang="en-US" sz="1250" dirty="0"/>
          </a:p>
        </p:txBody>
      </p:sp>
      <p:sp>
        <p:nvSpPr>
          <p:cNvPr id="14" name="Text 11"/>
          <p:cNvSpPr txBox="1"/>
          <p:nvPr/>
        </p:nvSpPr>
        <p:spPr>
          <a:xfrm>
            <a:off x="2926080" y="24688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pizza transaction: inputs, output, fee, identifier</a:t>
            </a:r>
            <a:endParaRPr lang="en-US" sz="1150" dirty="0"/>
          </a:p>
        </p:txBody>
      </p:sp>
      <p:sp>
        <p:nvSpPr>
          <p:cNvPr id="15" name="Shape 12"/>
          <p:cNvSpPr/>
          <p:nvPr/>
        </p:nvSpPr>
        <p:spPr>
          <a:xfrm>
            <a:off x="2926080" y="2743200"/>
            <a:ext cx="576072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108960" y="2862072"/>
            <a:ext cx="539496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p = parse_tx(PIZZA)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len(p[</a:t>
            </a:r>
            <a:r>
              <a:rPr lang="en-US" sz="710" dirty="0">
                <a:solidFill>
                  <a:srgbClr val="9ECBFF"/>
                </a:solidFill>
                <a:latin typeface="Courier New" pitchFamily="34" charset="0"/>
                <a:ea typeface="Courier New" pitchFamily="34" charset="-122"/>
                <a:cs typeface="Courier New" pitchFamily="34" charset="-120"/>
              </a:rPr>
              <a:t>'inputs'</a:t>
            </a:r>
            <a:r>
              <a:rPr lang="en-US" sz="710" dirty="0">
                <a:solidFill>
                  <a:srgbClr val="E6EDF3"/>
                </a:solidFill>
                <a:latin typeface="Courier New" pitchFamily="34" charset="0"/>
                <a:ea typeface="Courier New" pitchFamily="34" charset="-122"/>
                <a:cs typeface="Courier New" pitchFamily="34" charset="-120"/>
              </a:rPr>
              <a:t>]), bytes.fromhex(PIZZA)[</a:t>
            </a:r>
            <a:r>
              <a:rPr lang="en-US" sz="710" dirty="0">
                <a:solidFill>
                  <a:srgbClr val="FFD28A"/>
                </a:solidFill>
                <a:latin typeface="Courier New" pitchFamily="34" charset="0"/>
                <a:ea typeface="Courier New" pitchFamily="34" charset="-122"/>
                <a:cs typeface="Courier New" pitchFamily="34" charset="-120"/>
              </a:rPr>
              <a:t>4</a:t>
            </a:r>
            <a:r>
              <a:rPr lang="en-US" sz="710" dirty="0">
                <a:solidFill>
                  <a:srgbClr val="E6EDF3"/>
                </a:solidFill>
                <a:latin typeface="Courier New" pitchFamily="34" charset="0"/>
                <a:ea typeface="Courier New" pitchFamily="34" charset="-122"/>
                <a:cs typeface="Courier New" pitchFamily="34" charset="-120"/>
              </a:rPr>
              <a:t>], len(p[</a:t>
            </a:r>
            <a:r>
              <a:rPr lang="en-US" sz="710" dirty="0">
                <a:solidFill>
                  <a:srgbClr val="9ECBFF"/>
                </a:solidFill>
                <a:latin typeface="Courier New" pitchFamily="34" charset="0"/>
                <a:ea typeface="Courier New" pitchFamily="34" charset="-122"/>
                <a:cs typeface="Courier New" pitchFamily="34" charset="-120"/>
              </a:rPr>
              <a:t>'outputs'</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(131, 131, 1)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p[</a:t>
            </a:r>
            <a:r>
              <a:rPr lang="en-US" sz="710" dirty="0">
                <a:solidFill>
                  <a:srgbClr val="9ECBFF"/>
                </a:solidFill>
                <a:latin typeface="Courier New" pitchFamily="34" charset="0"/>
                <a:ea typeface="Courier New" pitchFamily="34" charset="-122"/>
                <a:cs typeface="Courier New" pitchFamily="34" charset="-120"/>
              </a:rPr>
              <a:t>'outputs'</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'value'</a:t>
            </a:r>
            <a:r>
              <a:rPr lang="en-US" sz="710" dirty="0">
                <a:solidFill>
                  <a:srgbClr val="E6EDF3"/>
                </a:solidFill>
                <a:latin typeface="Courier New" pitchFamily="34" charset="0"/>
                <a:ea typeface="Courier New" pitchFamily="34" charset="-122"/>
                <a:cs typeface="Courier New" pitchFamily="34" charset="-120"/>
              </a:rPr>
              <a:t>] // COIN, PIZZA_REC[</a:t>
            </a:r>
            <a:r>
              <a:rPr lang="en-US" sz="710" dirty="0">
                <a:solidFill>
                  <a:srgbClr val="9ECBFF"/>
                </a:solidFill>
                <a:latin typeface="Courier New" pitchFamily="34" charset="0"/>
                <a:ea typeface="Courier New" pitchFamily="34" charset="-122"/>
                <a:cs typeface="Courier New" pitchFamily="34" charset="-120"/>
              </a:rPr>
              <a:t>'fee'</a:t>
            </a:r>
            <a:r>
              <a:rPr lang="en-US" sz="710" dirty="0">
                <a:solidFill>
                  <a:srgbClr val="E6EDF3"/>
                </a:solidFill>
                <a:latin typeface="Courier New" pitchFamily="34" charset="0"/>
                <a:ea typeface="Courier New" pitchFamily="34" charset="-122"/>
                <a:cs typeface="Courier New" pitchFamily="34" charset="-120"/>
              </a:rPr>
              <a:t>] / COIN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(10000, 0.99)</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txid(PIZZA)[:</a:t>
            </a:r>
            <a:r>
              <a:rPr lang="en-US" sz="710" dirty="0">
                <a:solidFill>
                  <a:srgbClr val="FFD28A"/>
                </a:solidFill>
                <a:latin typeface="Courier New" pitchFamily="34" charset="0"/>
                <a:ea typeface="Courier New" pitchFamily="34" charset="-122"/>
                <a:cs typeface="Courier New" pitchFamily="34" charset="-120"/>
              </a:rPr>
              <a:t>16</a:t>
            </a:r>
            <a:r>
              <a:rPr lang="en-US" sz="710" dirty="0">
                <a:solidFill>
                  <a:srgbClr val="E6EDF3"/>
                </a:solidFill>
                <a:latin typeface="Courier New" pitchFamily="34" charset="0"/>
                <a:ea typeface="Courier New" pitchFamily="34" charset="-122"/>
                <a:cs typeface="Courier New" pitchFamily="34" charset="-120"/>
              </a:rPr>
              <a:t>], PIZZA_REC[</a:t>
            </a:r>
            <a:r>
              <a:rPr lang="en-US" sz="710" dirty="0">
                <a:solidFill>
                  <a:srgbClr val="9ECBFF"/>
                </a:solidFill>
                <a:latin typeface="Courier New" pitchFamily="34" charset="0"/>
                <a:ea typeface="Courier New" pitchFamily="34" charset="-122"/>
                <a:cs typeface="Courier New" pitchFamily="34" charset="-120"/>
              </a:rPr>
              <a:t>'status'</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'block_height'</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('a1075db55d416d3c', 57043)</a:t>
            </a:r>
            <a:endParaRPr lang="en-US" sz="710" dirty="0"/>
          </a:p>
        </p:txBody>
      </p:sp>
      <p:sp>
        <p:nvSpPr>
          <p:cNvPr id="17" name="Text 14"/>
          <p:cNvSpPr txBox="1"/>
          <p:nvPr/>
        </p:nvSpPr>
        <p:spPr>
          <a:xfrm>
            <a:off x="2926080" y="385876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926080" y="4114800"/>
            <a:ext cx="1683776"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017520" y="4114800"/>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program…</a:t>
            </a:r>
            <a:endParaRPr lang="en-US" sz="750" dirty="0"/>
          </a:p>
        </p:txBody>
      </p:sp>
      <p:sp>
        <p:nvSpPr>
          <p:cNvPr id="20" name="Shape 17"/>
          <p:cNvSpPr/>
          <p:nvPr/>
        </p:nvSpPr>
        <p:spPr>
          <a:xfrm>
            <a:off x="4719584" y="4114800"/>
            <a:ext cx="168377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811024" y="4114800"/>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Papa John's on Atlant…</a:t>
            </a:r>
            <a:endParaRPr lang="en-US" sz="750" dirty="0"/>
          </a:p>
        </p:txBody>
      </p:sp>
      <p:sp>
        <p:nvSpPr>
          <p:cNvPr id="22" name="Shape 19"/>
          <p:cNvSpPr/>
          <p:nvPr/>
        </p:nvSpPr>
        <p:spPr>
          <a:xfrm>
            <a:off x="6513088" y="4114800"/>
            <a:ext cx="92336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604528" y="4114800"/>
            <a:ext cx="77705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a:t>
            </a:r>
            <a:endParaRPr lang="en-US" sz="750" dirty="0"/>
          </a:p>
        </p:txBody>
      </p:sp>
      <p:sp>
        <p:nvSpPr>
          <p:cNvPr id="24" name="Shape 21"/>
          <p:cNvSpPr/>
          <p:nvPr/>
        </p:nvSpPr>
        <p:spPr>
          <a:xfrm>
            <a:off x="7546177" y="4114800"/>
            <a:ext cx="1140623"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37617" y="4114800"/>
            <a:ext cx="994319"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Sequence and lock time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Four bytes with three meanings, and four bytes with three readings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card game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Replace by fee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BIP68 timelocks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time and MTP</a:t>
            </a:r>
            <a:endParaRPr lang="en-US" sz="1400" dirty="0"/>
          </a:p>
        </p:txBody>
      </p:sp>
      <p:pic>
        <p:nvPicPr>
          <p:cNvPr id="14" name="Image 0" descr="../../03-materials/ch06/assets/mbc3_0603.png">    </p:cNvPr>
          <p:cNvPicPr>
            <a:picLocks noChangeAspect="1"/>
          </p:cNvPicPr>
          <p:nvPr/>
        </p:nvPicPr>
        <p:blipFill>
          <a:blip r:embed="rId1"/>
          <a:srcRect l="0" r="0" t="0" b="0"/>
          <a:stretch/>
        </p:blipFill>
        <p:spPr>
          <a:xfrm>
            <a:off x="5577840" y="2103120"/>
            <a:ext cx="3200400" cy="457200"/>
          </a:xfrm>
          <a:prstGeom prst="rect">
            <a:avLst/>
          </a:prstGeom>
        </p:spPr>
      </p:pic>
      <p:sp>
        <p:nvSpPr>
          <p:cNvPr id="15" name="Text 12"/>
          <p:cNvSpPr txBox="1"/>
          <p:nvPr/>
        </p:nvSpPr>
        <p:spPr>
          <a:xfrm>
            <a:off x="5577840" y="25786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BIP68's layout of the sequence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field, three meanings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or a relative timelock - decided bit by bit</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0xffffffff</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final: no replacement, no 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0xfffffffe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BIP125: replaceable</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2^31, v2</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BIP68: a relative timelock</a:t>
            </a:r>
            <a:endParaRPr lang="en-US" sz="1150" dirty="0"/>
          </a:p>
        </p:txBody>
      </p:sp>
      <p:sp>
        <p:nvSpPr>
          <p:cNvPr id="14" name="Text 12"/>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BIP125 threshold, tested on three values</a:t>
            </a:r>
            <a:endParaRPr lang="en-US" sz="1150" dirty="0"/>
          </a:p>
        </p:txBody>
      </p:sp>
      <p:sp>
        <p:nvSpPr>
          <p:cNvPr id="15" name="Shape 13"/>
          <p:cNvSpPr/>
          <p:nvPr/>
        </p:nvSpPr>
        <p:spPr>
          <a:xfrm>
            <a:off x="457200" y="2514600"/>
            <a:ext cx="8229600" cy="685800"/>
          </a:xfrm>
          <a:prstGeom prst="roundRect">
            <a:avLst>
              <a:gd name="adj" fmla="val 13333"/>
            </a:avLst>
          </a:prstGeom>
          <a:solidFill>
            <a:srgbClr val="23272E"/>
          </a:solidFill>
          <a:ln w="12700">
            <a:solidFill>
              <a:srgbClr val="23272E"/>
            </a:solidFill>
            <a:prstDash val="solid"/>
          </a:ln>
        </p:spPr>
      </p:sp>
      <p:sp>
        <p:nvSpPr>
          <p:cNvPr id="16" name="Text 14"/>
          <p:cNvSpPr txBox="1"/>
          <p:nvPr/>
        </p:nvSpPr>
        <p:spPr>
          <a:xfrm>
            <a:off x="640080" y="263347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[(hex(s), sequence_decode(s)[</a:t>
            </a:r>
            <a:r>
              <a:rPr lang="en-US" sz="850" dirty="0">
                <a:solidFill>
                  <a:srgbClr val="9ECBFF"/>
                </a:solidFill>
                <a:latin typeface="Courier New" pitchFamily="34" charset="0"/>
                <a:ea typeface="Courier New" pitchFamily="34" charset="-122"/>
                <a:cs typeface="Courier New" pitchFamily="34" charset="-120"/>
              </a:rPr>
              <a:t>'rbf_signal'</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s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(0xffffffff, 0xfffffffe, 0xfffffffd)]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[('0xffffffff', False), ('0xfffffffe', False), ('0xfffffffd', True)]</a:t>
            </a:r>
            <a:endParaRPr lang="en-US" sz="850" dirty="0"/>
          </a:p>
        </p:txBody>
      </p:sp>
      <p:sp>
        <p:nvSpPr>
          <p:cNvPr id="17" name="Text 15"/>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30 blocks from 774,958; an hour in 512-second units; the constants</a:t>
            </a:r>
            <a:endParaRPr lang="en-US" sz="1150" dirty="0"/>
          </a:p>
        </p:txBody>
      </p:sp>
      <p:sp>
        <p:nvSpPr>
          <p:cNvPr id="19" name="Shape 17"/>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sequence_decode(</a:t>
            </a:r>
            <a:r>
              <a:rPr lang="en-US" sz="710" dirty="0">
                <a:solidFill>
                  <a:srgbClr val="FFD28A"/>
                </a:solidFill>
                <a:latin typeface="Courier New" pitchFamily="34" charset="0"/>
                <a:ea typeface="Courier New" pitchFamily="34" charset="-122"/>
                <a:cs typeface="Courier New" pitchFamily="34" charset="-120"/>
              </a:rPr>
              <a:t>30</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'relative_timelock'</a:t>
            </a:r>
            <a:r>
              <a:rPr lang="en-US" sz="710" dirty="0">
                <a:solidFill>
                  <a:srgbClr val="E6EDF3"/>
                </a:solidFill>
                <a:latin typeface="Courier New" pitchFamily="34" charset="0"/>
                <a:ea typeface="Courier New" pitchFamily="34" charset="-122"/>
                <a:cs typeface="Courier New" pitchFamily="34" charset="-120"/>
              </a:rPr>
              <a:t>], earliest_block(</a:t>
            </a:r>
            <a:r>
              <a:rPr lang="en-US" sz="710" dirty="0">
                <a:solidFill>
                  <a:srgbClr val="FFD28A"/>
                </a:solidFill>
                <a:latin typeface="Courier New" pitchFamily="34" charset="0"/>
                <a:ea typeface="Courier New" pitchFamily="34" charset="-122"/>
                <a:cs typeface="Courier New" pitchFamily="34" charset="-120"/>
              </a:rPr>
              <a:t>774958</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30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(('blocks', 30), 774988)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 = sequence_for(seconds=</a:t>
            </a:r>
            <a:r>
              <a:rPr lang="en-US" sz="710" dirty="0">
                <a:solidFill>
                  <a:srgbClr val="FFD28A"/>
                </a:solidFill>
                <a:latin typeface="Courier New" pitchFamily="34" charset="0"/>
                <a:ea typeface="Courier New" pitchFamily="34" charset="-122"/>
                <a:cs typeface="Courier New" pitchFamily="34" charset="-120"/>
              </a:rPr>
              <a:t>3600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hex(s), sequence_decode(s)[</a:t>
            </a:r>
            <a:r>
              <a:rPr lang="en-US" sz="710" dirty="0">
                <a:solidFill>
                  <a:srgbClr val="9ECBFF"/>
                </a:solidFill>
                <a:latin typeface="Courier New" pitchFamily="34" charset="0"/>
                <a:ea typeface="Courier New" pitchFamily="34" charset="-122"/>
                <a:cs typeface="Courier New" pitchFamily="34" charset="-120"/>
              </a:rPr>
              <a:t>'relative_timelock'</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('0x400008', ('seconds', 4096))</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hex(SEQUENCE_LOCKTIME_TYPE_FLAG), hex(SEQUENCE_LOCKTIME_DISABLE_FLAG), hex(SEQUENCE_LOCKTIME_MASK)</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('0x400000', '0x80000000', '0xffff')</a:t>
            </a:r>
            <a:endParaRPr lang="en-US" sz="710" dirty="0"/>
          </a:p>
        </p:txBody>
      </p:sp>
      <p:sp>
        <p:nvSpPr>
          <p:cNvPr id="21" name="Text 19"/>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is this chapter's security bit</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clock it is checked against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height below 500,000,000, a time above it, and the median of eleven blocks</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eligible for any block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500,000,000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block height: that block or later</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500,000,000 or more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 epoch time, against the median time past</a:t>
            </a:r>
            <a:endParaRPr lang="en-US" sz="1150" dirty="0"/>
          </a:p>
        </p:txBody>
      </p:sp>
      <p:sp>
        <p:nvSpPr>
          <p:cNvPr id="14"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lock time is 0; the transaction that funded her used 774,957 and confirmed in 774,958</a:t>
            </a:r>
            <a:endParaRPr lang="en-US" sz="1150" dirty="0"/>
          </a:p>
        </p:txBody>
      </p:sp>
      <p:sp>
        <p:nvSpPr>
          <p:cNvPr id="15" name="Shape 13"/>
          <p:cNvSpPr/>
          <p:nvPr/>
        </p:nvSpPr>
        <p:spPr>
          <a:xfrm>
            <a:off x="457200" y="2606040"/>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2724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tx[</a:t>
            </a:r>
            <a:r>
              <a:rPr lang="en-US" sz="900" dirty="0">
                <a:solidFill>
                  <a:srgbClr val="9ECBFF"/>
                </a:solidFill>
                <a:latin typeface="Courier New" pitchFamily="34" charset="0"/>
                <a:ea typeface="Courier New" pitchFamily="34" charset="-122"/>
                <a:cs typeface="Courier New" pitchFamily="34" charset="-120"/>
              </a:rPr>
              <a:t>'locktime'</a:t>
            </a:r>
            <a:r>
              <a:rPr lang="en-US" sz="900" dirty="0">
                <a:solidFill>
                  <a:srgbClr val="E6EDF3"/>
                </a:solidFill>
                <a:latin typeface="Courier New" pitchFamily="34" charset="0"/>
                <a:ea typeface="Courier New" pitchFamily="34" charset="-122"/>
                <a:cs typeface="Courier New" pitchFamily="34" charset="-120"/>
              </a:rPr>
              <a:t>], parse_tx(PREV)[</a:t>
            </a:r>
            <a:r>
              <a:rPr lang="en-US" sz="900" dirty="0">
                <a:solidFill>
                  <a:srgbClr val="9ECBFF"/>
                </a:solidFill>
                <a:latin typeface="Courier New" pitchFamily="34" charset="0"/>
                <a:ea typeface="Courier New" pitchFamily="34" charset="-122"/>
                <a:cs typeface="Courier New" pitchFamily="34" charset="-120"/>
              </a:rPr>
              <a:t>'locktime'</a:t>
            </a:r>
            <a:r>
              <a:rPr lang="en-US" sz="900" dirty="0">
                <a:solidFill>
                  <a:srgbClr val="E6EDF3"/>
                </a:solidFill>
                <a:latin typeface="Courier New" pitchFamily="34" charset="0"/>
                <a:ea typeface="Courier New" pitchFamily="34" charset="-122"/>
                <a:cs typeface="Courier New" pitchFamily="34" charset="-120"/>
              </a:rPr>
              <a:t>], PREV_REC[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(0, 774957, 774958)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locktime_decode(</a:t>
            </a:r>
            <a:r>
              <a:rPr lang="en-US" sz="900" dirty="0">
                <a:solidFill>
                  <a:srgbClr val="FFD28A"/>
                </a:solidFill>
                <a:latin typeface="Courier New" pitchFamily="34" charset="0"/>
                <a:ea typeface="Courier New" pitchFamily="34" charset="-122"/>
                <a:cs typeface="Courier New" pitchFamily="34" charset="-120"/>
              </a:rPr>
              <a:t>123456</a:t>
            </a:r>
            <a:r>
              <a:rPr lang="en-US" sz="900" dirty="0">
                <a:solidFill>
                  <a:srgbClr val="E6EDF3"/>
                </a:solidFill>
                <a:latin typeface="Courier New" pitchFamily="34" charset="0"/>
                <a:ea typeface="Courier New" pitchFamily="34" charset="-122"/>
                <a:cs typeface="Courier New" pitchFamily="34" charset="-120"/>
              </a:rPr>
              <a:t>), locktime_decode(ALICE_REC[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'block_time'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(('block height', 123456), ('epoch time', 1675559245))</a:t>
            </a:r>
            <a:endParaRPr lang="en-US" sz="900" dirty="0"/>
          </a:p>
        </p:txBody>
      </p:sp>
      <p:sp>
        <p:nvSpPr>
          <p:cNvPr id="17" name="Text 15"/>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eleven block times, their median, and how far it trails the newest: 600 seconds here</a:t>
            </a:r>
            <a:endParaRPr lang="en-US" sz="1150" dirty="0"/>
          </a:p>
        </p:txBody>
      </p:sp>
      <p:sp>
        <p:nvSpPr>
          <p:cNvPr id="19" name="Shape 17"/>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20" name="Text 18"/>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times = [</a:t>
            </a:r>
            <a:r>
              <a:rPr lang="en-US" sz="900" dirty="0">
                <a:solidFill>
                  <a:srgbClr val="FFD28A"/>
                </a:solidFill>
                <a:latin typeface="Courier New" pitchFamily="34" charset="0"/>
                <a:ea typeface="Courier New" pitchFamily="34" charset="-122"/>
                <a:cs typeface="Courier New" pitchFamily="34" charset="-120"/>
              </a:rPr>
              <a:t>1675556500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15</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5</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27</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24</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26</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25</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median_time_past(times), max(times) - median_time_past(times)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(1675558600, 600)</a:t>
            </a:r>
            <a:endParaRPr lang="en-US" sz="900" dirty="0"/>
          </a:p>
        </p:txBody>
      </p:sp>
      <p:sp>
        <p:nvSpPr>
          <p:cNvPr id="21" name="Text 19"/>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can say not after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Satoshis, the consensus range, dust, and the script that says who may spend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Amounts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2010 overflow</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Dust</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scripts</a:t>
            </a:r>
            <a:endParaRPr lang="en-US" sz="1400" dirty="0"/>
          </a:p>
        </p:txBody>
      </p:sp>
      <p:pic>
        <p:nvPicPr>
          <p:cNvPr id="14" name="Image 0" descr="../../03-materials/ch06/assets/mbc3_0604.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outputs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Amounts: 20,000, 75,000, and a 5,000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8-byte signed integers of satoshis, and the fee nobody writes down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amounts, the fee as a difference, and the consensus maximum</a:t>
            </a:r>
            <a:endParaRPr lang="en-US" sz="1150" dirty="0"/>
          </a:p>
        </p:txBody>
      </p:sp>
      <p:sp>
        <p:nvSpPr>
          <p:cNvPr id="7" name="Shape 5"/>
          <p:cNvSpPr/>
          <p:nvPr/>
        </p:nvSpPr>
        <p:spPr>
          <a:xfrm>
            <a:off x="457200" y="1371600"/>
            <a:ext cx="8229600" cy="1188720"/>
          </a:xfrm>
          <a:prstGeom prst="roundRect">
            <a:avLst>
              <a:gd name="adj" fmla="val 7692"/>
            </a:avLst>
          </a:prstGeom>
          <a:solidFill>
            <a:srgbClr val="23272E"/>
          </a:solidFill>
          <a:ln w="12700">
            <a:solidFill>
              <a:srgbClr val="23272E"/>
            </a:solidFill>
            <a:prstDash val="solid"/>
          </a:ln>
        </p:spPr>
      </p:sp>
      <p:sp>
        <p:nvSpPr>
          <p:cNvPr id="8" name="Text 6"/>
          <p:cNvSpPr txBox="1"/>
          <p:nvPr/>
        </p:nvSpPr>
        <p:spPr>
          <a:xfrm>
            <a:off x="640080" y="1490472"/>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 COIN)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tx[</a:t>
            </a:r>
            <a:r>
              <a:rPr lang="en-US" sz="900" dirty="0">
                <a:solidFill>
                  <a:srgbClr val="9ECBFF"/>
                </a:solidFill>
                <a:latin typeface="Courier New" pitchFamily="34" charset="0"/>
                <a:ea typeface="Courier New" pitchFamily="34" charset="-122"/>
                <a:cs typeface="Courier New" pitchFamily="34" charset="-120"/>
              </a:rPr>
              <a:t>'outputs'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[(20000, 0.0002), (75000, 0.00075)]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PREV_REC[</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 sum(o[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tx[</a:t>
            </a:r>
            <a:r>
              <a:rPr lang="en-US" sz="900" dirty="0">
                <a:solidFill>
                  <a:srgbClr val="9ECBFF"/>
                </a:solidFill>
                <a:latin typeface="Courier New" pitchFamily="34" charset="0"/>
                <a:ea typeface="Courier New" pitchFamily="34" charset="-122"/>
                <a:cs typeface="Courier New" pitchFamily="34" charset="-120"/>
              </a:rPr>
              <a:t>'outputs'</a:t>
            </a:r>
            <a:r>
              <a:rPr lang="en-US" sz="900" dirty="0">
                <a:solidFill>
                  <a:srgbClr val="E6EDF3"/>
                </a:solidFill>
                <a:latin typeface="Courier New" pitchFamily="34" charset="0"/>
                <a:ea typeface="Courier New" pitchFamily="34" charset="-122"/>
                <a:cs typeface="Courier New" pitchFamily="34" charset="-120"/>
              </a:rPr>
              <a:t>]), ALICE_REC[</a:t>
            </a:r>
            <a:r>
              <a:rPr lang="en-US" sz="900" dirty="0">
                <a:solidFill>
                  <a:srgbClr val="9ECBFF"/>
                </a:solidFill>
                <a:latin typeface="Courier New" pitchFamily="34" charset="0"/>
                <a:ea typeface="Courier New" pitchFamily="34" charset="-122"/>
                <a:cs typeface="Courier New" pitchFamily="34" charset="-120"/>
              </a:rPr>
              <a:t>'fee'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(5000, 5000)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MAX_MONEY, money_range(MAX_MONEY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(2100000000000000, False)</a:t>
            </a:r>
            <a:endParaRPr lang="en-US" sz="900" dirty="0"/>
          </a:p>
        </p:txBody>
      </p:sp>
      <p:sp>
        <p:nvSpPr>
          <p:cNvPr id="9" name="Text 7"/>
          <p:cNvSpPr txBox="1"/>
          <p:nvPr/>
        </p:nvSpPr>
        <p:spPr>
          <a:xfrm>
            <a:off x="457200" y="2578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each output's script: 34 bytes of taproot for Bob, 22 bytes of version 0 for the change</a:t>
            </a:r>
            <a:endParaRPr lang="en-US" sz="1150" dirty="0"/>
          </a:p>
        </p:txBody>
      </p:sp>
      <p:sp>
        <p:nvSpPr>
          <p:cNvPr id="11" name="Shape 9"/>
          <p:cNvSpPr/>
          <p:nvPr/>
        </p:nvSpPr>
        <p:spPr>
          <a:xfrm>
            <a:off x="457200" y="2834640"/>
            <a:ext cx="8229600" cy="685800"/>
          </a:xfrm>
          <a:prstGeom prst="roundRect">
            <a:avLst>
              <a:gd name="adj" fmla="val 13333"/>
            </a:avLst>
          </a:prstGeom>
          <a:solidFill>
            <a:srgbClr val="23272E"/>
          </a:solidFill>
          <a:ln w="12700">
            <a:solidFill>
              <a:srgbClr val="23272E"/>
            </a:solidFill>
            <a:prstDash val="solid"/>
          </a:ln>
        </p:spPr>
      </p:sp>
      <p:sp>
        <p:nvSpPr>
          <p:cNvPr id="12" name="Text 10"/>
          <p:cNvSpPr txBox="1"/>
          <p:nvPr/>
        </p:nvSpPr>
        <p:spPr>
          <a:xfrm>
            <a:off x="640080" y="295351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a:t>
            </a:r>
            <a:r>
              <a:rPr lang="en-US" sz="850" dirty="0">
                <a:solidFill>
                  <a:srgbClr val="9ECBFF"/>
                </a:solidFill>
                <a:latin typeface="Courier New" pitchFamily="34" charset="0"/>
                <a:ea typeface="Courier New" pitchFamily="34" charset="-122"/>
                <a:cs typeface="Courier New" pitchFamily="34" charset="-120"/>
              </a:rPr>
              <a:t>'value'</a:t>
            </a:r>
            <a:r>
              <a:rPr lang="en-US" sz="850" dirty="0">
                <a:solidFill>
                  <a:srgbClr val="E6EDF3"/>
                </a:solidFill>
                <a:latin typeface="Courier New" pitchFamily="34" charset="0"/>
                <a:ea typeface="Courier New" pitchFamily="34" charset="-122"/>
                <a:cs typeface="Courier New" pitchFamily="34" charset="-120"/>
              </a:rPr>
              <a:t>], len(bytes.fromhex(o[</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 segwit_output_version(o[</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o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[(20000, 34, 1), (75000, 22, 0)]</a:t>
            </a:r>
            <a:endParaRPr lang="en-US" sz="850" dirty="0"/>
          </a:p>
        </p:txBody>
      </p:sp>
      <p:sp>
        <p:nvSpPr>
          <p:cNvPr id="13" name="Text 11"/>
          <p:cNvSpPr txBox="1"/>
          <p:nvPr/>
        </p:nvSpPr>
        <p:spPr>
          <a:xfrm>
            <a:off x="457200" y="35387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794760"/>
            <a:ext cx="164592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79476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100,000 in</a:t>
            </a:r>
            <a:endParaRPr lang="en-US" sz="1200" dirty="0"/>
          </a:p>
        </p:txBody>
      </p:sp>
      <p:sp>
        <p:nvSpPr>
          <p:cNvPr id="16" name="Shape 14"/>
          <p:cNvSpPr/>
          <p:nvPr/>
        </p:nvSpPr>
        <p:spPr>
          <a:xfrm>
            <a:off x="2304288" y="3794760"/>
            <a:ext cx="2781605"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794760"/>
            <a:ext cx="2781605"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20,000 + 75,000 out</a:t>
            </a:r>
            <a:endParaRPr lang="en-US" sz="1200" dirty="0"/>
          </a:p>
        </p:txBody>
      </p:sp>
      <p:sp>
        <p:nvSpPr>
          <p:cNvPr id="18" name="Shape 16"/>
          <p:cNvSpPr/>
          <p:nvPr/>
        </p:nvSpPr>
        <p:spPr>
          <a:xfrm>
            <a:off x="5287061" y="3794760"/>
            <a:ext cx="151973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287061" y="3794760"/>
            <a:ext cx="1519733"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5,000 fee</a:t>
            </a:r>
            <a:endParaRPr lang="en-US" sz="1200" dirty="0"/>
          </a:p>
        </p:txBody>
      </p:sp>
      <p:sp>
        <p:nvSpPr>
          <p:cNvPr id="20" name="Shape 18"/>
          <p:cNvSpPr/>
          <p:nvPr/>
        </p:nvSpPr>
        <p:spPr>
          <a:xfrm>
            <a:off x="457200" y="4379976"/>
            <a:ext cx="353872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379976"/>
            <a:ext cx="353872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max 2,100,000,000,000,000</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output is an amount and a condition; no field holds a balance or a fee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2010-08-15</a:t>
            </a:r>
            <a:endParaRPr lang="en-US" sz="1300" dirty="0"/>
          </a:p>
        </p:txBody>
      </p:sp>
      <p:pic>
        <p:nvPicPr>
          <p:cNvPr id="6" name="Image 0" descr="../../03-materials/ch06/assets/photo_gavin_andresen_2014.jpg">    </p:cNvPr>
          <p:cNvPicPr>
            <a:picLocks noChangeAspect="1"/>
          </p:cNvPicPr>
          <p:nvPr/>
        </p:nvPicPr>
        <p:blipFill>
          <a:blip r:embed="rId1"/>
          <a:srcRect l="0" r="0" t="0" b="0"/>
          <a:stretch/>
        </p:blipFill>
        <p:spPr>
          <a:xfrm>
            <a:off x="457200" y="1325880"/>
            <a:ext cx="2011680" cy="2697480"/>
          </a:xfrm>
          <a:prstGeom prst="rect">
            <a:avLst/>
          </a:prstGeom>
        </p:spPr>
      </p:pic>
      <p:sp>
        <p:nvSpPr>
          <p:cNvPr id="7" name="Text 4"/>
          <p:cNvSpPr txBox="1"/>
          <p:nvPr/>
        </p:nvSpPr>
        <p:spPr>
          <a:xfrm>
            <a:off x="457200" y="4041648"/>
            <a:ext cx="20116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2014 - photo: Stephen McCarthy / Web Summit, CC BY 2.0</a:t>
            </a:r>
            <a:endParaRPr lang="en-US" sz="900" dirty="0"/>
          </a:p>
        </p:txBody>
      </p:sp>
      <p:sp>
        <p:nvSpPr>
          <p:cNvPr id="8" name="Shape 5"/>
          <p:cNvSpPr/>
          <p:nvPr/>
        </p:nvSpPr>
        <p:spPr>
          <a:xfrm>
            <a:off x="274320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August 2010: block 74,638 holds two outputs of 92,233,720,368.54 BTC</a:t>
            </a:r>
            <a:endParaRPr lang="en-US" sz="1200" dirty="0"/>
          </a:p>
        </p:txBody>
      </p:sp>
      <p:sp>
        <p:nvSpPr>
          <p:cNvPr id="10" name="Shape 7"/>
          <p:cNvSpPr/>
          <p:nvPr/>
        </p:nvSpPr>
        <p:spPr>
          <a:xfrm>
            <a:off x="274320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9164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Summed as 64-bit integers they wrap to a small negative number: the check passes</a:t>
            </a:r>
            <a:endParaRPr lang="en-US" sz="1200" dirty="0"/>
          </a:p>
        </p:txBody>
      </p:sp>
      <p:sp>
        <p:nvSpPr>
          <p:cNvPr id="12" name="Shape 9"/>
          <p:cNvSpPr/>
          <p:nvPr/>
        </p:nvSpPr>
        <p:spPr>
          <a:xfrm>
            <a:off x="274320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205740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patch within five hours, 0.3.10 the next day, the chain reorganised at 74,691</a:t>
            </a:r>
            <a:endParaRPr lang="en-US" sz="1200" dirty="0"/>
          </a:p>
        </p:txBody>
      </p:sp>
      <p:sp>
        <p:nvSpPr>
          <p:cNvPr id="14" name="Text 11"/>
          <p:cNvSpPr txBox="1"/>
          <p:nvPr/>
        </p:nvSpPr>
        <p:spPr>
          <a:xfrm>
            <a:off x="2743200" y="2468880"/>
            <a:ext cx="5943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overflow reproduced, and refused by the range check Core still cites</a:t>
            </a:r>
            <a:endParaRPr lang="en-US" sz="1150" dirty="0"/>
          </a:p>
        </p:txBody>
      </p:sp>
      <p:sp>
        <p:nvSpPr>
          <p:cNvPr id="15" name="Shape 12"/>
          <p:cNvSpPr/>
          <p:nvPr/>
        </p:nvSpPr>
        <p:spPr>
          <a:xfrm>
            <a:off x="2743200" y="2743200"/>
            <a:ext cx="594360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2926080" y="2862072"/>
            <a:ext cx="5577840" cy="85953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big = </a:t>
            </a:r>
            <a:r>
              <a:rPr lang="en-US" sz="750" dirty="0">
                <a:solidFill>
                  <a:srgbClr val="FFD28A"/>
                </a:solidFill>
                <a:latin typeface="Courier New" pitchFamily="34" charset="0"/>
                <a:ea typeface="Courier New" pitchFamily="34" charset="-122"/>
                <a:cs typeface="Courier New" pitchFamily="34" charset="-120"/>
              </a:rPr>
              <a:t>92_233_720_368_54277039</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big) &amp; 0xffffffffffffffff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big &gt; MAX_MONEY, 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w &gt;=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63</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else</a:t>
            </a:r>
            <a:r>
              <a:rPr lang="en-US" sz="750" dirty="0">
                <a:solidFill>
                  <a:srgbClr val="E6EDF3"/>
                </a:solidFill>
                <a:latin typeface="Courier New" pitchFamily="34" charset="0"/>
                <a:ea typeface="Courier New" pitchFamily="34" charset="-122"/>
                <a:cs typeface="Courier New" pitchFamily="34" charset="-120"/>
              </a:rPr>
              <a:t> w</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 -997538)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money_range(w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money_range(big), </a:t>
            </a:r>
            <a:r>
              <a:rPr lang="en-US" sz="750" dirty="0">
                <a:solidFill>
                  <a:srgbClr val="FFD28A"/>
                </a:solidFill>
                <a:latin typeface="Courier New" pitchFamily="34" charset="0"/>
                <a:ea typeface="Courier New" pitchFamily="34" charset="-122"/>
                <a:cs typeface="Courier New" pitchFamily="34" charset="-120"/>
              </a:rPr>
              <a:t>50</a:t>
            </a:r>
            <a:r>
              <a:rPr lang="en-US" sz="750" dirty="0">
                <a:solidFill>
                  <a:srgbClr val="E6EDF3"/>
                </a:solidFill>
                <a:latin typeface="Courier New" pitchFamily="34" charset="0"/>
                <a:ea typeface="Courier New" pitchFamily="34" charset="-122"/>
                <a:cs typeface="Courier New" pitchFamily="34" charset="-120"/>
              </a:rPr>
              <a:t> * COIN - (w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&gt; </a:t>
            </a:r>
            <a:r>
              <a:rPr lang="en-US" sz="750" dirty="0">
                <a:solidFill>
                  <a:srgbClr val="FFD28A"/>
                </a:solidFill>
                <a:latin typeface="Courier New" pitchFamily="34" charset="0"/>
                <a:ea typeface="Courier New" pitchFamily="34" charset="-122"/>
                <a:cs typeface="Courier New" pitchFamily="34" charset="-120"/>
              </a:rPr>
              <a:t>50</a:t>
            </a:r>
            <a:r>
              <a:rPr lang="en-US" sz="750" dirty="0">
                <a:solidFill>
                  <a:srgbClr val="E6EDF3"/>
                </a:solidFill>
                <a:latin typeface="Courier New" pitchFamily="34" charset="0"/>
                <a:ea typeface="Courier New" pitchFamily="34" charset="-122"/>
                <a:cs typeface="Courier New" pitchFamily="34" charset="-120"/>
              </a:rPr>
              <a:t> * COIN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 False, True)</a:t>
            </a:r>
            <a:endParaRPr lang="en-US" sz="750" dirty="0"/>
          </a:p>
        </p:txBody>
      </p:sp>
      <p:sp>
        <p:nvSpPr>
          <p:cNvPr id="17" name="Text 14"/>
          <p:cNvSpPr txBox="1"/>
          <p:nvPr/>
        </p:nvSpPr>
        <p:spPr>
          <a:xfrm>
            <a:off x="2743200" y="3858768"/>
            <a:ext cx="5943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743200" y="4114800"/>
            <a:ext cx="174046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834640" y="4114800"/>
            <a:ext cx="159416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Jef…</a:t>
            </a:r>
            <a:endParaRPr lang="en-US" sz="750" dirty="0"/>
          </a:p>
        </p:txBody>
      </p:sp>
      <p:sp>
        <p:nvSpPr>
          <p:cNvPr id="20" name="Shape 17"/>
          <p:cNvSpPr/>
          <p:nvPr/>
        </p:nvSpPr>
        <p:spPr>
          <a:xfrm>
            <a:off x="4593397" y="4114800"/>
            <a:ext cx="174046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684837" y="4114800"/>
            <a:ext cx="159416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 and the b…</a:t>
            </a:r>
            <a:endParaRPr lang="en-US" sz="750" dirty="0"/>
          </a:p>
        </p:txBody>
      </p:sp>
      <p:sp>
        <p:nvSpPr>
          <p:cNvPr id="22" name="Shape 19"/>
          <p:cNvSpPr/>
          <p:nvPr/>
        </p:nvSpPr>
        <p:spPr>
          <a:xfrm>
            <a:off x="6443594" y="4114800"/>
            <a:ext cx="95445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535034" y="4114800"/>
            <a:ext cx="80814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a:t>
            </a:r>
            <a:endParaRPr lang="en-US" sz="750" dirty="0"/>
          </a:p>
        </p:txBody>
      </p:sp>
      <p:sp>
        <p:nvSpPr>
          <p:cNvPr id="24" name="Shape 21"/>
          <p:cNvSpPr/>
          <p:nvPr/>
        </p:nvSpPr>
        <p:spPr>
          <a:xfrm>
            <a:off x="7507773" y="4114800"/>
            <a:ext cx="117902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599213" y="4114800"/>
            <a:ext cx="103272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Bitcoin Core's threshold is a size times a rate - and it depends on the output type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the console's own output; the checker re-runs it off this file.</a:t>
            </a:r>
            <a:endParaRPr lang="en-US" sz="1250" dirty="0"/>
          </a:p>
        </p:txBody>
      </p:sp>
      <p:graphicFrame>
        <p:nvGraphicFramePr>
          <p:cNvPr id="7" name="Chart 0" descr=""/>
          <p:cNvGraphicFramePr/>
          <p:nvPr/>
        </p:nvGraphicFramePr>
        <p:xfrm>
          <a:off x="411480" y="1572768"/>
          <a:ext cx="411480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663440" y="15544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four thresholds, and the sizes behind two of them</a:t>
            </a:r>
            <a:endParaRPr lang="en-US" sz="1150" dirty="0"/>
          </a:p>
        </p:txBody>
      </p:sp>
      <p:sp>
        <p:nvSpPr>
          <p:cNvPr id="9" name="Shape 6"/>
          <p:cNvSpPr/>
          <p:nvPr/>
        </p:nvSpPr>
        <p:spPr>
          <a:xfrm>
            <a:off x="4663440" y="1828800"/>
            <a:ext cx="402336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846320" y="1947672"/>
            <a:ext cx="3657600" cy="122529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P2PKH = </a:t>
            </a:r>
            <a:r>
              <a:rPr lang="en-US" sz="750" dirty="0">
                <a:solidFill>
                  <a:srgbClr val="9ECBFF"/>
                </a:solidFill>
                <a:latin typeface="Courier New" pitchFamily="34" charset="0"/>
                <a:ea typeface="Courier New" pitchFamily="34" charset="-122"/>
                <a:cs typeface="Courier New" pitchFamily="34" charset="-120"/>
              </a:rPr>
              <a:t>'76a914'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20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'88ac'</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P2WPKH, P2TR = </a:t>
            </a:r>
            <a:r>
              <a:rPr lang="en-US" sz="750" dirty="0">
                <a:solidFill>
                  <a:srgbClr val="9ECBFF"/>
                </a:solidFill>
                <a:latin typeface="Courier New" pitchFamily="34" charset="0"/>
                <a:ea typeface="Courier New" pitchFamily="34" charset="-122"/>
                <a:cs typeface="Courier New" pitchFamily="34" charset="-120"/>
              </a:rPr>
              <a:t>'0014'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20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'5120'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RET = </a:t>
            </a:r>
            <a:r>
              <a:rPr lang="en-US" sz="750" dirty="0">
                <a:solidFill>
                  <a:srgbClr val="9ECBFF"/>
                </a:solidFill>
                <a:latin typeface="Courier New" pitchFamily="34" charset="0"/>
                <a:ea typeface="Courier New" pitchFamily="34" charset="-122"/>
                <a:cs typeface="Courier New" pitchFamily="34" charset="-120"/>
              </a:rPr>
              <a:t>'6a04deadbeef'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[dust_threshold(s)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s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(P2PKH, P2WPKH, P2TR, RET)]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[546, 294, 330, 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DUST_RELAY_TX_FEE, (</a:t>
            </a:r>
            <a:r>
              <a:rPr lang="en-US" sz="750" dirty="0">
                <a:solidFill>
                  <a:srgbClr val="FFD28A"/>
                </a:solidFill>
                <a:latin typeface="Courier New" pitchFamily="34" charset="0"/>
                <a:ea typeface="Courier New" pitchFamily="34" charset="-122"/>
                <a:cs typeface="Courier New" pitchFamily="34" charset="-120"/>
              </a:rPr>
              <a:t>34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148</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31</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67</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(3000, 546, 294)</a:t>
            </a:r>
            <a:endParaRPr lang="en-US" sz="750" dirty="0"/>
          </a:p>
        </p:txBody>
      </p:sp>
      <p:sp>
        <p:nvSpPr>
          <p:cNvPr id="11" name="Text 8"/>
          <p:cNvSpPr txBox="1"/>
          <p:nvPr/>
        </p:nvSpPr>
        <p:spPr>
          <a:xfrm>
            <a:off x="4663440" y="33101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66344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66344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230368" y="342900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Output size plus the smallest input that could spend it, times 3 satoshis a byte</a:t>
            </a:r>
            <a:endParaRPr lang="en-US" sz="1000" dirty="0"/>
          </a:p>
        </p:txBody>
      </p:sp>
      <p:sp>
        <p:nvSpPr>
          <p:cNvPr id="15" name="Shape 12"/>
          <p:cNvSpPr/>
          <p:nvPr/>
        </p:nvSpPr>
        <p:spPr>
          <a:xfrm>
            <a:off x="4663440" y="399135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66344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230368" y="395478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An OP_RETURN output can never be spent, so it is never dust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of authorisation lives, and why it moved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Malleability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Mt. Gox, 2014</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Segregated witness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soft fork</a:t>
            </a:r>
            <a:endParaRPr lang="en-US" sz="1400" dirty="0"/>
          </a:p>
        </p:txBody>
      </p:sp>
      <p:pic>
        <p:nvPicPr>
          <p:cNvPr id="14" name="Image 0" descr="../../03-materials/ch06/assets/mbc3_0605.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witness structure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Malleability: the same spend, four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Re-encode a push in a legacy input script and the txid changes; outside the txid it cannot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ways to push the number 2: four identifiers for the first bitcoin transaction</a:t>
            </a:r>
            <a:endParaRPr lang="en-US" sz="1150" dirty="0"/>
          </a:p>
        </p:txBody>
      </p:sp>
      <p:sp>
        <p:nvSpPr>
          <p:cNvPr id="7" name="Shape 5"/>
          <p:cNvSpPr/>
          <p:nvPr/>
        </p:nvSpPr>
        <p:spPr>
          <a:xfrm>
            <a:off x="457200" y="1371600"/>
            <a:ext cx="8229600" cy="960120"/>
          </a:xfrm>
          <a:prstGeom prst="roundRect">
            <a:avLst>
              <a:gd name="adj" fmla="val 9524"/>
            </a:avLst>
          </a:prstGeom>
          <a:solidFill>
            <a:srgbClr val="23272E"/>
          </a:solidFill>
          <a:ln w="12700">
            <a:solidFill>
              <a:srgbClr val="23272E"/>
            </a:solidFill>
            <a:prstDash val="solid"/>
          </a:ln>
        </p:spPr>
      </p:sp>
      <p:sp>
        <p:nvSpPr>
          <p:cNvPr id="8" name="Text 6"/>
          <p:cNvSpPr txBox="1"/>
          <p:nvPr/>
        </p:nvSpPr>
        <p:spPr>
          <a:xfrm>
            <a:off x="640080" y="1490472"/>
            <a:ext cx="7863840" cy="72237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push_encodings(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{'OP_2': '52', 'OP_PUSH1 0x02': '0102', 'OP_PUSH2 0x0002': '020200', 'OP_PUSHDATA1 0x0102': '4c0102'}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sorted({txid(with_input_script(FIRST, s))[:</a:t>
            </a:r>
            <a:r>
              <a:rPr lang="en-US" sz="750" dirty="0">
                <a:solidFill>
                  <a:srgbClr val="FFD28A"/>
                </a:solidFill>
                <a:latin typeface="Courier New" pitchFamily="34" charset="0"/>
                <a:ea typeface="Courier New" pitchFamily="34" charset="-122"/>
                <a:cs typeface="Courier New" pitchFamily="34" charset="-120"/>
              </a:rPr>
              <a:t>8</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s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push_encodings(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).values()})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['0423a53a', '18da36d1', '4d986cd8', 'b3485f99']</a:t>
            </a:r>
            <a:endParaRPr lang="en-US" sz="750" dirty="0"/>
          </a:p>
        </p:txBody>
      </p:sp>
      <p:sp>
        <p:nvSpPr>
          <p:cNvPr id="9" name="Text 7"/>
          <p:cNvSpPr txBox="1"/>
          <p:nvPr/>
        </p:nvSpPr>
        <p:spPr>
          <a:xfrm>
            <a:off x="457200" y="2350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txid is the hash of the 125 legacy bytes; a new witness changes the wtxid, not the txid</a:t>
            </a:r>
            <a:endParaRPr lang="en-US" sz="1150" dirty="0"/>
          </a:p>
        </p:txBody>
      </p:sp>
      <p:sp>
        <p:nvSpPr>
          <p:cNvPr id="11" name="Shape 9"/>
          <p:cNvSpPr/>
          <p:nvPr/>
        </p:nvSpPr>
        <p:spPr>
          <a:xfrm>
            <a:off x="457200" y="2606040"/>
            <a:ext cx="8229600" cy="1143000"/>
          </a:xfrm>
          <a:prstGeom prst="roundRect">
            <a:avLst>
              <a:gd name="adj" fmla="val 8000"/>
            </a:avLst>
          </a:prstGeom>
          <a:solidFill>
            <a:srgbClr val="23272E"/>
          </a:solidFill>
          <a:ln w="12700">
            <a:solidFill>
              <a:srgbClr val="23272E"/>
            </a:solidFill>
            <a:prstDash val="solid"/>
          </a:ln>
        </p:spPr>
      </p:sp>
      <p:sp>
        <p:nvSpPr>
          <p:cNvPr id="12" name="Text 10"/>
          <p:cNvSpPr txBox="1"/>
          <p:nvPr/>
        </p:nvSpPr>
        <p:spPr>
          <a:xfrm>
            <a:off x="640080" y="2724912"/>
            <a:ext cx="7863840" cy="9052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txid(ALICE)[:</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 hash256(legacy)[::-</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].hex()[:</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('466200308696215b', '466200308696215b')</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mutated = with_witness_item(ALICE, </a:t>
            </a:r>
            <a:r>
              <a:rPr lang="en-US" sz="800" dirty="0">
                <a:solidFill>
                  <a:srgbClr val="9ECBFF"/>
                </a:solidFill>
                <a:latin typeface="Courier New" pitchFamily="34" charset="0"/>
                <a:ea typeface="Courier New" pitchFamily="34" charset="-122"/>
                <a:cs typeface="Courier New" pitchFamily="34" charset="-120"/>
              </a:rPr>
              <a:t>'00'</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65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txid(mutated) == txid(ALICE), wtxid(mutated) == wtxid(ALICE)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13" name="Text 11"/>
          <p:cNvSpPr txBox="1"/>
          <p:nvPr/>
        </p:nvSpPr>
        <p:spPr>
          <a:xfrm>
            <a:off x="457200" y="37673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2103120" y="4023360"/>
            <a:ext cx="49377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103120" y="4023360"/>
            <a:ext cx="49377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witness is outside the txid - by design</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be built on it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2014-02-10</a:t>
            </a:r>
            <a:endParaRPr lang="en-US" sz="1300" dirty="0"/>
          </a:p>
        </p:txBody>
      </p:sp>
      <p:sp>
        <p:nvSpPr>
          <p:cNvPr id="6" name="Shape 4"/>
          <p:cNvSpPr/>
          <p:nvPr/>
        </p:nvSpPr>
        <p:spPr>
          <a:xfrm>
            <a:off x="457200" y="141732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302,000 BTC</a:t>
            </a:r>
            <a:endParaRPr lang="en-US" sz="2200" dirty="0"/>
          </a:p>
        </p:txBody>
      </p:sp>
      <p:sp>
        <p:nvSpPr>
          <p:cNvPr id="8" name="Text 6"/>
          <p:cNvSpPr txBox="1"/>
          <p:nvPr/>
        </p:nvSpPr>
        <p:spPr>
          <a:xfrm>
            <a:off x="5669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 involved in malleability attacks (Decker and Wattenhofer)</a:t>
            </a:r>
            <a:endParaRPr lang="en-US" sz="1150" dirty="0"/>
          </a:p>
        </p:txBody>
      </p:sp>
      <p:sp>
        <p:nvSpPr>
          <p:cNvPr id="9" name="Shape 7"/>
          <p:cNvSpPr/>
          <p:nvPr/>
        </p:nvSpPr>
        <p:spPr>
          <a:xfrm>
            <a:off x="3276600" y="141732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1,811 BTC</a:t>
            </a:r>
            <a:endParaRPr lang="en-US" sz="2200" dirty="0"/>
          </a:p>
        </p:txBody>
      </p:sp>
      <p:sp>
        <p:nvSpPr>
          <p:cNvPr id="11" name="Text 9"/>
          <p:cNvSpPr txBox="1"/>
          <p:nvPr/>
        </p:nvSpPr>
        <p:spPr>
          <a:xfrm>
            <a:off x="33863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 those before the press release of 10 February</a:t>
            </a:r>
            <a:endParaRPr lang="en-US" sz="1150" dirty="0"/>
          </a:p>
        </p:txBody>
      </p:sp>
      <p:sp>
        <p:nvSpPr>
          <p:cNvPr id="12" name="Shape 10"/>
          <p:cNvSpPr/>
          <p:nvPr/>
        </p:nvSpPr>
        <p:spPr>
          <a:xfrm>
            <a:off x="6096000" y="141732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850,000 BTC</a:t>
            </a:r>
            <a:endParaRPr lang="en-US" sz="2200" dirty="0"/>
          </a:p>
        </p:txBody>
      </p:sp>
      <p:sp>
        <p:nvSpPr>
          <p:cNvPr id="14" name="Text 12"/>
          <p:cNvSpPr txBox="1"/>
          <p:nvPr/>
        </p:nvSpPr>
        <p:spPr>
          <a:xfrm>
            <a:off x="62057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shortfall declared in the filing of 28 February</a:t>
            </a:r>
            <a:endParaRPr lang="en-US" sz="1150" dirty="0"/>
          </a:p>
        </p:txBody>
      </p:sp>
      <p:sp>
        <p:nvSpPr>
          <p:cNvPr id="15" name="Shape 13"/>
          <p:cNvSpPr/>
          <p:nvPr/>
        </p:nvSpPr>
        <p:spPr>
          <a:xfrm>
            <a:off x="457200" y="28315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69748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Withdrawals halted on 7 February; the press release blamed a bug in the bitcoin software</a:t>
            </a:r>
            <a:endParaRPr lang="en-US" sz="1200" dirty="0"/>
          </a:p>
        </p:txBody>
      </p:sp>
      <p:sp>
        <p:nvSpPr>
          <p:cNvPr id="17" name="Shape 15"/>
          <p:cNvSpPr/>
          <p:nvPr/>
        </p:nvSpPr>
        <p:spPr>
          <a:xfrm>
            <a:off x="457200" y="32278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09372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Researchers who had recorded the network for a year found no widespread attacks before the announcement</a:t>
            </a:r>
            <a:endParaRPr lang="en-US" sz="1200" dirty="0"/>
          </a:p>
        </p:txBody>
      </p:sp>
      <p:sp>
        <p:nvSpPr>
          <p:cNvPr id="19" name="Shape 17"/>
          <p:cNvSpPr/>
          <p:nvPr/>
        </p:nvSpPr>
        <p:spPr>
          <a:xfrm>
            <a:off x="457200" y="362407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48996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Software that tracked payments by txid saw mutated copies as failed payments</a:t>
            </a:r>
            <a:endParaRPr lang="en-US" sz="1200" dirty="0"/>
          </a:p>
        </p:txBody>
      </p:sp>
      <p:sp>
        <p:nvSpPr>
          <p:cNvPr id="21" name="Shape 19"/>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Mt. Gox, then the largest bitcoin exch…</a:t>
            </a:r>
            <a:endParaRPr lang="en-US" sz="750" dirty="0"/>
          </a:p>
        </p:txBody>
      </p:sp>
      <p:sp>
        <p:nvSpPr>
          <p:cNvPr id="23" name="Shape 21"/>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Shibuya, Tokyo - and the whole Bitcoin…</a:t>
            </a:r>
            <a:endParaRPr lang="en-US" sz="750" dirty="0"/>
          </a:p>
        </p:txBody>
      </p:sp>
      <p:sp>
        <p:nvSpPr>
          <p:cNvPr id="25" name="Shape 23"/>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7" name="Shape 25"/>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arxiv.org</a:t>
            </a:r>
            <a:endParaRPr lang="en-US" sz="7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as a soft fork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Old nodes allow an empty input script; new nodes require one</a:t>
            </a:r>
            <a:endParaRPr lang="en-US" sz="1300" dirty="0"/>
          </a:p>
        </p:txBody>
      </p:sp>
      <p:sp>
        <p:nvSpPr>
          <p:cNvPr id="6" name="Shape 4"/>
          <p:cNvSpPr/>
          <p:nvPr/>
        </p:nvSpPr>
        <p:spPr>
          <a:xfrm>
            <a:off x="457200" y="1371600"/>
            <a:ext cx="3931920" cy="1600200"/>
          </a:xfrm>
          <a:prstGeom prst="roundRect">
            <a:avLst>
              <a:gd name="adj" fmla="val 5714"/>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an old node sees</a:t>
            </a:r>
            <a:endParaRPr lang="en-US" sz="1500" dirty="0"/>
          </a:p>
        </p:txBody>
      </p:sp>
      <p:sp>
        <p:nvSpPr>
          <p:cNvPr id="8" name="Text 6"/>
          <p:cNvSpPr txBox="1"/>
          <p:nvPr/>
        </p:nvSpPr>
        <p:spPr>
          <a:xfrm>
            <a:off x="64008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script of a number 0-16 and 2-40 bytes: anyone can spend it</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An empty input script is allowed</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Every segwit block is valid to it</a:t>
            </a:r>
            <a:endParaRPr lang="en-US" sz="1150" dirty="0"/>
          </a:p>
        </p:txBody>
      </p:sp>
      <p:sp>
        <p:nvSpPr>
          <p:cNvPr id="9" name="Shape 7"/>
          <p:cNvSpPr/>
          <p:nvPr/>
        </p:nvSpPr>
        <p:spPr>
          <a:xfrm>
            <a:off x="4754880" y="1371600"/>
            <a:ext cx="3931920" cy="1600200"/>
          </a:xfrm>
          <a:prstGeom prst="roundRect">
            <a:avLst>
              <a:gd name="adj" fmla="val 5714"/>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What a new node requires</a:t>
            </a:r>
            <a:endParaRPr lang="en-US" sz="1500" dirty="0"/>
          </a:p>
        </p:txBody>
      </p:sp>
      <p:sp>
        <p:nvSpPr>
          <p:cNvPr id="11" name="Text 9"/>
          <p:cNvSpPr txBox="1"/>
          <p:nvPr/>
        </p:nvSpPr>
        <p:spPr>
          <a:xfrm>
            <a:off x="493776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same template is a witness program with a version</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input script must be empty</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valid witness in the witness structure</a:t>
            </a:r>
            <a:endParaRPr lang="en-US" sz="1150" dirty="0"/>
          </a:p>
        </p:txBody>
      </p:sp>
      <p:sp>
        <p:nvSpPr>
          <p:cNvPr id="12" name="Text 10"/>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outputs are witness programs of versions 1 and 0; her input script is empty, her witness 65 bytes</a:t>
            </a:r>
            <a:endParaRPr lang="en-US" sz="1150" dirty="0"/>
          </a:p>
        </p:txBody>
      </p:sp>
      <p:sp>
        <p:nvSpPr>
          <p:cNvPr id="13" name="Shape 11"/>
          <p:cNvSpPr/>
          <p:nvPr/>
        </p:nvSpPr>
        <p:spPr>
          <a:xfrm>
            <a:off x="457200" y="3246120"/>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364992"/>
            <a:ext cx="7863840" cy="6309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segwit_output_version(tx[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segwit_output_version(tx[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tx[</a:t>
            </a:r>
            <a:r>
              <a:rPr lang="en-US" sz="850" dirty="0">
                <a:solidFill>
                  <a:srgbClr val="9ECBFF"/>
                </a:solidFill>
                <a:latin typeface="Courier New" pitchFamily="34" charset="0"/>
                <a:ea typeface="Courier New" pitchFamily="34" charset="-122"/>
                <a:cs typeface="Courier New" pitchFamily="34" charset="-120"/>
              </a:rPr>
              <a:t>'inputs'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9ECBFF"/>
                </a:solidFill>
                <a:latin typeface="Courier New" pitchFamily="34" charset="0"/>
                <a:ea typeface="Courier New" pitchFamily="34" charset="-122"/>
                <a:cs typeface="Courier New" pitchFamily="34" charset="-120"/>
              </a:rPr>
              <a:t>''</a:t>
            </a:r>
            <a:r>
              <a:rPr lang="en-US" sz="850" dirty="0">
                <a:solidFill>
                  <a:srgbClr val="E6EDF3"/>
                </a:solidFill>
                <a:latin typeface="Courier New" pitchFamily="34" charset="0"/>
                <a:ea typeface="Courier New" pitchFamily="34" charset="-122"/>
                <a:cs typeface="Courier New" pitchFamily="34" charset="-120"/>
              </a:rPr>
              <a:t>, len(bytes.fromhex(tx[</a:t>
            </a:r>
            <a:r>
              <a:rPr lang="en-US" sz="850" dirty="0">
                <a:solidFill>
                  <a:srgbClr val="9ECBFF"/>
                </a:solidFill>
                <a:latin typeface="Courier New" pitchFamily="34" charset="0"/>
                <a:ea typeface="Courier New" pitchFamily="34" charset="-122"/>
                <a:cs typeface="Courier New" pitchFamily="34" charset="-120"/>
              </a:rPr>
              <a:t>'witness'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65)</a:t>
            </a:r>
            <a:endParaRPr lang="en-US" sz="850" dirty="0"/>
          </a:p>
        </p:txBody>
      </p:sp>
      <p:sp>
        <p:nvSpPr>
          <p:cNvPr id="15" name="Text 13"/>
          <p:cNvSpPr txBox="1"/>
          <p:nvPr/>
        </p:nvSpPr>
        <p:spPr>
          <a:xfrm>
            <a:off x="457200" y="41330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251960"/>
            <a:ext cx="165643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4251960"/>
            <a:ext cx="165643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reject more</a:t>
            </a:r>
            <a:endParaRPr lang="en-US" sz="1100" dirty="0"/>
          </a:p>
        </p:txBody>
      </p:sp>
      <p:sp>
        <p:nvSpPr>
          <p:cNvPr id="18" name="Shape 16"/>
          <p:cNvSpPr/>
          <p:nvPr/>
        </p:nvSpPr>
        <p:spPr>
          <a:xfrm>
            <a:off x="2314804" y="4251960"/>
            <a:ext cx="200345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2314804" y="425196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accept no more</a:t>
            </a:r>
            <a:endParaRPr lang="en-US" sz="1100" dirty="0"/>
          </a:p>
        </p:txBody>
      </p:sp>
      <p:sp>
        <p:nvSpPr>
          <p:cNvPr id="20" name="Shape 18"/>
          <p:cNvSpPr/>
          <p:nvPr/>
        </p:nvSpPr>
        <p:spPr>
          <a:xfrm>
            <a:off x="4519422" y="425196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19422" y="425196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block 481,824 - August 2017</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upgrades are built on anyone-can-spend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coinbase and the weight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bitcoins come from, and how a block is filled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Null outpoint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subsidy</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Maturity</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Weight and vbytes</a:t>
            </a:r>
            <a:endParaRPr lang="en-US" sz="1400" dirty="0"/>
          </a:p>
        </p:txBody>
      </p:sp>
      <p:pic>
        <p:nvPicPr>
          <p:cNvPr id="14" name="Image 0" descr="../../03-materials/ch06/assets/mbc3_0606.png">    </p:cNvPr>
          <p:cNvPicPr>
            <a:picLocks noChangeAspect="1"/>
          </p:cNvPicPr>
          <p:nvPr/>
        </p:nvPicPr>
        <p:blipFill>
          <a:blip r:embed="rId1"/>
          <a:srcRect l="0" r="0" t="0" b="0"/>
          <a:stretch/>
        </p:blipFill>
        <p:spPr>
          <a:xfrm>
            <a:off x="5577840" y="1645920"/>
            <a:ext cx="3200400" cy="1828800"/>
          </a:xfrm>
          <a:prstGeom prst="rect">
            <a:avLst/>
          </a:prstGeom>
        </p:spPr>
      </p:pic>
      <p:sp>
        <p:nvSpPr>
          <p:cNvPr id="15" name="Text 12"/>
          <p:cNvSpPr txBox="1"/>
          <p:nvPr/>
        </p:nvSpPr>
        <p:spPr>
          <a:xfrm>
            <a:off x="5577840" y="34930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same transaction in weight units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50 BTC shifted right once per 210,000 blocks - down to one satoshi, then zero</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halvings drawn from one executed line; the library and Core's GetBlockSubsidy agree on every bar.</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satoshi from 6,720,000, zero from 6,930,000</a:t>
            </a:r>
            <a:endParaRPr lang="en-US" sz="1150" dirty="0"/>
          </a:p>
        </p:txBody>
      </p:sp>
      <p:sp>
        <p:nvSpPr>
          <p:cNvPr id="9" name="Shape 6"/>
          <p:cNvSpPr/>
          <p:nvPr/>
        </p:nvSpPr>
        <p:spPr>
          <a:xfrm>
            <a:off x="4572000" y="1828800"/>
            <a:ext cx="4114800" cy="1097280"/>
          </a:xfrm>
          <a:prstGeom prst="roundRect">
            <a:avLst>
              <a:gd name="adj" fmla="val 8333"/>
            </a:avLst>
          </a:prstGeom>
          <a:solidFill>
            <a:srgbClr val="23272E"/>
          </a:solidFill>
          <a:ln w="12700">
            <a:solidFill>
              <a:srgbClr val="23272E"/>
            </a:solidFill>
            <a:prstDash val="solid"/>
          </a:ln>
        </p:spPr>
      </p:sp>
      <p:sp>
        <p:nvSpPr>
          <p:cNvPr id="10" name="Text 7"/>
          <p:cNvSpPr txBox="1"/>
          <p:nvPr/>
        </p:nvSpPr>
        <p:spPr>
          <a:xfrm>
            <a:off x="4754880" y="1947672"/>
            <a:ext cx="3749040" cy="85953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[block_subsidy(h)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h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6720000</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6929999</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6930000</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 1, 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last_subsidy_height(), total_subsidy() / COIN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(6929999, 20999999.9769)</a:t>
            </a:r>
            <a:endParaRPr lang="en-US" sz="800" dirty="0"/>
          </a:p>
        </p:txBody>
      </p:sp>
      <p:sp>
        <p:nvSpPr>
          <p:cNvPr id="11" name="Text 8"/>
          <p:cNvSpPr txBox="1"/>
          <p:nvPr/>
        </p:nvSpPr>
        <p:spPr>
          <a:xfrm>
            <a:off x="4572000" y="294436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297180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block 170 spends block 9's coinbase: mature</a:t>
            </a:r>
            <a:endParaRPr lang="en-US" sz="1150" dirty="0"/>
          </a:p>
        </p:txBody>
      </p:sp>
      <p:sp>
        <p:nvSpPr>
          <p:cNvPr id="13" name="Shape 10"/>
          <p:cNvSpPr/>
          <p:nvPr/>
        </p:nvSpPr>
        <p:spPr>
          <a:xfrm>
            <a:off x="4572000" y="3246120"/>
            <a:ext cx="4114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4754880" y="3364992"/>
            <a:ext cx="3749040" cy="9509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 = FIRST_REC</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a:t>
            </a:r>
            <a:r>
              <a:rPr lang="en-US" sz="800" dirty="0">
                <a:solidFill>
                  <a:srgbClr val="9ECBFF"/>
                </a:solidFill>
                <a:latin typeface="Courier New" pitchFamily="34" charset="0"/>
                <a:ea typeface="Courier New" pitchFamily="34" charset="-122"/>
                <a:cs typeface="Courier New" pitchFamily="34" charset="-120"/>
              </a:rPr>
              <a:t>'vin'</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'txid'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 r[</a:t>
            </a:r>
            <a:r>
              <a:rPr lang="en-US" sz="800" dirty="0">
                <a:solidFill>
                  <a:srgbClr val="9ECBFF"/>
                </a:solidFill>
                <a:latin typeface="Courier New" pitchFamily="34" charset="0"/>
                <a:ea typeface="Courier New" pitchFamily="34" charset="-122"/>
                <a:cs typeface="Courier New" pitchFamily="34" charset="-120"/>
              </a:rPr>
              <a:t>'status'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'block_height'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('0437cd7f8525ceed', 170)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coinbase_mature(</a:t>
            </a:r>
            <a:r>
              <a:rPr lang="en-US" sz="800" dirty="0">
                <a:solidFill>
                  <a:srgbClr val="FFD28A"/>
                </a:solidFill>
                <a:latin typeface="Courier New" pitchFamily="34" charset="0"/>
                <a:ea typeface="Courier New" pitchFamily="34" charset="-122"/>
                <a:cs typeface="Courier New" pitchFamily="34" charset="-120"/>
              </a:rPr>
              <a:t>9</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170</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170</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9</a:t>
            </a:r>
            <a:r>
              <a:rPr lang="en-US" sz="800" dirty="0">
                <a:solidFill>
                  <a:srgbClr val="E6EDF3"/>
                </a:solidFill>
                <a:latin typeface="Courier New" pitchFamily="34" charset="0"/>
                <a:ea typeface="Courier New" pitchFamily="34" charset="-122"/>
                <a:cs typeface="Courier New" pitchFamily="34" charset="-120"/>
              </a:rPr>
              <a:t>, COINBASE_MATURITY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161, 100)</a:t>
            </a:r>
            <a:endParaRPr lang="en-US" sz="800" dirty="0"/>
          </a:p>
        </p:txBody>
      </p:sp>
      <p:sp>
        <p:nvSpPr>
          <p:cNvPr id="15" name="Text 12"/>
          <p:cNvSpPr txBox="1"/>
          <p:nvPr/>
        </p:nvSpPr>
        <p:spPr>
          <a:xfrm>
            <a:off x="4572000" y="44531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the weight, field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book's table recomputed from the bytes - and Bitcoin Core's figure matched without a node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 node ran here: 569 is recomputed from the bytes and compared with the explorer's saved record.</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569 from the bytes and from the explorer; 143 vbytes</a:t>
            </a:r>
            <a:endParaRPr lang="en-US" sz="1150" dirty="0"/>
          </a:p>
        </p:txBody>
      </p:sp>
      <p:sp>
        <p:nvSpPr>
          <p:cNvPr id="9" name="Shape 6"/>
          <p:cNvSpPr/>
          <p:nvPr/>
        </p:nvSpPr>
        <p:spPr>
          <a:xfrm>
            <a:off x="4572000" y="1828800"/>
            <a:ext cx="4114800" cy="1188720"/>
          </a:xfrm>
          <a:prstGeom prst="roundRect">
            <a:avLst>
              <a:gd name="adj" fmla="val 7692"/>
            </a:avLst>
          </a:prstGeom>
          <a:solidFill>
            <a:srgbClr val="23272E"/>
          </a:solidFill>
          <a:ln w="12700">
            <a:solidFill>
              <a:srgbClr val="23272E"/>
            </a:solidFill>
            <a:prstDash val="solid"/>
          </a:ln>
        </p:spPr>
      </p:sp>
      <p:sp>
        <p:nvSpPr>
          <p:cNvPr id="10" name="Text 7"/>
          <p:cNvSpPr txBox="1"/>
          <p:nvPr/>
        </p:nvSpPr>
        <p:spPr>
          <a:xfrm>
            <a:off x="4754880" y="1947672"/>
            <a:ext cx="37490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len(legacy) * </a:t>
            </a:r>
            <a:r>
              <a:rPr lang="en-US" sz="790" dirty="0">
                <a:solidFill>
                  <a:srgbClr val="FFD28A"/>
                </a:solidFill>
                <a:latin typeface="Courier New" pitchFamily="34" charset="0"/>
                <a:ea typeface="Courier New" pitchFamily="34" charset="-122"/>
                <a:cs typeface="Courier New" pitchFamily="34" charset="-120"/>
              </a:rPr>
              <a:t>3</a:t>
            </a:r>
            <a:r>
              <a:rPr lang="en-US" sz="790" dirty="0">
                <a:solidFill>
                  <a:srgbClr val="E6EDF3"/>
                </a:solidFill>
                <a:latin typeface="Courier New" pitchFamily="34" charset="0"/>
                <a:ea typeface="Courier New" pitchFamily="34" charset="-122"/>
                <a:cs typeface="Courier New" pitchFamily="34" charset="-120"/>
              </a:rPr>
              <a:t> + len(bytes.fromhex(ALICE)), weight(ALICE)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(569, 569)</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ALICE_REC[</a:t>
            </a:r>
            <a:r>
              <a:rPr lang="en-US" sz="790" dirty="0">
                <a:solidFill>
                  <a:srgbClr val="9ECBFF"/>
                </a:solidFill>
                <a:latin typeface="Courier New" pitchFamily="34" charset="0"/>
                <a:ea typeface="Courier New" pitchFamily="34" charset="-122"/>
                <a:cs typeface="Courier New" pitchFamily="34" charset="-120"/>
              </a:rPr>
              <a:t>'weight'</a:t>
            </a:r>
            <a:r>
              <a:rPr lang="en-US" sz="790" dirty="0">
                <a:solidFill>
                  <a:srgbClr val="E6EDF3"/>
                </a:solidFill>
                <a:latin typeface="Courier New" pitchFamily="34" charset="0"/>
                <a:ea typeface="Courier New" pitchFamily="34" charset="-122"/>
                <a:cs typeface="Courier New" pitchFamily="34" charset="-120"/>
              </a:rPr>
              <a:t>], vbytes(ALICE)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(569, 143)</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weight(FIRST) == </a:t>
            </a:r>
            <a:r>
              <a:rPr lang="en-US" sz="790" dirty="0">
                <a:solidFill>
                  <a:srgbClr val="FFD28A"/>
                </a:solidFill>
                <a:latin typeface="Courier New" pitchFamily="34" charset="0"/>
                <a:ea typeface="Courier New" pitchFamily="34" charset="-122"/>
                <a:cs typeface="Courier New" pitchFamily="34" charset="-120"/>
              </a:rPr>
              <a:t>4</a:t>
            </a:r>
            <a:r>
              <a:rPr lang="en-US" sz="790" dirty="0">
                <a:solidFill>
                  <a:srgbClr val="E6EDF3"/>
                </a:solidFill>
                <a:latin typeface="Courier New" pitchFamily="34" charset="0"/>
                <a:ea typeface="Courier New" pitchFamily="34" charset="-122"/>
                <a:cs typeface="Courier New" pitchFamily="34" charset="-120"/>
              </a:rPr>
              <a:t> * parse_tx(FIRST)[</a:t>
            </a:r>
            <a:r>
              <a:rPr lang="en-US" sz="790" dirty="0">
                <a:solidFill>
                  <a:srgbClr val="9ECBFF"/>
                </a:solidFill>
                <a:latin typeface="Courier New" pitchFamily="34" charset="0"/>
                <a:ea typeface="Courier New" pitchFamily="34" charset="-122"/>
                <a:cs typeface="Courier New" pitchFamily="34" charset="-120"/>
              </a:rPr>
              <a:t>'size'</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1" name="Text 8"/>
          <p:cNvSpPr txBox="1"/>
          <p:nvPr/>
        </p:nvSpPr>
        <p:spPr>
          <a:xfrm>
            <a:off x="4572000" y="303580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306324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spans that weigh one per byte; the header</a:t>
            </a:r>
            <a:endParaRPr lang="en-US" sz="1150" dirty="0"/>
          </a:p>
        </p:txBody>
      </p:sp>
      <p:sp>
        <p:nvSpPr>
          <p:cNvPr id="13" name="Shape 10"/>
          <p:cNvSpPr/>
          <p:nvPr/>
        </p:nvSpPr>
        <p:spPr>
          <a:xfrm>
            <a:off x="4572000" y="3337560"/>
            <a:ext cx="4114800" cy="1097280"/>
          </a:xfrm>
          <a:prstGeom prst="roundRect">
            <a:avLst>
              <a:gd name="adj" fmla="val 8333"/>
            </a:avLst>
          </a:prstGeom>
          <a:solidFill>
            <a:srgbClr val="23272E"/>
          </a:solidFill>
          <a:ln w="12700">
            <a:solidFill>
              <a:srgbClr val="23272E"/>
            </a:solidFill>
            <a:prstDash val="solid"/>
          </a:ln>
        </p:spPr>
      </p:sp>
      <p:sp>
        <p:nvSpPr>
          <p:cNvPr id="14" name="Text 11"/>
          <p:cNvSpPr txBox="1"/>
          <p:nvPr/>
        </p:nvSpPr>
        <p:spPr>
          <a:xfrm>
            <a:off x="4754880" y="3456432"/>
            <a:ext cx="3749040" cy="85953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n, b, f, w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field_weights(ALICE)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f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 1, 1, 1, 65]</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sum(w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n, b, f, w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field_weights(ALICE)), </a:t>
            </a:r>
            <a:r>
              <a:rPr lang="en-US" sz="790" dirty="0">
                <a:solidFill>
                  <a:srgbClr val="FFD28A"/>
                </a:solidFill>
                <a:latin typeface="Courier New" pitchFamily="34" charset="0"/>
                <a:ea typeface="Courier New" pitchFamily="34" charset="-122"/>
                <a:cs typeface="Courier New" pitchFamily="34" charset="-120"/>
              </a:rPr>
              <a:t>80</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3</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80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(569, 320)</a:t>
            </a:r>
            <a:endParaRPr lang="en-US" sz="790" dirty="0"/>
          </a:p>
        </p:txBody>
      </p:sp>
      <p:sp>
        <p:nvSpPr>
          <p:cNvPr id="15" name="Text 12"/>
          <p:cNvSpPr txBox="1"/>
          <p:nvPr/>
        </p:nvSpPr>
        <p:spPr>
          <a:xfrm>
            <a:off x="4572000" y="44531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transaction pays for, and witness bytes cost a quarter</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is a request to strangers: inputs point, witnesses prove, outputs assign - 194 bytes, every one named</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(CC BY-SA)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raw.githubusercontent.com/bitcoinbook/bitcoinbook/develop/ch06_transactions.adoc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malleability paper behind the Mt. Gox story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arxiv.org/abs/1403.6676</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141 - segregated witness, weight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raw.githubusercontent.com/bitcoin/bips/master/bip-0141.mediawiki</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68 - the relative timelock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raw.githubusercontent.com/bitcoin/bips/master/bip-0068.mediawiki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125 - opt-in replace-by-fee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raw.githubusercontent.com/bitcoin/bips/master/bip-0125.mediawiki</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Alice's transaction on mempool.space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mempool.space/tx/466200308696215bbc949d5141a49a4138ecdfdfaa2a8029c1f9bcecd1f96177</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learnmeabitcoin - a raw transaction, drawn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learnmeabitcoin.com/technical/transaction/</a:t>
            </a:r>
            <a:endParaRPr lang="en-US" sz="1000" dirty="0"/>
          </a:p>
        </p:txBody>
      </p:sp>
      <p:sp>
        <p:nvSpPr>
          <p:cNvPr id="23" name="Text 21"/>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724912"/>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Pizza for bitcoins? - the 2010 thread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bitcointalk.org/index.php?topic=137.0</a:t>
            </a:r>
            <a:endParaRPr lang="en-US" sz="1000" dirty="0"/>
          </a:p>
        </p:txBody>
      </p:sp>
      <p:sp>
        <p:nvSpPr>
          <p:cNvPr id="26" name="Shape 24"/>
          <p:cNvSpPr/>
          <p:nvPr/>
        </p:nvSpPr>
        <p:spPr>
          <a:xfrm>
            <a:off x="4768596" y="305409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Strange block 74638 - the overflow, live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bitcointalk.org/index.php?topic=822.0</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full nodes to do, field by field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sequence and lock time permit,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how segwit fixed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and who creates bitcoins under which schedule</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dc:title>
  <dc:subject>PptxGenJS Presentation</dc:subject>
  <dc:creator>Yusuf Altunel</dc:creator>
  <cp:lastModifiedBy>Yusuf Altunel</cp:lastModifiedBy>
  <cp:revision>1</cp:revision>
  <dcterms:created xsi:type="dcterms:W3CDTF">2026-10-15T00:39:08Z</dcterms:created>
  <dcterms:modified xsi:type="dcterms:W3CDTF">2026-10-15T00:39:08Z</dcterms:modified>
  <cp:version>1.1.0</cp:version>
</cp:coreProperties>
</file>