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media/image-10-1.jpg" ContentType="image/jpg"/>
  <Override PartName="/ppt/media/image-22-1.jpg" ContentType="image/jpg"/>
  <Override PartName="/ppt/media/image-35-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cat>
            <c:multiLvlStrRef>
              <c:f>Sheet1!$A$2:$A$8</c:f>
              <c:multiLvlStrCache>
                <c:ptCount val="7"/>
                <c:lvl>
                  <c:pt idx="0">
                    <c:v>version</c:v>
                  </c:pt>
                  <c:pt idx="1">
                    <c:v>marker</c:v>
                  </c:pt>
                  <c:pt idx="2">
                    <c:v>flag</c:v>
                  </c:pt>
                  <c:pt idx="3">
                    <c:v>input</c:v>
                  </c:pt>
                  <c:pt idx="4">
                    <c:v>output</c:v>
                  </c:pt>
                  <c:pt idx="5">
                    <c:v>witness</c:v>
                  </c:pt>
                  <c:pt idx="6">
                    <c:v>lock</c:v>
                  </c:pt>
                </c:lvl>
              </c:multiLvlStrCache>
            </c:multiLvlStrRef>
          </c:cat>
          <c:val>
            <c:numRef>
              <c:f>Sheet1!$B$2:$B$8</c:f>
              <c:numCache>
                <c:formatCode>General</c:formatCode>
                <c:ptCount val="7"/>
                <c:pt idx="0">
                  <c:v>4</c:v>
                </c:pt>
                <c:pt idx="1">
                  <c:v>1</c:v>
                </c:pt>
                <c:pt idx="2">
                  <c:v>1</c:v>
                </c:pt>
                <c:pt idx="3">
                  <c:v>42</c:v>
                </c:pt>
                <c:pt idx="4">
                  <c:v>75</c:v>
                </c:pt>
                <c:pt idx="5">
                  <c:v>67</c:v>
                </c:pt>
                <c:pt idx="6">
                  <c:v>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1</c:v>
                  </c:pt>
                  <c:pt idx="1">
                    <c:v>252</c:v>
                  </c:pt>
                  <c:pt idx="2">
                    <c:v>253</c:v>
                  </c:pt>
                  <c:pt idx="3">
                    <c:v>65535</c:v>
                  </c:pt>
                  <c:pt idx="4">
                    <c:v>65536</c:v>
                  </c:pt>
                  <c:pt idx="5">
                    <c:v>2**32</c:v>
                  </c:pt>
                </c:lvl>
              </c:multiLvlStrCache>
            </c:multiLvlStrRef>
          </c:cat>
          <c:val>
            <c:numRef>
              <c:f>Sheet1!$B$2:$B$7</c:f>
              <c:numCache>
                <c:formatCode>General</c:formatCode>
                <c:ptCount val="6"/>
                <c:pt idx="0">
                  <c:v>1</c:v>
                </c:pt>
                <c:pt idx="1">
                  <c:v>1</c:v>
                </c:pt>
                <c:pt idx="2">
                  <c:v>3</c:v>
                </c:pt>
                <c:pt idx="3">
                  <c:v>3</c:v>
                </c:pt>
                <c:pt idx="4">
                  <c:v>5</c:v>
                </c:pt>
                <c:pt idx="5">
                  <c:v>9</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output 0</c:v>
                  </c:pt>
                  <c:pt idx="1">
                    <c:v>output 1</c:v>
                  </c:pt>
                  <c:pt idx="2">
                    <c:v>fee</c:v>
                  </c:pt>
                </c:lvl>
              </c:multiLvlStrCache>
            </c:multiLvlStrRef>
          </c:cat>
          <c:val>
            <c:numRef>
              <c:f>Sheet1!$B$2:$B$4</c:f>
              <c:numCache>
                <c:formatCode>General</c:formatCode>
                <c:ptCount val="3"/>
                <c:pt idx="0">
                  <c:v>20000</c:v>
                </c:pt>
                <c:pt idx="1">
                  <c:v>75000</c:v>
                </c:pt>
                <c:pt idx="2">
                  <c:v>5000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P2PKH</c:v>
                  </c:pt>
                  <c:pt idx="1">
                    <c:v>P2WPKH</c:v>
                  </c:pt>
                  <c:pt idx="2">
                    <c:v>P2TR</c:v>
                  </c:pt>
                  <c:pt idx="3">
                    <c:v>RET</c:v>
                  </c:pt>
                </c:lvl>
              </c:multiLvlStrCache>
            </c:multiLvlStrRef>
          </c:cat>
          <c:val>
            <c:numRef>
              <c:f>Sheet1!$B$2:$B$5</c:f>
              <c:numCache>
                <c:formatCode>General</c:formatCode>
                <c:ptCount val="4"/>
                <c:pt idx="0">
                  <c:v>546</c:v>
                </c:pt>
                <c:pt idx="1">
                  <c:v>294</c:v>
                </c:pt>
                <c:pt idx="2">
                  <c:v>330</c:v>
                </c:pt>
                <c:pt idx="3">
                  <c:v>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seconds after the first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cat>
            <c:multiLvlStrRef>
              <c:f>Sheet1!$A$2:$A$12</c:f>
              <c:multiLvlStrCache>
                <c:ptCount val="11"/>
                <c:lvl>
                  <c:pt idx="0">
                    <c:v>b1</c:v>
                  </c:pt>
                  <c:pt idx="1">
                    <c:v>b2</c:v>
                  </c:pt>
                  <c:pt idx="2">
                    <c:v>b3</c:v>
                  </c:pt>
                  <c:pt idx="3">
                    <c:v>b4</c:v>
                  </c:pt>
                  <c:pt idx="4">
                    <c:v>b5</c:v>
                  </c:pt>
                  <c:pt idx="5">
                    <c:v>b6</c:v>
                  </c:pt>
                  <c:pt idx="6">
                    <c:v>b7</c:v>
                  </c:pt>
                  <c:pt idx="7">
                    <c:v>b8</c:v>
                  </c:pt>
                  <c:pt idx="8">
                    <c:v>b9</c:v>
                  </c:pt>
                  <c:pt idx="9">
                    <c:v>b10</c:v>
                  </c:pt>
                  <c:pt idx="10">
                    <c:v>b11</c:v>
                  </c:pt>
                </c:lvl>
              </c:multiLvlStrCache>
            </c:multiLvlStrRef>
          </c:cat>
          <c:val>
            <c:numRef>
              <c:f>Sheet1!$B$2:$B$12</c:f>
              <c:numCache>
                <c:formatCode>General</c:formatCode>
                <c:ptCount val="11"/>
                <c:pt idx="0">
                  <c:v>1500</c:v>
                </c:pt>
                <c:pt idx="1">
                  <c:v>2100</c:v>
                </c:pt>
                <c:pt idx="2">
                  <c:v>500</c:v>
                </c:pt>
                <c:pt idx="3">
                  <c:v>2700</c:v>
                </c:pt>
                <c:pt idx="4">
                  <c:v>2400</c:v>
                </c:pt>
                <c:pt idx="5">
                  <c:v>0</c:v>
                </c:pt>
                <c:pt idx="6">
                  <c:v>2600</c:v>
                </c:pt>
                <c:pt idx="7">
                  <c:v>1800</c:v>
                </c:pt>
                <c:pt idx="8">
                  <c:v>1200</c:v>
                </c:pt>
                <c:pt idx="9">
                  <c:v>2300</c:v>
                </c:pt>
                <c:pt idx="10">
                  <c:v>2500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bitcoin per block</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cat>
            <c:multiLvlStrRef>
              <c:f>Sheet1!$A$2:$A$10</c:f>
              <c:multiLvlStrCache>
                <c:ptCount val="9"/>
                <c:lvl>
                  <c:pt idx="0">
                    <c:v>0</c:v>
                  </c:pt>
                  <c:pt idx="1">
                    <c:v>1</c:v>
                  </c:pt>
                  <c:pt idx="2">
                    <c:v>2</c:v>
                  </c:pt>
                  <c:pt idx="3">
                    <c:v>3</c:v>
                  </c:pt>
                  <c:pt idx="4">
                    <c:v>4</c:v>
                  </c:pt>
                  <c:pt idx="5">
                    <c:v>5</c:v>
                  </c:pt>
                  <c:pt idx="6">
                    <c:v>6</c:v>
                  </c:pt>
                  <c:pt idx="7">
                    <c:v>7</c:v>
                  </c:pt>
                  <c:pt idx="8">
                    <c:v>8</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weight units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cat>
            <c:multiLvlStrRef>
              <c:f>Sheet1!$A$2:$A$8</c:f>
              <c:multiLvlStrCache>
                <c:ptCount val="7"/>
                <c:lvl>
                  <c:pt idx="0">
                    <c:v>version</c:v>
                  </c:pt>
                  <c:pt idx="1">
                    <c:v>marker</c:v>
                  </c:pt>
                  <c:pt idx="2">
                    <c:v>flag</c:v>
                  </c:pt>
                  <c:pt idx="3">
                    <c:v>input</c:v>
                  </c:pt>
                  <c:pt idx="4">
                    <c:v>output</c:v>
                  </c:pt>
                  <c:pt idx="5">
                    <c:v>witness</c:v>
                  </c:pt>
                  <c:pt idx="6">
                    <c:v>lock</c:v>
                  </c:pt>
                </c:lvl>
              </c:multiLvlStrCache>
            </c:multiLvlStrRef>
          </c:cat>
          <c:val>
            <c:numRef>
              <c:f>Sheet1!$B$2:$B$8</c:f>
              <c:numCache>
                <c:formatCode>General</c:formatCode>
                <c:ptCount val="7"/>
                <c:pt idx="0">
                  <c:v>16</c:v>
                </c:pt>
                <c:pt idx="1">
                  <c:v>1</c:v>
                </c:pt>
                <c:pt idx="2">
                  <c:v>1</c:v>
                </c:pt>
                <c:pt idx="3">
                  <c:v>168</c:v>
                </c:pt>
                <c:pt idx="4">
                  <c:v>300</c:v>
                </c:pt>
                <c:pt idx="5">
                  <c:v>67</c:v>
                </c:pt>
                <c:pt idx="6">
                  <c:v>16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reads one real Bitcoin transaction, Alice's payment to Bob from the book, byte by byte. Every number was computed from those bytes with the chapter's own Python library, and no Bitcoin Core node was available where it was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eight parts that follow the order of the bytes of a transaction. Four true stories and eighteen code examples are spread across them. The examples are listed in the same order in the chapter code tab of the course page, so every slide can be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eight branches and 107 concepts. Each branch gets a divider, concept cards with everyday comparisons, code that runs, and some branches a true story. The deck follows the order in which the bytes of a transaction are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opens one real transaction. We read Alice's payment byte by byte and compare its two serializations. A story about the first transaction ever closes the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Transaction, The ownership record of a full node, The parts of a transaction and Serialized transaction.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library parses Alice's transaction from the book into named fields and adds up their lengths. The seven groups add back to the 194 bytes of the serialized transaction, so no byte is unexplained.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Extended serialization format, Legacy serialization, Partially signed bitcoin transaction and Byte map.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payment is written twice. The legacy form leaves out marker, flag and witness, and its hash is the txid that explorers show. The extended form has its own hash, the wtxid.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2009-01-12. On 11 January 2009 Hal Finney posted two words, running bitcoin, and the next day the software's author sent him 10 BTC. The lesson is that the format you are reading is the one from block 170.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six bytes of a transaction are not data about money. They tell a node which rules apply and whether a witness follows, so every later field is read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Version 1, Version 2 and BIP68 and The version 3 proposal.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bytes decide how everything after them is read. The version says which rules apply, and the zero marker with the one flag announces a witness. A legacy parser would read the zero as an empty input list.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Presigned transactions, Marker byte and Flag byte.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Inputs name the coins a transaction spends, and they state no amount. We meet the compact count, the outpoint and its two byte orders, and the database of unspent coins.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Input count, CompactSize unsigned integer, Other variable-length integers and Outpoint.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in a transaction use a variable-length integer. Up to 252 it is one byte; beyond that a first byte of fd, fe or ff says that two, four or eight more bytes follow.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previous transaction's identifier, Output index, The rule against double spending and Conflicting transactions.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input points at a coin by the txid of an earlier transaction and an output number. The bytes are stored in one order and printed in the reverse order, which is a classic source of mistakes.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UTXO database, Digest, Internal byte order and Display byte order.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node keeps a database of unspent outputs. Applying a transaction removes the coins its inputs name and adds the coins its outputs create. The difference in value is the fee.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2010-05-22. Four days after offering 10,000 BTC on the bitcointalk forum to anyone who would send him two pizzas, Laszlo Hanyecz reported that the deal was done. The lesson is that an input count of 131 is what one-output payments can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Input script and Script length prefix.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four-byte field has carried three meanings in fifteen years. We decode it against two proposals, BIP125 and BIP68, and see why bit 31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Sequence number, Setup and refund transactions, Payment channel and The replacement bandwidth attack.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four bytes signal finality, opt-in replacement under BIP125 and a relative timelock under BIP68. Setting bit 31 switches the timelock off, which is why the third value shows none.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Opt-in replace-by-fee, The BIP125 signal, BIP68 relative timelock and The type flag.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demand an hour, the type flag is set and the value counts units of 512 seconds, so an hour rounds up to 4,096 seconds. Counted in blocks, thirty blocks after a coin confirms is the earliest spend.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disable flag and The 16-bit mask.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Outputs hold the amounts and the locks. The part ends with a block that created 184 billion bitcoins and with the policy that keeps tiny outputs out of everyone's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Output count, Amount, Satoshi and The consensus range of an amount.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Outputs state amounts in satoshis. The input states none, so the spent coin's value comes from the record of that coin. What the outputs do not take is the fee that the miner collects.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Uneconomical output, Dust limit, Data-carrier output and Output script.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August 2010 a block carried two outputs of about 92 billion bitcoins each. Their sum wrapped around to a negative number, which passed the check on the total. Checking every output closes the hole.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2010-08-15. Block 74,638 contained a transaction with two outputs of 92,233,720,368.54277039 BTC each. The lesson is that a signed amount needs a range check; the chain learned it the hard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Script size limits, Anyone-can-spend scripts and Standard transaction outputs.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output is dust when it costs more to spend than it is worth, at the relay fee. Segwit outputs are cheaper to spend, so their limit is lower. A data-carrier output can never be spent and is exempt.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witness is the proof that a spender may spend. We see how proofs inside the input script made identifiers malleable, and how segregated witness repaired that as a soft fork.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Witness, Public key and signature as witness, Contract protocols and Circular dependency.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number can be pushed on the script stack in four ways. Each way is a different byte string, so the same payment gets four different legacy identifiers. This was the malleability that software could not ignore.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Third-party transaction malleability, Alternative push encodings, Second-party transaction malleability and Wanted malleability.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segregated witness the signature lives outside the txid. Replacing it leaves the txid unchanged, so chains of unconfirmed payments stay valid. The wtxid still covers the witness and changes.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2014-02-10. On 7 February 2014 Mt. Gox halted bitcoin withdrawals, and on 10 February it issued a press release blaming a bug in the bitcoin software: someone could alter transaction details to make it seem that a sending of bitcoins had not occurred when it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Segregated witness, Hard fork, Soft fork and Witness program.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Witness structure, Witness stack, Witness item and A legacy input's witness.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Segregated witness was a soft fork. Old nodes saw the new outputs as anyone-can-spend scripts and accepted the blocks, while upgraded nodes enforced the witness rules. That is why it could be activated without a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special cases of a transaction: one that may not be mined before a time, and one that creates new coins. The clock and the money supply both follow from simple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lock time field, Lock time as a block height, Lock time as an epoch time and Median time past.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timestamps are not monotonic, so a time lock is compared with the median of the last eleven. Values below 500 million are heights; larger ones are times. The median lags the highest timestamp.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Coinbase transaction, The null outpoint, The coinbase field and Block subsidy.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subsidy starts at 50 bitcoin and is halved every 210,000 blocks by a right shift. It reaches zero after block 6,929,999, and the total ever issued stays just below 21 million.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Block reward and Maturity rule.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coinbase has one input that points at nothing. Its coins are locked for 100 blocks, so that a reorganisation cannot invalidate coins that were already spent. Block 9's coins were spendable by block 170. It is example 16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 closes with what a block is filled by, and with the hashes and rule sets that every figure of the chapter rests on. We recompute the weight 569 from the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Weight, Vbytes, The block weight limit and Weight factors.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field weighs its bytes times four, except the marker, the flag and the witness, which weigh one. The sum is the 569 the book quotes, and dividing by four gives 143 virtual bytes. It is example 17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Hash function, Double SHA-256, Transaction identifier and Witness transaction identifier.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txid is not a field. It is the double SHA-256 of the legacy serialization, shown in reverse byte order. We recompute it from the bytes and it matches the library and the explorer. It is example 18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Relay policy and Consensus rule.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for each group of parts. A line that feels unproven should send you back to its code slide, because every figure in it was computed there. The chapter code tab of the course page lets you rerun all eighteen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and every link was opened on the date in the subtitle. A good exercise is to take any confirmed transaction from the explorer and run the chapter code on its hexadecimal. The course page for chapter 6 carries the full resource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The course page for chapter 6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hyperlink" Target="https://mempool.space/tx/f4184fc596403b9d638783cf57adfe4c75c605f6356fbc91338530e9831e9e16"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hyperlink" Target="https://bitcointalk.org/index.php?topic=137.0"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hyperlink" Target="https://en.bitcoin.it/wiki/Value_overflow_incident" TargetMode="External"/><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hyperlink" Target="https://arxiv.org/abs/1403.6676" TargetMode="External"/><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hyperlink" Target="https://raw.githubusercontent.com/bitcoinbook/bitcoinbook/develop/ch06_transactions.adoc" TargetMode="External"/><Relationship Id="rId2" Type="http://schemas.openxmlformats.org/officeDocument/2006/relationships/hyperlink" Target="https://arxiv.org/abs/1403.6676" TargetMode="External"/><Relationship Id="rId3" Type="http://schemas.openxmlformats.org/officeDocument/2006/relationships/hyperlink" Target="https://bips.dev/141/" TargetMode="External"/><Relationship Id="rId4" Type="http://schemas.openxmlformats.org/officeDocument/2006/relationships/hyperlink" Target="https://bips.dev/68/" TargetMode="External"/><Relationship Id="rId5" Type="http://schemas.openxmlformats.org/officeDocument/2006/relationships/hyperlink" Target="https://bips.dev/125/" TargetMode="External"/><Relationship Id="rId6" Type="http://schemas.openxmlformats.org/officeDocument/2006/relationships/hyperlink" Target="https://mempool.space/tx/466200308696215bbc949d5141a49a4138ecdfdfaa2a8029c1f9bcecd1f96177" TargetMode="External"/><Relationship Id="rId7" Type="http://schemas.openxmlformats.org/officeDocument/2006/relationships/hyperlink" Target="https://en.bitcoin.it/wiki/Transaction" TargetMode="External"/><Relationship Id="rId8" Type="http://schemas.openxmlformats.org/officeDocument/2006/relationships/hyperlink" Target="https://bitcointalk.org/index.php?topic=137.0" TargetMode="External"/><Relationship Id="rId9" Type="http://schemas.openxmlformats.org/officeDocument/2006/relationships/hyperlink" Target="https://bitcointalk.org/index.php?topic=822.0" TargetMode="External"/><Relationship Id="rId10" Type="http://schemas.openxmlformats.org/officeDocument/2006/relationships/hyperlink" Target="https://www.youtube.com/embed/PrcJD4rznyA" TargetMode="External"/><Relationship Id="rId11" Type="http://schemas.openxmlformats.org/officeDocument/2006/relationships/slideLayout" Target="../slideLayouts/slideLayout1.xml"/><Relationship Id="rId1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6: Transactions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One real transaction, 194 bytes, read field by field, with every number recomputed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6/assets/mbc3_0601.png">    </p:cNvPr>
          <p:cNvPicPr>
            <a:picLocks noChangeAspect="1"/>
          </p:cNvPicPr>
          <p:nvPr/>
        </p:nvPicPr>
        <p:blipFill>
          <a:blip r:embed="rId1"/>
          <a:srcRect l="0" r="0" t="0" b="0"/>
          <a:stretch/>
        </p:blipFill>
        <p:spPr>
          <a:xfrm>
            <a:off x="6309360" y="320040"/>
            <a:ext cx="2377440" cy="160020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Figure: a byte map of a transaction, Antonopoulos and Harding, Mastering Bitcoin 3e, CC BY-SA 4.0. Python 3.14.6, no Bitcoin Core node.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62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 parts; every number is a slide you can jump to</a:t>
            </a:r>
            <a:endParaRPr lang="en-US" sz="1300" dirty="0"/>
          </a:p>
        </p:txBody>
      </p:sp>
      <p:sp>
        <p:nvSpPr>
          <p:cNvPr id="6" name="Shape 4"/>
          <p:cNvSpPr/>
          <p:nvPr/>
        </p:nvSpPr>
        <p:spPr>
          <a:xfrm>
            <a:off x="457200" y="1280160"/>
            <a:ext cx="1822704" cy="981456"/>
          </a:xfrm>
          <a:prstGeom prst="roundRect">
            <a:avLst>
              <a:gd name="adj" fmla="val 7453"/>
            </a:avLst>
          </a:prstGeom>
          <a:solidFill>
            <a:srgbClr val="F2ECE1"/>
          </a:solidFill>
          <a:ln w="12700">
            <a:solidFill>
              <a:srgbClr val="DFD6C7"/>
            </a:solidFill>
            <a:prstDash val="solid"/>
          </a:ln>
        </p:spPr>
      </p:sp>
      <p:sp>
        <p:nvSpPr>
          <p:cNvPr id="7" name="Text 5"/>
          <p:cNvSpPr txBox="1"/>
          <p:nvPr/>
        </p:nvSpPr>
        <p:spPr>
          <a:xfrm>
            <a:off x="548640" y="1335024"/>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1. Questions and the chapter map</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3-4)</a:t>
            </a:r>
            <a:endParaRPr lang="en-US" sz="1150" dirty="0"/>
          </a:p>
        </p:txBody>
      </p:sp>
      <p:sp>
        <p:nvSpPr>
          <p:cNvPr id="8" name="Shape 6"/>
          <p:cNvSpPr/>
          <p:nvPr/>
        </p:nvSpPr>
        <p:spPr>
          <a:xfrm>
            <a:off x="2426208" y="1280160"/>
            <a:ext cx="1822704" cy="981456"/>
          </a:xfrm>
          <a:prstGeom prst="roundRect">
            <a:avLst>
              <a:gd name="adj" fmla="val 7453"/>
            </a:avLst>
          </a:prstGeom>
          <a:solidFill>
            <a:srgbClr val="F2ECE1"/>
          </a:solidFill>
          <a:ln w="12700">
            <a:solidFill>
              <a:srgbClr val="DFD6C7"/>
            </a:solidFill>
            <a:prstDash val="solid"/>
          </a:ln>
        </p:spPr>
      </p:sp>
      <p:sp>
        <p:nvSpPr>
          <p:cNvPr id="9" name="Text 7"/>
          <p:cNvSpPr txBox="1"/>
          <p:nvPr/>
        </p:nvSpPr>
        <p:spPr>
          <a:xfrm>
            <a:off x="2517648" y="1335024"/>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2. What a transaction is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5-10)</a:t>
            </a:r>
            <a:endParaRPr lang="en-US" sz="1150" dirty="0"/>
          </a:p>
        </p:txBody>
      </p:sp>
      <p:sp>
        <p:nvSpPr>
          <p:cNvPr id="10" name="Shape 8"/>
          <p:cNvSpPr/>
          <p:nvPr/>
        </p:nvSpPr>
        <p:spPr>
          <a:xfrm>
            <a:off x="4395216" y="1280160"/>
            <a:ext cx="1822704" cy="981456"/>
          </a:xfrm>
          <a:prstGeom prst="roundRect">
            <a:avLst>
              <a:gd name="adj" fmla="val 7453"/>
            </a:avLst>
          </a:prstGeom>
          <a:solidFill>
            <a:srgbClr val="F2ECE1"/>
          </a:solidFill>
          <a:ln w="12700">
            <a:solidFill>
              <a:srgbClr val="DFD6C7"/>
            </a:solidFill>
            <a:prstDash val="solid"/>
          </a:ln>
        </p:spPr>
      </p:sp>
      <p:sp>
        <p:nvSpPr>
          <p:cNvPr id="11" name="Text 9"/>
          <p:cNvSpPr txBox="1"/>
          <p:nvPr/>
        </p:nvSpPr>
        <p:spPr>
          <a:xfrm>
            <a:off x="4486656" y="1335024"/>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3. Version, marker and flag</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11-14)</a:t>
            </a:r>
            <a:endParaRPr lang="en-US" sz="1150" dirty="0"/>
          </a:p>
        </p:txBody>
      </p:sp>
      <p:sp>
        <p:nvSpPr>
          <p:cNvPr id="12" name="Shape 10"/>
          <p:cNvSpPr/>
          <p:nvPr/>
        </p:nvSpPr>
        <p:spPr>
          <a:xfrm>
            <a:off x="457200" y="2389632"/>
            <a:ext cx="1822704" cy="981456"/>
          </a:xfrm>
          <a:prstGeom prst="roundRect">
            <a:avLst>
              <a:gd name="adj" fmla="val 7453"/>
            </a:avLst>
          </a:prstGeom>
          <a:solidFill>
            <a:srgbClr val="F2ECE1"/>
          </a:solidFill>
          <a:ln w="12700">
            <a:solidFill>
              <a:srgbClr val="DFD6C7"/>
            </a:solidFill>
            <a:prstDash val="solid"/>
          </a:ln>
        </p:spPr>
      </p:sp>
      <p:sp>
        <p:nvSpPr>
          <p:cNvPr id="13" name="Text 11"/>
          <p:cNvSpPr txBox="1"/>
          <p:nvPr/>
        </p:nvSpPr>
        <p:spPr>
          <a:xfrm>
            <a:off x="548640" y="2444496"/>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4. Inputs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15-23)</a:t>
            </a:r>
            <a:endParaRPr lang="en-US" sz="1150" dirty="0"/>
          </a:p>
        </p:txBody>
      </p:sp>
      <p:sp>
        <p:nvSpPr>
          <p:cNvPr id="14" name="Shape 12"/>
          <p:cNvSpPr/>
          <p:nvPr/>
        </p:nvSpPr>
        <p:spPr>
          <a:xfrm>
            <a:off x="2426208" y="2389632"/>
            <a:ext cx="1822704" cy="981456"/>
          </a:xfrm>
          <a:prstGeom prst="roundRect">
            <a:avLst>
              <a:gd name="adj" fmla="val 7453"/>
            </a:avLst>
          </a:prstGeom>
          <a:solidFill>
            <a:srgbClr val="F2ECE1"/>
          </a:solidFill>
          <a:ln w="12700">
            <a:solidFill>
              <a:srgbClr val="DFD6C7"/>
            </a:solidFill>
            <a:prstDash val="solid"/>
          </a:ln>
        </p:spPr>
      </p:sp>
      <p:sp>
        <p:nvSpPr>
          <p:cNvPr id="15" name="Text 13"/>
          <p:cNvSpPr txBox="1"/>
          <p:nvPr/>
        </p:nvSpPr>
        <p:spPr>
          <a:xfrm>
            <a:off x="2517648" y="2444496"/>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5. The sequence field</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24-29)</a:t>
            </a:r>
            <a:endParaRPr lang="en-US" sz="1150" dirty="0"/>
          </a:p>
        </p:txBody>
      </p:sp>
      <p:sp>
        <p:nvSpPr>
          <p:cNvPr id="16" name="Shape 14"/>
          <p:cNvSpPr/>
          <p:nvPr/>
        </p:nvSpPr>
        <p:spPr>
          <a:xfrm>
            <a:off x="4395216" y="2389632"/>
            <a:ext cx="1822704" cy="981456"/>
          </a:xfrm>
          <a:prstGeom prst="roundRect">
            <a:avLst>
              <a:gd name="adj" fmla="val 7453"/>
            </a:avLst>
          </a:prstGeom>
          <a:solidFill>
            <a:srgbClr val="F2ECE1"/>
          </a:solidFill>
          <a:ln w="12700">
            <a:solidFill>
              <a:srgbClr val="DFD6C7"/>
            </a:solidFill>
            <a:prstDash val="solid"/>
          </a:ln>
        </p:spPr>
      </p:sp>
      <p:sp>
        <p:nvSpPr>
          <p:cNvPr id="17" name="Text 15"/>
          <p:cNvSpPr txBox="1"/>
          <p:nvPr/>
        </p:nvSpPr>
        <p:spPr>
          <a:xfrm>
            <a:off x="4486656" y="2444496"/>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6. Outputs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30-37)</a:t>
            </a:r>
            <a:endParaRPr lang="en-US" sz="1150" dirty="0"/>
          </a:p>
        </p:txBody>
      </p:sp>
      <p:sp>
        <p:nvSpPr>
          <p:cNvPr id="18" name="Shape 16"/>
          <p:cNvSpPr/>
          <p:nvPr/>
        </p:nvSpPr>
        <p:spPr>
          <a:xfrm>
            <a:off x="457200" y="3499104"/>
            <a:ext cx="1822704" cy="981456"/>
          </a:xfrm>
          <a:prstGeom prst="roundRect">
            <a:avLst>
              <a:gd name="adj" fmla="val 7453"/>
            </a:avLst>
          </a:prstGeom>
          <a:solidFill>
            <a:srgbClr val="F2ECE1"/>
          </a:solidFill>
          <a:ln w="12700">
            <a:solidFill>
              <a:srgbClr val="DFD6C7"/>
            </a:solidFill>
            <a:prstDash val="solid"/>
          </a:ln>
        </p:spPr>
      </p:sp>
      <p:sp>
        <p:nvSpPr>
          <p:cNvPr id="19" name="Text 17"/>
          <p:cNvSpPr txBox="1"/>
          <p:nvPr/>
        </p:nvSpPr>
        <p:spPr>
          <a:xfrm>
            <a:off x="548640" y="3553968"/>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7. Witnesses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38-46)</a:t>
            </a:r>
            <a:endParaRPr lang="en-US" sz="1150" dirty="0"/>
          </a:p>
        </p:txBody>
      </p:sp>
      <p:sp>
        <p:nvSpPr>
          <p:cNvPr id="20" name="Shape 18"/>
          <p:cNvSpPr/>
          <p:nvPr/>
        </p:nvSpPr>
        <p:spPr>
          <a:xfrm>
            <a:off x="2426208" y="3499104"/>
            <a:ext cx="1822704"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2517648" y="3553968"/>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8. Lock time and the coinbase</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47-53)</a:t>
            </a:r>
            <a:endParaRPr lang="en-US" sz="1150" dirty="0"/>
          </a:p>
        </p:txBody>
      </p:sp>
      <p:sp>
        <p:nvSpPr>
          <p:cNvPr id="22" name="Shape 20"/>
          <p:cNvSpPr/>
          <p:nvPr/>
        </p:nvSpPr>
        <p:spPr>
          <a:xfrm>
            <a:off x="4395216" y="3499104"/>
            <a:ext cx="1822704" cy="981456"/>
          </a:xfrm>
          <a:prstGeom prst="roundRect">
            <a:avLst>
              <a:gd name="adj" fmla="val 7453"/>
            </a:avLst>
          </a:prstGeom>
          <a:solidFill>
            <a:srgbClr val="F2ECE1"/>
          </a:solidFill>
          <a:ln w="12700">
            <a:solidFill>
              <a:srgbClr val="DFD6C7"/>
            </a:solidFill>
            <a:prstDash val="solid"/>
          </a:ln>
        </p:spPr>
      </p:sp>
      <p:sp>
        <p:nvSpPr>
          <p:cNvPr id="23" name="Text 21"/>
          <p:cNvSpPr txBox="1"/>
          <p:nvPr/>
        </p:nvSpPr>
        <p:spPr>
          <a:xfrm>
            <a:off x="4486656" y="3553968"/>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9. Weight and foundations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54-62)</a:t>
            </a:r>
            <a:endParaRPr lang="en-US" sz="1150" dirty="0"/>
          </a:p>
        </p:txBody>
      </p:sp>
      <p:sp>
        <p:nvSpPr>
          <p:cNvPr id="24" name="Shape 22"/>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5" name="Text 23"/>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62</a:t>
            </a:r>
            <a:endParaRPr lang="en-US" sz="2600" dirty="0"/>
          </a:p>
        </p:txBody>
      </p:sp>
      <p:sp>
        <p:nvSpPr>
          <p:cNvPr id="26" name="Text 24"/>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8" name="Text 26"/>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9" name="Text 27"/>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30" name="Shape 28"/>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31" name="Text 29"/>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18</a:t>
            </a:r>
            <a:endParaRPr lang="en-US" sz="2600" dirty="0"/>
          </a:p>
        </p:txBody>
      </p:sp>
      <p:sp>
        <p:nvSpPr>
          <p:cNvPr id="32" name="Text 30"/>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parts, one real transaction, and a summary you can check</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62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Bitcoin transaction ask full nodes to do?</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is a transaction serialized in the extended and the legacy format?</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 the version, marker and flag tell a node?</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Which three meanings has the sequence field carried?</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did witnesses in the input script make the identifier malleable?</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are weight and vbytes computed, and does 569 reproduce from the bytes?</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Who creates new bitcoins, and when can they be spent?</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62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eight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1947672" cy="1490472"/>
          </a:xfrm>
          <a:prstGeom prst="roundRect">
            <a:avLst>
              <a:gd name="adj" fmla="val 4908"/>
            </a:avLst>
          </a:prstGeom>
          <a:solidFill>
            <a:srgbClr val="F2ECE1"/>
          </a:solidFill>
          <a:ln w="12700">
            <a:solidFill>
              <a:srgbClr val="DFD6C7"/>
            </a:solidFill>
            <a:prstDash val="solid"/>
          </a:ln>
        </p:spPr>
      </p:sp>
      <p:sp>
        <p:nvSpPr>
          <p:cNvPr id="7" name="Text 5"/>
          <p:cNvSpPr txBox="1"/>
          <p:nvPr/>
        </p:nvSpPr>
        <p:spPr>
          <a:xfrm>
            <a:off x="548640"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What a transaction is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10 concepts</a:t>
            </a:r>
            <a:endParaRPr lang="en-US" sz="1250" dirty="0"/>
          </a:p>
        </p:txBody>
      </p:sp>
      <p:sp>
        <p:nvSpPr>
          <p:cNvPr id="8" name="Shape 6"/>
          <p:cNvSpPr/>
          <p:nvPr/>
        </p:nvSpPr>
        <p:spPr>
          <a:xfrm>
            <a:off x="2551176" y="1280160"/>
            <a:ext cx="1947672" cy="1490472"/>
          </a:xfrm>
          <a:prstGeom prst="roundRect">
            <a:avLst>
              <a:gd name="adj" fmla="val 4908"/>
            </a:avLst>
          </a:prstGeom>
          <a:solidFill>
            <a:srgbClr val="F2ECE1"/>
          </a:solidFill>
          <a:ln w="12700">
            <a:solidFill>
              <a:srgbClr val="DFD6C7"/>
            </a:solidFill>
            <a:prstDash val="solid"/>
          </a:ln>
        </p:spPr>
      </p:sp>
      <p:sp>
        <p:nvSpPr>
          <p:cNvPr id="9" name="Text 7"/>
          <p:cNvSpPr txBox="1"/>
          <p:nvPr/>
        </p:nvSpPr>
        <p:spPr>
          <a:xfrm>
            <a:off x="2642616"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Version, marker and flag</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10" name="Shape 8"/>
          <p:cNvSpPr/>
          <p:nvPr/>
        </p:nvSpPr>
        <p:spPr>
          <a:xfrm>
            <a:off x="4645152" y="1280160"/>
            <a:ext cx="1947672" cy="1490472"/>
          </a:xfrm>
          <a:prstGeom prst="roundRect">
            <a:avLst>
              <a:gd name="adj" fmla="val 4908"/>
            </a:avLst>
          </a:prstGeom>
          <a:solidFill>
            <a:srgbClr val="D97A14"/>
          </a:solidFill>
          <a:ln w="12700">
            <a:solidFill>
              <a:srgbClr val="D97A14"/>
            </a:solidFill>
            <a:prstDash val="solid"/>
          </a:ln>
        </p:spPr>
      </p:sp>
      <p:sp>
        <p:nvSpPr>
          <p:cNvPr id="11" name="Text 9"/>
          <p:cNvSpPr txBox="1"/>
          <p:nvPr/>
        </p:nvSpPr>
        <p:spPr>
          <a:xfrm>
            <a:off x="4736592" y="1335024"/>
            <a:ext cx="1764792" cy="13807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Inputs</a:t>
            </a:r>
            <a:endParaRPr lang="en-US" sz="1250" dirty="0"/>
          </a:p>
          <a:p>
            <a:pPr algn="ctr" indent="0" marL="0">
              <a:buNone/>
            </a:pPr>
            <a:r>
              <a:rPr lang="en-US" sz="1050" dirty="0">
                <a:solidFill>
                  <a:srgbClr val="FFFFFF"/>
                </a:solidFill>
                <a:latin typeface="Calibri" pitchFamily="34" charset="0"/>
                <a:ea typeface="Calibri" pitchFamily="34" charset="-122"/>
                <a:cs typeface="Calibri" pitchFamily="34" charset="-120"/>
              </a:rPr>
              <a:t>18 concepts</a:t>
            </a:r>
            <a:endParaRPr lang="en-US" sz="1250" dirty="0"/>
          </a:p>
        </p:txBody>
      </p:sp>
      <p:sp>
        <p:nvSpPr>
          <p:cNvPr id="12" name="Shape 10"/>
          <p:cNvSpPr/>
          <p:nvPr/>
        </p:nvSpPr>
        <p:spPr>
          <a:xfrm>
            <a:off x="6739128" y="1280160"/>
            <a:ext cx="1947672" cy="1490472"/>
          </a:xfrm>
          <a:prstGeom prst="roundRect">
            <a:avLst>
              <a:gd name="adj" fmla="val 4908"/>
            </a:avLst>
          </a:prstGeom>
          <a:solidFill>
            <a:srgbClr val="F2ECE1"/>
          </a:solidFill>
          <a:ln w="12700">
            <a:solidFill>
              <a:srgbClr val="DFD6C7"/>
            </a:solidFill>
            <a:prstDash val="solid"/>
          </a:ln>
        </p:spPr>
      </p:sp>
      <p:sp>
        <p:nvSpPr>
          <p:cNvPr id="13" name="Text 11"/>
          <p:cNvSpPr txBox="1"/>
          <p:nvPr/>
        </p:nvSpPr>
        <p:spPr>
          <a:xfrm>
            <a:off x="6830568"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The sequence field</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13 concepts</a:t>
            </a:r>
            <a:endParaRPr lang="en-US" sz="1250" dirty="0"/>
          </a:p>
        </p:txBody>
      </p:sp>
      <p:sp>
        <p:nvSpPr>
          <p:cNvPr id="14" name="Shape 12"/>
          <p:cNvSpPr/>
          <p:nvPr/>
        </p:nvSpPr>
        <p:spPr>
          <a:xfrm>
            <a:off x="457200" y="2898648"/>
            <a:ext cx="1947672" cy="1490472"/>
          </a:xfrm>
          <a:prstGeom prst="roundRect">
            <a:avLst>
              <a:gd name="adj" fmla="val 4908"/>
            </a:avLst>
          </a:prstGeom>
          <a:solidFill>
            <a:srgbClr val="F2ECE1"/>
          </a:solidFill>
          <a:ln w="12700">
            <a:solidFill>
              <a:srgbClr val="DFD6C7"/>
            </a:solidFill>
            <a:prstDash val="solid"/>
          </a:ln>
        </p:spPr>
      </p:sp>
      <p:sp>
        <p:nvSpPr>
          <p:cNvPr id="15" name="Text 13"/>
          <p:cNvSpPr txBox="1"/>
          <p:nvPr/>
        </p:nvSpPr>
        <p:spPr>
          <a:xfrm>
            <a:off x="548640"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Outputs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14 concepts</a:t>
            </a:r>
            <a:endParaRPr lang="en-US" sz="1250" dirty="0"/>
          </a:p>
        </p:txBody>
      </p:sp>
      <p:sp>
        <p:nvSpPr>
          <p:cNvPr id="16" name="Shape 14"/>
          <p:cNvSpPr/>
          <p:nvPr/>
        </p:nvSpPr>
        <p:spPr>
          <a:xfrm>
            <a:off x="2551176" y="2898648"/>
            <a:ext cx="1947672" cy="1490472"/>
          </a:xfrm>
          <a:prstGeom prst="roundRect">
            <a:avLst>
              <a:gd name="adj" fmla="val 4908"/>
            </a:avLst>
          </a:prstGeom>
          <a:solidFill>
            <a:srgbClr val="F2ECE1"/>
          </a:solidFill>
          <a:ln w="12700">
            <a:solidFill>
              <a:srgbClr val="DFD6C7"/>
            </a:solidFill>
            <a:prstDash val="solid"/>
          </a:ln>
        </p:spPr>
      </p:sp>
      <p:sp>
        <p:nvSpPr>
          <p:cNvPr id="17" name="Text 15"/>
          <p:cNvSpPr txBox="1"/>
          <p:nvPr/>
        </p:nvSpPr>
        <p:spPr>
          <a:xfrm>
            <a:off x="2642616"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Witnesses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20 concepts</a:t>
            </a:r>
            <a:endParaRPr lang="en-US" sz="1250" dirty="0"/>
          </a:p>
        </p:txBody>
      </p:sp>
      <p:sp>
        <p:nvSpPr>
          <p:cNvPr id="18" name="Shape 16"/>
          <p:cNvSpPr/>
          <p:nvPr/>
        </p:nvSpPr>
        <p:spPr>
          <a:xfrm>
            <a:off x="4645152" y="2898648"/>
            <a:ext cx="1947672" cy="1490472"/>
          </a:xfrm>
          <a:prstGeom prst="roundRect">
            <a:avLst>
              <a:gd name="adj" fmla="val 4908"/>
            </a:avLst>
          </a:prstGeom>
          <a:solidFill>
            <a:srgbClr val="F2ECE1"/>
          </a:solidFill>
          <a:ln w="12700">
            <a:solidFill>
              <a:srgbClr val="DFD6C7"/>
            </a:solidFill>
            <a:prstDash val="solid"/>
          </a:ln>
        </p:spPr>
      </p:sp>
      <p:sp>
        <p:nvSpPr>
          <p:cNvPr id="19" name="Text 17"/>
          <p:cNvSpPr txBox="1"/>
          <p:nvPr/>
        </p:nvSpPr>
        <p:spPr>
          <a:xfrm>
            <a:off x="4736592"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Lock time and the coinbase</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20" name="Shape 18"/>
          <p:cNvSpPr/>
          <p:nvPr/>
        </p:nvSpPr>
        <p:spPr>
          <a:xfrm>
            <a:off x="6739128" y="2898648"/>
            <a:ext cx="1947672" cy="1490472"/>
          </a:xfrm>
          <a:prstGeom prst="roundRect">
            <a:avLst>
              <a:gd name="adj" fmla="val 4908"/>
            </a:avLst>
          </a:prstGeom>
          <a:solidFill>
            <a:srgbClr val="F2ECE1"/>
          </a:solidFill>
          <a:ln w="12700">
            <a:solidFill>
              <a:srgbClr val="DFD6C7"/>
            </a:solidFill>
            <a:prstDash val="solid"/>
          </a:ln>
        </p:spPr>
      </p:sp>
      <p:sp>
        <p:nvSpPr>
          <p:cNvPr id="21" name="Text 19"/>
          <p:cNvSpPr txBox="1"/>
          <p:nvPr/>
        </p:nvSpPr>
        <p:spPr>
          <a:xfrm>
            <a:off x="6830568"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Weight and foundations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branches; every slide today lives on this map</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62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What a transaction is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transaction is a signed letter asking every ledger to update itself.</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Idea of a transaction</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What a transaction is and what each node does with it.</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signed letter that asks every ledger to change.</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Serialization formats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ways a transaction is written out as bytes.</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packing a letter flat for the post.</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62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a transaction is: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request to thousands of databases.</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signed letter asking every bank branch to update its ledger.</a:t>
            </a:r>
            <a:endParaRPr lang="en-US" sz="1150" dirty="0"/>
          </a:p>
        </p:txBody>
      </p:sp>
      <p:sp>
        <p:nvSpPr>
          <p:cNvPr id="10" name="Shape 8"/>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1" name="Shape 9"/>
          <p:cNvSpPr/>
          <p:nvPr/>
        </p:nvSpPr>
        <p:spPr>
          <a:xfrm>
            <a:off x="4663440" y="1408176"/>
            <a:ext cx="64008" cy="91805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ownership record of a full node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 node keeps the same register.</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land register that every town keeps an identical copy of.</a:t>
            </a:r>
            <a:endParaRPr lang="en-US" sz="1150" dirty="0"/>
          </a:p>
        </p:txBody>
      </p:sp>
      <p:sp>
        <p:nvSpPr>
          <p:cNvPr id="14" name="Shape 12"/>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5" name="Shape 13"/>
          <p:cNvSpPr/>
          <p:nvPr/>
        </p:nvSpPr>
        <p:spPr>
          <a:xfrm>
            <a:off x="475488" y="2710282"/>
            <a:ext cx="64008" cy="918058"/>
          </a:xfrm>
          <a:prstGeom prst="rect">
            <a:avLst/>
          </a:prstGeom>
          <a:solidFill>
            <a:srgbClr val="D97A14"/>
          </a:solidFill>
          <a:ln w="12700">
            <a:solidFill>
              <a:srgbClr val="D97A14"/>
            </a:solidFill>
            <a:prstDash val="solid"/>
          </a:ln>
        </p:spPr>
      </p:sp>
      <p:sp>
        <p:nvSpPr>
          <p:cNvPr id="16" name="Text 14"/>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parts of a transaction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Five top-level fields, plus two for segwit.</a:t>
            </a:r>
            <a:endParaRPr lang="en-US" sz="1300" dirty="0"/>
          </a:p>
        </p:txBody>
      </p:sp>
      <p:sp>
        <p:nvSpPr>
          <p:cNvPr id="17" name="Text 15"/>
          <p:cNvSpPr txBox="1"/>
          <p:nvPr/>
        </p:nvSpPr>
        <p:spPr>
          <a:xfrm>
            <a:off x="640080"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cheque with boxes for payer, payee, amount and signature.</a:t>
            </a:r>
            <a:endParaRPr lang="en-US" sz="1150" dirty="0"/>
          </a:p>
        </p:txBody>
      </p:sp>
      <p:sp>
        <p:nvSpPr>
          <p:cNvPr id="18" name="Shape 16"/>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19" name="Shape 17"/>
          <p:cNvSpPr/>
          <p:nvPr/>
        </p:nvSpPr>
        <p:spPr>
          <a:xfrm>
            <a:off x="4663440" y="2710282"/>
            <a:ext cx="64008" cy="918058"/>
          </a:xfrm>
          <a:prstGeom prst="rect">
            <a:avLst/>
          </a:prstGeom>
          <a:solidFill>
            <a:srgbClr val="D97A14"/>
          </a:solidFill>
          <a:ln w="12700">
            <a:solidFill>
              <a:srgbClr val="D97A14"/>
            </a:solidFill>
            <a:prstDash val="solid"/>
          </a:ln>
        </p:spPr>
      </p:sp>
      <p:sp>
        <p:nvSpPr>
          <p:cNvPr id="20" name="Text 18"/>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Serialized transaction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194 bytes Bitcoin Core returned.</a:t>
            </a:r>
            <a:endParaRPr lang="en-US" sz="1300" dirty="0"/>
          </a:p>
        </p:txBody>
      </p:sp>
      <p:sp>
        <p:nvSpPr>
          <p:cNvPr id="21" name="Text 19"/>
          <p:cNvSpPr txBox="1"/>
          <p:nvPr/>
        </p:nvSpPr>
        <p:spPr>
          <a:xfrm>
            <a:off x="4828032"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letter flattened into one long strip of tape.</a:t>
            </a:r>
            <a:endParaRPr lang="en-US" sz="1150" dirty="0"/>
          </a:p>
        </p:txBody>
      </p:sp>
      <p:sp>
        <p:nvSpPr>
          <p:cNvPr id="22" name="Text 20"/>
          <p:cNvSpPr txBox="1"/>
          <p:nvPr/>
        </p:nvSpPr>
        <p:spPr>
          <a:xfrm>
            <a:off x="4828032" y="3519526"/>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A Serialized Bitcoin Transaction</a:t>
            </a:r>
            <a:endParaRPr lang="en-US" sz="10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62</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194 bytes, every one named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Alice's transaction, parsed from its hexadecimal text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tx = parse_tx(ALICE)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b="1" dirty="0">
                <a:solidFill>
                  <a:srgbClr val="F2A860"/>
                </a:solidFill>
                <a:latin typeface="Courier New" pitchFamily="34" charset="0"/>
                <a:ea typeface="Courier New" pitchFamily="34" charset="-122"/>
                <a:cs typeface="Courier New" pitchFamily="34" charset="-120"/>
              </a:rPr>
              <a:t>from</a:t>
            </a:r>
            <a:r>
              <a:rPr lang="en-US" sz="1000" dirty="0">
                <a:solidFill>
                  <a:srgbClr val="E6EDF3"/>
                </a:solidFill>
                <a:latin typeface="Courier New" pitchFamily="34" charset="0"/>
                <a:ea typeface="Courier New" pitchFamily="34" charset="-122"/>
                <a:cs typeface="Courier New" pitchFamily="34" charset="-120"/>
              </a:rPr>
              <a:t> collections </a:t>
            </a:r>
            <a:r>
              <a:rPr lang="en-US" sz="1000" b="1" dirty="0">
                <a:solidFill>
                  <a:srgbClr val="F2A860"/>
                </a:solidFill>
                <a:latin typeface="Courier New" pitchFamily="34" charset="0"/>
                <a:ea typeface="Courier New" pitchFamily="34" charset="-122"/>
                <a:cs typeface="Courier New" pitchFamily="34" charset="-120"/>
              </a:rPr>
              <a:t>import</a:t>
            </a:r>
            <a:r>
              <a:rPr lang="en-US" sz="1000" dirty="0">
                <a:solidFill>
                  <a:srgbClr val="E6EDF3"/>
                </a:solidFill>
                <a:latin typeface="Courier New" pitchFamily="34" charset="0"/>
                <a:ea typeface="Courier New" pitchFamily="34" charset="-122"/>
                <a:cs typeface="Courier New" pitchFamily="34" charset="-120"/>
              </a:rPr>
              <a:t> defaultdict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 = defaultdict(int)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p,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tx[</a:t>
            </a:r>
            <a:r>
              <a:rPr lang="en-US" sz="1000" dirty="0">
                <a:solidFill>
                  <a:srgbClr val="9ECBFF"/>
                </a:solidFill>
                <a:latin typeface="Courier New" pitchFamily="34" charset="0"/>
                <a:ea typeface="Courier New" pitchFamily="34" charset="-122"/>
                <a:cs typeface="Courier New" pitchFamily="34" charset="-120"/>
              </a:rPr>
              <a:t>'spans'</a:t>
            </a:r>
            <a:r>
              <a:rPr lang="en-US" sz="1000" dirty="0">
                <a:solidFill>
                  <a:srgbClr val="E6EDF3"/>
                </a:solidFill>
                <a:latin typeface="Courier New" pitchFamily="34" charset="0"/>
                <a:ea typeface="Courier New" pitchFamily="34" charset="-122"/>
                <a:cs typeface="Courier New" pitchFamily="34" charset="-120"/>
              </a:rPr>
              <a:t>]: g[s.split()[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n</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sum(g.values())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194</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library names every field of the transaction and where it sits.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Walk the fields in byte order and add up their lengths, one total per group.</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groups add back to the whole transaction: no byte is left over.</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come from the chapter setup</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bytes per field group (all 194)</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Outputs and the witness take the most bytes; version and lock time take four each.</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byte belongs to a named field, and the fields come in a fixed order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62</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a transaction is: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Extended serialization format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Marker 00, flag 01, witness at the end.</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same letter with a signed slip tucked in at the end.</a:t>
            </a:r>
            <a:endParaRPr lang="en-US" sz="1150" dirty="0"/>
          </a:p>
        </p:txBody>
      </p:sp>
      <p:sp>
        <p:nvSpPr>
          <p:cNvPr id="10" name="Shape 8"/>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1" name="Shape 9"/>
          <p:cNvSpPr/>
          <p:nvPr/>
        </p:nvSpPr>
        <p:spPr>
          <a:xfrm>
            <a:off x="4663440" y="1408176"/>
            <a:ext cx="64008" cy="91805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Legacy serialization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No marker, no flag, no witness.</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plain letter, before the extra slip was invented.</a:t>
            </a:r>
            <a:endParaRPr lang="en-US" sz="1150" dirty="0"/>
          </a:p>
        </p:txBody>
      </p:sp>
      <p:sp>
        <p:nvSpPr>
          <p:cNvPr id="14" name="Shape 12"/>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5" name="Shape 13"/>
          <p:cNvSpPr/>
          <p:nvPr/>
        </p:nvSpPr>
        <p:spPr>
          <a:xfrm>
            <a:off x="475488" y="2710282"/>
            <a:ext cx="64008" cy="918058"/>
          </a:xfrm>
          <a:prstGeom prst="rect">
            <a:avLst/>
          </a:prstGeom>
          <a:solidFill>
            <a:srgbClr val="D97A14"/>
          </a:solidFill>
          <a:ln w="12700">
            <a:solidFill>
              <a:srgbClr val="D97A14"/>
            </a:solidFill>
            <a:prstDash val="solid"/>
          </a:ln>
        </p:spPr>
      </p:sp>
      <p:sp>
        <p:nvSpPr>
          <p:cNvPr id="16" name="Text 14"/>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Partially signed bitcoin transaction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template passed between programs.</a:t>
            </a:r>
            <a:endParaRPr lang="en-US" sz="1300" dirty="0"/>
          </a:p>
        </p:txBody>
      </p:sp>
      <p:sp>
        <p:nvSpPr>
          <p:cNvPr id="17" name="Text 15"/>
          <p:cNvSpPr txBox="1"/>
          <p:nvPr/>
        </p:nvSpPr>
        <p:spPr>
          <a:xfrm>
            <a:off x="640080"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form passed round the office until every signer has signed.</a:t>
            </a:r>
            <a:endParaRPr lang="en-US" sz="1150" dirty="0"/>
          </a:p>
        </p:txBody>
      </p:sp>
      <p:sp>
        <p:nvSpPr>
          <p:cNvPr id="18" name="Text 16"/>
          <p:cNvSpPr txBox="1"/>
          <p:nvPr/>
        </p:nvSpPr>
        <p:spPr>
          <a:xfrm>
            <a:off x="640080" y="3519526"/>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PSBT</a:t>
            </a:r>
            <a:endParaRPr lang="en-US" sz="1000" dirty="0"/>
          </a:p>
        </p:txBody>
      </p:sp>
      <p:sp>
        <p:nvSpPr>
          <p:cNvPr id="19" name="Shape 17"/>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20" name="Shape 18"/>
          <p:cNvSpPr/>
          <p:nvPr/>
        </p:nvSpPr>
        <p:spPr>
          <a:xfrm>
            <a:off x="4663440" y="2710282"/>
            <a:ext cx="64008" cy="918058"/>
          </a:xfrm>
          <a:prstGeom prst="rect">
            <a:avLst/>
          </a:prstGeom>
          <a:solidFill>
            <a:srgbClr val="D97A14"/>
          </a:solidFill>
          <a:ln w="12700">
            <a:solidFill>
              <a:srgbClr val="D97A14"/>
            </a:solidFill>
            <a:prstDash val="solid"/>
          </a:ln>
        </p:spPr>
      </p:sp>
      <p:sp>
        <p:nvSpPr>
          <p:cNvPr id="21" name="Text 19"/>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Byte map</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 field at its offset.</a:t>
            </a:r>
            <a:endParaRPr lang="en-US" sz="1300" dirty="0"/>
          </a:p>
        </p:txBody>
      </p:sp>
      <p:sp>
        <p:nvSpPr>
          <p:cNvPr id="22" name="Text 20"/>
          <p:cNvSpPr txBox="1"/>
          <p:nvPr/>
        </p:nvSpPr>
        <p:spPr>
          <a:xfrm>
            <a:off x="4828032"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floor plan showing which room each byte lives in.</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62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serializations, two identifiers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Extended with the witness, legacy without it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ext = serialize(tx, witness=</a:t>
            </a:r>
            <a:r>
              <a:rPr lang="en-US" sz="1000" b="1" dirty="0">
                <a:solidFill>
                  <a:srgbClr val="F2A860"/>
                </a:solidFill>
                <a:latin typeface="Courier New" pitchFamily="34" charset="0"/>
                <a:ea typeface="Courier New" pitchFamily="34" charset="-122"/>
                <a:cs typeface="Courier New" pitchFamily="34" charset="-120"/>
              </a:rPr>
              <a:t>True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leg = serialize(tx, witness=</a:t>
            </a:r>
            <a:r>
              <a:rPr lang="en-US" sz="1000" b="1" dirty="0">
                <a:solidFill>
                  <a:srgbClr val="F2A860"/>
                </a:solidFill>
                <a:latin typeface="Courier New" pitchFamily="34" charset="0"/>
                <a:ea typeface="Courier New" pitchFamily="34" charset="-122"/>
                <a:cs typeface="Courier New" pitchFamily="34" charset="-120"/>
              </a:rPr>
              <a:t>False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ids = [wtxid(ALICE)[:</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 txid(ALICE)[:</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[len(ext), len(leg)]</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[194, 125]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payment is written twice: once with the witness, once without.</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legacy form is shorter, and each form has its own hash.</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Sizes in bytes: the extended form carries marker, flag and witness.</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two forms of one payment</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777240"/>
                <a:gridCol w="502920"/>
                <a:gridCol w="16916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Form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Hash (16 hex digits)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Extended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194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f7cdbc7cf8b910d3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Legacy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466200308696215b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87121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69 extra bytes are marker, flag and witness. The txid hashes the legacy form; the wtxid hashes the extended one.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txid hashes the legacy bytes only; the wtxid hashes everything</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62</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Ten bitcoins to Hal Finney, block 170</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transaction ever to spend an output</a:t>
            </a:r>
            <a:endParaRPr lang="en-US" sz="1300" dirty="0"/>
          </a:p>
        </p:txBody>
      </p:sp>
      <p:pic>
        <p:nvPicPr>
          <p:cNvPr id="6" name="Image 0" descr="../../03-materials/ch06/assets/photo_hal_finney_1972.jp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Hal Finney, 1972 - Daily News-Post, public domain</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Satoshi Nakamoto sent Hal Finney 10 bitcoins, the first transaction ever to spend an output.</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Finney had started the software the day before and wanted to test the network with a real payment.</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One input points at the coinbase of block 9; two outputs pay 10 BTC to Finney and 40 BTC back.</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Legacy format, no marker, no flag, no witness: every field this chapter reads was already there.</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(sender…</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170 of the block…</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2009-01-12</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Satoshi to Finney, block 170 (tx)</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62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Version, marker and flag</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Version, marker and flag are the edition number and labels on the envelope.</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version field</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Four bytes that say which rule edition applies.</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edition number printed on a form.</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Marker and flag</a:t>
            </a:r>
            <a:endParaRPr lang="en-US" sz="1200" dirty="0"/>
          </a:p>
        </p:txBody>
      </p:sp>
      <p:sp>
        <p:nvSpPr>
          <p:cNvPr id="12" name="Text 10"/>
          <p:cNvSpPr txBox="1"/>
          <p:nvPr/>
        </p:nvSpPr>
        <p:spPr>
          <a:xfrm>
            <a:off x="4800600" y="2487168"/>
            <a:ext cx="3840480" cy="21488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Two bytes that announce the witness format.</a:t>
            </a:r>
            <a:endParaRPr lang="en-US" sz="1150" dirty="0"/>
          </a:p>
        </p:txBody>
      </p:sp>
      <p:sp>
        <p:nvSpPr>
          <p:cNvPr id="13" name="Text 11"/>
          <p:cNvSpPr txBox="1"/>
          <p:nvPr/>
        </p:nvSpPr>
        <p:spPr>
          <a:xfrm>
            <a:off x="4800600" y="2729484"/>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fragile label on a parcel.</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62</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Version, marker and flag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Version 1</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01000000 in the first four bytes.</a:t>
            </a:r>
            <a:endParaRPr lang="en-US" sz="1300" dirty="0"/>
          </a:p>
        </p:txBody>
      </p:sp>
      <p:sp>
        <p:nvSpPr>
          <p:cNvPr id="9" name="Text 7"/>
          <p:cNvSpPr txBox="1"/>
          <p:nvPr/>
        </p:nvSpPr>
        <p:spPr>
          <a:xfrm>
            <a:off x="640080"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edition 1 of a form, still valid in every office.</a:t>
            </a:r>
            <a:endParaRPr lang="en-US" sz="1150" dirty="0"/>
          </a:p>
        </p:txBody>
      </p:sp>
      <p:sp>
        <p:nvSpPr>
          <p:cNvPr id="10" name="Shape 8"/>
          <p:cNvSpPr/>
          <p:nvPr/>
        </p:nvSpPr>
        <p:spPr>
          <a:xfrm>
            <a:off x="3249168" y="1280160"/>
            <a:ext cx="2645664"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3267456"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Version 2 and BIP68</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version that turns sequence into a timelock.</a:t>
            </a:r>
            <a:endParaRPr lang="en-US" sz="1300" dirty="0"/>
          </a:p>
        </p:txBody>
      </p:sp>
      <p:sp>
        <p:nvSpPr>
          <p:cNvPr id="13" name="Text 11"/>
          <p:cNvSpPr txBox="1"/>
          <p:nvPr/>
        </p:nvSpPr>
        <p:spPr>
          <a:xfrm>
            <a:off x="3432048"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edition 2, which adds a waiting-period box to the form.</a:t>
            </a:r>
            <a:endParaRPr lang="en-US" sz="1150" dirty="0"/>
          </a:p>
        </p:txBody>
      </p:sp>
      <p:sp>
        <p:nvSpPr>
          <p:cNvPr id="14" name="Shape 12"/>
          <p:cNvSpPr/>
          <p:nvPr/>
        </p:nvSpPr>
        <p:spPr>
          <a:xfrm>
            <a:off x="6041136" y="1280160"/>
            <a:ext cx="2645664" cy="1339596"/>
          </a:xfrm>
          <a:prstGeom prst="roundRect">
            <a:avLst>
              <a:gd name="adj" fmla="val 5461"/>
            </a:avLst>
          </a:prstGeom>
          <a:solidFill>
            <a:srgbClr val="F2ECE1"/>
          </a:solidFill>
          <a:ln w="12700">
            <a:solidFill>
              <a:srgbClr val="DFD6C7"/>
            </a:solidFill>
            <a:prstDash val="solid"/>
          </a:ln>
        </p:spPr>
      </p:sp>
      <p:sp>
        <p:nvSpPr>
          <p:cNvPr id="15" name="Shape 13"/>
          <p:cNvSpPr/>
          <p:nvPr/>
        </p:nvSpPr>
        <p:spPr>
          <a:xfrm>
            <a:off x="6059424" y="1408176"/>
            <a:ext cx="64008" cy="1083564"/>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version 3 proposal</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policy, not a consensus change.</a:t>
            </a:r>
            <a:endParaRPr lang="en-US" sz="1300" dirty="0"/>
          </a:p>
        </p:txBody>
      </p:sp>
      <p:sp>
        <p:nvSpPr>
          <p:cNvPr id="17" name="Text 15"/>
          <p:cNvSpPr txBox="1"/>
          <p:nvPr/>
        </p:nvSpPr>
        <p:spPr>
          <a:xfrm>
            <a:off x="6224016"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draft edition that offices may choose to accept.</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62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first six bytes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Version, marker and flag in Alice's transaction</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raw = bytes.fromhex(ALICE)</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version = int.from_bytes(raw[</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'little'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marker, flag = raw[</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raw[</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head = raw[:</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head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'010000000001'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Raw bytes let us address single bytes of the transaction.</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version takes four bytes, least significant byte first.</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Marker zero and flag one announce that a witness follows.</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first six bytes, read</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05840"/>
                <a:gridCol w="914400"/>
                <a:gridCol w="10515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Field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01000000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version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marker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flag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zero where a count is expected tells a node that the extended format, with a witness, follows.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zero marker where an input count would be tells old and new nodes apart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62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Version, marker and flag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685239"/>
          </a:xfrm>
          <a:prstGeom prst="roundRect">
            <a:avLst>
              <a:gd name="adj" fmla="val 4341"/>
            </a:avLst>
          </a:prstGeom>
          <a:solidFill>
            <a:srgbClr val="F2ECE1"/>
          </a:solidFill>
          <a:ln w="12700">
            <a:solidFill>
              <a:srgbClr val="DFD6C7"/>
            </a:solidFill>
            <a:prstDash val="solid"/>
          </a:ln>
        </p:spPr>
      </p:sp>
      <p:sp>
        <p:nvSpPr>
          <p:cNvPr id="7" name="Shape 5"/>
          <p:cNvSpPr/>
          <p:nvPr/>
        </p:nvSpPr>
        <p:spPr>
          <a:xfrm>
            <a:off x="475488" y="1408176"/>
            <a:ext cx="64008" cy="1429207"/>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Presigned transactions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Signed now, broadcast years later.</a:t>
            </a:r>
            <a:endParaRPr lang="en-US" sz="1300" dirty="0"/>
          </a:p>
        </p:txBody>
      </p:sp>
      <p:sp>
        <p:nvSpPr>
          <p:cNvPr id="9" name="Text 7"/>
          <p:cNvSpPr txBox="1"/>
          <p:nvPr/>
        </p:nvSpPr>
        <p:spPr>
          <a:xfrm>
            <a:off x="640080"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post-dated cheque kept in a drawer.</a:t>
            </a:r>
            <a:endParaRPr lang="en-US" sz="1150" dirty="0"/>
          </a:p>
        </p:txBody>
      </p:sp>
      <p:sp>
        <p:nvSpPr>
          <p:cNvPr id="10" name="Shape 8"/>
          <p:cNvSpPr/>
          <p:nvPr/>
        </p:nvSpPr>
        <p:spPr>
          <a:xfrm>
            <a:off x="3249168" y="1280160"/>
            <a:ext cx="2645664" cy="1685239"/>
          </a:xfrm>
          <a:prstGeom prst="roundRect">
            <a:avLst>
              <a:gd name="adj" fmla="val 4341"/>
            </a:avLst>
          </a:prstGeom>
          <a:solidFill>
            <a:srgbClr val="F2ECE1"/>
          </a:solidFill>
          <a:ln w="12700">
            <a:solidFill>
              <a:srgbClr val="DFD6C7"/>
            </a:solidFill>
            <a:prstDash val="solid"/>
          </a:ln>
        </p:spPr>
      </p:sp>
      <p:sp>
        <p:nvSpPr>
          <p:cNvPr id="11" name="Shape 9"/>
          <p:cNvSpPr/>
          <p:nvPr/>
        </p:nvSpPr>
        <p:spPr>
          <a:xfrm>
            <a:off x="3267456" y="1408176"/>
            <a:ext cx="64008" cy="1429207"/>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Marker byte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zero where a count cannot be zero.</a:t>
            </a:r>
            <a:endParaRPr lang="en-US" sz="1300" dirty="0"/>
          </a:p>
        </p:txBody>
      </p:sp>
      <p:sp>
        <p:nvSpPr>
          <p:cNvPr id="13" name="Text 11"/>
          <p:cNvSpPr txBox="1"/>
          <p:nvPr/>
        </p:nvSpPr>
        <p:spPr>
          <a:xfrm>
            <a:off x="3432048"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sticker on a parcel saying special contents inside.</a:t>
            </a:r>
            <a:endParaRPr lang="en-US" sz="1150" dirty="0"/>
          </a:p>
        </p:txBody>
      </p:sp>
      <p:sp>
        <p:nvSpPr>
          <p:cNvPr id="14" name="Text 12"/>
          <p:cNvSpPr txBox="1"/>
          <p:nvPr/>
        </p:nvSpPr>
        <p:spPr>
          <a:xfrm>
            <a:off x="3432048" y="2574036"/>
            <a:ext cx="2371344" cy="346558"/>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Extended Marker and Flag</a:t>
            </a:r>
            <a:endParaRPr lang="en-US" sz="1000" dirty="0"/>
          </a:p>
        </p:txBody>
      </p:sp>
      <p:sp>
        <p:nvSpPr>
          <p:cNvPr id="15" name="Shape 13"/>
          <p:cNvSpPr/>
          <p:nvPr/>
        </p:nvSpPr>
        <p:spPr>
          <a:xfrm>
            <a:off x="6041136" y="1280160"/>
            <a:ext cx="2645664" cy="1685239"/>
          </a:xfrm>
          <a:prstGeom prst="roundRect">
            <a:avLst>
              <a:gd name="adj" fmla="val 4341"/>
            </a:avLst>
          </a:prstGeom>
          <a:solidFill>
            <a:srgbClr val="F2ECE1"/>
          </a:solidFill>
          <a:ln w="12700">
            <a:solidFill>
              <a:srgbClr val="DFD6C7"/>
            </a:solidFill>
            <a:prstDash val="solid"/>
          </a:ln>
        </p:spPr>
      </p:sp>
      <p:sp>
        <p:nvSpPr>
          <p:cNvPr id="16" name="Shape 14"/>
          <p:cNvSpPr/>
          <p:nvPr/>
        </p:nvSpPr>
        <p:spPr>
          <a:xfrm>
            <a:off x="6059424" y="1408176"/>
            <a:ext cx="64008" cy="1429207"/>
          </a:xfrm>
          <a:prstGeom prst="rect">
            <a:avLst/>
          </a:prstGeom>
          <a:solidFill>
            <a:srgbClr val="D97A14"/>
          </a:solidFill>
          <a:ln w="12700">
            <a:solidFill>
              <a:srgbClr val="D97A14"/>
            </a:solidFill>
            <a:prstDash val="solid"/>
          </a:ln>
        </p:spPr>
      </p:sp>
      <p:sp>
        <p:nvSpPr>
          <p:cNvPr id="17" name="Text 15"/>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Flag byte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with other values reserved.</a:t>
            </a:r>
            <a:endParaRPr lang="en-US" sz="1300" dirty="0"/>
          </a:p>
        </p:txBody>
      </p:sp>
      <p:sp>
        <p:nvSpPr>
          <p:cNvPr id="18" name="Text 16"/>
          <p:cNvSpPr txBox="1"/>
          <p:nvPr/>
        </p:nvSpPr>
        <p:spPr>
          <a:xfrm>
            <a:off x="6224016"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second sticker that names the kind of extras.</a:t>
            </a:r>
            <a:endParaRPr lang="en-US" sz="115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62</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Inputs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Inputs are the banknotes you hand over, each named by its address.</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The input list</a:t>
            </a:r>
            <a:endParaRPr lang="en-US" sz="1100" dirty="0"/>
          </a:p>
        </p:txBody>
      </p:sp>
      <p:sp>
        <p:nvSpPr>
          <p:cNvPr id="8" name="Text 6"/>
          <p:cNvSpPr txBox="1"/>
          <p:nvPr/>
        </p:nvSpPr>
        <p:spPr>
          <a:xfrm>
            <a:off x="777240" y="2487168"/>
            <a:ext cx="1828800" cy="377647"/>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The list of coins this transaction spends.</a:t>
            </a:r>
            <a:endParaRPr lang="en-US" sz="1100" dirty="0"/>
          </a:p>
        </p:txBody>
      </p:sp>
      <p:sp>
        <p:nvSpPr>
          <p:cNvPr id="9" name="Text 7"/>
          <p:cNvSpPr txBox="1"/>
          <p:nvPr/>
        </p:nvSpPr>
        <p:spPr>
          <a:xfrm>
            <a:off x="777240" y="2892247"/>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receipt listing the notes you hand over.</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The outpoint</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The address of one coin: a transaction and an output number.</a:t>
            </a:r>
            <a:endParaRPr lang="en-US" sz="1100" dirty="0"/>
          </a:p>
        </p:txBody>
      </p:sp>
      <p:sp>
        <p:nvSpPr>
          <p:cNvPr id="13" name="Text 11"/>
          <p:cNvSpPr txBox="1"/>
          <p:nvPr/>
        </p:nvSpPr>
        <p:spPr>
          <a:xfrm>
            <a:off x="278892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street address with building and flat.</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Byte order</a:t>
            </a:r>
            <a:endParaRPr lang="en-US" sz="1100" dirty="0"/>
          </a:p>
        </p:txBody>
      </p:sp>
      <p:sp>
        <p:nvSpPr>
          <p:cNvPr id="16" name="Text 14"/>
          <p:cNvSpPr txBox="1"/>
          <p:nvPr/>
        </p:nvSpPr>
        <p:spPr>
          <a:xfrm>
            <a:off x="480060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The same 32 bytes can be read in two directions.</a:t>
            </a:r>
            <a:endParaRPr lang="en-US" sz="1100" dirty="0"/>
          </a:p>
        </p:txBody>
      </p:sp>
      <p:sp>
        <p:nvSpPr>
          <p:cNvPr id="17" name="Text 15"/>
          <p:cNvSpPr txBox="1"/>
          <p:nvPr/>
        </p:nvSpPr>
        <p:spPr>
          <a:xfrm>
            <a:off x="480060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book you can read from the front or the back.</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The input script</a:t>
            </a:r>
            <a:endParaRPr lang="en-US" sz="1100" dirty="0"/>
          </a:p>
        </p:txBody>
      </p:sp>
      <p:sp>
        <p:nvSpPr>
          <p:cNvPr id="20" name="Text 18"/>
          <p:cNvSpPr txBox="1"/>
          <p:nvPr/>
        </p:nvSpPr>
        <p:spPr>
          <a:xfrm>
            <a:off x="6812280" y="2487168"/>
            <a:ext cx="1828800" cy="377647"/>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The slot where legacy inputs put their proof.</a:t>
            </a:r>
            <a:endParaRPr lang="en-US" sz="1100" dirty="0"/>
          </a:p>
        </p:txBody>
      </p:sp>
      <p:sp>
        <p:nvSpPr>
          <p:cNvPr id="21" name="Text 19"/>
          <p:cNvSpPr txBox="1"/>
          <p:nvPr/>
        </p:nvSpPr>
        <p:spPr>
          <a:xfrm>
            <a:off x="6812280" y="2892247"/>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keyhole that legacy inputs fill with the key.</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62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Inputs: concepts (1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Input count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At least one, in practice a few thousand.</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counting how many cheques are stapled to a payment.</a:t>
            </a:r>
            <a:endParaRPr lang="en-US" sz="1150" dirty="0"/>
          </a:p>
        </p:txBody>
      </p:sp>
      <p:sp>
        <p:nvSpPr>
          <p:cNvPr id="10" name="Text 8"/>
          <p:cNvSpPr txBox="1"/>
          <p:nvPr/>
        </p:nvSpPr>
        <p:spPr>
          <a:xfrm>
            <a:off x="640080" y="2217420"/>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Length of Transaction Input List</a:t>
            </a:r>
            <a:endParaRPr lang="en-US" sz="1000" dirty="0"/>
          </a:p>
        </p:txBody>
      </p:sp>
      <p:sp>
        <p:nvSpPr>
          <p:cNvPr id="11" name="Shape 9"/>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2" name="Shape 10"/>
          <p:cNvSpPr/>
          <p:nvPr/>
        </p:nvSpPr>
        <p:spPr>
          <a:xfrm>
            <a:off x="4663440" y="1408176"/>
            <a:ext cx="64008" cy="918058"/>
          </a:xfrm>
          <a:prstGeom prst="rect">
            <a:avLst/>
          </a:prstGeom>
          <a:solidFill>
            <a:srgbClr val="D97A14"/>
          </a:solidFill>
          <a:ln w="12700">
            <a:solidFill>
              <a:srgbClr val="D97A14"/>
            </a:solidFill>
            <a:prstDash val="solid"/>
          </a:ln>
        </p:spPr>
      </p:sp>
      <p:sp>
        <p:nvSpPr>
          <p:cNvPr id="13" name="Text 11"/>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CompactSize unsigned integer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1, 3, 5 or 9 bytes, by value.</a:t>
            </a:r>
            <a:endParaRPr lang="en-US" sz="1300" dirty="0"/>
          </a:p>
        </p:txBody>
      </p:sp>
      <p:sp>
        <p:nvSpPr>
          <p:cNvPr id="14" name="Text 12"/>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ticket machine: small numbers get short tickets.</a:t>
            </a:r>
            <a:endParaRPr lang="en-US" sz="1150" dirty="0"/>
          </a:p>
        </p:txBody>
      </p:sp>
      <p:sp>
        <p:nvSpPr>
          <p:cNvPr id="15" name="Shape 13"/>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6" name="Shape 14"/>
          <p:cNvSpPr/>
          <p:nvPr/>
        </p:nvSpPr>
        <p:spPr>
          <a:xfrm>
            <a:off x="475488" y="2710282"/>
            <a:ext cx="64008" cy="918058"/>
          </a:xfrm>
          <a:prstGeom prst="rect">
            <a:avLst/>
          </a:prstGeom>
          <a:solidFill>
            <a:srgbClr val="D97A14"/>
          </a:solidFill>
          <a:ln w="12700">
            <a:solidFill>
              <a:srgbClr val="D97A14"/>
            </a:solidFill>
            <a:prstDash val="solid"/>
          </a:ln>
        </p:spPr>
      </p:sp>
      <p:sp>
        <p:nvSpPr>
          <p:cNvPr id="17" name="Text 15"/>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Other variable-length integers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Three encodings, one name that is safe.</a:t>
            </a:r>
            <a:endParaRPr lang="en-US" sz="1300" dirty="0"/>
          </a:p>
        </p:txBody>
      </p:sp>
      <p:sp>
        <p:nvSpPr>
          <p:cNvPr id="18" name="Text 16"/>
          <p:cNvSpPr txBox="1"/>
          <p:nvPr/>
        </p:nvSpPr>
        <p:spPr>
          <a:xfrm>
            <a:off x="640080"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three kinds of ticket sold under one name.</a:t>
            </a:r>
            <a:endParaRPr lang="en-US" sz="1150" dirty="0"/>
          </a:p>
        </p:txBody>
      </p:sp>
      <p:sp>
        <p:nvSpPr>
          <p:cNvPr id="19" name="Shape 17"/>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20" name="Shape 18"/>
          <p:cNvSpPr/>
          <p:nvPr/>
        </p:nvSpPr>
        <p:spPr>
          <a:xfrm>
            <a:off x="4663440" y="2710282"/>
            <a:ext cx="64008" cy="918058"/>
          </a:xfrm>
          <a:prstGeom prst="rect">
            <a:avLst/>
          </a:prstGeom>
          <a:solidFill>
            <a:srgbClr val="D97A14"/>
          </a:solidFill>
          <a:ln w="12700">
            <a:solidFill>
              <a:srgbClr val="D97A14"/>
            </a:solidFill>
            <a:prstDash val="solid"/>
          </a:ln>
        </p:spPr>
      </p:sp>
      <p:sp>
        <p:nvSpPr>
          <p:cNvPr id="21" name="Text 19"/>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Outpoint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36 bytes: a txid and an index.</a:t>
            </a:r>
            <a:endParaRPr lang="en-US" sz="1300" dirty="0"/>
          </a:p>
        </p:txBody>
      </p:sp>
      <p:sp>
        <p:nvSpPr>
          <p:cNvPr id="22" name="Text 20"/>
          <p:cNvSpPr txBox="1"/>
          <p:nvPr/>
        </p:nvSpPr>
        <p:spPr>
          <a:xfrm>
            <a:off x="4828032"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street address: building number plus flat number.</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62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CompactSize: counting in few bytes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bytes a count takes grow with the count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values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252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253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65535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65536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[len(cs_encode(n))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values]</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prefix = [cs_encode(n)[:</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].hex()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values]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 1, 3, 3, 5, 9]</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Six counts, chosen at the edges where the encoding changes length.</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Encode each count as a transaction does, and measure the bytes it takes.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first byte of each encoding: fd, fe or ff announce a longer number.</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bytes taken by each count</a:t>
            </a:r>
            <a:endParaRPr lang="en-US" sz="1100" dirty="0"/>
          </a:p>
        </p:txBody>
      </p:sp>
      <p:graphicFrame>
        <p:nvGraphicFramePr>
          <p:cNvPr id="23" name="Chart 0" descr=""/>
          <p:cNvGraphicFramePr/>
          <p:nvPr/>
        </p:nvGraphicFramePr>
        <p:xfrm>
          <a:off x="5715000" y="159105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First bytes written: 01 fc fd fd fe ff. The values fd, fe and ff announce longer numbers.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Small counts cost one byte; the first byte warns when a longer number follows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62</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Inputs: concepts (2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3550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previous transaction's identifier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first 32 bytes of an outpoint.</a:t>
            </a:r>
            <a:endParaRPr lang="en-US" sz="1300" dirty="0"/>
          </a:p>
        </p:txBody>
      </p:sp>
      <p:sp>
        <p:nvSpPr>
          <p:cNvPr id="9" name="Text 7"/>
          <p:cNvSpPr txBox="1"/>
          <p:nvPr/>
        </p:nvSpPr>
        <p:spPr>
          <a:xfrm>
            <a:off x="640080" y="200710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building number in that address.</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Output index</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Four bytes counting from zero.</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flat number inside the building, counted from zero.</a:t>
            </a:r>
            <a:endParaRPr lang="en-US" sz="1150" dirty="0"/>
          </a:p>
        </p:txBody>
      </p:sp>
      <p:sp>
        <p:nvSpPr>
          <p:cNvPr id="14" name="Shape 12"/>
          <p:cNvSpPr/>
          <p:nvPr/>
        </p:nvSpPr>
        <p:spPr>
          <a:xfrm>
            <a:off x="457200" y="2505456"/>
            <a:ext cx="4041648" cy="1097280"/>
          </a:xfrm>
          <a:prstGeom prst="roundRect">
            <a:avLst>
              <a:gd name="adj" fmla="val 6667"/>
            </a:avLst>
          </a:prstGeom>
          <a:solidFill>
            <a:srgbClr val="F2ECE1"/>
          </a:solidFill>
          <a:ln w="12700">
            <a:solidFill>
              <a:srgbClr val="DFD6C7"/>
            </a:solidFill>
            <a:prstDash val="solid"/>
          </a:ln>
        </p:spPr>
      </p:sp>
      <p:sp>
        <p:nvSpPr>
          <p:cNvPr id="15" name="Shape 13"/>
          <p:cNvSpPr/>
          <p:nvPr/>
        </p:nvSpPr>
        <p:spPr>
          <a:xfrm>
            <a:off x="475488" y="2633472"/>
            <a:ext cx="64008" cy="841248"/>
          </a:xfrm>
          <a:prstGeom prst="rect">
            <a:avLst/>
          </a:prstGeom>
          <a:solidFill>
            <a:srgbClr val="D97A14"/>
          </a:solidFill>
          <a:ln w="12700">
            <a:solidFill>
              <a:srgbClr val="D97A14"/>
            </a:solidFill>
            <a:prstDash val="solid"/>
          </a:ln>
        </p:spPr>
      </p:sp>
      <p:sp>
        <p:nvSpPr>
          <p:cNvPr id="16" name="Text 14"/>
          <p:cNvSpPr txBox="1"/>
          <p:nvPr/>
        </p:nvSpPr>
        <p:spPr>
          <a:xfrm>
            <a:off x="640080"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rule against double spending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 output is spent at most once.</a:t>
            </a:r>
            <a:endParaRPr lang="en-US" sz="1300" dirty="0"/>
          </a:p>
        </p:txBody>
      </p:sp>
      <p:sp>
        <p:nvSpPr>
          <p:cNvPr id="17" name="Text 15"/>
          <p:cNvSpPr txBox="1"/>
          <p:nvPr/>
        </p:nvSpPr>
        <p:spPr>
          <a:xfrm>
            <a:off x="640080"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banknote that can be handed over only once.</a:t>
            </a:r>
            <a:endParaRPr lang="en-US" sz="1150" dirty="0"/>
          </a:p>
        </p:txBody>
      </p:sp>
      <p:sp>
        <p:nvSpPr>
          <p:cNvPr id="18" name="Shape 16"/>
          <p:cNvSpPr/>
          <p:nvPr/>
        </p:nvSpPr>
        <p:spPr>
          <a:xfrm>
            <a:off x="4645152" y="2505456"/>
            <a:ext cx="4041648" cy="1097280"/>
          </a:xfrm>
          <a:prstGeom prst="roundRect">
            <a:avLst>
              <a:gd name="adj" fmla="val 6667"/>
            </a:avLst>
          </a:prstGeom>
          <a:solidFill>
            <a:srgbClr val="F2ECE1"/>
          </a:solidFill>
          <a:ln w="12700">
            <a:solidFill>
              <a:srgbClr val="DFD6C7"/>
            </a:solidFill>
            <a:prstDash val="solid"/>
          </a:ln>
        </p:spPr>
      </p:sp>
      <p:sp>
        <p:nvSpPr>
          <p:cNvPr id="19" name="Shape 17"/>
          <p:cNvSpPr/>
          <p:nvPr/>
        </p:nvSpPr>
        <p:spPr>
          <a:xfrm>
            <a:off x="4663440" y="2633472"/>
            <a:ext cx="64008" cy="841248"/>
          </a:xfrm>
          <a:prstGeom prst="rect">
            <a:avLst/>
          </a:prstGeom>
          <a:solidFill>
            <a:srgbClr val="D97A14"/>
          </a:solidFill>
          <a:ln w="12700">
            <a:solidFill>
              <a:srgbClr val="D97A14"/>
            </a:solidFill>
            <a:prstDash val="solid"/>
          </a:ln>
        </p:spPr>
      </p:sp>
      <p:sp>
        <p:nvSpPr>
          <p:cNvPr id="20" name="Text 18"/>
          <p:cNvSpPr txBox="1"/>
          <p:nvPr/>
        </p:nvSpPr>
        <p:spPr>
          <a:xfrm>
            <a:off x="4828032"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Conflicting transactions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Same outpoint, two spenders.</a:t>
            </a:r>
            <a:endParaRPr lang="en-US" sz="1300" dirty="0"/>
          </a:p>
        </p:txBody>
      </p:sp>
      <p:sp>
        <p:nvSpPr>
          <p:cNvPr id="21" name="Text 19"/>
          <p:cNvSpPr txBox="1"/>
          <p:nvPr/>
        </p:nvSpPr>
        <p:spPr>
          <a:xfrm>
            <a:off x="4828032"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cheques written against the same banknote.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62</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outpoint, read both ways round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Which coin an input spends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i0 = tx[</a:t>
            </a:r>
            <a:r>
              <a:rPr lang="en-US" sz="1000" dirty="0">
                <a:solidFill>
                  <a:srgbClr val="9ECBFF"/>
                </a:solidFill>
                <a:latin typeface="Courier New" pitchFamily="34" charset="0"/>
                <a:ea typeface="Courier New" pitchFamily="34" charset="-122"/>
                <a:cs typeface="Courier New" pitchFamily="34" charset="-120"/>
              </a:rPr>
              <a:t>'inputs'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stored = i0[</a:t>
            </a:r>
            <a:r>
              <a:rPr lang="en-US" sz="1000" dirty="0">
                <a:solidFill>
                  <a:srgbClr val="9ECBFF"/>
                </a:solidFill>
                <a:latin typeface="Courier New" pitchFamily="34" charset="0"/>
                <a:ea typeface="Courier New" pitchFamily="34" charset="-122"/>
                <a:cs typeface="Courier New" pitchFamily="34" charset="-120"/>
              </a:rPr>
              <a:t>'txid_internal'</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shown = internal_to_display(stored)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back = display_to_internal(shown)</a:t>
            </a:r>
            <a:endParaRPr lang="en-US" sz="1000" dirty="0"/>
          </a:p>
        </p:txBody>
      </p:sp>
      <p:sp>
        <p:nvSpPr>
          <p:cNvPr id="10" name="Shape 8"/>
          <p:cNvSpPr/>
          <p:nvPr/>
        </p:nvSpPr>
        <p:spPr>
          <a:xfrm>
            <a:off x="457200" y="3247949"/>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1101"/>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check = back == stored </a:t>
            </a:r>
            <a:r>
              <a:rPr lang="en-US" sz="1000" b="1" dirty="0">
                <a:solidFill>
                  <a:srgbClr val="F2A860"/>
                </a:solidFill>
                <a:latin typeface="Courier New" pitchFamily="34" charset="0"/>
                <a:ea typeface="Courier New" pitchFamily="34" charset="-122"/>
                <a:cs typeface="Courier New" pitchFamily="34" charset="-120"/>
              </a:rPr>
              <a:t>and</a:t>
            </a:r>
            <a:r>
              <a:rPr lang="en-US" sz="1000" dirty="0">
                <a:solidFill>
                  <a:srgbClr val="E6EDF3"/>
                </a:solidFill>
                <a:latin typeface="Courier New" pitchFamily="34" charset="0"/>
                <a:ea typeface="Courier New" pitchFamily="34" charset="-122"/>
                <a:cs typeface="Courier New" pitchFamily="34" charset="-120"/>
              </a:rPr>
              <a:t> shown == txid(PREV)</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check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 input names a coin: the txid of an earlier transaction and an output number.</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Explorers print the same 32 bytes in reverse order, and reversing twice restores them.</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printed form equals the earlier transaction's txid; the index says which output.</a:t>
            </a:r>
            <a:endParaRPr lang="en-US" sz="1050" dirty="0"/>
          </a:p>
        </p:txBody>
      </p:sp>
      <p:sp>
        <p:nvSpPr>
          <p:cNvPr id="21" name="Text 19"/>
          <p:cNvSpPr txBox="1"/>
          <p:nvPr/>
        </p:nvSpPr>
        <p:spPr>
          <a:xfrm>
            <a:off x="457200" y="433791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outpoint, read both ways</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508760"/>
                <a:gridCol w="14630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Form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First 16 hex digits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Stored in the input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eb3ae38f27191aa5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Printed by explorers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4ac5418026798669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Reversing back restores it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Input 0 spends output 1 of the earlier transaction. The stored and printed forms are mirror images.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input states no amount; it names a coin by transaction and output number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62</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Inputs: concepts (3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UTXO database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Remove what is spent, add what is created.</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drawer holding only the banknotes nobody has spent.</a:t>
            </a:r>
            <a:endParaRPr lang="en-US" sz="1150" dirty="0"/>
          </a:p>
        </p:txBody>
      </p:sp>
      <p:sp>
        <p:nvSpPr>
          <p:cNvPr id="10" name="Text 8"/>
          <p:cNvSpPr txBox="1"/>
          <p:nvPr/>
        </p:nvSpPr>
        <p:spPr>
          <a:xfrm>
            <a:off x="640080" y="2217420"/>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Utreexo</a:t>
            </a:r>
            <a:endParaRPr lang="en-US" sz="1000" dirty="0"/>
          </a:p>
        </p:txBody>
      </p:sp>
      <p:sp>
        <p:nvSpPr>
          <p:cNvPr id="11" name="Shape 9"/>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2" name="Shape 10"/>
          <p:cNvSpPr/>
          <p:nvPr/>
        </p:nvSpPr>
        <p:spPr>
          <a:xfrm>
            <a:off x="4663440" y="1408176"/>
            <a:ext cx="64008" cy="918058"/>
          </a:xfrm>
          <a:prstGeom prst="rect">
            <a:avLst/>
          </a:prstGeom>
          <a:solidFill>
            <a:srgbClr val="D97A14"/>
          </a:solidFill>
          <a:ln w="12700">
            <a:solidFill>
              <a:srgbClr val="D97A14"/>
            </a:solidFill>
            <a:prstDash val="solid"/>
          </a:ln>
        </p:spPr>
      </p:sp>
      <p:sp>
        <p:nvSpPr>
          <p:cNvPr id="13" name="Text 11"/>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Digest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32 bytes that identify a transaction.</a:t>
            </a:r>
            <a:endParaRPr lang="en-US" sz="1300" dirty="0"/>
          </a:p>
        </p:txBody>
      </p:sp>
      <p:sp>
        <p:nvSpPr>
          <p:cNvPr id="14" name="Text 12"/>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fingerprint taken from a whole document.</a:t>
            </a:r>
            <a:endParaRPr lang="en-US" sz="1150" dirty="0"/>
          </a:p>
        </p:txBody>
      </p:sp>
      <p:sp>
        <p:nvSpPr>
          <p:cNvPr id="15" name="Shape 13"/>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6" name="Shape 14"/>
          <p:cNvSpPr/>
          <p:nvPr/>
        </p:nvSpPr>
        <p:spPr>
          <a:xfrm>
            <a:off x="475488" y="2710282"/>
            <a:ext cx="64008" cy="918058"/>
          </a:xfrm>
          <a:prstGeom prst="rect">
            <a:avLst/>
          </a:prstGeom>
          <a:solidFill>
            <a:srgbClr val="D97A14"/>
          </a:solidFill>
          <a:ln w="12700">
            <a:solidFill>
              <a:srgbClr val="D97A14"/>
            </a:solidFill>
            <a:prstDash val="solid"/>
          </a:ln>
        </p:spPr>
      </p:sp>
      <p:sp>
        <p:nvSpPr>
          <p:cNvPr id="17" name="Text 15"/>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Internal byte order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order inside the bytes.</a:t>
            </a:r>
            <a:endParaRPr lang="en-US" sz="1300" dirty="0"/>
          </a:p>
        </p:txBody>
      </p:sp>
      <p:sp>
        <p:nvSpPr>
          <p:cNvPr id="18" name="Text 16"/>
          <p:cNvSpPr txBox="1"/>
          <p:nvPr/>
        </p:nvSpPr>
        <p:spPr>
          <a:xfrm>
            <a:off x="640080"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reading a phone number from its last digit.</a:t>
            </a:r>
            <a:endParaRPr lang="en-US" sz="1150" dirty="0"/>
          </a:p>
        </p:txBody>
      </p:sp>
      <p:sp>
        <p:nvSpPr>
          <p:cNvPr id="19" name="Shape 17"/>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20" name="Shape 18"/>
          <p:cNvSpPr/>
          <p:nvPr/>
        </p:nvSpPr>
        <p:spPr>
          <a:xfrm>
            <a:off x="4663440" y="2710282"/>
            <a:ext cx="64008" cy="918058"/>
          </a:xfrm>
          <a:prstGeom prst="rect">
            <a:avLst/>
          </a:prstGeom>
          <a:solidFill>
            <a:srgbClr val="D97A14"/>
          </a:solidFill>
          <a:ln w="12700">
            <a:solidFill>
              <a:srgbClr val="D97A14"/>
            </a:solidFill>
            <a:prstDash val="solid"/>
          </a:ln>
        </p:spPr>
      </p:sp>
      <p:sp>
        <p:nvSpPr>
          <p:cNvPr id="21" name="Text 19"/>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Display byte order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order on the screen.</a:t>
            </a:r>
            <a:endParaRPr lang="en-US" sz="1300" dirty="0"/>
          </a:p>
        </p:txBody>
      </p:sp>
      <p:sp>
        <p:nvSpPr>
          <p:cNvPr id="22" name="Text 20"/>
          <p:cNvSpPr txBox="1"/>
          <p:nvPr/>
        </p:nvSpPr>
        <p:spPr>
          <a:xfrm>
            <a:off x="4828032"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reading the phone number the usual way round.</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62</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spend updates the UTXO set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Remove what is spent, add what is created</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prev = PREV_REC[</a:t>
            </a:r>
            <a:r>
              <a:rPr lang="en-US" sz="1000" dirty="0">
                <a:solidFill>
                  <a:srgbClr val="9ECBFF"/>
                </a:solidFill>
                <a:latin typeface="Courier New" pitchFamily="34" charset="0"/>
                <a:ea typeface="Courier New" pitchFamily="34" charset="-122"/>
                <a:cs typeface="Courier New" pitchFamily="34" charset="-120"/>
              </a:rPr>
              <a:t>'vout'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utxo = {(txid(PREV),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prev[</a:t>
            </a:r>
            <a:r>
              <a:rPr lang="en-US" sz="1000" dirty="0">
                <a:solidFill>
                  <a:srgbClr val="9ECBFF"/>
                </a:solidFill>
                <a:latin typeface="Courier New" pitchFamily="34" charset="0"/>
                <a:ea typeface="Courier New" pitchFamily="34" charset="-122"/>
                <a:cs typeface="Courier New" pitchFamily="34" charset="-120"/>
              </a:rPr>
              <a:t>'value'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before = sorted(utxo.values())</a:t>
            </a:r>
            <a:endParaRPr lang="en-US" sz="1000" dirty="0"/>
          </a:p>
        </p:txBody>
      </p:sp>
      <p:sp>
        <p:nvSpPr>
          <p:cNvPr id="8" name="Shape 6"/>
          <p:cNvSpPr/>
          <p:nvPr/>
        </p:nvSpPr>
        <p:spPr>
          <a:xfrm>
            <a:off x="457200" y="2287829"/>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981"/>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tx[</a:t>
            </a:r>
            <a:r>
              <a:rPr lang="en-US" sz="1000" dirty="0">
                <a:solidFill>
                  <a:srgbClr val="9ECBFF"/>
                </a:solidFill>
                <a:latin typeface="Courier New" pitchFamily="34" charset="0"/>
                <a:ea typeface="Courier New" pitchFamily="34" charset="-122"/>
                <a:cs typeface="Courier New" pitchFamily="34" charset="-120"/>
              </a:rPr>
              <a:t>'inputs'</a:t>
            </a:r>
            <a:r>
              <a:rPr lang="en-US" sz="1000" dirty="0">
                <a:solidFill>
                  <a:srgbClr val="E6EDF3"/>
                </a:solidFill>
                <a:latin typeface="Courier New" pitchFamily="34" charset="0"/>
                <a:ea typeface="Courier New" pitchFamily="34" charset="-122"/>
                <a:cs typeface="Courier New" pitchFamily="34" charset="-120"/>
              </a:rPr>
              <a:t>]: del utxo[(i[</a:t>
            </a:r>
            <a:r>
              <a:rPr lang="en-US" sz="1000" dirty="0">
                <a:solidFill>
                  <a:srgbClr val="9ECBFF"/>
                </a:solidFill>
                <a:latin typeface="Courier New" pitchFamily="34" charset="0"/>
                <a:ea typeface="Courier New" pitchFamily="34" charset="-122"/>
                <a:cs typeface="Courier New" pitchFamily="34" charset="-120"/>
              </a:rPr>
              <a:t>'txid'</a:t>
            </a:r>
            <a:r>
              <a:rPr lang="en-US" sz="1000" dirty="0">
                <a:solidFill>
                  <a:srgbClr val="E6EDF3"/>
                </a:solidFill>
                <a:latin typeface="Courier New" pitchFamily="34" charset="0"/>
                <a:ea typeface="Courier New" pitchFamily="34" charset="-122"/>
                <a:cs typeface="Courier New" pitchFamily="34" charset="-120"/>
              </a:rPr>
              <a:t>], i[</a:t>
            </a:r>
            <a:r>
              <a:rPr lang="en-US" sz="1000" dirty="0">
                <a:solidFill>
                  <a:srgbClr val="9ECBFF"/>
                </a:solidFill>
                <a:latin typeface="Courier New" pitchFamily="34" charset="0"/>
                <a:ea typeface="Courier New" pitchFamily="34" charset="-122"/>
                <a:cs typeface="Courier New" pitchFamily="34" charset="-120"/>
              </a:rPr>
              <a:t>'vout'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outs = txid(ALICE), tx[</a:t>
            </a:r>
            <a:r>
              <a:rPr lang="en-US" sz="1000" dirty="0">
                <a:solidFill>
                  <a:srgbClr val="9ECBFF"/>
                </a:solidFill>
                <a:latin typeface="Courier New" pitchFamily="34" charset="0"/>
                <a:ea typeface="Courier New" pitchFamily="34" charset="-122"/>
                <a:cs typeface="Courier New" pitchFamily="34" charset="-120"/>
              </a:rPr>
              <a:t>'outputs'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utxo |= {(t, n): o[</a:t>
            </a:r>
            <a:r>
              <a:rPr lang="en-US" sz="1000" dirty="0">
                <a:solidFill>
                  <a:srgbClr val="9ECBFF"/>
                </a:solidFill>
                <a:latin typeface="Courier New" pitchFamily="34" charset="0"/>
                <a:ea typeface="Courier New" pitchFamily="34" charset="-122"/>
                <a:cs typeface="Courier New" pitchFamily="34" charset="-120"/>
              </a:rPr>
              <a:t>'value'</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o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enumerate(outs)}</a:t>
            </a:r>
            <a:endParaRPr lang="en-US" sz="1000" dirty="0"/>
          </a:p>
        </p:txBody>
      </p:sp>
      <p:sp>
        <p:nvSpPr>
          <p:cNvPr id="10" name="Shape 8"/>
          <p:cNvSpPr/>
          <p:nvPr/>
        </p:nvSpPr>
        <p:spPr>
          <a:xfrm>
            <a:off x="457200" y="3249778"/>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2930"/>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 = sum(before) - sum(utxo.values())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Before the payment the set holds the one coin Alice spends.</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95717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input removes the coin it names; each output adds a new coin.</a:t>
            </a:r>
            <a:endParaRPr lang="en-US" sz="1050" dirty="0"/>
          </a:p>
        </p:txBody>
      </p:sp>
      <p:sp>
        <p:nvSpPr>
          <p:cNvPr id="18" name="Shape 16"/>
          <p:cNvSpPr/>
          <p:nvPr/>
        </p:nvSpPr>
        <p:spPr>
          <a:xfrm>
            <a:off x="365760" y="3176626"/>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662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911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What is left over is the fee; no field of the transaction states it.</a:t>
            </a:r>
            <a:endParaRPr lang="en-US" sz="1050" dirty="0"/>
          </a:p>
        </p:txBody>
      </p:sp>
      <p:sp>
        <p:nvSpPr>
          <p:cNvPr id="21" name="Text 19"/>
          <p:cNvSpPr txBox="1"/>
          <p:nvPr/>
        </p:nvSpPr>
        <p:spPr>
          <a:xfrm>
            <a:off x="457200" y="417515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set of unspent outputs</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914400"/>
                <a:gridCol w="548640"/>
                <a:gridCol w="15087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Coins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Satoshis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Before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After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20,000 + 75,000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Left over: fee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fee of 5,000 satoshis is no field; it is 100,000 minus 95,000.</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Nodes keep only unspent outputs; the fee is whatever is left over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62</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10,000 bitcoins for two pizzas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most famous purchase ever made with bitcoin</a:t>
            </a:r>
            <a:endParaRPr lang="en-US" sz="1300" dirty="0"/>
          </a:p>
        </p:txBody>
      </p:sp>
      <p:pic>
        <p:nvPicPr>
          <p:cNvPr id="6" name="Image 0" descr="../../03-materials/ch06/assets/photo_papa_johns_jacksonville.jp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Papa John's plaque - Sanjev Rajaram, CC0</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Laszlo Hanyecz paid 10,000 bitcoins for two pizzas that a forum user ordered for him.</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He wanted to show that bitcoin could buy something real; his forum offer began four days earlier.</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payment confirmed in block 57,043: 131 inputs, one output of 10,000 BTC, a fee of 0.99 BTC.</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A wallet that gathered many 50 BTC rewards must list every one of them as an input.</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Laszlo Hanyecz, programm…</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 Papa John's on Atlan…</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2010-05-22</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bitcointalk.org</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62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Inputs: concepts (4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Input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107 bytes for a legacy spend, 0 for segwit.</a:t>
            </a:r>
            <a:endParaRPr lang="en-US" sz="1300" dirty="0"/>
          </a:p>
        </p:txBody>
      </p:sp>
      <p:sp>
        <p:nvSpPr>
          <p:cNvPr id="9" name="Text 7"/>
          <p:cNvSpPr txBox="1"/>
          <p:nvPr/>
        </p:nvSpPr>
        <p:spPr>
          <a:xfrm>
            <a:off x="640080"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key you hand over at the door.</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 length prefix</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0x6b says 107 bytes follow.</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label on a box saying how many items it holds.</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62</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sequence field</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sequence field is a booth ticket whose meaning changed three times.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Sequence replacement</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first use of the field: replace an unfinished transaction.</a:t>
            </a:r>
            <a:endParaRPr lang="en-US" sz="1150" dirty="0"/>
          </a:p>
        </p:txBody>
      </p:sp>
      <p:sp>
        <p:nvSpPr>
          <p:cNvPr id="9" name="Text 7"/>
          <p:cNvSpPr txBox="1"/>
          <p:nvPr/>
        </p:nvSpPr>
        <p:spPr>
          <a:xfrm>
            <a:off x="777240" y="3086100"/>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order slip you can reissue until the kitchen closes.</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Opt-in replace-by-fee</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later transaction that pays more replaces an earlier one.</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outbidding someone at an auction.</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Relative timelock</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coin that cannot be spent until some time after it arrived.</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gift card that activates a week after purchase.</a:t>
            </a:r>
            <a:endParaRPr lang="en-US" sz="11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Inputs: sequence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62</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sequence field: concepts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29538"/>
          </a:xfrm>
          <a:prstGeom prst="roundRect">
            <a:avLst>
              <a:gd name="adj" fmla="val 5502"/>
            </a:avLst>
          </a:prstGeom>
          <a:solidFill>
            <a:srgbClr val="F2ECE1"/>
          </a:solidFill>
          <a:ln w="12700">
            <a:solidFill>
              <a:srgbClr val="DFD6C7"/>
            </a:solidFill>
            <a:prstDash val="solid"/>
          </a:ln>
        </p:spPr>
      </p:sp>
      <p:sp>
        <p:nvSpPr>
          <p:cNvPr id="7" name="Shape 5"/>
          <p:cNvSpPr/>
          <p:nvPr/>
        </p:nvSpPr>
        <p:spPr>
          <a:xfrm>
            <a:off x="475488" y="1408176"/>
            <a:ext cx="64008" cy="107350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Sequence number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last four bytes of an input.</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counter on a ticket that the booth can reissue.</a:t>
            </a:r>
            <a:endParaRPr lang="en-US" sz="1150" dirty="0"/>
          </a:p>
        </p:txBody>
      </p:sp>
      <p:sp>
        <p:nvSpPr>
          <p:cNvPr id="10" name="Shape 8"/>
          <p:cNvSpPr/>
          <p:nvPr/>
        </p:nvSpPr>
        <p:spPr>
          <a:xfrm>
            <a:off x="4645152" y="1280160"/>
            <a:ext cx="4041648" cy="1329538"/>
          </a:xfrm>
          <a:prstGeom prst="roundRect">
            <a:avLst>
              <a:gd name="adj" fmla="val 5502"/>
            </a:avLst>
          </a:prstGeom>
          <a:solidFill>
            <a:srgbClr val="F2ECE1"/>
          </a:solidFill>
          <a:ln w="12700">
            <a:solidFill>
              <a:srgbClr val="DFD6C7"/>
            </a:solidFill>
            <a:prstDash val="solid"/>
          </a:ln>
        </p:spPr>
      </p:sp>
      <p:sp>
        <p:nvSpPr>
          <p:cNvPr id="11" name="Shape 9"/>
          <p:cNvSpPr/>
          <p:nvPr/>
        </p:nvSpPr>
        <p:spPr>
          <a:xfrm>
            <a:off x="4663440" y="1408176"/>
            <a:ext cx="64008" cy="107350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Setup and refund transactions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deposit that needs both signatures.</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locked deposit box that needs two keys.</a:t>
            </a:r>
            <a:endParaRPr lang="en-US" sz="1150" dirty="0"/>
          </a:p>
        </p:txBody>
      </p:sp>
      <p:sp>
        <p:nvSpPr>
          <p:cNvPr id="14" name="Text 12"/>
          <p:cNvSpPr txBox="1"/>
          <p:nvPr/>
        </p:nvSpPr>
        <p:spPr>
          <a:xfrm>
            <a:off x="4828032" y="2217420"/>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setup transaction</a:t>
            </a:r>
            <a:endParaRPr lang="en-US" sz="1000" dirty="0"/>
          </a:p>
        </p:txBody>
      </p:sp>
      <p:sp>
        <p:nvSpPr>
          <p:cNvPr id="15" name="Shape 13"/>
          <p:cNvSpPr/>
          <p:nvPr/>
        </p:nvSpPr>
        <p:spPr>
          <a:xfrm>
            <a:off x="457200" y="2737714"/>
            <a:ext cx="4041648" cy="1329538"/>
          </a:xfrm>
          <a:prstGeom prst="roundRect">
            <a:avLst>
              <a:gd name="adj" fmla="val 5502"/>
            </a:avLst>
          </a:prstGeom>
          <a:solidFill>
            <a:srgbClr val="F2ECE1"/>
          </a:solidFill>
          <a:ln w="12700">
            <a:solidFill>
              <a:srgbClr val="DFD6C7"/>
            </a:solidFill>
            <a:prstDash val="solid"/>
          </a:ln>
        </p:spPr>
      </p:sp>
      <p:sp>
        <p:nvSpPr>
          <p:cNvPr id="16" name="Shape 14"/>
          <p:cNvSpPr/>
          <p:nvPr/>
        </p:nvSpPr>
        <p:spPr>
          <a:xfrm>
            <a:off x="475488" y="2865730"/>
            <a:ext cx="64008" cy="1073506"/>
          </a:xfrm>
          <a:prstGeom prst="rect">
            <a:avLst/>
          </a:prstGeom>
          <a:solidFill>
            <a:srgbClr val="D97A14"/>
          </a:solidFill>
          <a:ln w="12700">
            <a:solidFill>
              <a:srgbClr val="D97A14"/>
            </a:solidFill>
            <a:prstDash val="solid"/>
          </a:ln>
        </p:spPr>
      </p:sp>
      <p:sp>
        <p:nvSpPr>
          <p:cNvPr id="17" name="Text 15"/>
          <p:cNvSpPr txBox="1"/>
          <p:nvPr/>
        </p:nvSpPr>
        <p:spPr>
          <a:xfrm>
            <a:off x="640080" y="280172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Payment channel</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Many versions, one broadcast.</a:t>
            </a:r>
            <a:endParaRPr lang="en-US" sz="1300" dirty="0"/>
          </a:p>
        </p:txBody>
      </p:sp>
      <p:sp>
        <p:nvSpPr>
          <p:cNvPr id="18" name="Text 16"/>
          <p:cNvSpPr txBox="1"/>
          <p:nvPr/>
        </p:nvSpPr>
        <p:spPr>
          <a:xfrm>
            <a:off x="640080" y="326349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bar tab: many orders, one bill at the end.</a:t>
            </a:r>
            <a:endParaRPr lang="en-US" sz="1150" dirty="0"/>
          </a:p>
        </p:txBody>
      </p:sp>
      <p:sp>
        <p:nvSpPr>
          <p:cNvPr id="19" name="Text 17"/>
          <p:cNvSpPr txBox="1"/>
          <p:nvPr/>
        </p:nvSpPr>
        <p:spPr>
          <a:xfrm>
            <a:off x="640080" y="3674974"/>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high-frequency transactions</a:t>
            </a:r>
            <a:endParaRPr lang="en-US" sz="1000" dirty="0"/>
          </a:p>
        </p:txBody>
      </p:sp>
      <p:sp>
        <p:nvSpPr>
          <p:cNvPr id="20" name="Shape 18"/>
          <p:cNvSpPr/>
          <p:nvPr/>
        </p:nvSpPr>
        <p:spPr>
          <a:xfrm>
            <a:off x="4645152" y="2737714"/>
            <a:ext cx="4041648" cy="1329538"/>
          </a:xfrm>
          <a:prstGeom prst="roundRect">
            <a:avLst>
              <a:gd name="adj" fmla="val 5502"/>
            </a:avLst>
          </a:prstGeom>
          <a:solidFill>
            <a:srgbClr val="F2ECE1"/>
          </a:solidFill>
          <a:ln w="12700">
            <a:solidFill>
              <a:srgbClr val="DFD6C7"/>
            </a:solidFill>
            <a:prstDash val="solid"/>
          </a:ln>
        </p:spPr>
      </p:sp>
      <p:sp>
        <p:nvSpPr>
          <p:cNvPr id="21" name="Shape 19"/>
          <p:cNvSpPr/>
          <p:nvPr/>
        </p:nvSpPr>
        <p:spPr>
          <a:xfrm>
            <a:off x="4663440" y="2865730"/>
            <a:ext cx="64008" cy="1073506"/>
          </a:xfrm>
          <a:prstGeom prst="rect">
            <a:avLst/>
          </a:prstGeom>
          <a:solidFill>
            <a:srgbClr val="D97A14"/>
          </a:solidFill>
          <a:ln w="12700">
            <a:solidFill>
              <a:srgbClr val="D97A14"/>
            </a:solidFill>
            <a:prstDash val="solid"/>
          </a:ln>
        </p:spPr>
      </p:sp>
      <p:sp>
        <p:nvSpPr>
          <p:cNvPr id="22" name="Text 20"/>
          <p:cNvSpPr txBox="1"/>
          <p:nvPr/>
        </p:nvSpPr>
        <p:spPr>
          <a:xfrm>
            <a:off x="4828032" y="280172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replacement bandwidth attack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20 KB in, 10 GB out, every minute.</a:t>
            </a:r>
            <a:endParaRPr lang="en-US" sz="1300" dirty="0"/>
          </a:p>
        </p:txBody>
      </p:sp>
      <p:sp>
        <p:nvSpPr>
          <p:cNvPr id="23" name="Text 21"/>
          <p:cNvSpPr txBox="1"/>
          <p:nvPr/>
        </p:nvSpPr>
        <p:spPr>
          <a:xfrm>
            <a:off x="4828032" y="326349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refiling the same form again and again to clog the office.</a:t>
            </a:r>
            <a:endParaRPr lang="en-US" sz="1150" dirty="0"/>
          </a:p>
        </p:txBody>
      </p:sp>
      <p:sp>
        <p:nvSpPr>
          <p:cNvPr id="24" name="Text 22"/>
          <p:cNvSpPr txBox="1"/>
          <p:nvPr/>
        </p:nvSpPr>
        <p:spPr>
          <a:xfrm>
            <a:off x="4828032" y="3674974"/>
            <a:ext cx="3767328" cy="346558"/>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Original sequence-based transaction replacement</a:t>
            </a:r>
            <a:endParaRPr lang="en-US" sz="10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62</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Four sequence values, three meanings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Final, replaceable, and a relative timelock</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seqs = (0xffffffff, 0xfffffffe, 0xfffffffd, </a:t>
            </a:r>
            <a:r>
              <a:rPr lang="en-US" sz="1000" dirty="0">
                <a:solidFill>
                  <a:srgbClr val="FFD28A"/>
                </a:solidFill>
                <a:latin typeface="Courier New" pitchFamily="34" charset="0"/>
                <a:ea typeface="Courier New" pitchFamily="34" charset="-122"/>
                <a:cs typeface="Courier New" pitchFamily="34" charset="-120"/>
              </a:rPr>
              <a:t>30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ds = [sequence_decode(s)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seqs]</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keys = (</a:t>
            </a:r>
            <a:r>
              <a:rPr lang="en-US" sz="1000" dirty="0">
                <a:solidFill>
                  <a:srgbClr val="9ECBFF"/>
                </a:solidFill>
                <a:latin typeface="Courier New" pitchFamily="34" charset="0"/>
                <a:ea typeface="Courier New" pitchFamily="34" charset="-122"/>
                <a:cs typeface="Courier New" pitchFamily="34" charset="-120"/>
              </a:rPr>
              <a:t>'hex'</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'rbf_signal'</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'relative_timelock'</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rows = [tuple(d[k]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keys)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d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ds]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rows[</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('0x0000001e', True, ('blocks', 30))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Four typical values: final, almost final, replaceable, and thirty blocks.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decoder applies BIP68 and BIP125, which reused the same field.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row shows the replace signal and the relative timelock.</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values decoded</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97280"/>
                <a:gridCol w="914400"/>
                <a:gridCol w="9601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Sequence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Replaceable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Timelock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0xffffffff</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0xfffffffe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0xfffffffd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0x0000001e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30 blocks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first two are final or almost final; the third signals replacement; only the last carries a timelock.</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 31 of the sequence field is the security bit of this chapter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62</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sequence field: concepts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29538"/>
          </a:xfrm>
          <a:prstGeom prst="roundRect">
            <a:avLst>
              <a:gd name="adj" fmla="val 5502"/>
            </a:avLst>
          </a:prstGeom>
          <a:solidFill>
            <a:srgbClr val="F2ECE1"/>
          </a:solidFill>
          <a:ln w="12700">
            <a:solidFill>
              <a:srgbClr val="DFD6C7"/>
            </a:solidFill>
            <a:prstDash val="solid"/>
          </a:ln>
        </p:spPr>
      </p:sp>
      <p:sp>
        <p:nvSpPr>
          <p:cNvPr id="7" name="Shape 5"/>
          <p:cNvSpPr/>
          <p:nvPr/>
        </p:nvSpPr>
        <p:spPr>
          <a:xfrm>
            <a:off x="475488" y="1408176"/>
            <a:ext cx="64008" cy="107350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Opt-in replace-by-fee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higher fee rate replaces a lower one.</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form that says I may be replaced by a better-paid one.</a:t>
            </a:r>
            <a:endParaRPr lang="en-US" sz="1150" dirty="0"/>
          </a:p>
        </p:txBody>
      </p:sp>
      <p:sp>
        <p:nvSpPr>
          <p:cNvPr id="10" name="Shape 8"/>
          <p:cNvSpPr/>
          <p:nvPr/>
        </p:nvSpPr>
        <p:spPr>
          <a:xfrm>
            <a:off x="4645152" y="1280160"/>
            <a:ext cx="4041648" cy="1329538"/>
          </a:xfrm>
          <a:prstGeom prst="roundRect">
            <a:avLst>
              <a:gd name="adj" fmla="val 5502"/>
            </a:avLst>
          </a:prstGeom>
          <a:solidFill>
            <a:srgbClr val="F2ECE1"/>
          </a:solidFill>
          <a:ln w="12700">
            <a:solidFill>
              <a:srgbClr val="DFD6C7"/>
            </a:solidFill>
            <a:prstDash val="solid"/>
          </a:ln>
        </p:spPr>
      </p:sp>
      <p:sp>
        <p:nvSpPr>
          <p:cNvPr id="11" name="Shape 9"/>
          <p:cNvSpPr/>
          <p:nvPr/>
        </p:nvSpPr>
        <p:spPr>
          <a:xfrm>
            <a:off x="4663440" y="1408176"/>
            <a:ext cx="64008" cy="107350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BIP125 signal</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Below 0xfffffffe means replaceable.</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tick box marked amendable on the form.</a:t>
            </a:r>
            <a:endParaRPr lang="en-US" sz="1150" dirty="0"/>
          </a:p>
        </p:txBody>
      </p:sp>
      <p:sp>
        <p:nvSpPr>
          <p:cNvPr id="14" name="Text 12"/>
          <p:cNvSpPr txBox="1"/>
          <p:nvPr/>
        </p:nvSpPr>
        <p:spPr>
          <a:xfrm>
            <a:off x="4828032" y="2217420"/>
            <a:ext cx="3767328" cy="346558"/>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Opt-in transaction replacement signaling</a:t>
            </a:r>
            <a:endParaRPr lang="en-US" sz="1000" dirty="0"/>
          </a:p>
        </p:txBody>
      </p:sp>
      <p:sp>
        <p:nvSpPr>
          <p:cNvPr id="15" name="Shape 13"/>
          <p:cNvSpPr/>
          <p:nvPr/>
        </p:nvSpPr>
        <p:spPr>
          <a:xfrm>
            <a:off x="457200" y="2737714"/>
            <a:ext cx="4041648" cy="1329538"/>
          </a:xfrm>
          <a:prstGeom prst="roundRect">
            <a:avLst>
              <a:gd name="adj" fmla="val 5502"/>
            </a:avLst>
          </a:prstGeom>
          <a:solidFill>
            <a:srgbClr val="F2ECE1"/>
          </a:solidFill>
          <a:ln w="12700">
            <a:solidFill>
              <a:srgbClr val="DFD6C7"/>
            </a:solidFill>
            <a:prstDash val="solid"/>
          </a:ln>
        </p:spPr>
      </p:sp>
      <p:sp>
        <p:nvSpPr>
          <p:cNvPr id="16" name="Shape 14"/>
          <p:cNvSpPr/>
          <p:nvPr/>
        </p:nvSpPr>
        <p:spPr>
          <a:xfrm>
            <a:off x="475488" y="2865730"/>
            <a:ext cx="64008" cy="1073506"/>
          </a:xfrm>
          <a:prstGeom prst="rect">
            <a:avLst/>
          </a:prstGeom>
          <a:solidFill>
            <a:srgbClr val="D97A14"/>
          </a:solidFill>
          <a:ln w="12700">
            <a:solidFill>
              <a:srgbClr val="D97A14"/>
            </a:solidFill>
            <a:prstDash val="solid"/>
          </a:ln>
        </p:spPr>
      </p:sp>
      <p:sp>
        <p:nvSpPr>
          <p:cNvPr id="17" name="Text 15"/>
          <p:cNvSpPr txBox="1"/>
          <p:nvPr/>
        </p:nvSpPr>
        <p:spPr>
          <a:xfrm>
            <a:off x="640080" y="280172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BIP68 relative timelock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30 blocks: confirm 29 blocks after the output.</a:t>
            </a:r>
            <a:endParaRPr lang="en-US" sz="1300" dirty="0"/>
          </a:p>
        </p:txBody>
      </p:sp>
      <p:sp>
        <p:nvSpPr>
          <p:cNvPr id="18" name="Text 16"/>
          <p:cNvSpPr txBox="1"/>
          <p:nvPr/>
        </p:nvSpPr>
        <p:spPr>
          <a:xfrm>
            <a:off x="640080" y="326349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coupon valid only some days after purchase.</a:t>
            </a:r>
            <a:endParaRPr lang="en-US" sz="1150" dirty="0"/>
          </a:p>
        </p:txBody>
      </p:sp>
      <p:sp>
        <p:nvSpPr>
          <p:cNvPr id="19" name="Text 17"/>
          <p:cNvSpPr txBox="1"/>
          <p:nvPr/>
        </p:nvSpPr>
        <p:spPr>
          <a:xfrm>
            <a:off x="640080" y="3674974"/>
            <a:ext cx="3767328" cy="346558"/>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Sequence as a consensus-enforced relative timelock</a:t>
            </a:r>
            <a:endParaRPr lang="en-US" sz="1000" dirty="0"/>
          </a:p>
        </p:txBody>
      </p:sp>
      <p:sp>
        <p:nvSpPr>
          <p:cNvPr id="20" name="Shape 18"/>
          <p:cNvSpPr/>
          <p:nvPr/>
        </p:nvSpPr>
        <p:spPr>
          <a:xfrm>
            <a:off x="4645152" y="2737714"/>
            <a:ext cx="4041648" cy="1329538"/>
          </a:xfrm>
          <a:prstGeom prst="roundRect">
            <a:avLst>
              <a:gd name="adj" fmla="val 5502"/>
            </a:avLst>
          </a:prstGeom>
          <a:solidFill>
            <a:srgbClr val="F2ECE1"/>
          </a:solidFill>
          <a:ln w="12700">
            <a:solidFill>
              <a:srgbClr val="DFD6C7"/>
            </a:solidFill>
            <a:prstDash val="solid"/>
          </a:ln>
        </p:spPr>
      </p:sp>
      <p:sp>
        <p:nvSpPr>
          <p:cNvPr id="21" name="Shape 19"/>
          <p:cNvSpPr/>
          <p:nvPr/>
        </p:nvSpPr>
        <p:spPr>
          <a:xfrm>
            <a:off x="4663440" y="2865730"/>
            <a:ext cx="64008" cy="1073506"/>
          </a:xfrm>
          <a:prstGeom prst="rect">
            <a:avLst/>
          </a:prstGeom>
          <a:solidFill>
            <a:srgbClr val="D97A14"/>
          </a:solidFill>
          <a:ln w="12700">
            <a:solidFill>
              <a:srgbClr val="D97A14"/>
            </a:solidFill>
            <a:prstDash val="solid"/>
          </a:ln>
        </p:spPr>
      </p:sp>
      <p:sp>
        <p:nvSpPr>
          <p:cNvPr id="22" name="Text 20"/>
          <p:cNvSpPr txBox="1"/>
          <p:nvPr/>
        </p:nvSpPr>
        <p:spPr>
          <a:xfrm>
            <a:off x="4828032" y="280172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type flag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Bit 22 chooses blocks or 512-second units.</a:t>
            </a:r>
            <a:endParaRPr lang="en-US" sz="1300" dirty="0"/>
          </a:p>
        </p:txBody>
      </p:sp>
      <p:sp>
        <p:nvSpPr>
          <p:cNvPr id="23" name="Text 21"/>
          <p:cNvSpPr txBox="1"/>
          <p:nvPr/>
        </p:nvSpPr>
        <p:spPr>
          <a:xfrm>
            <a:off x="4828032" y="326349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switch choosing between counting turns and counting minutes.</a:t>
            </a:r>
            <a:endParaRPr lang="en-US" sz="11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62</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BIP68: an hour as a sequence number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the 32 bits of the field are divided</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sequence_for(seconds=</a:t>
            </a:r>
            <a:r>
              <a:rPr lang="en-US" sz="1000" dirty="0">
                <a:solidFill>
                  <a:srgbClr val="FFD28A"/>
                </a:solidFill>
                <a:latin typeface="Courier New" pitchFamily="34" charset="0"/>
                <a:ea typeface="Courier New" pitchFamily="34" charset="-122"/>
                <a:cs typeface="Courier New" pitchFamily="34" charset="-120"/>
              </a:rPr>
              <a:t>3600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rt = sequence_decode(s)[</a:t>
            </a:r>
            <a:r>
              <a:rPr lang="en-US" sz="1000" dirty="0">
                <a:solidFill>
                  <a:srgbClr val="9ECBFF"/>
                </a:solidFill>
                <a:latin typeface="Courier New" pitchFamily="34" charset="0"/>
                <a:ea typeface="Courier New" pitchFamily="34" charset="-122"/>
                <a:cs typeface="Courier New" pitchFamily="34" charset="-120"/>
              </a:rPr>
              <a:t>'relative_timelock'</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first = earliest_block(</a:t>
            </a:r>
            <a:r>
              <a:rPr lang="en-US" sz="1000" dirty="0">
                <a:solidFill>
                  <a:srgbClr val="FFD28A"/>
                </a:solidFill>
                <a:latin typeface="Courier New" pitchFamily="34" charset="0"/>
                <a:ea typeface="Courier New" pitchFamily="34" charset="-122"/>
                <a:cs typeface="Courier New" pitchFamily="34" charset="-120"/>
              </a:rPr>
              <a:t>774958</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991917"/>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dis = hex(SEQUENCE_LOCKTIME_DISABLE_FLAG)</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typ = hex(SEQUENCE_LOCKTIME_TYPE_FLAG)</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msk = hex(SEQUENCE_LOCKTIME_MASK)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first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774988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hour is counted in units of 512 seconds, with the type flag set.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Thirty blocks after a coin confirmed at 774,958 is the earliest spend.</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masks split the 32 bits into two flags and a 16-bit value.</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sequence values and BIP68 masks</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68680"/>
                <a:gridCol w="21031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hour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0x400008 = 4,096 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Earliest block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774,988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Masks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0x80000000, 0x400000, 0xffff</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An hour rounds up to eight units of 512 seconds, which is 4,096 seconds.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Disable flag, type flag and a 16-bit value share one field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62</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sequence field: concepts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disable flag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Bit 31 switches the timelock off.</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off switch that makes the coupon valid at once.</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16-bit mask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65,535 blocks or units, about a year.</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counter with room for only 65,535 ticks.</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62</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Outputs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Outputs are the lines of a till receipt: an amount and who may collect it.</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output list</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list of new coins the transaction creates.</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change a till hands back.</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Dust policy</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Rules that keep tiny coins from clogging everyone's database.</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bank that refuses to count single cents.</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output script</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lock that decides who may spend the new coin.</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lock fitted to a new deposit box.</a:t>
            </a:r>
            <a:endParaRPr lang="en-US" sz="11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62</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Outputs: concepts (1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Output count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Two outputs: a payment and change.</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how many envelopes of money leave the till.</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Amount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8 bytes, little-endian, in satoshis.</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sum on a cheque, written in the smallest coins.</a:t>
            </a:r>
            <a:endParaRPr lang="en-US" sz="1150" dirty="0"/>
          </a:p>
        </p:txBody>
      </p:sp>
      <p:sp>
        <p:nvSpPr>
          <p:cNvPr id="14" name="Shape 12"/>
          <p:cNvSpPr/>
          <p:nvPr/>
        </p:nvSpPr>
        <p:spPr>
          <a:xfrm>
            <a:off x="457200" y="2505456"/>
            <a:ext cx="4041648" cy="1097280"/>
          </a:xfrm>
          <a:prstGeom prst="roundRect">
            <a:avLst>
              <a:gd name="adj" fmla="val 6667"/>
            </a:avLst>
          </a:prstGeom>
          <a:solidFill>
            <a:srgbClr val="F2ECE1"/>
          </a:solidFill>
          <a:ln w="12700">
            <a:solidFill>
              <a:srgbClr val="DFD6C7"/>
            </a:solidFill>
            <a:prstDash val="solid"/>
          </a:ln>
        </p:spPr>
      </p:sp>
      <p:sp>
        <p:nvSpPr>
          <p:cNvPr id="15" name="Shape 13"/>
          <p:cNvSpPr/>
          <p:nvPr/>
        </p:nvSpPr>
        <p:spPr>
          <a:xfrm>
            <a:off x="475488" y="2633472"/>
            <a:ext cx="64008" cy="841248"/>
          </a:xfrm>
          <a:prstGeom prst="rect">
            <a:avLst/>
          </a:prstGeom>
          <a:solidFill>
            <a:srgbClr val="D97A14"/>
          </a:solidFill>
          <a:ln w="12700">
            <a:solidFill>
              <a:srgbClr val="D97A14"/>
            </a:solidFill>
            <a:prstDash val="solid"/>
          </a:ln>
        </p:spPr>
      </p:sp>
      <p:sp>
        <p:nvSpPr>
          <p:cNvPr id="16" name="Text 14"/>
          <p:cNvSpPr txBox="1"/>
          <p:nvPr/>
        </p:nvSpPr>
        <p:spPr>
          <a:xfrm>
            <a:off x="640080"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Satoshi</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100 million to a bitcoin.</a:t>
            </a:r>
            <a:endParaRPr lang="en-US" sz="1300" dirty="0"/>
          </a:p>
        </p:txBody>
      </p:sp>
      <p:sp>
        <p:nvSpPr>
          <p:cNvPr id="17" name="Text 15"/>
          <p:cNvSpPr txBox="1"/>
          <p:nvPr/>
        </p:nvSpPr>
        <p:spPr>
          <a:xfrm>
            <a:off x="640080"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cent that is a hundred-millionth of the whole note.</a:t>
            </a:r>
            <a:endParaRPr lang="en-US" sz="1150" dirty="0"/>
          </a:p>
        </p:txBody>
      </p:sp>
      <p:sp>
        <p:nvSpPr>
          <p:cNvPr id="18" name="Shape 16"/>
          <p:cNvSpPr/>
          <p:nvPr/>
        </p:nvSpPr>
        <p:spPr>
          <a:xfrm>
            <a:off x="4645152" y="2505456"/>
            <a:ext cx="4041648" cy="1097280"/>
          </a:xfrm>
          <a:prstGeom prst="roundRect">
            <a:avLst>
              <a:gd name="adj" fmla="val 6667"/>
            </a:avLst>
          </a:prstGeom>
          <a:solidFill>
            <a:srgbClr val="F2ECE1"/>
          </a:solidFill>
          <a:ln w="12700">
            <a:solidFill>
              <a:srgbClr val="DFD6C7"/>
            </a:solidFill>
            <a:prstDash val="solid"/>
          </a:ln>
        </p:spPr>
      </p:sp>
      <p:sp>
        <p:nvSpPr>
          <p:cNvPr id="19" name="Shape 17"/>
          <p:cNvSpPr/>
          <p:nvPr/>
        </p:nvSpPr>
        <p:spPr>
          <a:xfrm>
            <a:off x="4663440" y="2633472"/>
            <a:ext cx="64008" cy="841248"/>
          </a:xfrm>
          <a:prstGeom prst="rect">
            <a:avLst/>
          </a:prstGeom>
          <a:solidFill>
            <a:srgbClr val="D97A14"/>
          </a:solidFill>
          <a:ln w="12700">
            <a:solidFill>
              <a:srgbClr val="D97A14"/>
            </a:solidFill>
            <a:prstDash val="solid"/>
          </a:ln>
        </p:spPr>
      </p:sp>
      <p:sp>
        <p:nvSpPr>
          <p:cNvPr id="20" name="Text 18"/>
          <p:cNvSpPr txBox="1"/>
          <p:nvPr/>
        </p:nvSpPr>
        <p:spPr>
          <a:xfrm>
            <a:off x="4828032"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consensus range of an amount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From 0 to 2.1 quadrillion.</a:t>
            </a:r>
            <a:endParaRPr lang="en-US" sz="1300" dirty="0"/>
          </a:p>
        </p:txBody>
      </p:sp>
      <p:sp>
        <p:nvSpPr>
          <p:cNvPr id="21" name="Text 19"/>
          <p:cNvSpPr txBox="1"/>
          <p:nvPr/>
        </p:nvSpPr>
        <p:spPr>
          <a:xfrm>
            <a:off x="4828032"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cheque form that cannot print negative or absurd sums.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62</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Amounts, change and the fee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 output is an amount and a condition</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paid = [o[</a:t>
            </a:r>
            <a:r>
              <a:rPr lang="en-US" sz="1000" dirty="0">
                <a:solidFill>
                  <a:srgbClr val="9ECBFF"/>
                </a:solidFill>
                <a:latin typeface="Courier New" pitchFamily="34" charset="0"/>
                <a:ea typeface="Courier New" pitchFamily="34" charset="-122"/>
                <a:cs typeface="Courier New" pitchFamily="34" charset="-120"/>
              </a:rPr>
              <a:t>'value'</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o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tx[</a:t>
            </a:r>
            <a:r>
              <a:rPr lang="en-US" sz="1000" dirty="0">
                <a:solidFill>
                  <a:srgbClr val="9ECBFF"/>
                </a:solidFill>
                <a:latin typeface="Courier New" pitchFamily="34" charset="0"/>
                <a:ea typeface="Courier New" pitchFamily="34" charset="-122"/>
                <a:cs typeface="Courier New" pitchFamily="34" charset="-120"/>
              </a:rPr>
              <a:t>'outputs'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funds = PREV_REC[</a:t>
            </a:r>
            <a:r>
              <a:rPr lang="en-US" sz="1000" dirty="0">
                <a:solidFill>
                  <a:srgbClr val="9ECBFF"/>
                </a:solidFill>
                <a:latin typeface="Courier New" pitchFamily="34" charset="0"/>
                <a:ea typeface="Courier New" pitchFamily="34" charset="-122"/>
                <a:cs typeface="Courier New" pitchFamily="34" charset="-120"/>
              </a:rPr>
              <a:t>'vout'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'value'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 = funds - sum(paid)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parts = paid + [fee]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output states an amount, in satoshis, the smallest unit.</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input states no amount; it is read from the coin that is spent.</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fee is only a difference between inputs and outputs.</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satoshis in each output, and the fee</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spent coin held 100,000 satoshis; the outputs take 95,000 and the remaining 5,000 is the fee.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field holds a balance or a fee; both are differences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62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Outputs: concepts (2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29538"/>
          </a:xfrm>
          <a:prstGeom prst="roundRect">
            <a:avLst>
              <a:gd name="adj" fmla="val 5502"/>
            </a:avLst>
          </a:prstGeom>
          <a:solidFill>
            <a:srgbClr val="F2ECE1"/>
          </a:solidFill>
          <a:ln w="12700">
            <a:solidFill>
              <a:srgbClr val="DFD6C7"/>
            </a:solidFill>
            <a:prstDash val="solid"/>
          </a:ln>
        </p:spPr>
      </p:sp>
      <p:sp>
        <p:nvSpPr>
          <p:cNvPr id="7" name="Shape 5"/>
          <p:cNvSpPr/>
          <p:nvPr/>
        </p:nvSpPr>
        <p:spPr>
          <a:xfrm>
            <a:off x="475488" y="1408176"/>
            <a:ext cx="64008" cy="107350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Uneconomical output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Worth less than the fee to spend it.</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coin so small the postage costs more than the coin.</a:t>
            </a:r>
            <a:endParaRPr lang="en-US" sz="1150" dirty="0"/>
          </a:p>
        </p:txBody>
      </p:sp>
      <p:sp>
        <p:nvSpPr>
          <p:cNvPr id="10" name="Text 8"/>
          <p:cNvSpPr txBox="1"/>
          <p:nvPr/>
        </p:nvSpPr>
        <p:spPr>
          <a:xfrm>
            <a:off x="640080" y="2217420"/>
            <a:ext cx="3767328" cy="346558"/>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Uneconomical outputs and disallowed dust</a:t>
            </a:r>
            <a:endParaRPr lang="en-US" sz="1000" dirty="0"/>
          </a:p>
        </p:txBody>
      </p:sp>
      <p:sp>
        <p:nvSpPr>
          <p:cNvPr id="11" name="Shape 9"/>
          <p:cNvSpPr/>
          <p:nvPr/>
        </p:nvSpPr>
        <p:spPr>
          <a:xfrm>
            <a:off x="4645152" y="1280160"/>
            <a:ext cx="4041648" cy="1329538"/>
          </a:xfrm>
          <a:prstGeom prst="roundRect">
            <a:avLst>
              <a:gd name="adj" fmla="val 5502"/>
            </a:avLst>
          </a:prstGeom>
          <a:solidFill>
            <a:srgbClr val="F2ECE1"/>
          </a:solidFill>
          <a:ln w="12700">
            <a:solidFill>
              <a:srgbClr val="DFD6C7"/>
            </a:solidFill>
            <a:prstDash val="solid"/>
          </a:ln>
        </p:spPr>
      </p:sp>
      <p:sp>
        <p:nvSpPr>
          <p:cNvPr id="12" name="Shape 10"/>
          <p:cNvSpPr/>
          <p:nvPr/>
        </p:nvSpPr>
        <p:spPr>
          <a:xfrm>
            <a:off x="4663440" y="1408176"/>
            <a:ext cx="64008" cy="1073506"/>
          </a:xfrm>
          <a:prstGeom prst="rect">
            <a:avLst/>
          </a:prstGeom>
          <a:solidFill>
            <a:srgbClr val="D97A14"/>
          </a:solidFill>
          <a:ln w="12700">
            <a:solidFill>
              <a:srgbClr val="D97A14"/>
            </a:solidFill>
            <a:prstDash val="solid"/>
          </a:ln>
        </p:spPr>
      </p:sp>
      <p:sp>
        <p:nvSpPr>
          <p:cNvPr id="13" name="Text 11"/>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Dust limit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546 satoshis, from 182 bytes at 3,000 sat/kvB.</a:t>
            </a:r>
            <a:endParaRPr lang="en-US" sz="1300" dirty="0"/>
          </a:p>
        </p:txBody>
      </p:sp>
      <p:sp>
        <p:nvSpPr>
          <p:cNvPr id="14" name="Text 12"/>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smallest coin the post office agrees to carry.</a:t>
            </a:r>
            <a:endParaRPr lang="en-US" sz="1150" dirty="0"/>
          </a:p>
        </p:txBody>
      </p:sp>
      <p:sp>
        <p:nvSpPr>
          <p:cNvPr id="15" name="Shape 13"/>
          <p:cNvSpPr/>
          <p:nvPr/>
        </p:nvSpPr>
        <p:spPr>
          <a:xfrm>
            <a:off x="457200" y="2737714"/>
            <a:ext cx="4041648" cy="1329538"/>
          </a:xfrm>
          <a:prstGeom prst="roundRect">
            <a:avLst>
              <a:gd name="adj" fmla="val 5502"/>
            </a:avLst>
          </a:prstGeom>
          <a:solidFill>
            <a:srgbClr val="F2ECE1"/>
          </a:solidFill>
          <a:ln w="12700">
            <a:solidFill>
              <a:srgbClr val="DFD6C7"/>
            </a:solidFill>
            <a:prstDash val="solid"/>
          </a:ln>
        </p:spPr>
      </p:sp>
      <p:sp>
        <p:nvSpPr>
          <p:cNvPr id="16" name="Shape 14"/>
          <p:cNvSpPr/>
          <p:nvPr/>
        </p:nvSpPr>
        <p:spPr>
          <a:xfrm>
            <a:off x="475488" y="2865730"/>
            <a:ext cx="64008" cy="1073506"/>
          </a:xfrm>
          <a:prstGeom prst="rect">
            <a:avLst/>
          </a:prstGeom>
          <a:solidFill>
            <a:srgbClr val="D97A14"/>
          </a:solidFill>
          <a:ln w="12700">
            <a:solidFill>
              <a:srgbClr val="D97A14"/>
            </a:solidFill>
            <a:prstDash val="solid"/>
          </a:ln>
        </p:spPr>
      </p:sp>
      <p:sp>
        <p:nvSpPr>
          <p:cNvPr id="17" name="Text 15"/>
          <p:cNvSpPr txBox="1"/>
          <p:nvPr/>
        </p:nvSpPr>
        <p:spPr>
          <a:xfrm>
            <a:off x="640080" y="280172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Data-carrier output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OP_RETURN: unspendable, so not dust.</a:t>
            </a:r>
            <a:endParaRPr lang="en-US" sz="1300" dirty="0"/>
          </a:p>
        </p:txBody>
      </p:sp>
      <p:sp>
        <p:nvSpPr>
          <p:cNvPr id="18" name="Text 16"/>
          <p:cNvSpPr txBox="1"/>
          <p:nvPr/>
        </p:nvSpPr>
        <p:spPr>
          <a:xfrm>
            <a:off x="640080" y="326349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note stuck on a parcel, carrying no money.</a:t>
            </a:r>
            <a:endParaRPr lang="en-US" sz="1150" dirty="0"/>
          </a:p>
        </p:txBody>
      </p:sp>
      <p:sp>
        <p:nvSpPr>
          <p:cNvPr id="19" name="Shape 17"/>
          <p:cNvSpPr/>
          <p:nvPr/>
        </p:nvSpPr>
        <p:spPr>
          <a:xfrm>
            <a:off x="4645152" y="2737714"/>
            <a:ext cx="4041648" cy="1329538"/>
          </a:xfrm>
          <a:prstGeom prst="roundRect">
            <a:avLst>
              <a:gd name="adj" fmla="val 5502"/>
            </a:avLst>
          </a:prstGeom>
          <a:solidFill>
            <a:srgbClr val="F2ECE1"/>
          </a:solidFill>
          <a:ln w="12700">
            <a:solidFill>
              <a:srgbClr val="DFD6C7"/>
            </a:solidFill>
            <a:prstDash val="solid"/>
          </a:ln>
        </p:spPr>
      </p:sp>
      <p:sp>
        <p:nvSpPr>
          <p:cNvPr id="20" name="Shape 18"/>
          <p:cNvSpPr/>
          <p:nvPr/>
        </p:nvSpPr>
        <p:spPr>
          <a:xfrm>
            <a:off x="4663440" y="2865730"/>
            <a:ext cx="64008" cy="1073506"/>
          </a:xfrm>
          <a:prstGeom prst="rect">
            <a:avLst/>
          </a:prstGeom>
          <a:solidFill>
            <a:srgbClr val="D97A14"/>
          </a:solidFill>
          <a:ln w="12700">
            <a:solidFill>
              <a:srgbClr val="D97A14"/>
            </a:solidFill>
            <a:prstDash val="solid"/>
          </a:ln>
        </p:spPr>
      </p:sp>
      <p:sp>
        <p:nvSpPr>
          <p:cNvPr id="21" name="Text 19"/>
          <p:cNvSpPr txBox="1"/>
          <p:nvPr/>
        </p:nvSpPr>
        <p:spPr>
          <a:xfrm>
            <a:off x="4828032" y="280172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Output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34 bytes to Bob, 22 bytes of change.</a:t>
            </a:r>
            <a:endParaRPr lang="en-US" sz="1300" dirty="0"/>
          </a:p>
        </p:txBody>
      </p:sp>
      <p:sp>
        <p:nvSpPr>
          <p:cNvPr id="22" name="Text 20"/>
          <p:cNvSpPr txBox="1"/>
          <p:nvPr/>
        </p:nvSpPr>
        <p:spPr>
          <a:xfrm>
            <a:off x="4828032" y="326349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 fitted to the coin: whoever opens it may spend.</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62</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2010 overflow,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two huge outputs added up to a negative number</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out = </a:t>
            </a:r>
            <a:r>
              <a:rPr lang="en-US" sz="1000" dirty="0">
                <a:solidFill>
                  <a:srgbClr val="FFD28A"/>
                </a:solidFill>
                <a:latin typeface="Courier New" pitchFamily="34" charset="0"/>
                <a:ea typeface="Courier New" pitchFamily="34" charset="-122"/>
                <a:cs typeface="Courier New" pitchFamily="34" charset="-120"/>
              </a:rPr>
              <a:t>9223372036854277039</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wrapped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out) &amp; 0xffffffffffffffff</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 wrapped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64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wrapped &gt;=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63</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else</a:t>
            </a:r>
            <a:r>
              <a:rPr lang="en-US" sz="1000" dirty="0">
                <a:solidFill>
                  <a:srgbClr val="E6EDF3"/>
                </a:solidFill>
                <a:latin typeface="Courier New" pitchFamily="34" charset="0"/>
                <a:ea typeface="Courier New" pitchFamily="34" charset="-122"/>
                <a:cs typeface="Courier New" pitchFamily="34" charset="-120"/>
              </a:rPr>
              <a:t> wrapped</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naive_ok = total &lt;= MAX_MONEY</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fixed_ok = money_range(out)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(naive_ok, fixed_ok)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of the two outputs of block 74,638 held this many satoshis.</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Added as 64-bit signed integers, two such amounts wrap to a negative number.</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check on the total passed; a check on each output refuses the block.</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arithmetic of block 74,638</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Two outputs added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-997,538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Old test: total in range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True: accepted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New test: each in range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False: 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negative total is below the limit, so only the per-output check catches it.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Check each amount and the total: one check on the total was not enough</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62</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that created 184 billion bitcoins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bug that created money out of thin air</a:t>
            </a:r>
            <a:endParaRPr lang="en-US" sz="1300" dirty="0"/>
          </a:p>
        </p:txBody>
      </p:sp>
      <p:pic>
        <p:nvPicPr>
          <p:cNvPr id="6" name="Image 0" descr="../../03-materials/ch06/assets/photo_satoshi_bust_budapest.jp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Satoshi bust, Budapest - Fekist, CC BY-SA 4.0</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Block 74,638 held a transaction with two outputs of 92 billion bitcoins each, 184 billion in all.</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Added as 64-bit integers the amounts wrapped to a small negative number, which passed the check.</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Jeff Garzik reported it within two hours; Satoshi patched it in about five; the chain recovered at block 74,691.</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Bitcoin Core still cites the bug, CVE-2010-5139, in tx_check.cpp.</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an unknown attacker; Jef…</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74,638 - and the…</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2010-08-15</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Value overflow incident (Bitcoin Wiki)</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62</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Outputs: concepts (3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 size limits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Zero at minimum, 10,000 bytes to spend.</a:t>
            </a:r>
            <a:endParaRPr lang="en-US" sz="1300" dirty="0"/>
          </a:p>
        </p:txBody>
      </p:sp>
      <p:sp>
        <p:nvSpPr>
          <p:cNvPr id="9" name="Text 7"/>
          <p:cNvSpPr txBox="1"/>
          <p:nvPr/>
        </p:nvSpPr>
        <p:spPr>
          <a:xfrm>
            <a:off x="640080"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cap on how long the lock's instructions may be.</a:t>
            </a:r>
            <a:endParaRPr lang="en-US" sz="1150" dirty="0"/>
          </a:p>
        </p:txBody>
      </p:sp>
      <p:sp>
        <p:nvSpPr>
          <p:cNvPr id="10" name="Shape 8"/>
          <p:cNvSpPr/>
          <p:nvPr/>
        </p:nvSpPr>
        <p:spPr>
          <a:xfrm>
            <a:off x="3249168" y="1280160"/>
            <a:ext cx="2645664"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3267456"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Anyone-can-spend scripts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 empty script that OP_TRUE satisfies.</a:t>
            </a:r>
            <a:endParaRPr lang="en-US" sz="1300" dirty="0"/>
          </a:p>
        </p:txBody>
      </p:sp>
      <p:sp>
        <p:nvSpPr>
          <p:cNvPr id="13" name="Text 11"/>
          <p:cNvSpPr txBox="1"/>
          <p:nvPr/>
        </p:nvSpPr>
        <p:spPr>
          <a:xfrm>
            <a:off x="3432048" y="218541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left unlocked in the street.</a:t>
            </a:r>
            <a:endParaRPr lang="en-US" sz="1150" dirty="0"/>
          </a:p>
        </p:txBody>
      </p:sp>
      <p:sp>
        <p:nvSpPr>
          <p:cNvPr id="14" name="Shape 12"/>
          <p:cNvSpPr/>
          <p:nvPr/>
        </p:nvSpPr>
        <p:spPr>
          <a:xfrm>
            <a:off x="6041136" y="1280160"/>
            <a:ext cx="2645664"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6059424" y="1408176"/>
            <a:ext cx="64008" cy="1106424"/>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Standard transaction outputs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few templates relay policy allows.</a:t>
            </a:r>
            <a:endParaRPr lang="en-US" sz="1300" dirty="0"/>
          </a:p>
        </p:txBody>
      </p:sp>
      <p:sp>
        <p:nvSpPr>
          <p:cNvPr id="17" name="Text 15"/>
          <p:cNvSpPr txBox="1"/>
          <p:nvPr/>
        </p:nvSpPr>
        <p:spPr>
          <a:xfrm>
            <a:off x="6224016" y="218541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few lock models the post office accepts.</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62</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Dust limits by output type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smallest output a node will relay</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P2PKH = </a:t>
            </a:r>
            <a:r>
              <a:rPr lang="en-US" sz="1000" dirty="0">
                <a:solidFill>
                  <a:srgbClr val="9ECBFF"/>
                </a:solidFill>
                <a:latin typeface="Courier New" pitchFamily="34" charset="0"/>
                <a:ea typeface="Courier New" pitchFamily="34" charset="-122"/>
                <a:cs typeface="Courier New" pitchFamily="34" charset="-120"/>
              </a:rPr>
              <a:t>'76a914'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9ECBFF"/>
                </a:solidFill>
                <a:latin typeface="Courier New" pitchFamily="34" charset="0"/>
                <a:ea typeface="Courier New" pitchFamily="34" charset="-122"/>
                <a:cs typeface="Courier New" pitchFamily="34" charset="-120"/>
              </a:rPr>
              <a:t>'00'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9ECBFF"/>
                </a:solidFill>
                <a:latin typeface="Courier New" pitchFamily="34" charset="0"/>
                <a:ea typeface="Courier New" pitchFamily="34" charset="-122"/>
                <a:cs typeface="Courier New" pitchFamily="34" charset="-120"/>
              </a:rPr>
              <a:t>'88ac'</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P2WPKH = </a:t>
            </a:r>
            <a:r>
              <a:rPr lang="en-US" sz="1000" dirty="0">
                <a:solidFill>
                  <a:srgbClr val="9ECBFF"/>
                </a:solidFill>
                <a:latin typeface="Courier New" pitchFamily="34" charset="0"/>
                <a:ea typeface="Courier New" pitchFamily="34" charset="-122"/>
                <a:cs typeface="Courier New" pitchFamily="34" charset="-120"/>
              </a:rPr>
              <a:t>'0014'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9ECBFF"/>
                </a:solidFill>
                <a:latin typeface="Courier New" pitchFamily="34" charset="0"/>
                <a:ea typeface="Courier New" pitchFamily="34" charset="-122"/>
                <a:cs typeface="Courier New" pitchFamily="34" charset="-120"/>
              </a:rPr>
              <a:t>'00'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P2TR, RET = </a:t>
            </a:r>
            <a:r>
              <a:rPr lang="en-US" sz="1000" dirty="0">
                <a:solidFill>
                  <a:srgbClr val="9ECBFF"/>
                </a:solidFill>
                <a:latin typeface="Courier New" pitchFamily="34" charset="0"/>
                <a:ea typeface="Courier New" pitchFamily="34" charset="-122"/>
                <a:cs typeface="Courier New" pitchFamily="34" charset="-120"/>
              </a:rPr>
              <a:t>'5120'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9ECBFF"/>
                </a:solidFill>
                <a:latin typeface="Courier New" pitchFamily="34" charset="0"/>
                <a:ea typeface="Courier New" pitchFamily="34" charset="-122"/>
                <a:cs typeface="Courier New" pitchFamily="34" charset="-120"/>
              </a:rPr>
              <a:t>'00'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'6a04deadbeef'</a:t>
            </a:r>
            <a:endParaRPr lang="en-US" sz="1000" dirty="0"/>
          </a:p>
        </p:txBody>
      </p:sp>
      <p:sp>
        <p:nvSpPr>
          <p:cNvPr id="8" name="Shape 6"/>
          <p:cNvSpPr/>
          <p:nvPr/>
        </p:nvSpPr>
        <p:spPr>
          <a:xfrm>
            <a:off x="457200" y="2287829"/>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981"/>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scripts = (P2PKH, P2WPKH, P2TR, RET)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limits = [dust_threshold(s)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scripts]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limits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[546, 294, 330, 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Four output scripts: three that can be spent and one data carrier.</a:t>
            </a:r>
            <a:endParaRPr lang="en-US" sz="1050" dirty="0"/>
          </a:p>
        </p:txBody>
      </p:sp>
      <p:sp>
        <p:nvSpPr>
          <p:cNvPr id="13" name="Shape 11"/>
          <p:cNvSpPr/>
          <p:nvPr/>
        </p:nvSpPr>
        <p:spPr>
          <a:xfrm>
            <a:off x="365760" y="2214677"/>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176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limit is the cost of creating plus spending an output, at the relay fee.</a:t>
            </a:r>
            <a:endParaRPr lang="en-US" sz="1050" dirty="0"/>
          </a:p>
        </p:txBody>
      </p:sp>
      <p:sp>
        <p:nvSpPr>
          <p:cNvPr id="16" name="Text 14"/>
          <p:cNvSpPr txBox="1"/>
          <p:nvPr/>
        </p:nvSpPr>
        <p:spPr>
          <a:xfrm>
            <a:off x="457200" y="354238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dust limit in satoshis, at 3,000 sat/kvB</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An output below its limit is not relayed. OP_RETURN outputs cannot be spent, so their limit is zero.</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Dust is a policy about who pays for the UTXO set: everyone, for ever</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62</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Witnesses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witness is the ID you show at the counter, kept off the receipt.</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Idea of a witness</a:t>
            </a:r>
            <a:endParaRPr lang="en-US" sz="1100" dirty="0"/>
          </a:p>
        </p:txBody>
      </p:sp>
      <p:sp>
        <p:nvSpPr>
          <p:cNvPr id="8" name="Text 6"/>
          <p:cNvSpPr txBox="1"/>
          <p:nvPr/>
        </p:nvSpPr>
        <p:spPr>
          <a:xfrm>
            <a:off x="77724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Evidence that the spender may spend, kept apart.</a:t>
            </a:r>
            <a:endParaRPr lang="en-US" sz="1100" dirty="0"/>
          </a:p>
        </p:txBody>
      </p:sp>
      <p:sp>
        <p:nvSpPr>
          <p:cNvPr id="9" name="Text 7"/>
          <p:cNvSpPr txBox="1"/>
          <p:nvPr/>
        </p:nvSpPr>
        <p:spPr>
          <a:xfrm>
            <a:off x="777240" y="3062326"/>
            <a:ext cx="182880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ID card you show at the counter.</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Malleability</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Changing a transaction's identifier without changing what it pays.</a:t>
            </a:r>
            <a:endParaRPr lang="en-US" sz="1100" dirty="0"/>
          </a:p>
        </p:txBody>
      </p:sp>
      <p:sp>
        <p:nvSpPr>
          <p:cNvPr id="13" name="Text 11"/>
          <p:cNvSpPr txBox="1"/>
          <p:nvPr/>
        </p:nvSpPr>
        <p:spPr>
          <a:xfrm>
            <a:off x="278892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re-spelling a name so the filing clerk loses the receipt.</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Segwit</a:t>
            </a:r>
            <a:endParaRPr lang="en-US" sz="1100" dirty="0"/>
          </a:p>
        </p:txBody>
      </p:sp>
      <p:sp>
        <p:nvSpPr>
          <p:cNvPr id="16" name="Text 14"/>
          <p:cNvSpPr txBox="1"/>
          <p:nvPr/>
        </p:nvSpPr>
        <p:spPr>
          <a:xfrm>
            <a:off x="480060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The upgrade that moved the proof out of the identifier.</a:t>
            </a:r>
            <a:endParaRPr lang="en-US" sz="1100" dirty="0"/>
          </a:p>
        </p:txBody>
      </p:sp>
      <p:sp>
        <p:nvSpPr>
          <p:cNvPr id="17" name="Text 15"/>
          <p:cNvSpPr txBox="1"/>
          <p:nvPr/>
        </p:nvSpPr>
        <p:spPr>
          <a:xfrm>
            <a:off x="480060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keeping the passport photo off the ticket number.</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Witness layout</a:t>
            </a:r>
            <a:endParaRPr lang="en-US" sz="1100" dirty="0"/>
          </a:p>
        </p:txBody>
      </p:sp>
      <p:sp>
        <p:nvSpPr>
          <p:cNvPr id="20" name="Text 18"/>
          <p:cNvSpPr txBox="1"/>
          <p:nvPr/>
        </p:nvSpPr>
        <p:spPr>
          <a:xfrm>
            <a:off x="681228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How the separate proofs are written after the main fields.</a:t>
            </a:r>
            <a:endParaRPr lang="en-US" sz="1100" dirty="0"/>
          </a:p>
        </p:txBody>
      </p:sp>
      <p:sp>
        <p:nvSpPr>
          <p:cNvPr id="21" name="Text 19"/>
          <p:cNvSpPr txBox="1"/>
          <p:nvPr/>
        </p:nvSpPr>
        <p:spPr>
          <a:xfrm>
            <a:off x="681228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annex pages bound behind the main letter.</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62</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Witnesses: concepts (1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value 2 solves 2 OP_ADD 4 OP_EQUAL.</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answer to the riddle printed on the lock.</a:t>
            </a:r>
            <a:endParaRPr lang="en-US" sz="1150" dirty="0"/>
          </a:p>
        </p:txBody>
      </p:sp>
      <p:sp>
        <p:nvSpPr>
          <p:cNvPr id="10" name="Shape 8"/>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1" name="Shape 9"/>
          <p:cNvSpPr/>
          <p:nvPr/>
        </p:nvSpPr>
        <p:spPr>
          <a:xfrm>
            <a:off x="4663440" y="1408176"/>
            <a:ext cx="64008" cy="91805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Public key and signature as 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problem only the key holder can solve.</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signature only the account holder can produce.</a:t>
            </a:r>
            <a:endParaRPr lang="en-US" sz="1150" dirty="0"/>
          </a:p>
        </p:txBody>
      </p:sp>
      <p:sp>
        <p:nvSpPr>
          <p:cNvPr id="14" name="Shape 12"/>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5" name="Shape 13"/>
          <p:cNvSpPr/>
          <p:nvPr/>
        </p:nvSpPr>
        <p:spPr>
          <a:xfrm>
            <a:off x="475488" y="2710282"/>
            <a:ext cx="64008" cy="918058"/>
          </a:xfrm>
          <a:prstGeom prst="rect">
            <a:avLst/>
          </a:prstGeom>
          <a:solidFill>
            <a:srgbClr val="D97A14"/>
          </a:solidFill>
          <a:ln w="12700">
            <a:solidFill>
              <a:srgbClr val="D97A14"/>
            </a:solidFill>
            <a:prstDash val="solid"/>
          </a:ln>
        </p:spPr>
      </p:sp>
      <p:sp>
        <p:nvSpPr>
          <p:cNvPr id="16" name="Text 14"/>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Contract protocols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Transactions signed out of order.</a:t>
            </a:r>
            <a:endParaRPr lang="en-US" sz="1300" dirty="0"/>
          </a:p>
        </p:txBody>
      </p:sp>
      <p:sp>
        <p:nvSpPr>
          <p:cNvPr id="17" name="Text 15"/>
          <p:cNvSpPr txBox="1"/>
          <p:nvPr/>
        </p:nvSpPr>
        <p:spPr>
          <a:xfrm>
            <a:off x="640080"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agreements signed in advance so nobody can walk away.</a:t>
            </a:r>
            <a:endParaRPr lang="en-US" sz="1150" dirty="0"/>
          </a:p>
        </p:txBody>
      </p:sp>
      <p:sp>
        <p:nvSpPr>
          <p:cNvPr id="18" name="Text 16"/>
          <p:cNvSpPr txBox="1"/>
          <p:nvPr/>
        </p:nvSpPr>
        <p:spPr>
          <a:xfrm>
            <a:off x="640080" y="3519526"/>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trustless protocol</a:t>
            </a:r>
            <a:endParaRPr lang="en-US" sz="1000" dirty="0"/>
          </a:p>
        </p:txBody>
      </p:sp>
      <p:sp>
        <p:nvSpPr>
          <p:cNvPr id="19" name="Shape 17"/>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20" name="Shape 18"/>
          <p:cNvSpPr/>
          <p:nvPr/>
        </p:nvSpPr>
        <p:spPr>
          <a:xfrm>
            <a:off x="4663440" y="2710282"/>
            <a:ext cx="64008" cy="918058"/>
          </a:xfrm>
          <a:prstGeom prst="rect">
            <a:avLst/>
          </a:prstGeom>
          <a:solidFill>
            <a:srgbClr val="D97A14"/>
          </a:solidFill>
          <a:ln w="12700">
            <a:solidFill>
              <a:srgbClr val="D97A14"/>
            </a:solidFill>
            <a:prstDash val="solid"/>
          </a:ln>
        </p:spPr>
      </p:sp>
      <p:sp>
        <p:nvSpPr>
          <p:cNvPr id="21" name="Text 19"/>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Circular dependency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refund needs the deposit's txid first.</a:t>
            </a:r>
            <a:endParaRPr lang="en-US" sz="1300" dirty="0"/>
          </a:p>
        </p:txBody>
      </p:sp>
      <p:sp>
        <p:nvSpPr>
          <p:cNvPr id="22" name="Text 20"/>
          <p:cNvSpPr txBox="1"/>
          <p:nvPr/>
        </p:nvSpPr>
        <p:spPr>
          <a:xfrm>
            <a:off x="4828032" y="3108046"/>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needing the key to get the key.</a:t>
            </a:r>
            <a:endParaRPr lang="en-US" sz="1150" dirty="0"/>
          </a:p>
        </p:txBody>
      </p:sp>
      <p:sp>
        <p:nvSpPr>
          <p:cNvPr id="23" name="Text 21"/>
          <p:cNvSpPr txBox="1"/>
          <p:nvPr/>
        </p:nvSpPr>
        <p:spPr>
          <a:xfrm>
            <a:off x="4828032" y="3341218"/>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Circular Dependencies</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62</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spend, four identifiers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Push encodings and third-party malleability</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enc = push_encodings(</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swap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s: with_input_script(FIRST, 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ids = {k: txid(swap(s))[:</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enc.items()}</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distinct = len(set(ids.values()))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distinct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small number can be pushed on the script stack in four different ways.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Swap each encoding into the first-ever spend; the payment itself is unchanged.</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Four different byte strings give four different legacy identifiers.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pushes of the number 2</a:t>
            </a:r>
            <a:endParaRPr lang="en-US" sz="11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051560"/>
                <a:gridCol w="822960"/>
                <a:gridCol w="109728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Encoding</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Script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New txid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OP_2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52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0423a53a</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OP_PUSH1 0x02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0102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b3485f99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OP_PUSH2 0x0002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020200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18da36d1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OP_PUSHDATA1 0x0102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4c0102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4d986cd8</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4 encodings give 4 different identifiers for one payment.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stranger could change the txid without changing the payment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62</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Witnesses: concepts (2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84148"/>
          </a:xfrm>
          <a:prstGeom prst="roundRect">
            <a:avLst>
              <a:gd name="adj" fmla="val 6178"/>
            </a:avLst>
          </a:prstGeom>
          <a:solidFill>
            <a:srgbClr val="F2ECE1"/>
          </a:solidFill>
          <a:ln w="12700">
            <a:solidFill>
              <a:srgbClr val="DFD6C7"/>
            </a:solidFill>
            <a:prstDash val="solid"/>
          </a:ln>
        </p:spPr>
      </p:sp>
      <p:sp>
        <p:nvSpPr>
          <p:cNvPr id="7" name="Shape 5"/>
          <p:cNvSpPr/>
          <p:nvPr/>
        </p:nvSpPr>
        <p:spPr>
          <a:xfrm>
            <a:off x="475488" y="1408176"/>
            <a:ext cx="64008" cy="92811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Third-party transaction malleability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stranger changes the txid, not the payment.</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stranger rewording your cheque without changing the sum.</a:t>
            </a:r>
            <a:endParaRPr lang="en-US" sz="1150" dirty="0"/>
          </a:p>
        </p:txBody>
      </p:sp>
      <p:sp>
        <p:nvSpPr>
          <p:cNvPr id="10" name="Shape 8"/>
          <p:cNvSpPr/>
          <p:nvPr/>
        </p:nvSpPr>
        <p:spPr>
          <a:xfrm>
            <a:off x="4645152" y="1280160"/>
            <a:ext cx="4041648" cy="1184148"/>
          </a:xfrm>
          <a:prstGeom prst="roundRect">
            <a:avLst>
              <a:gd name="adj" fmla="val 6178"/>
            </a:avLst>
          </a:prstGeom>
          <a:solidFill>
            <a:srgbClr val="F2ECE1"/>
          </a:solidFill>
          <a:ln w="12700">
            <a:solidFill>
              <a:srgbClr val="DFD6C7"/>
            </a:solidFill>
            <a:prstDash val="solid"/>
          </a:ln>
        </p:spPr>
      </p:sp>
      <p:sp>
        <p:nvSpPr>
          <p:cNvPr id="11" name="Shape 9"/>
          <p:cNvSpPr/>
          <p:nvPr/>
        </p:nvSpPr>
        <p:spPr>
          <a:xfrm>
            <a:off x="4663440" y="1408176"/>
            <a:ext cx="64008" cy="92811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Alternative push encodings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Four byte strings for the number 2.</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four ways to write the same number in words.</a:t>
            </a:r>
            <a:endParaRPr lang="en-US" sz="1150" dirty="0"/>
          </a:p>
        </p:txBody>
      </p:sp>
      <p:sp>
        <p:nvSpPr>
          <p:cNvPr id="14" name="Shape 12"/>
          <p:cNvSpPr/>
          <p:nvPr/>
        </p:nvSpPr>
        <p:spPr>
          <a:xfrm>
            <a:off x="457200" y="2592324"/>
            <a:ext cx="4041648" cy="1184148"/>
          </a:xfrm>
          <a:prstGeom prst="roundRect">
            <a:avLst>
              <a:gd name="adj" fmla="val 6178"/>
            </a:avLst>
          </a:prstGeom>
          <a:solidFill>
            <a:srgbClr val="F2ECE1"/>
          </a:solidFill>
          <a:ln w="12700">
            <a:solidFill>
              <a:srgbClr val="DFD6C7"/>
            </a:solidFill>
            <a:prstDash val="solid"/>
          </a:ln>
        </p:spPr>
      </p:sp>
      <p:sp>
        <p:nvSpPr>
          <p:cNvPr id="15" name="Shape 13"/>
          <p:cNvSpPr/>
          <p:nvPr/>
        </p:nvSpPr>
        <p:spPr>
          <a:xfrm>
            <a:off x="475488" y="2720340"/>
            <a:ext cx="64008" cy="928116"/>
          </a:xfrm>
          <a:prstGeom prst="rect">
            <a:avLst/>
          </a:prstGeom>
          <a:solidFill>
            <a:srgbClr val="D97A14"/>
          </a:solidFill>
          <a:ln w="12700">
            <a:solidFill>
              <a:srgbClr val="D97A14"/>
            </a:solidFill>
            <a:prstDash val="solid"/>
          </a:ln>
        </p:spPr>
      </p:sp>
      <p:sp>
        <p:nvSpPr>
          <p:cNvPr id="16" name="Text 14"/>
          <p:cNvSpPr txBox="1"/>
          <p:nvPr/>
        </p:nvSpPr>
        <p:spPr>
          <a:xfrm>
            <a:off x="640080" y="2656332"/>
            <a:ext cx="3767328" cy="63550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Second-party transaction malleability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counterparty re-signs and changes the txid.</a:t>
            </a:r>
            <a:endParaRPr lang="en-US" sz="1300" dirty="0"/>
          </a:p>
        </p:txBody>
      </p:sp>
      <p:sp>
        <p:nvSpPr>
          <p:cNvPr id="17" name="Text 15"/>
          <p:cNvSpPr txBox="1"/>
          <p:nvPr/>
        </p:nvSpPr>
        <p:spPr>
          <a:xfrm>
            <a:off x="640080" y="331927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your partner re-signing a document with another pen.</a:t>
            </a:r>
            <a:endParaRPr lang="en-US" sz="1150" dirty="0"/>
          </a:p>
        </p:txBody>
      </p:sp>
      <p:sp>
        <p:nvSpPr>
          <p:cNvPr id="18" name="Shape 16"/>
          <p:cNvSpPr/>
          <p:nvPr/>
        </p:nvSpPr>
        <p:spPr>
          <a:xfrm>
            <a:off x="4645152" y="2592324"/>
            <a:ext cx="4041648" cy="1184148"/>
          </a:xfrm>
          <a:prstGeom prst="roundRect">
            <a:avLst>
              <a:gd name="adj" fmla="val 6178"/>
            </a:avLst>
          </a:prstGeom>
          <a:solidFill>
            <a:srgbClr val="F2ECE1"/>
          </a:solidFill>
          <a:ln w="12700">
            <a:solidFill>
              <a:srgbClr val="DFD6C7"/>
            </a:solidFill>
            <a:prstDash val="solid"/>
          </a:ln>
        </p:spPr>
      </p:sp>
      <p:sp>
        <p:nvSpPr>
          <p:cNvPr id="19" name="Shape 17"/>
          <p:cNvSpPr/>
          <p:nvPr/>
        </p:nvSpPr>
        <p:spPr>
          <a:xfrm>
            <a:off x="4663440" y="2720340"/>
            <a:ext cx="64008" cy="928116"/>
          </a:xfrm>
          <a:prstGeom prst="rect">
            <a:avLst/>
          </a:prstGeom>
          <a:solidFill>
            <a:srgbClr val="D97A14"/>
          </a:solidFill>
          <a:ln w="12700">
            <a:solidFill>
              <a:srgbClr val="D97A14"/>
            </a:solidFill>
            <a:prstDash val="solid"/>
          </a:ln>
        </p:spPr>
      </p:sp>
      <p:sp>
        <p:nvSpPr>
          <p:cNvPr id="20" name="Text 18"/>
          <p:cNvSpPr txBox="1"/>
          <p:nvPr/>
        </p:nvSpPr>
        <p:spPr>
          <a:xfrm>
            <a:off x="4828032" y="265633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Wanted malleability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Mutation the sender allows.</a:t>
            </a:r>
            <a:endParaRPr lang="en-US" sz="1300" dirty="0"/>
          </a:p>
        </p:txBody>
      </p:sp>
      <p:sp>
        <p:nvSpPr>
          <p:cNvPr id="21" name="Text 19"/>
          <p:cNvSpPr txBox="1"/>
          <p:nvPr/>
        </p:nvSpPr>
        <p:spPr>
          <a:xfrm>
            <a:off x="4828032" y="311810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form with a box for changes allowed by me.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62</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Segwit: change the witness, keep the txid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What the two identifiers cover</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mutated = with_witness_item(ALICE, </a:t>
            </a:r>
            <a:r>
              <a:rPr lang="en-US" sz="1000" dirty="0">
                <a:solidFill>
                  <a:srgbClr val="9ECBFF"/>
                </a:solidFill>
                <a:latin typeface="Courier New" pitchFamily="34" charset="0"/>
                <a:ea typeface="Courier New" pitchFamily="34" charset="-122"/>
                <a:cs typeface="Courier New" pitchFamily="34" charset="-120"/>
              </a:rPr>
              <a:t>'00'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65</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same_txid = txid(mutated) == txid(ALICE)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same_wtxid = wtxid(mutated) == wtxid(ALICE)</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b = txid(ALICE)[:</a:t>
            </a:r>
            <a:r>
              <a:rPr lang="en-US" sz="1000" dirty="0">
                <a:solidFill>
                  <a:srgbClr val="FFD28A"/>
                </a:solidFill>
                <a:latin typeface="Courier New" pitchFamily="34" charset="0"/>
                <a:ea typeface="Courier New" pitchFamily="34" charset="-122"/>
                <a:cs typeface="Courier New" pitchFamily="34" charset="-120"/>
              </a:rPr>
              <a:t>12</a:t>
            </a:r>
            <a:r>
              <a:rPr lang="en-US" sz="1000" dirty="0">
                <a:solidFill>
                  <a:srgbClr val="E6EDF3"/>
                </a:solidFill>
                <a:latin typeface="Courier New" pitchFamily="34" charset="0"/>
                <a:ea typeface="Courier New" pitchFamily="34" charset="-122"/>
                <a:cs typeface="Courier New" pitchFamily="34" charset="-120"/>
              </a:rPr>
              <a:t>], wtxid(ALICE)[:</a:t>
            </a:r>
            <a:r>
              <a:rPr lang="en-US" sz="1000" dirty="0">
                <a:solidFill>
                  <a:srgbClr val="FFD28A"/>
                </a:solidFill>
                <a:latin typeface="Courier New" pitchFamily="34" charset="0"/>
                <a:ea typeface="Courier New" pitchFamily="34" charset="-122"/>
                <a:cs typeface="Courier New" pitchFamily="34" charset="-120"/>
              </a:rPr>
              <a:t>12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wtxid(mutated)[:</a:t>
            </a:r>
            <a:r>
              <a:rPr lang="en-US" sz="1000" dirty="0">
                <a:solidFill>
                  <a:srgbClr val="FFD28A"/>
                </a:solidFill>
                <a:latin typeface="Courier New" pitchFamily="34" charset="0"/>
                <a:ea typeface="Courier New" pitchFamily="34" charset="-122"/>
                <a:cs typeface="Courier New" pitchFamily="34" charset="-120"/>
              </a:rPr>
              <a:t>12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(same_txid, same_wtxid)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Replace the signature in the witness by 65 zero bytes.</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txid ignores the witness and stays; the wtxid covers it and changes.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Twelve hex digits of each identifier, for the table beside the listing.</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12 hex digits of each identifier</a:t>
            </a:r>
            <a:endParaRPr lang="en-US" sz="11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777240"/>
                <a:gridCol w="1097280"/>
                <a:gridCol w="109728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Identifier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Before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After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txid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466200308696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466200308696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wtxid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f7cdbc7cf8b9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06f7a607a82e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8712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the wtxid notices the new witness; the txid, and everything built on it, stays valid.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What a hash covers decides what can safely be built on it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62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Mt. Gox blames malleability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 exchange blames the protocol, and researchers check</a:t>
            </a:r>
            <a:endParaRPr lang="en-US" sz="1300" dirty="0"/>
          </a:p>
        </p:txBody>
      </p:sp>
      <p:pic>
        <p:nvPicPr>
          <p:cNvPr id="6" name="Image 0" descr="../../03-materials/ch06/assets/photo_mtgox_logo.pn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Mt. Gox logo - author unknown, public domain</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Mt. Gox halted withdrawals and blamed transaction malleability for missing bitcoins.</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stranger can re-encode an input script, change the txid and make a payment look as if it failed.</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Decker and Wattenhofer of ETH Zurich recorded a year of traffic: only 1,811 BTC were hit before the press release.</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Segregated witness took the input script out of the txid in 2017.</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Mt. Gox, then the larges…</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Shibuya, Tokyo - and t…</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2014-02-10</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Transaction Malleability and MtGox (paper)</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arxiv.org</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62</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Witnesses: concepts (3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Segregated 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witness stays out of the txid.</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moving the signatures to a separate page the receipt ignores.</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Hard fork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change old nodes would reject.</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new road standard that old cars cannot drive on.</a:t>
            </a:r>
            <a:endParaRPr lang="en-US" sz="1150" dirty="0"/>
          </a:p>
        </p:txBody>
      </p:sp>
      <p:sp>
        <p:nvSpPr>
          <p:cNvPr id="14" name="Shape 12"/>
          <p:cNvSpPr/>
          <p:nvPr/>
        </p:nvSpPr>
        <p:spPr>
          <a:xfrm>
            <a:off x="457200" y="2505456"/>
            <a:ext cx="4041648" cy="1097280"/>
          </a:xfrm>
          <a:prstGeom prst="roundRect">
            <a:avLst>
              <a:gd name="adj" fmla="val 6667"/>
            </a:avLst>
          </a:prstGeom>
          <a:solidFill>
            <a:srgbClr val="F2ECE1"/>
          </a:solidFill>
          <a:ln w="12700">
            <a:solidFill>
              <a:srgbClr val="DFD6C7"/>
            </a:solidFill>
            <a:prstDash val="solid"/>
          </a:ln>
        </p:spPr>
      </p:sp>
      <p:sp>
        <p:nvSpPr>
          <p:cNvPr id="15" name="Shape 13"/>
          <p:cNvSpPr/>
          <p:nvPr/>
        </p:nvSpPr>
        <p:spPr>
          <a:xfrm>
            <a:off x="475488" y="2633472"/>
            <a:ext cx="64008" cy="841248"/>
          </a:xfrm>
          <a:prstGeom prst="rect">
            <a:avLst/>
          </a:prstGeom>
          <a:solidFill>
            <a:srgbClr val="D97A14"/>
          </a:solidFill>
          <a:ln w="12700">
            <a:solidFill>
              <a:srgbClr val="D97A14"/>
            </a:solidFill>
            <a:prstDash val="solid"/>
          </a:ln>
        </p:spPr>
      </p:sp>
      <p:sp>
        <p:nvSpPr>
          <p:cNvPr id="16" name="Text 14"/>
          <p:cNvSpPr txBox="1"/>
          <p:nvPr/>
        </p:nvSpPr>
        <p:spPr>
          <a:xfrm>
            <a:off x="640080"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Soft fork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New nodes reject more, accept no more.</a:t>
            </a:r>
            <a:endParaRPr lang="en-US" sz="1300" dirty="0"/>
          </a:p>
        </p:txBody>
      </p:sp>
      <p:sp>
        <p:nvSpPr>
          <p:cNvPr id="17" name="Text 15"/>
          <p:cNvSpPr txBox="1"/>
          <p:nvPr/>
        </p:nvSpPr>
        <p:spPr>
          <a:xfrm>
            <a:off x="640080"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stricter road rule that old cars can still obey.</a:t>
            </a:r>
            <a:endParaRPr lang="en-US" sz="1150" dirty="0"/>
          </a:p>
        </p:txBody>
      </p:sp>
      <p:sp>
        <p:nvSpPr>
          <p:cNvPr id="18" name="Shape 16"/>
          <p:cNvSpPr/>
          <p:nvPr/>
        </p:nvSpPr>
        <p:spPr>
          <a:xfrm>
            <a:off x="4645152" y="2505456"/>
            <a:ext cx="4041648" cy="1097280"/>
          </a:xfrm>
          <a:prstGeom prst="roundRect">
            <a:avLst>
              <a:gd name="adj" fmla="val 6667"/>
            </a:avLst>
          </a:prstGeom>
          <a:solidFill>
            <a:srgbClr val="F2ECE1"/>
          </a:solidFill>
          <a:ln w="12700">
            <a:solidFill>
              <a:srgbClr val="DFD6C7"/>
            </a:solidFill>
            <a:prstDash val="solid"/>
          </a:ln>
        </p:spPr>
      </p:sp>
      <p:sp>
        <p:nvSpPr>
          <p:cNvPr id="19" name="Shape 17"/>
          <p:cNvSpPr/>
          <p:nvPr/>
        </p:nvSpPr>
        <p:spPr>
          <a:xfrm>
            <a:off x="4663440" y="2633472"/>
            <a:ext cx="64008" cy="841248"/>
          </a:xfrm>
          <a:prstGeom prst="rect">
            <a:avLst/>
          </a:prstGeom>
          <a:solidFill>
            <a:srgbClr val="D97A14"/>
          </a:solidFill>
          <a:ln w="12700">
            <a:solidFill>
              <a:srgbClr val="D97A14"/>
            </a:solidFill>
            <a:prstDash val="solid"/>
          </a:ln>
        </p:spPr>
      </p:sp>
      <p:sp>
        <p:nvSpPr>
          <p:cNvPr id="20" name="Text 18"/>
          <p:cNvSpPr txBox="1"/>
          <p:nvPr/>
        </p:nvSpPr>
        <p:spPr>
          <a:xfrm>
            <a:off x="4828032"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 program</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version number and 2 to 40 bytes.</a:t>
            </a:r>
            <a:endParaRPr lang="en-US" sz="1300" dirty="0"/>
          </a:p>
        </p:txBody>
      </p:sp>
      <p:sp>
        <p:nvSpPr>
          <p:cNvPr id="21" name="Text 19"/>
          <p:cNvSpPr txBox="1"/>
          <p:nvPr/>
        </p:nvSpPr>
        <p:spPr>
          <a:xfrm>
            <a:off x="4828032"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 label saying which kind of key fits.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62</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Witnesses: concepts (4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 structure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new field for what the input script held.</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annex page stapled to the transaction.</a:t>
            </a:r>
            <a:endParaRPr lang="en-US" sz="1150" dirty="0"/>
          </a:p>
        </p:txBody>
      </p:sp>
      <p:sp>
        <p:nvSpPr>
          <p:cNvPr id="10" name="Text 8"/>
          <p:cNvSpPr txBox="1"/>
          <p:nvPr/>
        </p:nvSpPr>
        <p:spPr>
          <a:xfrm>
            <a:off x="640080" y="2217420"/>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Witness Structure Serialization</a:t>
            </a:r>
            <a:endParaRPr lang="en-US" sz="1000" dirty="0"/>
          </a:p>
        </p:txBody>
      </p:sp>
      <p:sp>
        <p:nvSpPr>
          <p:cNvPr id="11" name="Shape 9"/>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2" name="Shape 10"/>
          <p:cNvSpPr/>
          <p:nvPr/>
        </p:nvSpPr>
        <p:spPr>
          <a:xfrm>
            <a:off x="4663440" y="1408176"/>
            <a:ext cx="64008" cy="918058"/>
          </a:xfrm>
          <a:prstGeom prst="rect">
            <a:avLst/>
          </a:prstGeom>
          <a:solidFill>
            <a:srgbClr val="D97A14"/>
          </a:solidFill>
          <a:ln w="12700">
            <a:solidFill>
              <a:srgbClr val="D97A14"/>
            </a:solidFill>
            <a:prstDash val="solid"/>
          </a:ln>
        </p:spPr>
      </p:sp>
      <p:sp>
        <p:nvSpPr>
          <p:cNvPr id="13" name="Text 11"/>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 stack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stack per input, counted by the inputs.</a:t>
            </a:r>
            <a:endParaRPr lang="en-US" sz="1300" dirty="0"/>
          </a:p>
        </p:txBody>
      </p:sp>
      <p:sp>
        <p:nvSpPr>
          <p:cNvPr id="14" name="Text 12"/>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pile of papers handed in for one input.</a:t>
            </a:r>
            <a:endParaRPr lang="en-US" sz="1150" dirty="0"/>
          </a:p>
        </p:txBody>
      </p:sp>
      <p:sp>
        <p:nvSpPr>
          <p:cNvPr id="15" name="Shape 13"/>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6" name="Shape 14"/>
          <p:cNvSpPr/>
          <p:nvPr/>
        </p:nvSpPr>
        <p:spPr>
          <a:xfrm>
            <a:off x="475488" y="2710282"/>
            <a:ext cx="64008" cy="918058"/>
          </a:xfrm>
          <a:prstGeom prst="rect">
            <a:avLst/>
          </a:prstGeom>
          <a:solidFill>
            <a:srgbClr val="D97A14"/>
          </a:solidFill>
          <a:ln w="12700">
            <a:solidFill>
              <a:srgbClr val="D97A14"/>
            </a:solidFill>
            <a:prstDash val="solid"/>
          </a:ln>
        </p:spPr>
      </p:sp>
      <p:sp>
        <p:nvSpPr>
          <p:cNvPr id="17" name="Text 15"/>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 item</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65-byte signature, length-prefixed.</a:t>
            </a:r>
            <a:endParaRPr lang="en-US" sz="1300" dirty="0"/>
          </a:p>
        </p:txBody>
      </p:sp>
      <p:sp>
        <p:nvSpPr>
          <p:cNvPr id="18" name="Text 16"/>
          <p:cNvSpPr txBox="1"/>
          <p:nvPr/>
        </p:nvSpPr>
        <p:spPr>
          <a:xfrm>
            <a:off x="640080"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one sheet in the pile, with its length stamped on.</a:t>
            </a:r>
            <a:endParaRPr lang="en-US" sz="1150" dirty="0"/>
          </a:p>
        </p:txBody>
      </p:sp>
      <p:sp>
        <p:nvSpPr>
          <p:cNvPr id="19" name="Shape 17"/>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20" name="Shape 18"/>
          <p:cNvSpPr/>
          <p:nvPr/>
        </p:nvSpPr>
        <p:spPr>
          <a:xfrm>
            <a:off x="4663440" y="2710282"/>
            <a:ext cx="64008" cy="918058"/>
          </a:xfrm>
          <a:prstGeom prst="rect">
            <a:avLst/>
          </a:prstGeom>
          <a:solidFill>
            <a:srgbClr val="D97A14"/>
          </a:solidFill>
          <a:ln w="12700">
            <a:solidFill>
              <a:srgbClr val="D97A14"/>
            </a:solidFill>
            <a:prstDash val="solid"/>
          </a:ln>
        </p:spPr>
      </p:sp>
      <p:sp>
        <p:nvSpPr>
          <p:cNvPr id="21" name="Text 19"/>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 legacy input's 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stack of zero items.</a:t>
            </a:r>
            <a:endParaRPr lang="en-US" sz="1300" dirty="0"/>
          </a:p>
        </p:txBody>
      </p:sp>
      <p:sp>
        <p:nvSpPr>
          <p:cNvPr id="22" name="Text 20"/>
          <p:cNvSpPr txBox="1"/>
          <p:nvPr/>
        </p:nvSpPr>
        <p:spPr>
          <a:xfrm>
            <a:off x="4828032"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empty annex: nothing stapled to old-style inputs.</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62</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 fork or soft fork?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segregated witness could be activated without splitting the network</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hard fork loosens the rules</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Blocks that old nodes reject become valid.</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Every node must upgrade, or the chain splits.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new road standard that old cars cannot use.</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A soft fork tightens the rules</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New nodes reject more; they accept nothing new.</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Old nodes still follow the chain and accept its blocks.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stricter speed limit that old cars can still obey.</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soft fork can only restrict; old nodes keep accepting the blocks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62</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Lock time and the coinbase</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lock time is a post-dated cheque; a coinbase is the mint's wage slip.</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Lock time</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rule that a transaction may not enter a block before a time.</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post-dated cheque.</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Coinbase transactions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first transaction of every block, which creates new coins.</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mint's wage slip for the miner.</a:t>
            </a:r>
            <a:endParaRPr lang="en-US" sz="11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62</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Lock time and the coinbase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lock time field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Zero: eligible for any block.</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do-not-open-before date on an envelope.</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Lock time as a block height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123,456 means block 123,456 or later.</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do not open before a numbered page of the logbook.</a:t>
            </a:r>
            <a:endParaRPr lang="en-US" sz="1150" dirty="0"/>
          </a:p>
        </p:txBody>
      </p:sp>
      <p:sp>
        <p:nvSpPr>
          <p:cNvPr id="14" name="Shape 12"/>
          <p:cNvSpPr/>
          <p:nvPr/>
        </p:nvSpPr>
        <p:spPr>
          <a:xfrm>
            <a:off x="457200" y="2505456"/>
            <a:ext cx="4041648" cy="1097280"/>
          </a:xfrm>
          <a:prstGeom prst="roundRect">
            <a:avLst>
              <a:gd name="adj" fmla="val 6667"/>
            </a:avLst>
          </a:prstGeom>
          <a:solidFill>
            <a:srgbClr val="F2ECE1"/>
          </a:solidFill>
          <a:ln w="12700">
            <a:solidFill>
              <a:srgbClr val="DFD6C7"/>
            </a:solidFill>
            <a:prstDash val="solid"/>
          </a:ln>
        </p:spPr>
      </p:sp>
      <p:sp>
        <p:nvSpPr>
          <p:cNvPr id="15" name="Shape 13"/>
          <p:cNvSpPr/>
          <p:nvPr/>
        </p:nvSpPr>
        <p:spPr>
          <a:xfrm>
            <a:off x="475488" y="2633472"/>
            <a:ext cx="64008" cy="841248"/>
          </a:xfrm>
          <a:prstGeom prst="rect">
            <a:avLst/>
          </a:prstGeom>
          <a:solidFill>
            <a:srgbClr val="D97A14"/>
          </a:solidFill>
          <a:ln w="12700">
            <a:solidFill>
              <a:srgbClr val="D97A14"/>
            </a:solidFill>
            <a:prstDash val="solid"/>
          </a:ln>
        </p:spPr>
      </p:sp>
      <p:sp>
        <p:nvSpPr>
          <p:cNvPr id="16" name="Text 14"/>
          <p:cNvSpPr txBox="1"/>
          <p:nvPr/>
        </p:nvSpPr>
        <p:spPr>
          <a:xfrm>
            <a:off x="640080"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Lock time as an epoch time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500,000,000 or more is a timestamp.</a:t>
            </a:r>
            <a:endParaRPr lang="en-US" sz="1300" dirty="0"/>
          </a:p>
        </p:txBody>
      </p:sp>
      <p:sp>
        <p:nvSpPr>
          <p:cNvPr id="17" name="Text 15"/>
          <p:cNvSpPr txBox="1"/>
          <p:nvPr/>
        </p:nvSpPr>
        <p:spPr>
          <a:xfrm>
            <a:off x="640080"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do not open before this calendar date.</a:t>
            </a:r>
            <a:endParaRPr lang="en-US" sz="1150" dirty="0"/>
          </a:p>
        </p:txBody>
      </p:sp>
      <p:sp>
        <p:nvSpPr>
          <p:cNvPr id="18" name="Shape 16"/>
          <p:cNvSpPr/>
          <p:nvPr/>
        </p:nvSpPr>
        <p:spPr>
          <a:xfrm>
            <a:off x="4645152" y="2505456"/>
            <a:ext cx="4041648" cy="1097280"/>
          </a:xfrm>
          <a:prstGeom prst="roundRect">
            <a:avLst>
              <a:gd name="adj" fmla="val 6667"/>
            </a:avLst>
          </a:prstGeom>
          <a:solidFill>
            <a:srgbClr val="F2ECE1"/>
          </a:solidFill>
          <a:ln w="12700">
            <a:solidFill>
              <a:srgbClr val="DFD6C7"/>
            </a:solidFill>
            <a:prstDash val="solid"/>
          </a:ln>
        </p:spPr>
      </p:sp>
      <p:sp>
        <p:nvSpPr>
          <p:cNvPr id="19" name="Shape 17"/>
          <p:cNvSpPr/>
          <p:nvPr/>
        </p:nvSpPr>
        <p:spPr>
          <a:xfrm>
            <a:off x="4663440" y="2633472"/>
            <a:ext cx="64008" cy="841248"/>
          </a:xfrm>
          <a:prstGeom prst="rect">
            <a:avLst/>
          </a:prstGeom>
          <a:solidFill>
            <a:srgbClr val="D97A14"/>
          </a:solidFill>
          <a:ln w="12700">
            <a:solidFill>
              <a:srgbClr val="D97A14"/>
            </a:solidFill>
            <a:prstDash val="solid"/>
          </a:ln>
        </p:spPr>
      </p:sp>
      <p:sp>
        <p:nvSpPr>
          <p:cNvPr id="20" name="Text 18"/>
          <p:cNvSpPr txBox="1"/>
          <p:nvPr/>
        </p:nvSpPr>
        <p:spPr>
          <a:xfrm>
            <a:off x="4828032"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Median time past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middle of eleven block times.</a:t>
            </a:r>
            <a:endParaRPr lang="en-US" sz="1300" dirty="0"/>
          </a:p>
        </p:txBody>
      </p:sp>
      <p:sp>
        <p:nvSpPr>
          <p:cNvPr id="21" name="Text 19"/>
          <p:cNvSpPr txBox="1"/>
          <p:nvPr/>
        </p:nvSpPr>
        <p:spPr>
          <a:xfrm>
            <a:off x="4828032"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asking the middle voter, not the loudest.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62</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Lock time and the median time past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Which clock a lock time is read against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FFD28A"/>
                </a:solidFill>
                <a:latin typeface="Courier New" pitchFamily="34" charset="0"/>
                <a:ea typeface="Courier New" pitchFamily="34" charset="-122"/>
                <a:cs typeface="Courier New" pitchFamily="34" charset="-120"/>
              </a:rPr>
              <a:t>15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27</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18</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25</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times = [</a:t>
            </a:r>
            <a:r>
              <a:rPr lang="en-US" sz="1000" dirty="0">
                <a:solidFill>
                  <a:srgbClr val="FFD28A"/>
                </a:solidFill>
                <a:latin typeface="Courier New" pitchFamily="34" charset="0"/>
                <a:ea typeface="Courier New" pitchFamily="34" charset="-122"/>
                <a:cs typeface="Courier New" pitchFamily="34" charset="-120"/>
              </a:rPr>
              <a:t>1675556500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 k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ks]</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mtp = median_time_past(times)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offsets = [t - </a:t>
            </a:r>
            <a:r>
              <a:rPr lang="en-US" sz="1000" dirty="0">
                <a:solidFill>
                  <a:srgbClr val="FFD28A"/>
                </a:solidFill>
                <a:latin typeface="Courier New" pitchFamily="34" charset="0"/>
                <a:ea typeface="Courier New" pitchFamily="34" charset="-122"/>
                <a:cs typeface="Courier New" pitchFamily="34" charset="-120"/>
              </a:rPr>
              <a:t>1675556500</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times]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mtp_offset = mtp - </a:t>
            </a:r>
            <a:r>
              <a:rPr lang="en-US" sz="1000" dirty="0">
                <a:solidFill>
                  <a:srgbClr val="FFD28A"/>
                </a:solidFill>
                <a:latin typeface="Courier New" pitchFamily="34" charset="0"/>
                <a:ea typeface="Courier New" pitchFamily="34" charset="-122"/>
                <a:cs typeface="Courier New" pitchFamily="34" charset="-120"/>
              </a:rPr>
              <a:t>1675556500</a:t>
            </a:r>
            <a:endParaRPr lang="en-US" sz="1000" dirty="0"/>
          </a:p>
        </p:txBody>
      </p:sp>
      <p:sp>
        <p:nvSpPr>
          <p:cNvPr id="10" name="Shape 8"/>
          <p:cNvSpPr/>
          <p:nvPr/>
        </p:nvSpPr>
        <p:spPr>
          <a:xfrm>
            <a:off x="457200" y="308427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315742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lt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123456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1675556500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kinds = [locktime_decode(n)[</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lt]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mtp_offset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2100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Eleven block times, out of order, as they are on the real chain.</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median time past is the middle of the eleven, not the newest.</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lock time below 500 million is a height; a larger one is a time.</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block times, seconds after 1675556500</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median of the eleven is 2,100 s, 600 s below the highest. Lock time kinds: any block, block height, epoch time.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Lock time says not before; nothing in a transaction says not after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62</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Lock time and the coinbase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Coinbase transaction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First in the block, made by the miner.</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bonus the mint pays whoever closes the page.</a:t>
            </a:r>
            <a:endParaRPr lang="en-US" sz="1150" dirty="0"/>
          </a:p>
        </p:txBody>
      </p:sp>
      <p:sp>
        <p:nvSpPr>
          <p:cNvPr id="10" name="Text 8"/>
          <p:cNvSpPr txBox="1"/>
          <p:nvPr/>
        </p:nvSpPr>
        <p:spPr>
          <a:xfrm>
            <a:off x="640080" y="2217420"/>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generation transaction</a:t>
            </a:r>
            <a:endParaRPr lang="en-US" sz="1000" dirty="0"/>
          </a:p>
        </p:txBody>
      </p:sp>
      <p:sp>
        <p:nvSpPr>
          <p:cNvPr id="11" name="Shape 9"/>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2" name="Shape 10"/>
          <p:cNvSpPr/>
          <p:nvPr/>
        </p:nvSpPr>
        <p:spPr>
          <a:xfrm>
            <a:off x="4663440" y="1408176"/>
            <a:ext cx="64008" cy="918058"/>
          </a:xfrm>
          <a:prstGeom prst="rect">
            <a:avLst/>
          </a:prstGeom>
          <a:solidFill>
            <a:srgbClr val="D97A14"/>
          </a:solidFill>
          <a:ln w="12700">
            <a:solidFill>
              <a:srgbClr val="D97A14"/>
            </a:solidFill>
            <a:prstDash val="solid"/>
          </a:ln>
        </p:spPr>
      </p:sp>
      <p:sp>
        <p:nvSpPr>
          <p:cNvPr id="13" name="Text 11"/>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null outpoint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32 zero bytes and index 0xffffffff.</a:t>
            </a:r>
            <a:endParaRPr lang="en-US" sz="1300" dirty="0"/>
          </a:p>
        </p:txBody>
      </p:sp>
      <p:sp>
        <p:nvSpPr>
          <p:cNvPr id="14" name="Text 12"/>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ticket with no previous holder: printed new.</a:t>
            </a:r>
            <a:endParaRPr lang="en-US" sz="1150" dirty="0"/>
          </a:p>
        </p:txBody>
      </p:sp>
      <p:sp>
        <p:nvSpPr>
          <p:cNvPr id="15" name="Shape 13"/>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6" name="Shape 14"/>
          <p:cNvSpPr/>
          <p:nvPr/>
        </p:nvSpPr>
        <p:spPr>
          <a:xfrm>
            <a:off x="475488" y="2710282"/>
            <a:ext cx="64008" cy="918058"/>
          </a:xfrm>
          <a:prstGeom prst="rect">
            <a:avLst/>
          </a:prstGeom>
          <a:solidFill>
            <a:srgbClr val="D97A14"/>
          </a:solidFill>
          <a:ln w="12700">
            <a:solidFill>
              <a:srgbClr val="D97A14"/>
            </a:solidFill>
            <a:prstDash val="solid"/>
          </a:ln>
        </p:spPr>
      </p:sp>
      <p:sp>
        <p:nvSpPr>
          <p:cNvPr id="17" name="Text 15"/>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coinbase field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2 to 100 bytes, beginning with the height.</a:t>
            </a:r>
            <a:endParaRPr lang="en-US" sz="1300" dirty="0"/>
          </a:p>
        </p:txBody>
      </p:sp>
      <p:sp>
        <p:nvSpPr>
          <p:cNvPr id="18" name="Text 16"/>
          <p:cNvSpPr txBox="1"/>
          <p:nvPr/>
        </p:nvSpPr>
        <p:spPr>
          <a:xfrm>
            <a:off x="640080" y="3108046"/>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free text box on the bonus slip.</a:t>
            </a:r>
            <a:endParaRPr lang="en-US" sz="1150" dirty="0"/>
          </a:p>
        </p:txBody>
      </p:sp>
      <p:sp>
        <p:nvSpPr>
          <p:cNvPr id="19" name="Shape 17"/>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20" name="Shape 18"/>
          <p:cNvSpPr/>
          <p:nvPr/>
        </p:nvSpPr>
        <p:spPr>
          <a:xfrm>
            <a:off x="4663440" y="2710282"/>
            <a:ext cx="64008" cy="918058"/>
          </a:xfrm>
          <a:prstGeom prst="rect">
            <a:avLst/>
          </a:prstGeom>
          <a:solidFill>
            <a:srgbClr val="D97A14"/>
          </a:solidFill>
          <a:ln w="12700">
            <a:solidFill>
              <a:srgbClr val="D97A14"/>
            </a:solidFill>
            <a:prstDash val="solid"/>
          </a:ln>
        </p:spPr>
      </p:sp>
      <p:sp>
        <p:nvSpPr>
          <p:cNvPr id="21" name="Text 19"/>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 subsidy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50 BTC, halved every 210,000 blocks.</a:t>
            </a:r>
            <a:endParaRPr lang="en-US" sz="1300" dirty="0"/>
          </a:p>
        </p:txBody>
      </p:sp>
      <p:sp>
        <p:nvSpPr>
          <p:cNvPr id="22" name="Text 20"/>
          <p:cNvSpPr txBox="1"/>
          <p:nvPr/>
        </p:nvSpPr>
        <p:spPr>
          <a:xfrm>
            <a:off x="4828032"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bonus that halves every four years of work.</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62</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subsidy, halving by halving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bitcoin created by each block</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a:t>
            </a:r>
            <a:r>
              <a:rPr lang="en-US" sz="1000" dirty="0">
                <a:solidFill>
                  <a:srgbClr val="FFD28A"/>
                </a:solidFill>
                <a:latin typeface="Courier New" pitchFamily="34" charset="0"/>
                <a:ea typeface="Courier New" pitchFamily="34" charset="-122"/>
                <a:cs typeface="Courier New" pitchFamily="34" charset="-120"/>
              </a:rPr>
              <a:t>210000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subs = [block_subsidy(n * h) / COIN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h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a:t>
            </a:r>
            <a:r>
              <a:rPr lang="en-US" sz="1000" dirty="0">
                <a:solidFill>
                  <a:srgbClr val="FFD28A"/>
                </a:solidFill>
                <a:latin typeface="Courier New" pitchFamily="34" charset="0"/>
                <a:ea typeface="Courier New" pitchFamily="34" charset="-122"/>
                <a:cs typeface="Courier New" pitchFamily="34" charset="-120"/>
              </a:rPr>
              <a:t>9</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last = last_subsidy_height()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 total_subsidy() / COIN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last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6929999</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subsidy halves at every multiple of 210,000 blocks.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the block found here the subsidy is zero for good.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Everything ever issued stays just below 21 million bitcoin.</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subsidy in bitcoin, by halving number</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last subsidy is paid at block 6,929,999; the total ever issued is 20,999,999.9769 bitcoin.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coinbase is the only transaction that creates bitcoin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62</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Lock time and the coinbase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 reward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Fees plus subsidy, as a ceiling.</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bonus plus the tips from customers.</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Maturity rule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100 confirmations before spending.</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wages you cannot spend until the pay clears.</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52 / 62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coinbase and its maturity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null input, and 100 blocks of waiting</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null = {</a:t>
            </a:r>
            <a:r>
              <a:rPr lang="en-US" sz="1000" dirty="0">
                <a:solidFill>
                  <a:srgbClr val="9ECBFF"/>
                </a:solidFill>
                <a:latin typeface="Courier New" pitchFamily="34" charset="0"/>
                <a:ea typeface="Courier New" pitchFamily="34" charset="-122"/>
                <a:cs typeface="Courier New" pitchFamily="34" charset="-120"/>
              </a:rPr>
              <a:t>'txid'</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'vout'</a:t>
            </a:r>
            <a:r>
              <a:rPr lang="en-US" sz="1000" dirty="0">
                <a:solidFill>
                  <a:srgbClr val="E6EDF3"/>
                </a:solidFill>
                <a:latin typeface="Courier New" pitchFamily="34" charset="0"/>
                <a:ea typeface="Courier New" pitchFamily="34" charset="-122"/>
                <a:cs typeface="Courier New" pitchFamily="34" charset="-120"/>
              </a:rPr>
              <a:t>: 0xffffffff}</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cb = {</a:t>
            </a:r>
            <a:r>
              <a:rPr lang="en-US" sz="1000" dirty="0">
                <a:solidFill>
                  <a:srgbClr val="9ECBFF"/>
                </a:solidFill>
                <a:latin typeface="Courier New" pitchFamily="34" charset="0"/>
                <a:ea typeface="Courier New" pitchFamily="34" charset="-122"/>
                <a:cs typeface="Courier New" pitchFamily="34" charset="-120"/>
              </a:rPr>
              <a:t>'inputs'</a:t>
            </a:r>
            <a:r>
              <a:rPr lang="en-US" sz="1000" dirty="0">
                <a:solidFill>
                  <a:srgbClr val="E6EDF3"/>
                </a:solidFill>
                <a:latin typeface="Courier New" pitchFamily="34" charset="0"/>
                <a:ea typeface="Courier New" pitchFamily="34" charset="-122"/>
                <a:cs typeface="Courier New" pitchFamily="34" charset="-120"/>
              </a:rPr>
              <a:t>: [null]}</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flags = (is_coinbase(cb), is_coinbase(tx))</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hs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108</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170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ages = [(h, h - </a:t>
            </a:r>
            <a:r>
              <a:rPr lang="en-US" sz="1000" dirty="0">
                <a:solidFill>
                  <a:srgbClr val="FFD28A"/>
                </a:solidFill>
                <a:latin typeface="Courier New" pitchFamily="34" charset="0"/>
                <a:ea typeface="Courier New" pitchFamily="34" charset="-122"/>
                <a:cs typeface="Courier New" pitchFamily="34" charset="-120"/>
              </a:rPr>
              <a:t>9</a:t>
            </a:r>
            <a:r>
              <a:rPr lang="en-US" sz="1000" dirty="0">
                <a:solidFill>
                  <a:srgbClr val="E6EDF3"/>
                </a:solidFill>
                <a:latin typeface="Courier New" pitchFamily="34" charset="0"/>
                <a:ea typeface="Courier New" pitchFamily="34" charset="-122"/>
                <a:cs typeface="Courier New" pitchFamily="34" charset="-120"/>
              </a:rPr>
              <a:t>, coinbase_mature(</a:t>
            </a:r>
            <a:r>
              <a:rPr lang="en-US" sz="1000" dirty="0">
                <a:solidFill>
                  <a:srgbClr val="FFD28A"/>
                </a:solidFill>
                <a:latin typeface="Courier New" pitchFamily="34" charset="0"/>
                <a:ea typeface="Courier New" pitchFamily="34" charset="-122"/>
                <a:cs typeface="Courier New" pitchFamily="34" charset="-120"/>
              </a:rPr>
              <a:t>9</a:t>
            </a:r>
            <a:r>
              <a:rPr lang="en-US" sz="1000" dirty="0">
                <a:solidFill>
                  <a:srgbClr val="E6EDF3"/>
                </a:solidFill>
                <a:latin typeface="Courier New" pitchFamily="34" charset="0"/>
                <a:ea typeface="Courier New" pitchFamily="34" charset="-122"/>
                <a:cs typeface="Courier New" pitchFamily="34" charset="-120"/>
              </a:rPr>
              <a:t>, h))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h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flags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coinbase input points at nothing: a null txid and the largest output index.</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Alice's transaction is an ordinary one, not a coinbase.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coin created at block 9 may be spent only 100 blocks later.</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coin created at block 9</a:t>
            </a:r>
            <a:endParaRPr lang="en-US" sz="11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188720"/>
                <a:gridCol w="731520"/>
                <a:gridCol w="10515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Spend at block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Spendable?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170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161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is_coinbase is True for the null input and False for Alice's transaction.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Newly created coins cannot be spent until 100 blocks have passed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53 / 62</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Weight and foundations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Weight is a transaction's postage; foundations are the post office's rules.</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Weight and vbytes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measure that decides how much block space a transaction uses.</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postage that charges less for the small print.</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Foundations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hashes, identifiers and rule sets the chapter rests on.</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foundations under a house.</a:t>
            </a:r>
            <a:endParaRPr lang="en-US" sz="11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54 / 62</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Weight and foundations (1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Weight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3 times the legacy size plus the full size.</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postage priced by volume, with signatures at a discount.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Vbytes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Weight divided by four, rounded up.</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parcel size after the discount is applied.</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block weight limit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4 million weight a block.</a:t>
            </a:r>
            <a:endParaRPr lang="en-US" sz="1300" dirty="0"/>
          </a:p>
        </p:txBody>
      </p:sp>
      <p:sp>
        <p:nvSpPr>
          <p:cNvPr id="17" name="Text 15"/>
          <p:cNvSpPr txBox="1"/>
          <p:nvPr/>
        </p:nvSpPr>
        <p:spPr>
          <a:xfrm>
            <a:off x="640080"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lorry that carries four million weight units.</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Weight factors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4 for most fields, 1 for marker, flag and witness.</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price list: four for plain bytes, one for annex bytes.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55 / 62</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569: weight by field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Where the weight of Alice's transaction comes from</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fw = field_weights(ALICE)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b="1" dirty="0">
                <a:solidFill>
                  <a:srgbClr val="F2A860"/>
                </a:solidFill>
                <a:latin typeface="Courier New" pitchFamily="34" charset="0"/>
                <a:ea typeface="Courier New" pitchFamily="34" charset="-122"/>
                <a:cs typeface="Courier New" pitchFamily="34" charset="-120"/>
              </a:rPr>
              <a:t>from</a:t>
            </a:r>
            <a:r>
              <a:rPr lang="en-US" sz="1000" dirty="0">
                <a:solidFill>
                  <a:srgbClr val="E6EDF3"/>
                </a:solidFill>
                <a:latin typeface="Courier New" pitchFamily="34" charset="0"/>
                <a:ea typeface="Courier New" pitchFamily="34" charset="-122"/>
                <a:cs typeface="Courier New" pitchFamily="34" charset="-120"/>
              </a:rPr>
              <a:t> collections </a:t>
            </a:r>
            <a:r>
              <a:rPr lang="en-US" sz="1000" b="1" dirty="0">
                <a:solidFill>
                  <a:srgbClr val="F2A860"/>
                </a:solidFill>
                <a:latin typeface="Courier New" pitchFamily="34" charset="0"/>
                <a:ea typeface="Courier New" pitchFamily="34" charset="-122"/>
                <a:cs typeface="Courier New" pitchFamily="34" charset="-120"/>
              </a:rPr>
              <a:t>import</a:t>
            </a:r>
            <a:r>
              <a:rPr lang="en-US" sz="1000" dirty="0">
                <a:solidFill>
                  <a:srgbClr val="E6EDF3"/>
                </a:solidFill>
                <a:latin typeface="Courier New" pitchFamily="34" charset="0"/>
                <a:ea typeface="Courier New" pitchFamily="34" charset="-122"/>
                <a:cs typeface="Courier New" pitchFamily="34" charset="-120"/>
              </a:rPr>
              <a:t> defaultdict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 defaultdict(int)</a:t>
            </a:r>
            <a:endParaRPr lang="en-US" sz="1000" dirty="0"/>
          </a:p>
        </p:txBody>
      </p:sp>
      <p:sp>
        <p:nvSpPr>
          <p:cNvPr id="8" name="Shape 6"/>
          <p:cNvSpPr/>
          <p:nvPr/>
        </p:nvSpPr>
        <p:spPr>
          <a:xfrm>
            <a:off x="457200" y="2452421"/>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525573"/>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nm, n, f, w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fw: W[nm.split()[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w</a:t>
            </a:r>
            <a:endParaRPr lang="en-US" sz="1000" dirty="0"/>
          </a:p>
        </p:txBody>
      </p:sp>
      <p:sp>
        <p:nvSpPr>
          <p:cNvPr id="10" name="Shape 8"/>
          <p:cNvSpPr/>
          <p:nvPr/>
        </p:nvSpPr>
        <p:spPr>
          <a:xfrm>
            <a:off x="457200" y="308427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315742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 sum(W.values())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vb = vbytes(ALICE)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vb)</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(569, 143)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Every field weighs its bytes times four, except marker, flag and witness.</a:t>
            </a:r>
            <a:endParaRPr lang="en-US" sz="1050" dirty="0"/>
          </a:p>
        </p:txBody>
      </p:sp>
      <p:sp>
        <p:nvSpPr>
          <p:cNvPr id="15" name="Shape 13"/>
          <p:cNvSpPr/>
          <p:nvPr/>
        </p:nvSpPr>
        <p:spPr>
          <a:xfrm>
            <a:off x="365760" y="2379269"/>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37926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 the weights up per group of fields.</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weights add up to the book's 569; virtual bytes are a quarter, rounded up.</a:t>
            </a:r>
            <a:endParaRPr lang="en-US" sz="1050" dirty="0"/>
          </a:p>
        </p:txBody>
      </p:sp>
      <p:sp>
        <p:nvSpPr>
          <p:cNvPr id="21" name="Text 19"/>
          <p:cNvSpPr txBox="1"/>
          <p:nvPr/>
        </p:nvSpPr>
        <p:spPr>
          <a:xfrm>
            <a:off x="457200" y="433882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weight units per field group (total 569)</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Total weight 569; divided by four and rounded up that is 143 virtual bytes.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Weight is what a block is filled by, and witness bytes cost a quarter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56 / 62</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Weight and foundations (2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Hash function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Any input, a fixed 32-byte digest.</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meat grinder: any input, a result of fixed size.</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Double SHA-256</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SHA-256 of SHA-256.</a:t>
            </a:r>
            <a:endParaRPr lang="en-US" sz="1300" dirty="0"/>
          </a:p>
        </p:txBody>
      </p:sp>
      <p:sp>
        <p:nvSpPr>
          <p:cNvPr id="13" name="Text 11"/>
          <p:cNvSpPr txBox="1"/>
          <p:nvPr/>
        </p:nvSpPr>
        <p:spPr>
          <a:xfrm>
            <a:off x="4828032"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running the grinder twice for safety.</a:t>
            </a:r>
            <a:endParaRPr lang="en-US" sz="1150" dirty="0"/>
          </a:p>
        </p:txBody>
      </p:sp>
      <p:sp>
        <p:nvSpPr>
          <p:cNvPr id="14" name="Shape 12"/>
          <p:cNvSpPr/>
          <p:nvPr/>
        </p:nvSpPr>
        <p:spPr>
          <a:xfrm>
            <a:off x="457200" y="2505456"/>
            <a:ext cx="4041648" cy="1097280"/>
          </a:xfrm>
          <a:prstGeom prst="roundRect">
            <a:avLst>
              <a:gd name="adj" fmla="val 6667"/>
            </a:avLst>
          </a:prstGeom>
          <a:solidFill>
            <a:srgbClr val="F2ECE1"/>
          </a:solidFill>
          <a:ln w="12700">
            <a:solidFill>
              <a:srgbClr val="DFD6C7"/>
            </a:solidFill>
            <a:prstDash val="solid"/>
          </a:ln>
        </p:spPr>
      </p:sp>
      <p:sp>
        <p:nvSpPr>
          <p:cNvPr id="15" name="Shape 13"/>
          <p:cNvSpPr/>
          <p:nvPr/>
        </p:nvSpPr>
        <p:spPr>
          <a:xfrm>
            <a:off x="475488" y="2633472"/>
            <a:ext cx="64008" cy="841248"/>
          </a:xfrm>
          <a:prstGeom prst="rect">
            <a:avLst/>
          </a:prstGeom>
          <a:solidFill>
            <a:srgbClr val="D97A14"/>
          </a:solidFill>
          <a:ln w="12700">
            <a:solidFill>
              <a:srgbClr val="D97A14"/>
            </a:solidFill>
            <a:prstDash val="solid"/>
          </a:ln>
        </p:spPr>
      </p:sp>
      <p:sp>
        <p:nvSpPr>
          <p:cNvPr id="16" name="Text 14"/>
          <p:cNvSpPr txBox="1"/>
          <p:nvPr/>
        </p:nvSpPr>
        <p:spPr>
          <a:xfrm>
            <a:off x="640080"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identifier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Double SHA-256 of the legacy bytes, reversed.</a:t>
            </a:r>
            <a:endParaRPr lang="en-US" sz="1300" dirty="0"/>
          </a:p>
        </p:txBody>
      </p:sp>
      <p:sp>
        <p:nvSpPr>
          <p:cNvPr id="17" name="Text 15"/>
          <p:cNvSpPr txBox="1"/>
          <p:nvPr/>
        </p:nvSpPr>
        <p:spPr>
          <a:xfrm>
            <a:off x="640080"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parcel's tracking number from its plain contents.</a:t>
            </a:r>
            <a:endParaRPr lang="en-US" sz="1150" dirty="0"/>
          </a:p>
        </p:txBody>
      </p:sp>
      <p:sp>
        <p:nvSpPr>
          <p:cNvPr id="18" name="Shape 16"/>
          <p:cNvSpPr/>
          <p:nvPr/>
        </p:nvSpPr>
        <p:spPr>
          <a:xfrm>
            <a:off x="4645152" y="2505456"/>
            <a:ext cx="4041648" cy="1097280"/>
          </a:xfrm>
          <a:prstGeom prst="roundRect">
            <a:avLst>
              <a:gd name="adj" fmla="val 6667"/>
            </a:avLst>
          </a:prstGeom>
          <a:solidFill>
            <a:srgbClr val="F2ECE1"/>
          </a:solidFill>
          <a:ln w="12700">
            <a:solidFill>
              <a:srgbClr val="DFD6C7"/>
            </a:solidFill>
            <a:prstDash val="solid"/>
          </a:ln>
        </p:spPr>
      </p:sp>
      <p:sp>
        <p:nvSpPr>
          <p:cNvPr id="19" name="Shape 17"/>
          <p:cNvSpPr/>
          <p:nvPr/>
        </p:nvSpPr>
        <p:spPr>
          <a:xfrm>
            <a:off x="4663440" y="2633472"/>
            <a:ext cx="64008" cy="841248"/>
          </a:xfrm>
          <a:prstGeom prst="rect">
            <a:avLst/>
          </a:prstGeom>
          <a:solidFill>
            <a:srgbClr val="D97A14"/>
          </a:solidFill>
          <a:ln w="12700">
            <a:solidFill>
              <a:srgbClr val="D97A14"/>
            </a:solidFill>
            <a:prstDash val="solid"/>
          </a:ln>
        </p:spPr>
      </p:sp>
      <p:sp>
        <p:nvSpPr>
          <p:cNvPr id="20" name="Text 18"/>
          <p:cNvSpPr txBox="1"/>
          <p:nvPr/>
        </p:nvSpPr>
        <p:spPr>
          <a:xfrm>
            <a:off x="4828032"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 transaction identifier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hash of everything, witness included.</a:t>
            </a:r>
            <a:endParaRPr lang="en-US" sz="1300" dirty="0"/>
          </a:p>
        </p:txBody>
      </p:sp>
      <p:sp>
        <p:nvSpPr>
          <p:cNvPr id="21" name="Text 19"/>
          <p:cNvSpPr txBox="1"/>
          <p:nvPr/>
        </p:nvSpPr>
        <p:spPr>
          <a:xfrm>
            <a:off x="4828032"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tracking number that counts the annex too.</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57 / 62</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How a txid is made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Double SHA-256 of the legacy bytes, reversed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leg = serialize(tx, witness=</a:t>
            </a:r>
            <a:r>
              <a:rPr lang="en-US" sz="1000" b="1" dirty="0">
                <a:solidFill>
                  <a:srgbClr val="F2A860"/>
                </a:solidFill>
                <a:latin typeface="Courier New" pitchFamily="34" charset="0"/>
                <a:ea typeface="Courier New" pitchFamily="34" charset="-122"/>
                <a:cs typeface="Courier New" pitchFamily="34" charset="-120"/>
              </a:rPr>
              <a:t>False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h2 = sha256(sha256(leg))</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shown = h2[::-</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shown == txid(ALICE)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Start from the legacy bytes: the witness is not part of the txid.</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Hash the bytes twice with SHA-256, the second hash of the first.</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Reverse the digest for display: the result is the library's txid.</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from the legacy bytes to the txid</a:t>
            </a:r>
            <a:endParaRPr lang="en-US" sz="11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508760"/>
                <a:gridCol w="14630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Legacy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Double SHA-256, reversed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466200308696215b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Equals the library's txid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reversed digest equals the library's txid.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Identifiers are computed, never stored: anyone can recompute them</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58 / 62</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Weight and foundations (3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Relay policy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What a node chooses to relay and keep.</a:t>
            </a:r>
            <a:endParaRPr lang="en-US" sz="1300" dirty="0"/>
          </a:p>
        </p:txBody>
      </p:sp>
      <p:sp>
        <p:nvSpPr>
          <p:cNvPr id="9" name="Text 7"/>
          <p:cNvSpPr txBox="1"/>
          <p:nvPr/>
        </p:nvSpPr>
        <p:spPr>
          <a:xfrm>
            <a:off x="640080"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house rules of one post office.</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Consensus rule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What every node must enforce identically.</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law every post office must obey identically.</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59 / 62</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asks strangers to update their ledgers: inputs point, witnesses prove, outputs assign.</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sequence field has meant three things, and the lock time is read against the median of eleven blocks.</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An output is an amount and a condition; the fee is a difference, and dust is a policy about everyone's database.</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Witnesses in the input script made identifiers malleable; segregated witness moved them out, as a soft fork.</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coinbase creates coins under a schedule that ends at block 6,929,999, and weight is what a block is filled by.</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60 / 62</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2026-10-22;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Mastering Bitcoin, ch. 6: Transactions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Transaction Malleability and MtGox (paper)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Decker and Wattenhofer's measurements, free to download</a:t>
            </a:r>
            <a:endParaRPr lang="en-US" sz="1000" dirty="0"/>
          </a:p>
        </p:txBody>
      </p:sp>
      <p:sp>
        <p:nvSpPr>
          <p:cNvPr id="11" name="Text 9"/>
          <p:cNvSpPr txBox="1"/>
          <p:nvPr/>
        </p:nvSpPr>
        <p:spPr>
          <a:xfrm>
            <a:off x="45720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2" name="Shape 10"/>
          <p:cNvSpPr/>
          <p:nvPr/>
        </p:nvSpPr>
        <p:spPr>
          <a:xfrm>
            <a:off x="493776" y="2871216"/>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BIP 141: Segregated Witness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Weight, witness data and the new transaction format  bips.dev</a:t>
            </a:r>
            <a:endParaRPr lang="en-US" sz="100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68: Relative lock-time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Locking an input by sequence numbers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125: Opt-in Replace-by-Fee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a transaction signals that it may be replaced  bips.dev</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Tools</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Alice's transaction on mempool.space (tx)</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Block 775,072: the payment this chapter builds  mempool.space</a:t>
            </a:r>
            <a:endParaRPr lang="en-US" sz="1000" dirty="0"/>
          </a:p>
        </p:txBody>
      </p:sp>
      <p:sp>
        <p:nvSpPr>
          <p:cNvPr id="21" name="Shape 19"/>
          <p:cNvSpPr/>
          <p:nvPr/>
        </p:nvSpPr>
        <p:spPr>
          <a:xfrm>
            <a:off x="4768596" y="2121408"/>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Bitcoin Wiki: Transaction (guide)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Fields of a transaction, explained on the wiki  en.bitcoin.it</a:t>
            </a:r>
            <a:endParaRPr lang="en-US" sz="1000" dirty="0"/>
          </a:p>
        </p:txBody>
      </p:sp>
      <p:sp>
        <p:nvSpPr>
          <p:cNvPr id="23" name="Text 21"/>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4" name="Shape 22"/>
          <p:cNvSpPr/>
          <p:nvPr/>
        </p:nvSpPr>
        <p:spPr>
          <a:xfrm>
            <a:off x="4768596" y="2871216"/>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Laszlo Hanyecz's offer of 10,000 bitcoins, May 2010</a:t>
            </a:r>
            <a:endParaRPr lang="en-US" sz="1000" dirty="0"/>
          </a:p>
        </p:txBody>
      </p:sp>
      <p:sp>
        <p:nvSpPr>
          <p:cNvPr id="26" name="Shape 24"/>
          <p:cNvSpPr/>
          <p:nvPr/>
        </p:nvSpPr>
        <p:spPr>
          <a:xfrm>
            <a:off x="4768596" y="327355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Strange block 74638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forum thread where the overflow was found live</a:t>
            </a:r>
            <a:endParaRPr lang="en-US" sz="1000" dirty="0"/>
          </a:p>
        </p:txBody>
      </p:sp>
      <p:sp>
        <p:nvSpPr>
          <p:cNvPr id="28" name="Text 26"/>
          <p:cNvSpPr txBox="1"/>
          <p:nvPr/>
        </p:nvSpPr>
        <p:spPr>
          <a:xfrm>
            <a:off x="4732020" y="3675888"/>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9" name="Shape 27"/>
          <p:cNvSpPr/>
          <p:nvPr/>
        </p:nvSpPr>
        <p:spPr>
          <a:xfrm>
            <a:off x="4768596" y="4023360"/>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3950208"/>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Bitcoin transaction (tutorial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Mobilefish.com walks through inputs, outputs and signatures</a:t>
            </a:r>
            <a:endParaRPr lang="en-US" sz="100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Parse any transaction yourself and match the explorer's identifier and weight</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61 / 62</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transaction asks of full nodes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sequence and lock time permit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identifiers were malleable, and the fix</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569 is computed; who creates bitcoin</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62 / 62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6</dc:title>
  <dc:subject>PptxGenJS Presentation</dc:subject>
  <dc:creator>Yusuf Altunel</dc:creator>
  <cp:lastModifiedBy>Yusuf Altunel</cp:lastModifiedBy>
  <cp:revision>1</cp:revision>
  <dcterms:created xsi:type="dcterms:W3CDTF">2026-10-22T19:01:59Z</dcterms:created>
  <dcterms:modified xsi:type="dcterms:W3CDTF">2026-10-28T14:10:00Z</dcterms:modified>
  <cp:version>2.2.0</cp:version>
</cp:coreProperties>
</file>