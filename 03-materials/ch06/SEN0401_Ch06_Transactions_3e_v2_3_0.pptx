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0-1.jpg" ContentType="image/jpg"/>
  <Override PartName="/ppt/media/image-22-1.jpg" ContentType="image/jpg"/>
  <Override PartName="/ppt/media/image-35-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318" r:id="rId69"/>
    <p:sldId id="261" r:id="rId7"/>
    <p:sldId id="262" r:id="rId8"/>
    <p:sldId id="263" r:id="rId9"/>
    <p:sldId id="264" r:id="rId10"/>
    <p:sldId id="265" r:id="rId11"/>
    <p:sldId id="266" r:id="rId12"/>
    <p:sldId id="319" r:id="rId70"/>
    <p:sldId id="267" r:id="rId13"/>
    <p:sldId id="268" r:id="rId14"/>
    <p:sldId id="269" r:id="rId15"/>
    <p:sldId id="270" r:id="rId16"/>
    <p:sldId id="320" r:id="rId71"/>
    <p:sldId id="271" r:id="rId17"/>
    <p:sldId id="272" r:id="rId18"/>
    <p:sldId id="273" r:id="rId19"/>
    <p:sldId id="274" r:id="rId20"/>
    <p:sldId id="275" r:id="rId21"/>
    <p:sldId id="321" r:id="rId72"/>
    <p:sldId id="276" r:id="rId22"/>
    <p:sldId id="277" r:id="rId23"/>
    <p:sldId id="278" r:id="rId24"/>
    <p:sldId id="279" r:id="rId25"/>
    <p:sldId id="322" r:id="rId73"/>
    <p:sldId id="280" r:id="rId26"/>
    <p:sldId id="281" r:id="rId27"/>
    <p:sldId id="282" r:id="rId28"/>
    <p:sldId id="283" r:id="rId29"/>
    <p:sldId id="284" r:id="rId30"/>
    <p:sldId id="285" r:id="rId31"/>
    <p:sldId id="323" r:id="rId74"/>
    <p:sldId id="286" r:id="rId32"/>
    <p:sldId id="287" r:id="rId33"/>
    <p:sldId id="288" r:id="rId34"/>
    <p:sldId id="289" r:id="rId35"/>
    <p:sldId id="290" r:id="rId36"/>
    <p:sldId id="291" r:id="rId37"/>
    <p:sldId id="292" r:id="rId38"/>
    <p:sldId id="293" r:id="rId39"/>
    <p:sldId id="324" r:id="rId75"/>
    <p:sldId id="294" r:id="rId40"/>
    <p:sldId id="295" r:id="rId41"/>
    <p:sldId id="296" r:id="rId42"/>
    <p:sldId id="297" r:id="rId43"/>
    <p:sldId id="298" r:id="rId44"/>
    <p:sldId id="299" r:id="rId45"/>
    <p:sldId id="300" r:id="rId46"/>
    <p:sldId id="301" r:id="rId47"/>
    <p:sldId id="302" r:id="rId48"/>
    <p:sldId id="325" r:id="rId76"/>
    <p:sldId id="303" r:id="rId49"/>
    <p:sldId id="304" r:id="rId50"/>
    <p:sldId id="305" r:id="rId51"/>
    <p:sldId id="306" r:id="rId52"/>
    <p:sldId id="307" r:id="rId53"/>
    <p:sldId id="308" r:id="rId54"/>
    <p:sldId id="309" r:id="rId55"/>
    <p:sldId id="326" r:id="rId77"/>
    <p:sldId id="310" r:id="rId56"/>
    <p:sldId id="311" r:id="rId57"/>
    <p:sldId id="312" r:id="rId58"/>
    <p:sldId id="313" r:id="rId59"/>
    <p:sldId id="314" r:id="rId60"/>
    <p:sldId id="315" r:id="rId61"/>
    <p:sldId id="316" r:id="rId62"/>
    <p:sldId id="317" r:id="rId63"/>
  </p:sldIdLst>
  <p:notesMasterIdLst>
    <p:notesMasterId r:id="rId6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30.xml"/><Relationship Id="rId27" Type="http://schemas.openxmlformats.org/officeDocument/2006/relationships/slide" Target="slides/slide31.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6.xml"/><Relationship Id="rId41" Type="http://schemas.openxmlformats.org/officeDocument/2006/relationships/slide" Target="slides/slide47.xml"/><Relationship Id="rId42" Type="http://schemas.openxmlformats.org/officeDocument/2006/relationships/slide" Target="slides/slide48.xml"/><Relationship Id="rId43" Type="http://schemas.openxmlformats.org/officeDocument/2006/relationships/slide" Target="slides/slide49.xml"/><Relationship Id="rId44" Type="http://schemas.openxmlformats.org/officeDocument/2006/relationships/slide" Target="slides/slide50.xml"/><Relationship Id="rId45" Type="http://schemas.openxmlformats.org/officeDocument/2006/relationships/slide" Target="slides/slide51.xml"/><Relationship Id="rId46" Type="http://schemas.openxmlformats.org/officeDocument/2006/relationships/slide" Target="slides/slide52.xml"/><Relationship Id="rId47" Type="http://schemas.openxmlformats.org/officeDocument/2006/relationships/slide" Target="slides/slide53.xml"/><Relationship Id="rId48" Type="http://schemas.openxmlformats.org/officeDocument/2006/relationships/slide" Target="slides/slide54.xml"/><Relationship Id="rId49" Type="http://schemas.openxmlformats.org/officeDocument/2006/relationships/slide" Target="slides/slide56.xml"/><Relationship Id="rId50" Type="http://schemas.openxmlformats.org/officeDocument/2006/relationships/slide" Target="slides/slide57.xml"/><Relationship Id="rId51" Type="http://schemas.openxmlformats.org/officeDocument/2006/relationships/slide" Target="slides/slide58.xml"/><Relationship Id="rId52" Type="http://schemas.openxmlformats.org/officeDocument/2006/relationships/slide" Target="slides/slide59.xml"/><Relationship Id="rId53" Type="http://schemas.openxmlformats.org/officeDocument/2006/relationships/slide" Target="slides/slide60.xml"/><Relationship Id="rId54" Type="http://schemas.openxmlformats.org/officeDocument/2006/relationships/slide" Target="slides/slide61.xml"/><Relationship Id="rId55" Type="http://schemas.openxmlformats.org/officeDocument/2006/relationships/slide" Target="slides/slide62.xml"/><Relationship Id="rId56" Type="http://schemas.openxmlformats.org/officeDocument/2006/relationships/slide" Target="slides/slide64.xml"/><Relationship Id="rId57" Type="http://schemas.openxmlformats.org/officeDocument/2006/relationships/slide" Target="slides/slide65.xml"/><Relationship Id="rId58" Type="http://schemas.openxmlformats.org/officeDocument/2006/relationships/slide" Target="slides/slide66.xml"/><Relationship Id="rId59" Type="http://schemas.openxmlformats.org/officeDocument/2006/relationships/slide" Target="slides/slide67.xml"/><Relationship Id="rId60" Type="http://schemas.openxmlformats.org/officeDocument/2006/relationships/slide" Target="slides/slide68.xml"/><Relationship Id="rId61" Type="http://schemas.openxmlformats.org/officeDocument/2006/relationships/slide" Target="slides/slide69.xml"/><Relationship Id="rId62" Type="http://schemas.openxmlformats.org/officeDocument/2006/relationships/slide" Target="slides/slide70.xml"/><Relationship Id="rId63" Type="http://schemas.openxmlformats.org/officeDocument/2006/relationships/slide" Target="slides/slide71.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6.xml"/><Relationship Id="rId70" Type="http://schemas.openxmlformats.org/officeDocument/2006/relationships/slide" Target="slides/slide13.xml"/><Relationship Id="rId71" Type="http://schemas.openxmlformats.org/officeDocument/2006/relationships/slide" Target="slides/slide18.xml"/><Relationship Id="rId72" Type="http://schemas.openxmlformats.org/officeDocument/2006/relationships/slide" Target="slides/slide24.xml"/><Relationship Id="rId73" Type="http://schemas.openxmlformats.org/officeDocument/2006/relationships/slide" Target="slides/slide29.xml"/><Relationship Id="rId74" Type="http://schemas.openxmlformats.org/officeDocument/2006/relationships/slide" Target="slides/slide36.xml"/><Relationship Id="rId75" Type="http://schemas.openxmlformats.org/officeDocument/2006/relationships/slide" Target="slides/slide45.xml"/><Relationship Id="rId76" Type="http://schemas.openxmlformats.org/officeDocument/2006/relationships/slide" Target="slides/slide55.xml"/><Relationship Id="rId77"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bytes</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dPt>
            <c:idx val="4"/>
            <c:invertIfNegative val="0"/>
            <c:bubble3D val="0"/>
            <c:spPr>
              <a:solidFill>
                <a:srgbClr val="D97A14"/>
              </a:solidFill>
              <a:effectLst/>
            </c:spPr>
          </c:dPt>
          <c:dPt>
            <c:idx val="5"/>
            <c:invertIfNegative val="0"/>
            <c:bubble3D val="0"/>
            <c:spPr>
              <a:solidFill>
                <a:srgbClr val="2F6D62"/>
              </a:solidFill>
              <a:effectLst/>
            </c:spPr>
          </c:dPt>
          <c:dPt>
            <c:idx val="6"/>
            <c:invertIfNegative val="0"/>
            <c:bubble3D val="0"/>
            <c:spPr>
              <a:solidFill>
                <a:srgbClr val="D97A14"/>
              </a:solidFill>
              <a:effectLst/>
            </c:spPr>
          </c:dPt>
          <c:cat>
            <c:multiLvlStrRef>
              <c:f>Sheet1!$A$2:$A$8</c:f>
              <c:multiLvlStrCache>
                <c:ptCount val="7"/>
                <c:lvl>
                  <c:pt idx="0">
                    <c:v>version</c:v>
                  </c:pt>
                  <c:pt idx="1">
                    <c:v>marker</c:v>
                  </c:pt>
                  <c:pt idx="2">
                    <c:v>flag</c:v>
                  </c:pt>
                  <c:pt idx="3">
                    <c:v>input</c:v>
                  </c:pt>
                  <c:pt idx="4">
                    <c:v>output</c:v>
                  </c:pt>
                  <c:pt idx="5">
                    <c:v>witness</c:v>
                  </c:pt>
                  <c:pt idx="6">
                    <c:v>lock</c:v>
                  </c:pt>
                </c:lvl>
              </c:multiLvlStrCache>
            </c:multiLvlStrRef>
          </c:cat>
          <c:val>
            <c:numRef>
              <c:f>Sheet1!$B$2:$B$8</c:f>
              <c:numCache>
                <c:formatCode>General</c:formatCode>
                <c:ptCount val="7"/>
                <c:pt idx="0">
                  <c:v>4</c:v>
                </c:pt>
                <c:pt idx="1">
                  <c:v>1</c:v>
                </c:pt>
                <c:pt idx="2">
                  <c:v>1</c:v>
                </c:pt>
                <c:pt idx="3">
                  <c:v>42</c:v>
                </c:pt>
                <c:pt idx="4">
                  <c:v>75</c:v>
                </c:pt>
                <c:pt idx="5">
                  <c:v>67</c:v>
                </c:pt>
                <c:pt idx="6">
                  <c:v>4</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bytes</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dPt>
            <c:idx val="4"/>
            <c:invertIfNegative val="0"/>
            <c:bubble3D val="0"/>
            <c:spPr>
              <a:solidFill>
                <a:srgbClr val="D97A14"/>
              </a:solidFill>
              <a:effectLst/>
            </c:spPr>
          </c:dPt>
          <c:dPt>
            <c:idx val="5"/>
            <c:invertIfNegative val="0"/>
            <c:bubble3D val="0"/>
            <c:spPr>
              <a:solidFill>
                <a:srgbClr val="2F6D62"/>
              </a:solidFill>
              <a:effectLst/>
            </c:spPr>
          </c:dPt>
          <c:cat>
            <c:multiLvlStrRef>
              <c:f>Sheet1!$A$2:$A$7</c:f>
              <c:multiLvlStrCache>
                <c:ptCount val="6"/>
                <c:lvl>
                  <c:pt idx="0">
                    <c:v>1</c:v>
                  </c:pt>
                  <c:pt idx="1">
                    <c:v>252</c:v>
                  </c:pt>
                  <c:pt idx="2">
                    <c:v>253</c:v>
                  </c:pt>
                  <c:pt idx="3">
                    <c:v>65535</c:v>
                  </c:pt>
                  <c:pt idx="4">
                    <c:v>65536</c:v>
                  </c:pt>
                  <c:pt idx="5">
                    <c:v>2**32</c:v>
                  </c:pt>
                </c:lvl>
              </c:multiLvlStrCache>
            </c:multiLvlStrRef>
          </c:cat>
          <c:val>
            <c:numRef>
              <c:f>Sheet1!$B$2:$B$7</c:f>
              <c:numCache>
                <c:formatCode>General</c:formatCode>
                <c:ptCount val="6"/>
                <c:pt idx="0">
                  <c:v>1</c:v>
                </c:pt>
                <c:pt idx="1">
                  <c:v>1</c:v>
                </c:pt>
                <c:pt idx="2">
                  <c:v>3</c:v>
                </c:pt>
                <c:pt idx="3">
                  <c:v>3</c:v>
                </c:pt>
                <c:pt idx="4">
                  <c:v>5</c:v>
                </c:pt>
                <c:pt idx="5">
                  <c:v>9</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satoshis</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cat>
            <c:multiLvlStrRef>
              <c:f>Sheet1!$A$2:$A$4</c:f>
              <c:multiLvlStrCache>
                <c:ptCount val="3"/>
                <c:lvl>
                  <c:pt idx="0">
                    <c:v>output 0</c:v>
                  </c:pt>
                  <c:pt idx="1">
                    <c:v>output 1</c:v>
                  </c:pt>
                  <c:pt idx="2">
                    <c:v>fee</c:v>
                  </c:pt>
                </c:lvl>
              </c:multiLvlStrCache>
            </c:multiLvlStrRef>
          </c:cat>
          <c:val>
            <c:numRef>
              <c:f>Sheet1!$B$2:$B$4</c:f>
              <c:numCache>
                <c:formatCode>General</c:formatCode>
                <c:ptCount val="3"/>
                <c:pt idx="0">
                  <c:v>20000</c:v>
                </c:pt>
                <c:pt idx="1">
                  <c:v>75000</c:v>
                </c:pt>
                <c:pt idx="2">
                  <c:v>5000</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satoshis</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cat>
            <c:multiLvlStrRef>
              <c:f>Sheet1!$A$2:$A$5</c:f>
              <c:multiLvlStrCache>
                <c:ptCount val="4"/>
                <c:lvl>
                  <c:pt idx="0">
                    <c:v>P2PKH</c:v>
                  </c:pt>
                  <c:pt idx="1">
                    <c:v>P2WPKH</c:v>
                  </c:pt>
                  <c:pt idx="2">
                    <c:v>P2TR</c:v>
                  </c:pt>
                  <c:pt idx="3">
                    <c:v>RET</c:v>
                  </c:pt>
                </c:lvl>
              </c:multiLvlStrCache>
            </c:multiLvlStrRef>
          </c:cat>
          <c:val>
            <c:numRef>
              <c:f>Sheet1!$B$2:$B$5</c:f>
              <c:numCache>
                <c:formatCode>General</c:formatCode>
                <c:ptCount val="4"/>
                <c:pt idx="0">
                  <c:v>546</c:v>
                </c:pt>
                <c:pt idx="1">
                  <c:v>294</c:v>
                </c:pt>
                <c:pt idx="2">
                  <c:v>330</c:v>
                </c:pt>
                <c:pt idx="3">
                  <c:v>0</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seconds after the first</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dPt>
            <c:idx val="4"/>
            <c:invertIfNegative val="0"/>
            <c:bubble3D val="0"/>
            <c:spPr>
              <a:solidFill>
                <a:srgbClr val="D97A14"/>
              </a:solidFill>
              <a:effectLst/>
            </c:spPr>
          </c:dPt>
          <c:dPt>
            <c:idx val="5"/>
            <c:invertIfNegative val="0"/>
            <c:bubble3D val="0"/>
            <c:spPr>
              <a:solidFill>
                <a:srgbClr val="2F6D62"/>
              </a:solidFill>
              <a:effectLst/>
            </c:spPr>
          </c:dPt>
          <c:dPt>
            <c:idx val="6"/>
            <c:invertIfNegative val="0"/>
            <c:bubble3D val="0"/>
            <c:spPr>
              <a:solidFill>
                <a:srgbClr val="D97A14"/>
              </a:solidFill>
              <a:effectLst/>
            </c:spPr>
          </c:dPt>
          <c:dPt>
            <c:idx val="7"/>
            <c:invertIfNegative val="0"/>
            <c:bubble3D val="0"/>
            <c:spPr>
              <a:solidFill>
                <a:srgbClr val="2F6D62"/>
              </a:solidFill>
              <a:effectLst/>
            </c:spPr>
          </c:dPt>
          <c:dPt>
            <c:idx val="8"/>
            <c:invertIfNegative val="0"/>
            <c:bubble3D val="0"/>
            <c:spPr>
              <a:solidFill>
                <a:srgbClr val="D97A14"/>
              </a:solidFill>
              <a:effectLst/>
            </c:spPr>
          </c:dPt>
          <c:dPt>
            <c:idx val="9"/>
            <c:invertIfNegative val="0"/>
            <c:bubble3D val="0"/>
            <c:spPr>
              <a:solidFill>
                <a:srgbClr val="2F6D62"/>
              </a:solidFill>
              <a:effectLst/>
            </c:spPr>
          </c:dPt>
          <c:dPt>
            <c:idx val="10"/>
            <c:invertIfNegative val="0"/>
            <c:bubble3D val="0"/>
            <c:spPr>
              <a:solidFill>
                <a:srgbClr val="D97A14"/>
              </a:solidFill>
              <a:effectLst/>
            </c:spPr>
          </c:dPt>
          <c:cat>
            <c:multiLvlStrRef>
              <c:f>Sheet1!$A$2:$A$12</c:f>
              <c:multiLvlStrCache>
                <c:ptCount val="11"/>
                <c:lvl>
                  <c:pt idx="0">
                    <c:v>b1</c:v>
                  </c:pt>
                  <c:pt idx="1">
                    <c:v>b2</c:v>
                  </c:pt>
                  <c:pt idx="2">
                    <c:v>b3</c:v>
                  </c:pt>
                  <c:pt idx="3">
                    <c:v>b4</c:v>
                  </c:pt>
                  <c:pt idx="4">
                    <c:v>b5</c:v>
                  </c:pt>
                  <c:pt idx="5">
                    <c:v>b6</c:v>
                  </c:pt>
                  <c:pt idx="6">
                    <c:v>b7</c:v>
                  </c:pt>
                  <c:pt idx="7">
                    <c:v>b8</c:v>
                  </c:pt>
                  <c:pt idx="8">
                    <c:v>b9</c:v>
                  </c:pt>
                  <c:pt idx="9">
                    <c:v>b10</c:v>
                  </c:pt>
                  <c:pt idx="10">
                    <c:v>b11</c:v>
                  </c:pt>
                </c:lvl>
              </c:multiLvlStrCache>
            </c:multiLvlStrRef>
          </c:cat>
          <c:val>
            <c:numRef>
              <c:f>Sheet1!$B$2:$B$12</c:f>
              <c:numCache>
                <c:formatCode>General</c:formatCode>
                <c:ptCount val="11"/>
                <c:pt idx="0">
                  <c:v>1500</c:v>
                </c:pt>
                <c:pt idx="1">
                  <c:v>2100</c:v>
                </c:pt>
                <c:pt idx="2">
                  <c:v>500</c:v>
                </c:pt>
                <c:pt idx="3">
                  <c:v>2700</c:v>
                </c:pt>
                <c:pt idx="4">
                  <c:v>2400</c:v>
                </c:pt>
                <c:pt idx="5">
                  <c:v>0</c:v>
                </c:pt>
                <c:pt idx="6">
                  <c:v>2600</c:v>
                </c:pt>
                <c:pt idx="7">
                  <c:v>1800</c:v>
                </c:pt>
                <c:pt idx="8">
                  <c:v>1200</c:v>
                </c:pt>
                <c:pt idx="9">
                  <c:v>2300</c:v>
                </c:pt>
                <c:pt idx="10">
                  <c:v>2500</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bitcoin per block</c:v>
                </c:pt>
              </c:strCache>
            </c:strRef>
          </c:tx>
          <c:spPr>
            <a:solidFill>
              <a:srgbClr val="D97A14"/>
            </a:solidFill>
            <a:effectLst/>
          </c:spPr>
          <c:invertIfNegative val="0"/>
          <c:dLbls>
            <c:numFmt formatCode="0.##"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dPt>
            <c:idx val="4"/>
            <c:invertIfNegative val="0"/>
            <c:bubble3D val="0"/>
            <c:spPr>
              <a:solidFill>
                <a:srgbClr val="D97A14"/>
              </a:solidFill>
              <a:effectLst/>
            </c:spPr>
          </c:dPt>
          <c:dPt>
            <c:idx val="5"/>
            <c:invertIfNegative val="0"/>
            <c:bubble3D val="0"/>
            <c:spPr>
              <a:solidFill>
                <a:srgbClr val="2F6D62"/>
              </a:solidFill>
              <a:effectLst/>
            </c:spPr>
          </c:dPt>
          <c:dPt>
            <c:idx val="6"/>
            <c:invertIfNegative val="0"/>
            <c:bubble3D val="0"/>
            <c:spPr>
              <a:solidFill>
                <a:srgbClr val="D97A14"/>
              </a:solidFill>
              <a:effectLst/>
            </c:spPr>
          </c:dPt>
          <c:dPt>
            <c:idx val="7"/>
            <c:invertIfNegative val="0"/>
            <c:bubble3D val="0"/>
            <c:spPr>
              <a:solidFill>
                <a:srgbClr val="2F6D62"/>
              </a:solidFill>
              <a:effectLst/>
            </c:spPr>
          </c:dPt>
          <c:dPt>
            <c:idx val="8"/>
            <c:invertIfNegative val="0"/>
            <c:bubble3D val="0"/>
            <c:spPr>
              <a:solidFill>
                <a:srgbClr val="D97A14"/>
              </a:solidFill>
              <a:effectLst/>
            </c:spPr>
          </c:dPt>
          <c:cat>
            <c:multiLvlStrRef>
              <c:f>Sheet1!$A$2:$A$10</c:f>
              <c:multiLvlStrCache>
                <c:ptCount val="9"/>
                <c:lvl>
                  <c:pt idx="0">
                    <c:v>0</c:v>
                  </c:pt>
                  <c:pt idx="1">
                    <c:v>1</c:v>
                  </c:pt>
                  <c:pt idx="2">
                    <c:v>2</c:v>
                  </c:pt>
                  <c:pt idx="3">
                    <c:v>3</c:v>
                  </c:pt>
                  <c:pt idx="4">
                    <c:v>4</c:v>
                  </c:pt>
                  <c:pt idx="5">
                    <c:v>5</c:v>
                  </c:pt>
                  <c:pt idx="6">
                    <c:v>6</c:v>
                  </c:pt>
                  <c:pt idx="7">
                    <c:v>7</c:v>
                  </c:pt>
                  <c:pt idx="8">
                    <c:v>8</c:v>
                  </c:pt>
                </c:lvl>
              </c:multiLvlStrCache>
            </c:multiLvlStrRef>
          </c:cat>
          <c:val>
            <c:numRef>
              <c:f>Sheet1!$B$2:$B$10</c:f>
              <c:numCache>
                <c:formatCode>General</c:formatCode>
                <c:ptCount val="9"/>
                <c:pt idx="0">
                  <c:v>50</c:v>
                </c:pt>
                <c:pt idx="1">
                  <c:v>25</c:v>
                </c:pt>
                <c:pt idx="2">
                  <c:v>12.5</c:v>
                </c:pt>
                <c:pt idx="3">
                  <c:v>6.25</c:v>
                </c:pt>
                <c:pt idx="4">
                  <c:v>3.125</c:v>
                </c:pt>
                <c:pt idx="5">
                  <c:v>1.5625</c:v>
                </c:pt>
                <c:pt idx="6">
                  <c:v>0.78125</c:v>
                </c:pt>
                <c:pt idx="7">
                  <c:v>0.390625</c:v>
                </c:pt>
                <c:pt idx="8">
                  <c:v>0.1953125</c:v>
                </c:pt>
              </c:numCache>
            </c:numRef>
          </c:val>
        </c:ser>
        <c:dLbls>
          <c:numFmt formatCode="0.##"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weight units</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dPt>
            <c:idx val="4"/>
            <c:invertIfNegative val="0"/>
            <c:bubble3D val="0"/>
            <c:spPr>
              <a:solidFill>
                <a:srgbClr val="D97A14"/>
              </a:solidFill>
              <a:effectLst/>
            </c:spPr>
          </c:dPt>
          <c:dPt>
            <c:idx val="5"/>
            <c:invertIfNegative val="0"/>
            <c:bubble3D val="0"/>
            <c:spPr>
              <a:solidFill>
                <a:srgbClr val="2F6D62"/>
              </a:solidFill>
              <a:effectLst/>
            </c:spPr>
          </c:dPt>
          <c:dPt>
            <c:idx val="6"/>
            <c:invertIfNegative val="0"/>
            <c:bubble3D val="0"/>
            <c:spPr>
              <a:solidFill>
                <a:srgbClr val="D97A14"/>
              </a:solidFill>
              <a:effectLst/>
            </c:spPr>
          </c:dPt>
          <c:cat>
            <c:multiLvlStrRef>
              <c:f>Sheet1!$A$2:$A$8</c:f>
              <c:multiLvlStrCache>
                <c:ptCount val="7"/>
                <c:lvl>
                  <c:pt idx="0">
                    <c:v>version</c:v>
                  </c:pt>
                  <c:pt idx="1">
                    <c:v>marker</c:v>
                  </c:pt>
                  <c:pt idx="2">
                    <c:v>flag</c:v>
                  </c:pt>
                  <c:pt idx="3">
                    <c:v>input</c:v>
                  </c:pt>
                  <c:pt idx="4">
                    <c:v>output</c:v>
                  </c:pt>
                  <c:pt idx="5">
                    <c:v>witness</c:v>
                  </c:pt>
                  <c:pt idx="6">
                    <c:v>lock</c:v>
                  </c:pt>
                </c:lvl>
              </c:multiLvlStrCache>
            </c:multiLvlStrRef>
          </c:cat>
          <c:val>
            <c:numRef>
              <c:f>Sheet1!$B$2:$B$8</c:f>
              <c:numCache>
                <c:formatCode>General</c:formatCode>
                <c:ptCount val="7"/>
                <c:pt idx="0">
                  <c:v>16</c:v>
                </c:pt>
                <c:pt idx="1">
                  <c:v>1</c:v>
                </c:pt>
                <c:pt idx="2">
                  <c:v>1</c:v>
                </c:pt>
                <c:pt idx="3">
                  <c:v>168</c:v>
                </c:pt>
                <c:pt idx="4">
                  <c:v>300</c:v>
                </c:pt>
                <c:pt idx="5">
                  <c:v>67</c:v>
                </c:pt>
                <c:pt idx="6">
                  <c:v>16</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we read one real transaction, Alice's payment to Bob, byte by byte, and recompute every number on the slides. Point at the byte map on the right: each strip is a field we will meet. Ask the room what a transaction must contain besides an amount. A common first guess is a balance, and there is none.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nine parts follow the order of the bytes of a transaction. Point at the three counters on the right: slides, true stories and runnable examples. Every example has a twin in the Chapter code tab of the course page, so students can rerun it at home. Ask them to keep one question in mind for each part.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the seven questions aloud and promise to return to them in the summary. Ask who can already answer the first one. Most students say a transaction moves coins; the better answer is that it asks every node to update its record of unspent outputs.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map is the skeleton of the lecture: eight branches and 107 concepts. Point at Witnesses, the busiest branch, and ask which branch the group expects to be hardest. Remind them that every concept has a card with a short meaning and an everyday comparison.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part opens one real transaction and reads it as 194 bytes. Point at the two tiles: the idea of a transaction and the ways it is written as bytes. Ask what could go wrong if every node wrote a transaction differently. A story about the first transaction ever closes the part.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ideas open the chapter: the transaction, the record every node keeps, its parts and its serialized form. Read each card twice, once for the meaning and once for the comparison. Ask students to retell the letter-and-ledger comparison. A common mistake is to think a transaction carries a balance; it only asks nodes to change their record.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library parses Alice's transaction into named fields and adds up their lengths. Point at the loop in lines 4 and 5 and at the two tallest bars, output and witness. Ask whether any byte is left unexplained: the seven groups add back to exactly 194. A common slip is to forget that marker and flag are fields too.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Extended and legacy serialization are the same payment written two ways, and a partially signed transaction is a form passed between programs. Point at the byte map card and ask what a floor plan has to do with bytes. Students often mix up the format with the transaction: one transaction has two serializations.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payment is serialized twice, with and without the witness. Point at the two sizes, 194 and 125, and at the two hashes. Ask which hash an explorer shows. It is the txid, the hash over the legacy bytes; mixing up txid and wtxid is the usual mistake.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Tell it as a story: Finney's two words, then Satoshi's 10 BTC in block 170. Point at the photograph and at the source link on the slide. Ask which fields of this chapter students can already name in that transaction. A common mistake is to say the format changed later; only marker, flag and witness were added.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six bytes are not about money; they tell a node which rules apply and whether a witness follows. Ask why a format needs an edition number at all. The answer is that old and new software must read the same bytes without confusion.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Versions 1 and 2 and the version 3 proposal differ in what a node does with them. Ask which version a relative timelock needs. Version 2, through BIP68; version 3 is relay policy and not a consensus change, which is a frequent confusion.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bytes decide how everything after them is read. Point at the little-endian version in line 2 and ask why the number 1 is written 01000000. The zero marker then tells a node that a witness follows; a legacy parser would read that zero as an empty input list.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presigned transaction waits in a drawer like a post-dated cheque, while marker and flag are stickers on the parcel. Ask why the marker is zero. A transaction cannot have zero inputs, so a zero there cannot be mistaken for data.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Inputs name coins and never state an amount. Point at the four tiles: the list, the outpoint, byte order and the input script. Ask how a node can know the value of a coin it is not shown. It looks the coin up in its own database.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cards give the input count, the variable-length integer, the outpoint and their relatives. Point at the ticket-machine comparison and ask why small counts get short tickets. The usual mistake is to assume every count takes four bytes.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count takes one byte up to 252, then three, five or nine. Point at the six test values, chosen at the edges, and at the first bytes fd, fe and ff. Ask what 253 costs. Three bytes; students often expect two.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outpoint is a transaction identifier plus an output index, and double spending and conflicting transactions follow from it. Ask what two cheques written against one banknote would do to the bank. Remind students that the index counts from zero.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input names a coin by an earlier txid and an output number. Point at lines 3 and 4, where the bytes are reversed and restored. Ask why reversing twice is safe. The common mistake is to look up the stored form on an explorer instead of the printed form.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UTXO database holds only unspent coins, and the byte-order cards explain the two directions an identifier is read. Ask which direction explorers print. A digest stored in one order and shown in the other is a classic source of bugs.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full node keeps only unspent outputs. Walk the three groups: the drawer before, the removal and creation in the middle, the leftover at the end. Ask where the fee is written. Nowhere: it is the difference, 5,000, and students expect a fee field.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Hanyecz offered 10,000 BTC for two pizzas and four days later the deal was done. Point at the plaque photograph and at the count of 131 inputs. Ask why a one-output payment needs so many inputs. A wallet full of 50 BTC rewards must list every coin it spends.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input script is the keyhole a legacy input fills with a key: 107 bytes here, and none for segwit. Ask where the key went in Alice's transaction. It moved to the witness, which comes later in this deck.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four-byte field has carried three meanings. Ask students to guess how many different things four bytes can say. We decode it against two proposals, BIP125 and BIP68, and see why bit 31 matters.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cards: the sequence number, setup and refund transactions, payment channels and the replacement bandwidth attack. Ask why replacing a transaction again and again is a danger. Twenty kilobytes in can cost ten gigabytes out every minute, which is the attack the card names.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field, three meanings: final, replaceable, timelocked. Point at the third column of the result and ask why only the last value carries a timelock. Bit 31 is set in the first three, which switches the timelock off.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Opt-in replace-by-fee, its BIP125 signal, the BIP68 timelock and the type flag. Point at the threshold 0xfffffffe and ask which values signal replaceability. Everything below it does, and a common slip is to count 0xfffffffe itself.</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demand an hour, the type flag is set and the value counts units of 512 seconds. Ask why 3,600 seconds becomes 4,096. It rounds up to eight units. Point at the three masks and remind students that the unit is not a second.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disable flag and the 16-bit mask finish the sequence field. Ask what bit 31 does when it is set. It switches the timelock off, which is why a sequence of 0xffffffff means no lock at all.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Outputs are amounts plus locks. The part ends with the block that created 184 billion bitcoins and with the policy that keeps tiny outputs out of everyone's database. Ask what a till receipt and an output have in common.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Output count, amount, satoshi and the consensus range. Ask how many satoshis make a bitcoin. A hundred million; the amount field is eight bytes, little-endian, which the next slides decode.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Outputs state amounts and the input states none. Point at line 3 and at the three bars: 20,000, 75,000 and the fee of 5,000. Ask where a miner finds the fee. It is the difference between inputs and outputs, which is why a forgotten change output burns money.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Dust, the dust limit, data-carrier outputs and the output script. Ask why a node would refuse to relay a tiny output. It costs more to spend than it is worth; students often think dust is invalid, but it is only a relay policy.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August 2010 two outputs of about 92 billion bitcoins each added up to a negative number in 64-bit arithmetic. Point at line 3, the wrap-around, and at the two checks in the result. Ask which check would have caught it. Only the per-output check; the total looked fine.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block on 15 August 2010 held 184 billion bitcoins because two amounts wrapped to a negative total. Point at the three people: the unknown attacker, Garzik who reported it and Satoshi who patched it. Ask which check was missing. A range check on each output.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Script size limits, anyone-can-spend scripts and standard outputs. Ask why a safe left unlocked in the street is a useful comparison. An empty script that OP_TRUE satisfies can be spent by anyone, and the standard templates are what most nodes relay.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Dust is an output that costs more to spend than it is worth. Point at the four limits: 546, 294, 330 and 0. Ask why segwit outputs have lower limits. They are cheaper to spend, and OP_RETURN has limit zero because it can never be spent.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witness is the proof that the spender may spend. Ask what happens if the proof is part of the name of the transaction. This part shows how proofs inside the input script made identifiers malleable and how segregated witness repaired it.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Witness, public key and signature as witness, contract protocols and the circular dependency. Ask what the answer to the riddle printed on the lock has to do with a witness. The witness is the answer that makes the script succeed.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small number can be pushed on the script stack in four ways, giving four txids for one payment. Point at the loop that swaps each encoding in. Ask who could do this to your transaction: any relaying node. The payment itself is unchanged.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Third-party and second-party malleability, push encodings and wanted malleability. Ask who can change a txid without changing the payment. A stranger can, by re-encoding a push; students often assume only the signer can.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witness and the txid stays, while the wtxid moves. Point at the two Booleans, True and False. Ask which identifier chains of unconfirmed payments should be built on. The txid, which is why segwit made them safe.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Mt. Gox halted withdrawals and blamed malleability; two ETH Zurich researchers checked a year of network traffic. Point at the paper link on the slide. Ask whether malleability can explain missing coins. It changes the txid, not the amount, and only 1,811 BTC were affected before the press release.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Segregated witness, hard fork, soft fork and witness programs. Ask which of the two forks old nodes survive. A soft fork only tightens the rules, so old nodes keep following the chain.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Witness structure, stack, item and the empty witness of a legacy input. Ask how many stacks a transaction carries. One per input, counted by the input count; a legacy input has a stack of zero items.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Segregated witness was a soft fork, which is why it could be activated without splitting the network. Ask students to place it on the road comparison. Old nodes saw the new outputs as anyone-can-spend scripts and accepted the blocks.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special cases: a transaction that may not be mined before a time, and one that creates new coins. Ask where new bitcoin comes from. The clock and the money supply both follow from simple rules.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Lock time kinds and the median time past. Ask what 123,456 means in the lock time field. A block height, because anything below 500 million is a height and larger values are timestamps.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Block timestamps are not monotonic, so a lock time is compared with the median of the last eleven. Point at the bar that is zero and at the median, 2,100. Ask why not use the newest block time. A miner could bend it; the median is the middle voter.</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Coinbase transaction, the null outpoint, the coinbase field and the block subsidy. Ask what makes an input a coinbase input. A null outpoint of 32 zero bytes and index 0xffffffff; the subsidy starts at 50 and halves every 210,000 blocks.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subsidy starts at 50 bitcoin and halves every 210,000 blocks by a right shift. Point at the stair-step chart and at block 6,929,999, where it reaches zero. Ask whether the total is exactly 21 million. It stays just below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Block reward and the maturity rule. Ask why coinbase coins wait 100 blocks. A reorganization could erase the block, so wages are held until the pay clears. The reward is fees plus subsidy, as a ceiling.</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coinbase has one null input, and its coins are locked for 100 blocks. Point at the table: block 108 is too early and block 109 is allowed. Ask why the wait exists. A reorganization could erase the block together with coins that were already spent.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part closes with what a block is filled by, and with the hashes and rule sets everything rests on. Ask how a block decides which transactions to take. We recompute the weight 569 from the bytes.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Weight, vbytes, the block weight limit and the weight factors. Ask why witness bytes cost less. They get a discount; every other byte weighs four, and a block holds four million weight.</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field weighs its bytes times four, except marker, flag and witness. Point at the total 569 and at the 143 virtual bytes. Ask how many bytes the transaction really has: 194. Students confuse bytes, weight and virtual bytes.</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Hash function, double SHA-256 and the two identifiers. Ask what a meat grinder has to do with hashing. Any input gives an output of fixed size. The txid hashes the legacy bytes and the wtxid hashes everything.</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txid is not a field; it is computed. Point at the double SHA-256 and at the reversal in line 3. Ask why the digest is reversed. Display order is the opposite of internal order, and anyone can recompute a txid from the legacy bytes.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Relay policy and consensus rules finish the cards. Ask what happens to a transaction that breaks only a policy rule. A node may refuse to relay it, but a block that contains it is still valid. Consensus rules are the law every node must enforce.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five lines are the deck in miniature. Ask students to pick the line they trust least and go back to its code slide, because every figure in it was computed there. Do not read the lines out; ask for the proof.</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Everything here is free to read and the links were opened on the date in the subtitle. Point at the Watch group for video and the Community group for the forum threads. Suggest taking any confirmed transaction from an explorer and running the chapter code on it.</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claims, each carried by a computation that ran on a slide. Ask each student to state one claim and to name the slide that proves it. The course page for chapter 6 has every word behind them and the question bank.</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on the board if you can: two strips, one long and one short. The long one is what travels on the network, 194 bytes; the short one leaves out marker, flag and witness and has 125 bytes. Ask which strip the txid is computed from. The short one; students expect the long 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six cells one at a time: four for the version, one marker, one flag. Ask the room what an old parser does with the zero. It reads an empty input list and stops, which is exactly why the marker is a zero. A common mistake is to read the version as a big-endian number.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input is only an address: the txid of an earlier transaction and an output number. Trace the arrow from Alice's input to output 1 of the earlier transaction. Ask where the amount is stored; in the earlier output, never in the input. Then point at the four sizes of CompactSize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drawer comparison drawn as boxes. One coin goes in, two come out, and what is missing is the fee. Ask how many coins the drawer holds before and after. A common mistake is to look for the fee in the transaction; it is only a difference of two sums.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32 bits as one bar and point at three places: bit 31, bit 22 and the low 16 bits. Ask which meaning came first. Replacement, then the opt-in signal, then the relative timelock; the same four bytes were reused each time. Students forget that bit 31 switches the timelock off.</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is the 100,000 satoshis of the spent coin: 20,000 to Bob, 75,000 back as change and 5,000 left over for the miner. Below it, one output opened up: eight bytes of amount, a length and a lock. Ask who decides the fee. The sender, by leaving it out of the outputs.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the two rows. Before segwit the signature sat inside the input script, so the txid covered it and a stranger could change it. After segwit the signature moved to the witness, outside the txid. Ask which brackets differ: the txid bracket shrinks, the wtxid bracket covers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 pictures. The number line shows how one field is read as a height below 500 million and as a time above it. The timeline shows the 100-block wait of a coinbase coin. Ask what happens at block 108 and at block 109 for a coin made in block 9.</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scale in all three bars. The 194 bytes become 569 weight units because every byte except marker, flag and witness counts four times. Dividing by four and rounding up gives 143 virtual bytes. Ask which bar a block limit is measured in: weight, four million per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hyperlink" Target="https://mempool.space/tx/f4184fc596403b9d638783cf57adfe4c75c605f6356fbc91338530e9831e9e1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hyperlink" Target="https://bitcointalk.org/index.php?topic=137.0"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hyperlink" Target="https://en.bitcoin.it/wiki/Value_overflow_incident"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hyperlink" Target="https://arxiv.org/abs/1403.6676"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65.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70.xml.rels><?xml version='1.0' encoding='UTF-8' standalone='yes'?>
<Relationships xmlns="http://schemas.openxmlformats.org/package/2006/relationships"><Relationship Id="rId1" Type="http://schemas.openxmlformats.org/officeDocument/2006/relationships/hyperlink" Target="https://raw.githubusercontent.com/bitcoinbook/bitcoinbook/develop/ch06_transactions.adoc" TargetMode="External"/><Relationship Id="rId2" Type="http://schemas.openxmlformats.org/officeDocument/2006/relationships/hyperlink" Target="https://arxiv.org/abs/1403.6676" TargetMode="External"/><Relationship Id="rId3" Type="http://schemas.openxmlformats.org/officeDocument/2006/relationships/hyperlink" Target="https://bips.dev/141/" TargetMode="External"/><Relationship Id="rId4" Type="http://schemas.openxmlformats.org/officeDocument/2006/relationships/hyperlink" Target="https://bips.dev/68/" TargetMode="External"/><Relationship Id="rId5" Type="http://schemas.openxmlformats.org/officeDocument/2006/relationships/hyperlink" Target="https://bips.dev/125/" TargetMode="External"/><Relationship Id="rId6" Type="http://schemas.openxmlformats.org/officeDocument/2006/relationships/hyperlink" Target="https://mempool.space/tx/466200308696215bbc949d5141a49a4138ecdfdfaa2a8029c1f9bcecd1f96177" TargetMode="External"/><Relationship Id="rId7" Type="http://schemas.openxmlformats.org/officeDocument/2006/relationships/hyperlink" Target="https://en.bitcoin.it/wiki/Transaction" TargetMode="External"/><Relationship Id="rId8" Type="http://schemas.openxmlformats.org/officeDocument/2006/relationships/hyperlink" Target="https://bitcointalk.org/index.php?topic=137.0" TargetMode="External"/><Relationship Id="rId9" Type="http://schemas.openxmlformats.org/officeDocument/2006/relationships/hyperlink" Target="https://bitcointalk.org/index.php?topic=822.0" TargetMode="External"/><Relationship Id="rId10" Type="http://schemas.openxmlformats.org/officeDocument/2006/relationships/hyperlink" Target="https://www.youtube.com/embed/PrcJD4rznyA" TargetMode="External"/><Relationship Id="rId11" Type="http://schemas.openxmlformats.org/officeDocument/2006/relationships/slideLayout" Target="../slideLayouts/slideLayout1.xml"/><Relationship Id="rId1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548640" y="960120"/>
            <a:ext cx="731520" cy="731520"/>
          </a:xfrm>
          <a:prstGeom prst="roundRect">
            <a:avLst>
              <a:gd name="adj" fmla="val 12500"/>
            </a:avLst>
          </a:prstGeom>
          <a:solidFill>
            <a:srgbClr val="2F6D62"/>
          </a:solidFill>
          <a:ln w="19050">
            <a:solidFill>
              <a:srgbClr val="D97A14"/>
            </a:solidFill>
            <a:prstDash val="solid"/>
          </a:ln>
        </p:spPr>
        <p:txBody>
          <a:bodyPr/>
          <a:p/>
        </p:txBody>
      </p:sp>
      <p:sp>
        <p:nvSpPr>
          <p:cNvPr id="3" name="Shape 1"/>
          <p:cNvSpPr/>
          <p:nvPr/>
        </p:nvSpPr>
        <p:spPr>
          <a:xfrm>
            <a:off x="1280160" y="1325880"/>
            <a:ext cx="228600" cy="0"/>
          </a:xfrm>
          <a:prstGeom prst="line">
            <a:avLst/>
          </a:prstGeom>
          <a:noFill/>
          <a:ln w="19050">
            <a:solidFill>
              <a:srgbClr val="D97A14"/>
            </a:solidFill>
            <a:prstDash val="solid"/>
          </a:ln>
        </p:spPr>
        <p:txBody>
          <a:bodyPr/>
          <a:p/>
        </p:txBody>
      </p:sp>
      <p:sp>
        <p:nvSpPr>
          <p:cNvPr id="4" name="Shape 2"/>
          <p:cNvSpPr/>
          <p:nvPr/>
        </p:nvSpPr>
        <p:spPr>
          <a:xfrm>
            <a:off x="1508760" y="960120"/>
            <a:ext cx="731520" cy="731520"/>
          </a:xfrm>
          <a:prstGeom prst="roundRect">
            <a:avLst>
              <a:gd name="adj" fmla="val 12500"/>
            </a:avLst>
          </a:prstGeom>
          <a:solidFill>
            <a:srgbClr val="2F6D62"/>
          </a:solidFill>
          <a:ln w="19050">
            <a:solidFill>
              <a:srgbClr val="D97A14"/>
            </a:solidFill>
            <a:prstDash val="solid"/>
          </a:ln>
        </p:spPr>
        <p:txBody>
          <a:bodyPr/>
          <a:p/>
        </p:txBody>
      </p:sp>
      <p:sp>
        <p:nvSpPr>
          <p:cNvPr id="5" name="Shape 3"/>
          <p:cNvSpPr/>
          <p:nvPr/>
        </p:nvSpPr>
        <p:spPr>
          <a:xfrm>
            <a:off x="2240280" y="1325880"/>
            <a:ext cx="228600" cy="0"/>
          </a:xfrm>
          <a:prstGeom prst="line">
            <a:avLst/>
          </a:prstGeom>
          <a:noFill/>
          <a:ln w="19050">
            <a:solidFill>
              <a:srgbClr val="D97A14"/>
            </a:solidFill>
            <a:prstDash val="solid"/>
          </a:ln>
        </p:spPr>
        <p:txBody>
          <a:bodyPr/>
          <a:p/>
        </p:txBody>
      </p:sp>
      <p:sp>
        <p:nvSpPr>
          <p:cNvPr id="6" name="Shape 4"/>
          <p:cNvSpPr/>
          <p:nvPr/>
        </p:nvSpPr>
        <p:spPr>
          <a:xfrm>
            <a:off x="2468880" y="960120"/>
            <a:ext cx="731520" cy="731520"/>
          </a:xfrm>
          <a:prstGeom prst="roundRect">
            <a:avLst>
              <a:gd name="adj" fmla="val 12500"/>
            </a:avLst>
          </a:prstGeom>
          <a:solidFill>
            <a:srgbClr val="D97A14"/>
          </a:solidFill>
          <a:ln w="19050">
            <a:solidFill>
              <a:srgbClr val="D97A14"/>
            </a:solidFill>
            <a:prstDash val="solid"/>
          </a:ln>
        </p:spPr>
        <p:txBody>
          <a:bodyPr/>
          <a:p/>
        </p:txBody>
      </p:sp>
      <p:sp>
        <p:nvSpPr>
          <p:cNvPr id="7" name="Text 5"/>
          <p:cNvSpPr txBox="1"/>
          <p:nvPr/>
        </p:nvSpPr>
        <p:spPr>
          <a:xfrm>
            <a:off x="2468880" y="960120"/>
            <a:ext cx="731520" cy="73152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8" name="Text 6"/>
          <p:cNvSpPr txBox="1"/>
          <p:nvPr/>
        </p:nvSpPr>
        <p:spPr>
          <a:xfrm>
            <a:off x="548640" y="2011680"/>
            <a:ext cx="8046720" cy="731520"/>
          </a:xfrm>
          <a:prstGeom prst="rect">
            <a:avLst/>
          </a:prstGeom>
          <a:noFill/>
          <a:ln/>
        </p:spPr>
        <p:txBody>
          <a:bodyPr wrap="square" lIns="0" tIns="0" rIns="0" bIns="0" rtlCol="0" anchor="ctr"/>
          <a:lstStyle/>
          <a:p>
            <a:pPr indent="0" marL="0">
              <a:buNone/>
            </a:pPr>
            <a:r>
              <a:rPr lang="en-US" sz="3600" b="1" dirty="0">
                <a:solidFill>
                  <a:srgbClr val="2B2622"/>
                </a:solidFill>
                <a:latin typeface="Cambria" pitchFamily="34" charset="0"/>
                <a:ea typeface="Cambria" pitchFamily="34" charset="-122"/>
                <a:cs typeface="Cambria" pitchFamily="34" charset="-120"/>
              </a:rPr>
              <a:t>Chapter 6: Transactions</a:t>
            </a:r>
            <a:endParaRPr lang="en-US" sz="3600" dirty="0"/>
          </a:p>
        </p:txBody>
      </p:sp>
      <p:sp>
        <p:nvSpPr>
          <p:cNvPr id="9" name="Text 7"/>
          <p:cNvSpPr txBox="1"/>
          <p:nvPr/>
        </p:nvSpPr>
        <p:spPr>
          <a:xfrm>
            <a:off x="548640" y="2743200"/>
            <a:ext cx="8046720" cy="640080"/>
          </a:xfrm>
          <a:prstGeom prst="rect">
            <a:avLst/>
          </a:prstGeom>
          <a:noFill/>
          <a:ln/>
        </p:spPr>
        <p:txBody>
          <a:bodyPr wrap="square" lIns="0" tIns="0" rIns="0" bIns="0" rtlCol="0" anchor="t"/>
          <a:lstStyle/>
          <a:p>
            <a:pPr indent="0" marL="0">
              <a:buNone/>
            </a:pPr>
            <a:r>
              <a:rPr lang="en-US" sz="1600" i="1" dirty="0">
                <a:solidFill>
                  <a:srgbClr val="2F6D62"/>
                </a:solidFill>
                <a:latin typeface="Calibri" pitchFamily="34" charset="0"/>
                <a:ea typeface="Calibri" pitchFamily="34" charset="-122"/>
                <a:cs typeface="Calibri" pitchFamily="34" charset="-120"/>
              </a:rPr>
              <a:t>One real transaction, 194 bytes, read field by field, with every number recomputed</a:t>
            </a:r>
            <a:endParaRPr lang="en-US" sz="1600" dirty="0"/>
          </a:p>
        </p:txBody>
      </p:sp>
      <p:sp>
        <p:nvSpPr>
          <p:cNvPr id="10" name="Text 8"/>
          <p:cNvSpPr txBox="1"/>
          <p:nvPr/>
        </p:nvSpPr>
        <p:spPr>
          <a:xfrm>
            <a:off x="548640" y="4224528"/>
            <a:ext cx="8046720" cy="411480"/>
          </a:xfrm>
          <a:prstGeom prst="rect">
            <a:avLst/>
          </a:prstGeom>
          <a:noFill/>
          <a:ln/>
        </p:spPr>
        <p:txBody>
          <a:bodyPr wrap="square" lIns="0" tIns="0" rIns="0" bIns="0" rtlCol="0" anchor="ctr"/>
          <a:lstStyle/>
          <a:p>
            <a:pPr indent="0" marL="0">
              <a:buNone/>
            </a:pPr>
            <a:r>
              <a:rPr lang="en-US" sz="1200" dirty="0">
                <a:solidFill>
                  <a:srgbClr val="6E655C"/>
                </a:solidFill>
                <a:latin typeface="Calibri" pitchFamily="34" charset="0"/>
                <a:ea typeface="Calibri" pitchFamily="34" charset="-122"/>
                <a:cs typeface="Calibri" pitchFamily="34" charset="-120"/>
              </a:rPr>
              <a:t>SEN0401 Special Topics in Software Engineering: Block Chain · Fall 2026 · Yusuf Altunel, PhD · İstanbul Kültür University</a:t>
            </a:r>
            <a:endParaRPr lang="en-US" sz="1200" dirty="0"/>
          </a:p>
        </p:txBody>
      </p:sp>
      <p:pic>
        <p:nvPicPr>
          <p:cNvPr id="11" name="Image 0" descr="../../03-materials/ch06/assets/mbc3_0601.png">    </p:cNvPr>
          <p:cNvPicPr>
            <a:picLocks noChangeAspect="1"/>
          </p:cNvPicPr>
          <p:nvPr/>
        </p:nvPicPr>
        <p:blipFill>
          <a:blip r:embed="rId1"/>
          <a:srcRect l="0" r="0" t="0" b="0"/>
          <a:stretch/>
        </p:blipFill>
        <p:spPr>
          <a:xfrm>
            <a:off x="6309360" y="320040"/>
            <a:ext cx="2377440" cy="1600200"/>
          </a:xfrm>
          <a:prstGeom prst="rect">
            <a:avLst/>
          </a:prstGeom>
        </p:spPr>
      </p:pic>
      <p:sp>
        <p:nvSpPr>
          <p:cNvPr id="12" name="Text 9"/>
          <p:cNvSpPr txBox="1"/>
          <p:nvPr/>
        </p:nvSpPr>
        <p:spPr>
          <a:xfrm>
            <a:off x="548640" y="3749040"/>
            <a:ext cx="8046720" cy="365760"/>
          </a:xfrm>
          <a:prstGeom prst="rect">
            <a:avLst/>
          </a:prstGeom>
          <a:noFill/>
          <a:ln/>
        </p:spPr>
        <p:txBody>
          <a:bodyPr wrap="square" lIns="0" tIns="0" rIns="0" bIns="0" rtlCol="0" anchor="t"/>
          <a:lstStyle/>
          <a:p>
            <a:pPr indent="0" marL="0">
              <a:buNone/>
            </a:pPr>
            <a:r>
              <a:rPr lang="en-US" sz="1000" i="1" dirty="0">
                <a:solidFill>
                  <a:srgbClr val="6E655C"/>
                </a:solidFill>
                <a:latin typeface="Calibri" pitchFamily="34" charset="0"/>
                <a:ea typeface="Calibri" pitchFamily="34" charset="-122"/>
                <a:cs typeface="Calibri" pitchFamily="34" charset="-120"/>
              </a:rPr>
              <a:t>Figure: a byte map of a transaction, Antonopoulos and Harding, Mastering Bitcoin 3e, CC BY-SA 4.0. Python 3.14.6, no Bitcoin Core node.</a:t>
            </a:r>
            <a:endParaRPr lang="en-US" sz="1000" dirty="0"/>
          </a:p>
        </p:txBody>
      </p:sp>
      <p:sp>
        <p:nvSpPr>
          <p:cNvPr id="13" name="Text 10"/>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 / 71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Today's route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Eight parts; every number is a slide you can jump to</a:t>
            </a:r>
            <a:endParaRPr lang="en-US" sz="1300" dirty="0"/>
          </a:p>
        </p:txBody>
      </p:sp>
      <p:sp>
        <p:nvSpPr>
          <p:cNvPr id="6" name="Shape 4"/>
          <p:cNvSpPr/>
          <p:nvPr/>
        </p:nvSpPr>
        <p:spPr>
          <a:xfrm>
            <a:off x="457200" y="1280160"/>
            <a:ext cx="1822704" cy="981456"/>
          </a:xfrm>
          <a:prstGeom prst="roundRect">
            <a:avLst>
              <a:gd name="adj" fmla="val 7453"/>
            </a:avLst>
          </a:prstGeom>
          <a:solidFill>
            <a:srgbClr val="F2ECE1"/>
          </a:solidFill>
          <a:ln w="12700">
            <a:solidFill>
              <a:srgbClr val="DFD6C7"/>
            </a:solidFill>
            <a:prstDash val="solid"/>
          </a:ln>
        </p:spPr>
        <p:txBody>
          <a:bodyPr/>
          <a:p/>
        </p:txBody>
      </p:sp>
      <p:sp>
        <p:nvSpPr>
          <p:cNvPr id="7" name="Text 5"/>
          <p:cNvSpPr txBox="1"/>
          <p:nvPr/>
        </p:nvSpPr>
        <p:spPr>
          <a:xfrm>
            <a:off x="548640" y="1335024"/>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1. Questions and the chapter map</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3-4)</a:t>
            </a:r>
            <a:endParaRPr lang="en-US" sz="1150" dirty="0"/>
          </a:p>
        </p:txBody>
      </p:sp>
      <p:sp>
        <p:nvSpPr>
          <p:cNvPr id="8" name="Shape 6"/>
          <p:cNvSpPr/>
          <p:nvPr/>
        </p:nvSpPr>
        <p:spPr>
          <a:xfrm>
            <a:off x="2426208" y="1280160"/>
            <a:ext cx="1822704" cy="981456"/>
          </a:xfrm>
          <a:prstGeom prst="roundRect">
            <a:avLst>
              <a:gd name="adj" fmla="val 7453"/>
            </a:avLst>
          </a:prstGeom>
          <a:solidFill>
            <a:srgbClr val="F2ECE1"/>
          </a:solidFill>
          <a:ln w="12700">
            <a:solidFill>
              <a:srgbClr val="DFD6C7"/>
            </a:solidFill>
            <a:prstDash val="solid"/>
          </a:ln>
        </p:spPr>
        <p:txBody>
          <a:bodyPr/>
          <a:p/>
        </p:txBody>
      </p:sp>
      <p:sp>
        <p:nvSpPr>
          <p:cNvPr id="9" name="Text 7"/>
          <p:cNvSpPr txBox="1"/>
          <p:nvPr/>
        </p:nvSpPr>
        <p:spPr>
          <a:xfrm>
            <a:off x="2517648" y="1335024"/>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2. What a transaction is</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5-11)</a:t>
            </a:r>
            <a:endParaRPr lang="en-US" sz="1150" dirty="0"/>
          </a:p>
        </p:txBody>
      </p:sp>
      <p:sp>
        <p:nvSpPr>
          <p:cNvPr id="10" name="Shape 8"/>
          <p:cNvSpPr/>
          <p:nvPr/>
        </p:nvSpPr>
        <p:spPr>
          <a:xfrm>
            <a:off x="4395216" y="1280160"/>
            <a:ext cx="1822704" cy="981456"/>
          </a:xfrm>
          <a:prstGeom prst="roundRect">
            <a:avLst>
              <a:gd name="adj" fmla="val 7453"/>
            </a:avLst>
          </a:prstGeom>
          <a:solidFill>
            <a:srgbClr val="F2ECE1"/>
          </a:solidFill>
          <a:ln w="12700">
            <a:solidFill>
              <a:srgbClr val="DFD6C7"/>
            </a:solidFill>
            <a:prstDash val="solid"/>
          </a:ln>
        </p:spPr>
        <p:txBody>
          <a:bodyPr/>
          <a:p/>
        </p:txBody>
      </p:sp>
      <p:sp>
        <p:nvSpPr>
          <p:cNvPr id="11" name="Text 9"/>
          <p:cNvSpPr txBox="1"/>
          <p:nvPr/>
        </p:nvSpPr>
        <p:spPr>
          <a:xfrm>
            <a:off x="4486656" y="1335024"/>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3. Version, marker and flag</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12-16)</a:t>
            </a:r>
            <a:endParaRPr lang="en-US" sz="1150" dirty="0"/>
          </a:p>
        </p:txBody>
      </p:sp>
      <p:sp>
        <p:nvSpPr>
          <p:cNvPr id="12" name="Shape 10"/>
          <p:cNvSpPr/>
          <p:nvPr/>
        </p:nvSpPr>
        <p:spPr>
          <a:xfrm>
            <a:off x="457200" y="2389632"/>
            <a:ext cx="1822704" cy="981456"/>
          </a:xfrm>
          <a:prstGeom prst="roundRect">
            <a:avLst>
              <a:gd name="adj" fmla="val 7453"/>
            </a:avLst>
          </a:prstGeom>
          <a:solidFill>
            <a:srgbClr val="F2ECE1"/>
          </a:solidFill>
          <a:ln w="12700">
            <a:solidFill>
              <a:srgbClr val="DFD6C7"/>
            </a:solidFill>
            <a:prstDash val="solid"/>
          </a:ln>
        </p:spPr>
        <p:txBody>
          <a:bodyPr/>
          <a:p/>
        </p:txBody>
      </p:sp>
      <p:sp>
        <p:nvSpPr>
          <p:cNvPr id="13" name="Text 11"/>
          <p:cNvSpPr txBox="1"/>
          <p:nvPr/>
        </p:nvSpPr>
        <p:spPr>
          <a:xfrm>
            <a:off x="548640" y="2444496"/>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4. Inputs</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17-27)</a:t>
            </a:r>
            <a:endParaRPr lang="en-US" sz="1150" dirty="0"/>
          </a:p>
        </p:txBody>
      </p:sp>
      <p:sp>
        <p:nvSpPr>
          <p:cNvPr id="14" name="Shape 12"/>
          <p:cNvSpPr/>
          <p:nvPr/>
        </p:nvSpPr>
        <p:spPr>
          <a:xfrm>
            <a:off x="2426208" y="2389632"/>
            <a:ext cx="1822704" cy="981456"/>
          </a:xfrm>
          <a:prstGeom prst="roundRect">
            <a:avLst>
              <a:gd name="adj" fmla="val 7453"/>
            </a:avLst>
          </a:prstGeom>
          <a:solidFill>
            <a:srgbClr val="F2ECE1"/>
          </a:solidFill>
          <a:ln w="12700">
            <a:solidFill>
              <a:srgbClr val="DFD6C7"/>
            </a:solidFill>
            <a:prstDash val="solid"/>
          </a:ln>
        </p:spPr>
        <p:txBody>
          <a:bodyPr/>
          <a:p/>
        </p:txBody>
      </p:sp>
      <p:sp>
        <p:nvSpPr>
          <p:cNvPr id="15" name="Text 13"/>
          <p:cNvSpPr txBox="1"/>
          <p:nvPr/>
        </p:nvSpPr>
        <p:spPr>
          <a:xfrm>
            <a:off x="2517648" y="2444496"/>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5. The sequence field</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28-34)</a:t>
            </a:r>
            <a:endParaRPr lang="en-US" sz="1150" dirty="0"/>
          </a:p>
        </p:txBody>
      </p:sp>
      <p:sp>
        <p:nvSpPr>
          <p:cNvPr id="16" name="Shape 14"/>
          <p:cNvSpPr/>
          <p:nvPr/>
        </p:nvSpPr>
        <p:spPr>
          <a:xfrm>
            <a:off x="4395216" y="2389632"/>
            <a:ext cx="1822704" cy="981456"/>
          </a:xfrm>
          <a:prstGeom prst="roundRect">
            <a:avLst>
              <a:gd name="adj" fmla="val 7453"/>
            </a:avLst>
          </a:prstGeom>
          <a:solidFill>
            <a:srgbClr val="F2ECE1"/>
          </a:solidFill>
          <a:ln w="12700">
            <a:solidFill>
              <a:srgbClr val="DFD6C7"/>
            </a:solidFill>
            <a:prstDash val="solid"/>
          </a:ln>
        </p:spPr>
        <p:txBody>
          <a:bodyPr/>
          <a:p/>
        </p:txBody>
      </p:sp>
      <p:sp>
        <p:nvSpPr>
          <p:cNvPr id="17" name="Text 15"/>
          <p:cNvSpPr txBox="1"/>
          <p:nvPr/>
        </p:nvSpPr>
        <p:spPr>
          <a:xfrm>
            <a:off x="4486656" y="2444496"/>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6. Outputs</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35-43)</a:t>
            </a:r>
            <a:endParaRPr lang="en-US" sz="1150" dirty="0"/>
          </a:p>
        </p:txBody>
      </p:sp>
      <p:sp>
        <p:nvSpPr>
          <p:cNvPr id="18" name="Shape 16"/>
          <p:cNvSpPr/>
          <p:nvPr/>
        </p:nvSpPr>
        <p:spPr>
          <a:xfrm>
            <a:off x="457200" y="3499104"/>
            <a:ext cx="1822704" cy="981456"/>
          </a:xfrm>
          <a:prstGeom prst="roundRect">
            <a:avLst>
              <a:gd name="adj" fmla="val 7453"/>
            </a:avLst>
          </a:prstGeom>
          <a:solidFill>
            <a:srgbClr val="F2ECE1"/>
          </a:solidFill>
          <a:ln w="12700">
            <a:solidFill>
              <a:srgbClr val="DFD6C7"/>
            </a:solidFill>
            <a:prstDash val="solid"/>
          </a:ln>
        </p:spPr>
        <p:txBody>
          <a:bodyPr/>
          <a:p/>
        </p:txBody>
      </p:sp>
      <p:sp>
        <p:nvSpPr>
          <p:cNvPr id="19" name="Text 17"/>
          <p:cNvSpPr txBox="1"/>
          <p:nvPr/>
        </p:nvSpPr>
        <p:spPr>
          <a:xfrm>
            <a:off x="548640" y="3553968"/>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7. Witnesses</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44-53)</a:t>
            </a:r>
            <a:endParaRPr lang="en-US" sz="1150" dirty="0"/>
          </a:p>
        </p:txBody>
      </p:sp>
      <p:sp>
        <p:nvSpPr>
          <p:cNvPr id="20" name="Shape 18"/>
          <p:cNvSpPr/>
          <p:nvPr/>
        </p:nvSpPr>
        <p:spPr>
          <a:xfrm>
            <a:off x="2426208" y="3499104"/>
            <a:ext cx="1822704" cy="981456"/>
          </a:xfrm>
          <a:prstGeom prst="roundRect">
            <a:avLst>
              <a:gd name="adj" fmla="val 7453"/>
            </a:avLst>
          </a:prstGeom>
          <a:solidFill>
            <a:srgbClr val="F2ECE1"/>
          </a:solidFill>
          <a:ln w="12700">
            <a:solidFill>
              <a:srgbClr val="DFD6C7"/>
            </a:solidFill>
            <a:prstDash val="solid"/>
          </a:ln>
        </p:spPr>
        <p:txBody>
          <a:bodyPr/>
          <a:p/>
        </p:txBody>
      </p:sp>
      <p:sp>
        <p:nvSpPr>
          <p:cNvPr id="21" name="Text 19"/>
          <p:cNvSpPr txBox="1"/>
          <p:nvPr/>
        </p:nvSpPr>
        <p:spPr>
          <a:xfrm>
            <a:off x="2517648" y="3553968"/>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8. Lock time and the coinbase</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54-61)</a:t>
            </a:r>
            <a:endParaRPr lang="en-US" sz="1150" dirty="0"/>
          </a:p>
        </p:txBody>
      </p:sp>
      <p:sp>
        <p:nvSpPr>
          <p:cNvPr id="22" name="Shape 20"/>
          <p:cNvSpPr/>
          <p:nvPr/>
        </p:nvSpPr>
        <p:spPr>
          <a:xfrm>
            <a:off x="4395216" y="3499104"/>
            <a:ext cx="1822704" cy="981456"/>
          </a:xfrm>
          <a:prstGeom prst="roundRect">
            <a:avLst>
              <a:gd name="adj" fmla="val 7453"/>
            </a:avLst>
          </a:prstGeom>
          <a:solidFill>
            <a:srgbClr val="F2ECE1"/>
          </a:solidFill>
          <a:ln w="12700">
            <a:solidFill>
              <a:srgbClr val="DFD6C7"/>
            </a:solidFill>
            <a:prstDash val="solid"/>
          </a:ln>
        </p:spPr>
        <p:txBody>
          <a:bodyPr/>
          <a:p/>
        </p:txBody>
      </p:sp>
      <p:sp>
        <p:nvSpPr>
          <p:cNvPr id="23" name="Text 21"/>
          <p:cNvSpPr txBox="1"/>
          <p:nvPr/>
        </p:nvSpPr>
        <p:spPr>
          <a:xfrm>
            <a:off x="4486656" y="3553968"/>
            <a:ext cx="1639824" cy="871728"/>
          </a:xfrm>
          <a:prstGeom prst="rect">
            <a:avLst/>
          </a:prstGeom>
          <a:noFill/>
          <a:ln/>
        </p:spPr>
        <p:txBody>
          <a:bodyPr wrap="square" lIns="0" tIns="0" rIns="0" bIns="0" rtlCol="0" anchor="ctr"/>
          <a:lstStyle/>
          <a:p>
            <a:pPr algn="ctr" indent="0" marL="0">
              <a:buNone/>
            </a:pPr>
            <a:r>
              <a:rPr lang="en-US" sz="1150" b="1" dirty="0">
                <a:solidFill>
                  <a:srgbClr val="2B2622"/>
                </a:solidFill>
                <a:latin typeface="Calibri" pitchFamily="34" charset="0"/>
                <a:ea typeface="Calibri" pitchFamily="34" charset="-122"/>
                <a:cs typeface="Calibri" pitchFamily="34" charset="-120"/>
              </a:rPr>
              <a:t>9. Weight and foundations</a:t>
            </a:r>
            <a:endParaRPr lang="en-US" sz="1150" dirty="0"/>
          </a:p>
          <a:p>
            <a:pPr algn="ctr" indent="0" marL="0">
              <a:buNone/>
            </a:pPr>
            <a:r>
              <a:rPr lang="en-US" sz="1050" dirty="0">
                <a:solidFill>
                  <a:srgbClr val="6E655C"/>
                </a:solidFill>
                <a:latin typeface="Calibri" pitchFamily="34" charset="0"/>
                <a:ea typeface="Calibri" pitchFamily="34" charset="-122"/>
                <a:cs typeface="Calibri" pitchFamily="34" charset="-120"/>
              </a:rPr>
              <a:t>(slides 62-71)</a:t>
            </a:r>
            <a:endParaRPr lang="en-US" sz="1150" dirty="0"/>
          </a:p>
        </p:txBody>
      </p:sp>
      <p:sp>
        <p:nvSpPr>
          <p:cNvPr id="24" name="Shape 22"/>
          <p:cNvSpPr/>
          <p:nvPr/>
        </p:nvSpPr>
        <p:spPr>
          <a:xfrm>
            <a:off x="6446520" y="1280160"/>
            <a:ext cx="2240280" cy="981456"/>
          </a:xfrm>
          <a:prstGeom prst="roundRect">
            <a:avLst>
              <a:gd name="adj" fmla="val 7453"/>
            </a:avLst>
          </a:prstGeom>
          <a:solidFill>
            <a:srgbClr val="F2ECE1"/>
          </a:solidFill>
          <a:ln w="12700">
            <a:solidFill>
              <a:srgbClr val="DFD6C7"/>
            </a:solidFill>
            <a:prstDash val="solid"/>
          </a:ln>
        </p:spPr>
        <p:txBody>
          <a:bodyPr/>
          <a:p/>
        </p:txBody>
      </p:sp>
      <p:sp>
        <p:nvSpPr>
          <p:cNvPr id="25" name="Text 23"/>
          <p:cNvSpPr txBox="1"/>
          <p:nvPr/>
        </p:nvSpPr>
        <p:spPr>
          <a:xfrm>
            <a:off x="6556248" y="1316736"/>
            <a:ext cx="2020824" cy="473781"/>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71</a:t>
            </a:r>
            <a:endParaRPr lang="en-US" sz="2600" dirty="0"/>
          </a:p>
        </p:txBody>
      </p:sp>
      <p:sp>
        <p:nvSpPr>
          <p:cNvPr id="26" name="Text 24"/>
          <p:cNvSpPr txBox="1"/>
          <p:nvPr/>
        </p:nvSpPr>
        <p:spPr>
          <a:xfrm>
            <a:off x="6556248" y="1790517"/>
            <a:ext cx="2020824" cy="431841"/>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slides, 9 of them pictures</a:t>
            </a:r>
            <a:endParaRPr lang="en-US" sz="1100" dirty="0"/>
          </a:p>
        </p:txBody>
      </p:sp>
      <p:sp>
        <p:nvSpPr>
          <p:cNvPr id="27" name="Shape 25"/>
          <p:cNvSpPr/>
          <p:nvPr/>
        </p:nvSpPr>
        <p:spPr>
          <a:xfrm>
            <a:off x="6446520" y="2389632"/>
            <a:ext cx="2240280" cy="981456"/>
          </a:xfrm>
          <a:prstGeom prst="roundRect">
            <a:avLst>
              <a:gd name="adj" fmla="val 7453"/>
            </a:avLst>
          </a:prstGeom>
          <a:solidFill>
            <a:srgbClr val="F2ECE1"/>
          </a:solidFill>
          <a:ln w="12700">
            <a:solidFill>
              <a:srgbClr val="DFD6C7"/>
            </a:solidFill>
            <a:prstDash val="solid"/>
          </a:ln>
        </p:spPr>
        <p:txBody>
          <a:bodyPr/>
          <a:p/>
        </p:txBody>
      </p:sp>
      <p:sp>
        <p:nvSpPr>
          <p:cNvPr id="28" name="Text 26"/>
          <p:cNvSpPr txBox="1"/>
          <p:nvPr/>
        </p:nvSpPr>
        <p:spPr>
          <a:xfrm>
            <a:off x="6556248" y="2426208"/>
            <a:ext cx="2020824" cy="473781"/>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4</a:t>
            </a:r>
            <a:endParaRPr lang="en-US" sz="2600" dirty="0"/>
          </a:p>
        </p:txBody>
      </p:sp>
      <p:sp>
        <p:nvSpPr>
          <p:cNvPr id="29" name="Text 27"/>
          <p:cNvSpPr txBox="1"/>
          <p:nvPr/>
        </p:nvSpPr>
        <p:spPr>
          <a:xfrm>
            <a:off x="6556248" y="2899989"/>
            <a:ext cx="2020824" cy="431841"/>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true stories, each with its source link</a:t>
            </a:r>
            <a:endParaRPr lang="en-US" sz="1100" dirty="0"/>
          </a:p>
        </p:txBody>
      </p:sp>
      <p:sp>
        <p:nvSpPr>
          <p:cNvPr id="30" name="Shape 28"/>
          <p:cNvSpPr/>
          <p:nvPr/>
        </p:nvSpPr>
        <p:spPr>
          <a:xfrm>
            <a:off x="6446520" y="3499104"/>
            <a:ext cx="2240280" cy="981456"/>
          </a:xfrm>
          <a:prstGeom prst="roundRect">
            <a:avLst>
              <a:gd name="adj" fmla="val 7453"/>
            </a:avLst>
          </a:prstGeom>
          <a:solidFill>
            <a:srgbClr val="F2ECE1"/>
          </a:solidFill>
          <a:ln w="12700">
            <a:solidFill>
              <a:srgbClr val="DFD6C7"/>
            </a:solidFill>
            <a:prstDash val="solid"/>
          </a:ln>
        </p:spPr>
        <p:txBody>
          <a:bodyPr/>
          <a:p/>
        </p:txBody>
      </p:sp>
      <p:sp>
        <p:nvSpPr>
          <p:cNvPr id="31" name="Text 29"/>
          <p:cNvSpPr txBox="1"/>
          <p:nvPr/>
        </p:nvSpPr>
        <p:spPr>
          <a:xfrm>
            <a:off x="6556248" y="3535680"/>
            <a:ext cx="2020824" cy="473781"/>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18</a:t>
            </a:r>
            <a:endParaRPr lang="en-US" sz="2600" dirty="0"/>
          </a:p>
        </p:txBody>
      </p:sp>
      <p:sp>
        <p:nvSpPr>
          <p:cNvPr id="32" name="Text 30"/>
          <p:cNvSpPr txBox="1"/>
          <p:nvPr/>
        </p:nvSpPr>
        <p:spPr>
          <a:xfrm>
            <a:off x="6556248" y="4009461"/>
            <a:ext cx="2020824" cy="431841"/>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code examples with a picture of each result</a:t>
            </a:r>
            <a:endParaRPr lang="en-US" sz="1100" dirty="0"/>
          </a:p>
        </p:txBody>
      </p:sp>
      <p:sp>
        <p:nvSpPr>
          <p:cNvPr id="33" name="Shape 3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34" name="Text 3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Eight parts, one real transaction, and a summary you can check</a:t>
            </a:r>
            <a:endParaRPr lang="en-US" sz="1350" dirty="0"/>
          </a:p>
        </p:txBody>
      </p:sp>
      <p:sp>
        <p:nvSpPr>
          <p:cNvPr id="35" name="Text 3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 / 71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questions this chapter answers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Its own competency questions; we return to each</a:t>
            </a:r>
            <a:endParaRPr lang="en-US" sz="1300" dirty="0"/>
          </a:p>
        </p:txBody>
      </p:sp>
      <p:sp>
        <p:nvSpPr>
          <p:cNvPr id="6" name="Shape 4"/>
          <p:cNvSpPr/>
          <p:nvPr/>
        </p:nvSpPr>
        <p:spPr>
          <a:xfrm>
            <a:off x="457200" y="1316736"/>
            <a:ext cx="402336" cy="402336"/>
          </a:xfrm>
          <a:prstGeom prst="ellipse">
            <a:avLst/>
          </a:prstGeom>
          <a:solidFill>
            <a:srgbClr val="D97A14"/>
          </a:solidFill>
          <a:ln w="12700">
            <a:solidFill>
              <a:srgbClr val="D97A14"/>
            </a:solidFill>
            <a:prstDash val="solid"/>
          </a:ln>
        </p:spPr>
        <p:txBody>
          <a:bodyPr/>
          <a:p/>
        </p:txBody>
      </p:sp>
      <p:sp>
        <p:nvSpPr>
          <p:cNvPr id="7" name="Text 5"/>
          <p:cNvSpPr txBox="1"/>
          <p:nvPr/>
        </p:nvSpPr>
        <p:spPr>
          <a:xfrm>
            <a:off x="457200" y="1316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2801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What does a Bitcoin transaction ask full nodes to do?</a:t>
            </a:r>
            <a:endParaRPr lang="en-US" sz="1200" dirty="0"/>
          </a:p>
        </p:txBody>
      </p:sp>
      <p:sp>
        <p:nvSpPr>
          <p:cNvPr id="9" name="Shape 7"/>
          <p:cNvSpPr/>
          <p:nvPr/>
        </p:nvSpPr>
        <p:spPr>
          <a:xfrm>
            <a:off x="457200" y="1773936"/>
            <a:ext cx="402336" cy="402336"/>
          </a:xfrm>
          <a:prstGeom prst="ellipse">
            <a:avLst/>
          </a:prstGeom>
          <a:solidFill>
            <a:srgbClr val="D97A14"/>
          </a:solidFill>
          <a:ln w="12700">
            <a:solidFill>
              <a:srgbClr val="D97A14"/>
            </a:solidFill>
            <a:prstDash val="solid"/>
          </a:ln>
        </p:spPr>
        <p:txBody>
          <a:bodyPr/>
          <a:p/>
        </p:txBody>
      </p:sp>
      <p:sp>
        <p:nvSpPr>
          <p:cNvPr id="10" name="Text 8"/>
          <p:cNvSpPr txBox="1"/>
          <p:nvPr/>
        </p:nvSpPr>
        <p:spPr>
          <a:xfrm>
            <a:off x="457200" y="1773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7373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How is a transaction serialized in the extended and the legacy format?</a:t>
            </a:r>
            <a:endParaRPr lang="en-US" sz="1200" dirty="0"/>
          </a:p>
        </p:txBody>
      </p:sp>
      <p:sp>
        <p:nvSpPr>
          <p:cNvPr id="12" name="Shape 10"/>
          <p:cNvSpPr/>
          <p:nvPr/>
        </p:nvSpPr>
        <p:spPr>
          <a:xfrm>
            <a:off x="457200" y="2231136"/>
            <a:ext cx="402336" cy="402336"/>
          </a:xfrm>
          <a:prstGeom prst="ellipse">
            <a:avLst/>
          </a:prstGeom>
          <a:solidFill>
            <a:srgbClr val="D97A14"/>
          </a:solidFill>
          <a:ln w="12700">
            <a:solidFill>
              <a:srgbClr val="D97A14"/>
            </a:solidFill>
            <a:prstDash val="solid"/>
          </a:ln>
        </p:spPr>
        <p:txBody>
          <a:bodyPr/>
          <a:p/>
        </p:txBody>
      </p:sp>
      <p:sp>
        <p:nvSpPr>
          <p:cNvPr id="13" name="Text 11"/>
          <p:cNvSpPr txBox="1"/>
          <p:nvPr/>
        </p:nvSpPr>
        <p:spPr>
          <a:xfrm>
            <a:off x="457200" y="22311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1945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What do the version, marker and flag tell a node?</a:t>
            </a:r>
            <a:endParaRPr lang="en-US" sz="1200" dirty="0"/>
          </a:p>
        </p:txBody>
      </p:sp>
      <p:sp>
        <p:nvSpPr>
          <p:cNvPr id="15" name="Shape 13"/>
          <p:cNvSpPr/>
          <p:nvPr/>
        </p:nvSpPr>
        <p:spPr>
          <a:xfrm>
            <a:off x="457200" y="2688336"/>
            <a:ext cx="402336" cy="402336"/>
          </a:xfrm>
          <a:prstGeom prst="ellipse">
            <a:avLst/>
          </a:prstGeom>
          <a:solidFill>
            <a:srgbClr val="D97A14"/>
          </a:solidFill>
          <a:ln w="12700">
            <a:solidFill>
              <a:srgbClr val="D97A14"/>
            </a:solidFill>
            <a:prstDash val="solid"/>
          </a:ln>
        </p:spPr>
        <p:txBody>
          <a:bodyPr/>
          <a:p/>
        </p:txBody>
      </p:sp>
      <p:sp>
        <p:nvSpPr>
          <p:cNvPr id="16" name="Text 14"/>
          <p:cNvSpPr txBox="1"/>
          <p:nvPr/>
        </p:nvSpPr>
        <p:spPr>
          <a:xfrm>
            <a:off x="457200" y="26883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26517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Which three meanings has the sequence field carried?</a:t>
            </a:r>
            <a:endParaRPr lang="en-US" sz="1200" dirty="0"/>
          </a:p>
        </p:txBody>
      </p:sp>
      <p:sp>
        <p:nvSpPr>
          <p:cNvPr id="18" name="Shape 16"/>
          <p:cNvSpPr/>
          <p:nvPr/>
        </p:nvSpPr>
        <p:spPr>
          <a:xfrm>
            <a:off x="457200" y="3145536"/>
            <a:ext cx="402336" cy="402336"/>
          </a:xfrm>
          <a:prstGeom prst="ellipse">
            <a:avLst/>
          </a:prstGeom>
          <a:solidFill>
            <a:srgbClr val="D97A14"/>
          </a:solidFill>
          <a:ln w="12700">
            <a:solidFill>
              <a:srgbClr val="D97A14"/>
            </a:solidFill>
            <a:prstDash val="solid"/>
          </a:ln>
        </p:spPr>
        <p:txBody>
          <a:bodyPr/>
          <a:p/>
        </p:txBody>
      </p:sp>
      <p:sp>
        <p:nvSpPr>
          <p:cNvPr id="19" name="Text 17"/>
          <p:cNvSpPr txBox="1"/>
          <p:nvPr/>
        </p:nvSpPr>
        <p:spPr>
          <a:xfrm>
            <a:off x="457200" y="3145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024128" y="31089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Why did witnesses in the input script make the identifier malleable?</a:t>
            </a:r>
            <a:endParaRPr lang="en-US" sz="1200" dirty="0"/>
          </a:p>
        </p:txBody>
      </p:sp>
      <p:sp>
        <p:nvSpPr>
          <p:cNvPr id="21" name="Shape 19"/>
          <p:cNvSpPr/>
          <p:nvPr/>
        </p:nvSpPr>
        <p:spPr>
          <a:xfrm>
            <a:off x="457200" y="3602736"/>
            <a:ext cx="402336" cy="402336"/>
          </a:xfrm>
          <a:prstGeom prst="ellipse">
            <a:avLst/>
          </a:prstGeom>
          <a:solidFill>
            <a:srgbClr val="D97A14"/>
          </a:solidFill>
          <a:ln w="12700">
            <a:solidFill>
              <a:srgbClr val="D97A14"/>
            </a:solidFill>
            <a:prstDash val="solid"/>
          </a:ln>
        </p:spPr>
        <p:txBody>
          <a:bodyPr/>
          <a:p/>
        </p:txBody>
      </p:sp>
      <p:sp>
        <p:nvSpPr>
          <p:cNvPr id="22" name="Text 20"/>
          <p:cNvSpPr txBox="1"/>
          <p:nvPr/>
        </p:nvSpPr>
        <p:spPr>
          <a:xfrm>
            <a:off x="457200" y="3602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3" name="Text 21"/>
          <p:cNvSpPr txBox="1"/>
          <p:nvPr/>
        </p:nvSpPr>
        <p:spPr>
          <a:xfrm>
            <a:off x="1024128" y="35661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How are weight and vbytes computed, and does 569 reproduce from the bytes?</a:t>
            </a:r>
            <a:endParaRPr lang="en-US" sz="1200" dirty="0"/>
          </a:p>
        </p:txBody>
      </p:sp>
      <p:sp>
        <p:nvSpPr>
          <p:cNvPr id="24" name="Shape 22"/>
          <p:cNvSpPr/>
          <p:nvPr/>
        </p:nvSpPr>
        <p:spPr>
          <a:xfrm>
            <a:off x="457200" y="4059936"/>
            <a:ext cx="402336" cy="402336"/>
          </a:xfrm>
          <a:prstGeom prst="ellipse">
            <a:avLst/>
          </a:prstGeom>
          <a:solidFill>
            <a:srgbClr val="D97A14"/>
          </a:solidFill>
          <a:ln w="12700">
            <a:solidFill>
              <a:srgbClr val="D97A14"/>
            </a:solidFill>
            <a:prstDash val="solid"/>
          </a:ln>
        </p:spPr>
        <p:txBody>
          <a:bodyPr/>
          <a:p/>
        </p:txBody>
      </p:sp>
      <p:sp>
        <p:nvSpPr>
          <p:cNvPr id="25" name="Text 23"/>
          <p:cNvSpPr txBox="1"/>
          <p:nvPr/>
        </p:nvSpPr>
        <p:spPr>
          <a:xfrm>
            <a:off x="457200" y="4059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6" name="Text 24"/>
          <p:cNvSpPr txBox="1"/>
          <p:nvPr/>
        </p:nvSpPr>
        <p:spPr>
          <a:xfrm>
            <a:off x="1024128" y="40233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Who creates new bitcoins, and when can they be spent?</a:t>
            </a:r>
            <a:endParaRPr lang="en-US" sz="1200" dirty="0"/>
          </a:p>
        </p:txBody>
      </p:sp>
      <p:sp>
        <p:nvSpPr>
          <p:cNvPr id="27" name="Text 2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 / 71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One chapter, eight branches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concept map the whole deck hangs on</a:t>
            </a:r>
            <a:endParaRPr lang="en-US" sz="1300" dirty="0"/>
          </a:p>
        </p:txBody>
      </p:sp>
      <p:sp>
        <p:nvSpPr>
          <p:cNvPr id="6" name="Shape 4"/>
          <p:cNvSpPr/>
          <p:nvPr/>
        </p:nvSpPr>
        <p:spPr>
          <a:xfrm>
            <a:off x="457200" y="1280160"/>
            <a:ext cx="1947672" cy="1490472"/>
          </a:xfrm>
          <a:prstGeom prst="roundRect">
            <a:avLst>
              <a:gd name="adj" fmla="val 4908"/>
            </a:avLst>
          </a:prstGeom>
          <a:solidFill>
            <a:srgbClr val="F2ECE1"/>
          </a:solidFill>
          <a:ln w="12700">
            <a:solidFill>
              <a:srgbClr val="DFD6C7"/>
            </a:solidFill>
            <a:prstDash val="solid"/>
          </a:ln>
        </p:spPr>
        <p:txBody>
          <a:bodyPr/>
          <a:p/>
        </p:txBody>
      </p:sp>
      <p:sp>
        <p:nvSpPr>
          <p:cNvPr id="7" name="Text 5"/>
          <p:cNvSpPr txBox="1"/>
          <p:nvPr/>
        </p:nvSpPr>
        <p:spPr>
          <a:xfrm>
            <a:off x="548640" y="1335024"/>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What a transaction is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10 concepts</a:t>
            </a:r>
            <a:endParaRPr lang="en-US" sz="1250" dirty="0"/>
          </a:p>
        </p:txBody>
      </p:sp>
      <p:sp>
        <p:nvSpPr>
          <p:cNvPr id="8" name="Shape 6"/>
          <p:cNvSpPr/>
          <p:nvPr/>
        </p:nvSpPr>
        <p:spPr>
          <a:xfrm>
            <a:off x="2551176" y="1280160"/>
            <a:ext cx="1947672" cy="1490472"/>
          </a:xfrm>
          <a:prstGeom prst="roundRect">
            <a:avLst>
              <a:gd name="adj" fmla="val 4908"/>
            </a:avLst>
          </a:prstGeom>
          <a:solidFill>
            <a:srgbClr val="F2ECE1"/>
          </a:solidFill>
          <a:ln w="12700">
            <a:solidFill>
              <a:srgbClr val="DFD6C7"/>
            </a:solidFill>
            <a:prstDash val="solid"/>
          </a:ln>
        </p:spPr>
        <p:txBody>
          <a:bodyPr/>
          <a:p/>
        </p:txBody>
      </p:sp>
      <p:sp>
        <p:nvSpPr>
          <p:cNvPr id="9" name="Text 7"/>
          <p:cNvSpPr txBox="1"/>
          <p:nvPr/>
        </p:nvSpPr>
        <p:spPr>
          <a:xfrm>
            <a:off x="2642616" y="1335024"/>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Version, marker and flag</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8 concepts</a:t>
            </a:r>
            <a:endParaRPr lang="en-US" sz="1250" dirty="0"/>
          </a:p>
        </p:txBody>
      </p:sp>
      <p:sp>
        <p:nvSpPr>
          <p:cNvPr id="10" name="Shape 8"/>
          <p:cNvSpPr/>
          <p:nvPr/>
        </p:nvSpPr>
        <p:spPr>
          <a:xfrm>
            <a:off x="4645152" y="1280160"/>
            <a:ext cx="1947672" cy="1490472"/>
          </a:xfrm>
          <a:prstGeom prst="roundRect">
            <a:avLst>
              <a:gd name="adj" fmla="val 4908"/>
            </a:avLst>
          </a:prstGeom>
          <a:solidFill>
            <a:srgbClr val="D97A14"/>
          </a:solidFill>
          <a:ln w="12700">
            <a:solidFill>
              <a:srgbClr val="D97A14"/>
            </a:solidFill>
            <a:prstDash val="solid"/>
          </a:ln>
        </p:spPr>
        <p:txBody>
          <a:bodyPr/>
          <a:p/>
        </p:txBody>
      </p:sp>
      <p:sp>
        <p:nvSpPr>
          <p:cNvPr id="11" name="Text 9"/>
          <p:cNvSpPr txBox="1"/>
          <p:nvPr/>
        </p:nvSpPr>
        <p:spPr>
          <a:xfrm>
            <a:off x="4736592" y="1335024"/>
            <a:ext cx="1764792" cy="13807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Inputs</a:t>
            </a:r>
            <a:endParaRPr lang="en-US" sz="1250" dirty="0"/>
          </a:p>
          <a:p>
            <a:pPr algn="ctr" indent="0" marL="0">
              <a:buNone/>
            </a:pPr>
            <a:r>
              <a:rPr lang="en-US" sz="1050" dirty="0">
                <a:solidFill>
                  <a:srgbClr val="FFFFFF"/>
                </a:solidFill>
                <a:latin typeface="Calibri" pitchFamily="34" charset="0"/>
                <a:ea typeface="Calibri" pitchFamily="34" charset="-122"/>
                <a:cs typeface="Calibri" pitchFamily="34" charset="-120"/>
              </a:rPr>
              <a:t>18 concepts</a:t>
            </a:r>
            <a:endParaRPr lang="en-US" sz="1250" dirty="0"/>
          </a:p>
        </p:txBody>
      </p:sp>
      <p:sp>
        <p:nvSpPr>
          <p:cNvPr id="12" name="Shape 10"/>
          <p:cNvSpPr/>
          <p:nvPr/>
        </p:nvSpPr>
        <p:spPr>
          <a:xfrm>
            <a:off x="6739128" y="1280160"/>
            <a:ext cx="1947672" cy="1490472"/>
          </a:xfrm>
          <a:prstGeom prst="roundRect">
            <a:avLst>
              <a:gd name="adj" fmla="val 4908"/>
            </a:avLst>
          </a:prstGeom>
          <a:solidFill>
            <a:srgbClr val="F2ECE1"/>
          </a:solidFill>
          <a:ln w="12700">
            <a:solidFill>
              <a:srgbClr val="DFD6C7"/>
            </a:solidFill>
            <a:prstDash val="solid"/>
          </a:ln>
        </p:spPr>
        <p:txBody>
          <a:bodyPr/>
          <a:p/>
        </p:txBody>
      </p:sp>
      <p:sp>
        <p:nvSpPr>
          <p:cNvPr id="13" name="Text 11"/>
          <p:cNvSpPr txBox="1"/>
          <p:nvPr/>
        </p:nvSpPr>
        <p:spPr>
          <a:xfrm>
            <a:off x="6830568" y="1335024"/>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The sequence field</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13 concepts</a:t>
            </a:r>
            <a:endParaRPr lang="en-US" sz="1250" dirty="0"/>
          </a:p>
        </p:txBody>
      </p:sp>
      <p:sp>
        <p:nvSpPr>
          <p:cNvPr id="14" name="Shape 12"/>
          <p:cNvSpPr/>
          <p:nvPr/>
        </p:nvSpPr>
        <p:spPr>
          <a:xfrm>
            <a:off x="457200" y="2898648"/>
            <a:ext cx="1947672" cy="1490472"/>
          </a:xfrm>
          <a:prstGeom prst="roundRect">
            <a:avLst>
              <a:gd name="adj" fmla="val 4908"/>
            </a:avLst>
          </a:prstGeom>
          <a:solidFill>
            <a:srgbClr val="F2ECE1"/>
          </a:solidFill>
          <a:ln w="12700">
            <a:solidFill>
              <a:srgbClr val="DFD6C7"/>
            </a:solidFill>
            <a:prstDash val="solid"/>
          </a:ln>
        </p:spPr>
        <p:txBody>
          <a:bodyPr/>
          <a:p/>
        </p:txBody>
      </p:sp>
      <p:sp>
        <p:nvSpPr>
          <p:cNvPr id="15" name="Text 13"/>
          <p:cNvSpPr txBox="1"/>
          <p:nvPr/>
        </p:nvSpPr>
        <p:spPr>
          <a:xfrm>
            <a:off x="548640" y="2953512"/>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Outputs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14 concepts</a:t>
            </a:r>
            <a:endParaRPr lang="en-US" sz="1250" dirty="0"/>
          </a:p>
        </p:txBody>
      </p:sp>
      <p:sp>
        <p:nvSpPr>
          <p:cNvPr id="16" name="Shape 14"/>
          <p:cNvSpPr/>
          <p:nvPr/>
        </p:nvSpPr>
        <p:spPr>
          <a:xfrm>
            <a:off x="2551176" y="2898648"/>
            <a:ext cx="1947672" cy="1490472"/>
          </a:xfrm>
          <a:prstGeom prst="roundRect">
            <a:avLst>
              <a:gd name="adj" fmla="val 4908"/>
            </a:avLst>
          </a:prstGeom>
          <a:solidFill>
            <a:srgbClr val="F2ECE1"/>
          </a:solidFill>
          <a:ln w="12700">
            <a:solidFill>
              <a:srgbClr val="DFD6C7"/>
            </a:solidFill>
            <a:prstDash val="solid"/>
          </a:ln>
        </p:spPr>
        <p:txBody>
          <a:bodyPr/>
          <a:p/>
        </p:txBody>
      </p:sp>
      <p:sp>
        <p:nvSpPr>
          <p:cNvPr id="17" name="Text 15"/>
          <p:cNvSpPr txBox="1"/>
          <p:nvPr/>
        </p:nvSpPr>
        <p:spPr>
          <a:xfrm>
            <a:off x="2642616" y="2953512"/>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Witnesses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20 concepts</a:t>
            </a:r>
            <a:endParaRPr lang="en-US" sz="1250" dirty="0"/>
          </a:p>
        </p:txBody>
      </p:sp>
      <p:sp>
        <p:nvSpPr>
          <p:cNvPr id="18" name="Shape 16"/>
          <p:cNvSpPr/>
          <p:nvPr/>
        </p:nvSpPr>
        <p:spPr>
          <a:xfrm>
            <a:off x="4645152" y="2898648"/>
            <a:ext cx="1947672" cy="1490472"/>
          </a:xfrm>
          <a:prstGeom prst="roundRect">
            <a:avLst>
              <a:gd name="adj" fmla="val 4908"/>
            </a:avLst>
          </a:prstGeom>
          <a:solidFill>
            <a:srgbClr val="F2ECE1"/>
          </a:solidFill>
          <a:ln w="12700">
            <a:solidFill>
              <a:srgbClr val="DFD6C7"/>
            </a:solidFill>
            <a:prstDash val="solid"/>
          </a:ln>
        </p:spPr>
        <p:txBody>
          <a:bodyPr/>
          <a:p/>
        </p:txBody>
      </p:sp>
      <p:sp>
        <p:nvSpPr>
          <p:cNvPr id="19" name="Text 17"/>
          <p:cNvSpPr txBox="1"/>
          <p:nvPr/>
        </p:nvSpPr>
        <p:spPr>
          <a:xfrm>
            <a:off x="4736592" y="2953512"/>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Lock time and the coinbase</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12 concepts</a:t>
            </a:r>
            <a:endParaRPr lang="en-US" sz="1250" dirty="0"/>
          </a:p>
        </p:txBody>
      </p:sp>
      <p:sp>
        <p:nvSpPr>
          <p:cNvPr id="20" name="Shape 18"/>
          <p:cNvSpPr/>
          <p:nvPr/>
        </p:nvSpPr>
        <p:spPr>
          <a:xfrm>
            <a:off x="6739128" y="2898648"/>
            <a:ext cx="1947672" cy="1490472"/>
          </a:xfrm>
          <a:prstGeom prst="roundRect">
            <a:avLst>
              <a:gd name="adj" fmla="val 4908"/>
            </a:avLst>
          </a:prstGeom>
          <a:solidFill>
            <a:srgbClr val="F2ECE1"/>
          </a:solidFill>
          <a:ln w="12700">
            <a:solidFill>
              <a:srgbClr val="DFD6C7"/>
            </a:solidFill>
            <a:prstDash val="solid"/>
          </a:ln>
        </p:spPr>
        <p:txBody>
          <a:bodyPr/>
          <a:p/>
        </p:txBody>
      </p:sp>
      <p:sp>
        <p:nvSpPr>
          <p:cNvPr id="21" name="Text 19"/>
          <p:cNvSpPr txBox="1"/>
          <p:nvPr/>
        </p:nvSpPr>
        <p:spPr>
          <a:xfrm>
            <a:off x="6830568" y="2953512"/>
            <a:ext cx="1764792" cy="13807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Weight and foundations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12 concepts</a:t>
            </a:r>
            <a:endParaRPr lang="en-US" sz="12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Eight branches; every slide today lives on this map</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 / 71</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What a transaction is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transaction is a signed letter asking every ledger to update itself.</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Idea of a transaction</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What a transaction is and what each node does with it.</a:t>
            </a:r>
            <a:endParaRPr lang="en-US" sz="1150" dirty="0"/>
          </a:p>
        </p:txBody>
      </p:sp>
      <p:sp>
        <p:nvSpPr>
          <p:cNvPr id="9" name="Text 7"/>
          <p:cNvSpPr txBox="1"/>
          <p:nvPr/>
        </p:nvSpPr>
        <p:spPr>
          <a:xfrm>
            <a:off x="77724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signed letter that asks every ledger to change.</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Serialization formats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ways a transaction is written out as bytes.</a:t>
            </a:r>
            <a:endParaRPr lang="en-US" sz="1150" dirty="0"/>
          </a:p>
        </p:txBody>
      </p:sp>
      <p:sp>
        <p:nvSpPr>
          <p:cNvPr id="13" name="Text 11"/>
          <p:cNvSpPr txBox="1"/>
          <p:nvPr/>
        </p:nvSpPr>
        <p:spPr>
          <a:xfrm>
            <a:off x="480060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packing a letter flat for the post.</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 / 71</a:t>
            </a:r>
            <a:endParaRPr lang="en-US" sz="11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Alice's transaction, drawn to scale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box is a field; its width is its size in bytes</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Seven fields in one fixed order: 194 bytes extended, 125 bytes legacy</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 / 71</a:t>
            </a:r>
            <a:endParaRPr lang="en-US" sz="1100" dirty="0"/>
          </a:p>
        </p:txBody>
      </p:sp>
      <p:sp>
        <p:nvSpPr>
          <p:cNvPr id="28" name="caption 1"/>
          <p:cNvSpPr txBox="1"/>
          <p:nvPr/>
        </p:nvSpPr>
        <p:spPr>
          <a:xfrm>
            <a:off x="365760" y="1892808"/>
            <a:ext cx="6400800" cy="164592"/>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Extended serialization, as it travels on the network: 194 bytes</a:t>
            </a:r>
          </a:p>
        </p:txBody>
      </p:sp>
      <p:sp>
        <p:nvSpPr>
          <p:cNvPr id="29" name="field version"/>
          <p:cNvSpPr/>
          <p:nvPr/>
        </p:nvSpPr>
        <p:spPr>
          <a:xfrm>
            <a:off x="365760" y="1371600"/>
            <a:ext cx="173453" cy="457200"/>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ield marker"/>
          <p:cNvSpPr/>
          <p:nvPr/>
        </p:nvSpPr>
        <p:spPr>
          <a:xfrm>
            <a:off x="539213" y="1371600"/>
            <a:ext cx="43363" cy="457200"/>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ield flag"/>
          <p:cNvSpPr/>
          <p:nvPr/>
        </p:nvSpPr>
        <p:spPr>
          <a:xfrm>
            <a:off x="582576" y="1371600"/>
            <a:ext cx="43363" cy="457200"/>
          </a:xfrm>
          <a:prstGeom prst="rect">
            <a:avLst/>
          </a:prstGeom>
          <a:solidFill>
            <a:srgbClr val="F2A86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ield input"/>
          <p:cNvSpPr/>
          <p:nvPr/>
        </p:nvSpPr>
        <p:spPr>
          <a:xfrm>
            <a:off x="625939" y="1371600"/>
            <a:ext cx="1821258" cy="457200"/>
          </a:xfrm>
          <a:prstGeom prst="rect">
            <a:avLst/>
          </a:prstGeom>
          <a:solidFill>
            <a:srgbClr val="2B262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input · 42 B</a:t>
            </a:r>
          </a:p>
        </p:txBody>
      </p:sp>
      <p:sp>
        <p:nvSpPr>
          <p:cNvPr id="33" name="field output"/>
          <p:cNvSpPr/>
          <p:nvPr/>
        </p:nvSpPr>
        <p:spPr>
          <a:xfrm>
            <a:off x="2447198" y="1371600"/>
            <a:ext cx="3252247" cy="457200"/>
          </a:xfrm>
          <a:prstGeom prst="rect">
            <a:avLst/>
          </a:prstGeom>
          <a:solidFill>
            <a:srgbClr val="5F8F8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output · 75 B</a:t>
            </a:r>
          </a:p>
        </p:txBody>
      </p:sp>
      <p:sp>
        <p:nvSpPr>
          <p:cNvPr id="34" name="field witness"/>
          <p:cNvSpPr/>
          <p:nvPr/>
        </p:nvSpPr>
        <p:spPr>
          <a:xfrm>
            <a:off x="5699445" y="1371600"/>
            <a:ext cx="2905341" cy="457200"/>
          </a:xfrm>
          <a:prstGeom prst="rect">
            <a:avLst/>
          </a:prstGeom>
          <a:solidFill>
            <a:srgbClr val="B5651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witness · 67 B</a:t>
            </a:r>
          </a:p>
        </p:txBody>
      </p:sp>
      <p:sp>
        <p:nvSpPr>
          <p:cNvPr id="35" name="field lock"/>
          <p:cNvSpPr/>
          <p:nvPr/>
        </p:nvSpPr>
        <p:spPr>
          <a:xfrm>
            <a:off x="8604786" y="1371600"/>
            <a:ext cx="173453" cy="457200"/>
          </a:xfrm>
          <a:prstGeom prst="rect">
            <a:avLst/>
          </a:prstGeom>
          <a:solidFill>
            <a:srgbClr val="6E655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label version"/>
          <p:cNvSpPr txBox="1"/>
          <p:nvPr/>
        </p:nvSpPr>
        <p:spPr>
          <a:xfrm>
            <a:off x="365760" y="1170432"/>
            <a:ext cx="914400" cy="146304"/>
          </a:xfrm>
          <a:prstGeom prst="rect">
            <a:avLst/>
          </a:prstGeom>
          <a:noFill/>
        </p:spPr>
        <p:txBody>
          <a:bodyPr wrap="square" lIns="0" rIns="0" tIns="0" bIns="0" anchor="t">
            <a:spAutoFit/>
          </a:bodyPr>
          <a:lstStyle/>
          <a:p>
            <a:pPr algn="l"/>
            <a:r>
              <a:rPr sz="1000" b="1" i="0">
                <a:solidFill>
                  <a:srgbClr val="2B2622"/>
                </a:solidFill>
                <a:latin typeface="Calibri"/>
                <a:ea typeface="Calibri"/>
                <a:cs typeface="Calibri"/>
              </a:rPr>
              <a:t>version · 4 B</a:t>
            </a:r>
          </a:p>
        </p:txBody>
      </p:sp>
      <p:sp>
        <p:nvSpPr>
          <p:cNvPr id="37" name="label marker"/>
          <p:cNvSpPr txBox="1"/>
          <p:nvPr/>
        </p:nvSpPr>
        <p:spPr>
          <a:xfrm>
            <a:off x="1371600" y="1170432"/>
            <a:ext cx="1737360" cy="146304"/>
          </a:xfrm>
          <a:prstGeom prst="rect">
            <a:avLst/>
          </a:prstGeom>
          <a:noFill/>
        </p:spPr>
        <p:txBody>
          <a:bodyPr wrap="square" lIns="0" rIns="0" tIns="0" bIns="0" anchor="t">
            <a:spAutoFit/>
          </a:bodyPr>
          <a:lstStyle/>
          <a:p>
            <a:pPr algn="l"/>
            <a:r>
              <a:rPr sz="1000" b="1" i="0">
                <a:solidFill>
                  <a:srgbClr val="2B2622"/>
                </a:solidFill>
                <a:latin typeface="Calibri"/>
                <a:ea typeface="Calibri"/>
                <a:cs typeface="Calibri"/>
              </a:rPr>
              <a:t>marker 1 B and flag 1 B</a:t>
            </a:r>
          </a:p>
        </p:txBody>
      </p:sp>
      <p:cxnSp>
        <p:nvCxnSpPr>
          <p:cNvPr id="38" name="tick marker"/>
          <p:cNvCxnSpPr/>
          <p:nvPr/>
        </p:nvCxnSpPr>
        <p:spPr>
          <a:xfrm flipV="1">
            <a:off x="562356" y="1298448"/>
            <a:ext cx="809244" cy="73152"/>
          </a:xfrm>
          <a:prstGeom prst="line">
            <a:avLst/>
          </a:prstGeom>
          <a:ln w="9525">
            <a:solidFill>
              <a:srgbClr val="6E655C"/>
            </a:solidFill>
          </a:ln>
        </p:spPr>
        <p:style>
          <a:lnRef idx="2">
            <a:schemeClr val="accent1"/>
          </a:lnRef>
          <a:fillRef idx="0">
            <a:schemeClr val="accent1"/>
          </a:fillRef>
          <a:effectRef idx="1">
            <a:schemeClr val="accent1"/>
          </a:effectRef>
          <a:fontRef idx="minor">
            <a:schemeClr val="tx1"/>
          </a:fontRef>
        </p:style>
      </p:cxnSp>
      <p:sp>
        <p:nvSpPr>
          <p:cNvPr id="39" name="label lock"/>
          <p:cNvSpPr txBox="1"/>
          <p:nvPr/>
        </p:nvSpPr>
        <p:spPr>
          <a:xfrm>
            <a:off x="7315200" y="1170432"/>
            <a:ext cx="1463040" cy="146304"/>
          </a:xfrm>
          <a:prstGeom prst="rect">
            <a:avLst/>
          </a:prstGeom>
          <a:noFill/>
        </p:spPr>
        <p:txBody>
          <a:bodyPr wrap="square" lIns="0" rIns="0" tIns="0" bIns="0" anchor="t">
            <a:spAutoFit/>
          </a:bodyPr>
          <a:lstStyle/>
          <a:p>
            <a:pPr algn="r"/>
            <a:r>
              <a:rPr sz="1000" b="1" i="0">
                <a:solidFill>
                  <a:srgbClr val="2B2622"/>
                </a:solidFill>
                <a:latin typeface="Calibri"/>
                <a:ea typeface="Calibri"/>
                <a:cs typeface="Calibri"/>
              </a:rPr>
              <a:t>lock time · 4 B</a:t>
            </a:r>
          </a:p>
        </p:txBody>
      </p:sp>
      <p:cxnSp>
        <p:nvCxnSpPr>
          <p:cNvPr id="40" name="tick lock"/>
          <p:cNvCxnSpPr/>
          <p:nvPr/>
        </p:nvCxnSpPr>
        <p:spPr>
          <a:xfrm>
            <a:off x="8686800" y="1298448"/>
            <a:ext cx="0" cy="73152"/>
          </a:xfrm>
          <a:prstGeom prst="line">
            <a:avLst/>
          </a:prstGeom>
          <a:ln w="9525">
            <a:solidFill>
              <a:srgbClr val="6E655C"/>
            </a:solidFill>
          </a:ln>
        </p:spPr>
        <p:style>
          <a:lnRef idx="2">
            <a:schemeClr val="accent1"/>
          </a:lnRef>
          <a:fillRef idx="0">
            <a:schemeClr val="accent1"/>
          </a:fillRef>
          <a:effectRef idx="1">
            <a:schemeClr val="accent1"/>
          </a:effectRef>
          <a:fontRef idx="minor">
            <a:schemeClr val="tx1"/>
          </a:fontRef>
        </p:style>
      </p:cxnSp>
      <p:sp>
        <p:nvSpPr>
          <p:cNvPr id="41" name="caption 2"/>
          <p:cNvSpPr txBox="1"/>
          <p:nvPr/>
        </p:nvSpPr>
        <p:spPr>
          <a:xfrm>
            <a:off x="365760" y="2779776"/>
            <a:ext cx="6400800" cy="164592"/>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Legacy serialization: 125 bytes, the bytes the txid hashes</a:t>
            </a:r>
          </a:p>
        </p:txBody>
      </p:sp>
      <p:sp>
        <p:nvSpPr>
          <p:cNvPr id="42" name="legacy version"/>
          <p:cNvSpPr/>
          <p:nvPr/>
        </p:nvSpPr>
        <p:spPr>
          <a:xfrm>
            <a:off x="365760" y="2258568"/>
            <a:ext cx="173453" cy="457200"/>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egacy input"/>
          <p:cNvSpPr/>
          <p:nvPr/>
        </p:nvSpPr>
        <p:spPr>
          <a:xfrm>
            <a:off x="539213" y="2258568"/>
            <a:ext cx="1821258" cy="457200"/>
          </a:xfrm>
          <a:prstGeom prst="rect">
            <a:avLst/>
          </a:prstGeom>
          <a:solidFill>
            <a:srgbClr val="2B262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input · 42 B</a:t>
            </a:r>
          </a:p>
        </p:txBody>
      </p:sp>
      <p:sp>
        <p:nvSpPr>
          <p:cNvPr id="44" name="legacy output"/>
          <p:cNvSpPr/>
          <p:nvPr/>
        </p:nvSpPr>
        <p:spPr>
          <a:xfrm>
            <a:off x="2360471" y="2258568"/>
            <a:ext cx="3252247" cy="457200"/>
          </a:xfrm>
          <a:prstGeom prst="rect">
            <a:avLst/>
          </a:prstGeom>
          <a:solidFill>
            <a:srgbClr val="5F8F8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output · 75 B</a:t>
            </a:r>
          </a:p>
        </p:txBody>
      </p:sp>
      <p:sp>
        <p:nvSpPr>
          <p:cNvPr id="45" name="legacy lock"/>
          <p:cNvSpPr/>
          <p:nvPr/>
        </p:nvSpPr>
        <p:spPr>
          <a:xfrm>
            <a:off x="5612719" y="2258568"/>
            <a:ext cx="173453" cy="457200"/>
          </a:xfrm>
          <a:prstGeom prst="rect">
            <a:avLst/>
          </a:prstGeom>
          <a:solidFill>
            <a:srgbClr val="6E655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gap note"/>
          <p:cNvSpPr/>
          <p:nvPr/>
        </p:nvSpPr>
        <p:spPr>
          <a:xfrm>
            <a:off x="5914188" y="2258568"/>
            <a:ext cx="2864051" cy="457200"/>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D97A14"/>
                </a:solidFill>
                <a:latin typeface="Calibri"/>
                <a:ea typeface="Calibri"/>
                <a:cs typeface="Calibri"/>
              </a:rPr>
              <a:t>69 bytes fewer: marker, flag and witness are left out</a:t>
            </a:r>
          </a:p>
        </p:txBody>
      </p:sp>
      <p:sp>
        <p:nvSpPr>
          <p:cNvPr id="47" name="reading"/>
          <p:cNvSpPr txBox="1"/>
          <p:nvPr/>
        </p:nvSpPr>
        <p:spPr>
          <a:xfrm>
            <a:off x="365760" y="3108960"/>
            <a:ext cx="8412480" cy="48158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The long strip is the transaction as it travels: seven fields, always in the same order, 194 bytes in all.</a:t>
            </a:r>
          </a:p>
        </p:txBody>
      </p:sp>
      <p:sp>
        <p:nvSpPr>
          <p:cNvPr id="48" name="reading"/>
          <p:cNvSpPr txBox="1"/>
          <p:nvPr/>
        </p:nvSpPr>
        <p:spPr>
          <a:xfrm>
            <a:off x="365760" y="3617976"/>
            <a:ext cx="8412480" cy="48158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The short strip leaves out marker, flag and witness. Those 125 bytes are what the txid hashes.</a:t>
            </a:r>
          </a:p>
        </p:txBody>
      </p:sp>
      <p:sp>
        <p:nvSpPr>
          <p:cNvPr id="49" name="reading"/>
          <p:cNvSpPr txBox="1"/>
          <p:nvPr/>
        </p:nvSpPr>
        <p:spPr>
          <a:xfrm>
            <a:off x="365760" y="4126992"/>
            <a:ext cx="8412480" cy="48158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Think of a letter with a signed slip tucked in at the end: the slip travels with the letter, but the tracking number ignores 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What a transaction is: concepts (1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Transaction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request to thousands of databases.</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signed letter asking every bank branch to update its ledger.</a:t>
            </a:r>
            <a:endParaRPr lang="en-US" sz="1150" dirty="0"/>
          </a:p>
        </p:txBody>
      </p:sp>
      <p:sp>
        <p:nvSpPr>
          <p:cNvPr id="10" name="Shape 8"/>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ownership record of a full node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Every node keeps the same register.</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land register that every town keeps an identical copy of.</a:t>
            </a:r>
            <a:endParaRPr lang="en-US" sz="1150" dirty="0"/>
          </a:p>
        </p:txBody>
      </p:sp>
      <p:sp>
        <p:nvSpPr>
          <p:cNvPr id="14" name="Shape 12"/>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5" name="Shape 13"/>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parts of a transaction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Five top-level fields, plus two for segwit.</a:t>
            </a:r>
            <a:endParaRPr lang="en-US" sz="1300" dirty="0"/>
          </a:p>
        </p:txBody>
      </p:sp>
      <p:sp>
        <p:nvSpPr>
          <p:cNvPr id="17" name="Text 15"/>
          <p:cNvSpPr txBox="1"/>
          <p:nvPr/>
        </p:nvSpPr>
        <p:spPr>
          <a:xfrm>
            <a:off x="640080"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cheque with boxes for payer, payee, amount and signature.</a:t>
            </a:r>
            <a:endParaRPr lang="en-US" sz="1150" dirty="0"/>
          </a:p>
        </p:txBody>
      </p:sp>
      <p:sp>
        <p:nvSpPr>
          <p:cNvPr id="18" name="Shape 16"/>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9" name="Shape 17"/>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Serialized transaction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194 bytes Bitcoin Core returned.</a:t>
            </a:r>
            <a:endParaRPr lang="en-US" sz="1300" dirty="0"/>
          </a:p>
        </p:txBody>
      </p:sp>
      <p:sp>
        <p:nvSpPr>
          <p:cNvPr id="21" name="Text 19"/>
          <p:cNvSpPr txBox="1"/>
          <p:nvPr/>
        </p:nvSpPr>
        <p:spPr>
          <a:xfrm>
            <a:off x="4828032"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letter flattened into one long strip of tape.</a:t>
            </a:r>
            <a:endParaRPr lang="en-US" sz="1150" dirty="0"/>
          </a:p>
        </p:txBody>
      </p:sp>
      <p:sp>
        <p:nvSpPr>
          <p:cNvPr id="22" name="Text 20"/>
          <p:cNvSpPr txBox="1"/>
          <p:nvPr/>
        </p:nvSpPr>
        <p:spPr>
          <a:xfrm>
            <a:off x="4828032" y="3519526"/>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A Serialized Bitcoin Transaction</a:t>
            </a:r>
            <a:endParaRPr lang="en-US" sz="100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7 / 71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194 bytes, every one named</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Alice's transaction, parsed from its hexadecimal text</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bytes per field group (all 194)</a:t>
            </a:r>
            <a:endParaRPr lang="en-US" sz="1100" dirty="0"/>
          </a:p>
        </p:txBody>
      </p:sp>
      <p:graphicFrame>
        <p:nvGraphicFramePr>
          <p:cNvPr id="23" name="Chart 0" descr=""/>
          <p:cNvGraphicFramePr/>
          <p:nvPr/>
        </p:nvGraphicFramePr>
        <p:xfrm>
          <a:off x="5715000" y="1773936"/>
          <a:ext cx="2971800" cy="207568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Outputs and the witness take the most bytes; version and lock time take four each.</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Every byte belongs to a named field, and the fields come in a fixed order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8 / 71</a:t>
            </a:r>
            <a:endParaRPr lang="en-US" sz="1100" dirty="0"/>
          </a:p>
        </p:txBody>
      </p:sp>
      <p:sp>
        <p:nvSpPr>
          <p:cNvPr id="28" name="code 1"/>
          <p:cNvSpPr/>
          <p:nvPr/>
        </p:nvSpPr>
        <p:spPr>
          <a:xfrm>
            <a:off x="365760" y="1170432"/>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parse_tx</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ALICE</a:t>
            </a:r>
            <a:r>
              <a:rPr sz="1100" b="0" i="0">
                <a:solidFill>
                  <a:srgbClr val="E6EDF3"/>
                </a:solidFill>
                <a:latin typeface="Courier New"/>
                <a:ea typeface="Courier New"/>
                <a:cs typeface="Courier New"/>
              </a:rPr>
              <a:t>)</a:t>
            </a:r>
          </a:p>
          <a:p>
            <a:pPr algn="l"/>
            <a:r>
              <a:rPr sz="1100" b="1" i="0">
                <a:solidFill>
                  <a:srgbClr val="F2A860"/>
                </a:solidFill>
                <a:latin typeface="Courier New"/>
                <a:ea typeface="Courier New"/>
                <a:cs typeface="Courier New"/>
              </a:rPr>
              <a:t>from</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collections</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import</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defaultdict</a:t>
            </a:r>
          </a:p>
        </p:txBody>
      </p:sp>
      <p:sp>
        <p:nvSpPr>
          <p:cNvPr id="29" name="code 1"/>
          <p:cNvSpPr/>
          <p:nvPr/>
        </p:nvSpPr>
        <p:spPr>
          <a:xfrm>
            <a:off x="365760" y="1620316"/>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g</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defaultdict</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int</a:t>
            </a:r>
            <a:r>
              <a:rPr sz="1100" b="0" i="0">
                <a:solidFill>
                  <a:srgbClr val="E6EDF3"/>
                </a:solidFill>
                <a:latin typeface="Courier New"/>
                <a:ea typeface="Courier New"/>
                <a:cs typeface="Courier New"/>
              </a:rPr>
              <a:t>)</a:t>
            </a:r>
          </a:p>
          <a:p>
            <a:pPr algn="l"/>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s</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p</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a:t>
            </a:r>
            <a:r>
              <a:rPr sz="1100" b="0" i="0">
                <a:solidFill>
                  <a:srgbClr val="9ECBFF"/>
                </a:solidFill>
                <a:latin typeface="Courier New"/>
                <a:ea typeface="Courier New"/>
                <a:cs typeface="Courier New"/>
              </a:rPr>
              <a:t>'spans'</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g</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s</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split</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0</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n</a:t>
            </a:r>
          </a:p>
        </p:txBody>
      </p:sp>
      <p:sp>
        <p:nvSpPr>
          <p:cNvPr id="30" name="code 1"/>
          <p:cNvSpPr/>
          <p:nvPr/>
        </p:nvSpPr>
        <p:spPr>
          <a:xfrm>
            <a:off x="365760" y="2244852"/>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sum</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g</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values</a:t>
            </a:r>
            <a:r>
              <a:rPr sz="1100" b="0" i="0">
                <a:solidFill>
                  <a:srgbClr val="E6EDF3"/>
                </a:solidFill>
                <a:latin typeface="Courier New"/>
                <a:ea typeface="Courier New"/>
                <a:cs typeface="Courier New"/>
              </a:rPr>
              <a:t>())</a:t>
            </a:r>
          </a:p>
        </p:txBody>
      </p:sp>
      <p:sp>
        <p:nvSpPr>
          <p:cNvPr id="31" name="result 1"/>
          <p:cNvSpPr/>
          <p:nvPr/>
        </p:nvSpPr>
        <p:spPr>
          <a:xfrm>
            <a:off x="365760" y="2538374"/>
            <a:ext cx="5166360" cy="71963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1"/>
          <p:cNvSpPr txBox="1"/>
          <p:nvPr/>
        </p:nvSpPr>
        <p:spPr>
          <a:xfrm>
            <a:off x="457200" y="256580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1"/>
          <p:cNvSpPr txBox="1"/>
          <p:nvPr/>
        </p:nvSpPr>
        <p:spPr>
          <a:xfrm>
            <a:off x="457200" y="2675534"/>
            <a:ext cx="4983480" cy="342519"/>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dict(g)</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{'version': 4, 'marker': 1, 'flag': 1, 'input': 42, 'output': 75, 'witness': 67, 'lock': 4}</a:t>
            </a:r>
          </a:p>
        </p:txBody>
      </p:sp>
      <p:sp>
        <p:nvSpPr>
          <p:cNvPr id="34" name="result 1"/>
          <p:cNvSpPr txBox="1"/>
          <p:nvPr/>
        </p:nvSpPr>
        <p:spPr>
          <a:xfrm>
            <a:off x="457200" y="3018053"/>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sum(g.values())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194</a:t>
            </a:r>
          </a:p>
        </p:txBody>
      </p:sp>
      <p:sp>
        <p:nvSpPr>
          <p:cNvPr id="35" name="explanation 1"/>
          <p:cNvSpPr txBox="1"/>
          <p:nvPr/>
        </p:nvSpPr>
        <p:spPr>
          <a:xfrm>
            <a:off x="365760" y="3294583"/>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1-2  </a:t>
            </a:r>
            <a:r>
              <a:rPr sz="1150" b="0" i="0">
                <a:solidFill>
                  <a:srgbClr val="2B2622"/>
                </a:solidFill>
                <a:latin typeface="Calibri"/>
                <a:ea typeface="Calibri"/>
                <a:cs typeface="Calibri"/>
              </a:rPr>
              <a:t>The library names every field of the transaction and where it sits.</a:t>
            </a:r>
          </a:p>
        </p:txBody>
      </p:sp>
      <p:sp>
        <p:nvSpPr>
          <p:cNvPr id="36" name="explanation 1"/>
          <p:cNvSpPr txBox="1"/>
          <p:nvPr/>
        </p:nvSpPr>
        <p:spPr>
          <a:xfrm>
            <a:off x="365760" y="3718255"/>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3-5  </a:t>
            </a:r>
            <a:r>
              <a:rPr sz="1150" b="0" i="0">
                <a:solidFill>
                  <a:srgbClr val="2B2622"/>
                </a:solidFill>
                <a:latin typeface="Calibri"/>
                <a:ea typeface="Calibri"/>
                <a:cs typeface="Calibri"/>
              </a:rPr>
              <a:t>Walk the fields in byte order and add up their lengths, one total per group.</a:t>
            </a:r>
          </a:p>
        </p:txBody>
      </p:sp>
      <p:sp>
        <p:nvSpPr>
          <p:cNvPr id="37" name="explanation 1"/>
          <p:cNvSpPr txBox="1"/>
          <p:nvPr/>
        </p:nvSpPr>
        <p:spPr>
          <a:xfrm>
            <a:off x="365760" y="4141927"/>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 6  </a:t>
            </a:r>
            <a:r>
              <a:rPr sz="1150" b="0" i="0">
                <a:solidFill>
                  <a:srgbClr val="2B2622"/>
                </a:solidFill>
                <a:latin typeface="Calibri"/>
                <a:ea typeface="Calibri"/>
                <a:cs typeface="Calibri"/>
              </a:rPr>
              <a:t>The groups add back to the whole transaction: no byte is left over.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What a transaction is: concepts (2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Extended serialization format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Marker 00, flag 01, witness at the end.</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same letter with a signed slip tucked in at the end.</a:t>
            </a:r>
            <a:endParaRPr lang="en-US" sz="1150" dirty="0"/>
          </a:p>
        </p:txBody>
      </p:sp>
      <p:sp>
        <p:nvSpPr>
          <p:cNvPr id="10" name="Shape 8"/>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Legacy serialization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No marker, no flag, no witness.</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plain letter, before the extra slip was invented.</a:t>
            </a:r>
            <a:endParaRPr lang="en-US" sz="1150" dirty="0"/>
          </a:p>
        </p:txBody>
      </p:sp>
      <p:sp>
        <p:nvSpPr>
          <p:cNvPr id="14" name="Shape 12"/>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5" name="Shape 13"/>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Partially signed bitcoin transaction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template passed between programs.</a:t>
            </a:r>
            <a:endParaRPr lang="en-US" sz="1300" dirty="0"/>
          </a:p>
        </p:txBody>
      </p:sp>
      <p:sp>
        <p:nvSpPr>
          <p:cNvPr id="17" name="Text 15"/>
          <p:cNvSpPr txBox="1"/>
          <p:nvPr/>
        </p:nvSpPr>
        <p:spPr>
          <a:xfrm>
            <a:off x="640080"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form passed round the office until every signer has signed.</a:t>
            </a:r>
            <a:endParaRPr lang="en-US" sz="1150" dirty="0"/>
          </a:p>
        </p:txBody>
      </p:sp>
      <p:sp>
        <p:nvSpPr>
          <p:cNvPr id="18" name="Text 16"/>
          <p:cNvSpPr txBox="1"/>
          <p:nvPr/>
        </p:nvSpPr>
        <p:spPr>
          <a:xfrm>
            <a:off x="640080" y="3519526"/>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PSBT</a:t>
            </a:r>
            <a:endParaRPr lang="en-US" sz="1000" dirty="0"/>
          </a:p>
        </p:txBody>
      </p:sp>
      <p:sp>
        <p:nvSpPr>
          <p:cNvPr id="19" name="Shape 17"/>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20" name="Shape 18"/>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Byte map</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Every field at its offset.</a:t>
            </a:r>
            <a:endParaRPr lang="en-US" sz="1300" dirty="0"/>
          </a:p>
        </p:txBody>
      </p:sp>
      <p:sp>
        <p:nvSpPr>
          <p:cNvPr id="22" name="Text 20"/>
          <p:cNvSpPr txBox="1"/>
          <p:nvPr/>
        </p:nvSpPr>
        <p:spPr>
          <a:xfrm>
            <a:off x="4828032"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floor plan showing which room each byte lives in.</a:t>
            </a:r>
            <a:endParaRPr lang="en-US" sz="11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9 / 71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Two serializations, two identifiers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Extended with the witness, legacy without it</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two forms of one payment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777240"/>
                <a:gridCol w="502920"/>
                <a:gridCol w="16916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Form</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Hash (16 hex digits)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Extended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f7cdbc7cf8b910d3</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Legacy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466200308696215b</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2871216"/>
            <a:ext cx="2971800" cy="78638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69 extra bytes are marker, flag and witness. The txid hashes the legacy form; the wtxid hashes the extended one.</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txid hashes the legacy bytes only; the wtxid hashes everything</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10 / 71</a:t>
            </a:r>
            <a:endParaRPr lang="en-US" sz="1100" dirty="0"/>
          </a:p>
        </p:txBody>
      </p:sp>
      <p:sp>
        <p:nvSpPr>
          <p:cNvPr id="28" name="code 2"/>
          <p:cNvSpPr/>
          <p:nvPr/>
        </p:nvSpPr>
        <p:spPr>
          <a:xfrm>
            <a:off x="365760" y="1170432"/>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ext</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serialize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witness</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True</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leg</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serialize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witness</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False</a:t>
            </a:r>
            <a:r>
              <a:rPr sz="1100" b="0" i="0">
                <a:solidFill>
                  <a:srgbClr val="E6EDF3"/>
                </a:solidFill>
                <a:latin typeface="Courier New"/>
                <a:ea typeface="Courier New"/>
                <a:cs typeface="Courier New"/>
              </a:rPr>
              <a:t>)</a:t>
            </a:r>
          </a:p>
        </p:txBody>
      </p:sp>
      <p:sp>
        <p:nvSpPr>
          <p:cNvPr id="29" name="code 2"/>
          <p:cNvSpPr/>
          <p:nvPr/>
        </p:nvSpPr>
        <p:spPr>
          <a:xfrm>
            <a:off x="365760" y="162031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ids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wtxid</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ALICE</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16</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txid</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ALICE</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16</a:t>
            </a:r>
            <a:r>
              <a:rPr sz="1100" b="0" i="0">
                <a:solidFill>
                  <a:srgbClr val="E6EDF3"/>
                </a:solidFill>
                <a:latin typeface="Courier New"/>
                <a:ea typeface="Courier New"/>
                <a:cs typeface="Courier New"/>
              </a:rPr>
              <a:t>]]</a:t>
            </a:r>
          </a:p>
        </p:txBody>
      </p:sp>
      <p:sp>
        <p:nvSpPr>
          <p:cNvPr id="30" name="code 2"/>
          <p:cNvSpPr/>
          <p:nvPr/>
        </p:nvSpPr>
        <p:spPr>
          <a:xfrm>
            <a:off x="365760" y="1895551"/>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sizes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len</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ext</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len</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leg</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sizes</a:t>
            </a:r>
          </a:p>
        </p:txBody>
      </p:sp>
      <p:sp>
        <p:nvSpPr>
          <p:cNvPr id="31" name="result 2"/>
          <p:cNvSpPr/>
          <p:nvPr/>
        </p:nvSpPr>
        <p:spPr>
          <a:xfrm>
            <a:off x="365760" y="2363724"/>
            <a:ext cx="5166360" cy="55321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2"/>
          <p:cNvSpPr txBox="1"/>
          <p:nvPr/>
        </p:nvSpPr>
        <p:spPr>
          <a:xfrm>
            <a:off x="457200" y="239115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2"/>
          <p:cNvSpPr txBox="1"/>
          <p:nvPr/>
        </p:nvSpPr>
        <p:spPr>
          <a:xfrm>
            <a:off x="457200" y="2500884"/>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sizes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[194, 125]</a:t>
            </a:r>
          </a:p>
        </p:txBody>
      </p:sp>
      <p:sp>
        <p:nvSpPr>
          <p:cNvPr id="34" name="result 2"/>
          <p:cNvSpPr txBox="1"/>
          <p:nvPr/>
        </p:nvSpPr>
        <p:spPr>
          <a:xfrm>
            <a:off x="457200" y="2676715"/>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ids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['f7cdbc7cf8b910d3', '466200308696215b']</a:t>
            </a:r>
          </a:p>
        </p:txBody>
      </p:sp>
      <p:sp>
        <p:nvSpPr>
          <p:cNvPr id="35" name="explanation 2"/>
          <p:cNvSpPr txBox="1"/>
          <p:nvPr/>
        </p:nvSpPr>
        <p:spPr>
          <a:xfrm>
            <a:off x="365760" y="2953512"/>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1-2  </a:t>
            </a:r>
            <a:r>
              <a:rPr sz="1200" b="0" i="0">
                <a:solidFill>
                  <a:srgbClr val="2B2622"/>
                </a:solidFill>
                <a:latin typeface="Calibri"/>
                <a:ea typeface="Calibri"/>
                <a:cs typeface="Calibri"/>
              </a:rPr>
              <a:t>The same payment is written twice: once with the witness, once without.</a:t>
            </a:r>
          </a:p>
        </p:txBody>
      </p:sp>
      <p:sp>
        <p:nvSpPr>
          <p:cNvPr id="36" name="explanation 2"/>
          <p:cNvSpPr txBox="1"/>
          <p:nvPr/>
        </p:nvSpPr>
        <p:spPr>
          <a:xfrm>
            <a:off x="365760" y="3392424"/>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3  </a:t>
            </a:r>
            <a:r>
              <a:rPr sz="1200" b="0" i="0">
                <a:solidFill>
                  <a:srgbClr val="2B2622"/>
                </a:solidFill>
                <a:latin typeface="Calibri"/>
                <a:ea typeface="Calibri"/>
                <a:cs typeface="Calibri"/>
              </a:rPr>
              <a:t>The legacy form is shorter, and each form has its own hash.</a:t>
            </a:r>
          </a:p>
        </p:txBody>
      </p:sp>
      <p:sp>
        <p:nvSpPr>
          <p:cNvPr id="37" name="explanation 2"/>
          <p:cNvSpPr txBox="1"/>
          <p:nvPr/>
        </p:nvSpPr>
        <p:spPr>
          <a:xfrm>
            <a:off x="365760" y="3831336"/>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4-5  </a:t>
            </a:r>
            <a:r>
              <a:rPr sz="1200" b="0" i="0">
                <a:solidFill>
                  <a:srgbClr val="2B2622"/>
                </a:solidFill>
                <a:latin typeface="Calibri"/>
                <a:ea typeface="Calibri"/>
                <a:cs typeface="Calibri"/>
              </a:rPr>
              <a:t>Sizes in bytes: the extended form carries marker, flag and witness.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Ten bitcoins to Hal Finney, block 170</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first transaction ever to spend an output</a:t>
            </a:r>
            <a:endParaRPr lang="en-US" sz="1300" dirty="0"/>
          </a:p>
        </p:txBody>
      </p:sp>
      <p:pic>
        <p:nvPicPr>
          <p:cNvPr id="6" name="Image 0" descr="../../03-materials/ch06/assets/photo_hal_finney_1972.jpg">    </p:cNvPr>
          <p:cNvPicPr>
            <a:picLocks noChangeAspect="1"/>
          </p:cNvPicPr>
          <p:nvPr/>
        </p:nvPicPr>
        <p:blipFill>
          <a:blip r:embed="rId1"/>
          <a:srcRect l="0" r="0" t="0" b="0"/>
          <a:stretch/>
        </p:blipFill>
        <p:spPr>
          <a:xfrm>
            <a:off x="457200" y="1280160"/>
            <a:ext cx="2377440" cy="2331720"/>
          </a:xfrm>
          <a:prstGeom prst="rect">
            <a:avLst/>
          </a:prstGeom>
        </p:spPr>
      </p:pic>
      <p:sp>
        <p:nvSpPr>
          <p:cNvPr id="7" name="Text 4"/>
          <p:cNvSpPr txBox="1"/>
          <p:nvPr/>
        </p:nvSpPr>
        <p:spPr>
          <a:xfrm>
            <a:off x="457200" y="3630168"/>
            <a:ext cx="237744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Hal Finney, 1972 - Daily News-Post, public domain</a:t>
            </a:r>
            <a:endParaRPr lang="en-US" sz="900" dirty="0"/>
          </a:p>
        </p:txBody>
      </p:sp>
      <p:sp>
        <p:nvSpPr>
          <p:cNvPr id="22" name="Shape 19"/>
          <p:cNvSpPr/>
          <p:nvPr/>
        </p:nvSpPr>
        <p:spPr>
          <a:xfrm>
            <a:off x="3108960" y="4114800"/>
            <a:ext cx="5669280" cy="365760"/>
          </a:xfrm>
          <a:prstGeom prst="roundRect">
            <a:avLst>
              <a:gd name="adj" fmla="val 50000"/>
            </a:avLst>
          </a:prstGeom>
          <a:solidFill>
            <a:srgbClr val="2F6D62"/>
          </a:solidFill>
          <a:ln w="9525">
            <a:solidFill>
              <a:srgbClr val="2F6D62"/>
            </a:solidFill>
            <a:prstDash val="solid"/>
          </a:ln>
        </p:spPr>
        <p:txBody>
          <a:bodyPr/>
          <a:p/>
        </p:txBody>
      </p:sp>
      <p:sp>
        <p:nvSpPr>
          <p:cNvPr id="23" name="Text 20"/>
          <p:cNvSpPr txBox="1"/>
          <p:nvPr/>
        </p:nvSpPr>
        <p:spPr>
          <a:xfrm>
            <a:off x="3200400" y="4114800"/>
            <a:ext cx="5486400"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Satoshi to Finney, block 170 (tx)</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mempool.space</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11 / 71</a:t>
            </a:r>
            <a:endParaRPr lang="en-US" sz="1100" dirty="0"/>
          </a:p>
        </p:txBody>
      </p:sp>
      <p:sp>
        <p:nvSpPr>
          <p:cNvPr id="25" name="story"/>
          <p:cNvSpPr txBox="1"/>
          <p:nvPr/>
        </p:nvSpPr>
        <p:spPr>
          <a:xfrm>
            <a:off x="3108960" y="1216152"/>
            <a:ext cx="5669280" cy="146304"/>
          </a:xfrm>
          <a:prstGeom prst="rect">
            <a:avLst/>
          </a:prstGeom>
          <a:noFill/>
        </p:spPr>
        <p:txBody>
          <a:bodyPr wrap="square" lIns="0" rIns="0" tIns="0" bIns="0" anchor="t">
            <a:spAutoFit/>
          </a:bodyPr>
          <a:lstStyle/>
          <a:p>
            <a:pPr algn="l"/>
            <a:r>
              <a:rPr sz="1100" b="1" i="0">
                <a:solidFill>
                  <a:srgbClr val="D97A14"/>
                </a:solidFill>
                <a:latin typeface="Calibri"/>
                <a:ea typeface="Calibri"/>
                <a:cs typeface="Calibri"/>
              </a:rPr>
              <a:t>12 January 2009 · Finney's computer in California · block 170</a:t>
            </a:r>
          </a:p>
        </p:txBody>
      </p:sp>
      <p:sp>
        <p:nvSpPr>
          <p:cNvPr id="26" name="story"/>
          <p:cNvSpPr txBox="1"/>
          <p:nvPr/>
        </p:nvSpPr>
        <p:spPr>
          <a:xfrm>
            <a:off x="3108960" y="1408176"/>
            <a:ext cx="5669280" cy="585215"/>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On 11 January 2009 the cryptographer Hal Finney posted two words, “running bitcoin”. The next day, 12 January, the software's author, Satoshi Nakamoto, sent him 10 bitcoins.</a:t>
            </a:r>
          </a:p>
        </p:txBody>
      </p:sp>
      <p:sp>
        <p:nvSpPr>
          <p:cNvPr id="27" name="story"/>
          <p:cNvSpPr txBox="1"/>
          <p:nvPr/>
        </p:nvSpPr>
        <p:spPr>
          <a:xfrm>
            <a:off x="3108960" y="2020824"/>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The payment went into block 170. Finney had started the software the day before, and it tested the network with real money.</a:t>
            </a:r>
          </a:p>
        </p:txBody>
      </p:sp>
      <p:sp>
        <p:nvSpPr>
          <p:cNvPr id="28" name="story"/>
          <p:cNvSpPr txBox="1"/>
          <p:nvPr/>
        </p:nvSpPr>
        <p:spPr>
          <a:xfrm>
            <a:off x="3108960" y="2450592"/>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It was the first transaction ever to spend an output: its one input points at the coinbase of block 9.</a:t>
            </a:r>
          </a:p>
        </p:txBody>
      </p:sp>
      <p:sp>
        <p:nvSpPr>
          <p:cNvPr id="29" name="story"/>
          <p:cNvSpPr txBox="1"/>
          <p:nvPr/>
        </p:nvSpPr>
        <p:spPr>
          <a:xfrm>
            <a:off x="3108960" y="2880360"/>
            <a:ext cx="5669280" cy="21945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Its two outputs pay 10 BTC to Finney and 40 BTC back to the sender.</a:t>
            </a:r>
          </a:p>
        </p:txBody>
      </p:sp>
      <p:sp>
        <p:nvSpPr>
          <p:cNvPr id="30" name="lesson"/>
          <p:cNvSpPr/>
          <p:nvPr/>
        </p:nvSpPr>
        <p:spPr>
          <a:xfrm>
            <a:off x="3108960" y="3575304"/>
            <a:ext cx="5669280" cy="493776"/>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B2622"/>
                </a:solidFill>
                <a:latin typeface="Calibri"/>
                <a:ea typeface="Calibri"/>
                <a:cs typeface="Calibri"/>
              </a:rPr>
              <a:t>It is a legacy transaction, with no marker, no flag and no witness, so the format this chapter reads is the one from block 170.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Version, marker and flag</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Version, marker and flag are the edition number and labels on the envelope.</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version field</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Four bytes that say which rule edition applies.</a:t>
            </a:r>
            <a:endParaRPr lang="en-US" sz="1150" dirty="0"/>
          </a:p>
        </p:txBody>
      </p:sp>
      <p:sp>
        <p:nvSpPr>
          <p:cNvPr id="9" name="Text 7"/>
          <p:cNvSpPr txBox="1"/>
          <p:nvPr/>
        </p:nvSpPr>
        <p:spPr>
          <a:xfrm>
            <a:off x="77724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edition number printed on a form.</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Marker and flag</a:t>
            </a:r>
            <a:endParaRPr lang="en-US" sz="1200" dirty="0"/>
          </a:p>
        </p:txBody>
      </p:sp>
      <p:sp>
        <p:nvSpPr>
          <p:cNvPr id="12" name="Text 10"/>
          <p:cNvSpPr txBox="1"/>
          <p:nvPr/>
        </p:nvSpPr>
        <p:spPr>
          <a:xfrm>
            <a:off x="4800600" y="2487168"/>
            <a:ext cx="3840480" cy="214884"/>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Two bytes that announce the witness format.</a:t>
            </a:r>
            <a:endParaRPr lang="en-US" sz="1150" dirty="0"/>
          </a:p>
        </p:txBody>
      </p:sp>
      <p:sp>
        <p:nvSpPr>
          <p:cNvPr id="13" name="Text 11"/>
          <p:cNvSpPr txBox="1"/>
          <p:nvPr/>
        </p:nvSpPr>
        <p:spPr>
          <a:xfrm>
            <a:off x="4800600" y="2729484"/>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fragile label on a parcel.</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12 / 71</a:t>
            </a:r>
            <a:endParaRPr lang="en-US" sz="11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Six bytes that set the rules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What an old and a new parser do with the same bytes</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zero where an input count should be tells old and new software apart</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13 / 71</a:t>
            </a:r>
            <a:endParaRPr lang="en-US" sz="1100" dirty="0"/>
          </a:p>
        </p:txBody>
      </p:sp>
      <p:sp>
        <p:nvSpPr>
          <p:cNvPr id="28" name="byte 1"/>
          <p:cNvSpPr/>
          <p:nvPr/>
        </p:nvSpPr>
        <p:spPr>
          <a:xfrm>
            <a:off x="548640" y="1371600"/>
            <a:ext cx="585216" cy="585216"/>
          </a:xfrm>
          <a:prstGeom prst="roundRect">
            <a:avLst>
              <a:gd name="adj" fmla="val 8000"/>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200" b="1" i="0">
                <a:solidFill>
                  <a:srgbClr val="FFFFFF"/>
                </a:solidFill>
                <a:latin typeface="Courier New"/>
                <a:ea typeface="Courier New"/>
                <a:cs typeface="Courier New"/>
              </a:rPr>
              <a:t>01</a:t>
            </a:r>
          </a:p>
        </p:txBody>
      </p:sp>
      <p:sp>
        <p:nvSpPr>
          <p:cNvPr id="29" name="byte 2"/>
          <p:cNvSpPr/>
          <p:nvPr/>
        </p:nvSpPr>
        <p:spPr>
          <a:xfrm>
            <a:off x="1170432" y="1371600"/>
            <a:ext cx="585216" cy="585216"/>
          </a:xfrm>
          <a:prstGeom prst="roundRect">
            <a:avLst>
              <a:gd name="adj" fmla="val 8000"/>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200" b="1" i="0">
                <a:solidFill>
                  <a:srgbClr val="FFFFFF"/>
                </a:solidFill>
                <a:latin typeface="Courier New"/>
                <a:ea typeface="Courier New"/>
                <a:cs typeface="Courier New"/>
              </a:rPr>
              <a:t>00</a:t>
            </a:r>
          </a:p>
        </p:txBody>
      </p:sp>
      <p:sp>
        <p:nvSpPr>
          <p:cNvPr id="30" name="byte 3"/>
          <p:cNvSpPr/>
          <p:nvPr/>
        </p:nvSpPr>
        <p:spPr>
          <a:xfrm>
            <a:off x="1792224" y="1371600"/>
            <a:ext cx="585216" cy="585216"/>
          </a:xfrm>
          <a:prstGeom prst="roundRect">
            <a:avLst>
              <a:gd name="adj" fmla="val 8000"/>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200" b="1" i="0">
                <a:solidFill>
                  <a:srgbClr val="FFFFFF"/>
                </a:solidFill>
                <a:latin typeface="Courier New"/>
                <a:ea typeface="Courier New"/>
                <a:cs typeface="Courier New"/>
              </a:rPr>
              <a:t>00</a:t>
            </a:r>
          </a:p>
        </p:txBody>
      </p:sp>
      <p:sp>
        <p:nvSpPr>
          <p:cNvPr id="31" name="byte 4"/>
          <p:cNvSpPr/>
          <p:nvPr/>
        </p:nvSpPr>
        <p:spPr>
          <a:xfrm>
            <a:off x="2414016" y="1371600"/>
            <a:ext cx="585216" cy="585216"/>
          </a:xfrm>
          <a:prstGeom prst="roundRect">
            <a:avLst>
              <a:gd name="adj" fmla="val 8000"/>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200" b="1" i="0">
                <a:solidFill>
                  <a:srgbClr val="FFFFFF"/>
                </a:solidFill>
                <a:latin typeface="Courier New"/>
                <a:ea typeface="Courier New"/>
                <a:cs typeface="Courier New"/>
              </a:rPr>
              <a:t>00</a:t>
            </a:r>
          </a:p>
        </p:txBody>
      </p:sp>
      <p:sp>
        <p:nvSpPr>
          <p:cNvPr id="32" name="byte 5"/>
          <p:cNvSpPr/>
          <p:nvPr/>
        </p:nvSpPr>
        <p:spPr>
          <a:xfrm>
            <a:off x="3035808" y="1371600"/>
            <a:ext cx="585216" cy="585216"/>
          </a:xfrm>
          <a:prstGeom prst="roundRect">
            <a:avLst>
              <a:gd name="adj" fmla="val 8000"/>
            </a:avLst>
          </a:prstGeom>
          <a:solidFill>
            <a:srgbClr val="D9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200" b="1" i="0">
                <a:solidFill>
                  <a:srgbClr val="FFFFFF"/>
                </a:solidFill>
                <a:latin typeface="Courier New"/>
                <a:ea typeface="Courier New"/>
                <a:cs typeface="Courier New"/>
              </a:rPr>
              <a:t>00</a:t>
            </a:r>
          </a:p>
        </p:txBody>
      </p:sp>
      <p:sp>
        <p:nvSpPr>
          <p:cNvPr id="33" name="byte 6"/>
          <p:cNvSpPr/>
          <p:nvPr/>
        </p:nvSpPr>
        <p:spPr>
          <a:xfrm>
            <a:off x="3657600" y="1371600"/>
            <a:ext cx="585216" cy="585216"/>
          </a:xfrm>
          <a:prstGeom prst="roundRect">
            <a:avLst>
              <a:gd name="adj" fmla="val 8000"/>
            </a:avLst>
          </a:prstGeom>
          <a:solidFill>
            <a:srgbClr val="F2A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200" b="1" i="0">
                <a:solidFill>
                  <a:srgbClr val="2B2622"/>
                </a:solidFill>
                <a:latin typeface="Courier New"/>
                <a:ea typeface="Courier New"/>
                <a:cs typeface="Courier New"/>
              </a:rPr>
              <a:t>01</a:t>
            </a:r>
          </a:p>
        </p:txBody>
      </p:sp>
      <p:sp>
        <p:nvSpPr>
          <p:cNvPr id="34" name="label version"/>
          <p:cNvSpPr txBox="1"/>
          <p:nvPr/>
        </p:nvSpPr>
        <p:spPr>
          <a:xfrm>
            <a:off x="548640" y="2029968"/>
            <a:ext cx="2450592" cy="310896"/>
          </a:xfrm>
          <a:prstGeom prst="rect">
            <a:avLst/>
          </a:prstGeom>
          <a:noFill/>
        </p:spPr>
        <p:txBody>
          <a:bodyPr wrap="square" lIns="0" rIns="0" tIns="0" bIns="0" anchor="t">
            <a:spAutoFit/>
          </a:bodyPr>
          <a:lstStyle/>
          <a:p>
            <a:pPr algn="ctr"/>
            <a:r>
              <a:rPr sz="1200" b="1" i="0">
                <a:solidFill>
                  <a:srgbClr val="2B2622"/>
                </a:solidFill>
                <a:latin typeface="Calibri"/>
                <a:ea typeface="Calibri"/>
                <a:cs typeface="Calibri"/>
              </a:rPr>
              <a:t>version = 1</a:t>
            </a:r>
          </a:p>
          <a:p>
            <a:pPr algn="ctr"/>
            <a:r>
              <a:rPr sz="1000" b="1" i="0">
                <a:solidFill>
                  <a:srgbClr val="6E655C"/>
                </a:solidFill>
                <a:latin typeface="Calibri"/>
                <a:ea typeface="Calibri"/>
                <a:cs typeface="Calibri"/>
              </a:rPr>
              <a:t>four bytes, small end first</a:t>
            </a:r>
          </a:p>
        </p:txBody>
      </p:sp>
      <p:sp>
        <p:nvSpPr>
          <p:cNvPr id="35" name="label marker"/>
          <p:cNvSpPr txBox="1"/>
          <p:nvPr/>
        </p:nvSpPr>
        <p:spPr>
          <a:xfrm>
            <a:off x="2999232" y="2029968"/>
            <a:ext cx="621792" cy="310896"/>
          </a:xfrm>
          <a:prstGeom prst="rect">
            <a:avLst/>
          </a:prstGeom>
          <a:noFill/>
        </p:spPr>
        <p:txBody>
          <a:bodyPr wrap="square" lIns="0" rIns="0" tIns="0" bIns="0" anchor="t">
            <a:spAutoFit/>
          </a:bodyPr>
          <a:lstStyle/>
          <a:p>
            <a:pPr algn="ctr"/>
            <a:r>
              <a:rPr sz="1100" b="1" i="0">
                <a:solidFill>
                  <a:srgbClr val="D97A14"/>
                </a:solidFill>
                <a:latin typeface="Calibri"/>
                <a:ea typeface="Calibri"/>
                <a:cs typeface="Calibri"/>
              </a:rPr>
              <a:t>marker</a:t>
            </a:r>
          </a:p>
          <a:p>
            <a:pPr algn="ctr"/>
            <a:r>
              <a:rPr sz="1000" b="0" i="0">
                <a:solidFill>
                  <a:srgbClr val="6E655C"/>
                </a:solidFill>
                <a:latin typeface="Calibri"/>
                <a:ea typeface="Calibri"/>
                <a:cs typeface="Calibri"/>
              </a:rPr>
              <a:t>00</a:t>
            </a:r>
          </a:p>
        </p:txBody>
      </p:sp>
      <p:sp>
        <p:nvSpPr>
          <p:cNvPr id="36" name="label flag"/>
          <p:cNvSpPr txBox="1"/>
          <p:nvPr/>
        </p:nvSpPr>
        <p:spPr>
          <a:xfrm>
            <a:off x="3621024" y="2029968"/>
            <a:ext cx="621792" cy="310896"/>
          </a:xfrm>
          <a:prstGeom prst="rect">
            <a:avLst/>
          </a:prstGeom>
          <a:noFill/>
        </p:spPr>
        <p:txBody>
          <a:bodyPr wrap="square" lIns="0" rIns="0" tIns="0" bIns="0" anchor="t">
            <a:spAutoFit/>
          </a:bodyPr>
          <a:lstStyle/>
          <a:p>
            <a:pPr algn="ctr"/>
            <a:r>
              <a:rPr sz="1100" b="1" i="0">
                <a:solidFill>
                  <a:srgbClr val="D97A14"/>
                </a:solidFill>
                <a:latin typeface="Calibri"/>
                <a:ea typeface="Calibri"/>
                <a:cs typeface="Calibri"/>
              </a:rPr>
              <a:t>flag</a:t>
            </a:r>
          </a:p>
          <a:p>
            <a:pPr algn="ctr"/>
            <a:r>
              <a:rPr sz="1000" b="0" i="0">
                <a:solidFill>
                  <a:srgbClr val="6E655C"/>
                </a:solidFill>
                <a:latin typeface="Calibri"/>
                <a:ea typeface="Calibri"/>
                <a:cs typeface="Calibri"/>
              </a:rPr>
              <a:t>01</a:t>
            </a:r>
          </a:p>
        </p:txBody>
      </p:sp>
      <p:sp>
        <p:nvSpPr>
          <p:cNvPr id="37" name="old parser"/>
          <p:cNvSpPr/>
          <p:nvPr/>
        </p:nvSpPr>
        <p:spPr>
          <a:xfrm>
            <a:off x="4754880" y="1234440"/>
            <a:ext cx="4023360" cy="731520"/>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B2622"/>
                </a:solidFill>
                <a:latin typeface="Calibri"/>
                <a:ea typeface="Calibri"/>
                <a:cs typeface="Calibri"/>
              </a:rPr>
              <a:t>A legacy parser</a:t>
            </a:r>
          </a:p>
          <a:p>
            <a:pPr algn="l"/>
            <a:r>
              <a:rPr sz="1150" b="0" i="0">
                <a:solidFill>
                  <a:srgbClr val="2B2622"/>
                </a:solidFill>
                <a:latin typeface="Calibri"/>
                <a:ea typeface="Calibri"/>
                <a:cs typeface="Calibri"/>
              </a:rPr>
              <a:t>Reads 00 as an input count of zero, finds an empty transaction and stops.</a:t>
            </a:r>
          </a:p>
        </p:txBody>
      </p:sp>
      <p:sp>
        <p:nvSpPr>
          <p:cNvPr id="38" name="new parser"/>
          <p:cNvSpPr/>
          <p:nvPr/>
        </p:nvSpPr>
        <p:spPr>
          <a:xfrm>
            <a:off x="4754880" y="2103120"/>
            <a:ext cx="4023360" cy="731520"/>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F6D62"/>
                </a:solidFill>
                <a:latin typeface="Calibri"/>
                <a:ea typeface="Calibri"/>
                <a:cs typeface="Calibri"/>
              </a:rPr>
              <a:t>A segwit parser</a:t>
            </a:r>
          </a:p>
          <a:p>
            <a:pPr algn="l"/>
            <a:r>
              <a:rPr sz="1150" b="0" i="0">
                <a:solidFill>
                  <a:srgbClr val="2B2622"/>
                </a:solidFill>
                <a:latin typeface="Calibri"/>
                <a:ea typeface="Calibri"/>
                <a:cs typeface="Calibri"/>
              </a:rPr>
              <a:t>Sees marker 00 and flag 01, knows that a witness follows, then reads the real input count.</a:t>
            </a:r>
          </a:p>
        </p:txBody>
      </p:sp>
      <p:cxnSp>
        <p:nvCxnSpPr>
          <p:cNvPr id="39" name="arrow old"/>
          <p:cNvCxnSpPr/>
          <p:nvPr/>
        </p:nvCxnSpPr>
        <p:spPr>
          <a:xfrm flipV="1">
            <a:off x="4261104" y="1600200"/>
            <a:ext cx="475488" cy="64008"/>
          </a:xfrm>
          <a:prstGeom prst="line">
            <a:avLst/>
          </a:prstGeom>
          <a:ln w="19050">
            <a:solidFill>
              <a:srgbClr val="6E65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new"/>
          <p:cNvCxnSpPr/>
          <p:nvPr/>
        </p:nvCxnSpPr>
        <p:spPr>
          <a:xfrm>
            <a:off x="4261104" y="1737360"/>
            <a:ext cx="475488" cy="731520"/>
          </a:xfrm>
          <a:prstGeom prst="line">
            <a:avLst/>
          </a:prstGeom>
          <a:ln w="19050">
            <a:solidFill>
              <a:srgbClr val="2F6D6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little endian"/>
          <p:cNvSpPr/>
          <p:nvPr/>
        </p:nvSpPr>
        <p:spPr>
          <a:xfrm>
            <a:off x="548640" y="2414016"/>
            <a:ext cx="3694176" cy="493776"/>
          </a:xfrm>
          <a:prstGeom prst="roundRect">
            <a:avLst>
              <a:gd name="adj" fmla="val 8000"/>
            </a:avLst>
          </a:prstGeom>
          <a:solidFill>
            <a:srgbClr val="FFFFFF"/>
          </a:solidFill>
          <a:ln w="12700">
            <a:solidFill>
              <a:srgbClr val="D97A1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100" b="1" i="0">
                <a:solidFill>
                  <a:srgbClr val="2B2622"/>
                </a:solidFill>
                <a:latin typeface="Calibri"/>
                <a:ea typeface="Calibri"/>
                <a:cs typeface="Calibri"/>
              </a:rPr>
              <a:t>Little-endian: the number 1 is written 01 00 00 00, the small end first.</a:t>
            </a:r>
          </a:p>
        </p:txBody>
      </p:sp>
      <p:sp>
        <p:nvSpPr>
          <p:cNvPr id="42" name="reading"/>
          <p:cNvSpPr txBox="1"/>
          <p:nvPr/>
        </p:nvSpPr>
        <p:spPr>
          <a:xfrm>
            <a:off x="365760" y="3108960"/>
            <a:ext cx="8412480" cy="26822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Four bytes of version come first, then a marker of 00 and a flag of 01.</a:t>
            </a:r>
          </a:p>
        </p:txBody>
      </p:sp>
      <p:sp>
        <p:nvSpPr>
          <p:cNvPr id="43" name="reading"/>
          <p:cNvSpPr txBox="1"/>
          <p:nvPr/>
        </p:nvSpPr>
        <p:spPr>
          <a:xfrm>
            <a:off x="365760" y="3404616"/>
            <a:ext cx="8412480" cy="48158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No real transaction has zero inputs, so a zero where the input count would be is a signal, not data.</a:t>
            </a:r>
          </a:p>
        </p:txBody>
      </p:sp>
      <p:sp>
        <p:nvSpPr>
          <p:cNvPr id="44" name="reading"/>
          <p:cNvSpPr txBox="1"/>
          <p:nvPr/>
        </p:nvSpPr>
        <p:spPr>
          <a:xfrm>
            <a:off x="365760" y="3913632"/>
            <a:ext cx="8412480" cy="26822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Think of the edition number printed on a form, and a fragile label stuck on the parcel.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Version, marker and flag (1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339596"/>
          </a:xfrm>
          <a:prstGeom prst="roundRect">
            <a:avLst>
              <a:gd name="adj" fmla="val 5461"/>
            </a:avLst>
          </a:prstGeom>
          <a:solidFill>
            <a:srgbClr val="F2ECE1"/>
          </a:solidFill>
          <a:ln w="12700">
            <a:solidFill>
              <a:srgbClr val="DFD6C7"/>
            </a:solidFill>
            <a:prstDash val="solid"/>
          </a:ln>
        </p:spPr>
        <p:txBody>
          <a:bodyPr/>
          <a:p/>
        </p:txBody>
      </p:sp>
      <p:sp>
        <p:nvSpPr>
          <p:cNvPr id="7" name="Shape 5"/>
          <p:cNvSpPr/>
          <p:nvPr/>
        </p:nvSpPr>
        <p:spPr>
          <a:xfrm>
            <a:off x="475488" y="1408176"/>
            <a:ext cx="64008" cy="1083564"/>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Version 1</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01000000 in the first four bytes.</a:t>
            </a:r>
            <a:endParaRPr lang="en-US" sz="1300" dirty="0"/>
          </a:p>
        </p:txBody>
      </p:sp>
      <p:sp>
        <p:nvSpPr>
          <p:cNvPr id="9" name="Text 7"/>
          <p:cNvSpPr txBox="1"/>
          <p:nvPr/>
        </p:nvSpPr>
        <p:spPr>
          <a:xfrm>
            <a:off x="640080"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edition 1 of a form, still valid in every office.</a:t>
            </a:r>
            <a:endParaRPr lang="en-US" sz="1150" dirty="0"/>
          </a:p>
        </p:txBody>
      </p:sp>
      <p:sp>
        <p:nvSpPr>
          <p:cNvPr id="10" name="Shape 8"/>
          <p:cNvSpPr/>
          <p:nvPr/>
        </p:nvSpPr>
        <p:spPr>
          <a:xfrm>
            <a:off x="3249168" y="1280160"/>
            <a:ext cx="2645664" cy="1339596"/>
          </a:xfrm>
          <a:prstGeom prst="roundRect">
            <a:avLst>
              <a:gd name="adj" fmla="val 5461"/>
            </a:avLst>
          </a:prstGeom>
          <a:solidFill>
            <a:srgbClr val="F2ECE1"/>
          </a:solidFill>
          <a:ln w="12700">
            <a:solidFill>
              <a:srgbClr val="DFD6C7"/>
            </a:solidFill>
            <a:prstDash val="solid"/>
          </a:ln>
        </p:spPr>
        <p:txBody>
          <a:bodyPr/>
          <a:p/>
        </p:txBody>
      </p:sp>
      <p:sp>
        <p:nvSpPr>
          <p:cNvPr id="11" name="Shape 9"/>
          <p:cNvSpPr/>
          <p:nvPr/>
        </p:nvSpPr>
        <p:spPr>
          <a:xfrm>
            <a:off x="3267456" y="1408176"/>
            <a:ext cx="64008" cy="1083564"/>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3432048"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Version 2 and BIP68</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version that turns sequence into a timelock.</a:t>
            </a:r>
            <a:endParaRPr lang="en-US" sz="1300" dirty="0"/>
          </a:p>
        </p:txBody>
      </p:sp>
      <p:sp>
        <p:nvSpPr>
          <p:cNvPr id="13" name="Text 11"/>
          <p:cNvSpPr txBox="1"/>
          <p:nvPr/>
        </p:nvSpPr>
        <p:spPr>
          <a:xfrm>
            <a:off x="3432048"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edition 2, which adds a waiting-period box to the form.</a:t>
            </a:r>
            <a:endParaRPr lang="en-US" sz="1150" dirty="0"/>
          </a:p>
        </p:txBody>
      </p:sp>
      <p:sp>
        <p:nvSpPr>
          <p:cNvPr id="14" name="Shape 12"/>
          <p:cNvSpPr/>
          <p:nvPr/>
        </p:nvSpPr>
        <p:spPr>
          <a:xfrm>
            <a:off x="6041136" y="1280160"/>
            <a:ext cx="2645664" cy="1339596"/>
          </a:xfrm>
          <a:prstGeom prst="roundRect">
            <a:avLst>
              <a:gd name="adj" fmla="val 5461"/>
            </a:avLst>
          </a:prstGeom>
          <a:solidFill>
            <a:srgbClr val="F2ECE1"/>
          </a:solidFill>
          <a:ln w="12700">
            <a:solidFill>
              <a:srgbClr val="DFD6C7"/>
            </a:solidFill>
            <a:prstDash val="solid"/>
          </a:ln>
        </p:spPr>
        <p:txBody>
          <a:bodyPr/>
          <a:p/>
        </p:txBody>
      </p:sp>
      <p:sp>
        <p:nvSpPr>
          <p:cNvPr id="15" name="Shape 13"/>
          <p:cNvSpPr/>
          <p:nvPr/>
        </p:nvSpPr>
        <p:spPr>
          <a:xfrm>
            <a:off x="6059424" y="1408176"/>
            <a:ext cx="64008" cy="1083564"/>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version 3 proposal</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policy, not a consensus change.</a:t>
            </a:r>
            <a:endParaRPr lang="en-US" sz="1300" dirty="0"/>
          </a:p>
        </p:txBody>
      </p:sp>
      <p:sp>
        <p:nvSpPr>
          <p:cNvPr id="17" name="Text 15"/>
          <p:cNvSpPr txBox="1"/>
          <p:nvPr/>
        </p:nvSpPr>
        <p:spPr>
          <a:xfrm>
            <a:off x="6224016"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draft edition that offices may choose to accept.</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14 / 71</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first six bytes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Version, marker and flag in Alice's transaction</a:t>
            </a:r>
            <a:endParaRPr lang="en-US" sz="13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first six bytes, read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005840"/>
                <a:gridCol w="914400"/>
                <a:gridCol w="10515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Field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01000000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version</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marker</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flag</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296265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A zero where a count is expected tells a node that the extended format, with a witness, follows.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zero marker where an input count would be tells old and new nodes apart</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15 / 71</a:t>
            </a:r>
            <a:endParaRPr lang="en-US" sz="1100" dirty="0"/>
          </a:p>
        </p:txBody>
      </p:sp>
      <p:sp>
        <p:nvSpPr>
          <p:cNvPr id="28" name="code 3"/>
          <p:cNvSpPr/>
          <p:nvPr/>
        </p:nvSpPr>
        <p:spPr>
          <a:xfrm>
            <a:off x="365760" y="1170432"/>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raw</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bytes</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fromhex</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ALICE</a:t>
            </a:r>
            <a:r>
              <a:rPr sz="1100" b="0" i="0">
                <a:solidFill>
                  <a:srgbClr val="E6EDF3"/>
                </a:solidFill>
                <a:latin typeface="Courier New"/>
                <a:ea typeface="Courier New"/>
                <a:cs typeface="Courier New"/>
              </a:rPr>
              <a:t>)</a:t>
            </a:r>
          </a:p>
        </p:txBody>
      </p:sp>
      <p:sp>
        <p:nvSpPr>
          <p:cNvPr id="29" name="code 3"/>
          <p:cNvSpPr/>
          <p:nvPr/>
        </p:nvSpPr>
        <p:spPr>
          <a:xfrm>
            <a:off x="365760" y="144566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version</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int</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from_bytes</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raw</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0</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4</a:t>
            </a:r>
            <a:r>
              <a:rPr sz="1100" b="0" i="0">
                <a:solidFill>
                  <a:srgbClr val="E6EDF3"/>
                </a:solidFill>
                <a:latin typeface="Courier New"/>
                <a:ea typeface="Courier New"/>
                <a:cs typeface="Courier New"/>
              </a:rPr>
              <a:t>], </a:t>
            </a:r>
            <a:r>
              <a:rPr sz="1100" b="0" i="0">
                <a:solidFill>
                  <a:srgbClr val="9ECBFF"/>
                </a:solidFill>
                <a:latin typeface="Courier New"/>
                <a:ea typeface="Courier New"/>
                <a:cs typeface="Courier New"/>
              </a:rPr>
              <a:t>'little'</a:t>
            </a:r>
            <a:r>
              <a:rPr sz="1100" b="0" i="0">
                <a:solidFill>
                  <a:srgbClr val="E6EDF3"/>
                </a:solidFill>
                <a:latin typeface="Courier New"/>
                <a:ea typeface="Courier New"/>
                <a:cs typeface="Courier New"/>
              </a:rPr>
              <a:t>)</a:t>
            </a:r>
          </a:p>
        </p:txBody>
      </p:sp>
      <p:sp>
        <p:nvSpPr>
          <p:cNvPr id="30" name="code 3"/>
          <p:cNvSpPr/>
          <p:nvPr/>
        </p:nvSpPr>
        <p:spPr>
          <a:xfrm>
            <a:off x="365760" y="1720900"/>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marker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flag</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raw</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4</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raw</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5</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head</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raw</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6</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hex</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head</a:t>
            </a:r>
          </a:p>
        </p:txBody>
      </p:sp>
      <p:sp>
        <p:nvSpPr>
          <p:cNvPr id="31" name="result 3"/>
          <p:cNvSpPr/>
          <p:nvPr/>
        </p:nvSpPr>
        <p:spPr>
          <a:xfrm>
            <a:off x="365760" y="2363724"/>
            <a:ext cx="5166360" cy="71963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3"/>
          <p:cNvSpPr txBox="1"/>
          <p:nvPr/>
        </p:nvSpPr>
        <p:spPr>
          <a:xfrm>
            <a:off x="457200" y="239115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3"/>
          <p:cNvSpPr txBox="1"/>
          <p:nvPr/>
        </p:nvSpPr>
        <p:spPr>
          <a:xfrm>
            <a:off x="457200" y="2500884"/>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head</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'010000000001'</a:t>
            </a:r>
          </a:p>
        </p:txBody>
      </p:sp>
      <p:sp>
        <p:nvSpPr>
          <p:cNvPr id="34" name="result 3"/>
          <p:cNvSpPr txBox="1"/>
          <p:nvPr/>
        </p:nvSpPr>
        <p:spPr>
          <a:xfrm>
            <a:off x="457200" y="2676715"/>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version</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a:t>
            </a:r>
          </a:p>
        </p:txBody>
      </p:sp>
      <p:sp>
        <p:nvSpPr>
          <p:cNvPr id="35" name="result 3"/>
          <p:cNvSpPr txBox="1"/>
          <p:nvPr/>
        </p:nvSpPr>
        <p:spPr>
          <a:xfrm>
            <a:off x="457200" y="2852547"/>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(marker, flag)</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(0, 1)</a:t>
            </a:r>
          </a:p>
        </p:txBody>
      </p:sp>
      <p:sp>
        <p:nvSpPr>
          <p:cNvPr id="36" name="explanation 3"/>
          <p:cNvSpPr txBox="1"/>
          <p:nvPr/>
        </p:nvSpPr>
        <p:spPr>
          <a:xfrm>
            <a:off x="365760" y="3119932"/>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1  </a:t>
            </a:r>
            <a:r>
              <a:rPr sz="1200" b="0" i="0">
                <a:solidFill>
                  <a:srgbClr val="2B2622"/>
                </a:solidFill>
                <a:latin typeface="Calibri"/>
                <a:ea typeface="Calibri"/>
                <a:cs typeface="Calibri"/>
              </a:rPr>
              <a:t>Raw bytes let us address single bytes of the transaction.</a:t>
            </a:r>
          </a:p>
        </p:txBody>
      </p:sp>
      <p:sp>
        <p:nvSpPr>
          <p:cNvPr id="37" name="explanation 3"/>
          <p:cNvSpPr txBox="1"/>
          <p:nvPr/>
        </p:nvSpPr>
        <p:spPr>
          <a:xfrm>
            <a:off x="365760" y="3558844"/>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2  </a:t>
            </a:r>
            <a:r>
              <a:rPr sz="1200" b="0" i="0">
                <a:solidFill>
                  <a:srgbClr val="2B2622"/>
                </a:solidFill>
                <a:latin typeface="Calibri"/>
                <a:ea typeface="Calibri"/>
                <a:cs typeface="Calibri"/>
              </a:rPr>
              <a:t>The version takes four bytes, least significant byte first.</a:t>
            </a:r>
          </a:p>
        </p:txBody>
      </p:sp>
      <p:sp>
        <p:nvSpPr>
          <p:cNvPr id="38" name="explanation 3"/>
          <p:cNvSpPr txBox="1"/>
          <p:nvPr/>
        </p:nvSpPr>
        <p:spPr>
          <a:xfrm>
            <a:off x="365760" y="3997756"/>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3-5  </a:t>
            </a:r>
            <a:r>
              <a:rPr sz="1200" b="0" i="0">
                <a:solidFill>
                  <a:srgbClr val="2B2622"/>
                </a:solidFill>
                <a:latin typeface="Calibri"/>
                <a:ea typeface="Calibri"/>
                <a:cs typeface="Calibri"/>
              </a:rPr>
              <a:t>Marker zero and flag one announce that a witness follows.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Version, marker and flag (2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685239"/>
          </a:xfrm>
          <a:prstGeom prst="roundRect">
            <a:avLst>
              <a:gd name="adj" fmla="val 4341"/>
            </a:avLst>
          </a:prstGeom>
          <a:solidFill>
            <a:srgbClr val="F2ECE1"/>
          </a:solidFill>
          <a:ln w="12700">
            <a:solidFill>
              <a:srgbClr val="DFD6C7"/>
            </a:solidFill>
            <a:prstDash val="solid"/>
          </a:ln>
        </p:spPr>
        <p:txBody>
          <a:bodyPr/>
          <a:p/>
        </p:txBody>
      </p:sp>
      <p:sp>
        <p:nvSpPr>
          <p:cNvPr id="7" name="Shape 5"/>
          <p:cNvSpPr/>
          <p:nvPr/>
        </p:nvSpPr>
        <p:spPr>
          <a:xfrm>
            <a:off x="475488" y="1408176"/>
            <a:ext cx="64008" cy="1429207"/>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Presigned transactions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Signed now, broadcast years later.</a:t>
            </a:r>
            <a:endParaRPr lang="en-US" sz="1300" dirty="0"/>
          </a:p>
        </p:txBody>
      </p:sp>
      <p:sp>
        <p:nvSpPr>
          <p:cNvPr id="9" name="Text 7"/>
          <p:cNvSpPr txBox="1"/>
          <p:nvPr/>
        </p:nvSpPr>
        <p:spPr>
          <a:xfrm>
            <a:off x="640080" y="1984248"/>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post-dated cheque kept in a drawer.</a:t>
            </a:r>
            <a:endParaRPr lang="en-US" sz="1150" dirty="0"/>
          </a:p>
        </p:txBody>
      </p:sp>
      <p:sp>
        <p:nvSpPr>
          <p:cNvPr id="10" name="Shape 8"/>
          <p:cNvSpPr/>
          <p:nvPr/>
        </p:nvSpPr>
        <p:spPr>
          <a:xfrm>
            <a:off x="3249168" y="1280160"/>
            <a:ext cx="2645664" cy="1685239"/>
          </a:xfrm>
          <a:prstGeom prst="roundRect">
            <a:avLst>
              <a:gd name="adj" fmla="val 4341"/>
            </a:avLst>
          </a:prstGeom>
          <a:solidFill>
            <a:srgbClr val="F2ECE1"/>
          </a:solidFill>
          <a:ln w="12700">
            <a:solidFill>
              <a:srgbClr val="DFD6C7"/>
            </a:solidFill>
            <a:prstDash val="solid"/>
          </a:ln>
        </p:spPr>
        <p:txBody>
          <a:bodyPr/>
          <a:p/>
        </p:txBody>
      </p:sp>
      <p:sp>
        <p:nvSpPr>
          <p:cNvPr id="11" name="Shape 9"/>
          <p:cNvSpPr/>
          <p:nvPr/>
        </p:nvSpPr>
        <p:spPr>
          <a:xfrm>
            <a:off x="3267456" y="1408176"/>
            <a:ext cx="64008" cy="1429207"/>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3432048"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Marker byte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zero where a count cannot be zero.</a:t>
            </a:r>
            <a:endParaRPr lang="en-US" sz="1300" dirty="0"/>
          </a:p>
        </p:txBody>
      </p:sp>
      <p:sp>
        <p:nvSpPr>
          <p:cNvPr id="13" name="Text 11"/>
          <p:cNvSpPr txBox="1"/>
          <p:nvPr/>
        </p:nvSpPr>
        <p:spPr>
          <a:xfrm>
            <a:off x="3432048"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sticker on a parcel saying special contents inside.</a:t>
            </a:r>
            <a:endParaRPr lang="en-US" sz="1150" dirty="0"/>
          </a:p>
        </p:txBody>
      </p:sp>
      <p:sp>
        <p:nvSpPr>
          <p:cNvPr id="14" name="Text 12"/>
          <p:cNvSpPr txBox="1"/>
          <p:nvPr/>
        </p:nvSpPr>
        <p:spPr>
          <a:xfrm>
            <a:off x="3432048" y="2574036"/>
            <a:ext cx="2371344" cy="346558"/>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Extended Marker and Flag</a:t>
            </a:r>
            <a:endParaRPr lang="en-US" sz="1000" dirty="0"/>
          </a:p>
        </p:txBody>
      </p:sp>
      <p:sp>
        <p:nvSpPr>
          <p:cNvPr id="15" name="Shape 13"/>
          <p:cNvSpPr/>
          <p:nvPr/>
        </p:nvSpPr>
        <p:spPr>
          <a:xfrm>
            <a:off x="6041136" y="1280160"/>
            <a:ext cx="2645664" cy="1685239"/>
          </a:xfrm>
          <a:prstGeom prst="roundRect">
            <a:avLst>
              <a:gd name="adj" fmla="val 4341"/>
            </a:avLst>
          </a:prstGeom>
          <a:solidFill>
            <a:srgbClr val="F2ECE1"/>
          </a:solidFill>
          <a:ln w="12700">
            <a:solidFill>
              <a:srgbClr val="DFD6C7"/>
            </a:solidFill>
            <a:prstDash val="solid"/>
          </a:ln>
        </p:spPr>
        <p:txBody>
          <a:bodyPr/>
          <a:p/>
        </p:txBody>
      </p:sp>
      <p:sp>
        <p:nvSpPr>
          <p:cNvPr id="16" name="Shape 14"/>
          <p:cNvSpPr/>
          <p:nvPr/>
        </p:nvSpPr>
        <p:spPr>
          <a:xfrm>
            <a:off x="6059424" y="1408176"/>
            <a:ext cx="64008" cy="1429207"/>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Flag byte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One, with other values reserved.</a:t>
            </a:r>
            <a:endParaRPr lang="en-US" sz="1300" dirty="0"/>
          </a:p>
        </p:txBody>
      </p:sp>
      <p:sp>
        <p:nvSpPr>
          <p:cNvPr id="18" name="Text 16"/>
          <p:cNvSpPr txBox="1"/>
          <p:nvPr/>
        </p:nvSpPr>
        <p:spPr>
          <a:xfrm>
            <a:off x="6224016" y="1984248"/>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second sticker that names the kind of extras.</a:t>
            </a:r>
            <a:endParaRPr lang="en-US" sz="1150" dirty="0"/>
          </a:p>
        </p:txBody>
      </p:sp>
      <p:sp>
        <p:nvSpPr>
          <p:cNvPr id="19" name="Shape 17"/>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1" name="Text 19"/>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16 / 71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Inputs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Inputs are the banknotes you hand over, each named by its address.</a:t>
            </a:r>
            <a:endParaRPr lang="en-US" sz="1500" dirty="0"/>
          </a:p>
        </p:txBody>
      </p:sp>
      <p:sp>
        <p:nvSpPr>
          <p:cNvPr id="6" name="Shape 4"/>
          <p:cNvSpPr/>
          <p:nvPr/>
        </p:nvSpPr>
        <p:spPr>
          <a:xfrm>
            <a:off x="77724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The input list</a:t>
            </a:r>
            <a:endParaRPr lang="en-US" sz="1100" dirty="0"/>
          </a:p>
        </p:txBody>
      </p:sp>
      <p:sp>
        <p:nvSpPr>
          <p:cNvPr id="8" name="Text 6"/>
          <p:cNvSpPr txBox="1"/>
          <p:nvPr/>
        </p:nvSpPr>
        <p:spPr>
          <a:xfrm>
            <a:off x="777240" y="2487168"/>
            <a:ext cx="1828800" cy="377647"/>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The list of coins this transaction spends.</a:t>
            </a:r>
            <a:endParaRPr lang="en-US" sz="1100" dirty="0"/>
          </a:p>
        </p:txBody>
      </p:sp>
      <p:sp>
        <p:nvSpPr>
          <p:cNvPr id="9" name="Text 7"/>
          <p:cNvSpPr txBox="1"/>
          <p:nvPr/>
        </p:nvSpPr>
        <p:spPr>
          <a:xfrm>
            <a:off x="777240" y="2892247"/>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receipt listing the notes you hand over.</a:t>
            </a:r>
            <a:endParaRPr lang="en-US" sz="1100" dirty="0"/>
          </a:p>
        </p:txBody>
      </p:sp>
      <p:sp>
        <p:nvSpPr>
          <p:cNvPr id="10" name="Shape 8"/>
          <p:cNvSpPr/>
          <p:nvPr/>
        </p:nvSpPr>
        <p:spPr>
          <a:xfrm>
            <a:off x="278892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286207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The outpoint</a:t>
            </a:r>
            <a:endParaRPr lang="en-US" sz="1100" dirty="0"/>
          </a:p>
        </p:txBody>
      </p:sp>
      <p:sp>
        <p:nvSpPr>
          <p:cNvPr id="12" name="Text 10"/>
          <p:cNvSpPr txBox="1"/>
          <p:nvPr/>
        </p:nvSpPr>
        <p:spPr>
          <a:xfrm>
            <a:off x="2788920" y="2487168"/>
            <a:ext cx="182880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The address of one coin: a transaction and an output number.</a:t>
            </a:r>
            <a:endParaRPr lang="en-US" sz="1100" dirty="0"/>
          </a:p>
        </p:txBody>
      </p:sp>
      <p:sp>
        <p:nvSpPr>
          <p:cNvPr id="13" name="Text 11"/>
          <p:cNvSpPr txBox="1"/>
          <p:nvPr/>
        </p:nvSpPr>
        <p:spPr>
          <a:xfrm>
            <a:off x="2788920" y="3062326"/>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street address with building and flat.</a:t>
            </a:r>
            <a:endParaRPr lang="en-US" sz="1100" dirty="0"/>
          </a:p>
        </p:txBody>
      </p:sp>
      <p:sp>
        <p:nvSpPr>
          <p:cNvPr id="14" name="Shape 12"/>
          <p:cNvSpPr/>
          <p:nvPr/>
        </p:nvSpPr>
        <p:spPr>
          <a:xfrm>
            <a:off x="480060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15" name="Text 13"/>
          <p:cNvSpPr txBox="1"/>
          <p:nvPr/>
        </p:nvSpPr>
        <p:spPr>
          <a:xfrm>
            <a:off x="487375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Byte order</a:t>
            </a:r>
            <a:endParaRPr lang="en-US" sz="1100" dirty="0"/>
          </a:p>
        </p:txBody>
      </p:sp>
      <p:sp>
        <p:nvSpPr>
          <p:cNvPr id="16" name="Text 14"/>
          <p:cNvSpPr txBox="1"/>
          <p:nvPr/>
        </p:nvSpPr>
        <p:spPr>
          <a:xfrm>
            <a:off x="4800600" y="2487168"/>
            <a:ext cx="182880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The same 32 bytes can be read in two directions.</a:t>
            </a:r>
            <a:endParaRPr lang="en-US" sz="1100" dirty="0"/>
          </a:p>
        </p:txBody>
      </p:sp>
      <p:sp>
        <p:nvSpPr>
          <p:cNvPr id="17" name="Text 15"/>
          <p:cNvSpPr txBox="1"/>
          <p:nvPr/>
        </p:nvSpPr>
        <p:spPr>
          <a:xfrm>
            <a:off x="4800600" y="3062326"/>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book you can read from the front or the back.</a:t>
            </a:r>
            <a:endParaRPr lang="en-US" sz="1100" dirty="0"/>
          </a:p>
        </p:txBody>
      </p:sp>
      <p:sp>
        <p:nvSpPr>
          <p:cNvPr id="18" name="Shape 16"/>
          <p:cNvSpPr/>
          <p:nvPr/>
        </p:nvSpPr>
        <p:spPr>
          <a:xfrm>
            <a:off x="681228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19" name="Text 17"/>
          <p:cNvSpPr txBox="1"/>
          <p:nvPr/>
        </p:nvSpPr>
        <p:spPr>
          <a:xfrm>
            <a:off x="688543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The input script</a:t>
            </a:r>
            <a:endParaRPr lang="en-US" sz="1100" dirty="0"/>
          </a:p>
        </p:txBody>
      </p:sp>
      <p:sp>
        <p:nvSpPr>
          <p:cNvPr id="20" name="Text 18"/>
          <p:cNvSpPr txBox="1"/>
          <p:nvPr/>
        </p:nvSpPr>
        <p:spPr>
          <a:xfrm>
            <a:off x="6812280" y="2487168"/>
            <a:ext cx="1828800" cy="377647"/>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The slot where legacy inputs put their proof.</a:t>
            </a:r>
            <a:endParaRPr lang="en-US" sz="1100" dirty="0"/>
          </a:p>
        </p:txBody>
      </p:sp>
      <p:sp>
        <p:nvSpPr>
          <p:cNvPr id="21" name="Text 19"/>
          <p:cNvSpPr txBox="1"/>
          <p:nvPr/>
        </p:nvSpPr>
        <p:spPr>
          <a:xfrm>
            <a:off x="6812280" y="2892247"/>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keyhole that legacy inputs fill with the key.</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23" name="Text 20"/>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17 / 71</a:t>
            </a:r>
            <a:endParaRPr lang="en-US" sz="11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An input is an address, not an amount</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How an input names a coin, and how a count is written in few bytes</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An input names a coin by transaction and output number; it states no amount</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18 / 71</a:t>
            </a:r>
            <a:endParaRPr lang="en-US" sz="1100" dirty="0"/>
          </a:p>
        </p:txBody>
      </p:sp>
      <p:sp>
        <p:nvSpPr>
          <p:cNvPr id="28" name="earlier tx"/>
          <p:cNvSpPr/>
          <p:nvPr/>
        </p:nvSpPr>
        <p:spPr>
          <a:xfrm>
            <a:off x="365760" y="1234440"/>
            <a:ext cx="2743200" cy="1371600"/>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earlier title"/>
          <p:cNvSpPr txBox="1"/>
          <p:nvPr/>
        </p:nvSpPr>
        <p:spPr>
          <a:xfrm>
            <a:off x="475488" y="1280160"/>
            <a:ext cx="2560320" cy="182880"/>
          </a:xfrm>
          <a:prstGeom prst="rect">
            <a:avLst/>
          </a:prstGeom>
          <a:noFill/>
        </p:spPr>
        <p:txBody>
          <a:bodyPr wrap="square" lIns="0" rIns="0" tIns="0" bIns="0" anchor="t">
            <a:spAutoFit/>
          </a:bodyPr>
          <a:lstStyle/>
          <a:p>
            <a:pPr algn="l"/>
            <a:r>
              <a:rPr sz="1200" b="1" i="0">
                <a:solidFill>
                  <a:srgbClr val="2B2622"/>
                </a:solidFill>
                <a:latin typeface="Calibri"/>
                <a:ea typeface="Calibri"/>
                <a:cs typeface="Calibri"/>
              </a:rPr>
              <a:t>An earlier transaction</a:t>
            </a:r>
          </a:p>
        </p:txBody>
      </p:sp>
      <p:sp>
        <p:nvSpPr>
          <p:cNvPr id="30" name="output 0"/>
          <p:cNvSpPr/>
          <p:nvPr/>
        </p:nvSpPr>
        <p:spPr>
          <a:xfrm>
            <a:off x="475488" y="1536192"/>
            <a:ext cx="2523744" cy="365760"/>
          </a:xfrm>
          <a:prstGeom prst="roundRect">
            <a:avLst>
              <a:gd name="adj" fmla="val 8000"/>
            </a:avLst>
          </a:prstGeom>
          <a:solidFill>
            <a:srgbClr val="FFFFFF"/>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100" b="0" i="0">
                <a:solidFill>
                  <a:srgbClr val="6E655C"/>
                </a:solidFill>
                <a:latin typeface="Calibri"/>
                <a:ea typeface="Calibri"/>
                <a:cs typeface="Calibri"/>
              </a:rPr>
              <a:t>output 0 · 18,210,494 satoshis</a:t>
            </a:r>
          </a:p>
        </p:txBody>
      </p:sp>
      <p:sp>
        <p:nvSpPr>
          <p:cNvPr id="31" name="output 1"/>
          <p:cNvSpPr/>
          <p:nvPr/>
        </p:nvSpPr>
        <p:spPr>
          <a:xfrm>
            <a:off x="475488" y="2029968"/>
            <a:ext cx="2523744" cy="457200"/>
          </a:xfrm>
          <a:prstGeom prst="roundRect">
            <a:avLst>
              <a:gd name="adj" fmla="val 8000"/>
            </a:avLst>
          </a:prstGeom>
          <a:solidFill>
            <a:srgbClr val="FFFFFF"/>
          </a:solidFill>
          <a:ln w="25400">
            <a:solidFill>
              <a:srgbClr val="D97A1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150" b="1" i="0">
                <a:solidFill>
                  <a:srgbClr val="2B2622"/>
                </a:solidFill>
                <a:latin typeface="Calibri"/>
                <a:ea typeface="Calibri"/>
                <a:cs typeface="Calibri"/>
              </a:rPr>
              <a:t>output 1 · 100,000 satoshis</a:t>
            </a:r>
          </a:p>
          <a:p>
            <a:pPr algn="l"/>
            <a:r>
              <a:rPr sz="1000" b="0" i="1">
                <a:solidFill>
                  <a:srgbClr val="6E655C"/>
                </a:solidFill>
                <a:latin typeface="Calibri"/>
                <a:ea typeface="Calibri"/>
                <a:cs typeface="Calibri"/>
              </a:rPr>
              <a:t>the coin Alice spends</a:t>
            </a:r>
          </a:p>
        </p:txBody>
      </p:sp>
      <p:sp>
        <p:nvSpPr>
          <p:cNvPr id="32" name="input card"/>
          <p:cNvSpPr/>
          <p:nvPr/>
        </p:nvSpPr>
        <p:spPr>
          <a:xfrm>
            <a:off x="3566160" y="1737360"/>
            <a:ext cx="2286000" cy="731520"/>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F6D62"/>
                </a:solidFill>
                <a:latin typeface="Calibri"/>
                <a:ea typeface="Calibri"/>
                <a:cs typeface="Calibri"/>
              </a:rPr>
              <a:t>Alice's input</a:t>
            </a:r>
          </a:p>
          <a:p>
            <a:pPr algn="l"/>
            <a:r>
              <a:rPr sz="1100" b="0" i="0">
                <a:solidFill>
                  <a:srgbClr val="2B2622"/>
                </a:solidFill>
                <a:latin typeface="Calibri"/>
                <a:ea typeface="Calibri"/>
                <a:cs typeface="Calibri"/>
              </a:rPr>
              <a:t>points at that txid and index 1; it states no amount</a:t>
            </a:r>
          </a:p>
        </p:txBody>
      </p:sp>
      <p:cxnSp>
        <p:nvCxnSpPr>
          <p:cNvPr id="33" name="arrow input"/>
          <p:cNvCxnSpPr/>
          <p:nvPr/>
        </p:nvCxnSpPr>
        <p:spPr>
          <a:xfrm flipH="1">
            <a:off x="3017520" y="2258568"/>
            <a:ext cx="530352" cy="0"/>
          </a:xfrm>
          <a:prstGeom prst="line">
            <a:avLst/>
          </a:prstGeom>
          <a:ln w="25400">
            <a:solidFill>
              <a:srgbClr val="D97A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outpoint txid"/>
          <p:cNvSpPr/>
          <p:nvPr/>
        </p:nvSpPr>
        <p:spPr>
          <a:xfrm>
            <a:off x="365760" y="2724912"/>
            <a:ext cx="2194560" cy="310896"/>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32 bytes: the earlier txid</a:t>
            </a:r>
          </a:p>
        </p:txBody>
      </p:sp>
      <p:sp>
        <p:nvSpPr>
          <p:cNvPr id="35" name="outpoint index"/>
          <p:cNvSpPr/>
          <p:nvPr/>
        </p:nvSpPr>
        <p:spPr>
          <a:xfrm>
            <a:off x="2560320" y="2724912"/>
            <a:ext cx="548640" cy="310896"/>
          </a:xfrm>
          <a:prstGeom prst="rect">
            <a:avLst/>
          </a:prstGeom>
          <a:solidFill>
            <a:srgbClr val="D9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4 B: 1</a:t>
            </a:r>
          </a:p>
        </p:txBody>
      </p:sp>
      <p:sp>
        <p:nvSpPr>
          <p:cNvPr id="36" name="outpoint label"/>
          <p:cNvSpPr txBox="1"/>
          <p:nvPr/>
        </p:nvSpPr>
        <p:spPr>
          <a:xfrm>
            <a:off x="365760" y="3063240"/>
            <a:ext cx="2743200" cy="146304"/>
          </a:xfrm>
          <a:prstGeom prst="rect">
            <a:avLst/>
          </a:prstGeom>
          <a:noFill/>
        </p:spPr>
        <p:txBody>
          <a:bodyPr wrap="square" lIns="0" rIns="0" tIns="0" bIns="0" anchor="t">
            <a:spAutoFit/>
          </a:bodyPr>
          <a:lstStyle/>
          <a:p>
            <a:pPr algn="l"/>
            <a:r>
              <a:rPr sz="1050" b="1" i="1">
                <a:solidFill>
                  <a:srgbClr val="6E655C"/>
                </a:solidFill>
                <a:latin typeface="Calibri"/>
                <a:ea typeface="Calibri"/>
                <a:cs typeface="Calibri"/>
              </a:rPr>
              <a:t>an outpoint: 36 bytes</a:t>
            </a:r>
          </a:p>
        </p:txBody>
      </p:sp>
      <p:sp>
        <p:nvSpPr>
          <p:cNvPr id="37" name="compact title"/>
          <p:cNvSpPr txBox="1"/>
          <p:nvPr/>
        </p:nvSpPr>
        <p:spPr>
          <a:xfrm>
            <a:off x="6126480" y="1216152"/>
            <a:ext cx="2651760" cy="164592"/>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CompactSize: bytes a count takes</a:t>
            </a:r>
          </a:p>
        </p:txBody>
      </p:sp>
      <p:sp>
        <p:nvSpPr>
          <p:cNvPr id="38" name="compact range 1"/>
          <p:cNvSpPr/>
          <p:nvPr/>
        </p:nvSpPr>
        <p:spPr>
          <a:xfrm>
            <a:off x="6126480" y="1444752"/>
            <a:ext cx="1188720" cy="347472"/>
          </a:xfrm>
          <a:prstGeom prst="roundRect">
            <a:avLst>
              <a:gd name="adj" fmla="val 10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1" i="0">
                <a:solidFill>
                  <a:srgbClr val="2B2622"/>
                </a:solidFill>
                <a:latin typeface="Calibri"/>
                <a:ea typeface="Calibri"/>
                <a:cs typeface="Calibri"/>
              </a:rPr>
              <a:t>0 to 252</a:t>
            </a:r>
          </a:p>
        </p:txBody>
      </p:sp>
      <p:sp>
        <p:nvSpPr>
          <p:cNvPr id="39" name="compact size 1"/>
          <p:cNvSpPr/>
          <p:nvPr/>
        </p:nvSpPr>
        <p:spPr>
          <a:xfrm>
            <a:off x="7370064" y="1444752"/>
            <a:ext cx="1408176" cy="347472"/>
          </a:xfrm>
          <a:prstGeom prst="roundRect">
            <a:avLst>
              <a:gd name="adj" fmla="val 10000"/>
            </a:avLst>
          </a:prstGeom>
          <a:solidFill>
            <a:srgbClr val="FFFFFF"/>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0" i="0">
                <a:solidFill>
                  <a:srgbClr val="2B2622"/>
                </a:solidFill>
                <a:latin typeface="Calibri"/>
                <a:ea typeface="Calibri"/>
                <a:cs typeface="Calibri"/>
              </a:rPr>
              <a:t>1 byte: the number</a:t>
            </a:r>
          </a:p>
        </p:txBody>
      </p:sp>
      <p:sp>
        <p:nvSpPr>
          <p:cNvPr id="40" name="compact range 2"/>
          <p:cNvSpPr/>
          <p:nvPr/>
        </p:nvSpPr>
        <p:spPr>
          <a:xfrm>
            <a:off x="6126480" y="1847088"/>
            <a:ext cx="1188720" cy="347472"/>
          </a:xfrm>
          <a:prstGeom prst="roundRect">
            <a:avLst>
              <a:gd name="adj" fmla="val 10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1" i="0">
                <a:solidFill>
                  <a:srgbClr val="2B2622"/>
                </a:solidFill>
                <a:latin typeface="Calibri"/>
                <a:ea typeface="Calibri"/>
                <a:cs typeface="Calibri"/>
              </a:rPr>
              <a:t>253 to 65,535</a:t>
            </a:r>
          </a:p>
        </p:txBody>
      </p:sp>
      <p:sp>
        <p:nvSpPr>
          <p:cNvPr id="41" name="compact size 2"/>
          <p:cNvSpPr/>
          <p:nvPr/>
        </p:nvSpPr>
        <p:spPr>
          <a:xfrm>
            <a:off x="7370064" y="1847088"/>
            <a:ext cx="1408176" cy="347472"/>
          </a:xfrm>
          <a:prstGeom prst="roundRect">
            <a:avLst>
              <a:gd name="adj" fmla="val 10000"/>
            </a:avLst>
          </a:prstGeom>
          <a:solidFill>
            <a:srgbClr val="FFFFFF"/>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0" i="0">
                <a:solidFill>
                  <a:srgbClr val="2B2622"/>
                </a:solidFill>
                <a:latin typeface="Calibri"/>
                <a:ea typeface="Calibri"/>
                <a:cs typeface="Calibri"/>
              </a:rPr>
              <a:t>3 bytes: fd + 2</a:t>
            </a:r>
          </a:p>
        </p:txBody>
      </p:sp>
      <p:sp>
        <p:nvSpPr>
          <p:cNvPr id="42" name="compact range 3"/>
          <p:cNvSpPr/>
          <p:nvPr/>
        </p:nvSpPr>
        <p:spPr>
          <a:xfrm>
            <a:off x="6126480" y="2249424"/>
            <a:ext cx="1188720" cy="347472"/>
          </a:xfrm>
          <a:prstGeom prst="roundRect">
            <a:avLst>
              <a:gd name="adj" fmla="val 10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1" i="0">
                <a:solidFill>
                  <a:srgbClr val="2B2622"/>
                </a:solidFill>
                <a:latin typeface="Calibri"/>
                <a:ea typeface="Calibri"/>
                <a:cs typeface="Calibri"/>
              </a:rPr>
              <a:t>to 4,294,967,295</a:t>
            </a:r>
          </a:p>
        </p:txBody>
      </p:sp>
      <p:sp>
        <p:nvSpPr>
          <p:cNvPr id="43" name="compact size 3"/>
          <p:cNvSpPr/>
          <p:nvPr/>
        </p:nvSpPr>
        <p:spPr>
          <a:xfrm>
            <a:off x="7370064" y="2249424"/>
            <a:ext cx="1408176" cy="347472"/>
          </a:xfrm>
          <a:prstGeom prst="roundRect">
            <a:avLst>
              <a:gd name="adj" fmla="val 10000"/>
            </a:avLst>
          </a:prstGeom>
          <a:solidFill>
            <a:srgbClr val="FFFFFF"/>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0" i="0">
                <a:solidFill>
                  <a:srgbClr val="2B2622"/>
                </a:solidFill>
                <a:latin typeface="Calibri"/>
                <a:ea typeface="Calibri"/>
                <a:cs typeface="Calibri"/>
              </a:rPr>
              <a:t>5 bytes: fe + 4</a:t>
            </a:r>
          </a:p>
        </p:txBody>
      </p:sp>
      <p:sp>
        <p:nvSpPr>
          <p:cNvPr id="44" name="compact range 4"/>
          <p:cNvSpPr/>
          <p:nvPr/>
        </p:nvSpPr>
        <p:spPr>
          <a:xfrm>
            <a:off x="6126480" y="2651760"/>
            <a:ext cx="1188720" cy="347472"/>
          </a:xfrm>
          <a:prstGeom prst="roundRect">
            <a:avLst>
              <a:gd name="adj" fmla="val 10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1" i="0">
                <a:solidFill>
                  <a:srgbClr val="2B2622"/>
                </a:solidFill>
                <a:latin typeface="Calibri"/>
                <a:ea typeface="Calibri"/>
                <a:cs typeface="Calibri"/>
              </a:rPr>
              <a:t>larger</a:t>
            </a:r>
          </a:p>
        </p:txBody>
      </p:sp>
      <p:sp>
        <p:nvSpPr>
          <p:cNvPr id="45" name="compact size 4"/>
          <p:cNvSpPr/>
          <p:nvPr/>
        </p:nvSpPr>
        <p:spPr>
          <a:xfrm>
            <a:off x="7370064" y="2651760"/>
            <a:ext cx="1408176" cy="347472"/>
          </a:xfrm>
          <a:prstGeom prst="roundRect">
            <a:avLst>
              <a:gd name="adj" fmla="val 10000"/>
            </a:avLst>
          </a:prstGeom>
          <a:solidFill>
            <a:srgbClr val="FFFFFF"/>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l"/>
            <a:r>
              <a:rPr sz="1050" b="0" i="0">
                <a:solidFill>
                  <a:srgbClr val="2B2622"/>
                </a:solidFill>
                <a:latin typeface="Calibri"/>
                <a:ea typeface="Calibri"/>
                <a:cs typeface="Calibri"/>
              </a:rPr>
              <a:t>9 bytes: ff + 8</a:t>
            </a:r>
          </a:p>
        </p:txBody>
      </p:sp>
      <p:sp>
        <p:nvSpPr>
          <p:cNvPr id="46" name="reading"/>
          <p:cNvSpPr txBox="1"/>
          <p:nvPr/>
        </p:nvSpPr>
        <p:spPr>
          <a:xfrm>
            <a:off x="365760" y="3346704"/>
            <a:ext cx="8412480" cy="40538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An outpoint is 36 bytes: the txid of an earlier transaction and the number of one of its outputs, counted from zero.</a:t>
            </a:r>
          </a:p>
        </p:txBody>
      </p:sp>
      <p:sp>
        <p:nvSpPr>
          <p:cNvPr id="47" name="reading"/>
          <p:cNvSpPr txBox="1"/>
          <p:nvPr/>
        </p:nvSpPr>
        <p:spPr>
          <a:xfrm>
            <a:off x="365760" y="3779520"/>
            <a:ext cx="8412480" cy="40538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Think of a street address with building and flat: the input says where the coin lives, and the amount is stored in the coin.</a:t>
            </a:r>
          </a:p>
        </p:txBody>
      </p:sp>
      <p:sp>
        <p:nvSpPr>
          <p:cNvPr id="48" name="reading"/>
          <p:cNvSpPr txBox="1"/>
          <p:nvPr/>
        </p:nvSpPr>
        <p:spPr>
          <a:xfrm>
            <a:off x="365760" y="4212336"/>
            <a:ext cx="8412480" cy="40538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Counts are written as CompactSize: small numbers get a short ticket, and a first byte of fd, fe or ff warns that more bytes follow.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Inputs: concepts (1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Input count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At least one, in practice a few thousand.</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counting how many cheques are stapled to a payment.</a:t>
            </a:r>
            <a:endParaRPr lang="en-US" sz="1150" dirty="0"/>
          </a:p>
        </p:txBody>
      </p:sp>
      <p:sp>
        <p:nvSpPr>
          <p:cNvPr id="10" name="Text 8"/>
          <p:cNvSpPr txBox="1"/>
          <p:nvPr/>
        </p:nvSpPr>
        <p:spPr>
          <a:xfrm>
            <a:off x="640080" y="2217420"/>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Length of Transaction Input List</a:t>
            </a:r>
            <a:endParaRPr lang="en-US" sz="1000" dirty="0"/>
          </a:p>
        </p:txBody>
      </p:sp>
      <p:sp>
        <p:nvSpPr>
          <p:cNvPr id="11" name="Shape 9"/>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2" name="Shape 10"/>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3" name="Text 11"/>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CompactSize unsigned integer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1, 3, 5 or 9 bytes, by value.</a:t>
            </a:r>
            <a:endParaRPr lang="en-US" sz="1300" dirty="0"/>
          </a:p>
        </p:txBody>
      </p:sp>
      <p:sp>
        <p:nvSpPr>
          <p:cNvPr id="14" name="Text 12"/>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ticket machine: small numbers get short tickets.</a:t>
            </a:r>
            <a:endParaRPr lang="en-US" sz="1150" dirty="0"/>
          </a:p>
        </p:txBody>
      </p:sp>
      <p:sp>
        <p:nvSpPr>
          <p:cNvPr id="15" name="Shape 13"/>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6" name="Shape 14"/>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Other variable-length integers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Three encodings, one name that is safe.</a:t>
            </a:r>
            <a:endParaRPr lang="en-US" sz="1300" dirty="0"/>
          </a:p>
        </p:txBody>
      </p:sp>
      <p:sp>
        <p:nvSpPr>
          <p:cNvPr id="18" name="Text 16"/>
          <p:cNvSpPr txBox="1"/>
          <p:nvPr/>
        </p:nvSpPr>
        <p:spPr>
          <a:xfrm>
            <a:off x="640080"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three kinds of ticket sold under one name.</a:t>
            </a:r>
            <a:endParaRPr lang="en-US" sz="1150" dirty="0"/>
          </a:p>
        </p:txBody>
      </p:sp>
      <p:sp>
        <p:nvSpPr>
          <p:cNvPr id="19" name="Shape 17"/>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20" name="Shape 18"/>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Outpoint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36 bytes: a txid and an index.</a:t>
            </a:r>
            <a:endParaRPr lang="en-US" sz="1300" dirty="0"/>
          </a:p>
        </p:txBody>
      </p:sp>
      <p:sp>
        <p:nvSpPr>
          <p:cNvPr id="22" name="Text 20"/>
          <p:cNvSpPr txBox="1"/>
          <p:nvPr/>
        </p:nvSpPr>
        <p:spPr>
          <a:xfrm>
            <a:off x="4828032"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street address: building number plus flat number.</a:t>
            </a:r>
            <a:endParaRPr lang="en-US" sz="11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19 / 71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CompactSize: counting in few bytes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bytes a count takes grow with the count</a:t>
            </a:r>
            <a:endParaRPr lang="en-US" sz="13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bytes taken by each count</a:t>
            </a:r>
            <a:endParaRPr lang="en-US" sz="1100" dirty="0"/>
          </a:p>
        </p:txBody>
      </p:sp>
      <p:graphicFrame>
        <p:nvGraphicFramePr>
          <p:cNvPr id="23" name="Chart 0" descr=""/>
          <p:cNvGraphicFramePr/>
          <p:nvPr/>
        </p:nvGraphicFramePr>
        <p:xfrm>
          <a:off x="5715000" y="1591056"/>
          <a:ext cx="2971800" cy="225856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First bytes written: 01 fc fd fd fe ff. The values fd, fe and ff announce longer numbers.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Small counts cost one byte; the first byte warns when a longer number follows</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20 / 71</a:t>
            </a:r>
            <a:endParaRPr lang="en-US" sz="1100" dirty="0"/>
          </a:p>
        </p:txBody>
      </p:sp>
      <p:sp>
        <p:nvSpPr>
          <p:cNvPr id="28" name="code 4"/>
          <p:cNvSpPr/>
          <p:nvPr/>
        </p:nvSpPr>
        <p:spPr>
          <a:xfrm>
            <a:off x="365760" y="1170432"/>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values</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1</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252</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253</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65535</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65536</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2</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32</a:t>
            </a:r>
            <a:r>
              <a:rPr sz="1100" b="0" i="0">
                <a:solidFill>
                  <a:srgbClr val="E6EDF3"/>
                </a:solidFill>
                <a:latin typeface="Courier New"/>
                <a:ea typeface="Courier New"/>
                <a:cs typeface="Courier New"/>
              </a:rPr>
              <a:t>]</a:t>
            </a:r>
          </a:p>
        </p:txBody>
      </p:sp>
      <p:sp>
        <p:nvSpPr>
          <p:cNvPr id="29" name="code 4"/>
          <p:cNvSpPr/>
          <p:nvPr/>
        </p:nvSpPr>
        <p:spPr>
          <a:xfrm>
            <a:off x="365760" y="144566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sizes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len</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cs_encode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values</a:t>
            </a:r>
            <a:r>
              <a:rPr sz="1100" b="0" i="0">
                <a:solidFill>
                  <a:srgbClr val="E6EDF3"/>
                </a:solidFill>
                <a:latin typeface="Courier New"/>
                <a:ea typeface="Courier New"/>
                <a:cs typeface="Courier New"/>
              </a:rPr>
              <a:t>]</a:t>
            </a:r>
          </a:p>
        </p:txBody>
      </p:sp>
      <p:sp>
        <p:nvSpPr>
          <p:cNvPr id="30" name="code 4"/>
          <p:cNvSpPr/>
          <p:nvPr/>
        </p:nvSpPr>
        <p:spPr>
          <a:xfrm>
            <a:off x="365760" y="1720900"/>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prefix</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cs_encode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1</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hex</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values</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sizes</a:t>
            </a:r>
          </a:p>
        </p:txBody>
      </p:sp>
      <p:sp>
        <p:nvSpPr>
          <p:cNvPr id="31" name="result 4"/>
          <p:cNvSpPr/>
          <p:nvPr/>
        </p:nvSpPr>
        <p:spPr>
          <a:xfrm>
            <a:off x="365760" y="2189073"/>
            <a:ext cx="5166360" cy="55321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4"/>
          <p:cNvSpPr txBox="1"/>
          <p:nvPr/>
        </p:nvSpPr>
        <p:spPr>
          <a:xfrm>
            <a:off x="457200" y="2216505"/>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4"/>
          <p:cNvSpPr txBox="1"/>
          <p:nvPr/>
        </p:nvSpPr>
        <p:spPr>
          <a:xfrm>
            <a:off x="457200" y="2326233"/>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sizes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 1, 3, 3, 5, 9]</a:t>
            </a:r>
          </a:p>
        </p:txBody>
      </p:sp>
      <p:sp>
        <p:nvSpPr>
          <p:cNvPr id="34" name="result 4"/>
          <p:cNvSpPr txBox="1"/>
          <p:nvPr/>
        </p:nvSpPr>
        <p:spPr>
          <a:xfrm>
            <a:off x="457200" y="2502065"/>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prefix</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['01', 'fc', 'fd', 'fd', 'fe', 'ff']</a:t>
            </a:r>
          </a:p>
        </p:txBody>
      </p:sp>
      <p:sp>
        <p:nvSpPr>
          <p:cNvPr id="35" name="explanation 4"/>
          <p:cNvSpPr txBox="1"/>
          <p:nvPr/>
        </p:nvSpPr>
        <p:spPr>
          <a:xfrm>
            <a:off x="365760" y="2778861"/>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1  </a:t>
            </a:r>
            <a:r>
              <a:rPr sz="1200" b="0" i="0">
                <a:solidFill>
                  <a:srgbClr val="2B2622"/>
                </a:solidFill>
                <a:latin typeface="Calibri"/>
                <a:ea typeface="Calibri"/>
                <a:cs typeface="Calibri"/>
              </a:rPr>
              <a:t>Six counts, chosen at the edges where the encoding changes length.</a:t>
            </a:r>
          </a:p>
        </p:txBody>
      </p:sp>
      <p:sp>
        <p:nvSpPr>
          <p:cNvPr id="36" name="explanation 4"/>
          <p:cNvSpPr txBox="1"/>
          <p:nvPr/>
        </p:nvSpPr>
        <p:spPr>
          <a:xfrm>
            <a:off x="365760" y="3217773"/>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2  </a:t>
            </a:r>
            <a:r>
              <a:rPr sz="1200" b="0" i="0">
                <a:solidFill>
                  <a:srgbClr val="2B2622"/>
                </a:solidFill>
                <a:latin typeface="Calibri"/>
                <a:ea typeface="Calibri"/>
                <a:cs typeface="Calibri"/>
              </a:rPr>
              <a:t>Encode each count as a transaction does, and measure the bytes it takes.</a:t>
            </a:r>
          </a:p>
        </p:txBody>
      </p:sp>
      <p:sp>
        <p:nvSpPr>
          <p:cNvPr id="37" name="explanation 4"/>
          <p:cNvSpPr txBox="1"/>
          <p:nvPr/>
        </p:nvSpPr>
        <p:spPr>
          <a:xfrm>
            <a:off x="365760" y="3656685"/>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3-4  </a:t>
            </a:r>
            <a:r>
              <a:rPr sz="1200" b="0" i="0">
                <a:solidFill>
                  <a:srgbClr val="2B2622"/>
                </a:solidFill>
                <a:latin typeface="Calibri"/>
                <a:ea typeface="Calibri"/>
                <a:cs typeface="Calibri"/>
              </a:rPr>
              <a:t>The first byte of each encoding: fd, fe or ff announce a longer number.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Inputs: concepts (2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63550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previous transaction's identifier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first 32 bytes of an outpoint.</a:t>
            </a:r>
            <a:endParaRPr lang="en-US" sz="1300" dirty="0"/>
          </a:p>
        </p:txBody>
      </p:sp>
      <p:sp>
        <p:nvSpPr>
          <p:cNvPr id="9" name="Text 7"/>
          <p:cNvSpPr txBox="1"/>
          <p:nvPr/>
        </p:nvSpPr>
        <p:spPr>
          <a:xfrm>
            <a:off x="640080" y="2007108"/>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building number in that address.</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Output index</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Four bytes counting from zero.</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flat number inside the building, counted from zero.</a:t>
            </a:r>
            <a:endParaRPr lang="en-US" sz="1150" dirty="0"/>
          </a:p>
        </p:txBody>
      </p:sp>
      <p:sp>
        <p:nvSpPr>
          <p:cNvPr id="14" name="Shape 12"/>
          <p:cNvSpPr/>
          <p:nvPr/>
        </p:nvSpPr>
        <p:spPr>
          <a:xfrm>
            <a:off x="457200"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5" name="Shape 13"/>
          <p:cNvSpPr/>
          <p:nvPr/>
        </p:nvSpPr>
        <p:spPr>
          <a:xfrm>
            <a:off x="475488" y="2633472"/>
            <a:ext cx="64008" cy="84124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rule against double spending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An output is spent at most once.</a:t>
            </a:r>
            <a:endParaRPr lang="en-US" sz="1300" dirty="0"/>
          </a:p>
        </p:txBody>
      </p:sp>
      <p:sp>
        <p:nvSpPr>
          <p:cNvPr id="17" name="Text 15"/>
          <p:cNvSpPr txBox="1"/>
          <p:nvPr/>
        </p:nvSpPr>
        <p:spPr>
          <a:xfrm>
            <a:off x="640080"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banknote that can be handed over only once.</a:t>
            </a:r>
            <a:endParaRPr lang="en-US" sz="1150" dirty="0"/>
          </a:p>
        </p:txBody>
      </p:sp>
      <p:sp>
        <p:nvSpPr>
          <p:cNvPr id="18" name="Shape 16"/>
          <p:cNvSpPr/>
          <p:nvPr/>
        </p:nvSpPr>
        <p:spPr>
          <a:xfrm>
            <a:off x="4645152"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9" name="Shape 17"/>
          <p:cNvSpPr/>
          <p:nvPr/>
        </p:nvSpPr>
        <p:spPr>
          <a:xfrm>
            <a:off x="4663440" y="2633472"/>
            <a:ext cx="64008" cy="841248"/>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Conflicting transactions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Same outpoint, two spenders.</a:t>
            </a:r>
            <a:endParaRPr lang="en-US" sz="1300" dirty="0"/>
          </a:p>
        </p:txBody>
      </p:sp>
      <p:sp>
        <p:nvSpPr>
          <p:cNvPr id="21" name="Text 19"/>
          <p:cNvSpPr txBox="1"/>
          <p:nvPr/>
        </p:nvSpPr>
        <p:spPr>
          <a:xfrm>
            <a:off x="4828032"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two cheques written against the same banknote.</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21 / 71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outpoint, read both ways round</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Which coin an input spends</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one outpoint, read both ways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508760"/>
                <a:gridCol w="14630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Form</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First 16 hex digits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Stored in the input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eb3ae38f27191aa5</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Printed by explorers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4ac5418026798669</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Reversing back restores it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Input 0 spends output 1 of the earlier transaction. The stored and printed forms are mirror images.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An input states no amount; it names a coin by transaction and output number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22 / 71</a:t>
            </a:r>
            <a:endParaRPr lang="en-US" sz="1100" dirty="0"/>
          </a:p>
        </p:txBody>
      </p:sp>
      <p:sp>
        <p:nvSpPr>
          <p:cNvPr id="28" name="code 5"/>
          <p:cNvSpPr/>
          <p:nvPr/>
        </p:nvSpPr>
        <p:spPr>
          <a:xfrm>
            <a:off x="365760" y="1170432"/>
            <a:ext cx="5166360" cy="40690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i0</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tx</a:t>
            </a:r>
            <a:r>
              <a:rPr sz="1050" b="0" i="0">
                <a:solidFill>
                  <a:srgbClr val="E6EDF3"/>
                </a:solidFill>
                <a:latin typeface="Courier New"/>
                <a:ea typeface="Courier New"/>
                <a:cs typeface="Courier New"/>
              </a:rPr>
              <a:t>[</a:t>
            </a:r>
            <a:r>
              <a:rPr sz="1050" b="0" i="0">
                <a:solidFill>
                  <a:srgbClr val="9ECBFF"/>
                </a:solidFill>
                <a:latin typeface="Courier New"/>
                <a:ea typeface="Courier New"/>
                <a:cs typeface="Courier New"/>
              </a:rPr>
              <a:t>'inputs'</a:t>
            </a:r>
            <a:r>
              <a:rPr sz="1050" b="0" i="0">
                <a:solidFill>
                  <a:srgbClr val="E6EDF3"/>
                </a:solidFill>
                <a:latin typeface="Courier New"/>
                <a:ea typeface="Courier New"/>
                <a:cs typeface="Courier New"/>
              </a:rPr>
              <a:t>][</a:t>
            </a:r>
            <a:r>
              <a:rPr sz="1050" b="0" i="0">
                <a:solidFill>
                  <a:srgbClr val="FFD28A"/>
                </a:solidFill>
                <a:latin typeface="Courier New"/>
                <a:ea typeface="Courier New"/>
                <a:cs typeface="Courier New"/>
              </a:rPr>
              <a:t>0</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stored</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i0</a:t>
            </a:r>
            <a:r>
              <a:rPr sz="1050" b="0" i="0">
                <a:solidFill>
                  <a:srgbClr val="E6EDF3"/>
                </a:solidFill>
                <a:latin typeface="Courier New"/>
                <a:ea typeface="Courier New"/>
                <a:cs typeface="Courier New"/>
              </a:rPr>
              <a:t>[</a:t>
            </a:r>
            <a:r>
              <a:rPr sz="1050" b="0" i="0">
                <a:solidFill>
                  <a:srgbClr val="9ECBFF"/>
                </a:solidFill>
                <a:latin typeface="Courier New"/>
                <a:ea typeface="Courier New"/>
                <a:cs typeface="Courier New"/>
              </a:rPr>
              <a:t>'txid_internal'</a:t>
            </a:r>
            <a:r>
              <a:rPr sz="1050" b="0" i="0">
                <a:solidFill>
                  <a:srgbClr val="E6EDF3"/>
                </a:solidFill>
                <a:latin typeface="Courier New"/>
                <a:ea typeface="Courier New"/>
                <a:cs typeface="Courier New"/>
              </a:rPr>
              <a:t>]</a:t>
            </a:r>
          </a:p>
        </p:txBody>
      </p:sp>
      <p:sp>
        <p:nvSpPr>
          <p:cNvPr id="29" name="code 5"/>
          <p:cNvSpPr/>
          <p:nvPr/>
        </p:nvSpPr>
        <p:spPr>
          <a:xfrm>
            <a:off x="365760" y="1604772"/>
            <a:ext cx="5166360" cy="40690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shown</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internal_to_display</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stored</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back</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display_to_internal</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shown</a:t>
            </a:r>
            <a:r>
              <a:rPr sz="1050" b="0" i="0">
                <a:solidFill>
                  <a:srgbClr val="E6EDF3"/>
                </a:solidFill>
                <a:latin typeface="Courier New"/>
                <a:ea typeface="Courier New"/>
                <a:cs typeface="Courier New"/>
              </a:rPr>
              <a:t>)</a:t>
            </a:r>
          </a:p>
        </p:txBody>
      </p:sp>
      <p:sp>
        <p:nvSpPr>
          <p:cNvPr id="30" name="code 5"/>
          <p:cNvSpPr/>
          <p:nvPr/>
        </p:nvSpPr>
        <p:spPr>
          <a:xfrm>
            <a:off x="365760" y="2039112"/>
            <a:ext cx="5166360" cy="40690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check</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back</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stored</a:t>
            </a:r>
            <a:r>
              <a:rPr sz="1050" b="0" i="0">
                <a:solidFill>
                  <a:srgbClr val="E6EDF3"/>
                </a:solidFill>
                <a:latin typeface="Courier New"/>
                <a:ea typeface="Courier New"/>
                <a:cs typeface="Courier New"/>
              </a:rPr>
              <a:t> </a:t>
            </a:r>
            <a:r>
              <a:rPr sz="1050" b="1" i="0">
                <a:solidFill>
                  <a:srgbClr val="F2A860"/>
                </a:solidFill>
                <a:latin typeface="Courier New"/>
                <a:ea typeface="Courier New"/>
                <a:cs typeface="Courier New"/>
              </a:rPr>
              <a:t>and</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shown</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PREV</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check</a:t>
            </a:r>
          </a:p>
        </p:txBody>
      </p:sp>
      <p:sp>
        <p:nvSpPr>
          <p:cNvPr id="31" name="result 5"/>
          <p:cNvSpPr/>
          <p:nvPr/>
        </p:nvSpPr>
        <p:spPr>
          <a:xfrm>
            <a:off x="365760" y="2491740"/>
            <a:ext cx="5166360" cy="854049"/>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5"/>
          <p:cNvSpPr txBox="1"/>
          <p:nvPr/>
        </p:nvSpPr>
        <p:spPr>
          <a:xfrm>
            <a:off x="457200" y="2519172"/>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5"/>
          <p:cNvSpPr txBox="1"/>
          <p:nvPr/>
        </p:nvSpPr>
        <p:spPr>
          <a:xfrm>
            <a:off x="457200" y="2628900"/>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stored[:16]</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'eb3ae38f27191aa5'</a:t>
            </a:r>
          </a:p>
        </p:txBody>
      </p:sp>
      <p:sp>
        <p:nvSpPr>
          <p:cNvPr id="34" name="result 5"/>
          <p:cNvSpPr txBox="1"/>
          <p:nvPr/>
        </p:nvSpPr>
        <p:spPr>
          <a:xfrm>
            <a:off x="457200" y="2796794"/>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shown[:16]</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'4ac5418026798669'</a:t>
            </a:r>
          </a:p>
        </p:txBody>
      </p:sp>
      <p:sp>
        <p:nvSpPr>
          <p:cNvPr id="35" name="result 5"/>
          <p:cNvSpPr txBox="1"/>
          <p:nvPr/>
        </p:nvSpPr>
        <p:spPr>
          <a:xfrm>
            <a:off x="457200" y="2964687"/>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check</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True</a:t>
            </a:r>
          </a:p>
        </p:txBody>
      </p:sp>
      <p:sp>
        <p:nvSpPr>
          <p:cNvPr id="36" name="result 5"/>
          <p:cNvSpPr txBox="1"/>
          <p:nvPr/>
        </p:nvSpPr>
        <p:spPr>
          <a:xfrm>
            <a:off x="457200" y="3132581"/>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i0['vout']</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1</a:t>
            </a:r>
          </a:p>
        </p:txBody>
      </p:sp>
      <p:sp>
        <p:nvSpPr>
          <p:cNvPr id="37" name="explanation 5"/>
          <p:cNvSpPr txBox="1"/>
          <p:nvPr/>
        </p:nvSpPr>
        <p:spPr>
          <a:xfrm>
            <a:off x="365760" y="3382365"/>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1-2  </a:t>
            </a:r>
            <a:r>
              <a:rPr sz="1050" b="0" i="0">
                <a:solidFill>
                  <a:srgbClr val="2B2622"/>
                </a:solidFill>
                <a:latin typeface="Calibri"/>
                <a:ea typeface="Calibri"/>
                <a:cs typeface="Calibri"/>
              </a:rPr>
              <a:t>An input names a coin: the txid of an earlier transaction and an output number.</a:t>
            </a:r>
          </a:p>
        </p:txBody>
      </p:sp>
      <p:sp>
        <p:nvSpPr>
          <p:cNvPr id="38" name="explanation 5"/>
          <p:cNvSpPr txBox="1"/>
          <p:nvPr/>
        </p:nvSpPr>
        <p:spPr>
          <a:xfrm>
            <a:off x="365760" y="3775557"/>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3-4  </a:t>
            </a:r>
            <a:r>
              <a:rPr sz="1050" b="0" i="0">
                <a:solidFill>
                  <a:srgbClr val="2B2622"/>
                </a:solidFill>
                <a:latin typeface="Calibri"/>
                <a:ea typeface="Calibri"/>
                <a:cs typeface="Calibri"/>
              </a:rPr>
              <a:t>Explorers print the same 32 bytes in reverse order, and reversing twice restores them.</a:t>
            </a:r>
          </a:p>
        </p:txBody>
      </p:sp>
      <p:sp>
        <p:nvSpPr>
          <p:cNvPr id="39" name="explanation 5"/>
          <p:cNvSpPr txBox="1"/>
          <p:nvPr/>
        </p:nvSpPr>
        <p:spPr>
          <a:xfrm>
            <a:off x="365760" y="4168749"/>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5-6  </a:t>
            </a:r>
            <a:r>
              <a:rPr sz="1050" b="0" i="0">
                <a:solidFill>
                  <a:srgbClr val="2B2622"/>
                </a:solidFill>
                <a:latin typeface="Calibri"/>
                <a:ea typeface="Calibri"/>
                <a:cs typeface="Calibri"/>
              </a:rPr>
              <a:t>The printed form equals the earlier transaction's txid; the index says which output.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Inputs: concepts (3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UTXO database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Remove what is spent, add what is created.</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drawer holding only the banknotes nobody has spent.</a:t>
            </a:r>
            <a:endParaRPr lang="en-US" sz="1150" dirty="0"/>
          </a:p>
        </p:txBody>
      </p:sp>
      <p:sp>
        <p:nvSpPr>
          <p:cNvPr id="10" name="Text 8"/>
          <p:cNvSpPr txBox="1"/>
          <p:nvPr/>
        </p:nvSpPr>
        <p:spPr>
          <a:xfrm>
            <a:off x="640080" y="2217420"/>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Utreexo</a:t>
            </a:r>
            <a:endParaRPr lang="en-US" sz="1000" dirty="0"/>
          </a:p>
        </p:txBody>
      </p:sp>
      <p:sp>
        <p:nvSpPr>
          <p:cNvPr id="11" name="Shape 9"/>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2" name="Shape 10"/>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3" name="Text 11"/>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Digest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32 bytes that identify a transaction.</a:t>
            </a:r>
            <a:endParaRPr lang="en-US" sz="1300" dirty="0"/>
          </a:p>
        </p:txBody>
      </p:sp>
      <p:sp>
        <p:nvSpPr>
          <p:cNvPr id="14" name="Text 12"/>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fingerprint taken from a whole document.</a:t>
            </a:r>
            <a:endParaRPr lang="en-US" sz="1150" dirty="0"/>
          </a:p>
        </p:txBody>
      </p:sp>
      <p:sp>
        <p:nvSpPr>
          <p:cNvPr id="15" name="Shape 13"/>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6" name="Shape 14"/>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Internal byte order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order inside the bytes.</a:t>
            </a:r>
            <a:endParaRPr lang="en-US" sz="1300" dirty="0"/>
          </a:p>
        </p:txBody>
      </p:sp>
      <p:sp>
        <p:nvSpPr>
          <p:cNvPr id="18" name="Text 16"/>
          <p:cNvSpPr txBox="1"/>
          <p:nvPr/>
        </p:nvSpPr>
        <p:spPr>
          <a:xfrm>
            <a:off x="640080"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reading a phone number from its last digit.</a:t>
            </a:r>
            <a:endParaRPr lang="en-US" sz="1150" dirty="0"/>
          </a:p>
        </p:txBody>
      </p:sp>
      <p:sp>
        <p:nvSpPr>
          <p:cNvPr id="19" name="Shape 17"/>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20" name="Shape 18"/>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Display byte order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order on the screen.</a:t>
            </a:r>
            <a:endParaRPr lang="en-US" sz="1300" dirty="0"/>
          </a:p>
        </p:txBody>
      </p:sp>
      <p:sp>
        <p:nvSpPr>
          <p:cNvPr id="22" name="Text 20"/>
          <p:cNvSpPr txBox="1"/>
          <p:nvPr/>
        </p:nvSpPr>
        <p:spPr>
          <a:xfrm>
            <a:off x="4828032"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reading the phone number the usual way round.</a:t>
            </a:r>
            <a:endParaRPr lang="en-US" sz="11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23 / 71</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Spending changes the drawer</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 node keeps only unspent outputs</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One coin out, two coins in: the set always holds exactly the unspent coins</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24 / 71</a:t>
            </a:r>
            <a:endParaRPr lang="en-US" sz="1100" dirty="0"/>
          </a:p>
        </p:txBody>
      </p:sp>
      <p:sp>
        <p:nvSpPr>
          <p:cNvPr id="28" name="before"/>
          <p:cNvSpPr/>
          <p:nvPr/>
        </p:nvSpPr>
        <p:spPr>
          <a:xfrm>
            <a:off x="365760" y="1234440"/>
            <a:ext cx="2468880" cy="1371600"/>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efore title"/>
          <p:cNvSpPr txBox="1"/>
          <p:nvPr/>
        </p:nvSpPr>
        <p:spPr>
          <a:xfrm>
            <a:off x="475488" y="1298448"/>
            <a:ext cx="2286000" cy="182880"/>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Unspent outputs, before</a:t>
            </a:r>
          </a:p>
        </p:txBody>
      </p:sp>
      <p:sp>
        <p:nvSpPr>
          <p:cNvPr id="30" name="coin before"/>
          <p:cNvSpPr/>
          <p:nvPr/>
        </p:nvSpPr>
        <p:spPr>
          <a:xfrm>
            <a:off x="1051560" y="1737360"/>
            <a:ext cx="1097280" cy="512064"/>
          </a:xfrm>
          <a:prstGeom prst="ellipse">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Calibri"/>
                <a:ea typeface="Calibri"/>
                <a:cs typeface="Calibri"/>
              </a:rPr>
              <a:t>100,000</a:t>
            </a:r>
          </a:p>
          <a:p>
            <a:pPr algn="ctr"/>
            <a:r>
              <a:rPr sz="900" b="0" i="0">
                <a:solidFill>
                  <a:srgbClr val="D7E4E0"/>
                </a:solidFill>
                <a:latin typeface="Calibri"/>
                <a:ea typeface="Calibri"/>
                <a:cs typeface="Calibri"/>
              </a:rPr>
              <a:t>satoshis</a:t>
            </a:r>
          </a:p>
        </p:txBody>
      </p:sp>
      <p:sp>
        <p:nvSpPr>
          <p:cNvPr id="31" name="transaction"/>
          <p:cNvSpPr/>
          <p:nvPr/>
        </p:nvSpPr>
        <p:spPr>
          <a:xfrm>
            <a:off x="3337560" y="1234440"/>
            <a:ext cx="2468880" cy="1371600"/>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r>
              <a:rPr sz="1300" b="1" i="0">
                <a:solidFill>
                  <a:srgbClr val="2F6D62"/>
                </a:solidFill>
                <a:latin typeface="Calibri"/>
                <a:ea typeface="Calibri"/>
                <a:cs typeface="Calibri"/>
              </a:rPr>
              <a:t>Alice's transaction</a:t>
            </a:r>
          </a:p>
          <a:p>
            <a:pPr algn="ctr">
              <a:spcAft>
                <a:spcPts val="300"/>
              </a:spcAft>
            </a:pPr>
            <a:r>
              <a:rPr sz="1150" b="0" i="0">
                <a:solidFill>
                  <a:srgbClr val="2B2622"/>
                </a:solidFill>
                <a:latin typeface="Calibri"/>
                <a:ea typeface="Calibri"/>
                <a:cs typeface="Calibri"/>
              </a:rPr>
              <a:t>removes the coin its input names</a:t>
            </a:r>
          </a:p>
          <a:p>
            <a:pPr algn="ctr"/>
            <a:r>
              <a:rPr sz="1150" b="0" i="0">
                <a:solidFill>
                  <a:srgbClr val="2B2622"/>
                </a:solidFill>
                <a:latin typeface="Calibri"/>
                <a:ea typeface="Calibri"/>
                <a:cs typeface="Calibri"/>
              </a:rPr>
              <a:t>adds the two coins its outputs create</a:t>
            </a:r>
          </a:p>
        </p:txBody>
      </p:sp>
      <p:sp>
        <p:nvSpPr>
          <p:cNvPr id="32" name="after"/>
          <p:cNvSpPr/>
          <p:nvPr/>
        </p:nvSpPr>
        <p:spPr>
          <a:xfrm>
            <a:off x="6309360" y="1234440"/>
            <a:ext cx="2468880" cy="1371600"/>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fter title"/>
          <p:cNvSpPr txBox="1"/>
          <p:nvPr/>
        </p:nvSpPr>
        <p:spPr>
          <a:xfrm>
            <a:off x="6419088" y="1298448"/>
            <a:ext cx="2286000" cy="182880"/>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Unspent outputs, after</a:t>
            </a:r>
          </a:p>
        </p:txBody>
      </p:sp>
      <p:sp>
        <p:nvSpPr>
          <p:cNvPr id="34" name="coin after 1"/>
          <p:cNvSpPr/>
          <p:nvPr/>
        </p:nvSpPr>
        <p:spPr>
          <a:xfrm>
            <a:off x="6455664" y="1737360"/>
            <a:ext cx="1097280" cy="512064"/>
          </a:xfrm>
          <a:prstGeom prst="ellipse">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Calibri"/>
                <a:ea typeface="Calibri"/>
                <a:cs typeface="Calibri"/>
              </a:rPr>
              <a:t>20,000</a:t>
            </a:r>
          </a:p>
          <a:p>
            <a:pPr algn="ctr"/>
            <a:r>
              <a:rPr sz="900" b="0" i="0">
                <a:solidFill>
                  <a:srgbClr val="D7E4E0"/>
                </a:solidFill>
                <a:latin typeface="Calibri"/>
                <a:ea typeface="Calibri"/>
                <a:cs typeface="Calibri"/>
              </a:rPr>
              <a:t>satoshis</a:t>
            </a:r>
          </a:p>
        </p:txBody>
      </p:sp>
      <p:sp>
        <p:nvSpPr>
          <p:cNvPr id="35" name="coin after 2"/>
          <p:cNvSpPr/>
          <p:nvPr/>
        </p:nvSpPr>
        <p:spPr>
          <a:xfrm>
            <a:off x="7534656" y="1737360"/>
            <a:ext cx="1097280" cy="512064"/>
          </a:xfrm>
          <a:prstGeom prst="ellipse">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Calibri"/>
                <a:ea typeface="Calibri"/>
                <a:cs typeface="Calibri"/>
              </a:rPr>
              <a:t>75,000</a:t>
            </a:r>
          </a:p>
          <a:p>
            <a:pPr algn="ctr"/>
            <a:r>
              <a:rPr sz="900" b="0" i="0">
                <a:solidFill>
                  <a:srgbClr val="D7E4E0"/>
                </a:solidFill>
                <a:latin typeface="Calibri"/>
                <a:ea typeface="Calibri"/>
                <a:cs typeface="Calibri"/>
              </a:rPr>
              <a:t>satoshis</a:t>
            </a:r>
          </a:p>
        </p:txBody>
      </p:sp>
      <p:cxnSp>
        <p:nvCxnSpPr>
          <p:cNvPr id="36" name="arrow 1"/>
          <p:cNvCxnSpPr/>
          <p:nvPr/>
        </p:nvCxnSpPr>
        <p:spPr>
          <a:xfrm>
            <a:off x="2852928" y="1920240"/>
            <a:ext cx="466344" cy="0"/>
          </a:xfrm>
          <a:prstGeom prst="line">
            <a:avLst/>
          </a:prstGeom>
          <a:ln w="31750">
            <a:solidFill>
              <a:srgbClr val="D97A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2"/>
          <p:cNvCxnSpPr/>
          <p:nvPr/>
        </p:nvCxnSpPr>
        <p:spPr>
          <a:xfrm>
            <a:off x="5824728" y="1920240"/>
            <a:ext cx="466344" cy="0"/>
          </a:xfrm>
          <a:prstGeom prst="line">
            <a:avLst/>
          </a:prstGeom>
          <a:ln w="31750">
            <a:solidFill>
              <a:srgbClr val="D97A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ee"/>
          <p:cNvSpPr/>
          <p:nvPr/>
        </p:nvSpPr>
        <p:spPr>
          <a:xfrm>
            <a:off x="365760" y="2761488"/>
            <a:ext cx="8412480" cy="457200"/>
          </a:xfrm>
          <a:prstGeom prst="roundRect">
            <a:avLst>
              <a:gd name="adj" fmla="val 8000"/>
            </a:avLst>
          </a:prstGeom>
          <a:solidFill>
            <a:srgbClr val="FFFFFF"/>
          </a:solidFill>
          <a:ln w="19050">
            <a:solidFill>
              <a:srgbClr val="D97A1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200" b="1" i="0">
                <a:solidFill>
                  <a:srgbClr val="2B2622"/>
                </a:solidFill>
                <a:latin typeface="Calibri"/>
                <a:ea typeface="Calibri"/>
                <a:cs typeface="Calibri"/>
              </a:rPr>
              <a:t>Left over: 100,000 − 95,000 = 5,000 satoshis, the fee. No field of the transaction states it.</a:t>
            </a:r>
          </a:p>
        </p:txBody>
      </p:sp>
      <p:sp>
        <p:nvSpPr>
          <p:cNvPr id="39" name="reading"/>
          <p:cNvSpPr txBox="1"/>
          <p:nvPr/>
        </p:nvSpPr>
        <p:spPr>
          <a:xfrm>
            <a:off x="365760" y="3346704"/>
            <a:ext cx="8412480" cy="260604"/>
          </a:xfrm>
          <a:prstGeom prst="rect">
            <a:avLst/>
          </a:prstGeom>
          <a:noFill/>
        </p:spPr>
        <p:txBody>
          <a:bodyPr wrap="square" lIns="0" rIns="0" tIns="0" bIns="0" anchor="t">
            <a:spAutoFit/>
          </a:bodyPr>
          <a:lstStyle/>
          <a:p>
            <a:pPr algn="l"/>
            <a:r>
              <a:rPr sz="1350" b="1" i="0">
                <a:solidFill>
                  <a:srgbClr val="D97A14"/>
                </a:solidFill>
                <a:latin typeface="Calibri"/>
                <a:ea typeface="Calibri"/>
                <a:cs typeface="Calibri"/>
              </a:rPr>
              <a:t>▪  </a:t>
            </a:r>
            <a:r>
              <a:rPr sz="1350" b="0" i="0">
                <a:solidFill>
                  <a:srgbClr val="2B2622"/>
                </a:solidFill>
                <a:latin typeface="Calibri"/>
                <a:ea typeface="Calibri"/>
                <a:cs typeface="Calibri"/>
              </a:rPr>
              <a:t>Before the payment the set holds the one coin of 100,000 satoshis that Alice's input names.</a:t>
            </a:r>
          </a:p>
        </p:txBody>
      </p:sp>
      <p:sp>
        <p:nvSpPr>
          <p:cNvPr id="40" name="reading"/>
          <p:cNvSpPr txBox="1"/>
          <p:nvPr/>
        </p:nvSpPr>
        <p:spPr>
          <a:xfrm>
            <a:off x="365760" y="3634740"/>
            <a:ext cx="8412480" cy="260604"/>
          </a:xfrm>
          <a:prstGeom prst="rect">
            <a:avLst/>
          </a:prstGeom>
          <a:noFill/>
        </p:spPr>
        <p:txBody>
          <a:bodyPr wrap="square" lIns="0" rIns="0" tIns="0" bIns="0" anchor="t">
            <a:spAutoFit/>
          </a:bodyPr>
          <a:lstStyle/>
          <a:p>
            <a:pPr algn="l"/>
            <a:r>
              <a:rPr sz="1350" b="1" i="0">
                <a:solidFill>
                  <a:srgbClr val="D97A14"/>
                </a:solidFill>
                <a:latin typeface="Calibri"/>
                <a:ea typeface="Calibri"/>
                <a:cs typeface="Calibri"/>
              </a:rPr>
              <a:t>▪  </a:t>
            </a:r>
            <a:r>
              <a:rPr sz="1350" b="0" i="0">
                <a:solidFill>
                  <a:srgbClr val="2B2622"/>
                </a:solidFill>
                <a:latin typeface="Calibri"/>
                <a:ea typeface="Calibri"/>
                <a:cs typeface="Calibri"/>
              </a:rPr>
              <a:t>The transaction removes that coin and adds the two coins its outputs create.</a:t>
            </a:r>
          </a:p>
        </p:txBody>
      </p:sp>
      <p:sp>
        <p:nvSpPr>
          <p:cNvPr id="41" name="reading"/>
          <p:cNvSpPr txBox="1"/>
          <p:nvPr/>
        </p:nvSpPr>
        <p:spPr>
          <a:xfrm>
            <a:off x="365760" y="3922776"/>
            <a:ext cx="8412480" cy="466344"/>
          </a:xfrm>
          <a:prstGeom prst="rect">
            <a:avLst/>
          </a:prstGeom>
          <a:noFill/>
        </p:spPr>
        <p:txBody>
          <a:bodyPr wrap="square" lIns="0" rIns="0" tIns="0" bIns="0" anchor="t">
            <a:spAutoFit/>
          </a:bodyPr>
          <a:lstStyle/>
          <a:p>
            <a:pPr algn="l"/>
            <a:r>
              <a:rPr sz="1350" b="1" i="0">
                <a:solidFill>
                  <a:srgbClr val="D97A14"/>
                </a:solidFill>
                <a:latin typeface="Calibri"/>
                <a:ea typeface="Calibri"/>
                <a:cs typeface="Calibri"/>
              </a:rPr>
              <a:t>▪  </a:t>
            </a:r>
            <a:r>
              <a:rPr sz="1350" b="0" i="0">
                <a:solidFill>
                  <a:srgbClr val="2B2622"/>
                </a:solidFill>
                <a:latin typeface="Calibri"/>
                <a:ea typeface="Calibri"/>
                <a:cs typeface="Calibri"/>
              </a:rPr>
              <a:t>Think of a drawer of banknotes nobody has spent: you take one out and put two back, and what is missing is the fee.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 spend updates the UTXO set</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Remove what is spent, add what is created</a:t>
            </a:r>
            <a:endParaRPr lang="en-US" sz="13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set of unspent outputs</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914400"/>
                <a:gridCol w="548640"/>
                <a:gridCol w="15087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Coins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Satoshis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Before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100,000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After</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20,000 + 75,000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Left over: fee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5,000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2962656"/>
            <a:ext cx="2971800" cy="42062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fee of 5,000 satoshis is no field; it is 100,000 minus 95,000.</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Nodes keep only unspent outputs; the fee is whatever is left over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25 / 71</a:t>
            </a:r>
            <a:endParaRPr lang="en-US" sz="1100" dirty="0"/>
          </a:p>
        </p:txBody>
      </p:sp>
      <p:sp>
        <p:nvSpPr>
          <p:cNvPr id="28" name="code 6"/>
          <p:cNvSpPr/>
          <p:nvPr/>
        </p:nvSpPr>
        <p:spPr>
          <a:xfrm>
            <a:off x="365760" y="1170432"/>
            <a:ext cx="5166360" cy="549554"/>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prev</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PREV_REC</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'vout'</a:t>
            </a:r>
            <a:r>
              <a:rPr sz="1000" b="0" i="0">
                <a:solidFill>
                  <a:srgbClr val="E6EDF3"/>
                </a:solidFill>
                <a:latin typeface="Courier New"/>
                <a:ea typeface="Courier New"/>
                <a:cs typeface="Courier New"/>
              </a:rPr>
              <a:t>][</a:t>
            </a:r>
            <a:r>
              <a:rPr sz="1000" b="0" i="0">
                <a:solidFill>
                  <a:srgbClr val="FFD28A"/>
                </a:solidFill>
                <a:latin typeface="Courier New"/>
                <a:ea typeface="Courier New"/>
                <a:cs typeface="Courier New"/>
              </a:rPr>
              <a:t>1</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utxo</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txid</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PREV</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1</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prev</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'value'</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before</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sorted</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utxo</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values</a:t>
            </a:r>
            <a:r>
              <a:rPr sz="1000" b="0" i="0">
                <a:solidFill>
                  <a:srgbClr val="E6EDF3"/>
                </a:solidFill>
                <a:latin typeface="Courier New"/>
                <a:ea typeface="Courier New"/>
                <a:cs typeface="Courier New"/>
              </a:rPr>
              <a:t>())</a:t>
            </a:r>
          </a:p>
        </p:txBody>
      </p:sp>
      <p:sp>
        <p:nvSpPr>
          <p:cNvPr id="29" name="code 6"/>
          <p:cNvSpPr/>
          <p:nvPr/>
        </p:nvSpPr>
        <p:spPr>
          <a:xfrm>
            <a:off x="365760" y="1747418"/>
            <a:ext cx="5166360" cy="707745"/>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1" i="0">
                <a:solidFill>
                  <a:srgbClr val="F2A860"/>
                </a:solidFill>
                <a:latin typeface="Courier New"/>
                <a:ea typeface="Courier New"/>
                <a:cs typeface="Courier New"/>
              </a:rPr>
              <a:t>for</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i</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in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tx</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'inputs'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del</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utxo</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i</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'txid'</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i</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'vout'</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t</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outs</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txid</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ALICE</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tx</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'outputs'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utxo</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t</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o</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'value'</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for</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o</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in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enumerate</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outs</a:t>
            </a:r>
            <a:r>
              <a:rPr sz="1000" b="0" i="0">
                <a:solidFill>
                  <a:srgbClr val="E6EDF3"/>
                </a:solidFill>
                <a:latin typeface="Courier New"/>
                <a:ea typeface="Courier New"/>
                <a:cs typeface="Courier New"/>
              </a:rPr>
              <a:t>)}</a:t>
            </a:r>
          </a:p>
        </p:txBody>
      </p:sp>
      <p:sp>
        <p:nvSpPr>
          <p:cNvPr id="30" name="code 6"/>
          <p:cNvSpPr/>
          <p:nvPr/>
        </p:nvSpPr>
        <p:spPr>
          <a:xfrm>
            <a:off x="365760" y="2482596"/>
            <a:ext cx="5166360" cy="39044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fee</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sum</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before</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sum</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utxo</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values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fee</a:t>
            </a:r>
          </a:p>
        </p:txBody>
      </p:sp>
      <p:sp>
        <p:nvSpPr>
          <p:cNvPr id="31" name="result 6"/>
          <p:cNvSpPr/>
          <p:nvPr/>
        </p:nvSpPr>
        <p:spPr>
          <a:xfrm>
            <a:off x="365760" y="2918764"/>
            <a:ext cx="5166360" cy="672084"/>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6"/>
          <p:cNvSpPr txBox="1"/>
          <p:nvPr/>
        </p:nvSpPr>
        <p:spPr>
          <a:xfrm>
            <a:off x="457200" y="294619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6"/>
          <p:cNvSpPr txBox="1"/>
          <p:nvPr/>
        </p:nvSpPr>
        <p:spPr>
          <a:xfrm>
            <a:off x="457200" y="3055924"/>
            <a:ext cx="4983480" cy="159956"/>
          </a:xfrm>
          <a:prstGeom prst="rect">
            <a:avLst/>
          </a:prstGeom>
          <a:noFill/>
        </p:spPr>
        <p:txBody>
          <a:bodyPr wrap="square" lIns="0" rIns="0" tIns="0" bIns="0" anchor="t">
            <a:spAutoFit/>
          </a:bodyPr>
          <a:lstStyle/>
          <a:p>
            <a:pPr algn="l"/>
            <a:r>
              <a:rPr sz="950" b="0" i="0">
                <a:solidFill>
                  <a:srgbClr val="6E655C"/>
                </a:solidFill>
                <a:latin typeface="Courier New"/>
                <a:ea typeface="Courier New"/>
                <a:cs typeface="Courier New"/>
              </a:rPr>
              <a:t>before</a:t>
            </a:r>
            <a:r>
              <a:rPr sz="950" b="1" i="0">
                <a:solidFill>
                  <a:srgbClr val="D97A14"/>
                </a:solidFill>
                <a:latin typeface="Courier New"/>
                <a:ea typeface="Courier New"/>
                <a:cs typeface="Courier New"/>
              </a:rPr>
              <a:t>  →  </a:t>
            </a:r>
            <a:r>
              <a:rPr sz="950" b="1" i="0">
                <a:solidFill>
                  <a:srgbClr val="2B2622"/>
                </a:solidFill>
                <a:latin typeface="Courier New"/>
                <a:ea typeface="Courier New"/>
                <a:cs typeface="Courier New"/>
              </a:rPr>
              <a:t>[100000]</a:t>
            </a:r>
          </a:p>
        </p:txBody>
      </p:sp>
      <p:sp>
        <p:nvSpPr>
          <p:cNvPr id="34" name="result 6"/>
          <p:cNvSpPr txBox="1"/>
          <p:nvPr/>
        </p:nvSpPr>
        <p:spPr>
          <a:xfrm>
            <a:off x="457200" y="3215881"/>
            <a:ext cx="4983480" cy="159956"/>
          </a:xfrm>
          <a:prstGeom prst="rect">
            <a:avLst/>
          </a:prstGeom>
          <a:noFill/>
        </p:spPr>
        <p:txBody>
          <a:bodyPr wrap="square" lIns="0" rIns="0" tIns="0" bIns="0" anchor="t">
            <a:spAutoFit/>
          </a:bodyPr>
          <a:lstStyle/>
          <a:p>
            <a:pPr algn="l"/>
            <a:r>
              <a:rPr sz="950" b="0" i="0">
                <a:solidFill>
                  <a:srgbClr val="6E655C"/>
                </a:solidFill>
                <a:latin typeface="Courier New"/>
                <a:ea typeface="Courier New"/>
                <a:cs typeface="Courier New"/>
              </a:rPr>
              <a:t>sorted(utxo.values())</a:t>
            </a:r>
            <a:r>
              <a:rPr sz="950" b="1" i="0">
                <a:solidFill>
                  <a:srgbClr val="D97A14"/>
                </a:solidFill>
                <a:latin typeface="Courier New"/>
                <a:ea typeface="Courier New"/>
                <a:cs typeface="Courier New"/>
              </a:rPr>
              <a:t>  →  </a:t>
            </a:r>
            <a:r>
              <a:rPr sz="950" b="1" i="0">
                <a:solidFill>
                  <a:srgbClr val="2B2622"/>
                </a:solidFill>
                <a:latin typeface="Courier New"/>
                <a:ea typeface="Courier New"/>
                <a:cs typeface="Courier New"/>
              </a:rPr>
              <a:t>[20000, 75000]</a:t>
            </a:r>
          </a:p>
        </p:txBody>
      </p:sp>
      <p:sp>
        <p:nvSpPr>
          <p:cNvPr id="35" name="result 6"/>
          <p:cNvSpPr txBox="1"/>
          <p:nvPr/>
        </p:nvSpPr>
        <p:spPr>
          <a:xfrm>
            <a:off x="457200" y="3375837"/>
            <a:ext cx="4983480" cy="159956"/>
          </a:xfrm>
          <a:prstGeom prst="rect">
            <a:avLst/>
          </a:prstGeom>
          <a:noFill/>
        </p:spPr>
        <p:txBody>
          <a:bodyPr wrap="square" lIns="0" rIns="0" tIns="0" bIns="0" anchor="t">
            <a:spAutoFit/>
          </a:bodyPr>
          <a:lstStyle/>
          <a:p>
            <a:pPr algn="l"/>
            <a:r>
              <a:rPr sz="950" b="0" i="0">
                <a:solidFill>
                  <a:srgbClr val="6E655C"/>
                </a:solidFill>
                <a:latin typeface="Courier New"/>
                <a:ea typeface="Courier New"/>
                <a:cs typeface="Courier New"/>
              </a:rPr>
              <a:t>fee</a:t>
            </a:r>
            <a:r>
              <a:rPr sz="950" b="1" i="0">
                <a:solidFill>
                  <a:srgbClr val="D97A14"/>
                </a:solidFill>
                <a:latin typeface="Courier New"/>
                <a:ea typeface="Courier New"/>
                <a:cs typeface="Courier New"/>
              </a:rPr>
              <a:t>  →  </a:t>
            </a:r>
            <a:r>
              <a:rPr sz="950" b="1" i="0">
                <a:solidFill>
                  <a:srgbClr val="2B2622"/>
                </a:solidFill>
                <a:latin typeface="Courier New"/>
                <a:ea typeface="Courier New"/>
                <a:cs typeface="Courier New"/>
              </a:rPr>
              <a:t>5000</a:t>
            </a:r>
          </a:p>
        </p:txBody>
      </p:sp>
      <p:sp>
        <p:nvSpPr>
          <p:cNvPr id="36" name="explanation 6"/>
          <p:cNvSpPr txBox="1"/>
          <p:nvPr/>
        </p:nvSpPr>
        <p:spPr>
          <a:xfrm>
            <a:off x="365760" y="3627424"/>
            <a:ext cx="5166360" cy="217932"/>
          </a:xfrm>
          <a:prstGeom prst="rect">
            <a:avLst/>
          </a:prstGeom>
          <a:noFill/>
        </p:spPr>
        <p:txBody>
          <a:bodyPr wrap="square" lIns="0" rIns="0" tIns="0" bIns="0" anchor="t">
            <a:spAutoFit/>
          </a:bodyPr>
          <a:lstStyle/>
          <a:p>
            <a:pPr algn="l"/>
            <a:r>
              <a:rPr sz="950" b="1" i="0">
                <a:solidFill>
                  <a:srgbClr val="D97A14"/>
                </a:solidFill>
                <a:latin typeface="Calibri"/>
                <a:ea typeface="Calibri"/>
                <a:cs typeface="Calibri"/>
              </a:rPr>
              <a:t>Lines 1-3  </a:t>
            </a:r>
            <a:r>
              <a:rPr sz="950" b="0" i="0">
                <a:solidFill>
                  <a:srgbClr val="2B2622"/>
                </a:solidFill>
                <a:latin typeface="Calibri"/>
                <a:ea typeface="Calibri"/>
                <a:cs typeface="Calibri"/>
              </a:rPr>
              <a:t>Before the payment the set holds the one coin Alice spends.</a:t>
            </a:r>
          </a:p>
        </p:txBody>
      </p:sp>
      <p:sp>
        <p:nvSpPr>
          <p:cNvPr id="37" name="explanation 6"/>
          <p:cNvSpPr txBox="1"/>
          <p:nvPr/>
        </p:nvSpPr>
        <p:spPr>
          <a:xfrm>
            <a:off x="365760" y="3845356"/>
            <a:ext cx="5166360" cy="217932"/>
          </a:xfrm>
          <a:prstGeom prst="rect">
            <a:avLst/>
          </a:prstGeom>
          <a:noFill/>
        </p:spPr>
        <p:txBody>
          <a:bodyPr wrap="square" lIns="0" rIns="0" tIns="0" bIns="0" anchor="t">
            <a:spAutoFit/>
          </a:bodyPr>
          <a:lstStyle/>
          <a:p>
            <a:pPr algn="l"/>
            <a:r>
              <a:rPr sz="950" b="1" i="0">
                <a:solidFill>
                  <a:srgbClr val="D97A14"/>
                </a:solidFill>
                <a:latin typeface="Calibri"/>
                <a:ea typeface="Calibri"/>
                <a:cs typeface="Calibri"/>
              </a:rPr>
              <a:t>Lines 4-7  </a:t>
            </a:r>
            <a:r>
              <a:rPr sz="950" b="0" i="0">
                <a:solidFill>
                  <a:srgbClr val="2B2622"/>
                </a:solidFill>
                <a:latin typeface="Calibri"/>
                <a:ea typeface="Calibri"/>
                <a:cs typeface="Calibri"/>
              </a:rPr>
              <a:t>Each input removes the coin it names; each output adds a new coin.</a:t>
            </a:r>
          </a:p>
        </p:txBody>
      </p:sp>
      <p:sp>
        <p:nvSpPr>
          <p:cNvPr id="38" name="explanation 6"/>
          <p:cNvSpPr txBox="1"/>
          <p:nvPr/>
        </p:nvSpPr>
        <p:spPr>
          <a:xfrm>
            <a:off x="365760" y="4063288"/>
            <a:ext cx="5166360" cy="217932"/>
          </a:xfrm>
          <a:prstGeom prst="rect">
            <a:avLst/>
          </a:prstGeom>
          <a:noFill/>
        </p:spPr>
        <p:txBody>
          <a:bodyPr wrap="square" lIns="0" rIns="0" tIns="0" bIns="0" anchor="t">
            <a:spAutoFit/>
          </a:bodyPr>
          <a:lstStyle/>
          <a:p>
            <a:pPr algn="l"/>
            <a:r>
              <a:rPr sz="950" b="1" i="0">
                <a:solidFill>
                  <a:srgbClr val="D97A14"/>
                </a:solidFill>
                <a:latin typeface="Calibri"/>
                <a:ea typeface="Calibri"/>
                <a:cs typeface="Calibri"/>
              </a:rPr>
              <a:t>Lines 8-9  </a:t>
            </a:r>
            <a:r>
              <a:rPr sz="950" b="0" i="0">
                <a:solidFill>
                  <a:srgbClr val="2B2622"/>
                </a:solidFill>
                <a:latin typeface="Calibri"/>
                <a:ea typeface="Calibri"/>
                <a:cs typeface="Calibri"/>
              </a:rPr>
              <a:t>What is left over is the fee; no field of the transaction states it.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10,000 bitcoins for two pizzas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most famous purchase ever made with bitcoin</a:t>
            </a:r>
            <a:endParaRPr lang="en-US" sz="1300" dirty="0"/>
          </a:p>
        </p:txBody>
      </p:sp>
      <p:pic>
        <p:nvPicPr>
          <p:cNvPr id="6" name="Image 0" descr="../../03-materials/ch06/assets/photo_papa_johns_jacksonville.jpg">    </p:cNvPr>
          <p:cNvPicPr>
            <a:picLocks noChangeAspect="1"/>
          </p:cNvPicPr>
          <p:nvPr/>
        </p:nvPicPr>
        <p:blipFill>
          <a:blip r:embed="rId1"/>
          <a:srcRect l="0" r="0" t="0" b="0"/>
          <a:stretch/>
        </p:blipFill>
        <p:spPr>
          <a:xfrm>
            <a:off x="457200" y="1280160"/>
            <a:ext cx="2377440" cy="2331720"/>
          </a:xfrm>
          <a:prstGeom prst="rect">
            <a:avLst/>
          </a:prstGeom>
        </p:spPr>
      </p:pic>
      <p:sp>
        <p:nvSpPr>
          <p:cNvPr id="7" name="Text 4"/>
          <p:cNvSpPr txBox="1"/>
          <p:nvPr/>
        </p:nvSpPr>
        <p:spPr>
          <a:xfrm>
            <a:off x="457200" y="3630168"/>
            <a:ext cx="237744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Papa John's plaque - Sanjev Rajaram, CC0</a:t>
            </a:r>
            <a:endParaRPr lang="en-US" sz="900" dirty="0"/>
          </a:p>
        </p:txBody>
      </p:sp>
      <p:sp>
        <p:nvSpPr>
          <p:cNvPr id="22" name="Shape 19"/>
          <p:cNvSpPr/>
          <p:nvPr/>
        </p:nvSpPr>
        <p:spPr>
          <a:xfrm>
            <a:off x="3108960" y="4114800"/>
            <a:ext cx="5669280" cy="365760"/>
          </a:xfrm>
          <a:prstGeom prst="roundRect">
            <a:avLst>
              <a:gd name="adj" fmla="val 50000"/>
            </a:avLst>
          </a:prstGeom>
          <a:solidFill>
            <a:srgbClr val="2F6D62"/>
          </a:solidFill>
          <a:ln w="9525">
            <a:solidFill>
              <a:srgbClr val="2F6D62"/>
            </a:solidFill>
            <a:prstDash val="solid"/>
          </a:ln>
        </p:spPr>
        <p:txBody>
          <a:bodyPr/>
          <a:p/>
        </p:txBody>
      </p:sp>
      <p:sp>
        <p:nvSpPr>
          <p:cNvPr id="23" name="Text 20"/>
          <p:cNvSpPr txBox="1"/>
          <p:nvPr/>
        </p:nvSpPr>
        <p:spPr>
          <a:xfrm>
            <a:off x="3200400" y="4114800"/>
            <a:ext cx="5486400"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Pizza for bitcoins? (bitcointalk thread)</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bitcointalk.org</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26 / 71</a:t>
            </a:r>
            <a:endParaRPr lang="en-US" sz="1100" dirty="0"/>
          </a:p>
        </p:txBody>
      </p:sp>
      <p:sp>
        <p:nvSpPr>
          <p:cNvPr id="25" name="story"/>
          <p:cNvSpPr txBox="1"/>
          <p:nvPr/>
        </p:nvSpPr>
        <p:spPr>
          <a:xfrm>
            <a:off x="3108960" y="1216152"/>
            <a:ext cx="5669280" cy="146304"/>
          </a:xfrm>
          <a:prstGeom prst="rect">
            <a:avLst/>
          </a:prstGeom>
          <a:noFill/>
        </p:spPr>
        <p:txBody>
          <a:bodyPr wrap="square" lIns="0" rIns="0" tIns="0" bIns="0" anchor="t">
            <a:spAutoFit/>
          </a:bodyPr>
          <a:lstStyle/>
          <a:p>
            <a:pPr algn="l"/>
            <a:r>
              <a:rPr sz="1100" b="1" i="0">
                <a:solidFill>
                  <a:srgbClr val="D97A14"/>
                </a:solidFill>
                <a:latin typeface="Calibri"/>
                <a:ea typeface="Calibri"/>
                <a:cs typeface="Calibri"/>
              </a:rPr>
              <a:t>22 May 2010 · Jacksonville, Florida · block 57,043</a:t>
            </a:r>
          </a:p>
        </p:txBody>
      </p:sp>
      <p:sp>
        <p:nvSpPr>
          <p:cNvPr id="26" name="story"/>
          <p:cNvSpPr txBox="1"/>
          <p:nvPr/>
        </p:nvSpPr>
        <p:spPr>
          <a:xfrm>
            <a:off x="3108960" y="1408176"/>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On 18 May 2010 the programmer Laszlo Hanyecz offered 10,000 bitcoins on the bitcointalk forum to anyone who would send him two pizzas.</a:t>
            </a:r>
          </a:p>
        </p:txBody>
      </p:sp>
      <p:sp>
        <p:nvSpPr>
          <p:cNvPr id="27" name="story"/>
          <p:cNvSpPr txBox="1"/>
          <p:nvPr/>
        </p:nvSpPr>
        <p:spPr>
          <a:xfrm>
            <a:off x="3108960" y="1837944"/>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Four days later he reported that the deal was done: the forum user jercos had ordered them from a Papa John's on Atlantic Avenue.</a:t>
            </a:r>
          </a:p>
        </p:txBody>
      </p:sp>
      <p:sp>
        <p:nvSpPr>
          <p:cNvPr id="28" name="story"/>
          <p:cNvSpPr txBox="1"/>
          <p:nvPr/>
        </p:nvSpPr>
        <p:spPr>
          <a:xfrm>
            <a:off x="3108960" y="2267712"/>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The payment confirmed in block 57,043 with 131 inputs, because his wallet had gathered mining rewards of 50 BTC each, and one output of 10,000 BTC.</a:t>
            </a:r>
          </a:p>
        </p:txBody>
      </p:sp>
      <p:sp>
        <p:nvSpPr>
          <p:cNvPr id="29" name="story"/>
          <p:cNvSpPr txBox="1"/>
          <p:nvPr/>
        </p:nvSpPr>
        <p:spPr>
          <a:xfrm>
            <a:off x="3108960" y="2697480"/>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The remaining 0.99 BTC was the fee, and the community still marks 22 May as Pizza Day.</a:t>
            </a:r>
          </a:p>
        </p:txBody>
      </p:sp>
      <p:sp>
        <p:nvSpPr>
          <p:cNvPr id="30" name="lesson"/>
          <p:cNvSpPr/>
          <p:nvPr/>
        </p:nvSpPr>
        <p:spPr>
          <a:xfrm>
            <a:off x="3108960" y="3575304"/>
            <a:ext cx="5669280" cy="493776"/>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B2622"/>
                </a:solidFill>
                <a:latin typeface="Calibri"/>
                <a:ea typeface="Calibri"/>
                <a:cs typeface="Calibri"/>
              </a:rPr>
              <a:t>An input count of 131 is what a one-output payment can look like: a wallet must list every coin it spends.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Inputs: concepts (4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Input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107 bytes for a legacy spend, 0 for segwit.</a:t>
            </a:r>
            <a:endParaRPr lang="en-US" sz="1300" dirty="0"/>
          </a:p>
        </p:txBody>
      </p:sp>
      <p:sp>
        <p:nvSpPr>
          <p:cNvPr id="9" name="Text 7"/>
          <p:cNvSpPr txBox="1"/>
          <p:nvPr/>
        </p:nvSpPr>
        <p:spPr>
          <a:xfrm>
            <a:off x="640080" y="1805940"/>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key you hand over at the door.</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 length prefix</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0x6b says 107 bytes follow.</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label on a box saying how many items it holds.</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27 / 71</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The sequence field</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The sequence field is a booth ticket whose meaning changed three times.</a:t>
            </a:r>
            <a:endParaRPr lang="en-US" sz="1500" dirty="0"/>
          </a:p>
        </p:txBody>
      </p:sp>
      <p:sp>
        <p:nvSpPr>
          <p:cNvPr id="6" name="Shape 4"/>
          <p:cNvSpPr/>
          <p:nvPr/>
        </p:nvSpPr>
        <p:spPr>
          <a:xfrm>
            <a:off x="777240" y="2103120"/>
            <a:ext cx="249936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Sequence replacement</a:t>
            </a:r>
            <a:endParaRPr lang="en-US" sz="1200" dirty="0"/>
          </a:p>
        </p:txBody>
      </p:sp>
      <p:sp>
        <p:nvSpPr>
          <p:cNvPr id="8" name="Text 6"/>
          <p:cNvSpPr txBox="1"/>
          <p:nvPr/>
        </p:nvSpPr>
        <p:spPr>
          <a:xfrm>
            <a:off x="777240" y="2487168"/>
            <a:ext cx="2499360" cy="571500"/>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first use of the field: replace an unfinished transaction.</a:t>
            </a:r>
            <a:endParaRPr lang="en-US" sz="1150" dirty="0"/>
          </a:p>
        </p:txBody>
      </p:sp>
      <p:sp>
        <p:nvSpPr>
          <p:cNvPr id="9" name="Text 7"/>
          <p:cNvSpPr txBox="1"/>
          <p:nvPr/>
        </p:nvSpPr>
        <p:spPr>
          <a:xfrm>
            <a:off x="777240" y="3086100"/>
            <a:ext cx="2499360"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order slip you can reissue until the kitchen closes.</a:t>
            </a:r>
            <a:endParaRPr lang="en-US" sz="1150" dirty="0"/>
          </a:p>
        </p:txBody>
      </p:sp>
      <p:sp>
        <p:nvSpPr>
          <p:cNvPr id="10" name="Shape 8"/>
          <p:cNvSpPr/>
          <p:nvPr/>
        </p:nvSpPr>
        <p:spPr>
          <a:xfrm>
            <a:off x="3459480" y="2103120"/>
            <a:ext cx="249936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353263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Opt-in replace-by-fee</a:t>
            </a:r>
            <a:endParaRPr lang="en-US" sz="1200" dirty="0"/>
          </a:p>
        </p:txBody>
      </p:sp>
      <p:sp>
        <p:nvSpPr>
          <p:cNvPr id="12" name="Text 10"/>
          <p:cNvSpPr txBox="1"/>
          <p:nvPr/>
        </p:nvSpPr>
        <p:spPr>
          <a:xfrm>
            <a:off x="3459480" y="2487168"/>
            <a:ext cx="249936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A later transaction that pays more replaces an earlier one.</a:t>
            </a:r>
            <a:endParaRPr lang="en-US" sz="1150" dirty="0"/>
          </a:p>
        </p:txBody>
      </p:sp>
      <p:sp>
        <p:nvSpPr>
          <p:cNvPr id="13" name="Text 11"/>
          <p:cNvSpPr txBox="1"/>
          <p:nvPr/>
        </p:nvSpPr>
        <p:spPr>
          <a:xfrm>
            <a:off x="3459480" y="2907792"/>
            <a:ext cx="249936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outbidding someone at an auction.</a:t>
            </a:r>
            <a:endParaRPr lang="en-US" sz="1150" dirty="0"/>
          </a:p>
        </p:txBody>
      </p:sp>
      <p:sp>
        <p:nvSpPr>
          <p:cNvPr id="14" name="Shape 12"/>
          <p:cNvSpPr/>
          <p:nvPr/>
        </p:nvSpPr>
        <p:spPr>
          <a:xfrm>
            <a:off x="6141720" y="2103120"/>
            <a:ext cx="2499360" cy="310896"/>
          </a:xfrm>
          <a:prstGeom prst="roundRect">
            <a:avLst>
              <a:gd name="adj" fmla="val 50000"/>
            </a:avLst>
          </a:prstGeom>
          <a:solidFill>
            <a:srgbClr val="D97A14"/>
          </a:solidFill>
          <a:ln w="12700">
            <a:solidFill>
              <a:srgbClr val="D97A14"/>
            </a:solidFill>
            <a:prstDash val="solid"/>
          </a:ln>
        </p:spPr>
        <p:txBody>
          <a:bodyPr/>
          <a:p/>
        </p:txBody>
      </p:sp>
      <p:sp>
        <p:nvSpPr>
          <p:cNvPr id="15" name="Text 13"/>
          <p:cNvSpPr txBox="1"/>
          <p:nvPr/>
        </p:nvSpPr>
        <p:spPr>
          <a:xfrm>
            <a:off x="621487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Relative timelock</a:t>
            </a:r>
            <a:endParaRPr lang="en-US" sz="1200" dirty="0"/>
          </a:p>
        </p:txBody>
      </p:sp>
      <p:sp>
        <p:nvSpPr>
          <p:cNvPr id="16" name="Text 14"/>
          <p:cNvSpPr txBox="1"/>
          <p:nvPr/>
        </p:nvSpPr>
        <p:spPr>
          <a:xfrm>
            <a:off x="6141720" y="2487168"/>
            <a:ext cx="2499360" cy="571500"/>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A coin that cannot be spent until some time after it arrived.</a:t>
            </a:r>
            <a:endParaRPr lang="en-US" sz="1150" dirty="0"/>
          </a:p>
        </p:txBody>
      </p:sp>
      <p:sp>
        <p:nvSpPr>
          <p:cNvPr id="17" name="Text 15"/>
          <p:cNvSpPr txBox="1"/>
          <p:nvPr/>
        </p:nvSpPr>
        <p:spPr>
          <a:xfrm>
            <a:off x="6141720" y="3086100"/>
            <a:ext cx="249936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gift card that activates a week after purchase.</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Inputs: sequence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9" name="Text 16"/>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28 / 71</a:t>
            </a:r>
            <a:endParaRPr lang="en-US" sz="11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32 bits of the sequence field</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Where the flags and the value live</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Bit 31 switches the relative timelock off; bit 22 picks its unit</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29 / 71</a:t>
            </a:r>
            <a:endParaRPr lang="en-US" sz="1100" dirty="0"/>
          </a:p>
        </p:txBody>
      </p:sp>
      <p:sp>
        <p:nvSpPr>
          <p:cNvPr id="28" name="bits 31"/>
          <p:cNvSpPr/>
          <p:nvPr/>
        </p:nvSpPr>
        <p:spPr>
          <a:xfrm>
            <a:off x="365760" y="1627632"/>
            <a:ext cx="262890" cy="365760"/>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its 30–23"/>
          <p:cNvSpPr/>
          <p:nvPr/>
        </p:nvSpPr>
        <p:spPr>
          <a:xfrm>
            <a:off x="628650" y="1627632"/>
            <a:ext cx="2103120" cy="365760"/>
          </a:xfrm>
          <a:prstGeom prst="rect">
            <a:avLst/>
          </a:prstGeom>
          <a:solidFill>
            <a:srgbClr val="EFE9D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6E655C"/>
                </a:solidFill>
                <a:latin typeface="Calibri"/>
                <a:ea typeface="Calibri"/>
                <a:cs typeface="Calibri"/>
              </a:rPr>
              <a:t>unused</a:t>
            </a:r>
          </a:p>
        </p:txBody>
      </p:sp>
      <p:sp>
        <p:nvSpPr>
          <p:cNvPr id="30" name="bits 22"/>
          <p:cNvSpPr/>
          <p:nvPr/>
        </p:nvSpPr>
        <p:spPr>
          <a:xfrm>
            <a:off x="2731770" y="1627632"/>
            <a:ext cx="262890" cy="365760"/>
          </a:xfrm>
          <a:prstGeom prst="rect">
            <a:avLst/>
          </a:prstGeom>
          <a:solidFill>
            <a:srgbClr val="F2A86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its 21–16"/>
          <p:cNvSpPr/>
          <p:nvPr/>
        </p:nvSpPr>
        <p:spPr>
          <a:xfrm>
            <a:off x="2994660" y="1627632"/>
            <a:ext cx="1577340" cy="365760"/>
          </a:xfrm>
          <a:prstGeom prst="rect">
            <a:avLst/>
          </a:prstGeom>
          <a:solidFill>
            <a:srgbClr val="EFE9D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6E655C"/>
                </a:solidFill>
                <a:latin typeface="Calibri"/>
                <a:ea typeface="Calibri"/>
                <a:cs typeface="Calibri"/>
              </a:rPr>
              <a:t>unused</a:t>
            </a:r>
          </a:p>
        </p:txBody>
      </p:sp>
      <p:sp>
        <p:nvSpPr>
          <p:cNvPr id="32" name="bits 15–0"/>
          <p:cNvSpPr/>
          <p:nvPr/>
        </p:nvSpPr>
        <p:spPr>
          <a:xfrm>
            <a:off x="4572000" y="1627632"/>
            <a:ext cx="4206240" cy="365760"/>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the value</a:t>
            </a:r>
          </a:p>
        </p:txBody>
      </p:sp>
      <p:sp>
        <p:nvSpPr>
          <p:cNvPr id="33" name="bit label 31"/>
          <p:cNvSpPr txBox="1"/>
          <p:nvPr/>
        </p:nvSpPr>
        <p:spPr>
          <a:xfrm>
            <a:off x="365760" y="1225296"/>
            <a:ext cx="2011680" cy="310896"/>
          </a:xfrm>
          <a:prstGeom prst="rect">
            <a:avLst/>
          </a:prstGeom>
          <a:noFill/>
        </p:spPr>
        <p:txBody>
          <a:bodyPr wrap="square" lIns="0" rIns="0" tIns="0" bIns="0" anchor="t">
            <a:spAutoFit/>
          </a:bodyPr>
          <a:lstStyle/>
          <a:p>
            <a:pPr algn="l"/>
            <a:r>
              <a:rPr sz="1100" b="1" i="0">
                <a:solidFill>
                  <a:srgbClr val="D97A14"/>
                </a:solidFill>
                <a:latin typeface="Calibri"/>
                <a:ea typeface="Calibri"/>
                <a:cs typeface="Calibri"/>
              </a:rPr>
              <a:t>bit 31: the disable flag</a:t>
            </a:r>
          </a:p>
          <a:p>
            <a:pPr algn="l"/>
            <a:r>
              <a:rPr sz="1000" b="0" i="0">
                <a:solidFill>
                  <a:srgbClr val="6E655C"/>
                </a:solidFill>
                <a:latin typeface="Calibri"/>
                <a:ea typeface="Calibri"/>
                <a:cs typeface="Calibri"/>
              </a:rPr>
              <a:t>set: no relative timelock</a:t>
            </a:r>
          </a:p>
        </p:txBody>
      </p:sp>
      <p:cxnSp>
        <p:nvCxnSpPr>
          <p:cNvPr id="34" name="tick 31"/>
          <p:cNvCxnSpPr/>
          <p:nvPr/>
        </p:nvCxnSpPr>
        <p:spPr>
          <a:xfrm>
            <a:off x="493776" y="1536192"/>
            <a:ext cx="0" cy="91440"/>
          </a:xfrm>
          <a:prstGeom prst="line">
            <a:avLst/>
          </a:prstGeom>
          <a:ln w="9525">
            <a:solidFill>
              <a:srgbClr val="6E655C"/>
            </a:solidFill>
          </a:ln>
        </p:spPr>
        <p:style>
          <a:lnRef idx="2">
            <a:schemeClr val="accent1"/>
          </a:lnRef>
          <a:fillRef idx="0">
            <a:schemeClr val="accent1"/>
          </a:fillRef>
          <a:effectRef idx="1">
            <a:schemeClr val="accent1"/>
          </a:effectRef>
          <a:fontRef idx="minor">
            <a:schemeClr val="tx1"/>
          </a:fontRef>
        </p:style>
      </p:cxnSp>
      <p:sp>
        <p:nvSpPr>
          <p:cNvPr id="35" name="bit label 22"/>
          <p:cNvSpPr txBox="1"/>
          <p:nvPr/>
        </p:nvSpPr>
        <p:spPr>
          <a:xfrm>
            <a:off x="2640330" y="1225296"/>
            <a:ext cx="2194560" cy="310896"/>
          </a:xfrm>
          <a:prstGeom prst="rect">
            <a:avLst/>
          </a:prstGeom>
          <a:noFill/>
        </p:spPr>
        <p:txBody>
          <a:bodyPr wrap="square" lIns="0" rIns="0" tIns="0" bIns="0" anchor="t">
            <a:spAutoFit/>
          </a:bodyPr>
          <a:lstStyle/>
          <a:p>
            <a:pPr algn="l"/>
            <a:r>
              <a:rPr sz="1100" b="1" i="0">
                <a:solidFill>
                  <a:srgbClr val="B5651D"/>
                </a:solidFill>
                <a:latin typeface="Calibri"/>
                <a:ea typeface="Calibri"/>
                <a:cs typeface="Calibri"/>
              </a:rPr>
              <a:t>bit 22: the type flag</a:t>
            </a:r>
          </a:p>
          <a:p>
            <a:pPr algn="l"/>
            <a:r>
              <a:rPr sz="1000" b="0" i="0">
                <a:solidFill>
                  <a:srgbClr val="6E655C"/>
                </a:solidFill>
                <a:latin typeface="Calibri"/>
                <a:ea typeface="Calibri"/>
                <a:cs typeface="Calibri"/>
              </a:rPr>
              <a:t>0: blocks, 1: units of 512 seconds</a:t>
            </a:r>
          </a:p>
        </p:txBody>
      </p:sp>
      <p:cxnSp>
        <p:nvCxnSpPr>
          <p:cNvPr id="36" name="tick 22"/>
          <p:cNvCxnSpPr/>
          <p:nvPr/>
        </p:nvCxnSpPr>
        <p:spPr>
          <a:xfrm>
            <a:off x="2859786" y="1536192"/>
            <a:ext cx="0" cy="91440"/>
          </a:xfrm>
          <a:prstGeom prst="line">
            <a:avLst/>
          </a:prstGeom>
          <a:ln w="9525">
            <a:solidFill>
              <a:srgbClr val="6E655C"/>
            </a:solidFill>
          </a:ln>
        </p:spPr>
        <p:style>
          <a:lnRef idx="2">
            <a:schemeClr val="accent1"/>
          </a:lnRef>
          <a:fillRef idx="0">
            <a:schemeClr val="accent1"/>
          </a:fillRef>
          <a:effectRef idx="1">
            <a:schemeClr val="accent1"/>
          </a:effectRef>
          <a:fontRef idx="minor">
            <a:schemeClr val="tx1"/>
          </a:fontRef>
        </p:style>
      </p:cxnSp>
      <p:sp>
        <p:nvSpPr>
          <p:cNvPr id="37" name="bit label 0"/>
          <p:cNvSpPr txBox="1"/>
          <p:nvPr/>
        </p:nvSpPr>
        <p:spPr>
          <a:xfrm>
            <a:off x="5120640" y="1225296"/>
            <a:ext cx="3657600" cy="310896"/>
          </a:xfrm>
          <a:prstGeom prst="rect">
            <a:avLst/>
          </a:prstGeom>
          <a:noFill/>
        </p:spPr>
        <p:txBody>
          <a:bodyPr wrap="square" lIns="0" rIns="0" tIns="0" bIns="0" anchor="t">
            <a:spAutoFit/>
          </a:bodyPr>
          <a:lstStyle/>
          <a:p>
            <a:pPr algn="r"/>
            <a:r>
              <a:rPr sz="1100" b="1" i="0">
                <a:solidFill>
                  <a:srgbClr val="2F6D62"/>
                </a:solidFill>
                <a:latin typeface="Calibri"/>
                <a:ea typeface="Calibri"/>
                <a:cs typeface="Calibri"/>
              </a:rPr>
              <a:t>bits 15 to 0: how many blocks or units</a:t>
            </a:r>
          </a:p>
          <a:p>
            <a:pPr algn="r"/>
            <a:r>
              <a:rPr sz="1000" b="0" i="0">
                <a:solidFill>
                  <a:srgbClr val="6E655C"/>
                </a:solidFill>
                <a:latin typeface="Calibri"/>
                <a:ea typeface="Calibri"/>
                <a:cs typeface="Calibri"/>
              </a:rPr>
              <a:t>at most 65,535, about a year of blocks</a:t>
            </a:r>
          </a:p>
        </p:txBody>
      </p:sp>
      <p:sp>
        <p:nvSpPr>
          <p:cNvPr id="38" name="wire note"/>
          <p:cNvSpPr txBox="1"/>
          <p:nvPr/>
        </p:nvSpPr>
        <p:spPr>
          <a:xfrm>
            <a:off x="365760" y="2029968"/>
            <a:ext cx="8412480" cy="146304"/>
          </a:xfrm>
          <a:prstGeom prst="rect">
            <a:avLst/>
          </a:prstGeom>
          <a:noFill/>
        </p:spPr>
        <p:txBody>
          <a:bodyPr wrap="square" lIns="0" rIns="0" tIns="0" bIns="0" anchor="t">
            <a:spAutoFit/>
          </a:bodyPr>
          <a:lstStyle/>
          <a:p>
            <a:pPr algn="l"/>
            <a:r>
              <a:rPr sz="1000" b="0" i="1">
                <a:solidFill>
                  <a:srgbClr val="6E655C"/>
                </a:solidFill>
                <a:latin typeface="Calibri"/>
                <a:ea typeface="Calibri"/>
                <a:cs typeface="Calibri"/>
              </a:rPr>
              <a:t>32 bits, written to the wire as four bytes with the lowest byte first</a:t>
            </a:r>
          </a:p>
        </p:txBody>
      </p:sp>
      <p:sp>
        <p:nvSpPr>
          <p:cNvPr id="39" name="meaning 1"/>
          <p:cNvSpPr/>
          <p:nvPr/>
        </p:nvSpPr>
        <p:spPr>
          <a:xfrm>
            <a:off x="365760" y="2304288"/>
            <a:ext cx="2651760" cy="1389888"/>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400"/>
              </a:spcAft>
            </a:pPr>
            <a:r>
              <a:rPr sz="1200" b="1" i="0">
                <a:solidFill>
                  <a:srgbClr val="D97A14"/>
                </a:solidFill>
                <a:latin typeface="Calibri"/>
                <a:ea typeface="Calibri"/>
                <a:cs typeface="Calibri"/>
              </a:rPr>
              <a:t>1  Sequence replacement</a:t>
            </a:r>
          </a:p>
          <a:p>
            <a:pPr algn="l">
              <a:spcAft>
                <a:spcPts val="400"/>
              </a:spcAft>
            </a:pPr>
            <a:r>
              <a:rPr sz="1100" b="0" i="0">
                <a:solidFill>
                  <a:srgbClr val="2B2622"/>
                </a:solidFill>
                <a:latin typeface="Calibri"/>
                <a:ea typeface="Calibri"/>
                <a:cs typeface="Calibri"/>
              </a:rPr>
              <a:t>The first use: a later version with a higher number replaces an unfinished transaction.</a:t>
            </a:r>
          </a:p>
          <a:p>
            <a:pPr algn="l"/>
            <a:r>
              <a:rPr sz="1050" b="0" i="1">
                <a:solidFill>
                  <a:srgbClr val="6E655C"/>
                </a:solidFill>
                <a:latin typeface="Calibri"/>
                <a:ea typeface="Calibri"/>
                <a:cs typeface="Calibri"/>
              </a:rPr>
              <a:t>Like an order slip you can reissue until the kitchen closes.</a:t>
            </a:r>
          </a:p>
        </p:txBody>
      </p:sp>
      <p:sp>
        <p:nvSpPr>
          <p:cNvPr id="40" name="meaning 2"/>
          <p:cNvSpPr/>
          <p:nvPr/>
        </p:nvSpPr>
        <p:spPr>
          <a:xfrm>
            <a:off x="3246120" y="2304288"/>
            <a:ext cx="2651760" cy="1389888"/>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400"/>
              </a:spcAft>
            </a:pPr>
            <a:r>
              <a:rPr sz="1200" b="1" i="0">
                <a:solidFill>
                  <a:srgbClr val="D97A14"/>
                </a:solidFill>
                <a:latin typeface="Calibri"/>
                <a:ea typeface="Calibri"/>
                <a:cs typeface="Calibri"/>
              </a:rPr>
              <a:t>2  Opt-in replace-by-fee, BIP125</a:t>
            </a:r>
          </a:p>
          <a:p>
            <a:pPr algn="l">
              <a:spcAft>
                <a:spcPts val="400"/>
              </a:spcAft>
            </a:pPr>
            <a:r>
              <a:rPr sz="1100" b="0" i="0">
                <a:solidFill>
                  <a:srgbClr val="2B2622"/>
                </a:solidFill>
                <a:latin typeface="Calibri"/>
                <a:ea typeface="Calibri"/>
                <a:cs typeface="Calibri"/>
              </a:rPr>
              <a:t>A value below 0xfffffffe signals that a better-paying transaction may replace this one.</a:t>
            </a:r>
          </a:p>
          <a:p>
            <a:pPr algn="l"/>
            <a:r>
              <a:rPr sz="1050" b="0" i="1">
                <a:solidFill>
                  <a:srgbClr val="6E655C"/>
                </a:solidFill>
                <a:latin typeface="Calibri"/>
                <a:ea typeface="Calibri"/>
                <a:cs typeface="Calibri"/>
              </a:rPr>
              <a:t>Like outbidding someone at an auction.</a:t>
            </a:r>
          </a:p>
        </p:txBody>
      </p:sp>
      <p:sp>
        <p:nvSpPr>
          <p:cNvPr id="41" name="meaning 3"/>
          <p:cNvSpPr/>
          <p:nvPr/>
        </p:nvSpPr>
        <p:spPr>
          <a:xfrm>
            <a:off x="6126480" y="2304288"/>
            <a:ext cx="2651760" cy="1389888"/>
          </a:xfrm>
          <a:prstGeom prst="roundRect">
            <a:avLst>
              <a:gd name="adj" fmla="val 8000"/>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400"/>
              </a:spcAft>
            </a:pPr>
            <a:r>
              <a:rPr sz="1200" b="1" i="0">
                <a:solidFill>
                  <a:srgbClr val="D97A14"/>
                </a:solidFill>
                <a:latin typeface="Calibri"/>
                <a:ea typeface="Calibri"/>
                <a:cs typeface="Calibri"/>
              </a:rPr>
              <a:t>3  Relative timelock, BIP68</a:t>
            </a:r>
          </a:p>
          <a:p>
            <a:pPr algn="l">
              <a:spcAft>
                <a:spcPts val="400"/>
              </a:spcAft>
            </a:pPr>
            <a:r>
              <a:rPr sz="1100" b="0" i="0">
                <a:solidFill>
                  <a:srgbClr val="2B2622"/>
                </a:solidFill>
                <a:latin typeface="Calibri"/>
                <a:ea typeface="Calibri"/>
                <a:cs typeface="Calibri"/>
              </a:rPr>
              <a:t>With bit 31 clear, the low bits count blocks or 512-second units to wait after confirmation.</a:t>
            </a:r>
          </a:p>
          <a:p>
            <a:pPr algn="l"/>
            <a:r>
              <a:rPr sz="1050" b="0" i="1">
                <a:solidFill>
                  <a:srgbClr val="6E655C"/>
                </a:solidFill>
                <a:latin typeface="Calibri"/>
                <a:ea typeface="Calibri"/>
                <a:cs typeface="Calibri"/>
              </a:rPr>
              <a:t>Like a gift card that activates a week after purchase.</a:t>
            </a:r>
          </a:p>
        </p:txBody>
      </p:sp>
      <p:sp>
        <p:nvSpPr>
          <p:cNvPr id="42" name="reading"/>
          <p:cNvSpPr txBox="1"/>
          <p:nvPr/>
        </p:nvSpPr>
        <p:spPr>
          <a:xfrm>
            <a:off x="365760" y="3785616"/>
            <a:ext cx="8412480" cy="40538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The same four bytes were read as a replacement counter, then as an opt-in replace signal, then as a relative timelock.</a:t>
            </a:r>
          </a:p>
        </p:txBody>
      </p:sp>
      <p:sp>
        <p:nvSpPr>
          <p:cNvPr id="43" name="reading"/>
          <p:cNvSpPr txBox="1"/>
          <p:nvPr/>
        </p:nvSpPr>
        <p:spPr>
          <a:xfrm>
            <a:off x="365760" y="4218432"/>
            <a:ext cx="8412480" cy="23012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Bit 31 is the off switch of the timelock, and bit 22 chooses between blocks and 512-second units.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sequence field: concepts (1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29538"/>
          </a:xfrm>
          <a:prstGeom prst="roundRect">
            <a:avLst>
              <a:gd name="adj" fmla="val 5502"/>
            </a:avLst>
          </a:prstGeom>
          <a:solidFill>
            <a:srgbClr val="F2ECE1"/>
          </a:solidFill>
          <a:ln w="12700">
            <a:solidFill>
              <a:srgbClr val="DFD6C7"/>
            </a:solidFill>
            <a:prstDash val="solid"/>
          </a:ln>
        </p:spPr>
        <p:txBody>
          <a:bodyPr/>
          <a:p/>
        </p:txBody>
      </p:sp>
      <p:sp>
        <p:nvSpPr>
          <p:cNvPr id="7" name="Shape 5"/>
          <p:cNvSpPr/>
          <p:nvPr/>
        </p:nvSpPr>
        <p:spPr>
          <a:xfrm>
            <a:off x="475488" y="1408176"/>
            <a:ext cx="64008" cy="1073506"/>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Sequence number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last four bytes of an input.</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counter on a ticket that the booth can reissue.</a:t>
            </a:r>
            <a:endParaRPr lang="en-US" sz="1150" dirty="0"/>
          </a:p>
        </p:txBody>
      </p:sp>
      <p:sp>
        <p:nvSpPr>
          <p:cNvPr id="10" name="Shape 8"/>
          <p:cNvSpPr/>
          <p:nvPr/>
        </p:nvSpPr>
        <p:spPr>
          <a:xfrm>
            <a:off x="4645152" y="1280160"/>
            <a:ext cx="4041648" cy="1329538"/>
          </a:xfrm>
          <a:prstGeom prst="roundRect">
            <a:avLst>
              <a:gd name="adj" fmla="val 5502"/>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1073506"/>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Setup and refund transactions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deposit that needs both signatures.</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locked deposit box that needs two keys.</a:t>
            </a:r>
            <a:endParaRPr lang="en-US" sz="1150" dirty="0"/>
          </a:p>
        </p:txBody>
      </p:sp>
      <p:sp>
        <p:nvSpPr>
          <p:cNvPr id="14" name="Text 12"/>
          <p:cNvSpPr txBox="1"/>
          <p:nvPr/>
        </p:nvSpPr>
        <p:spPr>
          <a:xfrm>
            <a:off x="4828032" y="2217420"/>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setup transaction</a:t>
            </a:r>
            <a:endParaRPr lang="en-US" sz="1000" dirty="0"/>
          </a:p>
        </p:txBody>
      </p:sp>
      <p:sp>
        <p:nvSpPr>
          <p:cNvPr id="15" name="Shape 13"/>
          <p:cNvSpPr/>
          <p:nvPr/>
        </p:nvSpPr>
        <p:spPr>
          <a:xfrm>
            <a:off x="457200" y="2737714"/>
            <a:ext cx="4041648" cy="1329538"/>
          </a:xfrm>
          <a:prstGeom prst="roundRect">
            <a:avLst>
              <a:gd name="adj" fmla="val 5502"/>
            </a:avLst>
          </a:prstGeom>
          <a:solidFill>
            <a:srgbClr val="F2ECE1"/>
          </a:solidFill>
          <a:ln w="12700">
            <a:solidFill>
              <a:srgbClr val="DFD6C7"/>
            </a:solidFill>
            <a:prstDash val="solid"/>
          </a:ln>
        </p:spPr>
        <p:txBody>
          <a:bodyPr/>
          <a:p/>
        </p:txBody>
      </p:sp>
      <p:sp>
        <p:nvSpPr>
          <p:cNvPr id="16" name="Shape 14"/>
          <p:cNvSpPr/>
          <p:nvPr/>
        </p:nvSpPr>
        <p:spPr>
          <a:xfrm>
            <a:off x="475488" y="2865730"/>
            <a:ext cx="64008" cy="1073506"/>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80172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Payment channel</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Many versions, one broadcast.</a:t>
            </a:r>
            <a:endParaRPr lang="en-US" sz="1300" dirty="0"/>
          </a:p>
        </p:txBody>
      </p:sp>
      <p:sp>
        <p:nvSpPr>
          <p:cNvPr id="18" name="Text 16"/>
          <p:cNvSpPr txBox="1"/>
          <p:nvPr/>
        </p:nvSpPr>
        <p:spPr>
          <a:xfrm>
            <a:off x="640080" y="326349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bar tab: many orders, one bill at the end.</a:t>
            </a:r>
            <a:endParaRPr lang="en-US" sz="1150" dirty="0"/>
          </a:p>
        </p:txBody>
      </p:sp>
      <p:sp>
        <p:nvSpPr>
          <p:cNvPr id="19" name="Text 17"/>
          <p:cNvSpPr txBox="1"/>
          <p:nvPr/>
        </p:nvSpPr>
        <p:spPr>
          <a:xfrm>
            <a:off x="640080" y="3674974"/>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high-frequency transactions</a:t>
            </a:r>
            <a:endParaRPr lang="en-US" sz="1000" dirty="0"/>
          </a:p>
        </p:txBody>
      </p:sp>
      <p:sp>
        <p:nvSpPr>
          <p:cNvPr id="20" name="Shape 18"/>
          <p:cNvSpPr/>
          <p:nvPr/>
        </p:nvSpPr>
        <p:spPr>
          <a:xfrm>
            <a:off x="4645152" y="2737714"/>
            <a:ext cx="4041648" cy="1329538"/>
          </a:xfrm>
          <a:prstGeom prst="roundRect">
            <a:avLst>
              <a:gd name="adj" fmla="val 5502"/>
            </a:avLst>
          </a:prstGeom>
          <a:solidFill>
            <a:srgbClr val="F2ECE1"/>
          </a:solidFill>
          <a:ln w="12700">
            <a:solidFill>
              <a:srgbClr val="DFD6C7"/>
            </a:solidFill>
            <a:prstDash val="solid"/>
          </a:ln>
        </p:spPr>
        <p:txBody>
          <a:bodyPr/>
          <a:p/>
        </p:txBody>
      </p:sp>
      <p:sp>
        <p:nvSpPr>
          <p:cNvPr id="21" name="Shape 19"/>
          <p:cNvSpPr/>
          <p:nvPr/>
        </p:nvSpPr>
        <p:spPr>
          <a:xfrm>
            <a:off x="4663440" y="2865730"/>
            <a:ext cx="64008" cy="1073506"/>
          </a:xfrm>
          <a:prstGeom prst="rect">
            <a:avLst/>
          </a:prstGeom>
          <a:solidFill>
            <a:srgbClr val="D97A14"/>
          </a:solidFill>
          <a:ln w="12700">
            <a:solidFill>
              <a:srgbClr val="D97A14"/>
            </a:solidFill>
            <a:prstDash val="solid"/>
          </a:ln>
        </p:spPr>
        <p:txBody>
          <a:bodyPr/>
          <a:p/>
        </p:txBody>
      </p:sp>
      <p:sp>
        <p:nvSpPr>
          <p:cNvPr id="22" name="Text 20"/>
          <p:cNvSpPr txBox="1"/>
          <p:nvPr/>
        </p:nvSpPr>
        <p:spPr>
          <a:xfrm>
            <a:off x="4828032" y="280172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replacement bandwidth attack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20 KB in, 10 GB out, every minute.</a:t>
            </a:r>
            <a:endParaRPr lang="en-US" sz="1300" dirty="0"/>
          </a:p>
        </p:txBody>
      </p:sp>
      <p:sp>
        <p:nvSpPr>
          <p:cNvPr id="23" name="Text 21"/>
          <p:cNvSpPr txBox="1"/>
          <p:nvPr/>
        </p:nvSpPr>
        <p:spPr>
          <a:xfrm>
            <a:off x="4828032" y="326349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refiling the same form again and again to clog the office.</a:t>
            </a:r>
            <a:endParaRPr lang="en-US" sz="1150" dirty="0"/>
          </a:p>
        </p:txBody>
      </p:sp>
      <p:sp>
        <p:nvSpPr>
          <p:cNvPr id="24" name="Text 22"/>
          <p:cNvSpPr txBox="1"/>
          <p:nvPr/>
        </p:nvSpPr>
        <p:spPr>
          <a:xfrm>
            <a:off x="4828032" y="3674974"/>
            <a:ext cx="3767328" cy="346558"/>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Original sequence-based transaction replacement</a:t>
            </a:r>
            <a:endParaRPr lang="en-US" sz="1000" dirty="0"/>
          </a:p>
        </p:txBody>
      </p:sp>
      <p:sp>
        <p:nvSpPr>
          <p:cNvPr id="25" name="Shape 23"/>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4"/>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7" name="Text 2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30 / 71</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Four sequence values, three meanings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Final, replaceable, and a relative timelock</a:t>
            </a:r>
            <a:endParaRPr lang="en-US" sz="13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four values decoded</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097280"/>
                <a:gridCol w="914400"/>
                <a:gridCol w="96012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Sequence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Replaceable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Timelock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0xffffffff</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0xfffffffe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0xfffffffd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0x0000001e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30 blocks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236976"/>
            <a:ext cx="2971800" cy="78638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first two are final or almost final; the third signals replacement; only the last carries a timelock.</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Bit 31 of the sequence field is the security bit of this chapter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31 / 71</a:t>
            </a:r>
            <a:endParaRPr lang="en-US" sz="1100" dirty="0"/>
          </a:p>
        </p:txBody>
      </p:sp>
      <p:sp>
        <p:nvSpPr>
          <p:cNvPr id="28" name="code 7"/>
          <p:cNvSpPr/>
          <p:nvPr/>
        </p:nvSpPr>
        <p:spPr>
          <a:xfrm>
            <a:off x="365760" y="1170432"/>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seqs</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0xffffffff</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0xfffffffe</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0xfffffffd</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30</a:t>
            </a:r>
            <a:r>
              <a:rPr sz="1100" b="0" i="0">
                <a:solidFill>
                  <a:srgbClr val="E6EDF3"/>
                </a:solidFill>
                <a:latin typeface="Courier New"/>
                <a:ea typeface="Courier New"/>
                <a:cs typeface="Courier New"/>
              </a:rPr>
              <a:t>)</a:t>
            </a:r>
          </a:p>
        </p:txBody>
      </p:sp>
      <p:sp>
        <p:nvSpPr>
          <p:cNvPr id="29" name="code 7"/>
          <p:cNvSpPr/>
          <p:nvPr/>
        </p:nvSpPr>
        <p:spPr>
          <a:xfrm>
            <a:off x="365760" y="144566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ds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sequence_decode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s</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s</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seqs</a:t>
            </a:r>
            <a:r>
              <a:rPr sz="1100" b="0" i="0">
                <a:solidFill>
                  <a:srgbClr val="E6EDF3"/>
                </a:solidFill>
                <a:latin typeface="Courier New"/>
                <a:ea typeface="Courier New"/>
                <a:cs typeface="Courier New"/>
              </a:rPr>
              <a:t>]</a:t>
            </a:r>
          </a:p>
        </p:txBody>
      </p:sp>
      <p:sp>
        <p:nvSpPr>
          <p:cNvPr id="30" name="code 7"/>
          <p:cNvSpPr/>
          <p:nvPr/>
        </p:nvSpPr>
        <p:spPr>
          <a:xfrm>
            <a:off x="365760" y="1720900"/>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keys</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'hex'</a:t>
            </a:r>
            <a:r>
              <a:rPr sz="1100" b="0" i="0">
                <a:solidFill>
                  <a:srgbClr val="E6EDF3"/>
                </a:solidFill>
                <a:latin typeface="Courier New"/>
                <a:ea typeface="Courier New"/>
                <a:cs typeface="Courier New"/>
              </a:rPr>
              <a:t>, </a:t>
            </a:r>
            <a:r>
              <a:rPr sz="1100" b="0" i="0">
                <a:solidFill>
                  <a:srgbClr val="9ECBFF"/>
                </a:solidFill>
                <a:latin typeface="Courier New"/>
                <a:ea typeface="Courier New"/>
                <a:cs typeface="Courier New"/>
              </a:rPr>
              <a:t>'rbf_signal'</a:t>
            </a:r>
            <a:r>
              <a:rPr sz="1100" b="0" i="0">
                <a:solidFill>
                  <a:srgbClr val="E6EDF3"/>
                </a:solidFill>
                <a:latin typeface="Courier New"/>
                <a:ea typeface="Courier New"/>
                <a:cs typeface="Courier New"/>
              </a:rPr>
              <a:t>, </a:t>
            </a:r>
            <a:r>
              <a:rPr sz="1100" b="0" i="0">
                <a:solidFill>
                  <a:srgbClr val="9ECBFF"/>
                </a:solidFill>
                <a:latin typeface="Courier New"/>
                <a:ea typeface="Courier New"/>
                <a:cs typeface="Courier New"/>
              </a:rPr>
              <a:t>'relative_timelock'</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rows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tuple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d</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k</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k</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keys</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d</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ds</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rows</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3</a:t>
            </a:r>
            <a:r>
              <a:rPr sz="1100" b="0" i="0">
                <a:solidFill>
                  <a:srgbClr val="E6EDF3"/>
                </a:solidFill>
                <a:latin typeface="Courier New"/>
                <a:ea typeface="Courier New"/>
                <a:cs typeface="Courier New"/>
              </a:rPr>
              <a:t>]</a:t>
            </a:r>
          </a:p>
        </p:txBody>
      </p:sp>
      <p:sp>
        <p:nvSpPr>
          <p:cNvPr id="31" name="result 7"/>
          <p:cNvSpPr/>
          <p:nvPr/>
        </p:nvSpPr>
        <p:spPr>
          <a:xfrm>
            <a:off x="365760" y="2363724"/>
            <a:ext cx="5166360" cy="886053"/>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7"/>
          <p:cNvSpPr txBox="1"/>
          <p:nvPr/>
        </p:nvSpPr>
        <p:spPr>
          <a:xfrm>
            <a:off x="457200" y="239115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7"/>
          <p:cNvSpPr txBox="1"/>
          <p:nvPr/>
        </p:nvSpPr>
        <p:spPr>
          <a:xfrm>
            <a:off x="457200" y="2500884"/>
            <a:ext cx="4983480" cy="509206"/>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rows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[('0xffffffff', False, None), ('0xfffffffe', False, None), ('0xfffffffd', True, None), ('0x0000001e', True, ('blocks', 30))]</a:t>
            </a:r>
          </a:p>
        </p:txBody>
      </p:sp>
      <p:sp>
        <p:nvSpPr>
          <p:cNvPr id="34" name="result 7"/>
          <p:cNvSpPr txBox="1"/>
          <p:nvPr/>
        </p:nvSpPr>
        <p:spPr>
          <a:xfrm>
            <a:off x="457200" y="3010090"/>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rows[3]</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('0x0000001e', True, ('blocks', 30))</a:t>
            </a:r>
          </a:p>
        </p:txBody>
      </p:sp>
      <p:sp>
        <p:nvSpPr>
          <p:cNvPr id="35" name="explanation 7"/>
          <p:cNvSpPr txBox="1"/>
          <p:nvPr/>
        </p:nvSpPr>
        <p:spPr>
          <a:xfrm>
            <a:off x="365760" y="3286353"/>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 1  </a:t>
            </a:r>
            <a:r>
              <a:rPr sz="1150" b="0" i="0">
                <a:solidFill>
                  <a:srgbClr val="2B2622"/>
                </a:solidFill>
                <a:latin typeface="Calibri"/>
                <a:ea typeface="Calibri"/>
                <a:cs typeface="Calibri"/>
              </a:rPr>
              <a:t>Four typical values: final, almost final, replaceable, and thirty blocks.</a:t>
            </a:r>
          </a:p>
        </p:txBody>
      </p:sp>
      <p:sp>
        <p:nvSpPr>
          <p:cNvPr id="36" name="explanation 7"/>
          <p:cNvSpPr txBox="1"/>
          <p:nvPr/>
        </p:nvSpPr>
        <p:spPr>
          <a:xfrm>
            <a:off x="365760" y="3710025"/>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 2  </a:t>
            </a:r>
            <a:r>
              <a:rPr sz="1150" b="0" i="0">
                <a:solidFill>
                  <a:srgbClr val="2B2622"/>
                </a:solidFill>
                <a:latin typeface="Calibri"/>
                <a:ea typeface="Calibri"/>
                <a:cs typeface="Calibri"/>
              </a:rPr>
              <a:t>The decoder applies BIP68 and BIP125, which reused the same field.</a:t>
            </a:r>
          </a:p>
        </p:txBody>
      </p:sp>
      <p:sp>
        <p:nvSpPr>
          <p:cNvPr id="37" name="explanation 7"/>
          <p:cNvSpPr txBox="1"/>
          <p:nvPr/>
        </p:nvSpPr>
        <p:spPr>
          <a:xfrm>
            <a:off x="365760" y="4133697"/>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3-5  </a:t>
            </a:r>
            <a:r>
              <a:rPr sz="1150" b="0" i="0">
                <a:solidFill>
                  <a:srgbClr val="2B2622"/>
                </a:solidFill>
                <a:latin typeface="Calibri"/>
                <a:ea typeface="Calibri"/>
                <a:cs typeface="Calibri"/>
              </a:rPr>
              <a:t>Each row shows the replace signal and the relative timelock.</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sequence field: concepts (2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29538"/>
          </a:xfrm>
          <a:prstGeom prst="roundRect">
            <a:avLst>
              <a:gd name="adj" fmla="val 5502"/>
            </a:avLst>
          </a:prstGeom>
          <a:solidFill>
            <a:srgbClr val="F2ECE1"/>
          </a:solidFill>
          <a:ln w="12700">
            <a:solidFill>
              <a:srgbClr val="DFD6C7"/>
            </a:solidFill>
            <a:prstDash val="solid"/>
          </a:ln>
        </p:spPr>
        <p:txBody>
          <a:bodyPr/>
          <a:p/>
        </p:txBody>
      </p:sp>
      <p:sp>
        <p:nvSpPr>
          <p:cNvPr id="7" name="Shape 5"/>
          <p:cNvSpPr/>
          <p:nvPr/>
        </p:nvSpPr>
        <p:spPr>
          <a:xfrm>
            <a:off x="475488" y="1408176"/>
            <a:ext cx="64008" cy="1073506"/>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Opt-in replace-by-fee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higher fee rate replaces a lower one.</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form that says I may be replaced by a better-paid one.</a:t>
            </a:r>
            <a:endParaRPr lang="en-US" sz="1150" dirty="0"/>
          </a:p>
        </p:txBody>
      </p:sp>
      <p:sp>
        <p:nvSpPr>
          <p:cNvPr id="10" name="Shape 8"/>
          <p:cNvSpPr/>
          <p:nvPr/>
        </p:nvSpPr>
        <p:spPr>
          <a:xfrm>
            <a:off x="4645152" y="1280160"/>
            <a:ext cx="4041648" cy="1329538"/>
          </a:xfrm>
          <a:prstGeom prst="roundRect">
            <a:avLst>
              <a:gd name="adj" fmla="val 5502"/>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1073506"/>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BIP125 signal</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Below 0xfffffffe means replaceable.</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tick box marked amendable on the form.</a:t>
            </a:r>
            <a:endParaRPr lang="en-US" sz="1150" dirty="0"/>
          </a:p>
        </p:txBody>
      </p:sp>
      <p:sp>
        <p:nvSpPr>
          <p:cNvPr id="14" name="Text 12"/>
          <p:cNvSpPr txBox="1"/>
          <p:nvPr/>
        </p:nvSpPr>
        <p:spPr>
          <a:xfrm>
            <a:off x="4828032" y="2217420"/>
            <a:ext cx="3767328" cy="346558"/>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Opt-in transaction replacement signaling</a:t>
            </a:r>
            <a:endParaRPr lang="en-US" sz="1000" dirty="0"/>
          </a:p>
        </p:txBody>
      </p:sp>
      <p:sp>
        <p:nvSpPr>
          <p:cNvPr id="15" name="Shape 13"/>
          <p:cNvSpPr/>
          <p:nvPr/>
        </p:nvSpPr>
        <p:spPr>
          <a:xfrm>
            <a:off x="457200" y="2737714"/>
            <a:ext cx="4041648" cy="1329538"/>
          </a:xfrm>
          <a:prstGeom prst="roundRect">
            <a:avLst>
              <a:gd name="adj" fmla="val 5502"/>
            </a:avLst>
          </a:prstGeom>
          <a:solidFill>
            <a:srgbClr val="F2ECE1"/>
          </a:solidFill>
          <a:ln w="12700">
            <a:solidFill>
              <a:srgbClr val="DFD6C7"/>
            </a:solidFill>
            <a:prstDash val="solid"/>
          </a:ln>
        </p:spPr>
        <p:txBody>
          <a:bodyPr/>
          <a:p/>
        </p:txBody>
      </p:sp>
      <p:sp>
        <p:nvSpPr>
          <p:cNvPr id="16" name="Shape 14"/>
          <p:cNvSpPr/>
          <p:nvPr/>
        </p:nvSpPr>
        <p:spPr>
          <a:xfrm>
            <a:off x="475488" y="2865730"/>
            <a:ext cx="64008" cy="1073506"/>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80172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BIP68 relative timelock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30 blocks: confirm 29 blocks after the output.</a:t>
            </a:r>
            <a:endParaRPr lang="en-US" sz="1300" dirty="0"/>
          </a:p>
        </p:txBody>
      </p:sp>
      <p:sp>
        <p:nvSpPr>
          <p:cNvPr id="18" name="Text 16"/>
          <p:cNvSpPr txBox="1"/>
          <p:nvPr/>
        </p:nvSpPr>
        <p:spPr>
          <a:xfrm>
            <a:off x="640080" y="326349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coupon valid only some days after purchase.</a:t>
            </a:r>
            <a:endParaRPr lang="en-US" sz="1150" dirty="0"/>
          </a:p>
        </p:txBody>
      </p:sp>
      <p:sp>
        <p:nvSpPr>
          <p:cNvPr id="19" name="Text 17"/>
          <p:cNvSpPr txBox="1"/>
          <p:nvPr/>
        </p:nvSpPr>
        <p:spPr>
          <a:xfrm>
            <a:off x="640080" y="3674974"/>
            <a:ext cx="3767328" cy="346558"/>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Sequence as a consensus-enforced relative timelock</a:t>
            </a:r>
            <a:endParaRPr lang="en-US" sz="1000" dirty="0"/>
          </a:p>
        </p:txBody>
      </p:sp>
      <p:sp>
        <p:nvSpPr>
          <p:cNvPr id="20" name="Shape 18"/>
          <p:cNvSpPr/>
          <p:nvPr/>
        </p:nvSpPr>
        <p:spPr>
          <a:xfrm>
            <a:off x="4645152" y="2737714"/>
            <a:ext cx="4041648" cy="1329538"/>
          </a:xfrm>
          <a:prstGeom prst="roundRect">
            <a:avLst>
              <a:gd name="adj" fmla="val 5502"/>
            </a:avLst>
          </a:prstGeom>
          <a:solidFill>
            <a:srgbClr val="F2ECE1"/>
          </a:solidFill>
          <a:ln w="12700">
            <a:solidFill>
              <a:srgbClr val="DFD6C7"/>
            </a:solidFill>
            <a:prstDash val="solid"/>
          </a:ln>
        </p:spPr>
        <p:txBody>
          <a:bodyPr/>
          <a:p/>
        </p:txBody>
      </p:sp>
      <p:sp>
        <p:nvSpPr>
          <p:cNvPr id="21" name="Shape 19"/>
          <p:cNvSpPr/>
          <p:nvPr/>
        </p:nvSpPr>
        <p:spPr>
          <a:xfrm>
            <a:off x="4663440" y="2865730"/>
            <a:ext cx="64008" cy="1073506"/>
          </a:xfrm>
          <a:prstGeom prst="rect">
            <a:avLst/>
          </a:prstGeom>
          <a:solidFill>
            <a:srgbClr val="D97A14"/>
          </a:solidFill>
          <a:ln w="12700">
            <a:solidFill>
              <a:srgbClr val="D97A14"/>
            </a:solidFill>
            <a:prstDash val="solid"/>
          </a:ln>
        </p:spPr>
        <p:txBody>
          <a:bodyPr/>
          <a:p/>
        </p:txBody>
      </p:sp>
      <p:sp>
        <p:nvSpPr>
          <p:cNvPr id="22" name="Text 20"/>
          <p:cNvSpPr txBox="1"/>
          <p:nvPr/>
        </p:nvSpPr>
        <p:spPr>
          <a:xfrm>
            <a:off x="4828032" y="280172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type flag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Bit 22 chooses blocks or 512-second units.</a:t>
            </a:r>
            <a:endParaRPr lang="en-US" sz="1300" dirty="0"/>
          </a:p>
        </p:txBody>
      </p:sp>
      <p:sp>
        <p:nvSpPr>
          <p:cNvPr id="23" name="Text 21"/>
          <p:cNvSpPr txBox="1"/>
          <p:nvPr/>
        </p:nvSpPr>
        <p:spPr>
          <a:xfrm>
            <a:off x="4828032" y="326349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switch choosing between counting turns and counting minutes.</a:t>
            </a:r>
            <a:endParaRPr lang="en-US" sz="1150" dirty="0"/>
          </a:p>
        </p:txBody>
      </p:sp>
      <p:sp>
        <p:nvSpPr>
          <p:cNvPr id="24"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5"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6"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32 / 71</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BIP68: an hour as a sequence number</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How the 32 bits of the field are divided</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sequence values and BIP68 masks</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868680"/>
                <a:gridCol w="210312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Quantity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One hour</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0x400008 = 4,096 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Earliest block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774,988</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Masks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0x80000000, 0x400000, 0xffff</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An hour rounds up to eight units of 512 seconds, which is 4,096 seconds.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Disable flag, type flag and a 16-bit value share one field</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33 / 71</a:t>
            </a:r>
            <a:endParaRPr lang="en-US" sz="1100" dirty="0"/>
          </a:p>
        </p:txBody>
      </p:sp>
      <p:sp>
        <p:nvSpPr>
          <p:cNvPr id="30" name="code 8"/>
          <p:cNvSpPr/>
          <p:nvPr/>
        </p:nvSpPr>
        <p:spPr>
          <a:xfrm>
            <a:off x="365760" y="1170432"/>
            <a:ext cx="5166360" cy="39044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s</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sequence_for</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seconds</a:t>
            </a:r>
            <a:r>
              <a:rPr sz="1000" b="0" i="0">
                <a:solidFill>
                  <a:srgbClr val="E6EDF3"/>
                </a:solidFill>
                <a:latin typeface="Courier New"/>
                <a:ea typeface="Courier New"/>
                <a:cs typeface="Courier New"/>
              </a:rPr>
              <a:t>=</a:t>
            </a:r>
            <a:r>
              <a:rPr sz="1000" b="0" i="0">
                <a:solidFill>
                  <a:srgbClr val="FFD28A"/>
                </a:solidFill>
                <a:latin typeface="Courier New"/>
                <a:ea typeface="Courier New"/>
                <a:cs typeface="Courier New"/>
              </a:rPr>
              <a:t>3600</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rt</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sequence_decode</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s</a:t>
            </a:r>
            <a:r>
              <a:rPr sz="1000" b="0" i="0">
                <a:solidFill>
                  <a:srgbClr val="E6EDF3"/>
                </a:solidFill>
                <a:latin typeface="Courier New"/>
                <a:ea typeface="Courier New"/>
                <a:cs typeface="Courier New"/>
              </a:rPr>
              <a:t>)[</a:t>
            </a:r>
            <a:r>
              <a:rPr sz="1000" b="0" i="0">
                <a:solidFill>
                  <a:srgbClr val="9ECBFF"/>
                </a:solidFill>
                <a:latin typeface="Courier New"/>
                <a:ea typeface="Courier New"/>
                <a:cs typeface="Courier New"/>
              </a:rPr>
              <a:t>'relative_timelock'</a:t>
            </a:r>
            <a:r>
              <a:rPr sz="1000" b="0" i="0">
                <a:solidFill>
                  <a:srgbClr val="E6EDF3"/>
                </a:solidFill>
                <a:latin typeface="Courier New"/>
                <a:ea typeface="Courier New"/>
                <a:cs typeface="Courier New"/>
              </a:rPr>
              <a:t>]</a:t>
            </a:r>
          </a:p>
        </p:txBody>
      </p:sp>
      <p:sp>
        <p:nvSpPr>
          <p:cNvPr id="31" name="code 8"/>
          <p:cNvSpPr/>
          <p:nvPr/>
        </p:nvSpPr>
        <p:spPr>
          <a:xfrm>
            <a:off x="365760" y="1588312"/>
            <a:ext cx="5166360" cy="232257"/>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first</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earliest_block</a:t>
            </a:r>
            <a:r>
              <a:rPr sz="1000" b="0" i="0">
                <a:solidFill>
                  <a:srgbClr val="E6EDF3"/>
                </a:solidFill>
                <a:latin typeface="Courier New"/>
                <a:ea typeface="Courier New"/>
                <a:cs typeface="Courier New"/>
              </a:rPr>
              <a:t>(</a:t>
            </a:r>
            <a:r>
              <a:rPr sz="1000" b="0" i="0">
                <a:solidFill>
                  <a:srgbClr val="FFD28A"/>
                </a:solidFill>
                <a:latin typeface="Courier New"/>
                <a:ea typeface="Courier New"/>
                <a:cs typeface="Courier New"/>
              </a:rPr>
              <a:t>774958</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30</a:t>
            </a:r>
            <a:r>
              <a:rPr sz="1000" b="0" i="0">
                <a:solidFill>
                  <a:srgbClr val="E6EDF3"/>
                </a:solidFill>
                <a:latin typeface="Courier New"/>
                <a:ea typeface="Courier New"/>
                <a:cs typeface="Courier New"/>
              </a:rPr>
              <a:t>)</a:t>
            </a:r>
          </a:p>
        </p:txBody>
      </p:sp>
      <p:sp>
        <p:nvSpPr>
          <p:cNvPr id="32" name="code 8"/>
          <p:cNvSpPr/>
          <p:nvPr/>
        </p:nvSpPr>
        <p:spPr>
          <a:xfrm>
            <a:off x="365760" y="1848002"/>
            <a:ext cx="5166360" cy="707745"/>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dis</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hex</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SEQUENCE_LOCKTIME_DISABLE_FLAG</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typ</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hex</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SEQUENCE_LOCKTIME_TYPE_FLAG</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msk</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hex</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SEQUENCE_LOCKTIME_MASK</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first</a:t>
            </a:r>
          </a:p>
        </p:txBody>
      </p:sp>
      <p:sp>
        <p:nvSpPr>
          <p:cNvPr id="33" name="result 8"/>
          <p:cNvSpPr/>
          <p:nvPr/>
        </p:nvSpPr>
        <p:spPr>
          <a:xfrm>
            <a:off x="365760" y="2601468"/>
            <a:ext cx="5166360" cy="854049"/>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sult 8"/>
          <p:cNvSpPr txBox="1"/>
          <p:nvPr/>
        </p:nvSpPr>
        <p:spPr>
          <a:xfrm>
            <a:off x="457200" y="2628900"/>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5" name="result 8"/>
          <p:cNvSpPr txBox="1"/>
          <p:nvPr/>
        </p:nvSpPr>
        <p:spPr>
          <a:xfrm>
            <a:off x="457200" y="2738628"/>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hex(s)</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'0x400008'</a:t>
            </a:r>
          </a:p>
        </p:txBody>
      </p:sp>
      <p:sp>
        <p:nvSpPr>
          <p:cNvPr id="36" name="result 8"/>
          <p:cNvSpPr txBox="1"/>
          <p:nvPr/>
        </p:nvSpPr>
        <p:spPr>
          <a:xfrm>
            <a:off x="457200" y="2906522"/>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rt</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('seconds', 4096)</a:t>
            </a:r>
          </a:p>
        </p:txBody>
      </p:sp>
      <p:sp>
        <p:nvSpPr>
          <p:cNvPr id="37" name="result 8"/>
          <p:cNvSpPr txBox="1"/>
          <p:nvPr/>
        </p:nvSpPr>
        <p:spPr>
          <a:xfrm>
            <a:off x="457200" y="3074415"/>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first</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774988</a:t>
            </a:r>
          </a:p>
        </p:txBody>
      </p:sp>
      <p:sp>
        <p:nvSpPr>
          <p:cNvPr id="38" name="result 8"/>
          <p:cNvSpPr txBox="1"/>
          <p:nvPr/>
        </p:nvSpPr>
        <p:spPr>
          <a:xfrm>
            <a:off x="457200" y="3242309"/>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[dis, typ, msk]</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['0x80000000', '0x400000', '0xffff']</a:t>
            </a:r>
          </a:p>
        </p:txBody>
      </p:sp>
      <p:sp>
        <p:nvSpPr>
          <p:cNvPr id="39" name="explanation 8"/>
          <p:cNvSpPr txBox="1"/>
          <p:nvPr/>
        </p:nvSpPr>
        <p:spPr>
          <a:xfrm>
            <a:off x="365760" y="3492093"/>
            <a:ext cx="5166360" cy="3779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1-2  </a:t>
            </a:r>
            <a:r>
              <a:rPr sz="1000" b="0" i="0">
                <a:solidFill>
                  <a:srgbClr val="2B2622"/>
                </a:solidFill>
                <a:latin typeface="Calibri"/>
                <a:ea typeface="Calibri"/>
                <a:cs typeface="Calibri"/>
              </a:rPr>
              <a:t>One hour is counted in units of 512 seconds, with the type flag set.</a:t>
            </a:r>
          </a:p>
        </p:txBody>
      </p:sp>
      <p:sp>
        <p:nvSpPr>
          <p:cNvPr id="40" name="explanation 8"/>
          <p:cNvSpPr txBox="1"/>
          <p:nvPr/>
        </p:nvSpPr>
        <p:spPr>
          <a:xfrm>
            <a:off x="365760" y="3870045"/>
            <a:ext cx="5166360" cy="3779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 3  </a:t>
            </a:r>
            <a:r>
              <a:rPr sz="1000" b="0" i="0">
                <a:solidFill>
                  <a:srgbClr val="2B2622"/>
                </a:solidFill>
                <a:latin typeface="Calibri"/>
                <a:ea typeface="Calibri"/>
                <a:cs typeface="Calibri"/>
              </a:rPr>
              <a:t>Thirty blocks after a coin confirmed at 774,958 is the earliest spend.</a:t>
            </a:r>
          </a:p>
        </p:txBody>
      </p:sp>
      <p:sp>
        <p:nvSpPr>
          <p:cNvPr id="41" name="explanation 8"/>
          <p:cNvSpPr txBox="1"/>
          <p:nvPr/>
        </p:nvSpPr>
        <p:spPr>
          <a:xfrm>
            <a:off x="365760" y="4247997"/>
            <a:ext cx="5166360" cy="2255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4-7  </a:t>
            </a:r>
            <a:r>
              <a:rPr sz="1000" b="0" i="0">
                <a:solidFill>
                  <a:srgbClr val="2B2622"/>
                </a:solidFill>
                <a:latin typeface="Calibri"/>
                <a:ea typeface="Calibri"/>
                <a:cs typeface="Calibri"/>
              </a:rPr>
              <a:t>Three masks split the 32 bits into two flags and a 16-bit value.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sequence field: concepts (3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disable flag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Bit 31 switches the timelock off.</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off switch that makes the coupon valid at once.</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16-bit mask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65,535 blocks or units, about a year.</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counter with room for only 65,535 ticks.</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34 / 71</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Outputs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Outputs are the lines of a till receipt: an amount and who may collect it.</a:t>
            </a:r>
            <a:endParaRPr lang="en-US" sz="1500" dirty="0"/>
          </a:p>
        </p:txBody>
      </p:sp>
      <p:sp>
        <p:nvSpPr>
          <p:cNvPr id="6" name="Shape 4"/>
          <p:cNvSpPr/>
          <p:nvPr/>
        </p:nvSpPr>
        <p:spPr>
          <a:xfrm>
            <a:off x="777240" y="2103120"/>
            <a:ext cx="249936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output list</a:t>
            </a:r>
            <a:endParaRPr lang="en-US" sz="1200" dirty="0"/>
          </a:p>
        </p:txBody>
      </p:sp>
      <p:sp>
        <p:nvSpPr>
          <p:cNvPr id="8" name="Text 6"/>
          <p:cNvSpPr txBox="1"/>
          <p:nvPr/>
        </p:nvSpPr>
        <p:spPr>
          <a:xfrm>
            <a:off x="777240" y="2487168"/>
            <a:ext cx="249936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list of new coins the transaction creates.</a:t>
            </a:r>
            <a:endParaRPr lang="en-US" sz="1150" dirty="0"/>
          </a:p>
        </p:txBody>
      </p:sp>
      <p:sp>
        <p:nvSpPr>
          <p:cNvPr id="9" name="Text 7"/>
          <p:cNvSpPr txBox="1"/>
          <p:nvPr/>
        </p:nvSpPr>
        <p:spPr>
          <a:xfrm>
            <a:off x="777240" y="2907792"/>
            <a:ext cx="249936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change a till hands back.</a:t>
            </a:r>
            <a:endParaRPr lang="en-US" sz="1150" dirty="0"/>
          </a:p>
        </p:txBody>
      </p:sp>
      <p:sp>
        <p:nvSpPr>
          <p:cNvPr id="10" name="Shape 8"/>
          <p:cNvSpPr/>
          <p:nvPr/>
        </p:nvSpPr>
        <p:spPr>
          <a:xfrm>
            <a:off x="3459480" y="2103120"/>
            <a:ext cx="249936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353263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Dust policy</a:t>
            </a:r>
            <a:endParaRPr lang="en-US" sz="1200" dirty="0"/>
          </a:p>
        </p:txBody>
      </p:sp>
      <p:sp>
        <p:nvSpPr>
          <p:cNvPr id="12" name="Text 10"/>
          <p:cNvSpPr txBox="1"/>
          <p:nvPr/>
        </p:nvSpPr>
        <p:spPr>
          <a:xfrm>
            <a:off x="3459480" y="2487168"/>
            <a:ext cx="2499360" cy="571500"/>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Rules that keep tiny coins from clogging everyone's database.</a:t>
            </a:r>
            <a:endParaRPr lang="en-US" sz="1150" dirty="0"/>
          </a:p>
        </p:txBody>
      </p:sp>
      <p:sp>
        <p:nvSpPr>
          <p:cNvPr id="13" name="Text 11"/>
          <p:cNvSpPr txBox="1"/>
          <p:nvPr/>
        </p:nvSpPr>
        <p:spPr>
          <a:xfrm>
            <a:off x="3459480" y="3086100"/>
            <a:ext cx="249936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bank that refuses to count single cents.</a:t>
            </a:r>
            <a:endParaRPr lang="en-US" sz="1150" dirty="0"/>
          </a:p>
        </p:txBody>
      </p:sp>
      <p:sp>
        <p:nvSpPr>
          <p:cNvPr id="14" name="Shape 12"/>
          <p:cNvSpPr/>
          <p:nvPr/>
        </p:nvSpPr>
        <p:spPr>
          <a:xfrm>
            <a:off x="6141720" y="2103120"/>
            <a:ext cx="2499360" cy="310896"/>
          </a:xfrm>
          <a:prstGeom prst="roundRect">
            <a:avLst>
              <a:gd name="adj" fmla="val 50000"/>
            </a:avLst>
          </a:prstGeom>
          <a:solidFill>
            <a:srgbClr val="D97A14"/>
          </a:solidFill>
          <a:ln w="12700">
            <a:solidFill>
              <a:srgbClr val="D97A14"/>
            </a:solidFill>
            <a:prstDash val="solid"/>
          </a:ln>
        </p:spPr>
        <p:txBody>
          <a:bodyPr/>
          <a:p/>
        </p:txBody>
      </p:sp>
      <p:sp>
        <p:nvSpPr>
          <p:cNvPr id="15" name="Text 13"/>
          <p:cNvSpPr txBox="1"/>
          <p:nvPr/>
        </p:nvSpPr>
        <p:spPr>
          <a:xfrm>
            <a:off x="621487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output script</a:t>
            </a:r>
            <a:endParaRPr lang="en-US" sz="1200" dirty="0"/>
          </a:p>
        </p:txBody>
      </p:sp>
      <p:sp>
        <p:nvSpPr>
          <p:cNvPr id="16" name="Text 14"/>
          <p:cNvSpPr txBox="1"/>
          <p:nvPr/>
        </p:nvSpPr>
        <p:spPr>
          <a:xfrm>
            <a:off x="6141720" y="2487168"/>
            <a:ext cx="249936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lock that decides who may spend the new coin.</a:t>
            </a:r>
            <a:endParaRPr lang="en-US" sz="1150" dirty="0"/>
          </a:p>
        </p:txBody>
      </p:sp>
      <p:sp>
        <p:nvSpPr>
          <p:cNvPr id="17" name="Text 15"/>
          <p:cNvSpPr txBox="1"/>
          <p:nvPr/>
        </p:nvSpPr>
        <p:spPr>
          <a:xfrm>
            <a:off x="6141720" y="2907792"/>
            <a:ext cx="249936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lock fitted to a new deposit box.</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9" name="Text 16"/>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35 / 71</a:t>
            </a:r>
            <a:endParaRPr lang="en-US" sz="11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Where the 100,000 satoshis went</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An output is an amount and a lock</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An output is an amount plus a lock; what no output claims is the fee</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36 / 71</a:t>
            </a:r>
            <a:endParaRPr lang="en-US" sz="1100" dirty="0"/>
          </a:p>
        </p:txBody>
      </p:sp>
      <p:sp>
        <p:nvSpPr>
          <p:cNvPr id="28" name="bar title"/>
          <p:cNvSpPr txBox="1"/>
          <p:nvPr/>
        </p:nvSpPr>
        <p:spPr>
          <a:xfrm>
            <a:off x="365760" y="1188720"/>
            <a:ext cx="8412480" cy="164592"/>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The spent coin: 100,000 satoshis</a:t>
            </a:r>
          </a:p>
        </p:txBody>
      </p:sp>
      <p:sp>
        <p:nvSpPr>
          <p:cNvPr id="29" name="share bob"/>
          <p:cNvSpPr/>
          <p:nvPr/>
        </p:nvSpPr>
        <p:spPr>
          <a:xfrm>
            <a:off x="365760" y="1389888"/>
            <a:ext cx="1682496" cy="402336"/>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FFFFFF"/>
                </a:solidFill>
                <a:latin typeface="Calibri"/>
                <a:ea typeface="Calibri"/>
                <a:cs typeface="Calibri"/>
              </a:rPr>
              <a:t>20,000 to Bob</a:t>
            </a:r>
          </a:p>
        </p:txBody>
      </p:sp>
      <p:sp>
        <p:nvSpPr>
          <p:cNvPr id="30" name="share change"/>
          <p:cNvSpPr/>
          <p:nvPr/>
        </p:nvSpPr>
        <p:spPr>
          <a:xfrm>
            <a:off x="2048256" y="1389888"/>
            <a:ext cx="6309360" cy="402336"/>
          </a:xfrm>
          <a:prstGeom prst="rect">
            <a:avLst/>
          </a:prstGeom>
          <a:solidFill>
            <a:srgbClr val="5F8F8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50" b="1" i="0">
                <a:solidFill>
                  <a:srgbClr val="FFFFFF"/>
                </a:solidFill>
                <a:latin typeface="Calibri"/>
                <a:ea typeface="Calibri"/>
                <a:cs typeface="Calibri"/>
              </a:rPr>
              <a:t>75,000 change, back to Alice</a:t>
            </a:r>
          </a:p>
        </p:txBody>
      </p:sp>
      <p:sp>
        <p:nvSpPr>
          <p:cNvPr id="31" name="share fee"/>
          <p:cNvSpPr/>
          <p:nvPr/>
        </p:nvSpPr>
        <p:spPr>
          <a:xfrm>
            <a:off x="8357616" y="1389888"/>
            <a:ext cx="420624" cy="402336"/>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ee label"/>
          <p:cNvSpPr txBox="1"/>
          <p:nvPr/>
        </p:nvSpPr>
        <p:spPr>
          <a:xfrm>
            <a:off x="6400800" y="1819656"/>
            <a:ext cx="2377440" cy="164592"/>
          </a:xfrm>
          <a:prstGeom prst="rect">
            <a:avLst/>
          </a:prstGeom>
          <a:noFill/>
        </p:spPr>
        <p:txBody>
          <a:bodyPr wrap="square" lIns="0" rIns="0" tIns="0" bIns="0" anchor="t">
            <a:spAutoFit/>
          </a:bodyPr>
          <a:lstStyle/>
          <a:p>
            <a:pPr algn="r"/>
            <a:r>
              <a:rPr sz="1050" b="1" i="0">
                <a:solidFill>
                  <a:srgbClr val="D97A14"/>
                </a:solidFill>
                <a:latin typeface="Calibri"/>
                <a:ea typeface="Calibri"/>
                <a:cs typeface="Calibri"/>
              </a:rPr>
              <a:t>fee 5,000: no output claims it</a:t>
            </a:r>
          </a:p>
        </p:txBody>
      </p:sp>
      <p:sp>
        <p:nvSpPr>
          <p:cNvPr id="33" name="anatomy title"/>
          <p:cNvSpPr txBox="1"/>
          <p:nvPr/>
        </p:nvSpPr>
        <p:spPr>
          <a:xfrm>
            <a:off x="365760" y="2157984"/>
            <a:ext cx="8412480" cy="164592"/>
          </a:xfrm>
          <a:prstGeom prst="rect">
            <a:avLst/>
          </a:prstGeom>
          <a:noFill/>
        </p:spPr>
        <p:txBody>
          <a:bodyPr wrap="square" lIns="0" rIns="0" tIns="0" bIns="0" anchor="t">
            <a:spAutoFit/>
          </a:bodyPr>
          <a:lstStyle/>
          <a:p>
            <a:pPr algn="l"/>
            <a:r>
              <a:rPr sz="1150" b="1" i="0">
                <a:solidFill>
                  <a:srgbClr val="2B2622"/>
                </a:solidFill>
                <a:latin typeface="Calibri"/>
                <a:ea typeface="Calibri"/>
                <a:cs typeface="Calibri"/>
              </a:rPr>
              <a:t>One output, byte by byte (output 0)</a:t>
            </a:r>
          </a:p>
        </p:txBody>
      </p:sp>
      <p:sp>
        <p:nvSpPr>
          <p:cNvPr id="34" name="amount"/>
          <p:cNvSpPr/>
          <p:nvPr/>
        </p:nvSpPr>
        <p:spPr>
          <a:xfrm>
            <a:off x="365760" y="2359152"/>
            <a:ext cx="3108960" cy="566928"/>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50" b="1" i="0">
                <a:solidFill>
                  <a:srgbClr val="FFFFFF"/>
                </a:solidFill>
                <a:latin typeface="Calibri"/>
                <a:ea typeface="Calibri"/>
                <a:cs typeface="Calibri"/>
              </a:rPr>
              <a:t>8 bytes: the amount</a:t>
            </a:r>
          </a:p>
          <a:p>
            <a:pPr algn="ctr"/>
            <a:r>
              <a:rPr sz="1000" b="0" i="0">
                <a:solidFill>
                  <a:srgbClr val="D7E4E0"/>
                </a:solidFill>
                <a:latin typeface="Courier New"/>
                <a:ea typeface="Courier New"/>
                <a:cs typeface="Courier New"/>
              </a:rPr>
              <a:t>20 4e 00 00 00 00 00 00 = 20,000</a:t>
            </a:r>
          </a:p>
        </p:txBody>
      </p:sp>
      <p:sp>
        <p:nvSpPr>
          <p:cNvPr id="35" name="script length"/>
          <p:cNvSpPr/>
          <p:nvPr/>
        </p:nvSpPr>
        <p:spPr>
          <a:xfrm>
            <a:off x="3474720" y="2359152"/>
            <a:ext cx="1097280" cy="566928"/>
          </a:xfrm>
          <a:prstGeom prst="rect">
            <a:avLst/>
          </a:prstGeom>
          <a:solidFill>
            <a:srgbClr val="D9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50" b="1" i="0">
                <a:solidFill>
                  <a:srgbClr val="FFFFFF"/>
                </a:solidFill>
                <a:latin typeface="Calibri"/>
                <a:ea typeface="Calibri"/>
                <a:cs typeface="Calibri"/>
              </a:rPr>
              <a:t>1 byte</a:t>
            </a:r>
          </a:p>
          <a:p>
            <a:pPr algn="ctr"/>
            <a:r>
              <a:rPr sz="1000" b="0" i="0">
                <a:solidFill>
                  <a:srgbClr val="FFFFFF"/>
                </a:solidFill>
                <a:latin typeface="Courier New"/>
                <a:ea typeface="Courier New"/>
                <a:cs typeface="Courier New"/>
              </a:rPr>
              <a:t>22 = 34</a:t>
            </a:r>
          </a:p>
        </p:txBody>
      </p:sp>
      <p:sp>
        <p:nvSpPr>
          <p:cNvPr id="36" name="script"/>
          <p:cNvSpPr/>
          <p:nvPr/>
        </p:nvSpPr>
        <p:spPr>
          <a:xfrm>
            <a:off x="4572000" y="2359152"/>
            <a:ext cx="4206240" cy="566928"/>
          </a:xfrm>
          <a:prstGeom prst="rect">
            <a:avLst/>
          </a:prstGeom>
          <a:solidFill>
            <a:srgbClr val="2B26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50" b="1" i="0">
                <a:solidFill>
                  <a:srgbClr val="FFFFFF"/>
                </a:solidFill>
                <a:latin typeface="Calibri"/>
                <a:ea typeface="Calibri"/>
                <a:cs typeface="Calibri"/>
              </a:rPr>
              <a:t>34 bytes: the lock (the output script)</a:t>
            </a:r>
          </a:p>
          <a:p>
            <a:pPr algn="ctr"/>
            <a:r>
              <a:rPr sz="1000" b="0" i="0">
                <a:solidFill>
                  <a:srgbClr val="E6EDF3"/>
                </a:solidFill>
                <a:latin typeface="Courier New"/>
                <a:ea typeface="Courier New"/>
                <a:cs typeface="Courier New"/>
              </a:rPr>
              <a:t>51 20 3b 41 da ba … who may spend it</a:t>
            </a:r>
          </a:p>
        </p:txBody>
      </p:sp>
      <p:sp>
        <p:nvSpPr>
          <p:cNvPr id="37" name="reading"/>
          <p:cNvSpPr txBox="1"/>
          <p:nvPr/>
        </p:nvSpPr>
        <p:spPr>
          <a:xfrm>
            <a:off x="365760" y="3108960"/>
            <a:ext cx="8412480" cy="252984"/>
          </a:xfrm>
          <a:prstGeom prst="rect">
            <a:avLst/>
          </a:prstGeom>
          <a:noFill/>
        </p:spPr>
        <p:txBody>
          <a:bodyPr wrap="square" lIns="0" rIns="0" tIns="0" bIns="0" anchor="t">
            <a:spAutoFit/>
          </a:bodyPr>
          <a:lstStyle/>
          <a:p>
            <a:pPr algn="l"/>
            <a:r>
              <a:rPr sz="1300" b="1" i="0">
                <a:solidFill>
                  <a:srgbClr val="D97A14"/>
                </a:solidFill>
                <a:latin typeface="Calibri"/>
                <a:ea typeface="Calibri"/>
                <a:cs typeface="Calibri"/>
              </a:rPr>
              <a:t>▪  </a:t>
            </a:r>
            <a:r>
              <a:rPr sz="1300" b="0" i="0">
                <a:solidFill>
                  <a:srgbClr val="2B2622"/>
                </a:solidFill>
                <a:latin typeface="Calibri"/>
                <a:ea typeface="Calibri"/>
                <a:cs typeface="Calibri"/>
              </a:rPr>
              <a:t>The spent coin held 100,000 satoshis: 20,000 go to Bob and 75,000 come back to Alice as change.</a:t>
            </a:r>
          </a:p>
        </p:txBody>
      </p:sp>
      <p:sp>
        <p:nvSpPr>
          <p:cNvPr id="38" name="reading"/>
          <p:cNvSpPr txBox="1"/>
          <p:nvPr/>
        </p:nvSpPr>
        <p:spPr>
          <a:xfrm>
            <a:off x="365760" y="3389376"/>
            <a:ext cx="8412480" cy="252984"/>
          </a:xfrm>
          <a:prstGeom prst="rect">
            <a:avLst/>
          </a:prstGeom>
          <a:noFill/>
        </p:spPr>
        <p:txBody>
          <a:bodyPr wrap="square" lIns="0" rIns="0" tIns="0" bIns="0" anchor="t">
            <a:spAutoFit/>
          </a:bodyPr>
          <a:lstStyle/>
          <a:p>
            <a:pPr algn="l"/>
            <a:r>
              <a:rPr sz="1300" b="1" i="0">
                <a:solidFill>
                  <a:srgbClr val="D97A14"/>
                </a:solidFill>
                <a:latin typeface="Calibri"/>
                <a:ea typeface="Calibri"/>
                <a:cs typeface="Calibri"/>
              </a:rPr>
              <a:t>▪  </a:t>
            </a:r>
            <a:r>
              <a:rPr sz="1300" b="0" i="0">
                <a:solidFill>
                  <a:srgbClr val="2B2622"/>
                </a:solidFill>
                <a:latin typeface="Calibri"/>
                <a:ea typeface="Calibri"/>
                <a:cs typeface="Calibri"/>
              </a:rPr>
              <a:t>The 5,000 left over is the fee. No output claims it, so the miner who mines the block collects it.</a:t>
            </a:r>
          </a:p>
        </p:txBody>
      </p:sp>
      <p:sp>
        <p:nvSpPr>
          <p:cNvPr id="39" name="reading"/>
          <p:cNvSpPr txBox="1"/>
          <p:nvPr/>
        </p:nvSpPr>
        <p:spPr>
          <a:xfrm>
            <a:off x="365760" y="3669792"/>
            <a:ext cx="8412480" cy="451104"/>
          </a:xfrm>
          <a:prstGeom prst="rect">
            <a:avLst/>
          </a:prstGeom>
          <a:noFill/>
        </p:spPr>
        <p:txBody>
          <a:bodyPr wrap="square" lIns="0" rIns="0" tIns="0" bIns="0" anchor="t">
            <a:spAutoFit/>
          </a:bodyPr>
          <a:lstStyle/>
          <a:p>
            <a:pPr algn="l"/>
            <a:r>
              <a:rPr sz="1300" b="1" i="0">
                <a:solidFill>
                  <a:srgbClr val="D97A14"/>
                </a:solidFill>
                <a:latin typeface="Calibri"/>
                <a:ea typeface="Calibri"/>
                <a:cs typeface="Calibri"/>
              </a:rPr>
              <a:t>▪  </a:t>
            </a:r>
            <a:r>
              <a:rPr sz="1300" b="0" i="0">
                <a:solidFill>
                  <a:srgbClr val="2B2622"/>
                </a:solidFill>
                <a:latin typeface="Calibri"/>
                <a:ea typeface="Calibri"/>
                <a:cs typeface="Calibri"/>
              </a:rPr>
              <a:t>An output is eight bytes of amount, a length and a lock, like a till receipt line saying how much and who may collect.</a:t>
            </a:r>
          </a:p>
        </p:txBody>
      </p:sp>
      <p:sp>
        <p:nvSpPr>
          <p:cNvPr id="40" name="reading"/>
          <p:cNvSpPr txBox="1"/>
          <p:nvPr/>
        </p:nvSpPr>
        <p:spPr>
          <a:xfrm>
            <a:off x="365760" y="4148328"/>
            <a:ext cx="8412480" cy="252984"/>
          </a:xfrm>
          <a:prstGeom prst="rect">
            <a:avLst/>
          </a:prstGeom>
          <a:noFill/>
        </p:spPr>
        <p:txBody>
          <a:bodyPr wrap="square" lIns="0" rIns="0" tIns="0" bIns="0" anchor="t">
            <a:spAutoFit/>
          </a:bodyPr>
          <a:lstStyle/>
          <a:p>
            <a:pPr algn="l"/>
            <a:r>
              <a:rPr sz="1300" b="1" i="0">
                <a:solidFill>
                  <a:srgbClr val="D97A14"/>
                </a:solidFill>
                <a:latin typeface="Calibri"/>
                <a:ea typeface="Calibri"/>
                <a:cs typeface="Calibri"/>
              </a:rPr>
              <a:t>▪  </a:t>
            </a:r>
            <a:r>
              <a:rPr sz="1300" b="0" i="0">
                <a:solidFill>
                  <a:srgbClr val="2B2622"/>
                </a:solidFill>
                <a:latin typeface="Calibri"/>
                <a:ea typeface="Calibri"/>
                <a:cs typeface="Calibri"/>
              </a:rPr>
              <a:t>A bitcoin is 100 million satoshis.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Outputs: concepts (1 of 3)</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Output count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Two outputs: a payment and change.</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how many envelopes of money leave the till.</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Amount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8 bytes, little-endian, in satoshis.</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sum on a cheque, written in the smallest coins.</a:t>
            </a:r>
            <a:endParaRPr lang="en-US" sz="1150" dirty="0"/>
          </a:p>
        </p:txBody>
      </p:sp>
      <p:sp>
        <p:nvSpPr>
          <p:cNvPr id="14" name="Shape 12"/>
          <p:cNvSpPr/>
          <p:nvPr/>
        </p:nvSpPr>
        <p:spPr>
          <a:xfrm>
            <a:off x="457200"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5" name="Shape 13"/>
          <p:cNvSpPr/>
          <p:nvPr/>
        </p:nvSpPr>
        <p:spPr>
          <a:xfrm>
            <a:off x="475488" y="2633472"/>
            <a:ext cx="64008" cy="84124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Satoshi</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100 million to a bitcoin.</a:t>
            </a:r>
            <a:endParaRPr lang="en-US" sz="1300" dirty="0"/>
          </a:p>
        </p:txBody>
      </p:sp>
      <p:sp>
        <p:nvSpPr>
          <p:cNvPr id="17" name="Text 15"/>
          <p:cNvSpPr txBox="1"/>
          <p:nvPr/>
        </p:nvSpPr>
        <p:spPr>
          <a:xfrm>
            <a:off x="640080"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cent that is a hundred-millionth of the whole note.</a:t>
            </a:r>
            <a:endParaRPr lang="en-US" sz="1150" dirty="0"/>
          </a:p>
        </p:txBody>
      </p:sp>
      <p:sp>
        <p:nvSpPr>
          <p:cNvPr id="18" name="Shape 16"/>
          <p:cNvSpPr/>
          <p:nvPr/>
        </p:nvSpPr>
        <p:spPr>
          <a:xfrm>
            <a:off x="4645152"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9" name="Shape 17"/>
          <p:cNvSpPr/>
          <p:nvPr/>
        </p:nvSpPr>
        <p:spPr>
          <a:xfrm>
            <a:off x="4663440" y="2633472"/>
            <a:ext cx="64008" cy="841248"/>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consensus range of an amount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From 0 to 2.1 quadrillion.</a:t>
            </a:r>
            <a:endParaRPr lang="en-US" sz="1300" dirty="0"/>
          </a:p>
        </p:txBody>
      </p:sp>
      <p:sp>
        <p:nvSpPr>
          <p:cNvPr id="21" name="Text 19"/>
          <p:cNvSpPr txBox="1"/>
          <p:nvPr/>
        </p:nvSpPr>
        <p:spPr>
          <a:xfrm>
            <a:off x="4828032"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cheque form that cannot print negative or absurd sums.</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37 / 71</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Amounts, change and the fee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An output is an amount and a condition</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satoshis in each output, and the fee</a:t>
            </a:r>
            <a:endParaRPr lang="en-US" sz="1100" dirty="0"/>
          </a:p>
        </p:txBody>
      </p:sp>
      <p:graphicFrame>
        <p:nvGraphicFramePr>
          <p:cNvPr id="23" name="Chart 0" descr=""/>
          <p:cNvGraphicFramePr/>
          <p:nvPr/>
        </p:nvGraphicFramePr>
        <p:xfrm>
          <a:off x="5715000" y="1773936"/>
          <a:ext cx="2971800" cy="207568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spent coin held 100,000 satoshis; the outputs take 95,000 and the remaining 5,000 is the fee.</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No field holds a balance or a fee; both are differences</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38 / 71</a:t>
            </a:r>
            <a:endParaRPr lang="en-US" sz="1100" dirty="0"/>
          </a:p>
        </p:txBody>
      </p:sp>
      <p:sp>
        <p:nvSpPr>
          <p:cNvPr id="28" name="code 9"/>
          <p:cNvSpPr/>
          <p:nvPr/>
        </p:nvSpPr>
        <p:spPr>
          <a:xfrm>
            <a:off x="365760" y="1170432"/>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paid</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o</a:t>
            </a:r>
            <a:r>
              <a:rPr sz="1100" b="0" i="0">
                <a:solidFill>
                  <a:srgbClr val="E6EDF3"/>
                </a:solidFill>
                <a:latin typeface="Courier New"/>
                <a:ea typeface="Courier New"/>
                <a:cs typeface="Courier New"/>
              </a:rPr>
              <a:t>[</a:t>
            </a:r>
            <a:r>
              <a:rPr sz="1100" b="0" i="0">
                <a:solidFill>
                  <a:srgbClr val="9ECBFF"/>
                </a:solidFill>
                <a:latin typeface="Courier New"/>
                <a:ea typeface="Courier New"/>
                <a:cs typeface="Courier New"/>
              </a:rPr>
              <a:t>'value'</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o</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a:t>
            </a:r>
            <a:r>
              <a:rPr sz="1100" b="0" i="0">
                <a:solidFill>
                  <a:srgbClr val="9ECBFF"/>
                </a:solidFill>
                <a:latin typeface="Courier New"/>
                <a:ea typeface="Courier New"/>
                <a:cs typeface="Courier New"/>
              </a:rPr>
              <a:t>'outputs'</a:t>
            </a:r>
            <a:r>
              <a:rPr sz="1100" b="0" i="0">
                <a:solidFill>
                  <a:srgbClr val="E6EDF3"/>
                </a:solidFill>
                <a:latin typeface="Courier New"/>
                <a:ea typeface="Courier New"/>
                <a:cs typeface="Courier New"/>
              </a:rPr>
              <a:t>]]</a:t>
            </a:r>
          </a:p>
        </p:txBody>
      </p:sp>
      <p:sp>
        <p:nvSpPr>
          <p:cNvPr id="29" name="code 9"/>
          <p:cNvSpPr/>
          <p:nvPr/>
        </p:nvSpPr>
        <p:spPr>
          <a:xfrm>
            <a:off x="365760" y="144566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funds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PREV_REC</a:t>
            </a:r>
            <a:r>
              <a:rPr sz="1100" b="0" i="0">
                <a:solidFill>
                  <a:srgbClr val="E6EDF3"/>
                </a:solidFill>
                <a:latin typeface="Courier New"/>
                <a:ea typeface="Courier New"/>
                <a:cs typeface="Courier New"/>
              </a:rPr>
              <a:t>[</a:t>
            </a:r>
            <a:r>
              <a:rPr sz="1100" b="0" i="0">
                <a:solidFill>
                  <a:srgbClr val="9ECBFF"/>
                </a:solidFill>
                <a:latin typeface="Courier New"/>
                <a:ea typeface="Courier New"/>
                <a:cs typeface="Courier New"/>
              </a:rPr>
              <a:t>'vout'</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1</a:t>
            </a:r>
            <a:r>
              <a:rPr sz="1100" b="0" i="0">
                <a:solidFill>
                  <a:srgbClr val="E6EDF3"/>
                </a:solidFill>
                <a:latin typeface="Courier New"/>
                <a:ea typeface="Courier New"/>
                <a:cs typeface="Courier New"/>
              </a:rPr>
              <a:t>][</a:t>
            </a:r>
            <a:r>
              <a:rPr sz="1100" b="0" i="0">
                <a:solidFill>
                  <a:srgbClr val="9ECBFF"/>
                </a:solidFill>
                <a:latin typeface="Courier New"/>
                <a:ea typeface="Courier New"/>
                <a:cs typeface="Courier New"/>
              </a:rPr>
              <a:t>'value'</a:t>
            </a:r>
            <a:r>
              <a:rPr sz="1100" b="0" i="0">
                <a:solidFill>
                  <a:srgbClr val="E6EDF3"/>
                </a:solidFill>
                <a:latin typeface="Courier New"/>
                <a:ea typeface="Courier New"/>
                <a:cs typeface="Courier New"/>
              </a:rPr>
              <a:t>]</a:t>
            </a:r>
          </a:p>
        </p:txBody>
      </p:sp>
      <p:sp>
        <p:nvSpPr>
          <p:cNvPr id="30" name="code 9"/>
          <p:cNvSpPr/>
          <p:nvPr/>
        </p:nvSpPr>
        <p:spPr>
          <a:xfrm>
            <a:off x="365760" y="1720900"/>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fee</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funds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sum</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paid</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parts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paid</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fee</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fee</a:t>
            </a:r>
          </a:p>
        </p:txBody>
      </p:sp>
      <p:sp>
        <p:nvSpPr>
          <p:cNvPr id="31" name="result 9"/>
          <p:cNvSpPr/>
          <p:nvPr/>
        </p:nvSpPr>
        <p:spPr>
          <a:xfrm>
            <a:off x="365760" y="2363724"/>
            <a:ext cx="5166360" cy="71963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9"/>
          <p:cNvSpPr txBox="1"/>
          <p:nvPr/>
        </p:nvSpPr>
        <p:spPr>
          <a:xfrm>
            <a:off x="457200" y="239115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9"/>
          <p:cNvSpPr txBox="1"/>
          <p:nvPr/>
        </p:nvSpPr>
        <p:spPr>
          <a:xfrm>
            <a:off x="457200" y="2500884"/>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parts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[20000, 75000, 5000]</a:t>
            </a:r>
          </a:p>
        </p:txBody>
      </p:sp>
      <p:sp>
        <p:nvSpPr>
          <p:cNvPr id="34" name="result 9"/>
          <p:cNvSpPr txBox="1"/>
          <p:nvPr/>
        </p:nvSpPr>
        <p:spPr>
          <a:xfrm>
            <a:off x="457200" y="2676715"/>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funds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100000</a:t>
            </a:r>
          </a:p>
        </p:txBody>
      </p:sp>
      <p:sp>
        <p:nvSpPr>
          <p:cNvPr id="35" name="result 9"/>
          <p:cNvSpPr txBox="1"/>
          <p:nvPr/>
        </p:nvSpPr>
        <p:spPr>
          <a:xfrm>
            <a:off x="457200" y="2852547"/>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fee</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5000</a:t>
            </a:r>
          </a:p>
        </p:txBody>
      </p:sp>
      <p:sp>
        <p:nvSpPr>
          <p:cNvPr id="36" name="explanation 9"/>
          <p:cNvSpPr txBox="1"/>
          <p:nvPr/>
        </p:nvSpPr>
        <p:spPr>
          <a:xfrm>
            <a:off x="365760" y="3119932"/>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1  </a:t>
            </a:r>
            <a:r>
              <a:rPr sz="1200" b="0" i="0">
                <a:solidFill>
                  <a:srgbClr val="2B2622"/>
                </a:solidFill>
                <a:latin typeface="Calibri"/>
                <a:ea typeface="Calibri"/>
                <a:cs typeface="Calibri"/>
              </a:rPr>
              <a:t>Each output states an amount, in satoshis, the smallest unit.</a:t>
            </a:r>
          </a:p>
        </p:txBody>
      </p:sp>
      <p:sp>
        <p:nvSpPr>
          <p:cNvPr id="37" name="explanation 9"/>
          <p:cNvSpPr txBox="1"/>
          <p:nvPr/>
        </p:nvSpPr>
        <p:spPr>
          <a:xfrm>
            <a:off x="365760" y="3558844"/>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2  </a:t>
            </a:r>
            <a:r>
              <a:rPr sz="1200" b="0" i="0">
                <a:solidFill>
                  <a:srgbClr val="2B2622"/>
                </a:solidFill>
                <a:latin typeface="Calibri"/>
                <a:ea typeface="Calibri"/>
                <a:cs typeface="Calibri"/>
              </a:rPr>
              <a:t>The input states no amount; it is read from the coin that is spent.</a:t>
            </a:r>
          </a:p>
        </p:txBody>
      </p:sp>
      <p:sp>
        <p:nvSpPr>
          <p:cNvPr id="38" name="explanation 9"/>
          <p:cNvSpPr txBox="1"/>
          <p:nvPr/>
        </p:nvSpPr>
        <p:spPr>
          <a:xfrm>
            <a:off x="365760" y="3997756"/>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3-5  </a:t>
            </a:r>
            <a:r>
              <a:rPr sz="1200" b="0" i="0">
                <a:solidFill>
                  <a:srgbClr val="2B2622"/>
                </a:solidFill>
                <a:latin typeface="Calibri"/>
                <a:ea typeface="Calibri"/>
                <a:cs typeface="Calibri"/>
              </a:rPr>
              <a:t>The fee is only a difference between inputs and outputs.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Outputs: concepts (2 of 3)</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29538"/>
          </a:xfrm>
          <a:prstGeom prst="roundRect">
            <a:avLst>
              <a:gd name="adj" fmla="val 5502"/>
            </a:avLst>
          </a:prstGeom>
          <a:solidFill>
            <a:srgbClr val="F2ECE1"/>
          </a:solidFill>
          <a:ln w="12700">
            <a:solidFill>
              <a:srgbClr val="DFD6C7"/>
            </a:solidFill>
            <a:prstDash val="solid"/>
          </a:ln>
        </p:spPr>
        <p:txBody>
          <a:bodyPr/>
          <a:p/>
        </p:txBody>
      </p:sp>
      <p:sp>
        <p:nvSpPr>
          <p:cNvPr id="7" name="Shape 5"/>
          <p:cNvSpPr/>
          <p:nvPr/>
        </p:nvSpPr>
        <p:spPr>
          <a:xfrm>
            <a:off x="475488" y="1408176"/>
            <a:ext cx="64008" cy="1073506"/>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Uneconomical output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Worth less than the fee to spend it.</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coin so small the postage costs more than the coin.</a:t>
            </a:r>
            <a:endParaRPr lang="en-US" sz="1150" dirty="0"/>
          </a:p>
        </p:txBody>
      </p:sp>
      <p:sp>
        <p:nvSpPr>
          <p:cNvPr id="10" name="Text 8"/>
          <p:cNvSpPr txBox="1"/>
          <p:nvPr/>
        </p:nvSpPr>
        <p:spPr>
          <a:xfrm>
            <a:off x="640080" y="2217420"/>
            <a:ext cx="3767328" cy="346558"/>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Uneconomical outputs and disallowed dust</a:t>
            </a:r>
            <a:endParaRPr lang="en-US" sz="1000" dirty="0"/>
          </a:p>
        </p:txBody>
      </p:sp>
      <p:sp>
        <p:nvSpPr>
          <p:cNvPr id="11" name="Shape 9"/>
          <p:cNvSpPr/>
          <p:nvPr/>
        </p:nvSpPr>
        <p:spPr>
          <a:xfrm>
            <a:off x="4645152" y="1280160"/>
            <a:ext cx="4041648" cy="1329538"/>
          </a:xfrm>
          <a:prstGeom prst="roundRect">
            <a:avLst>
              <a:gd name="adj" fmla="val 5502"/>
            </a:avLst>
          </a:prstGeom>
          <a:solidFill>
            <a:srgbClr val="F2ECE1"/>
          </a:solidFill>
          <a:ln w="12700">
            <a:solidFill>
              <a:srgbClr val="DFD6C7"/>
            </a:solidFill>
            <a:prstDash val="solid"/>
          </a:ln>
        </p:spPr>
        <p:txBody>
          <a:bodyPr/>
          <a:p/>
        </p:txBody>
      </p:sp>
      <p:sp>
        <p:nvSpPr>
          <p:cNvPr id="12" name="Shape 10"/>
          <p:cNvSpPr/>
          <p:nvPr/>
        </p:nvSpPr>
        <p:spPr>
          <a:xfrm>
            <a:off x="4663440" y="1408176"/>
            <a:ext cx="64008" cy="1073506"/>
          </a:xfrm>
          <a:prstGeom prst="rect">
            <a:avLst/>
          </a:prstGeom>
          <a:solidFill>
            <a:srgbClr val="D97A14"/>
          </a:solidFill>
          <a:ln w="12700">
            <a:solidFill>
              <a:srgbClr val="D97A14"/>
            </a:solidFill>
            <a:prstDash val="solid"/>
          </a:ln>
        </p:spPr>
        <p:txBody>
          <a:bodyPr/>
          <a:p/>
        </p:txBody>
      </p:sp>
      <p:sp>
        <p:nvSpPr>
          <p:cNvPr id="13" name="Text 11"/>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Dust limit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546 satoshis, from 182 bytes at 3,000 sat/kvB.</a:t>
            </a:r>
            <a:endParaRPr lang="en-US" sz="1300" dirty="0"/>
          </a:p>
        </p:txBody>
      </p:sp>
      <p:sp>
        <p:nvSpPr>
          <p:cNvPr id="14" name="Text 12"/>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smallest coin the post office agrees to carry.</a:t>
            </a:r>
            <a:endParaRPr lang="en-US" sz="1150" dirty="0"/>
          </a:p>
        </p:txBody>
      </p:sp>
      <p:sp>
        <p:nvSpPr>
          <p:cNvPr id="15" name="Shape 13"/>
          <p:cNvSpPr/>
          <p:nvPr/>
        </p:nvSpPr>
        <p:spPr>
          <a:xfrm>
            <a:off x="457200" y="2737714"/>
            <a:ext cx="4041648" cy="1329538"/>
          </a:xfrm>
          <a:prstGeom prst="roundRect">
            <a:avLst>
              <a:gd name="adj" fmla="val 5502"/>
            </a:avLst>
          </a:prstGeom>
          <a:solidFill>
            <a:srgbClr val="F2ECE1"/>
          </a:solidFill>
          <a:ln w="12700">
            <a:solidFill>
              <a:srgbClr val="DFD6C7"/>
            </a:solidFill>
            <a:prstDash val="solid"/>
          </a:ln>
        </p:spPr>
        <p:txBody>
          <a:bodyPr/>
          <a:p/>
        </p:txBody>
      </p:sp>
      <p:sp>
        <p:nvSpPr>
          <p:cNvPr id="16" name="Shape 14"/>
          <p:cNvSpPr/>
          <p:nvPr/>
        </p:nvSpPr>
        <p:spPr>
          <a:xfrm>
            <a:off x="475488" y="2865730"/>
            <a:ext cx="64008" cy="1073506"/>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80172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Data-carrier output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OP_RETURN: unspendable, so not dust.</a:t>
            </a:r>
            <a:endParaRPr lang="en-US" sz="1300" dirty="0"/>
          </a:p>
        </p:txBody>
      </p:sp>
      <p:sp>
        <p:nvSpPr>
          <p:cNvPr id="18" name="Text 16"/>
          <p:cNvSpPr txBox="1"/>
          <p:nvPr/>
        </p:nvSpPr>
        <p:spPr>
          <a:xfrm>
            <a:off x="640080" y="326349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note stuck on a parcel, carrying no money.</a:t>
            </a:r>
            <a:endParaRPr lang="en-US" sz="1150" dirty="0"/>
          </a:p>
        </p:txBody>
      </p:sp>
      <p:sp>
        <p:nvSpPr>
          <p:cNvPr id="19" name="Shape 17"/>
          <p:cNvSpPr/>
          <p:nvPr/>
        </p:nvSpPr>
        <p:spPr>
          <a:xfrm>
            <a:off x="4645152" y="2737714"/>
            <a:ext cx="4041648" cy="1329538"/>
          </a:xfrm>
          <a:prstGeom prst="roundRect">
            <a:avLst>
              <a:gd name="adj" fmla="val 5502"/>
            </a:avLst>
          </a:prstGeom>
          <a:solidFill>
            <a:srgbClr val="F2ECE1"/>
          </a:solidFill>
          <a:ln w="12700">
            <a:solidFill>
              <a:srgbClr val="DFD6C7"/>
            </a:solidFill>
            <a:prstDash val="solid"/>
          </a:ln>
        </p:spPr>
        <p:txBody>
          <a:bodyPr/>
          <a:p/>
        </p:txBody>
      </p:sp>
      <p:sp>
        <p:nvSpPr>
          <p:cNvPr id="20" name="Shape 18"/>
          <p:cNvSpPr/>
          <p:nvPr/>
        </p:nvSpPr>
        <p:spPr>
          <a:xfrm>
            <a:off x="4663440" y="2865730"/>
            <a:ext cx="64008" cy="1073506"/>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80172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Output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34 bytes to Bob, 22 bytes of change.</a:t>
            </a:r>
            <a:endParaRPr lang="en-US" sz="1300" dirty="0"/>
          </a:p>
        </p:txBody>
      </p:sp>
      <p:sp>
        <p:nvSpPr>
          <p:cNvPr id="22" name="Text 20"/>
          <p:cNvSpPr txBox="1"/>
          <p:nvPr/>
        </p:nvSpPr>
        <p:spPr>
          <a:xfrm>
            <a:off x="4828032" y="326349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lock fitted to the coin: whoever opens it may spend.</a:t>
            </a:r>
            <a:endParaRPr lang="en-US" sz="11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39 / 71</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2010 overflow, in five lines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How two huge outputs added up to a negative number</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arithmetic of block 74,638</a:t>
            </a:r>
            <a:endParaRPr lang="en-US" sz="11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600200"/>
                <a:gridCol w="13716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Check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Two outputs added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-997,538</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Old test: total in range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True: accepted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New test: each in range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False: refused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A negative total is below the limit, so only the per-output check catches it.</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Check each amount and the total: one check on the total was not enough</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40 / 71</a:t>
            </a:r>
            <a:endParaRPr lang="en-US" sz="1100" dirty="0"/>
          </a:p>
        </p:txBody>
      </p:sp>
      <p:sp>
        <p:nvSpPr>
          <p:cNvPr id="36" name="code 10"/>
          <p:cNvSpPr/>
          <p:nvPr/>
        </p:nvSpPr>
        <p:spPr>
          <a:xfrm>
            <a:off x="365760" y="1170432"/>
            <a:ext cx="5166360" cy="23957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out</a:t>
            </a:r>
            <a:r>
              <a:rPr sz="1050" b="0" i="0">
                <a:solidFill>
                  <a:srgbClr val="E6EDF3"/>
                </a:solidFill>
                <a:latin typeface="Courier New"/>
                <a:ea typeface="Courier New"/>
                <a:cs typeface="Courier New"/>
              </a:rPr>
              <a:t> = </a:t>
            </a:r>
            <a:r>
              <a:rPr sz="1050" b="0" i="0">
                <a:solidFill>
                  <a:srgbClr val="FFD28A"/>
                </a:solidFill>
                <a:latin typeface="Courier New"/>
                <a:ea typeface="Courier New"/>
                <a:cs typeface="Courier New"/>
              </a:rPr>
              <a:t>9223372036854277039</a:t>
            </a:r>
          </a:p>
        </p:txBody>
      </p:sp>
      <p:sp>
        <p:nvSpPr>
          <p:cNvPr id="37" name="code 10"/>
          <p:cNvSpPr/>
          <p:nvPr/>
        </p:nvSpPr>
        <p:spPr>
          <a:xfrm>
            <a:off x="365760" y="1437436"/>
            <a:ext cx="5166360" cy="40690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wrapped</a:t>
            </a:r>
            <a:r>
              <a:rPr sz="1050" b="0" i="0">
                <a:solidFill>
                  <a:srgbClr val="E6EDF3"/>
                </a:solidFill>
                <a:latin typeface="Courier New"/>
                <a:ea typeface="Courier New"/>
                <a:cs typeface="Courier New"/>
              </a:rPr>
              <a:t> = (</a:t>
            </a:r>
            <a:r>
              <a:rPr sz="1050" b="0" i="0">
                <a:solidFill>
                  <a:srgbClr val="FFD28A"/>
                </a:solidFill>
                <a:latin typeface="Courier New"/>
                <a:ea typeface="Courier New"/>
                <a:cs typeface="Courier New"/>
              </a:rPr>
              <a:t>2</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out</a:t>
            </a:r>
            <a:r>
              <a:rPr sz="1050" b="0" i="0">
                <a:solidFill>
                  <a:srgbClr val="E6EDF3"/>
                </a:solidFill>
                <a:latin typeface="Courier New"/>
                <a:ea typeface="Courier New"/>
                <a:cs typeface="Courier New"/>
              </a:rPr>
              <a:t>) &amp; </a:t>
            </a:r>
            <a:r>
              <a:rPr sz="1050" b="0" i="0">
                <a:solidFill>
                  <a:srgbClr val="FFD28A"/>
                </a:solidFill>
                <a:latin typeface="Courier New"/>
                <a:ea typeface="Courier New"/>
                <a:cs typeface="Courier New"/>
              </a:rPr>
              <a:t>0xffffffffffffffff</a:t>
            </a:r>
          </a:p>
          <a:p>
            <a:pPr algn="l"/>
            <a:r>
              <a:rPr sz="1050" b="0" i="0">
                <a:solidFill>
                  <a:srgbClr val="E6EDF3"/>
                </a:solidFill>
                <a:latin typeface="Courier New"/>
                <a:ea typeface="Courier New"/>
                <a:cs typeface="Courier New"/>
              </a:rPr>
              <a:t>total</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wrapped</a:t>
            </a:r>
            <a:r>
              <a:rPr sz="1050" b="0" i="0">
                <a:solidFill>
                  <a:srgbClr val="E6EDF3"/>
                </a:solidFill>
                <a:latin typeface="Courier New"/>
                <a:ea typeface="Courier New"/>
                <a:cs typeface="Courier New"/>
              </a:rPr>
              <a:t> - </a:t>
            </a:r>
            <a:r>
              <a:rPr sz="1050" b="0" i="0">
                <a:solidFill>
                  <a:srgbClr val="FFD28A"/>
                </a:solidFill>
                <a:latin typeface="Courier New"/>
                <a:ea typeface="Courier New"/>
                <a:cs typeface="Courier New"/>
              </a:rPr>
              <a:t>2</a:t>
            </a:r>
            <a:r>
              <a:rPr sz="1050" b="0" i="0">
                <a:solidFill>
                  <a:srgbClr val="E6EDF3"/>
                </a:solidFill>
                <a:latin typeface="Courier New"/>
                <a:ea typeface="Courier New"/>
                <a:cs typeface="Courier New"/>
              </a:rPr>
              <a:t>**</a:t>
            </a:r>
            <a:r>
              <a:rPr sz="1050" b="0" i="0">
                <a:solidFill>
                  <a:srgbClr val="FFD28A"/>
                </a:solidFill>
                <a:latin typeface="Courier New"/>
                <a:ea typeface="Courier New"/>
                <a:cs typeface="Courier New"/>
              </a:rPr>
              <a:t>64</a:t>
            </a:r>
            <a:r>
              <a:rPr sz="1050" b="0" i="0">
                <a:solidFill>
                  <a:srgbClr val="E6EDF3"/>
                </a:solidFill>
                <a:latin typeface="Courier New"/>
                <a:ea typeface="Courier New"/>
                <a:cs typeface="Courier New"/>
              </a:rPr>
              <a:t> </a:t>
            </a:r>
            <a:r>
              <a:rPr sz="1050" b="1" i="0">
                <a:solidFill>
                  <a:srgbClr val="F2A860"/>
                </a:solidFill>
                <a:latin typeface="Courier New"/>
                <a:ea typeface="Courier New"/>
                <a:cs typeface="Courier New"/>
              </a:rPr>
              <a:t>if</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wrapped</a:t>
            </a:r>
            <a:r>
              <a:rPr sz="1050" b="0" i="0">
                <a:solidFill>
                  <a:srgbClr val="E6EDF3"/>
                </a:solidFill>
                <a:latin typeface="Courier New"/>
                <a:ea typeface="Courier New"/>
                <a:cs typeface="Courier New"/>
              </a:rPr>
              <a:t> &gt;= </a:t>
            </a:r>
            <a:r>
              <a:rPr sz="1050" b="0" i="0">
                <a:solidFill>
                  <a:srgbClr val="FFD28A"/>
                </a:solidFill>
                <a:latin typeface="Courier New"/>
                <a:ea typeface="Courier New"/>
                <a:cs typeface="Courier New"/>
              </a:rPr>
              <a:t>2</a:t>
            </a:r>
            <a:r>
              <a:rPr sz="1050" b="0" i="0">
                <a:solidFill>
                  <a:srgbClr val="E6EDF3"/>
                </a:solidFill>
                <a:latin typeface="Courier New"/>
                <a:ea typeface="Courier New"/>
                <a:cs typeface="Courier New"/>
              </a:rPr>
              <a:t>**</a:t>
            </a:r>
            <a:r>
              <a:rPr sz="1050" b="0" i="0">
                <a:solidFill>
                  <a:srgbClr val="FFD28A"/>
                </a:solidFill>
                <a:latin typeface="Courier New"/>
                <a:ea typeface="Courier New"/>
                <a:cs typeface="Courier New"/>
              </a:rPr>
              <a:t>63</a:t>
            </a:r>
            <a:r>
              <a:rPr sz="1050" b="0" i="0">
                <a:solidFill>
                  <a:srgbClr val="E6EDF3"/>
                </a:solidFill>
                <a:latin typeface="Courier New"/>
                <a:ea typeface="Courier New"/>
                <a:cs typeface="Courier New"/>
              </a:rPr>
              <a:t> </a:t>
            </a:r>
            <a:r>
              <a:rPr sz="1050" b="1" i="0">
                <a:solidFill>
                  <a:srgbClr val="F2A860"/>
                </a:solidFill>
                <a:latin typeface="Courier New"/>
                <a:ea typeface="Courier New"/>
                <a:cs typeface="Courier New"/>
              </a:rPr>
              <a:t>else</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wrapped</a:t>
            </a:r>
          </a:p>
        </p:txBody>
      </p:sp>
      <p:sp>
        <p:nvSpPr>
          <p:cNvPr id="38" name="code 10"/>
          <p:cNvSpPr/>
          <p:nvPr/>
        </p:nvSpPr>
        <p:spPr>
          <a:xfrm>
            <a:off x="365760" y="1871776"/>
            <a:ext cx="5166360" cy="57332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naive_ok</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total</a:t>
            </a:r>
            <a:r>
              <a:rPr sz="1050" b="0" i="0">
                <a:solidFill>
                  <a:srgbClr val="E6EDF3"/>
                </a:solidFill>
                <a:latin typeface="Courier New"/>
                <a:ea typeface="Courier New"/>
                <a:cs typeface="Courier New"/>
              </a:rPr>
              <a:t> &lt;= </a:t>
            </a:r>
            <a:r>
              <a:rPr sz="1050" b="0" i="0">
                <a:solidFill>
                  <a:srgbClr val="E6EDF3"/>
                </a:solidFill>
                <a:latin typeface="Courier New"/>
                <a:ea typeface="Courier New"/>
                <a:cs typeface="Courier New"/>
              </a:rPr>
              <a:t>MAX_MONEY</a:t>
            </a:r>
          </a:p>
          <a:p>
            <a:pPr algn="l"/>
            <a:r>
              <a:rPr sz="1050" b="0" i="0">
                <a:solidFill>
                  <a:srgbClr val="E6EDF3"/>
                </a:solidFill>
                <a:latin typeface="Courier New"/>
                <a:ea typeface="Courier New"/>
                <a:cs typeface="Courier New"/>
              </a:rPr>
              <a:t>fixed_ok</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money_range</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out</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naive_ok</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fixed_ok</a:t>
            </a:r>
            <a:r>
              <a:rPr sz="1050" b="0" i="0">
                <a:solidFill>
                  <a:srgbClr val="E6EDF3"/>
                </a:solidFill>
                <a:latin typeface="Courier New"/>
                <a:ea typeface="Courier New"/>
                <a:cs typeface="Courier New"/>
              </a:rPr>
              <a:t>)</a:t>
            </a:r>
          </a:p>
        </p:txBody>
      </p:sp>
      <p:sp>
        <p:nvSpPr>
          <p:cNvPr id="39" name="result 10"/>
          <p:cNvSpPr/>
          <p:nvPr/>
        </p:nvSpPr>
        <p:spPr>
          <a:xfrm>
            <a:off x="365760" y="2490825"/>
            <a:ext cx="5166360" cy="854049"/>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sult 10"/>
          <p:cNvSpPr txBox="1"/>
          <p:nvPr/>
        </p:nvSpPr>
        <p:spPr>
          <a:xfrm>
            <a:off x="457200" y="2518257"/>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41" name="result 10"/>
          <p:cNvSpPr txBox="1"/>
          <p:nvPr/>
        </p:nvSpPr>
        <p:spPr>
          <a:xfrm>
            <a:off x="457200" y="2627985"/>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total</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-997538</a:t>
            </a:r>
          </a:p>
        </p:txBody>
      </p:sp>
      <p:sp>
        <p:nvSpPr>
          <p:cNvPr id="42" name="result 10"/>
          <p:cNvSpPr txBox="1"/>
          <p:nvPr/>
        </p:nvSpPr>
        <p:spPr>
          <a:xfrm>
            <a:off x="457200" y="2795879"/>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naive_ok</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True</a:t>
            </a:r>
          </a:p>
        </p:txBody>
      </p:sp>
      <p:sp>
        <p:nvSpPr>
          <p:cNvPr id="43" name="result 10"/>
          <p:cNvSpPr txBox="1"/>
          <p:nvPr/>
        </p:nvSpPr>
        <p:spPr>
          <a:xfrm>
            <a:off x="457200" y="2963773"/>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fixed_ok</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False</a:t>
            </a:r>
          </a:p>
        </p:txBody>
      </p:sp>
      <p:sp>
        <p:nvSpPr>
          <p:cNvPr id="44" name="result 10"/>
          <p:cNvSpPr txBox="1"/>
          <p:nvPr/>
        </p:nvSpPr>
        <p:spPr>
          <a:xfrm>
            <a:off x="457200" y="3131667"/>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(naive_ok, fixed_ok)</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(True, False)</a:t>
            </a:r>
          </a:p>
        </p:txBody>
      </p:sp>
      <p:sp>
        <p:nvSpPr>
          <p:cNvPr id="45" name="explanation 10"/>
          <p:cNvSpPr txBox="1"/>
          <p:nvPr/>
        </p:nvSpPr>
        <p:spPr>
          <a:xfrm>
            <a:off x="365760" y="3381451"/>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 1  </a:t>
            </a:r>
            <a:r>
              <a:rPr sz="1050" b="0" i="0">
                <a:solidFill>
                  <a:srgbClr val="2B2622"/>
                </a:solidFill>
                <a:latin typeface="Calibri"/>
                <a:ea typeface="Calibri"/>
                <a:cs typeface="Calibri"/>
              </a:rPr>
              <a:t>Each of the two outputs of block 74,638 held this many satoshis.</a:t>
            </a:r>
          </a:p>
        </p:txBody>
      </p:sp>
      <p:sp>
        <p:nvSpPr>
          <p:cNvPr id="46" name="explanation 10"/>
          <p:cNvSpPr txBox="1"/>
          <p:nvPr/>
        </p:nvSpPr>
        <p:spPr>
          <a:xfrm>
            <a:off x="365760" y="3774643"/>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2-3  </a:t>
            </a:r>
            <a:r>
              <a:rPr sz="1050" b="0" i="0">
                <a:solidFill>
                  <a:srgbClr val="2B2622"/>
                </a:solidFill>
                <a:latin typeface="Calibri"/>
                <a:ea typeface="Calibri"/>
                <a:cs typeface="Calibri"/>
              </a:rPr>
              <a:t>Added as 64-bit signed integers, two such amounts wrap to a negative number.</a:t>
            </a:r>
          </a:p>
        </p:txBody>
      </p:sp>
      <p:sp>
        <p:nvSpPr>
          <p:cNvPr id="47" name="explanation 10"/>
          <p:cNvSpPr txBox="1"/>
          <p:nvPr/>
        </p:nvSpPr>
        <p:spPr>
          <a:xfrm>
            <a:off x="365760" y="4167835"/>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4-6  </a:t>
            </a:r>
            <a:r>
              <a:rPr sz="1050" b="0" i="0">
                <a:solidFill>
                  <a:srgbClr val="2B2622"/>
                </a:solidFill>
                <a:latin typeface="Calibri"/>
                <a:ea typeface="Calibri"/>
                <a:cs typeface="Calibri"/>
              </a:rPr>
              <a:t>A check on the total passed; a check on each output refuses the block.</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block that created 184 billion bitcoins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 bug that created money out of thin air</a:t>
            </a:r>
            <a:endParaRPr lang="en-US" sz="1300" dirty="0"/>
          </a:p>
        </p:txBody>
      </p:sp>
      <p:pic>
        <p:nvPicPr>
          <p:cNvPr id="6" name="Image 0" descr="../../03-materials/ch06/assets/photo_satoshi_bust_budapest.jpg">    </p:cNvPr>
          <p:cNvPicPr>
            <a:picLocks noChangeAspect="1"/>
          </p:cNvPicPr>
          <p:nvPr/>
        </p:nvPicPr>
        <p:blipFill>
          <a:blip r:embed="rId1"/>
          <a:srcRect l="0" r="0" t="0" b="0"/>
          <a:stretch/>
        </p:blipFill>
        <p:spPr>
          <a:xfrm>
            <a:off x="457200" y="1280160"/>
            <a:ext cx="2377440" cy="2331720"/>
          </a:xfrm>
          <a:prstGeom prst="rect">
            <a:avLst/>
          </a:prstGeom>
        </p:spPr>
      </p:pic>
      <p:sp>
        <p:nvSpPr>
          <p:cNvPr id="7" name="Text 4"/>
          <p:cNvSpPr txBox="1"/>
          <p:nvPr/>
        </p:nvSpPr>
        <p:spPr>
          <a:xfrm>
            <a:off x="457200" y="3630168"/>
            <a:ext cx="237744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Satoshi bust, Budapest - Fekist, CC BY-SA 4.0</a:t>
            </a:r>
            <a:endParaRPr lang="en-US" sz="900" dirty="0"/>
          </a:p>
        </p:txBody>
      </p:sp>
      <p:sp>
        <p:nvSpPr>
          <p:cNvPr id="22" name="Shape 19"/>
          <p:cNvSpPr/>
          <p:nvPr/>
        </p:nvSpPr>
        <p:spPr>
          <a:xfrm>
            <a:off x="3108960" y="4114800"/>
            <a:ext cx="5669280" cy="365760"/>
          </a:xfrm>
          <a:prstGeom prst="roundRect">
            <a:avLst>
              <a:gd name="adj" fmla="val 50000"/>
            </a:avLst>
          </a:prstGeom>
          <a:solidFill>
            <a:srgbClr val="2F6D62"/>
          </a:solidFill>
          <a:ln w="9525">
            <a:solidFill>
              <a:srgbClr val="2F6D62"/>
            </a:solidFill>
            <a:prstDash val="solid"/>
          </a:ln>
        </p:spPr>
        <p:txBody>
          <a:bodyPr/>
          <a:p/>
        </p:txBody>
      </p:sp>
      <p:sp>
        <p:nvSpPr>
          <p:cNvPr id="23" name="Text 20"/>
          <p:cNvSpPr txBox="1"/>
          <p:nvPr/>
        </p:nvSpPr>
        <p:spPr>
          <a:xfrm>
            <a:off x="3200400" y="4114800"/>
            <a:ext cx="5486400"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Value overflow incident (Bitcoin Wiki)</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en.bitcoin.it</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41 / 71</a:t>
            </a:r>
            <a:endParaRPr lang="en-US" sz="1100" dirty="0"/>
          </a:p>
        </p:txBody>
      </p:sp>
      <p:sp>
        <p:nvSpPr>
          <p:cNvPr id="25" name="story"/>
          <p:cNvSpPr txBox="1"/>
          <p:nvPr/>
        </p:nvSpPr>
        <p:spPr>
          <a:xfrm>
            <a:off x="3108960" y="1216152"/>
            <a:ext cx="5669280" cy="146304"/>
          </a:xfrm>
          <a:prstGeom prst="rect">
            <a:avLst/>
          </a:prstGeom>
          <a:noFill/>
        </p:spPr>
        <p:txBody>
          <a:bodyPr wrap="square" lIns="0" rIns="0" tIns="0" bIns="0" anchor="t">
            <a:spAutoFit/>
          </a:bodyPr>
          <a:lstStyle/>
          <a:p>
            <a:pPr algn="l"/>
            <a:r>
              <a:rPr sz="1100" b="1" i="0">
                <a:solidFill>
                  <a:srgbClr val="D97A14"/>
                </a:solidFill>
                <a:latin typeface="Calibri"/>
                <a:ea typeface="Calibri"/>
                <a:cs typeface="Calibri"/>
              </a:rPr>
              <a:t>15 August 2010 · block 74,638 · the bitcointalk forum</a:t>
            </a:r>
          </a:p>
        </p:txBody>
      </p:sp>
      <p:sp>
        <p:nvSpPr>
          <p:cNvPr id="26" name="story"/>
          <p:cNvSpPr txBox="1"/>
          <p:nvPr/>
        </p:nvSpPr>
        <p:spPr>
          <a:xfrm>
            <a:off x="3108960" y="1408176"/>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On 15 August 2010 block 74,638 contained a transaction with two outputs of 92 billion bitcoins each, 184 billion in all.</a:t>
            </a:r>
          </a:p>
        </p:txBody>
      </p:sp>
      <p:sp>
        <p:nvSpPr>
          <p:cNvPr id="27" name="story"/>
          <p:cNvSpPr txBox="1"/>
          <p:nvPr/>
        </p:nvSpPr>
        <p:spPr>
          <a:xfrm>
            <a:off x="3108960" y="1837944"/>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Added as 64-bit integers, the amounts wrapped around to a small negative number, so the check that outputs do not exceed inputs passed.</a:t>
            </a:r>
          </a:p>
        </p:txBody>
      </p:sp>
      <p:sp>
        <p:nvSpPr>
          <p:cNvPr id="28" name="story"/>
          <p:cNvSpPr txBox="1"/>
          <p:nvPr/>
        </p:nvSpPr>
        <p:spPr>
          <a:xfrm>
            <a:off x="3108960" y="2267712"/>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Jeff Garzik reported the strange block on the forum within two hours, and Satoshi Nakamoto patched the software within about five.</a:t>
            </a:r>
          </a:p>
        </p:txBody>
      </p:sp>
      <p:sp>
        <p:nvSpPr>
          <p:cNvPr id="29" name="story"/>
          <p:cNvSpPr txBox="1"/>
          <p:nvPr/>
        </p:nvSpPr>
        <p:spPr>
          <a:xfrm>
            <a:off x="3108960" y="2697480"/>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The honest chain overtook the bad one at block 74,691 and erased the transaction.</a:t>
            </a:r>
          </a:p>
        </p:txBody>
      </p:sp>
      <p:sp>
        <p:nvSpPr>
          <p:cNvPr id="30" name="lesson"/>
          <p:cNvSpPr/>
          <p:nvPr/>
        </p:nvSpPr>
        <p:spPr>
          <a:xfrm>
            <a:off x="3108960" y="3575304"/>
            <a:ext cx="5669280" cy="493776"/>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B2622"/>
                </a:solidFill>
                <a:latin typeface="Calibri"/>
                <a:ea typeface="Calibri"/>
                <a:cs typeface="Calibri"/>
              </a:rPr>
              <a:t>A signed amount needs a range check: Bitcoin Core's tx_check.cpp still cites the bug, CVE-2010-5139.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Outputs: concepts (3 of 3)</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362456"/>
          </a:xfrm>
          <a:prstGeom prst="roundRect">
            <a:avLst>
              <a:gd name="adj" fmla="val 5369"/>
            </a:avLst>
          </a:prstGeom>
          <a:solidFill>
            <a:srgbClr val="F2ECE1"/>
          </a:solidFill>
          <a:ln w="12700">
            <a:solidFill>
              <a:srgbClr val="DFD6C7"/>
            </a:solidFill>
            <a:prstDash val="solid"/>
          </a:ln>
        </p:spPr>
        <p:txBody>
          <a:bodyPr/>
          <a:p/>
        </p:txBody>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 size limits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Zero at minimum, 10,000 bytes to spend.</a:t>
            </a:r>
            <a:endParaRPr lang="en-US" sz="1300" dirty="0"/>
          </a:p>
        </p:txBody>
      </p:sp>
      <p:sp>
        <p:nvSpPr>
          <p:cNvPr id="9" name="Text 7"/>
          <p:cNvSpPr txBox="1"/>
          <p:nvPr/>
        </p:nvSpPr>
        <p:spPr>
          <a:xfrm>
            <a:off x="640080"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cap on how long the lock's instructions may be.</a:t>
            </a:r>
            <a:endParaRPr lang="en-US" sz="1150" dirty="0"/>
          </a:p>
        </p:txBody>
      </p:sp>
      <p:sp>
        <p:nvSpPr>
          <p:cNvPr id="10" name="Shape 8"/>
          <p:cNvSpPr/>
          <p:nvPr/>
        </p:nvSpPr>
        <p:spPr>
          <a:xfrm>
            <a:off x="3249168" y="1280160"/>
            <a:ext cx="2645664" cy="1362456"/>
          </a:xfrm>
          <a:prstGeom prst="roundRect">
            <a:avLst>
              <a:gd name="adj" fmla="val 5369"/>
            </a:avLst>
          </a:prstGeom>
          <a:solidFill>
            <a:srgbClr val="F2ECE1"/>
          </a:solidFill>
          <a:ln w="12700">
            <a:solidFill>
              <a:srgbClr val="DFD6C7"/>
            </a:solidFill>
            <a:prstDash val="solid"/>
          </a:ln>
        </p:spPr>
        <p:txBody>
          <a:bodyPr/>
          <a:p/>
        </p:txBody>
      </p:sp>
      <p:sp>
        <p:nvSpPr>
          <p:cNvPr id="11" name="Shape 9"/>
          <p:cNvSpPr/>
          <p:nvPr/>
        </p:nvSpPr>
        <p:spPr>
          <a:xfrm>
            <a:off x="3267456" y="1408176"/>
            <a:ext cx="64008" cy="1106424"/>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3432048" y="1344168"/>
            <a:ext cx="2371344"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Anyone-can-spend scripts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An empty script that OP_TRUE satisfies.</a:t>
            </a:r>
            <a:endParaRPr lang="en-US" sz="1300" dirty="0"/>
          </a:p>
        </p:txBody>
      </p:sp>
      <p:sp>
        <p:nvSpPr>
          <p:cNvPr id="13" name="Text 11"/>
          <p:cNvSpPr txBox="1"/>
          <p:nvPr/>
        </p:nvSpPr>
        <p:spPr>
          <a:xfrm>
            <a:off x="3432048" y="2185416"/>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safe left unlocked in the street.</a:t>
            </a:r>
            <a:endParaRPr lang="en-US" sz="1150" dirty="0"/>
          </a:p>
        </p:txBody>
      </p:sp>
      <p:sp>
        <p:nvSpPr>
          <p:cNvPr id="14" name="Shape 12"/>
          <p:cNvSpPr/>
          <p:nvPr/>
        </p:nvSpPr>
        <p:spPr>
          <a:xfrm>
            <a:off x="6041136" y="1280160"/>
            <a:ext cx="2645664" cy="1362456"/>
          </a:xfrm>
          <a:prstGeom prst="roundRect">
            <a:avLst>
              <a:gd name="adj" fmla="val 5369"/>
            </a:avLst>
          </a:prstGeom>
          <a:solidFill>
            <a:srgbClr val="F2ECE1"/>
          </a:solidFill>
          <a:ln w="12700">
            <a:solidFill>
              <a:srgbClr val="DFD6C7"/>
            </a:solidFill>
            <a:prstDash val="solid"/>
          </a:ln>
        </p:spPr>
        <p:txBody>
          <a:bodyPr/>
          <a:p/>
        </p:txBody>
      </p:sp>
      <p:sp>
        <p:nvSpPr>
          <p:cNvPr id="15" name="Shape 13"/>
          <p:cNvSpPr/>
          <p:nvPr/>
        </p:nvSpPr>
        <p:spPr>
          <a:xfrm>
            <a:off x="6059424" y="1408176"/>
            <a:ext cx="64008" cy="1106424"/>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224016" y="1344168"/>
            <a:ext cx="2371344"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Standard transaction outputs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few templates relay policy allows.</a:t>
            </a:r>
            <a:endParaRPr lang="en-US" sz="1300" dirty="0"/>
          </a:p>
        </p:txBody>
      </p:sp>
      <p:sp>
        <p:nvSpPr>
          <p:cNvPr id="17" name="Text 15"/>
          <p:cNvSpPr txBox="1"/>
          <p:nvPr/>
        </p:nvSpPr>
        <p:spPr>
          <a:xfrm>
            <a:off x="6224016" y="2185416"/>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few lock models the post office accepts.</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42 / 71</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Dust limits by output type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smallest output a node will relay</a:t>
            </a:r>
            <a:endParaRPr lang="en-US" sz="1300" dirty="0"/>
          </a:p>
        </p:txBody>
      </p:sp>
      <p:sp>
        <p:nvSpPr>
          <p:cNvPr id="17" name="Text 15"/>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dust limit in satoshis, at 3,000 sat/kvB</a:t>
            </a:r>
            <a:endParaRPr lang="en-US" sz="1100" dirty="0"/>
          </a:p>
        </p:txBody>
      </p:sp>
      <p:graphicFrame>
        <p:nvGraphicFramePr>
          <p:cNvPr id="18" name="Chart 0" descr=""/>
          <p:cNvGraphicFramePr/>
          <p:nvPr/>
        </p:nvGraphicFramePr>
        <p:xfrm>
          <a:off x="5715000" y="1773936"/>
          <a:ext cx="2971800" cy="2075688"/>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An output below its limit is not relayed. OP_RETURN outputs cannot be spent, so their limit is zero.</a:t>
            </a:r>
            <a:endParaRPr lang="en-US" sz="1150" dirty="0"/>
          </a:p>
        </p:txBody>
      </p:sp>
      <p:sp>
        <p:nvSpPr>
          <p:cNvPr id="20" name="Shape 17"/>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1" name="Text 18"/>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Dust is a policy about who pays for the UTXO set: everyone, for ever</a:t>
            </a:r>
            <a:endParaRPr lang="en-US" sz="1350" dirty="0"/>
          </a:p>
        </p:txBody>
      </p:sp>
      <p:sp>
        <p:nvSpPr>
          <p:cNvPr id="22" name="Text 19"/>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43 / 71</a:t>
            </a:r>
            <a:endParaRPr lang="en-US" sz="1100" dirty="0"/>
          </a:p>
        </p:txBody>
      </p:sp>
      <p:sp>
        <p:nvSpPr>
          <p:cNvPr id="23" name="code 11"/>
          <p:cNvSpPr/>
          <p:nvPr/>
        </p:nvSpPr>
        <p:spPr>
          <a:xfrm>
            <a:off x="365760" y="1170432"/>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P2PKH</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'76a914'</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'00'</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20</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'88ac'</a:t>
            </a:r>
          </a:p>
          <a:p>
            <a:pPr algn="l"/>
            <a:r>
              <a:rPr sz="1100" b="0" i="0">
                <a:solidFill>
                  <a:srgbClr val="E6EDF3"/>
                </a:solidFill>
                <a:latin typeface="Courier New"/>
                <a:ea typeface="Courier New"/>
                <a:cs typeface="Courier New"/>
              </a:rPr>
              <a:t>P2WPKH</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'0014'</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'00'</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20</a:t>
            </a:r>
          </a:p>
          <a:p>
            <a:pPr algn="l"/>
            <a:r>
              <a:rPr sz="1100" b="0" i="0">
                <a:solidFill>
                  <a:srgbClr val="E6EDF3"/>
                </a:solidFill>
                <a:latin typeface="Courier New"/>
                <a:ea typeface="Courier New"/>
                <a:cs typeface="Courier New"/>
              </a:rPr>
              <a:t>P2TR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RET</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'5120'</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'00'</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32</a:t>
            </a:r>
            <a:r>
              <a:rPr sz="1100" b="0" i="0">
                <a:solidFill>
                  <a:srgbClr val="E6EDF3"/>
                </a:solidFill>
                <a:latin typeface="Courier New"/>
                <a:ea typeface="Courier New"/>
                <a:cs typeface="Courier New"/>
              </a:rPr>
              <a:t>, </a:t>
            </a:r>
            <a:r>
              <a:rPr sz="1100" b="0" i="0">
                <a:solidFill>
                  <a:srgbClr val="9ECBFF"/>
                </a:solidFill>
                <a:latin typeface="Courier New"/>
                <a:ea typeface="Courier New"/>
                <a:cs typeface="Courier New"/>
              </a:rPr>
              <a:t>'6a04deadbeef'</a:t>
            </a:r>
          </a:p>
        </p:txBody>
      </p:sp>
      <p:sp>
        <p:nvSpPr>
          <p:cNvPr id="24" name="code 11"/>
          <p:cNvSpPr/>
          <p:nvPr/>
        </p:nvSpPr>
        <p:spPr>
          <a:xfrm>
            <a:off x="365760" y="1794967"/>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scripts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P2PKH</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P2WPKH</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P2TR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RET</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limits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dust_threshold</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s</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s</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scripts</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limits</a:t>
            </a:r>
          </a:p>
        </p:txBody>
      </p:sp>
      <p:sp>
        <p:nvSpPr>
          <p:cNvPr id="25" name="result 11"/>
          <p:cNvSpPr/>
          <p:nvPr/>
        </p:nvSpPr>
        <p:spPr>
          <a:xfrm>
            <a:off x="365760" y="2437790"/>
            <a:ext cx="5166360" cy="385876"/>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sult 11"/>
          <p:cNvSpPr txBox="1"/>
          <p:nvPr/>
        </p:nvSpPr>
        <p:spPr>
          <a:xfrm>
            <a:off x="457200" y="2465222"/>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27" name="result 11"/>
          <p:cNvSpPr txBox="1"/>
          <p:nvPr/>
        </p:nvSpPr>
        <p:spPr>
          <a:xfrm>
            <a:off x="457200" y="2574950"/>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limits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[546, 294, 330, 0]</a:t>
            </a:r>
          </a:p>
        </p:txBody>
      </p:sp>
      <p:sp>
        <p:nvSpPr>
          <p:cNvPr id="28" name="explanation 11"/>
          <p:cNvSpPr txBox="1"/>
          <p:nvPr/>
        </p:nvSpPr>
        <p:spPr>
          <a:xfrm>
            <a:off x="365760" y="2860243"/>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1-3  </a:t>
            </a:r>
            <a:r>
              <a:rPr sz="1200" b="0" i="0">
                <a:solidFill>
                  <a:srgbClr val="2B2622"/>
                </a:solidFill>
                <a:latin typeface="Calibri"/>
                <a:ea typeface="Calibri"/>
                <a:cs typeface="Calibri"/>
              </a:rPr>
              <a:t>Four output scripts: three that can be spent and one data carrier.</a:t>
            </a:r>
          </a:p>
        </p:txBody>
      </p:sp>
      <p:sp>
        <p:nvSpPr>
          <p:cNvPr id="29" name="explanation 11"/>
          <p:cNvSpPr txBox="1"/>
          <p:nvPr/>
        </p:nvSpPr>
        <p:spPr>
          <a:xfrm>
            <a:off x="365760" y="3299155"/>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4-6  </a:t>
            </a:r>
            <a:r>
              <a:rPr sz="1200" b="0" i="0">
                <a:solidFill>
                  <a:srgbClr val="2B2622"/>
                </a:solidFill>
                <a:latin typeface="Calibri"/>
                <a:ea typeface="Calibri"/>
                <a:cs typeface="Calibri"/>
              </a:rPr>
              <a:t>The limit is the cost of creating plus spending an output, at the relay fee.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Witnesses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witness is the ID you show at the counter, kept off the receipt.</a:t>
            </a:r>
            <a:endParaRPr lang="en-US" sz="1500" dirty="0"/>
          </a:p>
        </p:txBody>
      </p:sp>
      <p:sp>
        <p:nvSpPr>
          <p:cNvPr id="6" name="Shape 4"/>
          <p:cNvSpPr/>
          <p:nvPr/>
        </p:nvSpPr>
        <p:spPr>
          <a:xfrm>
            <a:off x="77724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Idea of a witness</a:t>
            </a:r>
            <a:endParaRPr lang="en-US" sz="1100" dirty="0"/>
          </a:p>
        </p:txBody>
      </p:sp>
      <p:sp>
        <p:nvSpPr>
          <p:cNvPr id="8" name="Text 6"/>
          <p:cNvSpPr txBox="1"/>
          <p:nvPr/>
        </p:nvSpPr>
        <p:spPr>
          <a:xfrm>
            <a:off x="777240" y="2487168"/>
            <a:ext cx="182880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Evidence that the spender may spend, kept apart.</a:t>
            </a:r>
            <a:endParaRPr lang="en-US" sz="1100" dirty="0"/>
          </a:p>
        </p:txBody>
      </p:sp>
      <p:sp>
        <p:nvSpPr>
          <p:cNvPr id="9" name="Text 7"/>
          <p:cNvSpPr txBox="1"/>
          <p:nvPr/>
        </p:nvSpPr>
        <p:spPr>
          <a:xfrm>
            <a:off x="777240" y="3062326"/>
            <a:ext cx="1828800" cy="377647"/>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the ID card you show at the counter.</a:t>
            </a:r>
            <a:endParaRPr lang="en-US" sz="1100" dirty="0"/>
          </a:p>
        </p:txBody>
      </p:sp>
      <p:sp>
        <p:nvSpPr>
          <p:cNvPr id="10" name="Shape 8"/>
          <p:cNvSpPr/>
          <p:nvPr/>
        </p:nvSpPr>
        <p:spPr>
          <a:xfrm>
            <a:off x="278892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286207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Malleability</a:t>
            </a:r>
            <a:endParaRPr lang="en-US" sz="1100" dirty="0"/>
          </a:p>
        </p:txBody>
      </p:sp>
      <p:sp>
        <p:nvSpPr>
          <p:cNvPr id="12" name="Text 10"/>
          <p:cNvSpPr txBox="1"/>
          <p:nvPr/>
        </p:nvSpPr>
        <p:spPr>
          <a:xfrm>
            <a:off x="2788920" y="2487168"/>
            <a:ext cx="182880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Changing a transaction's identifier without changing what it pays.</a:t>
            </a:r>
            <a:endParaRPr lang="en-US" sz="1100" dirty="0"/>
          </a:p>
        </p:txBody>
      </p:sp>
      <p:sp>
        <p:nvSpPr>
          <p:cNvPr id="13" name="Text 11"/>
          <p:cNvSpPr txBox="1"/>
          <p:nvPr/>
        </p:nvSpPr>
        <p:spPr>
          <a:xfrm>
            <a:off x="2788920" y="3062326"/>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re-spelling a name so the filing clerk loses the receipt.</a:t>
            </a:r>
            <a:endParaRPr lang="en-US" sz="1100" dirty="0"/>
          </a:p>
        </p:txBody>
      </p:sp>
      <p:sp>
        <p:nvSpPr>
          <p:cNvPr id="14" name="Shape 12"/>
          <p:cNvSpPr/>
          <p:nvPr/>
        </p:nvSpPr>
        <p:spPr>
          <a:xfrm>
            <a:off x="480060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15" name="Text 13"/>
          <p:cNvSpPr txBox="1"/>
          <p:nvPr/>
        </p:nvSpPr>
        <p:spPr>
          <a:xfrm>
            <a:off x="487375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Segwit</a:t>
            </a:r>
            <a:endParaRPr lang="en-US" sz="1100" dirty="0"/>
          </a:p>
        </p:txBody>
      </p:sp>
      <p:sp>
        <p:nvSpPr>
          <p:cNvPr id="16" name="Text 14"/>
          <p:cNvSpPr txBox="1"/>
          <p:nvPr/>
        </p:nvSpPr>
        <p:spPr>
          <a:xfrm>
            <a:off x="4800600" y="2487168"/>
            <a:ext cx="182880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The upgrade that moved the proof out of the identifier.</a:t>
            </a:r>
            <a:endParaRPr lang="en-US" sz="1100" dirty="0"/>
          </a:p>
        </p:txBody>
      </p:sp>
      <p:sp>
        <p:nvSpPr>
          <p:cNvPr id="17" name="Text 15"/>
          <p:cNvSpPr txBox="1"/>
          <p:nvPr/>
        </p:nvSpPr>
        <p:spPr>
          <a:xfrm>
            <a:off x="4800600" y="3062326"/>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keeping the passport photo off the ticket number.</a:t>
            </a:r>
            <a:endParaRPr lang="en-US" sz="1100" dirty="0"/>
          </a:p>
        </p:txBody>
      </p:sp>
      <p:sp>
        <p:nvSpPr>
          <p:cNvPr id="18" name="Shape 16"/>
          <p:cNvSpPr/>
          <p:nvPr/>
        </p:nvSpPr>
        <p:spPr>
          <a:xfrm>
            <a:off x="6812280" y="2103120"/>
            <a:ext cx="1828800" cy="310896"/>
          </a:xfrm>
          <a:prstGeom prst="roundRect">
            <a:avLst>
              <a:gd name="adj" fmla="val 50000"/>
            </a:avLst>
          </a:prstGeom>
          <a:solidFill>
            <a:srgbClr val="D97A14"/>
          </a:solidFill>
          <a:ln w="12700">
            <a:solidFill>
              <a:srgbClr val="D97A14"/>
            </a:solidFill>
            <a:prstDash val="solid"/>
          </a:ln>
        </p:spPr>
        <p:txBody>
          <a:bodyPr/>
          <a:p/>
        </p:txBody>
      </p:sp>
      <p:sp>
        <p:nvSpPr>
          <p:cNvPr id="19" name="Text 17"/>
          <p:cNvSpPr txBox="1"/>
          <p:nvPr/>
        </p:nvSpPr>
        <p:spPr>
          <a:xfrm>
            <a:off x="6885432" y="2103120"/>
            <a:ext cx="16824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Witness layout</a:t>
            </a:r>
            <a:endParaRPr lang="en-US" sz="1100" dirty="0"/>
          </a:p>
        </p:txBody>
      </p:sp>
      <p:sp>
        <p:nvSpPr>
          <p:cNvPr id="20" name="Text 18"/>
          <p:cNvSpPr txBox="1"/>
          <p:nvPr/>
        </p:nvSpPr>
        <p:spPr>
          <a:xfrm>
            <a:off x="6812280" y="2487168"/>
            <a:ext cx="182880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How the separate proofs are written after the main fields.</a:t>
            </a:r>
            <a:endParaRPr lang="en-US" sz="1100" dirty="0"/>
          </a:p>
        </p:txBody>
      </p:sp>
      <p:sp>
        <p:nvSpPr>
          <p:cNvPr id="21" name="Text 19"/>
          <p:cNvSpPr txBox="1"/>
          <p:nvPr/>
        </p:nvSpPr>
        <p:spPr>
          <a:xfrm>
            <a:off x="6812280" y="3062326"/>
            <a:ext cx="1828800" cy="547726"/>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annex pages bound behind the main letter.</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23" name="Text 20"/>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44 / 71</a:t>
            </a:r>
            <a:endParaRPr lang="en-US" sz="11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What each identifier covers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Why moving the signature out changed everything</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txid ignores the witness; the wtxid covers every byte</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45 / 71</a:t>
            </a:r>
            <a:endParaRPr lang="en-US" sz="1100" dirty="0"/>
          </a:p>
        </p:txBody>
      </p:sp>
      <p:sp>
        <p:nvSpPr>
          <p:cNvPr id="28" name="before title"/>
          <p:cNvSpPr txBox="1"/>
          <p:nvPr/>
        </p:nvSpPr>
        <p:spPr>
          <a:xfrm>
            <a:off x="365760" y="1152144"/>
            <a:ext cx="4572000" cy="146304"/>
          </a:xfrm>
          <a:prstGeom prst="rect">
            <a:avLst/>
          </a:prstGeom>
          <a:noFill/>
        </p:spPr>
        <p:txBody>
          <a:bodyPr wrap="square" lIns="0" rIns="0" tIns="0" bIns="0" anchor="t">
            <a:spAutoFit/>
          </a:bodyPr>
          <a:lstStyle/>
          <a:p>
            <a:pPr algn="l"/>
            <a:r>
              <a:rPr sz="1200" b="1" i="0">
                <a:solidFill>
                  <a:srgbClr val="2B2622"/>
                </a:solidFill>
                <a:latin typeface="Calibri"/>
                <a:ea typeface="Calibri"/>
                <a:cs typeface="Calibri"/>
              </a:rPr>
              <a:t>Before segwit</a:t>
            </a:r>
          </a:p>
        </p:txBody>
      </p:sp>
      <p:sp>
        <p:nvSpPr>
          <p:cNvPr id="29" name="before version"/>
          <p:cNvSpPr/>
          <p:nvPr/>
        </p:nvSpPr>
        <p:spPr>
          <a:xfrm>
            <a:off x="365760" y="1316736"/>
            <a:ext cx="731520" cy="402336"/>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version</a:t>
            </a:r>
          </a:p>
        </p:txBody>
      </p:sp>
      <p:sp>
        <p:nvSpPr>
          <p:cNvPr id="30" name="before inputs"/>
          <p:cNvSpPr/>
          <p:nvPr/>
        </p:nvSpPr>
        <p:spPr>
          <a:xfrm>
            <a:off x="1097280" y="1316736"/>
            <a:ext cx="3017520" cy="402336"/>
          </a:xfrm>
          <a:prstGeom prst="rect">
            <a:avLst/>
          </a:prstGeom>
          <a:solidFill>
            <a:srgbClr val="2B262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inputs, with the signature inside</a:t>
            </a:r>
          </a:p>
        </p:txBody>
      </p:sp>
      <p:sp>
        <p:nvSpPr>
          <p:cNvPr id="31" name="before outputs"/>
          <p:cNvSpPr/>
          <p:nvPr/>
        </p:nvSpPr>
        <p:spPr>
          <a:xfrm>
            <a:off x="4114800" y="1316736"/>
            <a:ext cx="3017520" cy="402336"/>
          </a:xfrm>
          <a:prstGeom prst="rect">
            <a:avLst/>
          </a:prstGeom>
          <a:solidFill>
            <a:srgbClr val="5F8F8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outputs</a:t>
            </a:r>
          </a:p>
        </p:txBody>
      </p:sp>
      <p:sp>
        <p:nvSpPr>
          <p:cNvPr id="32" name="before lock"/>
          <p:cNvSpPr/>
          <p:nvPr/>
        </p:nvSpPr>
        <p:spPr>
          <a:xfrm>
            <a:off x="7132320" y="1316736"/>
            <a:ext cx="1645920" cy="402336"/>
          </a:xfrm>
          <a:prstGeom prst="rect">
            <a:avLst/>
          </a:prstGeom>
          <a:solidFill>
            <a:srgbClr val="6E655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lock time</a:t>
            </a:r>
          </a:p>
        </p:txBody>
      </p:sp>
      <p:sp>
        <p:nvSpPr>
          <p:cNvPr id="33" name="before txid bar"/>
          <p:cNvSpPr/>
          <p:nvPr/>
        </p:nvSpPr>
        <p:spPr>
          <a:xfrm>
            <a:off x="365760" y="1755648"/>
            <a:ext cx="8412480" cy="64008"/>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efore txid"/>
          <p:cNvSpPr txBox="1"/>
          <p:nvPr/>
        </p:nvSpPr>
        <p:spPr>
          <a:xfrm>
            <a:off x="365760" y="1837944"/>
            <a:ext cx="8412480" cy="146304"/>
          </a:xfrm>
          <a:prstGeom prst="rect">
            <a:avLst/>
          </a:prstGeom>
          <a:noFill/>
        </p:spPr>
        <p:txBody>
          <a:bodyPr wrap="square" lIns="0" rIns="0" tIns="0" bIns="0" anchor="t">
            <a:spAutoFit/>
          </a:bodyPr>
          <a:lstStyle/>
          <a:p>
            <a:pPr algn="l"/>
            <a:r>
              <a:rPr sz="1050" b="1" i="0">
                <a:solidFill>
                  <a:srgbClr val="2F6D62"/>
                </a:solidFill>
                <a:latin typeface="Calibri"/>
                <a:ea typeface="Calibri"/>
                <a:cs typeface="Calibri"/>
              </a:rPr>
              <a:t>txid covers everything, signature included: a stranger who re-encodes the signature changes the txid</a:t>
            </a:r>
          </a:p>
        </p:txBody>
      </p:sp>
      <p:sp>
        <p:nvSpPr>
          <p:cNvPr id="35" name="after title"/>
          <p:cNvSpPr txBox="1"/>
          <p:nvPr/>
        </p:nvSpPr>
        <p:spPr>
          <a:xfrm>
            <a:off x="365760" y="2084832"/>
            <a:ext cx="4572000" cy="146304"/>
          </a:xfrm>
          <a:prstGeom prst="rect">
            <a:avLst/>
          </a:prstGeom>
          <a:noFill/>
        </p:spPr>
        <p:txBody>
          <a:bodyPr wrap="square" lIns="0" rIns="0" tIns="0" bIns="0" anchor="t">
            <a:spAutoFit/>
          </a:bodyPr>
          <a:lstStyle/>
          <a:p>
            <a:pPr algn="l"/>
            <a:r>
              <a:rPr sz="1200" b="1" i="0">
                <a:solidFill>
                  <a:srgbClr val="2B2622"/>
                </a:solidFill>
                <a:latin typeface="Calibri"/>
                <a:ea typeface="Calibri"/>
                <a:cs typeface="Calibri"/>
              </a:rPr>
              <a:t>After segwit</a:t>
            </a:r>
          </a:p>
        </p:txBody>
      </p:sp>
      <p:sp>
        <p:nvSpPr>
          <p:cNvPr id="36" name="after wtxid"/>
          <p:cNvSpPr txBox="1"/>
          <p:nvPr/>
        </p:nvSpPr>
        <p:spPr>
          <a:xfrm>
            <a:off x="365760" y="2249424"/>
            <a:ext cx="8412480" cy="146304"/>
          </a:xfrm>
          <a:prstGeom prst="rect">
            <a:avLst/>
          </a:prstGeom>
          <a:noFill/>
        </p:spPr>
        <p:txBody>
          <a:bodyPr wrap="square" lIns="0" rIns="0" tIns="0" bIns="0" anchor="t">
            <a:spAutoFit/>
          </a:bodyPr>
          <a:lstStyle/>
          <a:p>
            <a:pPr algn="l"/>
            <a:r>
              <a:rPr sz="1050" b="1" i="0">
                <a:solidFill>
                  <a:srgbClr val="B5651D"/>
                </a:solidFill>
                <a:latin typeface="Calibri"/>
                <a:ea typeface="Calibri"/>
                <a:cs typeface="Calibri"/>
              </a:rPr>
              <a:t>wtxid covers every byte</a:t>
            </a:r>
          </a:p>
        </p:txBody>
      </p:sp>
      <p:sp>
        <p:nvSpPr>
          <p:cNvPr id="37" name="after wtxid bar"/>
          <p:cNvSpPr/>
          <p:nvPr/>
        </p:nvSpPr>
        <p:spPr>
          <a:xfrm>
            <a:off x="365760" y="2404872"/>
            <a:ext cx="8412480" cy="64008"/>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after version"/>
          <p:cNvSpPr/>
          <p:nvPr/>
        </p:nvSpPr>
        <p:spPr>
          <a:xfrm>
            <a:off x="365760" y="2496312"/>
            <a:ext cx="640080" cy="402336"/>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version</a:t>
            </a:r>
          </a:p>
        </p:txBody>
      </p:sp>
      <p:sp>
        <p:nvSpPr>
          <p:cNvPr id="39" name="after mf"/>
          <p:cNvSpPr/>
          <p:nvPr/>
        </p:nvSpPr>
        <p:spPr>
          <a:xfrm>
            <a:off x="1005840" y="2496312"/>
            <a:ext cx="411480" cy="402336"/>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m f</a:t>
            </a:r>
          </a:p>
        </p:txBody>
      </p:sp>
      <p:sp>
        <p:nvSpPr>
          <p:cNvPr id="40" name="after inputs"/>
          <p:cNvSpPr/>
          <p:nvPr/>
        </p:nvSpPr>
        <p:spPr>
          <a:xfrm>
            <a:off x="1417320" y="2496312"/>
            <a:ext cx="2286000" cy="402336"/>
          </a:xfrm>
          <a:prstGeom prst="rect">
            <a:avLst/>
          </a:prstGeom>
          <a:solidFill>
            <a:srgbClr val="2B262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inputs, script empty</a:t>
            </a:r>
          </a:p>
        </p:txBody>
      </p:sp>
      <p:sp>
        <p:nvSpPr>
          <p:cNvPr id="41" name="after outputs"/>
          <p:cNvSpPr/>
          <p:nvPr/>
        </p:nvSpPr>
        <p:spPr>
          <a:xfrm>
            <a:off x="3703320" y="2496312"/>
            <a:ext cx="2286000" cy="402336"/>
          </a:xfrm>
          <a:prstGeom prst="rect">
            <a:avLst/>
          </a:prstGeom>
          <a:solidFill>
            <a:srgbClr val="5F8F8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outputs</a:t>
            </a:r>
          </a:p>
        </p:txBody>
      </p:sp>
      <p:sp>
        <p:nvSpPr>
          <p:cNvPr id="42" name="after witness"/>
          <p:cNvSpPr/>
          <p:nvPr/>
        </p:nvSpPr>
        <p:spPr>
          <a:xfrm>
            <a:off x="5989320" y="2496312"/>
            <a:ext cx="2057400" cy="402336"/>
          </a:xfrm>
          <a:prstGeom prst="rect">
            <a:avLst/>
          </a:prstGeom>
          <a:solidFill>
            <a:srgbClr val="B5651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witness: the signature</a:t>
            </a:r>
          </a:p>
        </p:txBody>
      </p:sp>
      <p:sp>
        <p:nvSpPr>
          <p:cNvPr id="43" name="after lock"/>
          <p:cNvSpPr/>
          <p:nvPr/>
        </p:nvSpPr>
        <p:spPr>
          <a:xfrm>
            <a:off x="8046720" y="2496312"/>
            <a:ext cx="731520" cy="402336"/>
          </a:xfrm>
          <a:prstGeom prst="rect">
            <a:avLst/>
          </a:prstGeom>
          <a:solidFill>
            <a:srgbClr val="6E655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50" b="1" i="0">
                <a:solidFill>
                  <a:srgbClr val="FFFFFF"/>
                </a:solidFill>
                <a:latin typeface="Calibri"/>
                <a:ea typeface="Calibri"/>
                <a:cs typeface="Calibri"/>
              </a:rPr>
              <a:t>lock</a:t>
            </a:r>
          </a:p>
        </p:txBody>
      </p:sp>
      <p:sp>
        <p:nvSpPr>
          <p:cNvPr id="44" name="after txid bar version"/>
          <p:cNvSpPr/>
          <p:nvPr/>
        </p:nvSpPr>
        <p:spPr>
          <a:xfrm>
            <a:off x="365760" y="2926080"/>
            <a:ext cx="640080" cy="64008"/>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fter txid bar inputs"/>
          <p:cNvSpPr/>
          <p:nvPr/>
        </p:nvSpPr>
        <p:spPr>
          <a:xfrm>
            <a:off x="1417320" y="2926080"/>
            <a:ext cx="2286000" cy="64008"/>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fter txid bar outputs"/>
          <p:cNvSpPr/>
          <p:nvPr/>
        </p:nvSpPr>
        <p:spPr>
          <a:xfrm>
            <a:off x="3703320" y="2926080"/>
            <a:ext cx="2286000" cy="64008"/>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fter txid bar lock"/>
          <p:cNvSpPr/>
          <p:nvPr/>
        </p:nvSpPr>
        <p:spPr>
          <a:xfrm>
            <a:off x="8046720" y="2926080"/>
            <a:ext cx="731520" cy="64008"/>
          </a:xfrm>
          <a:prstGeom prst="rect">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fter txid"/>
          <p:cNvSpPr txBox="1"/>
          <p:nvPr/>
        </p:nvSpPr>
        <p:spPr>
          <a:xfrm>
            <a:off x="365760" y="3008376"/>
            <a:ext cx="8412480" cy="146304"/>
          </a:xfrm>
          <a:prstGeom prst="rect">
            <a:avLst/>
          </a:prstGeom>
          <a:noFill/>
        </p:spPr>
        <p:txBody>
          <a:bodyPr wrap="square" lIns="0" rIns="0" tIns="0" bIns="0" anchor="t">
            <a:spAutoFit/>
          </a:bodyPr>
          <a:lstStyle/>
          <a:p>
            <a:pPr algn="l"/>
            <a:r>
              <a:rPr sz="1050" b="1" i="0">
                <a:solidFill>
                  <a:srgbClr val="2F6D62"/>
                </a:solidFill>
                <a:latin typeface="Calibri"/>
                <a:ea typeface="Calibri"/>
                <a:cs typeface="Calibri"/>
              </a:rPr>
              <a:t>txid covers only these four fields; the witness, with marker and flag, stays outside</a:t>
            </a:r>
          </a:p>
        </p:txBody>
      </p:sp>
      <p:sp>
        <p:nvSpPr>
          <p:cNvPr id="49" name="reading"/>
          <p:cNvSpPr txBox="1"/>
          <p:nvPr/>
        </p:nvSpPr>
        <p:spPr>
          <a:xfrm>
            <a:off x="365760" y="3291840"/>
            <a:ext cx="8412480" cy="40538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Before segwit the signature sat inside the input script, so the txid covered it and a stranger could re-encode it.</a:t>
            </a:r>
          </a:p>
        </p:txBody>
      </p:sp>
      <p:sp>
        <p:nvSpPr>
          <p:cNvPr id="50" name="reading"/>
          <p:cNvSpPr txBox="1"/>
          <p:nvPr/>
        </p:nvSpPr>
        <p:spPr>
          <a:xfrm>
            <a:off x="365760" y="3724656"/>
            <a:ext cx="8412480" cy="23012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After segwit the signature lives in the witness, outside the txid, so the txid no longer moves.</a:t>
            </a:r>
          </a:p>
        </p:txBody>
      </p:sp>
      <p:sp>
        <p:nvSpPr>
          <p:cNvPr id="51" name="reading"/>
          <p:cNvSpPr txBox="1"/>
          <p:nvPr/>
        </p:nvSpPr>
        <p:spPr>
          <a:xfrm>
            <a:off x="365760" y="3982212"/>
            <a:ext cx="8412480" cy="230123"/>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  </a:t>
            </a:r>
            <a:r>
              <a:rPr sz="1150" b="0" i="0">
                <a:solidFill>
                  <a:srgbClr val="2B2622"/>
                </a:solidFill>
                <a:latin typeface="Calibri"/>
                <a:ea typeface="Calibri"/>
                <a:cs typeface="Calibri"/>
              </a:rPr>
              <a:t>Think of keeping the passport photo off the ticket number: the photo can change, the ticket number cannot.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Witnesses: concepts (1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value 2 solves 2 OP_ADD 4 OP_EQUAL.</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answer to the riddle printed on the lock.</a:t>
            </a:r>
            <a:endParaRPr lang="en-US" sz="1150" dirty="0"/>
          </a:p>
        </p:txBody>
      </p:sp>
      <p:sp>
        <p:nvSpPr>
          <p:cNvPr id="10" name="Shape 8"/>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Public key and signature as 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problem only the key holder can solve.</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signature only the account holder can produce.</a:t>
            </a:r>
            <a:endParaRPr lang="en-US" sz="1150" dirty="0"/>
          </a:p>
        </p:txBody>
      </p:sp>
      <p:sp>
        <p:nvSpPr>
          <p:cNvPr id="14" name="Shape 12"/>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5" name="Shape 13"/>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Contract protocols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Transactions signed out of order.</a:t>
            </a:r>
            <a:endParaRPr lang="en-US" sz="1300" dirty="0"/>
          </a:p>
        </p:txBody>
      </p:sp>
      <p:sp>
        <p:nvSpPr>
          <p:cNvPr id="17" name="Text 15"/>
          <p:cNvSpPr txBox="1"/>
          <p:nvPr/>
        </p:nvSpPr>
        <p:spPr>
          <a:xfrm>
            <a:off x="640080"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agreements signed in advance so nobody can walk away.</a:t>
            </a:r>
            <a:endParaRPr lang="en-US" sz="1150" dirty="0"/>
          </a:p>
        </p:txBody>
      </p:sp>
      <p:sp>
        <p:nvSpPr>
          <p:cNvPr id="18" name="Text 16"/>
          <p:cNvSpPr txBox="1"/>
          <p:nvPr/>
        </p:nvSpPr>
        <p:spPr>
          <a:xfrm>
            <a:off x="640080" y="3519526"/>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trustless protocol</a:t>
            </a:r>
            <a:endParaRPr lang="en-US" sz="1000" dirty="0"/>
          </a:p>
        </p:txBody>
      </p:sp>
      <p:sp>
        <p:nvSpPr>
          <p:cNvPr id="19" name="Shape 17"/>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20" name="Shape 18"/>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Circular dependency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refund needs the deposit's txid first.</a:t>
            </a:r>
            <a:endParaRPr lang="en-US" sz="1300" dirty="0"/>
          </a:p>
        </p:txBody>
      </p:sp>
      <p:sp>
        <p:nvSpPr>
          <p:cNvPr id="22" name="Text 20"/>
          <p:cNvSpPr txBox="1"/>
          <p:nvPr/>
        </p:nvSpPr>
        <p:spPr>
          <a:xfrm>
            <a:off x="4828032" y="3108046"/>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needing the key to get the key.</a:t>
            </a:r>
            <a:endParaRPr lang="en-US" sz="1150" dirty="0"/>
          </a:p>
        </p:txBody>
      </p:sp>
      <p:sp>
        <p:nvSpPr>
          <p:cNvPr id="23" name="Text 21"/>
          <p:cNvSpPr txBox="1"/>
          <p:nvPr/>
        </p:nvSpPr>
        <p:spPr>
          <a:xfrm>
            <a:off x="4828032" y="3341218"/>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Circular Dependencies</a:t>
            </a:r>
            <a:endParaRPr lang="en-US" sz="1000" dirty="0"/>
          </a:p>
        </p:txBody>
      </p:sp>
      <p:sp>
        <p:nvSpPr>
          <p:cNvPr id="24"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5"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6"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46 / 71</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One spend, four identifiers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Push encodings and third-party malleability</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four pushes of the number 2</a:t>
            </a:r>
            <a:endParaRPr lang="en-US" sz="1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051560"/>
                <a:gridCol w="822960"/>
                <a:gridCol w="109728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Encoding</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Script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txid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OP_2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52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0423a53a</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OP_PUSH1 0x02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0102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b3485f99</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OP_PUSH2 0x0002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020200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18da36d1</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OP_PUSHDATA1 0x0102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4c0102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4d986cd8</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419856"/>
            <a:ext cx="2971800" cy="42062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4 encodings give 4 different identifiers for one payment.</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stranger could change the txid without changing the payment</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47 / 71</a:t>
            </a:r>
            <a:endParaRPr lang="en-US" sz="1100" dirty="0"/>
          </a:p>
        </p:txBody>
      </p:sp>
      <p:sp>
        <p:nvSpPr>
          <p:cNvPr id="42" name="code 12"/>
          <p:cNvSpPr/>
          <p:nvPr/>
        </p:nvSpPr>
        <p:spPr>
          <a:xfrm>
            <a:off x="365760" y="1170432"/>
            <a:ext cx="5166360" cy="232257"/>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enc</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push_encodings</a:t>
            </a:r>
            <a:r>
              <a:rPr sz="1000" b="0" i="0">
                <a:solidFill>
                  <a:srgbClr val="E6EDF3"/>
                </a:solidFill>
                <a:latin typeface="Courier New"/>
                <a:ea typeface="Courier New"/>
                <a:cs typeface="Courier New"/>
              </a:rPr>
              <a:t>(</a:t>
            </a:r>
            <a:r>
              <a:rPr sz="1000" b="0" i="0">
                <a:solidFill>
                  <a:srgbClr val="FFD28A"/>
                </a:solidFill>
                <a:latin typeface="Courier New"/>
                <a:ea typeface="Courier New"/>
                <a:cs typeface="Courier New"/>
              </a:rPr>
              <a:t>2</a:t>
            </a:r>
            <a:r>
              <a:rPr sz="1000" b="0" i="0">
                <a:solidFill>
                  <a:srgbClr val="E6EDF3"/>
                </a:solidFill>
                <a:latin typeface="Courier New"/>
                <a:ea typeface="Courier New"/>
                <a:cs typeface="Courier New"/>
              </a:rPr>
              <a:t>)</a:t>
            </a:r>
          </a:p>
        </p:txBody>
      </p:sp>
      <p:sp>
        <p:nvSpPr>
          <p:cNvPr id="43" name="code 12"/>
          <p:cNvSpPr/>
          <p:nvPr/>
        </p:nvSpPr>
        <p:spPr>
          <a:xfrm>
            <a:off x="365760" y="1430121"/>
            <a:ext cx="5166360" cy="549554"/>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ids</a:t>
            </a:r>
            <a:r>
              <a:rPr sz="1000" b="0" i="0">
                <a:solidFill>
                  <a:srgbClr val="E6EDF3"/>
                </a:solidFill>
                <a:latin typeface="Courier New"/>
                <a:ea typeface="Courier New"/>
                <a:cs typeface="Courier New"/>
              </a:rPr>
              <a:t> = {}</a:t>
            </a:r>
          </a:p>
          <a:p>
            <a:pPr algn="l"/>
            <a:r>
              <a:rPr sz="1000" b="1" i="0">
                <a:solidFill>
                  <a:srgbClr val="F2A860"/>
                </a:solidFill>
                <a:latin typeface="Courier New"/>
                <a:ea typeface="Courier New"/>
                <a:cs typeface="Courier New"/>
              </a:rPr>
              <a:t>for</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k</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s</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in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enc</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items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ids</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k</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txid</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with_input_script</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FIRST</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s</a:t>
            </a:r>
            <a:r>
              <a:rPr sz="1000" b="0" i="0">
                <a:solidFill>
                  <a:srgbClr val="E6EDF3"/>
                </a:solidFill>
                <a:latin typeface="Courier New"/>
                <a:ea typeface="Courier New"/>
                <a:cs typeface="Courier New"/>
              </a:rPr>
              <a:t>))[:</a:t>
            </a:r>
            <a:r>
              <a:rPr sz="1000" b="0" i="0">
                <a:solidFill>
                  <a:srgbClr val="FFD28A"/>
                </a:solidFill>
                <a:latin typeface="Courier New"/>
                <a:ea typeface="Courier New"/>
                <a:cs typeface="Courier New"/>
              </a:rPr>
              <a:t>8</a:t>
            </a:r>
            <a:r>
              <a:rPr sz="1000" b="0" i="0">
                <a:solidFill>
                  <a:srgbClr val="E6EDF3"/>
                </a:solidFill>
                <a:latin typeface="Courier New"/>
                <a:ea typeface="Courier New"/>
                <a:cs typeface="Courier New"/>
              </a:rPr>
              <a:t>]</a:t>
            </a:r>
          </a:p>
        </p:txBody>
      </p:sp>
      <p:sp>
        <p:nvSpPr>
          <p:cNvPr id="44" name="code 12"/>
          <p:cNvSpPr/>
          <p:nvPr/>
        </p:nvSpPr>
        <p:spPr>
          <a:xfrm>
            <a:off x="365760" y="2007108"/>
            <a:ext cx="5166360" cy="39044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distinct</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len</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set</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ids</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values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distinct</a:t>
            </a:r>
          </a:p>
        </p:txBody>
      </p:sp>
      <p:sp>
        <p:nvSpPr>
          <p:cNvPr id="45" name="result 12"/>
          <p:cNvSpPr/>
          <p:nvPr/>
        </p:nvSpPr>
        <p:spPr>
          <a:xfrm>
            <a:off x="365760" y="2443276"/>
            <a:ext cx="5166360" cy="822960"/>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sult 12"/>
          <p:cNvSpPr txBox="1"/>
          <p:nvPr/>
        </p:nvSpPr>
        <p:spPr>
          <a:xfrm>
            <a:off x="457200" y="2470708"/>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47" name="result 12"/>
          <p:cNvSpPr txBox="1"/>
          <p:nvPr/>
        </p:nvSpPr>
        <p:spPr>
          <a:xfrm>
            <a:off x="457200" y="2580436"/>
            <a:ext cx="4983480" cy="159956"/>
          </a:xfrm>
          <a:prstGeom prst="rect">
            <a:avLst/>
          </a:prstGeom>
          <a:noFill/>
        </p:spPr>
        <p:txBody>
          <a:bodyPr wrap="square" lIns="0" rIns="0" tIns="0" bIns="0" anchor="t">
            <a:spAutoFit/>
          </a:bodyPr>
          <a:lstStyle/>
          <a:p>
            <a:pPr algn="l"/>
            <a:r>
              <a:rPr sz="950" b="0" i="0">
                <a:solidFill>
                  <a:srgbClr val="6E655C"/>
                </a:solidFill>
                <a:latin typeface="Courier New"/>
                <a:ea typeface="Courier New"/>
                <a:cs typeface="Courier New"/>
              </a:rPr>
              <a:t>list(enc.values())</a:t>
            </a:r>
            <a:r>
              <a:rPr sz="950" b="1" i="0">
                <a:solidFill>
                  <a:srgbClr val="D97A14"/>
                </a:solidFill>
                <a:latin typeface="Courier New"/>
                <a:ea typeface="Courier New"/>
                <a:cs typeface="Courier New"/>
              </a:rPr>
              <a:t>  →  </a:t>
            </a:r>
            <a:r>
              <a:rPr sz="950" b="1" i="0">
                <a:solidFill>
                  <a:srgbClr val="2B2622"/>
                </a:solidFill>
                <a:latin typeface="Courier New"/>
                <a:ea typeface="Courier New"/>
                <a:cs typeface="Courier New"/>
              </a:rPr>
              <a:t>['52', '0102', '020200', '4c0102']</a:t>
            </a:r>
          </a:p>
        </p:txBody>
      </p:sp>
      <p:sp>
        <p:nvSpPr>
          <p:cNvPr id="48" name="result 12"/>
          <p:cNvSpPr txBox="1"/>
          <p:nvPr/>
        </p:nvSpPr>
        <p:spPr>
          <a:xfrm>
            <a:off x="457200" y="2740393"/>
            <a:ext cx="4983480" cy="310769"/>
          </a:xfrm>
          <a:prstGeom prst="rect">
            <a:avLst/>
          </a:prstGeom>
          <a:noFill/>
        </p:spPr>
        <p:txBody>
          <a:bodyPr wrap="square" lIns="0" rIns="0" tIns="0" bIns="0" anchor="t">
            <a:spAutoFit/>
          </a:bodyPr>
          <a:lstStyle/>
          <a:p>
            <a:pPr algn="l"/>
            <a:r>
              <a:rPr sz="950" b="0" i="0">
                <a:solidFill>
                  <a:srgbClr val="6E655C"/>
                </a:solidFill>
                <a:latin typeface="Courier New"/>
                <a:ea typeface="Courier New"/>
                <a:cs typeface="Courier New"/>
              </a:rPr>
              <a:t>ids</a:t>
            </a:r>
            <a:r>
              <a:rPr sz="950" b="1" i="0">
                <a:solidFill>
                  <a:srgbClr val="D97A14"/>
                </a:solidFill>
                <a:latin typeface="Courier New"/>
                <a:ea typeface="Courier New"/>
                <a:cs typeface="Courier New"/>
              </a:rPr>
              <a:t>  →  </a:t>
            </a:r>
            <a:r>
              <a:rPr sz="950" b="1" i="0">
                <a:solidFill>
                  <a:srgbClr val="2B2622"/>
                </a:solidFill>
                <a:latin typeface="Courier New"/>
                <a:ea typeface="Courier New"/>
                <a:cs typeface="Courier New"/>
              </a:rPr>
              <a:t>{'OP_2': '0423a53a', 'OP_PUSH1 0x02': 'b3485f99', 'OP_PUSH2 0x0002': '18da36d1', 'OP_PUSHDATA1 0x0102': '4d986cd8'}</a:t>
            </a:r>
          </a:p>
        </p:txBody>
      </p:sp>
      <p:sp>
        <p:nvSpPr>
          <p:cNvPr id="49" name="result 12"/>
          <p:cNvSpPr txBox="1"/>
          <p:nvPr/>
        </p:nvSpPr>
        <p:spPr>
          <a:xfrm>
            <a:off x="457200" y="3051162"/>
            <a:ext cx="4983480" cy="159956"/>
          </a:xfrm>
          <a:prstGeom prst="rect">
            <a:avLst/>
          </a:prstGeom>
          <a:noFill/>
        </p:spPr>
        <p:txBody>
          <a:bodyPr wrap="square" lIns="0" rIns="0" tIns="0" bIns="0" anchor="t">
            <a:spAutoFit/>
          </a:bodyPr>
          <a:lstStyle/>
          <a:p>
            <a:pPr algn="l"/>
            <a:r>
              <a:rPr sz="950" b="0" i="0">
                <a:solidFill>
                  <a:srgbClr val="6E655C"/>
                </a:solidFill>
                <a:latin typeface="Courier New"/>
                <a:ea typeface="Courier New"/>
                <a:cs typeface="Courier New"/>
              </a:rPr>
              <a:t>distinct</a:t>
            </a:r>
            <a:r>
              <a:rPr sz="950" b="1" i="0">
                <a:solidFill>
                  <a:srgbClr val="D97A14"/>
                </a:solidFill>
                <a:latin typeface="Courier New"/>
                <a:ea typeface="Courier New"/>
                <a:cs typeface="Courier New"/>
              </a:rPr>
              <a:t>  →  </a:t>
            </a:r>
            <a:r>
              <a:rPr sz="950" b="1" i="0">
                <a:solidFill>
                  <a:srgbClr val="2B2622"/>
                </a:solidFill>
                <a:latin typeface="Courier New"/>
                <a:ea typeface="Courier New"/>
                <a:cs typeface="Courier New"/>
              </a:rPr>
              <a:t>4</a:t>
            </a:r>
          </a:p>
        </p:txBody>
      </p:sp>
      <p:sp>
        <p:nvSpPr>
          <p:cNvPr id="50" name="explanation 12"/>
          <p:cNvSpPr txBox="1"/>
          <p:nvPr/>
        </p:nvSpPr>
        <p:spPr>
          <a:xfrm>
            <a:off x="365760" y="3302812"/>
            <a:ext cx="5166360" cy="3779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 1  </a:t>
            </a:r>
            <a:r>
              <a:rPr sz="1000" b="0" i="0">
                <a:solidFill>
                  <a:srgbClr val="2B2622"/>
                </a:solidFill>
                <a:latin typeface="Calibri"/>
                <a:ea typeface="Calibri"/>
                <a:cs typeface="Calibri"/>
              </a:rPr>
              <a:t>One small number can be pushed on the script stack in four different ways.</a:t>
            </a:r>
          </a:p>
        </p:txBody>
      </p:sp>
      <p:sp>
        <p:nvSpPr>
          <p:cNvPr id="51" name="explanation 12"/>
          <p:cNvSpPr txBox="1"/>
          <p:nvPr/>
        </p:nvSpPr>
        <p:spPr>
          <a:xfrm>
            <a:off x="365760" y="3680764"/>
            <a:ext cx="5166360" cy="3779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2-4  </a:t>
            </a:r>
            <a:r>
              <a:rPr sz="1000" b="0" i="0">
                <a:solidFill>
                  <a:srgbClr val="2B2622"/>
                </a:solidFill>
                <a:latin typeface="Calibri"/>
                <a:ea typeface="Calibri"/>
                <a:cs typeface="Calibri"/>
              </a:rPr>
              <a:t>Swap each encoding into the first-ever spend; the payment itself is unchanged.</a:t>
            </a:r>
          </a:p>
        </p:txBody>
      </p:sp>
      <p:sp>
        <p:nvSpPr>
          <p:cNvPr id="52" name="explanation 12"/>
          <p:cNvSpPr txBox="1"/>
          <p:nvPr/>
        </p:nvSpPr>
        <p:spPr>
          <a:xfrm>
            <a:off x="365760" y="4058716"/>
            <a:ext cx="5166360" cy="3779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5-6  </a:t>
            </a:r>
            <a:r>
              <a:rPr sz="1000" b="0" i="0">
                <a:solidFill>
                  <a:srgbClr val="2B2622"/>
                </a:solidFill>
                <a:latin typeface="Calibri"/>
                <a:ea typeface="Calibri"/>
                <a:cs typeface="Calibri"/>
              </a:rPr>
              <a:t>Four different byte strings give four different legacy identifiers.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Witnesses: concepts (2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84148"/>
          </a:xfrm>
          <a:prstGeom prst="roundRect">
            <a:avLst>
              <a:gd name="adj" fmla="val 6178"/>
            </a:avLst>
          </a:prstGeom>
          <a:solidFill>
            <a:srgbClr val="F2ECE1"/>
          </a:solidFill>
          <a:ln w="12700">
            <a:solidFill>
              <a:srgbClr val="DFD6C7"/>
            </a:solidFill>
            <a:prstDash val="solid"/>
          </a:ln>
        </p:spPr>
        <p:txBody>
          <a:bodyPr/>
          <a:p/>
        </p:txBody>
      </p:sp>
      <p:sp>
        <p:nvSpPr>
          <p:cNvPr id="7" name="Shape 5"/>
          <p:cNvSpPr/>
          <p:nvPr/>
        </p:nvSpPr>
        <p:spPr>
          <a:xfrm>
            <a:off x="475488" y="1408176"/>
            <a:ext cx="64008" cy="928116"/>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Third-party transaction malleability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stranger changes the txid, not the payment.</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stranger rewording your cheque without changing the sum.</a:t>
            </a:r>
            <a:endParaRPr lang="en-US" sz="1150" dirty="0"/>
          </a:p>
        </p:txBody>
      </p:sp>
      <p:sp>
        <p:nvSpPr>
          <p:cNvPr id="10" name="Shape 8"/>
          <p:cNvSpPr/>
          <p:nvPr/>
        </p:nvSpPr>
        <p:spPr>
          <a:xfrm>
            <a:off x="4645152" y="1280160"/>
            <a:ext cx="4041648" cy="1184148"/>
          </a:xfrm>
          <a:prstGeom prst="roundRect">
            <a:avLst>
              <a:gd name="adj" fmla="val 6178"/>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928116"/>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Alternative push encodings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Four byte strings for the number 2.</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four ways to write the same number in words.</a:t>
            </a:r>
            <a:endParaRPr lang="en-US" sz="1150" dirty="0"/>
          </a:p>
        </p:txBody>
      </p:sp>
      <p:sp>
        <p:nvSpPr>
          <p:cNvPr id="14" name="Shape 12"/>
          <p:cNvSpPr/>
          <p:nvPr/>
        </p:nvSpPr>
        <p:spPr>
          <a:xfrm>
            <a:off x="457200" y="2592324"/>
            <a:ext cx="4041648" cy="1184148"/>
          </a:xfrm>
          <a:prstGeom prst="roundRect">
            <a:avLst>
              <a:gd name="adj" fmla="val 6178"/>
            </a:avLst>
          </a:prstGeom>
          <a:solidFill>
            <a:srgbClr val="F2ECE1"/>
          </a:solidFill>
          <a:ln w="12700">
            <a:solidFill>
              <a:srgbClr val="DFD6C7"/>
            </a:solidFill>
            <a:prstDash val="solid"/>
          </a:ln>
        </p:spPr>
        <p:txBody>
          <a:bodyPr/>
          <a:p/>
        </p:txBody>
      </p:sp>
      <p:sp>
        <p:nvSpPr>
          <p:cNvPr id="15" name="Shape 13"/>
          <p:cNvSpPr/>
          <p:nvPr/>
        </p:nvSpPr>
        <p:spPr>
          <a:xfrm>
            <a:off x="475488" y="2720340"/>
            <a:ext cx="64008" cy="928116"/>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656332"/>
            <a:ext cx="3767328" cy="63550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Second-party transaction malleability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counterparty re-signs and changes the txid.</a:t>
            </a:r>
            <a:endParaRPr lang="en-US" sz="1300" dirty="0"/>
          </a:p>
        </p:txBody>
      </p:sp>
      <p:sp>
        <p:nvSpPr>
          <p:cNvPr id="17" name="Text 15"/>
          <p:cNvSpPr txBox="1"/>
          <p:nvPr/>
        </p:nvSpPr>
        <p:spPr>
          <a:xfrm>
            <a:off x="640080" y="331927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your partner re-signing a document with another pen.</a:t>
            </a:r>
            <a:endParaRPr lang="en-US" sz="1150" dirty="0"/>
          </a:p>
        </p:txBody>
      </p:sp>
      <p:sp>
        <p:nvSpPr>
          <p:cNvPr id="18" name="Shape 16"/>
          <p:cNvSpPr/>
          <p:nvPr/>
        </p:nvSpPr>
        <p:spPr>
          <a:xfrm>
            <a:off x="4645152" y="2592324"/>
            <a:ext cx="4041648" cy="1184148"/>
          </a:xfrm>
          <a:prstGeom prst="roundRect">
            <a:avLst>
              <a:gd name="adj" fmla="val 6178"/>
            </a:avLst>
          </a:prstGeom>
          <a:solidFill>
            <a:srgbClr val="F2ECE1"/>
          </a:solidFill>
          <a:ln w="12700">
            <a:solidFill>
              <a:srgbClr val="DFD6C7"/>
            </a:solidFill>
            <a:prstDash val="solid"/>
          </a:ln>
        </p:spPr>
        <p:txBody>
          <a:bodyPr/>
          <a:p/>
        </p:txBody>
      </p:sp>
      <p:sp>
        <p:nvSpPr>
          <p:cNvPr id="19" name="Shape 17"/>
          <p:cNvSpPr/>
          <p:nvPr/>
        </p:nvSpPr>
        <p:spPr>
          <a:xfrm>
            <a:off x="4663440" y="2720340"/>
            <a:ext cx="64008" cy="928116"/>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65633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Wanted malleability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Mutation the sender allows.</a:t>
            </a:r>
            <a:endParaRPr lang="en-US" sz="1300" dirty="0"/>
          </a:p>
        </p:txBody>
      </p:sp>
      <p:sp>
        <p:nvSpPr>
          <p:cNvPr id="21" name="Text 19"/>
          <p:cNvSpPr txBox="1"/>
          <p:nvPr/>
        </p:nvSpPr>
        <p:spPr>
          <a:xfrm>
            <a:off x="4828032" y="311810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form with a box for changes allowed by me.</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48 / 71</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Segwit: change the witness, keep the txid</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What the two identifiers cover</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12 hex digits of each identifier</a:t>
            </a:r>
            <a:endParaRPr lang="en-US" sz="11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777240"/>
                <a:gridCol w="1097280"/>
                <a:gridCol w="109728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Identifier</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Before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After</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txid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466200308696</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466200308696</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wtxid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f7cdbc7cf8b9</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06f7a607a82e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287121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Only the wtxid notices the new witness; the txid, and everything built on it, stays valid.</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What a hash covers decides what can safely be built on it</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49 / 71</a:t>
            </a:r>
            <a:endParaRPr lang="en-US" sz="1100" dirty="0"/>
          </a:p>
        </p:txBody>
      </p:sp>
      <p:sp>
        <p:nvSpPr>
          <p:cNvPr id="44" name="code 13"/>
          <p:cNvSpPr/>
          <p:nvPr/>
        </p:nvSpPr>
        <p:spPr>
          <a:xfrm>
            <a:off x="365760" y="1170432"/>
            <a:ext cx="5166360" cy="23957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mutated</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with_witness_item</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ALICE</a:t>
            </a:r>
            <a:r>
              <a:rPr sz="1050" b="0" i="0">
                <a:solidFill>
                  <a:srgbClr val="E6EDF3"/>
                </a:solidFill>
                <a:latin typeface="Courier New"/>
                <a:ea typeface="Courier New"/>
                <a:cs typeface="Courier New"/>
              </a:rPr>
              <a:t>, </a:t>
            </a:r>
            <a:r>
              <a:rPr sz="1050" b="0" i="0">
                <a:solidFill>
                  <a:srgbClr val="9ECBFF"/>
                </a:solidFill>
                <a:latin typeface="Courier New"/>
                <a:ea typeface="Courier New"/>
                <a:cs typeface="Courier New"/>
              </a:rPr>
              <a:t>'00'</a:t>
            </a:r>
            <a:r>
              <a:rPr sz="1050" b="0" i="0">
                <a:solidFill>
                  <a:srgbClr val="E6EDF3"/>
                </a:solidFill>
                <a:latin typeface="Courier New"/>
                <a:ea typeface="Courier New"/>
                <a:cs typeface="Courier New"/>
              </a:rPr>
              <a:t> * </a:t>
            </a:r>
            <a:r>
              <a:rPr sz="1050" b="0" i="0">
                <a:solidFill>
                  <a:srgbClr val="FFD28A"/>
                </a:solidFill>
                <a:latin typeface="Courier New"/>
                <a:ea typeface="Courier New"/>
                <a:cs typeface="Courier New"/>
              </a:rPr>
              <a:t>65</a:t>
            </a:r>
            <a:r>
              <a:rPr sz="1050" b="0" i="0">
                <a:solidFill>
                  <a:srgbClr val="E6EDF3"/>
                </a:solidFill>
                <a:latin typeface="Courier New"/>
                <a:ea typeface="Courier New"/>
                <a:cs typeface="Courier New"/>
              </a:rPr>
              <a:t>)</a:t>
            </a:r>
          </a:p>
        </p:txBody>
      </p:sp>
      <p:sp>
        <p:nvSpPr>
          <p:cNvPr id="45" name="code 13"/>
          <p:cNvSpPr/>
          <p:nvPr/>
        </p:nvSpPr>
        <p:spPr>
          <a:xfrm>
            <a:off x="365760" y="1437436"/>
            <a:ext cx="5166360" cy="40690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same_txid</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mutated</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ALICE</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same_wtxid</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wtxid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mutated</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wtxid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ALICE</a:t>
            </a:r>
            <a:r>
              <a:rPr sz="1050" b="0" i="0">
                <a:solidFill>
                  <a:srgbClr val="E6EDF3"/>
                </a:solidFill>
                <a:latin typeface="Courier New"/>
                <a:ea typeface="Courier New"/>
                <a:cs typeface="Courier New"/>
              </a:rPr>
              <a:t>)</a:t>
            </a:r>
          </a:p>
        </p:txBody>
      </p:sp>
      <p:sp>
        <p:nvSpPr>
          <p:cNvPr id="46" name="code 13"/>
          <p:cNvSpPr/>
          <p:nvPr/>
        </p:nvSpPr>
        <p:spPr>
          <a:xfrm>
            <a:off x="365760" y="1871776"/>
            <a:ext cx="5166360" cy="57332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50" b="0" i="0">
                <a:solidFill>
                  <a:srgbClr val="E6EDF3"/>
                </a:solidFill>
                <a:latin typeface="Courier New"/>
                <a:ea typeface="Courier New"/>
                <a:cs typeface="Courier New"/>
              </a:rPr>
              <a:t>a</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b</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ALICE</a:t>
            </a:r>
            <a:r>
              <a:rPr sz="1050" b="0" i="0">
                <a:solidFill>
                  <a:srgbClr val="E6EDF3"/>
                </a:solidFill>
                <a:latin typeface="Courier New"/>
                <a:ea typeface="Courier New"/>
                <a:cs typeface="Courier New"/>
              </a:rPr>
              <a:t>)[:</a:t>
            </a:r>
            <a:r>
              <a:rPr sz="1050" b="0" i="0">
                <a:solidFill>
                  <a:srgbClr val="FFD28A"/>
                </a:solidFill>
                <a:latin typeface="Courier New"/>
                <a:ea typeface="Courier New"/>
                <a:cs typeface="Courier New"/>
              </a:rPr>
              <a:t>12</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wtxid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ALICE</a:t>
            </a:r>
            <a:r>
              <a:rPr sz="1050" b="0" i="0">
                <a:solidFill>
                  <a:srgbClr val="E6EDF3"/>
                </a:solidFill>
                <a:latin typeface="Courier New"/>
                <a:ea typeface="Courier New"/>
                <a:cs typeface="Courier New"/>
              </a:rPr>
              <a:t>)[:</a:t>
            </a:r>
            <a:r>
              <a:rPr sz="1050" b="0" i="0">
                <a:solidFill>
                  <a:srgbClr val="FFD28A"/>
                </a:solidFill>
                <a:latin typeface="Courier New"/>
                <a:ea typeface="Courier New"/>
                <a:cs typeface="Courier New"/>
              </a:rPr>
              <a:t>12</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c</a:t>
            </a:r>
            <a:r>
              <a:rPr sz="1050" b="0" i="0">
                <a:solidFill>
                  <a:srgbClr val="E6EDF3"/>
                </a:solidFill>
                <a:latin typeface="Courier New"/>
                <a:ea typeface="Courier New"/>
                <a:cs typeface="Courier New"/>
              </a:rPr>
              <a:t> = </a:t>
            </a:r>
            <a:r>
              <a:rPr sz="1050" b="0" i="0">
                <a:solidFill>
                  <a:srgbClr val="E6EDF3"/>
                </a:solidFill>
                <a:latin typeface="Courier New"/>
                <a:ea typeface="Courier New"/>
                <a:cs typeface="Courier New"/>
              </a:rPr>
              <a:t>wtxid</a:t>
            </a:r>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mutated</a:t>
            </a:r>
            <a:r>
              <a:rPr sz="1050" b="0" i="0">
                <a:solidFill>
                  <a:srgbClr val="E6EDF3"/>
                </a:solidFill>
                <a:latin typeface="Courier New"/>
                <a:ea typeface="Courier New"/>
                <a:cs typeface="Courier New"/>
              </a:rPr>
              <a:t>)[:</a:t>
            </a:r>
            <a:r>
              <a:rPr sz="1050" b="0" i="0">
                <a:solidFill>
                  <a:srgbClr val="FFD28A"/>
                </a:solidFill>
                <a:latin typeface="Courier New"/>
                <a:ea typeface="Courier New"/>
                <a:cs typeface="Courier New"/>
              </a:rPr>
              <a:t>12</a:t>
            </a:r>
            <a:r>
              <a:rPr sz="1050" b="0" i="0">
                <a:solidFill>
                  <a:srgbClr val="E6EDF3"/>
                </a:solidFill>
                <a:latin typeface="Courier New"/>
                <a:ea typeface="Courier New"/>
                <a:cs typeface="Courier New"/>
              </a:rPr>
              <a:t>]</a:t>
            </a:r>
          </a:p>
          <a:p>
            <a:pPr algn="l"/>
            <a:r>
              <a:rPr sz="1050" b="0" i="0">
                <a:solidFill>
                  <a:srgbClr val="E6EDF3"/>
                </a:solidFill>
                <a:latin typeface="Courier New"/>
                <a:ea typeface="Courier New"/>
                <a:cs typeface="Courier New"/>
              </a:rPr>
              <a:t>(</a:t>
            </a:r>
            <a:r>
              <a:rPr sz="1050" b="0" i="0">
                <a:solidFill>
                  <a:srgbClr val="E6EDF3"/>
                </a:solidFill>
                <a:latin typeface="Courier New"/>
                <a:ea typeface="Courier New"/>
                <a:cs typeface="Courier New"/>
              </a:rPr>
              <a:t>same_txid</a:t>
            </a:r>
            <a:r>
              <a:rPr sz="1050" b="0" i="0">
                <a:solidFill>
                  <a:srgbClr val="E6EDF3"/>
                </a:solidFill>
                <a:latin typeface="Courier New"/>
                <a:ea typeface="Courier New"/>
                <a:cs typeface="Courier New"/>
              </a:rPr>
              <a:t>, </a:t>
            </a:r>
            <a:r>
              <a:rPr sz="1050" b="0" i="0">
                <a:solidFill>
                  <a:srgbClr val="E6EDF3"/>
                </a:solidFill>
                <a:latin typeface="Courier New"/>
                <a:ea typeface="Courier New"/>
                <a:cs typeface="Courier New"/>
              </a:rPr>
              <a:t>same_wtxid</a:t>
            </a:r>
            <a:r>
              <a:rPr sz="1050" b="0" i="0">
                <a:solidFill>
                  <a:srgbClr val="E6EDF3"/>
                </a:solidFill>
                <a:latin typeface="Courier New"/>
                <a:ea typeface="Courier New"/>
                <a:cs typeface="Courier New"/>
              </a:rPr>
              <a:t>)</a:t>
            </a:r>
          </a:p>
        </p:txBody>
      </p:sp>
      <p:sp>
        <p:nvSpPr>
          <p:cNvPr id="47" name="result 13"/>
          <p:cNvSpPr/>
          <p:nvPr/>
        </p:nvSpPr>
        <p:spPr>
          <a:xfrm>
            <a:off x="365760" y="2490825"/>
            <a:ext cx="5166360" cy="1013155"/>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sult 13"/>
          <p:cNvSpPr txBox="1"/>
          <p:nvPr/>
        </p:nvSpPr>
        <p:spPr>
          <a:xfrm>
            <a:off x="457200" y="2518257"/>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49" name="result 13"/>
          <p:cNvSpPr txBox="1"/>
          <p:nvPr/>
        </p:nvSpPr>
        <p:spPr>
          <a:xfrm>
            <a:off x="457200" y="2627985"/>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same_txid</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True</a:t>
            </a:r>
          </a:p>
        </p:txBody>
      </p:sp>
      <p:sp>
        <p:nvSpPr>
          <p:cNvPr id="50" name="result 13"/>
          <p:cNvSpPr txBox="1"/>
          <p:nvPr/>
        </p:nvSpPr>
        <p:spPr>
          <a:xfrm>
            <a:off x="457200" y="2795879"/>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same_wtxid</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False</a:t>
            </a:r>
          </a:p>
        </p:txBody>
      </p:sp>
      <p:sp>
        <p:nvSpPr>
          <p:cNvPr id="51" name="result 13"/>
          <p:cNvSpPr txBox="1"/>
          <p:nvPr/>
        </p:nvSpPr>
        <p:spPr>
          <a:xfrm>
            <a:off x="457200" y="2963773"/>
            <a:ext cx="4983480" cy="32664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[a, b, c]</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['466200308696', 'f7cdbc7cf8b9', '06f7a607a82e']</a:t>
            </a:r>
          </a:p>
        </p:txBody>
      </p:sp>
      <p:sp>
        <p:nvSpPr>
          <p:cNvPr id="52" name="result 13"/>
          <p:cNvSpPr txBox="1"/>
          <p:nvPr/>
        </p:nvSpPr>
        <p:spPr>
          <a:xfrm>
            <a:off x="457200" y="3290417"/>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(same_txid, same_wtxid)</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(True, False)</a:t>
            </a:r>
          </a:p>
        </p:txBody>
      </p:sp>
      <p:sp>
        <p:nvSpPr>
          <p:cNvPr id="53" name="explanation 13"/>
          <p:cNvSpPr txBox="1"/>
          <p:nvPr/>
        </p:nvSpPr>
        <p:spPr>
          <a:xfrm>
            <a:off x="365760" y="3540556"/>
            <a:ext cx="5166360" cy="23317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 1  </a:t>
            </a:r>
            <a:r>
              <a:rPr sz="1050" b="0" i="0">
                <a:solidFill>
                  <a:srgbClr val="2B2622"/>
                </a:solidFill>
                <a:latin typeface="Calibri"/>
                <a:ea typeface="Calibri"/>
                <a:cs typeface="Calibri"/>
              </a:rPr>
              <a:t>Replace the signature in the witness by 65 zero bytes.</a:t>
            </a:r>
          </a:p>
        </p:txBody>
      </p:sp>
      <p:sp>
        <p:nvSpPr>
          <p:cNvPr id="54" name="explanation 13"/>
          <p:cNvSpPr txBox="1"/>
          <p:nvPr/>
        </p:nvSpPr>
        <p:spPr>
          <a:xfrm>
            <a:off x="365760" y="3773728"/>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2-3  </a:t>
            </a:r>
            <a:r>
              <a:rPr sz="1050" b="0" i="0">
                <a:solidFill>
                  <a:srgbClr val="2B2622"/>
                </a:solidFill>
                <a:latin typeface="Calibri"/>
                <a:ea typeface="Calibri"/>
                <a:cs typeface="Calibri"/>
              </a:rPr>
              <a:t>The txid ignores the witness and stays; the wtxid covers it and changes.</a:t>
            </a:r>
          </a:p>
        </p:txBody>
      </p:sp>
      <p:sp>
        <p:nvSpPr>
          <p:cNvPr id="55" name="explanation 13"/>
          <p:cNvSpPr txBox="1"/>
          <p:nvPr/>
        </p:nvSpPr>
        <p:spPr>
          <a:xfrm>
            <a:off x="365760" y="4166920"/>
            <a:ext cx="5166360" cy="393192"/>
          </a:xfrm>
          <a:prstGeom prst="rect">
            <a:avLst/>
          </a:prstGeom>
          <a:noFill/>
        </p:spPr>
        <p:txBody>
          <a:bodyPr wrap="square" lIns="0" rIns="0" tIns="0" bIns="0" anchor="t">
            <a:spAutoFit/>
          </a:bodyPr>
          <a:lstStyle/>
          <a:p>
            <a:pPr algn="l"/>
            <a:r>
              <a:rPr sz="1050" b="1" i="0">
                <a:solidFill>
                  <a:srgbClr val="D97A14"/>
                </a:solidFill>
                <a:latin typeface="Calibri"/>
                <a:ea typeface="Calibri"/>
                <a:cs typeface="Calibri"/>
              </a:rPr>
              <a:t>Lines 4-6  </a:t>
            </a:r>
            <a:r>
              <a:rPr sz="1050" b="0" i="0">
                <a:solidFill>
                  <a:srgbClr val="2B2622"/>
                </a:solidFill>
                <a:latin typeface="Calibri"/>
                <a:ea typeface="Calibri"/>
                <a:cs typeface="Calibri"/>
              </a:rPr>
              <a:t>Twelve hex digits of each identifier, for the table beside the listing.</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Mt. Gox blames malleability</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An exchange blames the protocol, and researchers check</a:t>
            </a:r>
            <a:endParaRPr lang="en-US" sz="1300" dirty="0"/>
          </a:p>
        </p:txBody>
      </p:sp>
      <p:pic>
        <p:nvPicPr>
          <p:cNvPr id="6" name="Image 0" descr="../../03-materials/ch06/assets/photo_mtgox_logo.png">    </p:cNvPr>
          <p:cNvPicPr>
            <a:picLocks noChangeAspect="1"/>
          </p:cNvPicPr>
          <p:nvPr/>
        </p:nvPicPr>
        <p:blipFill>
          <a:blip r:embed="rId1"/>
          <a:srcRect l="0" r="0" t="0" b="0"/>
          <a:stretch/>
        </p:blipFill>
        <p:spPr>
          <a:xfrm>
            <a:off x="457200" y="1280160"/>
            <a:ext cx="2377440" cy="2331720"/>
          </a:xfrm>
          <a:prstGeom prst="rect">
            <a:avLst/>
          </a:prstGeom>
        </p:spPr>
      </p:pic>
      <p:sp>
        <p:nvSpPr>
          <p:cNvPr id="7" name="Text 4"/>
          <p:cNvSpPr txBox="1"/>
          <p:nvPr/>
        </p:nvSpPr>
        <p:spPr>
          <a:xfrm>
            <a:off x="457200" y="3630168"/>
            <a:ext cx="237744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Mt. Gox logo - author unknown, public domain</a:t>
            </a:r>
            <a:endParaRPr lang="en-US" sz="900" dirty="0"/>
          </a:p>
        </p:txBody>
      </p:sp>
      <p:sp>
        <p:nvSpPr>
          <p:cNvPr id="22" name="Shape 19"/>
          <p:cNvSpPr/>
          <p:nvPr/>
        </p:nvSpPr>
        <p:spPr>
          <a:xfrm>
            <a:off x="3108960" y="4114800"/>
            <a:ext cx="5669280" cy="365760"/>
          </a:xfrm>
          <a:prstGeom prst="roundRect">
            <a:avLst>
              <a:gd name="adj" fmla="val 50000"/>
            </a:avLst>
          </a:prstGeom>
          <a:solidFill>
            <a:srgbClr val="2F6D62"/>
          </a:solidFill>
          <a:ln w="9525">
            <a:solidFill>
              <a:srgbClr val="2F6D62"/>
            </a:solidFill>
            <a:prstDash val="solid"/>
          </a:ln>
        </p:spPr>
        <p:txBody>
          <a:bodyPr/>
          <a:p/>
        </p:txBody>
      </p:sp>
      <p:sp>
        <p:nvSpPr>
          <p:cNvPr id="23" name="Text 20"/>
          <p:cNvSpPr txBox="1"/>
          <p:nvPr/>
        </p:nvSpPr>
        <p:spPr>
          <a:xfrm>
            <a:off x="3200400" y="4114800"/>
            <a:ext cx="5486400"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Transaction Malleability and MtGox (paper)</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arxiv.org</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50 / 71</a:t>
            </a:r>
            <a:endParaRPr lang="en-US" sz="1100" dirty="0"/>
          </a:p>
        </p:txBody>
      </p:sp>
      <p:sp>
        <p:nvSpPr>
          <p:cNvPr id="25" name="story"/>
          <p:cNvSpPr txBox="1"/>
          <p:nvPr/>
        </p:nvSpPr>
        <p:spPr>
          <a:xfrm>
            <a:off x="3108960" y="1216152"/>
            <a:ext cx="5669280" cy="146304"/>
          </a:xfrm>
          <a:prstGeom prst="rect">
            <a:avLst/>
          </a:prstGeom>
          <a:noFill/>
        </p:spPr>
        <p:txBody>
          <a:bodyPr wrap="square" lIns="0" rIns="0" tIns="0" bIns="0" anchor="t">
            <a:spAutoFit/>
          </a:bodyPr>
          <a:lstStyle/>
          <a:p>
            <a:pPr algn="l"/>
            <a:r>
              <a:rPr sz="1100" b="1" i="0">
                <a:solidFill>
                  <a:srgbClr val="D97A14"/>
                </a:solidFill>
                <a:latin typeface="Calibri"/>
                <a:ea typeface="Calibri"/>
                <a:cs typeface="Calibri"/>
              </a:rPr>
              <a:t>10 February 2014 · Shibuya, Tokyo · Zurich</a:t>
            </a:r>
          </a:p>
        </p:txBody>
      </p:sp>
      <p:sp>
        <p:nvSpPr>
          <p:cNvPr id="26" name="story"/>
          <p:cNvSpPr txBox="1"/>
          <p:nvPr/>
        </p:nvSpPr>
        <p:spPr>
          <a:xfrm>
            <a:off x="3108960" y="1408176"/>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On 7 February 2014 Mt. Gox, then the largest bitcoin exchange, led by Mark Karpeles in Shibuya, Tokyo, halted withdrawals.</a:t>
            </a:r>
          </a:p>
        </p:txBody>
      </p:sp>
      <p:sp>
        <p:nvSpPr>
          <p:cNvPr id="27" name="story"/>
          <p:cNvSpPr txBox="1"/>
          <p:nvPr/>
        </p:nvSpPr>
        <p:spPr>
          <a:xfrm>
            <a:off x="3108960" y="1837944"/>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On 10 February it blamed transaction malleability for the missing bitcoins: a stranger can re-encode an input script and change the txid.</a:t>
            </a:r>
          </a:p>
        </p:txBody>
      </p:sp>
      <p:sp>
        <p:nvSpPr>
          <p:cNvPr id="28" name="story"/>
          <p:cNvSpPr txBox="1"/>
          <p:nvPr/>
        </p:nvSpPr>
        <p:spPr>
          <a:xfrm>
            <a:off x="3108960" y="2267712"/>
            <a:ext cx="5669280" cy="21945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Software that tracks payments by txid then believes the payment failed.</a:t>
            </a:r>
          </a:p>
        </p:txBody>
      </p:sp>
      <p:sp>
        <p:nvSpPr>
          <p:cNvPr id="29" name="story"/>
          <p:cNvSpPr txBox="1"/>
          <p:nvPr/>
        </p:nvSpPr>
        <p:spPr>
          <a:xfrm>
            <a:off x="3108960" y="2514600"/>
            <a:ext cx="5669280" cy="585215"/>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Christian Decker and Roger Wattenhofer of ETH Zurich, who had recorded a year of network traffic, found that only 1,811 BTC were hit before the press release.</a:t>
            </a:r>
          </a:p>
        </p:txBody>
      </p:sp>
      <p:sp>
        <p:nvSpPr>
          <p:cNvPr id="30" name="story"/>
          <p:cNvSpPr txBox="1"/>
          <p:nvPr/>
        </p:nvSpPr>
        <p:spPr>
          <a:xfrm>
            <a:off x="3108960" y="3127248"/>
            <a:ext cx="5669280" cy="402336"/>
          </a:xfrm>
          <a:prstGeom prst="rect">
            <a:avLst/>
          </a:prstGeom>
          <a:noFill/>
        </p:spPr>
        <p:txBody>
          <a:bodyPr wrap="square" lIns="0" rIns="0" tIns="0" bIns="0" anchor="t">
            <a:spAutoFit/>
          </a:bodyPr>
          <a:lstStyle/>
          <a:p>
            <a:pPr algn="l"/>
            <a:r>
              <a:rPr sz="1200" b="0" i="0">
                <a:solidFill>
                  <a:srgbClr val="2B2622"/>
                </a:solidFill>
                <a:latin typeface="Calibri"/>
                <a:ea typeface="Calibri"/>
                <a:cs typeface="Calibri"/>
              </a:rPr>
              <a:t>On 28 February the exchange filed for bankruptcy protection, 850,000 BTC short.</a:t>
            </a:r>
          </a:p>
        </p:txBody>
      </p:sp>
      <p:sp>
        <p:nvSpPr>
          <p:cNvPr id="31" name="lesson"/>
          <p:cNvSpPr/>
          <p:nvPr/>
        </p:nvSpPr>
        <p:spPr>
          <a:xfrm>
            <a:off x="3108960" y="3575304"/>
            <a:ext cx="5669280" cy="493776"/>
          </a:xfrm>
          <a:prstGeom prst="roundRect">
            <a:avLst>
              <a:gd name="adj" fmla="val 8000"/>
            </a:avLst>
          </a:prstGeom>
          <a:solidFill>
            <a:srgbClr val="D7E4E0"/>
          </a:solidFill>
          <a:ln w="12700">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200" b="1" i="0">
                <a:solidFill>
                  <a:srgbClr val="2B2622"/>
                </a:solidFill>
                <a:latin typeface="Calibri"/>
                <a:ea typeface="Calibri"/>
                <a:cs typeface="Calibri"/>
              </a:rPr>
              <a:t>Track outpoints, not txids: segregated witness took the input script out of the txid for good in 2017.</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Witnesses: concepts (3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Segregated 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witness stays out of the txid.</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moving the signatures to a separate page the receipt ignores.</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Hard fork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change old nodes would reject.</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new road standard that old cars cannot drive on.</a:t>
            </a:r>
            <a:endParaRPr lang="en-US" sz="1150" dirty="0"/>
          </a:p>
        </p:txBody>
      </p:sp>
      <p:sp>
        <p:nvSpPr>
          <p:cNvPr id="14" name="Shape 12"/>
          <p:cNvSpPr/>
          <p:nvPr/>
        </p:nvSpPr>
        <p:spPr>
          <a:xfrm>
            <a:off x="457200"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5" name="Shape 13"/>
          <p:cNvSpPr/>
          <p:nvPr/>
        </p:nvSpPr>
        <p:spPr>
          <a:xfrm>
            <a:off x="475488" y="2633472"/>
            <a:ext cx="64008" cy="84124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Soft fork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New nodes reject more, accept no more.</a:t>
            </a:r>
            <a:endParaRPr lang="en-US" sz="1300" dirty="0"/>
          </a:p>
        </p:txBody>
      </p:sp>
      <p:sp>
        <p:nvSpPr>
          <p:cNvPr id="17" name="Text 15"/>
          <p:cNvSpPr txBox="1"/>
          <p:nvPr/>
        </p:nvSpPr>
        <p:spPr>
          <a:xfrm>
            <a:off x="640080"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stricter road rule that old cars can still obey.</a:t>
            </a:r>
            <a:endParaRPr lang="en-US" sz="1150" dirty="0"/>
          </a:p>
        </p:txBody>
      </p:sp>
      <p:sp>
        <p:nvSpPr>
          <p:cNvPr id="18" name="Shape 16"/>
          <p:cNvSpPr/>
          <p:nvPr/>
        </p:nvSpPr>
        <p:spPr>
          <a:xfrm>
            <a:off x="4645152"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9" name="Shape 17"/>
          <p:cNvSpPr/>
          <p:nvPr/>
        </p:nvSpPr>
        <p:spPr>
          <a:xfrm>
            <a:off x="4663440" y="2633472"/>
            <a:ext cx="64008" cy="841248"/>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 program</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version number and 2 to 40 bytes.</a:t>
            </a:r>
            <a:endParaRPr lang="en-US" sz="1300" dirty="0"/>
          </a:p>
        </p:txBody>
      </p:sp>
      <p:sp>
        <p:nvSpPr>
          <p:cNvPr id="21" name="Text 19"/>
          <p:cNvSpPr txBox="1"/>
          <p:nvPr/>
        </p:nvSpPr>
        <p:spPr>
          <a:xfrm>
            <a:off x="4828032"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lock label saying which kind of key fits.</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51 / 71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Witnesses: concepts (4 of 4)</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 structure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new field for what the input script held.</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annex page stapled to the transaction.</a:t>
            </a:r>
            <a:endParaRPr lang="en-US" sz="1150" dirty="0"/>
          </a:p>
        </p:txBody>
      </p:sp>
      <p:sp>
        <p:nvSpPr>
          <p:cNvPr id="10" name="Text 8"/>
          <p:cNvSpPr txBox="1"/>
          <p:nvPr/>
        </p:nvSpPr>
        <p:spPr>
          <a:xfrm>
            <a:off x="640080" y="2217420"/>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Witness Structure Serialization</a:t>
            </a:r>
            <a:endParaRPr lang="en-US" sz="1000" dirty="0"/>
          </a:p>
        </p:txBody>
      </p:sp>
      <p:sp>
        <p:nvSpPr>
          <p:cNvPr id="11" name="Shape 9"/>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2" name="Shape 10"/>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3" name="Text 11"/>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 stack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One stack per input, counted by the inputs.</a:t>
            </a:r>
            <a:endParaRPr lang="en-US" sz="1300" dirty="0"/>
          </a:p>
        </p:txBody>
      </p:sp>
      <p:sp>
        <p:nvSpPr>
          <p:cNvPr id="14" name="Text 12"/>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pile of papers handed in for one input.</a:t>
            </a:r>
            <a:endParaRPr lang="en-US" sz="1150" dirty="0"/>
          </a:p>
        </p:txBody>
      </p:sp>
      <p:sp>
        <p:nvSpPr>
          <p:cNvPr id="15" name="Shape 13"/>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6" name="Shape 14"/>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 item</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65-byte signature, length-prefixed.</a:t>
            </a:r>
            <a:endParaRPr lang="en-US" sz="1300" dirty="0"/>
          </a:p>
        </p:txBody>
      </p:sp>
      <p:sp>
        <p:nvSpPr>
          <p:cNvPr id="18" name="Text 16"/>
          <p:cNvSpPr txBox="1"/>
          <p:nvPr/>
        </p:nvSpPr>
        <p:spPr>
          <a:xfrm>
            <a:off x="640080"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one sheet in the pile, with its length stamped on.</a:t>
            </a:r>
            <a:endParaRPr lang="en-US" sz="1150" dirty="0"/>
          </a:p>
        </p:txBody>
      </p:sp>
      <p:sp>
        <p:nvSpPr>
          <p:cNvPr id="19" name="Shape 17"/>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20" name="Shape 18"/>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A legacy input's 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stack of zero items.</a:t>
            </a:r>
            <a:endParaRPr lang="en-US" sz="1300" dirty="0"/>
          </a:p>
        </p:txBody>
      </p:sp>
      <p:sp>
        <p:nvSpPr>
          <p:cNvPr id="22" name="Text 20"/>
          <p:cNvSpPr txBox="1"/>
          <p:nvPr/>
        </p:nvSpPr>
        <p:spPr>
          <a:xfrm>
            <a:off x="4828032"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empty annex: nothing stapled to old-style inputs.</a:t>
            </a:r>
            <a:endParaRPr lang="en-US" sz="11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52 / 71</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Hard fork or soft fork?</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Why segregated witness could be activated without splitting the network</a:t>
            </a:r>
            <a:endParaRPr lang="en-US" sz="1300" dirty="0"/>
          </a:p>
        </p:txBody>
      </p:sp>
      <p:sp>
        <p:nvSpPr>
          <p:cNvPr id="6" name="Shape 4"/>
          <p:cNvSpPr/>
          <p:nvPr/>
        </p:nvSpPr>
        <p:spPr>
          <a:xfrm>
            <a:off x="457200" y="1325880"/>
            <a:ext cx="3931920" cy="3108960"/>
          </a:xfrm>
          <a:prstGeom prst="roundRect">
            <a:avLst>
              <a:gd name="adj" fmla="val 2941"/>
            </a:avLst>
          </a:prstGeom>
          <a:solidFill>
            <a:srgbClr val="F2ECE1"/>
          </a:solidFill>
          <a:ln w="15875">
            <a:solidFill>
              <a:srgbClr val="D97A14"/>
            </a:solidFill>
            <a:prstDash val="solid"/>
          </a:ln>
        </p:spPr>
        <p:txBody>
          <a:bodyPr/>
          <a:p/>
        </p:txBody>
      </p:sp>
      <p:sp>
        <p:nvSpPr>
          <p:cNvPr id="7" name="Text 5"/>
          <p:cNvSpPr txBox="1"/>
          <p:nvPr/>
        </p:nvSpPr>
        <p:spPr>
          <a:xfrm>
            <a:off x="640080" y="1435608"/>
            <a:ext cx="3566160" cy="365760"/>
          </a:xfrm>
          <a:prstGeom prst="rect">
            <a:avLst/>
          </a:prstGeom>
          <a:noFill/>
          <a:ln/>
        </p:spPr>
        <p:txBody>
          <a:bodyPr wrap="square" lIns="0" tIns="0" rIns="0" bIns="0" rtlCol="0" anchor="ctr"/>
          <a:lstStyle/>
          <a:p>
            <a:pPr indent="0" marL="0">
              <a:buNone/>
            </a:pPr>
            <a:r>
              <a:rPr lang="en-US" sz="1500" b="1" dirty="0">
                <a:solidFill>
                  <a:srgbClr val="D97A14"/>
                </a:solidFill>
                <a:latin typeface="Cambria" pitchFamily="34" charset="0"/>
                <a:ea typeface="Cambria" pitchFamily="34" charset="-122"/>
                <a:cs typeface="Cambria" pitchFamily="34" charset="-120"/>
              </a:rPr>
              <a:t>A hard fork loosens the rules</a:t>
            </a:r>
            <a:endParaRPr lang="en-US" sz="1500" dirty="0"/>
          </a:p>
        </p:txBody>
      </p:sp>
      <p:sp>
        <p:nvSpPr>
          <p:cNvPr id="8" name="Text 6"/>
          <p:cNvSpPr txBox="1"/>
          <p:nvPr/>
        </p:nvSpPr>
        <p:spPr>
          <a:xfrm>
            <a:off x="640080" y="1856232"/>
            <a:ext cx="3566160" cy="245059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Blocks that old nodes reject become valid.</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Every node must upgrade, or the chain splits.</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Like a new road standard that old cars cannot use.</a:t>
            </a:r>
            <a:endParaRPr lang="en-US" sz="1250" dirty="0"/>
          </a:p>
        </p:txBody>
      </p:sp>
      <p:sp>
        <p:nvSpPr>
          <p:cNvPr id="9" name="Shape 7"/>
          <p:cNvSpPr/>
          <p:nvPr/>
        </p:nvSpPr>
        <p:spPr>
          <a:xfrm>
            <a:off x="4754880" y="1325880"/>
            <a:ext cx="3931920" cy="3108960"/>
          </a:xfrm>
          <a:prstGeom prst="roundRect">
            <a:avLst>
              <a:gd name="adj" fmla="val 2941"/>
            </a:avLst>
          </a:prstGeom>
          <a:solidFill>
            <a:srgbClr val="F2ECE1"/>
          </a:solidFill>
          <a:ln w="15875">
            <a:solidFill>
              <a:srgbClr val="2F6D62"/>
            </a:solidFill>
            <a:prstDash val="solid"/>
          </a:ln>
        </p:spPr>
        <p:txBody>
          <a:bodyPr/>
          <a:p/>
        </p:txBody>
      </p:sp>
      <p:sp>
        <p:nvSpPr>
          <p:cNvPr id="10" name="Text 8"/>
          <p:cNvSpPr txBox="1"/>
          <p:nvPr/>
        </p:nvSpPr>
        <p:spPr>
          <a:xfrm>
            <a:off x="4937760" y="1435608"/>
            <a:ext cx="3566160" cy="365760"/>
          </a:xfrm>
          <a:prstGeom prst="rect">
            <a:avLst/>
          </a:prstGeom>
          <a:noFill/>
          <a:ln/>
        </p:spPr>
        <p:txBody>
          <a:bodyPr wrap="square" lIns="0" tIns="0" rIns="0" bIns="0" rtlCol="0" anchor="ctr"/>
          <a:lstStyle/>
          <a:p>
            <a:pPr indent="0" marL="0">
              <a:buNone/>
            </a:pPr>
            <a:r>
              <a:rPr lang="en-US" sz="1500" b="1" dirty="0">
                <a:solidFill>
                  <a:srgbClr val="2F6D62"/>
                </a:solidFill>
                <a:latin typeface="Cambria" pitchFamily="34" charset="0"/>
                <a:ea typeface="Cambria" pitchFamily="34" charset="-122"/>
                <a:cs typeface="Cambria" pitchFamily="34" charset="-120"/>
              </a:rPr>
              <a:t>A soft fork tightens the rules</a:t>
            </a:r>
            <a:endParaRPr lang="en-US" sz="1500" dirty="0"/>
          </a:p>
        </p:txBody>
      </p:sp>
      <p:sp>
        <p:nvSpPr>
          <p:cNvPr id="11" name="Text 9"/>
          <p:cNvSpPr txBox="1"/>
          <p:nvPr/>
        </p:nvSpPr>
        <p:spPr>
          <a:xfrm>
            <a:off x="4937760" y="1856232"/>
            <a:ext cx="3566160" cy="245059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New nodes reject more; they accept nothing new.</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Old nodes still follow the chain and accept its blocks.</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Like a stricter speed limit that old cars can still obey.</a:t>
            </a:r>
            <a:endParaRPr lang="en-US" sz="1250" dirty="0"/>
          </a:p>
        </p:txBody>
      </p:sp>
      <p:sp>
        <p:nvSpPr>
          <p:cNvPr id="12" name="Shape 1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3" name="Text 1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soft fork can only restrict; old nodes keep accepting the blocks</a:t>
            </a:r>
            <a:endParaRPr lang="en-US" sz="1350" dirty="0"/>
          </a:p>
        </p:txBody>
      </p:sp>
      <p:sp>
        <p:nvSpPr>
          <p:cNvPr id="14"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53 / 71</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Lock time and the coinbase</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lock time is a post-dated cheque; a coinbase is the mint's wage slip.</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Lock time</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A rule that a transaction may not enter a block before a time.</a:t>
            </a:r>
            <a:endParaRPr lang="en-US" sz="1150" dirty="0"/>
          </a:p>
        </p:txBody>
      </p:sp>
      <p:sp>
        <p:nvSpPr>
          <p:cNvPr id="9" name="Text 7"/>
          <p:cNvSpPr txBox="1"/>
          <p:nvPr/>
        </p:nvSpPr>
        <p:spPr>
          <a:xfrm>
            <a:off x="77724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post-dated cheque.</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Coinbase transactions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first transaction of every block, which creates new coins.</a:t>
            </a:r>
            <a:endParaRPr lang="en-US" sz="1150" dirty="0"/>
          </a:p>
        </p:txBody>
      </p:sp>
      <p:sp>
        <p:nvSpPr>
          <p:cNvPr id="13" name="Text 11"/>
          <p:cNvSpPr txBox="1"/>
          <p:nvPr/>
        </p:nvSpPr>
        <p:spPr>
          <a:xfrm>
            <a:off x="480060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mint's wage slip for the miner.</a:t>
            </a:r>
            <a:endParaRPr lang="en-US" sz="11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54 / 71</a:t>
            </a:r>
            <a:endParaRPr lang="en-US" sz="11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Two clocks and a waiting room</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How lock time is read, and when a coinbase coin can move</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One field, two readings, and a hundred blocks of waiting for new coins</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55 / 71</a:t>
            </a:r>
            <a:endParaRPr lang="en-US" sz="1100" dirty="0"/>
          </a:p>
        </p:txBody>
      </p:sp>
      <p:sp>
        <p:nvSpPr>
          <p:cNvPr id="28" name="lock title"/>
          <p:cNvSpPr txBox="1"/>
          <p:nvPr/>
        </p:nvSpPr>
        <p:spPr>
          <a:xfrm>
            <a:off x="365760" y="1170432"/>
            <a:ext cx="8412480" cy="146304"/>
          </a:xfrm>
          <a:prstGeom prst="rect">
            <a:avLst/>
          </a:prstGeom>
          <a:noFill/>
        </p:spPr>
        <p:txBody>
          <a:bodyPr wrap="square" lIns="0" rIns="0" tIns="0" bIns="0" anchor="t">
            <a:spAutoFit/>
          </a:bodyPr>
          <a:lstStyle/>
          <a:p>
            <a:pPr algn="l"/>
            <a:r>
              <a:rPr sz="1200" b="1" i="0">
                <a:solidFill>
                  <a:srgbClr val="2B2622"/>
                </a:solidFill>
                <a:latin typeface="Calibri"/>
                <a:ea typeface="Calibri"/>
                <a:cs typeface="Calibri"/>
              </a:rPr>
              <a:t>Lock time: one field, two readings</a:t>
            </a:r>
          </a:p>
        </p:txBody>
      </p:sp>
      <p:sp>
        <p:nvSpPr>
          <p:cNvPr id="29" name="lock zero"/>
          <p:cNvSpPr/>
          <p:nvPr/>
        </p:nvSpPr>
        <p:spPr>
          <a:xfrm>
            <a:off x="365760" y="1371600"/>
            <a:ext cx="548640" cy="365760"/>
          </a:xfrm>
          <a:prstGeom prst="rect">
            <a:avLst/>
          </a:prstGeom>
          <a:solidFill>
            <a:srgbClr val="EFE9DC"/>
          </a:solidFill>
          <a:ln w="12700">
            <a:solidFill>
              <a:srgbClr val="DFD6C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1" i="0">
                <a:solidFill>
                  <a:srgbClr val="2B2622"/>
                </a:solidFill>
                <a:latin typeface="Calibri"/>
                <a:ea typeface="Calibri"/>
                <a:cs typeface="Calibri"/>
              </a:rPr>
              <a:t>0</a:t>
            </a:r>
          </a:p>
        </p:txBody>
      </p:sp>
      <p:sp>
        <p:nvSpPr>
          <p:cNvPr id="30" name="lock height"/>
          <p:cNvSpPr/>
          <p:nvPr/>
        </p:nvSpPr>
        <p:spPr>
          <a:xfrm>
            <a:off x="914400" y="1371600"/>
            <a:ext cx="3657600" cy="365760"/>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50" b="1" i="0">
                <a:solidFill>
                  <a:srgbClr val="FFFFFF"/>
                </a:solidFill>
                <a:latin typeface="Calibri"/>
                <a:ea typeface="Calibri"/>
                <a:cs typeface="Calibri"/>
              </a:rPr>
              <a:t>1 to 499,999,999: a block height</a:t>
            </a:r>
          </a:p>
        </p:txBody>
      </p:sp>
      <p:sp>
        <p:nvSpPr>
          <p:cNvPr id="31" name="lock time"/>
          <p:cNvSpPr/>
          <p:nvPr/>
        </p:nvSpPr>
        <p:spPr>
          <a:xfrm>
            <a:off x="4572000" y="1371600"/>
            <a:ext cx="4206240" cy="365760"/>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50" b="1" i="0">
                <a:solidFill>
                  <a:srgbClr val="FFFFFF"/>
                </a:solidFill>
                <a:latin typeface="Calibri"/>
                <a:ea typeface="Calibri"/>
                <a:cs typeface="Calibri"/>
              </a:rPr>
              <a:t>500,000,000 and up: a time in seconds</a:t>
            </a:r>
          </a:p>
        </p:txBody>
      </p:sp>
      <p:sp>
        <p:nvSpPr>
          <p:cNvPr id="32" name="zero note"/>
          <p:cNvSpPr txBox="1"/>
          <p:nvPr/>
        </p:nvSpPr>
        <p:spPr>
          <a:xfrm>
            <a:off x="365760" y="1773936"/>
            <a:ext cx="530352" cy="274320"/>
          </a:xfrm>
          <a:prstGeom prst="rect">
            <a:avLst/>
          </a:prstGeom>
          <a:noFill/>
        </p:spPr>
        <p:txBody>
          <a:bodyPr wrap="square" lIns="0" rIns="0" tIns="0" bIns="0" anchor="t">
            <a:spAutoFit/>
          </a:bodyPr>
          <a:lstStyle/>
          <a:p>
            <a:pPr algn="l"/>
            <a:r>
              <a:rPr sz="950" b="1" i="0">
                <a:solidFill>
                  <a:srgbClr val="6E655C"/>
                </a:solidFill>
                <a:latin typeface="Calibri"/>
                <a:ea typeface="Calibri"/>
                <a:cs typeface="Calibri"/>
              </a:rPr>
              <a:t>any block</a:t>
            </a:r>
          </a:p>
        </p:txBody>
      </p:sp>
      <p:sp>
        <p:nvSpPr>
          <p:cNvPr id="33" name="height note"/>
          <p:cNvSpPr txBox="1"/>
          <p:nvPr/>
        </p:nvSpPr>
        <p:spPr>
          <a:xfrm>
            <a:off x="914400" y="1773936"/>
            <a:ext cx="3657600" cy="274320"/>
          </a:xfrm>
          <a:prstGeom prst="rect">
            <a:avLst/>
          </a:prstGeom>
          <a:noFill/>
        </p:spPr>
        <p:txBody>
          <a:bodyPr wrap="square" lIns="0" rIns="0" tIns="0" bIns="0" anchor="t">
            <a:spAutoFit/>
          </a:bodyPr>
          <a:lstStyle/>
          <a:p>
            <a:pPr algn="l"/>
            <a:r>
              <a:rPr sz="1000" b="1" i="0">
                <a:solidFill>
                  <a:srgbClr val="6E655C"/>
                </a:solidFill>
                <a:latin typeface="Calibri"/>
                <a:ea typeface="Calibri"/>
                <a:cs typeface="Calibri"/>
              </a:rPr>
              <a:t>123,456 means block 123,456 or later</a:t>
            </a:r>
          </a:p>
        </p:txBody>
      </p:sp>
      <p:sp>
        <p:nvSpPr>
          <p:cNvPr id="34" name="time note"/>
          <p:cNvSpPr txBox="1"/>
          <p:nvPr/>
        </p:nvSpPr>
        <p:spPr>
          <a:xfrm>
            <a:off x="4572000" y="1773936"/>
            <a:ext cx="4206240" cy="274320"/>
          </a:xfrm>
          <a:prstGeom prst="rect">
            <a:avLst/>
          </a:prstGeom>
          <a:noFill/>
        </p:spPr>
        <p:txBody>
          <a:bodyPr wrap="square" lIns="0" rIns="0" tIns="0" bIns="0" anchor="t">
            <a:spAutoFit/>
          </a:bodyPr>
          <a:lstStyle/>
          <a:p>
            <a:pPr algn="l"/>
            <a:r>
              <a:rPr sz="1000" b="1" i="0">
                <a:solidFill>
                  <a:srgbClr val="6E655C"/>
                </a:solidFill>
                <a:latin typeface="Calibri"/>
                <a:ea typeface="Calibri"/>
                <a:cs typeface="Calibri"/>
              </a:rPr>
              <a:t>1,675,556,500 means 5 February 2023, tested against the median of eleven block times</a:t>
            </a:r>
          </a:p>
        </p:txBody>
      </p:sp>
      <p:sp>
        <p:nvSpPr>
          <p:cNvPr id="35" name="maturity title"/>
          <p:cNvSpPr txBox="1"/>
          <p:nvPr/>
        </p:nvSpPr>
        <p:spPr>
          <a:xfrm>
            <a:off x="365760" y="2157984"/>
            <a:ext cx="8412480" cy="146304"/>
          </a:xfrm>
          <a:prstGeom prst="rect">
            <a:avLst/>
          </a:prstGeom>
          <a:noFill/>
        </p:spPr>
        <p:txBody>
          <a:bodyPr wrap="square" lIns="0" rIns="0" tIns="0" bIns="0" anchor="t">
            <a:spAutoFit/>
          </a:bodyPr>
          <a:lstStyle/>
          <a:p>
            <a:pPr algn="l"/>
            <a:r>
              <a:rPr sz="1200" b="1" i="0">
                <a:solidFill>
                  <a:srgbClr val="2B2622"/>
                </a:solidFill>
                <a:latin typeface="Calibri"/>
                <a:ea typeface="Calibri"/>
                <a:cs typeface="Calibri"/>
              </a:rPr>
              <a:t>Coinbase maturity: a coin made in block 9</a:t>
            </a:r>
          </a:p>
        </p:txBody>
      </p:sp>
      <p:sp>
        <p:nvSpPr>
          <p:cNvPr id="36" name="mature made"/>
          <p:cNvSpPr/>
          <p:nvPr/>
        </p:nvSpPr>
        <p:spPr>
          <a:xfrm>
            <a:off x="365760" y="2359152"/>
            <a:ext cx="1828800" cy="512064"/>
          </a:xfrm>
          <a:prstGeom prst="roundRect">
            <a:avLst>
              <a:gd name="adj" fmla="val 8000"/>
            </a:avLst>
          </a:prstGeom>
          <a:solidFill>
            <a:srgbClr val="2B26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FFFFFF"/>
                </a:solidFill>
                <a:latin typeface="Calibri"/>
                <a:ea typeface="Calibri"/>
                <a:cs typeface="Calibri"/>
              </a:rPr>
              <a:t>block 9</a:t>
            </a:r>
          </a:p>
          <a:p>
            <a:pPr algn="ctr"/>
            <a:r>
              <a:rPr sz="1050" b="0" i="0">
                <a:solidFill>
                  <a:srgbClr val="E6EDF3"/>
                </a:solidFill>
                <a:latin typeface="Calibri"/>
                <a:ea typeface="Calibri"/>
                <a:cs typeface="Calibri"/>
              </a:rPr>
              <a:t>the coin is created</a:t>
            </a:r>
          </a:p>
        </p:txBody>
      </p:sp>
      <p:sp>
        <p:nvSpPr>
          <p:cNvPr id="37" name="mature locked"/>
          <p:cNvSpPr/>
          <p:nvPr/>
        </p:nvSpPr>
        <p:spPr>
          <a:xfrm>
            <a:off x="2377440" y="2359152"/>
            <a:ext cx="4023360" cy="512064"/>
          </a:xfrm>
          <a:prstGeom prst="roundRect">
            <a:avLst>
              <a:gd name="adj" fmla="val 8000"/>
            </a:avLst>
          </a:prstGeom>
          <a:solidFill>
            <a:srgbClr val="EFE9DC"/>
          </a:solidFill>
          <a:ln w="19050">
            <a:solidFill>
              <a:srgbClr val="D97A1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D97A14"/>
                </a:solidFill>
                <a:latin typeface="Calibri"/>
                <a:ea typeface="Calibri"/>
                <a:cs typeface="Calibri"/>
              </a:rPr>
              <a:t>blocks 10 to 108</a:t>
            </a:r>
          </a:p>
          <a:p>
            <a:pPr algn="ctr"/>
            <a:r>
              <a:rPr sz="1050" b="0" i="0">
                <a:solidFill>
                  <a:srgbClr val="2B2622"/>
                </a:solidFill>
                <a:latin typeface="Calibri"/>
                <a:ea typeface="Calibri"/>
                <a:cs typeface="Calibri"/>
              </a:rPr>
              <a:t>still locked: the coin is less than 100 blocks old</a:t>
            </a:r>
          </a:p>
        </p:txBody>
      </p:sp>
      <p:sp>
        <p:nvSpPr>
          <p:cNvPr id="38" name="mature free"/>
          <p:cNvSpPr/>
          <p:nvPr/>
        </p:nvSpPr>
        <p:spPr>
          <a:xfrm>
            <a:off x="6583680" y="2359152"/>
            <a:ext cx="2194560" cy="512064"/>
          </a:xfrm>
          <a:prstGeom prst="roundRect">
            <a:avLst>
              <a:gd name="adj" fmla="val 8000"/>
            </a:avLst>
          </a:prstGeom>
          <a:solidFill>
            <a:srgbClr val="2F6D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FFFFFF"/>
                </a:solidFill>
                <a:latin typeface="Calibri"/>
                <a:ea typeface="Calibri"/>
                <a:cs typeface="Calibri"/>
              </a:rPr>
              <a:t>block 109</a:t>
            </a:r>
          </a:p>
          <a:p>
            <a:pPr algn="ctr"/>
            <a:r>
              <a:rPr sz="1050" b="0" i="0">
                <a:solidFill>
                  <a:srgbClr val="FFFFFF"/>
                </a:solidFill>
                <a:latin typeface="Calibri"/>
                <a:ea typeface="Calibri"/>
                <a:cs typeface="Calibri"/>
              </a:rPr>
              <a:t>age 100: may be spent</a:t>
            </a:r>
          </a:p>
        </p:txBody>
      </p:sp>
      <p:cxnSp>
        <p:nvCxnSpPr>
          <p:cNvPr id="39" name="m arrow 1"/>
          <p:cNvCxnSpPr/>
          <p:nvPr/>
        </p:nvCxnSpPr>
        <p:spPr>
          <a:xfrm>
            <a:off x="2203704" y="2615184"/>
            <a:ext cx="155448" cy="0"/>
          </a:xfrm>
          <a:prstGeom prst="line">
            <a:avLst/>
          </a:prstGeom>
          <a:ln w="19050">
            <a:solidFill>
              <a:srgbClr val="6E65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m arrow 2"/>
          <p:cNvCxnSpPr/>
          <p:nvPr/>
        </p:nvCxnSpPr>
        <p:spPr>
          <a:xfrm>
            <a:off x="6409944" y="2615184"/>
            <a:ext cx="155448" cy="0"/>
          </a:xfrm>
          <a:prstGeom prst="line">
            <a:avLst/>
          </a:prstGeom>
          <a:ln w="19050">
            <a:solidFill>
              <a:srgbClr val="6E65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ading"/>
          <p:cNvSpPr txBox="1"/>
          <p:nvPr/>
        </p:nvSpPr>
        <p:spPr>
          <a:xfrm>
            <a:off x="365760" y="3054096"/>
            <a:ext cx="8412480" cy="48158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Below 500 million the lock time is a block height; from 500 million up it is a time in seconds.</a:t>
            </a:r>
          </a:p>
        </p:txBody>
      </p:sp>
      <p:sp>
        <p:nvSpPr>
          <p:cNvPr id="42" name="reading"/>
          <p:cNvSpPr txBox="1"/>
          <p:nvPr/>
        </p:nvSpPr>
        <p:spPr>
          <a:xfrm>
            <a:off x="365760" y="3563112"/>
            <a:ext cx="8412480" cy="48158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A coinbase coin, such as one made in block 9, may be spent only 100 blocks later, from block 109.</a:t>
            </a:r>
          </a:p>
        </p:txBody>
      </p:sp>
      <p:sp>
        <p:nvSpPr>
          <p:cNvPr id="43" name="reading"/>
          <p:cNvSpPr txBox="1"/>
          <p:nvPr/>
        </p:nvSpPr>
        <p:spPr>
          <a:xfrm>
            <a:off x="365760" y="4072128"/>
            <a:ext cx="8412480" cy="268224"/>
          </a:xfrm>
          <a:prstGeom prst="rect">
            <a:avLst/>
          </a:prstGeom>
          <a:noFill/>
        </p:spPr>
        <p:txBody>
          <a:bodyPr wrap="square" lIns="0" rIns="0" tIns="0" bIns="0" anchor="t">
            <a:spAutoFit/>
          </a:bodyPr>
          <a:lstStyle/>
          <a:p>
            <a:pPr algn="l"/>
            <a:r>
              <a:rPr sz="1400" b="1" i="0">
                <a:solidFill>
                  <a:srgbClr val="D97A14"/>
                </a:solidFill>
                <a:latin typeface="Calibri"/>
                <a:ea typeface="Calibri"/>
                <a:cs typeface="Calibri"/>
              </a:rPr>
              <a:t>▪  </a:t>
            </a:r>
            <a:r>
              <a:rPr sz="1400" b="0" i="0">
                <a:solidFill>
                  <a:srgbClr val="2B2622"/>
                </a:solidFill>
                <a:latin typeface="Calibri"/>
                <a:ea typeface="Calibri"/>
                <a:cs typeface="Calibri"/>
              </a:rPr>
              <a:t>Think of a post-dated cheque, and of wages you cannot spend until the pay has cleared.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Lock time and the coinbase (1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lock time field</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Zero: eligible for any block.</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do-not-open-before date on an envelope.</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Lock time as a block height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123,456 means block 123,456 or later.</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do not open before a numbered page of the logbook.</a:t>
            </a:r>
            <a:endParaRPr lang="en-US" sz="1150" dirty="0"/>
          </a:p>
        </p:txBody>
      </p:sp>
      <p:sp>
        <p:nvSpPr>
          <p:cNvPr id="14" name="Shape 12"/>
          <p:cNvSpPr/>
          <p:nvPr/>
        </p:nvSpPr>
        <p:spPr>
          <a:xfrm>
            <a:off x="457200"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5" name="Shape 13"/>
          <p:cNvSpPr/>
          <p:nvPr/>
        </p:nvSpPr>
        <p:spPr>
          <a:xfrm>
            <a:off x="475488" y="2633472"/>
            <a:ext cx="64008" cy="84124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Lock time as an epoch time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500,000,000 or more is a timestamp.</a:t>
            </a:r>
            <a:endParaRPr lang="en-US" sz="1300" dirty="0"/>
          </a:p>
        </p:txBody>
      </p:sp>
      <p:sp>
        <p:nvSpPr>
          <p:cNvPr id="17" name="Text 15"/>
          <p:cNvSpPr txBox="1"/>
          <p:nvPr/>
        </p:nvSpPr>
        <p:spPr>
          <a:xfrm>
            <a:off x="640080"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do not open before this calendar date.</a:t>
            </a:r>
            <a:endParaRPr lang="en-US" sz="1150" dirty="0"/>
          </a:p>
        </p:txBody>
      </p:sp>
      <p:sp>
        <p:nvSpPr>
          <p:cNvPr id="18" name="Shape 16"/>
          <p:cNvSpPr/>
          <p:nvPr/>
        </p:nvSpPr>
        <p:spPr>
          <a:xfrm>
            <a:off x="4645152"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9" name="Shape 17"/>
          <p:cNvSpPr/>
          <p:nvPr/>
        </p:nvSpPr>
        <p:spPr>
          <a:xfrm>
            <a:off x="4663440" y="2633472"/>
            <a:ext cx="64008" cy="841248"/>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Median time past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middle of eleven block times.</a:t>
            </a:r>
            <a:endParaRPr lang="en-US" sz="1300" dirty="0"/>
          </a:p>
        </p:txBody>
      </p:sp>
      <p:sp>
        <p:nvSpPr>
          <p:cNvPr id="21" name="Text 19"/>
          <p:cNvSpPr txBox="1"/>
          <p:nvPr/>
        </p:nvSpPr>
        <p:spPr>
          <a:xfrm>
            <a:off x="4828032"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asking the middle voter, not the loudest.</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56 / 71</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Lock time and the median time past</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Which clock a lock time is read against</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block times, seconds after 1675556500</a:t>
            </a:r>
            <a:endParaRPr lang="en-US" sz="1100" dirty="0"/>
          </a:p>
        </p:txBody>
      </p:sp>
      <p:graphicFrame>
        <p:nvGraphicFramePr>
          <p:cNvPr id="23" name="Chart 0" descr=""/>
          <p:cNvGraphicFramePr/>
          <p:nvPr/>
        </p:nvGraphicFramePr>
        <p:xfrm>
          <a:off x="5715000" y="1773936"/>
          <a:ext cx="2971800" cy="189280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758184"/>
            <a:ext cx="2971800" cy="78638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median of the eleven is 2,100 s, 600 s below the highest. Lock time kinds: any block, block height, epoch time.</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Lock time says not before; nothing in a transaction says not after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57 / 71</a:t>
            </a:r>
            <a:endParaRPr lang="en-US" sz="1100" dirty="0"/>
          </a:p>
        </p:txBody>
      </p:sp>
      <p:sp>
        <p:nvSpPr>
          <p:cNvPr id="28" name="code 14"/>
          <p:cNvSpPr/>
          <p:nvPr/>
        </p:nvSpPr>
        <p:spPr>
          <a:xfrm>
            <a:off x="365760" y="1170432"/>
            <a:ext cx="5166360" cy="390448"/>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ks</a:t>
            </a:r>
            <a:r>
              <a:rPr sz="1000" b="0" i="0">
                <a:solidFill>
                  <a:srgbClr val="E6EDF3"/>
                </a:solidFill>
                <a:latin typeface="Courier New"/>
                <a:ea typeface="Courier New"/>
                <a:cs typeface="Courier New"/>
              </a:rPr>
              <a:t> = (</a:t>
            </a:r>
            <a:r>
              <a:rPr sz="1000" b="0" i="0">
                <a:solidFill>
                  <a:srgbClr val="FFD28A"/>
                </a:solidFill>
                <a:latin typeface="Courier New"/>
                <a:ea typeface="Courier New"/>
                <a:cs typeface="Courier New"/>
              </a:rPr>
              <a:t>15</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21</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5</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27</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24</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0</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26</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18</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12</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23</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25</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times</a:t>
            </a:r>
            <a:r>
              <a:rPr sz="1000" b="0" i="0">
                <a:solidFill>
                  <a:srgbClr val="E6EDF3"/>
                </a:solidFill>
                <a:latin typeface="Courier New"/>
                <a:ea typeface="Courier New"/>
                <a:cs typeface="Courier New"/>
              </a:rPr>
              <a:t> = [</a:t>
            </a:r>
            <a:r>
              <a:rPr sz="1000" b="0" i="0">
                <a:solidFill>
                  <a:srgbClr val="FFD28A"/>
                </a:solidFill>
                <a:latin typeface="Courier New"/>
                <a:ea typeface="Courier New"/>
                <a:cs typeface="Courier New"/>
              </a:rPr>
              <a:t>1675556500</a:t>
            </a:r>
            <a:r>
              <a:rPr sz="1000" b="0" i="0">
                <a:solidFill>
                  <a:srgbClr val="E6EDF3"/>
                </a:solidFill>
                <a:latin typeface="Courier New"/>
                <a:ea typeface="Courier New"/>
                <a:cs typeface="Courier New"/>
              </a:rPr>
              <a:t> + </a:t>
            </a:r>
            <a:r>
              <a:rPr sz="1000" b="0" i="0">
                <a:solidFill>
                  <a:srgbClr val="FFD28A"/>
                </a:solidFill>
                <a:latin typeface="Courier New"/>
                <a:ea typeface="Courier New"/>
                <a:cs typeface="Courier New"/>
              </a:rPr>
              <a:t>100</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k</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for</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k</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in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ks</a:t>
            </a:r>
            <a:r>
              <a:rPr sz="1000" b="0" i="0">
                <a:solidFill>
                  <a:srgbClr val="E6EDF3"/>
                </a:solidFill>
                <a:latin typeface="Courier New"/>
                <a:ea typeface="Courier New"/>
                <a:cs typeface="Courier New"/>
              </a:rPr>
              <a:t>]</a:t>
            </a:r>
          </a:p>
        </p:txBody>
      </p:sp>
      <p:sp>
        <p:nvSpPr>
          <p:cNvPr id="29" name="code 14"/>
          <p:cNvSpPr/>
          <p:nvPr/>
        </p:nvSpPr>
        <p:spPr>
          <a:xfrm>
            <a:off x="365760" y="1588312"/>
            <a:ext cx="5166360" cy="549554"/>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mtp</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median_time_past</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times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offsets</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t</a:t>
            </a:r>
            <a:r>
              <a:rPr sz="1000" b="0" i="0">
                <a:solidFill>
                  <a:srgbClr val="E6EDF3"/>
                </a:solidFill>
                <a:latin typeface="Courier New"/>
                <a:ea typeface="Courier New"/>
                <a:cs typeface="Courier New"/>
              </a:rPr>
              <a:t> - </a:t>
            </a:r>
            <a:r>
              <a:rPr sz="1000" b="0" i="0">
                <a:solidFill>
                  <a:srgbClr val="FFD28A"/>
                </a:solidFill>
                <a:latin typeface="Courier New"/>
                <a:ea typeface="Courier New"/>
                <a:cs typeface="Courier New"/>
              </a:rPr>
              <a:t>1675556500</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for</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t</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in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times</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mtp_offset</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mtp</a:t>
            </a:r>
            <a:r>
              <a:rPr sz="1000" b="0" i="0">
                <a:solidFill>
                  <a:srgbClr val="E6EDF3"/>
                </a:solidFill>
                <a:latin typeface="Courier New"/>
                <a:ea typeface="Courier New"/>
                <a:cs typeface="Courier New"/>
              </a:rPr>
              <a:t> - </a:t>
            </a:r>
            <a:r>
              <a:rPr sz="1000" b="0" i="0">
                <a:solidFill>
                  <a:srgbClr val="FFD28A"/>
                </a:solidFill>
                <a:latin typeface="Courier New"/>
                <a:ea typeface="Courier New"/>
                <a:cs typeface="Courier New"/>
              </a:rPr>
              <a:t>1675556500</a:t>
            </a:r>
          </a:p>
        </p:txBody>
      </p:sp>
      <p:sp>
        <p:nvSpPr>
          <p:cNvPr id="30" name="code 14"/>
          <p:cNvSpPr/>
          <p:nvPr/>
        </p:nvSpPr>
        <p:spPr>
          <a:xfrm>
            <a:off x="365760" y="2165299"/>
            <a:ext cx="5166360" cy="549554"/>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000" b="0" i="0">
                <a:solidFill>
                  <a:srgbClr val="E6EDF3"/>
                </a:solidFill>
                <a:latin typeface="Courier New"/>
                <a:ea typeface="Courier New"/>
                <a:cs typeface="Courier New"/>
              </a:rPr>
              <a:t>lt</a:t>
            </a:r>
            <a:r>
              <a:rPr sz="1000" b="0" i="0">
                <a:solidFill>
                  <a:srgbClr val="E6EDF3"/>
                </a:solidFill>
                <a:latin typeface="Courier New"/>
                <a:ea typeface="Courier New"/>
                <a:cs typeface="Courier New"/>
              </a:rPr>
              <a:t> = (</a:t>
            </a:r>
            <a:r>
              <a:rPr sz="1000" b="0" i="0">
                <a:solidFill>
                  <a:srgbClr val="FFD28A"/>
                </a:solidFill>
                <a:latin typeface="Courier New"/>
                <a:ea typeface="Courier New"/>
                <a:cs typeface="Courier New"/>
              </a:rPr>
              <a:t>0</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123456</a:t>
            </a:r>
            <a:r>
              <a:rPr sz="1000" b="0" i="0">
                <a:solidFill>
                  <a:srgbClr val="E6EDF3"/>
                </a:solidFill>
                <a:latin typeface="Courier New"/>
                <a:ea typeface="Courier New"/>
                <a:cs typeface="Courier New"/>
              </a:rPr>
              <a:t>, </a:t>
            </a:r>
            <a:r>
              <a:rPr sz="1000" b="0" i="0">
                <a:solidFill>
                  <a:srgbClr val="FFD28A"/>
                </a:solidFill>
                <a:latin typeface="Courier New"/>
                <a:ea typeface="Courier New"/>
                <a:cs typeface="Courier New"/>
              </a:rPr>
              <a:t>1675556500</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kinds</a:t>
            </a:r>
            <a:r>
              <a:rPr sz="1000" b="0" i="0">
                <a:solidFill>
                  <a:srgbClr val="E6EDF3"/>
                </a:solidFill>
                <a:latin typeface="Courier New"/>
                <a:ea typeface="Courier New"/>
                <a:cs typeface="Courier New"/>
              </a:rPr>
              <a:t> = [</a:t>
            </a:r>
            <a:r>
              <a:rPr sz="1000" b="0" i="0">
                <a:solidFill>
                  <a:srgbClr val="E6EDF3"/>
                </a:solidFill>
                <a:latin typeface="Courier New"/>
                <a:ea typeface="Courier New"/>
                <a:cs typeface="Courier New"/>
              </a:rPr>
              <a:t>locktime_decode</a:t>
            </a:r>
            <a:r>
              <a:rPr sz="1000" b="0" i="0">
                <a:solidFill>
                  <a:srgbClr val="E6EDF3"/>
                </a:solidFill>
                <a:latin typeface="Courier New"/>
                <a:ea typeface="Courier New"/>
                <a:cs typeface="Courier New"/>
              </a:rPr>
              <a:t>(</a:t>
            </a:r>
            <a:r>
              <a:rPr sz="1000" b="0" i="0">
                <a:solidFill>
                  <a:srgbClr val="E6EDF3"/>
                </a:solidFill>
                <a:latin typeface="Courier New"/>
                <a:ea typeface="Courier New"/>
                <a:cs typeface="Courier New"/>
              </a:rPr>
              <a:t>n</a:t>
            </a:r>
            <a:r>
              <a:rPr sz="1000" b="0" i="0">
                <a:solidFill>
                  <a:srgbClr val="E6EDF3"/>
                </a:solidFill>
                <a:latin typeface="Courier New"/>
                <a:ea typeface="Courier New"/>
                <a:cs typeface="Courier New"/>
              </a:rPr>
              <a:t>)[</a:t>
            </a:r>
            <a:r>
              <a:rPr sz="1000" b="0" i="0">
                <a:solidFill>
                  <a:srgbClr val="FFD28A"/>
                </a:solidFill>
                <a:latin typeface="Courier New"/>
                <a:ea typeface="Courier New"/>
                <a:cs typeface="Courier New"/>
              </a:rPr>
              <a:t>0</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for</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n</a:t>
            </a:r>
            <a:r>
              <a:rPr sz="1000" b="0" i="0">
                <a:solidFill>
                  <a:srgbClr val="E6EDF3"/>
                </a:solidFill>
                <a:latin typeface="Courier New"/>
                <a:ea typeface="Courier New"/>
                <a:cs typeface="Courier New"/>
              </a:rPr>
              <a:t> </a:t>
            </a:r>
            <a:r>
              <a:rPr sz="1000" b="1" i="0">
                <a:solidFill>
                  <a:srgbClr val="F2A860"/>
                </a:solidFill>
                <a:latin typeface="Courier New"/>
                <a:ea typeface="Courier New"/>
                <a:cs typeface="Courier New"/>
              </a:rPr>
              <a:t>in</a:t>
            </a:r>
            <a:r>
              <a:rPr sz="1000" b="0" i="0">
                <a:solidFill>
                  <a:srgbClr val="E6EDF3"/>
                </a:solidFill>
                <a:latin typeface="Courier New"/>
                <a:ea typeface="Courier New"/>
                <a:cs typeface="Courier New"/>
              </a:rPr>
              <a:t> </a:t>
            </a:r>
            <a:r>
              <a:rPr sz="1000" b="0" i="0">
                <a:solidFill>
                  <a:srgbClr val="E6EDF3"/>
                </a:solidFill>
                <a:latin typeface="Courier New"/>
                <a:ea typeface="Courier New"/>
                <a:cs typeface="Courier New"/>
              </a:rPr>
              <a:t>lt</a:t>
            </a:r>
            <a:r>
              <a:rPr sz="1000" b="0" i="0">
                <a:solidFill>
                  <a:srgbClr val="E6EDF3"/>
                </a:solidFill>
                <a:latin typeface="Courier New"/>
                <a:ea typeface="Courier New"/>
                <a:cs typeface="Courier New"/>
              </a:rPr>
              <a:t>]</a:t>
            </a:r>
          </a:p>
          <a:p>
            <a:pPr algn="l"/>
            <a:r>
              <a:rPr sz="1000" b="0" i="0">
                <a:solidFill>
                  <a:srgbClr val="E6EDF3"/>
                </a:solidFill>
                <a:latin typeface="Courier New"/>
                <a:ea typeface="Courier New"/>
                <a:cs typeface="Courier New"/>
              </a:rPr>
              <a:t>mtp_offset</a:t>
            </a:r>
          </a:p>
        </p:txBody>
      </p:sp>
      <p:sp>
        <p:nvSpPr>
          <p:cNvPr id="31" name="result 14"/>
          <p:cNvSpPr/>
          <p:nvPr/>
        </p:nvSpPr>
        <p:spPr>
          <a:xfrm>
            <a:off x="365760" y="2760573"/>
            <a:ext cx="5166360" cy="854049"/>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14"/>
          <p:cNvSpPr txBox="1"/>
          <p:nvPr/>
        </p:nvSpPr>
        <p:spPr>
          <a:xfrm>
            <a:off x="457200" y="2788005"/>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14"/>
          <p:cNvSpPr txBox="1"/>
          <p:nvPr/>
        </p:nvSpPr>
        <p:spPr>
          <a:xfrm>
            <a:off x="457200" y="2897733"/>
            <a:ext cx="4983480" cy="32664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offsets</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[1500, 2100, 500, 2700, 2400, 0, 2600, 1800, 1200, 2300, 2500]</a:t>
            </a:r>
          </a:p>
        </p:txBody>
      </p:sp>
      <p:sp>
        <p:nvSpPr>
          <p:cNvPr id="34" name="result 14"/>
          <p:cNvSpPr txBox="1"/>
          <p:nvPr/>
        </p:nvSpPr>
        <p:spPr>
          <a:xfrm>
            <a:off x="457200" y="3224377"/>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mtp_offset</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2100</a:t>
            </a:r>
          </a:p>
        </p:txBody>
      </p:sp>
      <p:sp>
        <p:nvSpPr>
          <p:cNvPr id="35" name="result 14"/>
          <p:cNvSpPr txBox="1"/>
          <p:nvPr/>
        </p:nvSpPr>
        <p:spPr>
          <a:xfrm>
            <a:off x="457200" y="3392271"/>
            <a:ext cx="4983480" cy="167894"/>
          </a:xfrm>
          <a:prstGeom prst="rect">
            <a:avLst/>
          </a:prstGeom>
          <a:noFill/>
        </p:spPr>
        <p:txBody>
          <a:bodyPr wrap="square" lIns="0" rIns="0" tIns="0" bIns="0" anchor="t">
            <a:spAutoFit/>
          </a:bodyPr>
          <a:lstStyle/>
          <a:p>
            <a:pPr algn="l"/>
            <a:r>
              <a:rPr sz="1000" b="0" i="0">
                <a:solidFill>
                  <a:srgbClr val="6E655C"/>
                </a:solidFill>
                <a:latin typeface="Courier New"/>
                <a:ea typeface="Courier New"/>
                <a:cs typeface="Courier New"/>
              </a:rPr>
              <a:t>kinds</a:t>
            </a:r>
            <a:r>
              <a:rPr sz="1000" b="1" i="0">
                <a:solidFill>
                  <a:srgbClr val="D97A14"/>
                </a:solidFill>
                <a:latin typeface="Courier New"/>
                <a:ea typeface="Courier New"/>
                <a:cs typeface="Courier New"/>
              </a:rPr>
              <a:t>  →  </a:t>
            </a:r>
            <a:r>
              <a:rPr sz="1000" b="1" i="0">
                <a:solidFill>
                  <a:srgbClr val="2B2622"/>
                </a:solidFill>
                <a:latin typeface="Courier New"/>
                <a:ea typeface="Courier New"/>
                <a:cs typeface="Courier New"/>
              </a:rPr>
              <a:t>['any block', 'block height', 'epoch time']</a:t>
            </a:r>
          </a:p>
        </p:txBody>
      </p:sp>
      <p:sp>
        <p:nvSpPr>
          <p:cNvPr id="36" name="explanation 14"/>
          <p:cNvSpPr txBox="1"/>
          <p:nvPr/>
        </p:nvSpPr>
        <p:spPr>
          <a:xfrm>
            <a:off x="365760" y="3651199"/>
            <a:ext cx="5166360" cy="2255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1-2  </a:t>
            </a:r>
            <a:r>
              <a:rPr sz="1000" b="0" i="0">
                <a:solidFill>
                  <a:srgbClr val="2B2622"/>
                </a:solidFill>
                <a:latin typeface="Calibri"/>
                <a:ea typeface="Calibri"/>
                <a:cs typeface="Calibri"/>
              </a:rPr>
              <a:t>Eleven block times, out of order, as they are on the real chain.</a:t>
            </a:r>
          </a:p>
        </p:txBody>
      </p:sp>
      <p:sp>
        <p:nvSpPr>
          <p:cNvPr id="37" name="explanation 14"/>
          <p:cNvSpPr txBox="1"/>
          <p:nvPr/>
        </p:nvSpPr>
        <p:spPr>
          <a:xfrm>
            <a:off x="365760" y="3876751"/>
            <a:ext cx="5166360" cy="2255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3-5  </a:t>
            </a:r>
            <a:r>
              <a:rPr sz="1000" b="0" i="0">
                <a:solidFill>
                  <a:srgbClr val="2B2622"/>
                </a:solidFill>
                <a:latin typeface="Calibri"/>
                <a:ea typeface="Calibri"/>
                <a:cs typeface="Calibri"/>
              </a:rPr>
              <a:t>The median time past is the middle of the eleven, not the newest.</a:t>
            </a:r>
          </a:p>
        </p:txBody>
      </p:sp>
      <p:sp>
        <p:nvSpPr>
          <p:cNvPr id="38" name="explanation 14"/>
          <p:cNvSpPr txBox="1"/>
          <p:nvPr/>
        </p:nvSpPr>
        <p:spPr>
          <a:xfrm>
            <a:off x="365760" y="4102303"/>
            <a:ext cx="5166360" cy="377952"/>
          </a:xfrm>
          <a:prstGeom prst="rect">
            <a:avLst/>
          </a:prstGeom>
          <a:noFill/>
        </p:spPr>
        <p:txBody>
          <a:bodyPr wrap="square" lIns="0" rIns="0" tIns="0" bIns="0" anchor="t">
            <a:spAutoFit/>
          </a:bodyPr>
          <a:lstStyle/>
          <a:p>
            <a:pPr algn="l"/>
            <a:r>
              <a:rPr sz="1000" b="1" i="0">
                <a:solidFill>
                  <a:srgbClr val="D97A14"/>
                </a:solidFill>
                <a:latin typeface="Calibri"/>
                <a:ea typeface="Calibri"/>
                <a:cs typeface="Calibri"/>
              </a:rPr>
              <a:t>Lines 6-8  </a:t>
            </a:r>
            <a:r>
              <a:rPr sz="1000" b="0" i="0">
                <a:solidFill>
                  <a:srgbClr val="2B2622"/>
                </a:solidFill>
                <a:latin typeface="Calibri"/>
                <a:ea typeface="Calibri"/>
                <a:cs typeface="Calibri"/>
              </a:rPr>
              <a:t>A lock time below 500 million is a height; a larger one is a time.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Lock time and the coinbase (2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7" name="Shape 5"/>
          <p:cNvSpPr/>
          <p:nvPr/>
        </p:nvSpPr>
        <p:spPr>
          <a:xfrm>
            <a:off x="475488" y="1408176"/>
            <a:ext cx="64008" cy="91805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Coinbase transaction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First in the block, made by the miner.</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bonus the mint pays whoever closes the page.</a:t>
            </a:r>
            <a:endParaRPr lang="en-US" sz="1150" dirty="0"/>
          </a:p>
        </p:txBody>
      </p:sp>
      <p:sp>
        <p:nvSpPr>
          <p:cNvPr id="10" name="Text 8"/>
          <p:cNvSpPr txBox="1"/>
          <p:nvPr/>
        </p:nvSpPr>
        <p:spPr>
          <a:xfrm>
            <a:off x="640080" y="2217420"/>
            <a:ext cx="3767328" cy="191110"/>
          </a:xfrm>
          <a:prstGeom prst="rect">
            <a:avLst/>
          </a:prstGeom>
          <a:noFill/>
          <a:ln/>
        </p:spPr>
        <p:txBody>
          <a:bodyPr wrap="square" lIns="0" tIns="0" rIns="0" bIns="0" rtlCol="0" anchor="t"/>
          <a:lstStyle/>
          <a:p>
            <a:pPr indent="0" marL="0">
              <a:buNone/>
            </a:pPr>
            <a:r>
              <a:rPr lang="en-US" sz="1000" dirty="0">
                <a:solidFill>
                  <a:srgbClr val="6E655C"/>
                </a:solidFill>
                <a:latin typeface="Calibri" pitchFamily="34" charset="0"/>
                <a:ea typeface="Calibri" pitchFamily="34" charset="-122"/>
                <a:cs typeface="Calibri" pitchFamily="34" charset="-120"/>
              </a:rPr>
              <a:t>Also called: generation transaction</a:t>
            </a:r>
            <a:endParaRPr lang="en-US" sz="1000" dirty="0"/>
          </a:p>
        </p:txBody>
      </p:sp>
      <p:sp>
        <p:nvSpPr>
          <p:cNvPr id="11" name="Shape 9"/>
          <p:cNvSpPr/>
          <p:nvPr/>
        </p:nvSpPr>
        <p:spPr>
          <a:xfrm>
            <a:off x="4645152" y="1280160"/>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2" name="Shape 10"/>
          <p:cNvSpPr/>
          <p:nvPr/>
        </p:nvSpPr>
        <p:spPr>
          <a:xfrm>
            <a:off x="4663440" y="1408176"/>
            <a:ext cx="64008" cy="918058"/>
          </a:xfrm>
          <a:prstGeom prst="rect">
            <a:avLst/>
          </a:prstGeom>
          <a:solidFill>
            <a:srgbClr val="D97A14"/>
          </a:solidFill>
          <a:ln w="12700">
            <a:solidFill>
              <a:srgbClr val="D97A14"/>
            </a:solidFill>
            <a:prstDash val="solid"/>
          </a:ln>
        </p:spPr>
        <p:txBody>
          <a:bodyPr/>
          <a:p/>
        </p:txBody>
      </p:sp>
      <p:sp>
        <p:nvSpPr>
          <p:cNvPr id="13" name="Text 11"/>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null outpoint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32 zero bytes and index 0xffffffff.</a:t>
            </a:r>
            <a:endParaRPr lang="en-US" sz="1300" dirty="0"/>
          </a:p>
        </p:txBody>
      </p:sp>
      <p:sp>
        <p:nvSpPr>
          <p:cNvPr id="14" name="Text 12"/>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ticket with no previous holder: printed new.</a:t>
            </a:r>
            <a:endParaRPr lang="en-US" sz="1150" dirty="0"/>
          </a:p>
        </p:txBody>
      </p:sp>
      <p:sp>
        <p:nvSpPr>
          <p:cNvPr id="15" name="Shape 13"/>
          <p:cNvSpPr/>
          <p:nvPr/>
        </p:nvSpPr>
        <p:spPr>
          <a:xfrm>
            <a:off x="457200"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16" name="Shape 14"/>
          <p:cNvSpPr/>
          <p:nvPr/>
        </p:nvSpPr>
        <p:spPr>
          <a:xfrm>
            <a:off x="475488" y="2710282"/>
            <a:ext cx="64008" cy="918058"/>
          </a:xfrm>
          <a:prstGeom prst="rect">
            <a:avLst/>
          </a:prstGeom>
          <a:solidFill>
            <a:srgbClr val="D97A14"/>
          </a:solidFill>
          <a:ln w="12700">
            <a:solidFill>
              <a:srgbClr val="D97A14"/>
            </a:solidFill>
            <a:prstDash val="solid"/>
          </a:ln>
        </p:spPr>
        <p:txBody>
          <a:bodyPr/>
          <a:p/>
        </p:txBody>
      </p:sp>
      <p:sp>
        <p:nvSpPr>
          <p:cNvPr id="17" name="Text 15"/>
          <p:cNvSpPr txBox="1"/>
          <p:nvPr/>
        </p:nvSpPr>
        <p:spPr>
          <a:xfrm>
            <a:off x="640080"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coinbase field</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2 to 100 bytes, beginning with the height.</a:t>
            </a:r>
            <a:endParaRPr lang="en-US" sz="1300" dirty="0"/>
          </a:p>
        </p:txBody>
      </p:sp>
      <p:sp>
        <p:nvSpPr>
          <p:cNvPr id="18" name="Text 16"/>
          <p:cNvSpPr txBox="1"/>
          <p:nvPr/>
        </p:nvSpPr>
        <p:spPr>
          <a:xfrm>
            <a:off x="640080" y="3108046"/>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free text box on the bonus slip.</a:t>
            </a:r>
            <a:endParaRPr lang="en-US" sz="1150" dirty="0"/>
          </a:p>
        </p:txBody>
      </p:sp>
      <p:sp>
        <p:nvSpPr>
          <p:cNvPr id="19" name="Shape 17"/>
          <p:cNvSpPr/>
          <p:nvPr/>
        </p:nvSpPr>
        <p:spPr>
          <a:xfrm>
            <a:off x="4645152" y="2582266"/>
            <a:ext cx="4041648" cy="1174090"/>
          </a:xfrm>
          <a:prstGeom prst="roundRect">
            <a:avLst>
              <a:gd name="adj" fmla="val 6231"/>
            </a:avLst>
          </a:prstGeom>
          <a:solidFill>
            <a:srgbClr val="F2ECE1"/>
          </a:solidFill>
          <a:ln w="12700">
            <a:solidFill>
              <a:srgbClr val="DFD6C7"/>
            </a:solidFill>
            <a:prstDash val="solid"/>
          </a:ln>
        </p:spPr>
        <p:txBody>
          <a:bodyPr/>
          <a:p/>
        </p:txBody>
      </p:sp>
      <p:sp>
        <p:nvSpPr>
          <p:cNvPr id="20" name="Shape 18"/>
          <p:cNvSpPr/>
          <p:nvPr/>
        </p:nvSpPr>
        <p:spPr>
          <a:xfrm>
            <a:off x="4663440" y="2710282"/>
            <a:ext cx="64008" cy="918058"/>
          </a:xfrm>
          <a:prstGeom prst="rect">
            <a:avLst/>
          </a:prstGeom>
          <a:solidFill>
            <a:srgbClr val="D97A14"/>
          </a:solidFill>
          <a:ln w="12700">
            <a:solidFill>
              <a:srgbClr val="D97A14"/>
            </a:solidFill>
            <a:prstDash val="solid"/>
          </a:ln>
        </p:spPr>
        <p:txBody>
          <a:bodyPr/>
          <a:p/>
        </p:txBody>
      </p:sp>
      <p:sp>
        <p:nvSpPr>
          <p:cNvPr id="21" name="Text 19"/>
          <p:cNvSpPr txBox="1"/>
          <p:nvPr/>
        </p:nvSpPr>
        <p:spPr>
          <a:xfrm>
            <a:off x="4828032" y="264627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Block subsidy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50 BTC, halved every 210,000 blocks.</a:t>
            </a:r>
            <a:endParaRPr lang="en-US" sz="1300" dirty="0"/>
          </a:p>
        </p:txBody>
      </p:sp>
      <p:sp>
        <p:nvSpPr>
          <p:cNvPr id="22" name="Text 20"/>
          <p:cNvSpPr txBox="1"/>
          <p:nvPr/>
        </p:nvSpPr>
        <p:spPr>
          <a:xfrm>
            <a:off x="4828032" y="310804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bonus that halves every four years of work.</a:t>
            </a:r>
            <a:endParaRPr lang="en-US" sz="11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58 / 71</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subsidy, halving by halving</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New bitcoin created by each block</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subsidy in bitcoin, by halving number</a:t>
            </a:r>
            <a:endParaRPr lang="en-US" sz="1100" dirty="0"/>
          </a:p>
        </p:txBody>
      </p:sp>
      <p:graphicFrame>
        <p:nvGraphicFramePr>
          <p:cNvPr id="23" name="Chart 0" descr=""/>
          <p:cNvGraphicFramePr/>
          <p:nvPr/>
        </p:nvGraphicFramePr>
        <p:xfrm>
          <a:off x="5715000" y="1773936"/>
          <a:ext cx="2971800" cy="207568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last subsidy is paid at block 6,929,999; the total ever issued is 20,999,999.9769 bitcoin.</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coinbase is the only transaction that creates bitcoin</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59 / 71</a:t>
            </a:r>
            <a:endParaRPr lang="en-US" sz="1100" dirty="0"/>
          </a:p>
        </p:txBody>
      </p:sp>
      <p:sp>
        <p:nvSpPr>
          <p:cNvPr id="28" name="code 15"/>
          <p:cNvSpPr/>
          <p:nvPr/>
        </p:nvSpPr>
        <p:spPr>
          <a:xfrm>
            <a:off x="365760" y="1170432"/>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210000</a:t>
            </a:r>
          </a:p>
          <a:p>
            <a:pPr algn="l"/>
            <a:r>
              <a:rPr sz="1100" b="0" i="0">
                <a:solidFill>
                  <a:srgbClr val="E6EDF3"/>
                </a:solidFill>
                <a:latin typeface="Courier New"/>
                <a:ea typeface="Courier New"/>
                <a:cs typeface="Courier New"/>
              </a:rPr>
              <a:t>subs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block_subsidy</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n</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h</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COIN</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h</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range</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9</a:t>
            </a:r>
            <a:r>
              <a:rPr sz="1100" b="0" i="0">
                <a:solidFill>
                  <a:srgbClr val="E6EDF3"/>
                </a:solidFill>
                <a:latin typeface="Courier New"/>
                <a:ea typeface="Courier New"/>
                <a:cs typeface="Courier New"/>
              </a:rPr>
              <a:t>)]</a:t>
            </a:r>
          </a:p>
        </p:txBody>
      </p:sp>
      <p:sp>
        <p:nvSpPr>
          <p:cNvPr id="29" name="code 15"/>
          <p:cNvSpPr/>
          <p:nvPr/>
        </p:nvSpPr>
        <p:spPr>
          <a:xfrm>
            <a:off x="365760" y="162031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last</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last_subsidy_height</a:t>
            </a:r>
            <a:r>
              <a:rPr sz="1100" b="0" i="0">
                <a:solidFill>
                  <a:srgbClr val="E6EDF3"/>
                </a:solidFill>
                <a:latin typeface="Courier New"/>
                <a:ea typeface="Courier New"/>
                <a:cs typeface="Courier New"/>
              </a:rPr>
              <a:t>()</a:t>
            </a:r>
          </a:p>
        </p:txBody>
      </p:sp>
      <p:sp>
        <p:nvSpPr>
          <p:cNvPr id="30" name="code 15"/>
          <p:cNvSpPr/>
          <p:nvPr/>
        </p:nvSpPr>
        <p:spPr>
          <a:xfrm>
            <a:off x="365760" y="1895551"/>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total</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total_subsidy</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COIN</a:t>
            </a:r>
          </a:p>
          <a:p>
            <a:pPr algn="l"/>
            <a:r>
              <a:rPr sz="1100" b="0" i="0">
                <a:solidFill>
                  <a:srgbClr val="E6EDF3"/>
                </a:solidFill>
                <a:latin typeface="Courier New"/>
                <a:ea typeface="Courier New"/>
                <a:cs typeface="Courier New"/>
              </a:rPr>
              <a:t>last</a:t>
            </a:r>
          </a:p>
        </p:txBody>
      </p:sp>
      <p:sp>
        <p:nvSpPr>
          <p:cNvPr id="31" name="result 15"/>
          <p:cNvSpPr/>
          <p:nvPr/>
        </p:nvSpPr>
        <p:spPr>
          <a:xfrm>
            <a:off x="365760" y="2363724"/>
            <a:ext cx="5166360" cy="886053"/>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15"/>
          <p:cNvSpPr txBox="1"/>
          <p:nvPr/>
        </p:nvSpPr>
        <p:spPr>
          <a:xfrm>
            <a:off x="457200" y="239115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15"/>
          <p:cNvSpPr txBox="1"/>
          <p:nvPr/>
        </p:nvSpPr>
        <p:spPr>
          <a:xfrm>
            <a:off x="457200" y="2500884"/>
            <a:ext cx="4983480" cy="342519"/>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subs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[50.0, 25.0, 12.5, 6.25, 3.125, 1.5625, 0.78125, 0.390625, 0.1953125]</a:t>
            </a:r>
          </a:p>
        </p:txBody>
      </p:sp>
      <p:sp>
        <p:nvSpPr>
          <p:cNvPr id="34" name="result 15"/>
          <p:cNvSpPr txBox="1"/>
          <p:nvPr/>
        </p:nvSpPr>
        <p:spPr>
          <a:xfrm>
            <a:off x="457200" y="2843403"/>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last</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6929999</a:t>
            </a:r>
          </a:p>
        </p:txBody>
      </p:sp>
      <p:sp>
        <p:nvSpPr>
          <p:cNvPr id="35" name="result 15"/>
          <p:cNvSpPr txBox="1"/>
          <p:nvPr/>
        </p:nvSpPr>
        <p:spPr>
          <a:xfrm>
            <a:off x="457200" y="3019234"/>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total</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20999999.9769</a:t>
            </a:r>
          </a:p>
        </p:txBody>
      </p:sp>
      <p:sp>
        <p:nvSpPr>
          <p:cNvPr id="36" name="explanation 15"/>
          <p:cNvSpPr txBox="1"/>
          <p:nvPr/>
        </p:nvSpPr>
        <p:spPr>
          <a:xfrm>
            <a:off x="365760" y="3286353"/>
            <a:ext cx="5166360" cy="24841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1-2  </a:t>
            </a:r>
            <a:r>
              <a:rPr sz="1150" b="0" i="0">
                <a:solidFill>
                  <a:srgbClr val="2B2622"/>
                </a:solidFill>
                <a:latin typeface="Calibri"/>
                <a:ea typeface="Calibri"/>
                <a:cs typeface="Calibri"/>
              </a:rPr>
              <a:t>The subsidy halves at every multiple of 210,000 blocks.</a:t>
            </a:r>
          </a:p>
        </p:txBody>
      </p:sp>
      <p:sp>
        <p:nvSpPr>
          <p:cNvPr id="37" name="explanation 15"/>
          <p:cNvSpPr txBox="1"/>
          <p:nvPr/>
        </p:nvSpPr>
        <p:spPr>
          <a:xfrm>
            <a:off x="365760" y="3534765"/>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 3  </a:t>
            </a:r>
            <a:r>
              <a:rPr sz="1150" b="0" i="0">
                <a:solidFill>
                  <a:srgbClr val="2B2622"/>
                </a:solidFill>
                <a:latin typeface="Calibri"/>
                <a:ea typeface="Calibri"/>
                <a:cs typeface="Calibri"/>
              </a:rPr>
              <a:t>After the block found here the subsidy is zero for good.</a:t>
            </a:r>
          </a:p>
        </p:txBody>
      </p:sp>
      <p:sp>
        <p:nvSpPr>
          <p:cNvPr id="38" name="explanation 15"/>
          <p:cNvSpPr txBox="1"/>
          <p:nvPr/>
        </p:nvSpPr>
        <p:spPr>
          <a:xfrm>
            <a:off x="365760" y="3958437"/>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4-5  </a:t>
            </a:r>
            <a:r>
              <a:rPr sz="1150" b="0" i="0">
                <a:solidFill>
                  <a:srgbClr val="2B2622"/>
                </a:solidFill>
                <a:latin typeface="Calibri"/>
                <a:ea typeface="Calibri"/>
                <a:cs typeface="Calibri"/>
              </a:rPr>
              <a:t>Everything ever issued stays just below 21 million bitcoin.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Lock time and the coinbase (3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Block reward</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Fees plus subsidy, as a ceiling.</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bonus plus the tips from customers.</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Maturity rule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100 confirmations before spending.</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wages you cannot spend until the pay clears.</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60 / 71</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coinbase and its maturity</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 null input, and 100 blocks of waiting</a:t>
            </a:r>
            <a:endParaRPr lang="en-US" sz="13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a coin created at block 9</a:t>
            </a:r>
            <a:endParaRPr lang="en-US" sz="11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188720"/>
                <a:gridCol w="731520"/>
                <a:gridCol w="10515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Spend at block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Age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Spendable?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91</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108</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99</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109</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170</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23697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is_coinbase is True for the null input and False for Alice's transaction.</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Newly created coins cannot be spent until 100 blocks have passed</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61 / 71</a:t>
            </a:r>
            <a:endParaRPr lang="en-US" sz="1100" dirty="0"/>
          </a:p>
        </p:txBody>
      </p:sp>
      <p:sp>
        <p:nvSpPr>
          <p:cNvPr id="55" name="code 16"/>
          <p:cNvSpPr/>
          <p:nvPr/>
        </p:nvSpPr>
        <p:spPr>
          <a:xfrm>
            <a:off x="365760" y="1170432"/>
            <a:ext cx="5166360" cy="42245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null</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'txid'</a:t>
            </a:r>
            <a:r>
              <a:rPr sz="1100" b="0" i="0">
                <a:solidFill>
                  <a:srgbClr val="E6EDF3"/>
                </a:solidFill>
                <a:latin typeface="Courier New"/>
                <a:ea typeface="Courier New"/>
                <a:cs typeface="Courier New"/>
              </a:rPr>
              <a:t>: </a:t>
            </a:r>
            <a:r>
              <a:rPr sz="1100" b="0" i="0">
                <a:solidFill>
                  <a:srgbClr val="9ECBFF"/>
                </a:solidFill>
                <a:latin typeface="Courier New"/>
                <a:ea typeface="Courier New"/>
                <a:cs typeface="Courier New"/>
              </a:rPr>
              <a:t>'00'</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32</a:t>
            </a:r>
            <a:r>
              <a:rPr sz="1100" b="0" i="0">
                <a:solidFill>
                  <a:srgbClr val="E6EDF3"/>
                </a:solidFill>
                <a:latin typeface="Courier New"/>
                <a:ea typeface="Courier New"/>
                <a:cs typeface="Courier New"/>
              </a:rPr>
              <a:t>, </a:t>
            </a:r>
            <a:r>
              <a:rPr sz="1100" b="0" i="0">
                <a:solidFill>
                  <a:srgbClr val="9ECBFF"/>
                </a:solidFill>
                <a:latin typeface="Courier New"/>
                <a:ea typeface="Courier New"/>
                <a:cs typeface="Courier New"/>
              </a:rPr>
              <a:t>'vout'</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0xffffffff</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cb</a:t>
            </a:r>
            <a:r>
              <a:rPr sz="1100" b="0" i="0">
                <a:solidFill>
                  <a:srgbClr val="E6EDF3"/>
                </a:solidFill>
                <a:latin typeface="Courier New"/>
                <a:ea typeface="Courier New"/>
                <a:cs typeface="Courier New"/>
              </a:rPr>
              <a:t> = {</a:t>
            </a:r>
            <a:r>
              <a:rPr sz="1100" b="0" i="0">
                <a:solidFill>
                  <a:srgbClr val="9ECBFF"/>
                </a:solidFill>
                <a:latin typeface="Courier New"/>
                <a:ea typeface="Courier New"/>
                <a:cs typeface="Courier New"/>
              </a:rPr>
              <a:t>'inputs'</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null</a:t>
            </a:r>
            <a:r>
              <a:rPr sz="1100" b="0" i="0">
                <a:solidFill>
                  <a:srgbClr val="E6EDF3"/>
                </a:solidFill>
                <a:latin typeface="Courier New"/>
                <a:ea typeface="Courier New"/>
                <a:cs typeface="Courier New"/>
              </a:rPr>
              <a:t>]}</a:t>
            </a:r>
          </a:p>
        </p:txBody>
      </p:sp>
      <p:sp>
        <p:nvSpPr>
          <p:cNvPr id="56" name="code 16"/>
          <p:cNvSpPr/>
          <p:nvPr/>
        </p:nvSpPr>
        <p:spPr>
          <a:xfrm>
            <a:off x="365760" y="162031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flags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is_coinbase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cb</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is_coinbase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a:t>
            </a:r>
          </a:p>
        </p:txBody>
      </p:sp>
      <p:sp>
        <p:nvSpPr>
          <p:cNvPr id="57" name="code 16"/>
          <p:cNvSpPr/>
          <p:nvPr/>
        </p:nvSpPr>
        <p:spPr>
          <a:xfrm>
            <a:off x="365760" y="1895551"/>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hs</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100</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108</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109</a:t>
            </a:r>
            <a:r>
              <a:rPr sz="1100" b="0" i="0">
                <a:solidFill>
                  <a:srgbClr val="E6EDF3"/>
                </a:solidFill>
                <a:latin typeface="Courier New"/>
                <a:ea typeface="Courier New"/>
                <a:cs typeface="Courier New"/>
              </a:rPr>
              <a:t>, </a:t>
            </a:r>
            <a:r>
              <a:rPr sz="1100" b="0" i="0">
                <a:solidFill>
                  <a:srgbClr val="FFD28A"/>
                </a:solidFill>
                <a:latin typeface="Courier New"/>
                <a:ea typeface="Courier New"/>
                <a:cs typeface="Courier New"/>
              </a:rPr>
              <a:t>170</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ages</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h</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h</a:t>
            </a:r>
            <a:r>
              <a:rPr sz="1100" b="0" i="0">
                <a:solidFill>
                  <a:srgbClr val="E6EDF3"/>
                </a:solidFill>
                <a:latin typeface="Courier New"/>
                <a:ea typeface="Courier New"/>
                <a:cs typeface="Courier New"/>
              </a:rPr>
              <a:t> - </a:t>
            </a:r>
            <a:r>
              <a:rPr sz="1100" b="0" i="0">
                <a:solidFill>
                  <a:srgbClr val="FFD28A"/>
                </a:solidFill>
                <a:latin typeface="Courier New"/>
                <a:ea typeface="Courier New"/>
                <a:cs typeface="Courier New"/>
              </a:rPr>
              <a:t>9</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coinbase_mature</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9</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h</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for</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h</a:t>
            </a:r>
            <a:r>
              <a:rPr sz="1100" b="0" i="0">
                <a:solidFill>
                  <a:srgbClr val="E6EDF3"/>
                </a:solidFill>
                <a:latin typeface="Courier New"/>
                <a:ea typeface="Courier New"/>
                <a:cs typeface="Courier New"/>
              </a:rPr>
              <a:t> </a:t>
            </a:r>
            <a:r>
              <a:rPr sz="1100" b="1" i="0">
                <a:solidFill>
                  <a:srgbClr val="F2A860"/>
                </a:solidFill>
                <a:latin typeface="Courier New"/>
                <a:ea typeface="Courier New"/>
                <a:cs typeface="Courier New"/>
              </a:rPr>
              <a:t>in</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hs</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flags</a:t>
            </a:r>
          </a:p>
        </p:txBody>
      </p:sp>
      <p:sp>
        <p:nvSpPr>
          <p:cNvPr id="58" name="result 16"/>
          <p:cNvSpPr/>
          <p:nvPr/>
        </p:nvSpPr>
        <p:spPr>
          <a:xfrm>
            <a:off x="365760" y="2538374"/>
            <a:ext cx="5166360" cy="71963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sult 16"/>
          <p:cNvSpPr txBox="1"/>
          <p:nvPr/>
        </p:nvSpPr>
        <p:spPr>
          <a:xfrm>
            <a:off x="457200" y="256580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60" name="result 16"/>
          <p:cNvSpPr txBox="1"/>
          <p:nvPr/>
        </p:nvSpPr>
        <p:spPr>
          <a:xfrm>
            <a:off x="457200" y="2675534"/>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flags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(True, False)</a:t>
            </a:r>
          </a:p>
        </p:txBody>
      </p:sp>
      <p:sp>
        <p:nvSpPr>
          <p:cNvPr id="61" name="result 16"/>
          <p:cNvSpPr txBox="1"/>
          <p:nvPr/>
        </p:nvSpPr>
        <p:spPr>
          <a:xfrm>
            <a:off x="457200" y="2851365"/>
            <a:ext cx="4983480" cy="342519"/>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ages</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[(100, 91, False), (108, 99, False), (109, 100, True), (170, 161, True)]</a:t>
            </a:r>
          </a:p>
        </p:txBody>
      </p:sp>
      <p:sp>
        <p:nvSpPr>
          <p:cNvPr id="62" name="explanation 16"/>
          <p:cNvSpPr txBox="1"/>
          <p:nvPr/>
        </p:nvSpPr>
        <p:spPr>
          <a:xfrm>
            <a:off x="365760" y="3294583"/>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1-2  </a:t>
            </a:r>
            <a:r>
              <a:rPr sz="1150" b="0" i="0">
                <a:solidFill>
                  <a:srgbClr val="2B2622"/>
                </a:solidFill>
                <a:latin typeface="Calibri"/>
                <a:ea typeface="Calibri"/>
                <a:cs typeface="Calibri"/>
              </a:rPr>
              <a:t>A coinbase input points at nothing: a null txid and the largest output index.</a:t>
            </a:r>
          </a:p>
        </p:txBody>
      </p:sp>
      <p:sp>
        <p:nvSpPr>
          <p:cNvPr id="63" name="explanation 16"/>
          <p:cNvSpPr txBox="1"/>
          <p:nvPr/>
        </p:nvSpPr>
        <p:spPr>
          <a:xfrm>
            <a:off x="365760" y="3718255"/>
            <a:ext cx="5166360" cy="24841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 3  </a:t>
            </a:r>
            <a:r>
              <a:rPr sz="1150" b="0" i="0">
                <a:solidFill>
                  <a:srgbClr val="2B2622"/>
                </a:solidFill>
                <a:latin typeface="Calibri"/>
                <a:ea typeface="Calibri"/>
                <a:cs typeface="Calibri"/>
              </a:rPr>
              <a:t>Alice's transaction is an ordinary one, not a coinbase.</a:t>
            </a:r>
          </a:p>
        </p:txBody>
      </p:sp>
      <p:sp>
        <p:nvSpPr>
          <p:cNvPr id="64" name="explanation 16"/>
          <p:cNvSpPr txBox="1"/>
          <p:nvPr/>
        </p:nvSpPr>
        <p:spPr>
          <a:xfrm>
            <a:off x="365760" y="3966667"/>
            <a:ext cx="5166360" cy="423671"/>
          </a:xfrm>
          <a:prstGeom prst="rect">
            <a:avLst/>
          </a:prstGeom>
          <a:noFill/>
        </p:spPr>
        <p:txBody>
          <a:bodyPr wrap="square" lIns="0" rIns="0" tIns="0" bIns="0" anchor="t">
            <a:spAutoFit/>
          </a:bodyPr>
          <a:lstStyle/>
          <a:p>
            <a:pPr algn="l"/>
            <a:r>
              <a:rPr sz="1150" b="1" i="0">
                <a:solidFill>
                  <a:srgbClr val="D97A14"/>
                </a:solidFill>
                <a:latin typeface="Calibri"/>
                <a:ea typeface="Calibri"/>
                <a:cs typeface="Calibri"/>
              </a:rPr>
              <a:t>Lines 4-6  </a:t>
            </a:r>
            <a:r>
              <a:rPr sz="1150" b="0" i="0">
                <a:solidFill>
                  <a:srgbClr val="2B2622"/>
                </a:solidFill>
                <a:latin typeface="Calibri"/>
                <a:ea typeface="Calibri"/>
                <a:cs typeface="Calibri"/>
              </a:rPr>
              <a:t>A coin created at block 9 may be spent only 100 blocks later.</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txBody>
          <a:bodyPr/>
          <a:p/>
        </p:txBody>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Weight and foundations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Weight is a transaction's postage; foundations are the post office's rules.</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Weight and vbytes</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measure that decides how much block space a transaction uses.</a:t>
            </a:r>
            <a:endParaRPr lang="en-US" sz="1150" dirty="0"/>
          </a:p>
        </p:txBody>
      </p:sp>
      <p:sp>
        <p:nvSpPr>
          <p:cNvPr id="9" name="Text 7"/>
          <p:cNvSpPr txBox="1"/>
          <p:nvPr/>
        </p:nvSpPr>
        <p:spPr>
          <a:xfrm>
            <a:off x="77724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postage that charges less for the small print.</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txBody>
          <a:bodyPr/>
          <a:p/>
        </p:txBody>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Foundations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hashes, identifiers and rule sets the chapter rests on.</a:t>
            </a:r>
            <a:endParaRPr lang="en-US" sz="1150" dirty="0"/>
          </a:p>
        </p:txBody>
      </p:sp>
      <p:sp>
        <p:nvSpPr>
          <p:cNvPr id="13" name="Text 11"/>
          <p:cNvSpPr txBox="1"/>
          <p:nvPr/>
        </p:nvSpPr>
        <p:spPr>
          <a:xfrm>
            <a:off x="480060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foundations under a house.</a:t>
            </a:r>
            <a:endParaRPr lang="en-US" sz="11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914400"/>
                <a:gridCol w="822960"/>
                <a:gridCol w="1737360"/>
                <a:gridCol w="1737360"/>
                <a:gridCol w="1737360"/>
                <a:gridCol w="914400"/>
              </a:tblGrid>
              <a:tr h="3657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Version</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Marker Flag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Outputs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Witnesses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Lock 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62 / 71</a:t>
            </a:r>
            <a:endParaRPr lang="en-US" sz="11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6EF"/>
        </a:solidFill>
      </p:bgPr>
    </p:bg>
    <p:spTree>
      <p:nvGrpSpPr>
        <p:cNvPr id="1" name=""/>
        <p:cNvGrpSpPr/>
        <p:nvPr/>
      </p:nvGrpSpPr>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From 194 bytes to 569 weight</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Every byte weighs four, except marker, flag and witness</a:t>
            </a:r>
            <a:endParaRPr lang="en-US" sz="130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block is filled by weight, four million units, and witness bytes cost a quarter</a:t>
            </a:r>
            <a:endParaRPr lang="en-US" sz="1350" dirty="0"/>
          </a:p>
        </p:txBody>
      </p:sp>
      <p:sp>
        <p:nvSpPr>
          <p:cNvPr id="27" name="number"/>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63 / 71</a:t>
            </a:r>
            <a:endParaRPr lang="en-US" sz="1100" dirty="0"/>
          </a:p>
        </p:txBody>
      </p:sp>
      <p:graphicFrame>
        <p:nvGraphicFramePr>
          <p:cNvPr id="28" name="weight table"/>
          <p:cNvGraphicFramePr>
            <a:graphicFrameLocks noGrp="1"/>
          </p:cNvGraphicFramePr>
          <p:nvPr/>
        </p:nvGraphicFramePr>
        <p:xfrm>
          <a:off x="365760" y="1234440"/>
          <a:ext cx="4023360" cy="2057400"/>
        </p:xfrm>
        <a:graphic>
          <a:graphicData uri="http://schemas.openxmlformats.org/drawingml/2006/table">
            <a:tbl>
              <a:tblPr firstRow="1" bandRow="1">
                <a:tableStyleId>{5C22544A-7EE6-4342-B048-85BDC9FD1C3A}</a:tableStyleId>
              </a:tblPr>
              <a:tblGrid>
                <a:gridCol w="1554480"/>
                <a:gridCol w="822960"/>
                <a:gridCol w="548640"/>
                <a:gridCol w="1097280"/>
              </a:tblGrid>
              <a:tr h="228600">
                <a:tc>
                  <a:txBody>
                    <a:bodyPr/>
                    <a:lstStyle/>
                    <a:p>
                      <a:pPr algn="l"/>
                      <a:r>
                        <a:rPr sz="1050" b="1" i="0">
                          <a:solidFill>
                            <a:srgbClr val="FFFFFF"/>
                          </a:solidFill>
                          <a:latin typeface="Calibri"/>
                          <a:ea typeface="Calibri"/>
                          <a:cs typeface="Calibri"/>
                        </a:rPr>
                        <a:t>Field</a:t>
                      </a:r>
                    </a:p>
                  </a:txBody>
                  <a:tcPr marT="18000" marB="18000" anchor="ctr">
                    <a:solidFill>
                      <a:srgbClr val="2B2622"/>
                    </a:solidFill>
                  </a:tcPr>
                </a:tc>
                <a:tc>
                  <a:txBody>
                    <a:bodyPr/>
                    <a:lstStyle/>
                    <a:p>
                      <a:pPr algn="r"/>
                      <a:r>
                        <a:rPr sz="1050" b="1" i="0">
                          <a:solidFill>
                            <a:srgbClr val="FFFFFF"/>
                          </a:solidFill>
                          <a:latin typeface="Calibri"/>
                          <a:ea typeface="Calibri"/>
                          <a:cs typeface="Calibri"/>
                        </a:rPr>
                        <a:t>Bytes</a:t>
                      </a:r>
                    </a:p>
                  </a:txBody>
                  <a:tcPr marT="18000" marB="18000" anchor="ctr">
                    <a:solidFill>
                      <a:srgbClr val="2B2622"/>
                    </a:solidFill>
                  </a:tcPr>
                </a:tc>
                <a:tc>
                  <a:txBody>
                    <a:bodyPr/>
                    <a:lstStyle/>
                    <a:p>
                      <a:pPr algn="r"/>
                      <a:r>
                        <a:rPr sz="1050" b="1" i="0">
                          <a:solidFill>
                            <a:srgbClr val="FFFFFF"/>
                          </a:solidFill>
                          <a:latin typeface="Calibri"/>
                          <a:ea typeface="Calibri"/>
                          <a:cs typeface="Calibri"/>
                        </a:rPr>
                        <a:t>×</a:t>
                      </a:r>
                    </a:p>
                  </a:txBody>
                  <a:tcPr marT="18000" marB="18000" anchor="ctr">
                    <a:solidFill>
                      <a:srgbClr val="2B2622"/>
                    </a:solidFill>
                  </a:tcPr>
                </a:tc>
                <a:tc>
                  <a:txBody>
                    <a:bodyPr/>
                    <a:lstStyle/>
                    <a:p>
                      <a:pPr algn="r"/>
                      <a:r>
                        <a:rPr sz="1050" b="1" i="0">
                          <a:solidFill>
                            <a:srgbClr val="FFFFFF"/>
                          </a:solidFill>
                          <a:latin typeface="Calibri"/>
                          <a:ea typeface="Calibri"/>
                          <a:cs typeface="Calibri"/>
                        </a:rPr>
                        <a:t>Weight</a:t>
                      </a:r>
                    </a:p>
                  </a:txBody>
                  <a:tcPr marT="18000" marB="18000" anchor="ctr">
                    <a:solidFill>
                      <a:srgbClr val="2B2622"/>
                    </a:solidFill>
                  </a:tcPr>
                </a:tc>
              </a:tr>
              <a:tr h="228600">
                <a:tc>
                  <a:txBody>
                    <a:bodyPr/>
                    <a:lstStyle/>
                    <a:p>
                      <a:pPr algn="l"/>
                      <a:r>
                        <a:rPr sz="1050" b="0" i="0">
                          <a:solidFill>
                            <a:srgbClr val="2B2622"/>
                          </a:solidFill>
                          <a:latin typeface="Calibri"/>
                          <a:ea typeface="Calibri"/>
                          <a:cs typeface="Calibri"/>
                        </a:rPr>
                        <a:t>version</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4</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4</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16</a:t>
                      </a:r>
                    </a:p>
                  </a:txBody>
                  <a:tcPr marT="18000" marB="18000" anchor="ctr">
                    <a:solidFill>
                      <a:srgbClr val="FFFFFF"/>
                    </a:solidFill>
                  </a:tcPr>
                </a:tc>
              </a:tr>
              <a:tr h="228600">
                <a:tc>
                  <a:txBody>
                    <a:bodyPr/>
                    <a:lstStyle/>
                    <a:p>
                      <a:pPr algn="l"/>
                      <a:r>
                        <a:rPr sz="1050" b="0" i="0">
                          <a:solidFill>
                            <a:srgbClr val="2B2622"/>
                          </a:solidFill>
                          <a:latin typeface="Calibri"/>
                          <a:ea typeface="Calibri"/>
                          <a:cs typeface="Calibri"/>
                        </a:rPr>
                        <a:t>marker</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1</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1</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1</a:t>
                      </a:r>
                    </a:p>
                  </a:txBody>
                  <a:tcPr marT="18000" marB="18000" anchor="ctr">
                    <a:solidFill>
                      <a:srgbClr val="EFE9DC"/>
                    </a:solidFill>
                  </a:tcPr>
                </a:tc>
              </a:tr>
              <a:tr h="228600">
                <a:tc>
                  <a:txBody>
                    <a:bodyPr/>
                    <a:lstStyle/>
                    <a:p>
                      <a:pPr algn="l"/>
                      <a:r>
                        <a:rPr sz="1050" b="0" i="0">
                          <a:solidFill>
                            <a:srgbClr val="2B2622"/>
                          </a:solidFill>
                          <a:latin typeface="Calibri"/>
                          <a:ea typeface="Calibri"/>
                          <a:cs typeface="Calibri"/>
                        </a:rPr>
                        <a:t>flag</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1</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1</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1</a:t>
                      </a:r>
                    </a:p>
                  </a:txBody>
                  <a:tcPr marT="18000" marB="18000" anchor="ctr">
                    <a:solidFill>
                      <a:srgbClr val="FFFFFF"/>
                    </a:solidFill>
                  </a:tcPr>
                </a:tc>
              </a:tr>
              <a:tr h="228600">
                <a:tc>
                  <a:txBody>
                    <a:bodyPr/>
                    <a:lstStyle/>
                    <a:p>
                      <a:pPr algn="l"/>
                      <a:r>
                        <a:rPr sz="1050" b="0" i="0">
                          <a:solidFill>
                            <a:srgbClr val="2B2622"/>
                          </a:solidFill>
                          <a:latin typeface="Calibri"/>
                          <a:ea typeface="Calibri"/>
                          <a:cs typeface="Calibri"/>
                        </a:rPr>
                        <a:t>input</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42</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4</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168</a:t>
                      </a:r>
                    </a:p>
                  </a:txBody>
                  <a:tcPr marT="18000" marB="18000" anchor="ctr">
                    <a:solidFill>
                      <a:srgbClr val="EFE9DC"/>
                    </a:solidFill>
                  </a:tcPr>
                </a:tc>
              </a:tr>
              <a:tr h="228600">
                <a:tc>
                  <a:txBody>
                    <a:bodyPr/>
                    <a:lstStyle/>
                    <a:p>
                      <a:pPr algn="l"/>
                      <a:r>
                        <a:rPr sz="1050" b="0" i="0">
                          <a:solidFill>
                            <a:srgbClr val="2B2622"/>
                          </a:solidFill>
                          <a:latin typeface="Calibri"/>
                          <a:ea typeface="Calibri"/>
                          <a:cs typeface="Calibri"/>
                        </a:rPr>
                        <a:t>output</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75</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4</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300</a:t>
                      </a:r>
                    </a:p>
                  </a:txBody>
                  <a:tcPr marT="18000" marB="18000" anchor="ctr">
                    <a:solidFill>
                      <a:srgbClr val="FFFFFF"/>
                    </a:solidFill>
                  </a:tcPr>
                </a:tc>
              </a:tr>
              <a:tr h="228600">
                <a:tc>
                  <a:txBody>
                    <a:bodyPr/>
                    <a:lstStyle/>
                    <a:p>
                      <a:pPr algn="l"/>
                      <a:r>
                        <a:rPr sz="1050" b="0" i="0">
                          <a:solidFill>
                            <a:srgbClr val="2B2622"/>
                          </a:solidFill>
                          <a:latin typeface="Calibri"/>
                          <a:ea typeface="Calibri"/>
                          <a:cs typeface="Calibri"/>
                        </a:rPr>
                        <a:t>witness</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67</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1</a:t>
                      </a:r>
                    </a:p>
                  </a:txBody>
                  <a:tcPr marT="18000" marB="18000" anchor="ctr">
                    <a:solidFill>
                      <a:srgbClr val="EFE9DC"/>
                    </a:solidFill>
                  </a:tcPr>
                </a:tc>
                <a:tc>
                  <a:txBody>
                    <a:bodyPr/>
                    <a:lstStyle/>
                    <a:p>
                      <a:pPr algn="r"/>
                      <a:r>
                        <a:rPr sz="1050" b="0" i="0">
                          <a:solidFill>
                            <a:srgbClr val="2B2622"/>
                          </a:solidFill>
                          <a:latin typeface="Calibri"/>
                          <a:ea typeface="Calibri"/>
                          <a:cs typeface="Calibri"/>
                        </a:rPr>
                        <a:t>67</a:t>
                      </a:r>
                    </a:p>
                  </a:txBody>
                  <a:tcPr marT="18000" marB="18000" anchor="ctr">
                    <a:solidFill>
                      <a:srgbClr val="EFE9DC"/>
                    </a:solidFill>
                  </a:tcPr>
                </a:tc>
              </a:tr>
              <a:tr h="228600">
                <a:tc>
                  <a:txBody>
                    <a:bodyPr/>
                    <a:lstStyle/>
                    <a:p>
                      <a:pPr algn="l"/>
                      <a:r>
                        <a:rPr sz="1050" b="0" i="0">
                          <a:solidFill>
                            <a:srgbClr val="2B2622"/>
                          </a:solidFill>
                          <a:latin typeface="Calibri"/>
                          <a:ea typeface="Calibri"/>
                          <a:cs typeface="Calibri"/>
                        </a:rPr>
                        <a:t>lock</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4</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4</a:t>
                      </a:r>
                    </a:p>
                  </a:txBody>
                  <a:tcPr marT="18000" marB="18000" anchor="ctr">
                    <a:solidFill>
                      <a:srgbClr val="FFFFFF"/>
                    </a:solidFill>
                  </a:tcPr>
                </a:tc>
                <a:tc>
                  <a:txBody>
                    <a:bodyPr/>
                    <a:lstStyle/>
                    <a:p>
                      <a:pPr algn="r"/>
                      <a:r>
                        <a:rPr sz="1050" b="0" i="0">
                          <a:solidFill>
                            <a:srgbClr val="2B2622"/>
                          </a:solidFill>
                          <a:latin typeface="Calibri"/>
                          <a:ea typeface="Calibri"/>
                          <a:cs typeface="Calibri"/>
                        </a:rPr>
                        <a:t>16</a:t>
                      </a:r>
                    </a:p>
                  </a:txBody>
                  <a:tcPr marT="18000" marB="18000" anchor="ctr">
                    <a:solidFill>
                      <a:srgbClr val="FFFFFF"/>
                    </a:solidFill>
                  </a:tcPr>
                </a:tc>
              </a:tr>
              <a:tr h="228600">
                <a:tc>
                  <a:txBody>
                    <a:bodyPr/>
                    <a:lstStyle/>
                    <a:p>
                      <a:pPr algn="l"/>
                      <a:r>
                        <a:rPr sz="1050" b="1" i="0">
                          <a:solidFill>
                            <a:srgbClr val="2B2622"/>
                          </a:solidFill>
                          <a:latin typeface="Calibri"/>
                          <a:ea typeface="Calibri"/>
                          <a:cs typeface="Calibri"/>
                        </a:rPr>
                        <a:t>Total</a:t>
                      </a:r>
                    </a:p>
                  </a:txBody>
                  <a:tcPr marT="18000" marB="18000" anchor="ctr">
                    <a:solidFill>
                      <a:srgbClr val="D7E4E0"/>
                    </a:solidFill>
                  </a:tcPr>
                </a:tc>
                <a:tc>
                  <a:txBody>
                    <a:bodyPr/>
                    <a:lstStyle/>
                    <a:p>
                      <a:pPr algn="r"/>
                      <a:r>
                        <a:rPr sz="1050" b="1" i="0">
                          <a:solidFill>
                            <a:srgbClr val="2B2622"/>
                          </a:solidFill>
                          <a:latin typeface="Calibri"/>
                          <a:ea typeface="Calibri"/>
                          <a:cs typeface="Calibri"/>
                        </a:rPr>
                        <a:t>194</a:t>
                      </a:r>
                    </a:p>
                  </a:txBody>
                  <a:tcPr marT="18000" marB="18000" anchor="ctr">
                    <a:solidFill>
                      <a:srgbClr val="D7E4E0"/>
                    </a:solidFill>
                  </a:tcPr>
                </a:tc>
                <a:tc>
                  <a:txBody>
                    <a:bodyPr/>
                    <a:lstStyle/>
                    <a:p>
                      <a:pPr algn="r"/>
                      <a:r>
                        <a:rPr sz="1050" b="1" i="0">
                          <a:solidFill>
                            <a:srgbClr val="2B2622"/>
                          </a:solidFill>
                          <a:latin typeface="Calibri"/>
                          <a:ea typeface="Calibri"/>
                          <a:cs typeface="Calibri"/>
                        </a:rPr>
                        <a:t/>
                      </a:r>
                    </a:p>
                  </a:txBody>
                  <a:tcPr marT="18000" marB="18000" anchor="ctr">
                    <a:solidFill>
                      <a:srgbClr val="D7E4E0"/>
                    </a:solidFill>
                  </a:tcPr>
                </a:tc>
                <a:tc>
                  <a:txBody>
                    <a:bodyPr/>
                    <a:lstStyle/>
                    <a:p>
                      <a:pPr algn="r"/>
                      <a:r>
                        <a:rPr sz="1050" b="1" i="0">
                          <a:solidFill>
                            <a:srgbClr val="2B2622"/>
                          </a:solidFill>
                          <a:latin typeface="Calibri"/>
                          <a:ea typeface="Calibri"/>
                          <a:cs typeface="Calibri"/>
                        </a:rPr>
                        <a:t>569</a:t>
                      </a:r>
                    </a:p>
                  </a:txBody>
                  <a:tcPr marT="18000" marB="18000" anchor="ctr">
                    <a:solidFill>
                      <a:srgbClr val="D7E4E0"/>
                    </a:solidFill>
                  </a:tcPr>
                </a:tc>
              </a:tr>
            </a:tbl>
          </a:graphicData>
        </a:graphic>
      </p:graphicFrame>
      <p:sp>
        <p:nvSpPr>
          <p:cNvPr id="29" name="label 194 bytes"/>
          <p:cNvSpPr txBox="1"/>
          <p:nvPr/>
        </p:nvSpPr>
        <p:spPr>
          <a:xfrm>
            <a:off x="4617720" y="1280160"/>
            <a:ext cx="4160520" cy="164592"/>
          </a:xfrm>
          <a:prstGeom prst="rect">
            <a:avLst/>
          </a:prstGeom>
          <a:noFill/>
        </p:spPr>
        <p:txBody>
          <a:bodyPr wrap="square" lIns="0" rIns="0" tIns="0" bIns="0" anchor="t">
            <a:spAutoFit/>
          </a:bodyPr>
          <a:lstStyle/>
          <a:p>
            <a:pPr algn="l"/>
            <a:r>
              <a:rPr sz="1100" b="1" i="0">
                <a:solidFill>
                  <a:srgbClr val="2B2622"/>
                </a:solidFill>
                <a:latin typeface="Calibri"/>
                <a:ea typeface="Calibri"/>
                <a:cs typeface="Calibri"/>
              </a:rPr>
              <a:t>194 bytes</a:t>
            </a:r>
          </a:p>
        </p:txBody>
      </p:sp>
      <p:sp>
        <p:nvSpPr>
          <p:cNvPr id="30" name="bar 194 bytes"/>
          <p:cNvSpPr/>
          <p:nvPr/>
        </p:nvSpPr>
        <p:spPr>
          <a:xfrm>
            <a:off x="4617720" y="1463040"/>
            <a:ext cx="891540" cy="274320"/>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00" b="1" i="0">
                <a:solidFill>
                  <a:srgbClr val="FFFFFF"/>
                </a:solidFill>
                <a:latin typeface="Calibri"/>
                <a:ea typeface="Calibri"/>
                <a:cs typeface="Calibri"/>
              </a:rPr>
              <a:t>125 legacy</a:t>
            </a:r>
          </a:p>
        </p:txBody>
      </p:sp>
      <p:sp>
        <p:nvSpPr>
          <p:cNvPr id="31" name="bar 194 bytes"/>
          <p:cNvSpPr/>
          <p:nvPr/>
        </p:nvSpPr>
        <p:spPr>
          <a:xfrm>
            <a:off x="5509260" y="1463040"/>
            <a:ext cx="492130" cy="274320"/>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 569 weight u"/>
          <p:cNvSpPr txBox="1"/>
          <p:nvPr/>
        </p:nvSpPr>
        <p:spPr>
          <a:xfrm>
            <a:off x="4617720" y="1865376"/>
            <a:ext cx="4160520" cy="164592"/>
          </a:xfrm>
          <a:prstGeom prst="rect">
            <a:avLst/>
          </a:prstGeom>
          <a:noFill/>
        </p:spPr>
        <p:txBody>
          <a:bodyPr wrap="square" lIns="0" rIns="0" tIns="0" bIns="0" anchor="t">
            <a:spAutoFit/>
          </a:bodyPr>
          <a:lstStyle/>
          <a:p>
            <a:pPr algn="l"/>
            <a:r>
              <a:rPr sz="1100" b="1" i="0">
                <a:solidFill>
                  <a:srgbClr val="2B2622"/>
                </a:solidFill>
                <a:latin typeface="Calibri"/>
                <a:ea typeface="Calibri"/>
                <a:cs typeface="Calibri"/>
              </a:rPr>
              <a:t>569 weight units: 125 × 4 + 69 × 1</a:t>
            </a:r>
          </a:p>
        </p:txBody>
      </p:sp>
      <p:sp>
        <p:nvSpPr>
          <p:cNvPr id="33" name="bar 569 weight"/>
          <p:cNvSpPr/>
          <p:nvPr/>
        </p:nvSpPr>
        <p:spPr>
          <a:xfrm>
            <a:off x="4617720" y="2048256"/>
            <a:ext cx="3566160" cy="274320"/>
          </a:xfrm>
          <a:prstGeom prst="rect">
            <a:avLst/>
          </a:prstGeom>
          <a:solidFill>
            <a:srgbClr val="2F6D6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00" b="1" i="0">
                <a:solidFill>
                  <a:srgbClr val="FFFFFF"/>
                </a:solidFill>
                <a:latin typeface="Calibri"/>
                <a:ea typeface="Calibri"/>
                <a:cs typeface="Calibri"/>
              </a:rPr>
              <a:t>125 × 4 = 500</a:t>
            </a:r>
          </a:p>
        </p:txBody>
      </p:sp>
      <p:sp>
        <p:nvSpPr>
          <p:cNvPr id="34" name="bar 569 weight"/>
          <p:cNvSpPr/>
          <p:nvPr/>
        </p:nvSpPr>
        <p:spPr>
          <a:xfrm>
            <a:off x="8183880" y="2048256"/>
            <a:ext cx="492130" cy="274320"/>
          </a:xfrm>
          <a:prstGeom prst="rect">
            <a:avLst/>
          </a:prstGeom>
          <a:solidFill>
            <a:srgbClr val="D97A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 143 virtual "/>
          <p:cNvSpPr txBox="1"/>
          <p:nvPr/>
        </p:nvSpPr>
        <p:spPr>
          <a:xfrm>
            <a:off x="4617720" y="2450592"/>
            <a:ext cx="4160520" cy="164592"/>
          </a:xfrm>
          <a:prstGeom prst="rect">
            <a:avLst/>
          </a:prstGeom>
          <a:noFill/>
        </p:spPr>
        <p:txBody>
          <a:bodyPr wrap="square" lIns="0" rIns="0" tIns="0" bIns="0" anchor="t">
            <a:spAutoFit/>
          </a:bodyPr>
          <a:lstStyle/>
          <a:p>
            <a:pPr algn="l"/>
            <a:r>
              <a:rPr sz="1100" b="1" i="0">
                <a:solidFill>
                  <a:srgbClr val="2B2622"/>
                </a:solidFill>
                <a:latin typeface="Calibri"/>
                <a:ea typeface="Calibri"/>
                <a:cs typeface="Calibri"/>
              </a:rPr>
              <a:t>143 virtual bytes: 569 ÷ 4, rounded up</a:t>
            </a:r>
          </a:p>
        </p:txBody>
      </p:sp>
      <p:sp>
        <p:nvSpPr>
          <p:cNvPr id="36" name="bar 143 virtua"/>
          <p:cNvSpPr/>
          <p:nvPr/>
        </p:nvSpPr>
        <p:spPr>
          <a:xfrm>
            <a:off x="4617720" y="2633472"/>
            <a:ext cx="1019921" cy="274320"/>
          </a:xfrm>
          <a:prstGeom prst="rect">
            <a:avLst/>
          </a:prstGeom>
          <a:solidFill>
            <a:srgbClr val="5F8F8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000" b="1" i="0">
                <a:solidFill>
                  <a:srgbClr val="FFFFFF"/>
                </a:solidFill>
                <a:latin typeface="Calibri"/>
                <a:ea typeface="Calibri"/>
                <a:cs typeface="Calibri"/>
              </a:rPr>
              <a:t>143</a:t>
            </a:r>
          </a:p>
        </p:txBody>
      </p:sp>
      <p:sp>
        <p:nvSpPr>
          <p:cNvPr id="37" name="scale note"/>
          <p:cNvSpPr txBox="1"/>
          <p:nvPr/>
        </p:nvSpPr>
        <p:spPr>
          <a:xfrm>
            <a:off x="4617720" y="2962656"/>
            <a:ext cx="4160520" cy="274320"/>
          </a:xfrm>
          <a:prstGeom prst="rect">
            <a:avLst/>
          </a:prstGeom>
          <a:noFill/>
        </p:spPr>
        <p:txBody>
          <a:bodyPr wrap="square" lIns="0" rIns="0" tIns="0" bIns="0" anchor="t">
            <a:spAutoFit/>
          </a:bodyPr>
          <a:lstStyle/>
          <a:p>
            <a:pPr algn="l"/>
            <a:r>
              <a:rPr sz="1000" b="0" i="1">
                <a:solidFill>
                  <a:srgbClr val="6E655C"/>
                </a:solidFill>
                <a:latin typeface="Calibri"/>
                <a:ea typeface="Calibri"/>
                <a:cs typeface="Calibri"/>
              </a:rPr>
              <a:t>All three bars use the same scale. Orange marks marker, flag and witness: 69 bytes that count once.</a:t>
            </a:r>
          </a:p>
        </p:txBody>
      </p:sp>
      <p:sp>
        <p:nvSpPr>
          <p:cNvPr id="38" name="reading"/>
          <p:cNvSpPr txBox="1"/>
          <p:nvPr/>
        </p:nvSpPr>
        <p:spPr>
          <a:xfrm>
            <a:off x="365760" y="3456432"/>
            <a:ext cx="8412480" cy="237744"/>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  </a:t>
            </a:r>
            <a:r>
              <a:rPr sz="1200" b="0" i="0">
                <a:solidFill>
                  <a:srgbClr val="2B2622"/>
                </a:solidFill>
                <a:latin typeface="Calibri"/>
                <a:ea typeface="Calibri"/>
                <a:cs typeface="Calibri"/>
              </a:rPr>
              <a:t>Each field's bytes are multiplied by four, except marker, flag and witness, which count once.</a:t>
            </a:r>
          </a:p>
        </p:txBody>
      </p:sp>
      <p:sp>
        <p:nvSpPr>
          <p:cNvPr id="39" name="reading"/>
          <p:cNvSpPr txBox="1"/>
          <p:nvPr/>
        </p:nvSpPr>
        <p:spPr>
          <a:xfrm>
            <a:off x="365760" y="3721608"/>
            <a:ext cx="8412480" cy="237744"/>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  </a:t>
            </a:r>
            <a:r>
              <a:rPr sz="1200" b="0" i="0">
                <a:solidFill>
                  <a:srgbClr val="2B2622"/>
                </a:solidFill>
                <a:latin typeface="Calibri"/>
                <a:ea typeface="Calibri"/>
                <a:cs typeface="Calibri"/>
              </a:rPr>
              <a:t>Added up, Alice's 194 bytes weigh 569 units; divided by four and rounded up that is 143 virtual bytes.</a:t>
            </a:r>
          </a:p>
        </p:txBody>
      </p:sp>
      <p:sp>
        <p:nvSpPr>
          <p:cNvPr id="40" name="reading"/>
          <p:cNvSpPr txBox="1"/>
          <p:nvPr/>
        </p:nvSpPr>
        <p:spPr>
          <a:xfrm>
            <a:off x="365760" y="3986784"/>
            <a:ext cx="8412480" cy="420624"/>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  </a:t>
            </a:r>
            <a:r>
              <a:rPr sz="1200" b="0" i="0">
                <a:solidFill>
                  <a:srgbClr val="2B2622"/>
                </a:solidFill>
                <a:latin typeface="Calibri"/>
                <a:ea typeface="Calibri"/>
                <a:cs typeface="Calibri"/>
              </a:rPr>
              <a:t>Think of postage that charges less for the annex pages: that discount is why a segwit transaction is cheaper.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Weight and foundations (1 of 3)</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txBody>
          <a:bodyPr/>
          <a:p/>
        </p:txBody>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Weight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3 times the legacy size plus the full size.</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postage priced by volume, with signatures at a discount.</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Vbytes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Weight divided by four, rounded up.</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parcel size after the discount is applied.</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txBody>
          <a:bodyPr/>
          <a:p/>
        </p:txBody>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block weight limit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4 million weight a block.</a:t>
            </a:r>
            <a:endParaRPr lang="en-US" sz="1300" dirty="0"/>
          </a:p>
        </p:txBody>
      </p:sp>
      <p:sp>
        <p:nvSpPr>
          <p:cNvPr id="17" name="Text 15"/>
          <p:cNvSpPr txBox="1"/>
          <p:nvPr/>
        </p:nvSpPr>
        <p:spPr>
          <a:xfrm>
            <a:off x="640080"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lorry that carries four million weight units.</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txBody>
          <a:bodyPr/>
          <a:p/>
        </p:txBody>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Weight factors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4 for most fields, 1 for marker, flag and witness.</a:t>
            </a:r>
            <a:endParaRPr lang="en-US" sz="1300" dirty="0"/>
          </a:p>
        </p:txBody>
      </p:sp>
      <p:sp>
        <p:nvSpPr>
          <p:cNvPr id="21" name="Text 19"/>
          <p:cNvSpPr txBox="1"/>
          <p:nvPr/>
        </p:nvSpPr>
        <p:spPr>
          <a:xfrm>
            <a:off x="4828032"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price list: four for plain bytes, one for annex bytes.</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64 / 71</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569: weight by field</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Where the weight of Alice's transaction comes from</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weight units per field group (total 569)</a:t>
            </a:r>
            <a:endParaRPr lang="en-US" sz="1100" dirty="0"/>
          </a:p>
        </p:txBody>
      </p:sp>
      <p:graphicFrame>
        <p:nvGraphicFramePr>
          <p:cNvPr id="23" name="Chart 0" descr=""/>
          <p:cNvGraphicFramePr/>
          <p:nvPr/>
        </p:nvGraphicFramePr>
        <p:xfrm>
          <a:off x="5715000" y="1773936"/>
          <a:ext cx="2971800" cy="207568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Total weight 569; divided by four and rounded up that is 143 virtual bytes.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Weight is what a block is filled by, and witness bytes cost a quarter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65 / 71</a:t>
            </a:r>
            <a:endParaRPr lang="en-US" sz="1100" dirty="0"/>
          </a:p>
        </p:txBody>
      </p:sp>
      <p:sp>
        <p:nvSpPr>
          <p:cNvPr id="28" name="code 17"/>
          <p:cNvSpPr/>
          <p:nvPr/>
        </p:nvSpPr>
        <p:spPr>
          <a:xfrm>
            <a:off x="365760" y="1170432"/>
            <a:ext cx="5166360" cy="525780"/>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950" b="0" i="0">
                <a:solidFill>
                  <a:srgbClr val="E6EDF3"/>
                </a:solidFill>
                <a:latin typeface="Courier New"/>
                <a:ea typeface="Courier New"/>
                <a:cs typeface="Courier New"/>
              </a:rPr>
              <a:t>fw</a:t>
            </a:r>
            <a:r>
              <a:rPr sz="950" b="0" i="0">
                <a:solidFill>
                  <a:srgbClr val="E6EDF3"/>
                </a:solidFill>
                <a:latin typeface="Courier New"/>
                <a:ea typeface="Courier New"/>
                <a:cs typeface="Courier New"/>
              </a:rPr>
              <a:t> = </a:t>
            </a:r>
            <a:r>
              <a:rPr sz="950" b="0" i="0">
                <a:solidFill>
                  <a:srgbClr val="E6EDF3"/>
                </a:solidFill>
                <a:latin typeface="Courier New"/>
                <a:ea typeface="Courier New"/>
                <a:cs typeface="Courier New"/>
              </a:rPr>
              <a:t>field_weights</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ALICE</a:t>
            </a:r>
            <a:r>
              <a:rPr sz="950" b="0" i="0">
                <a:solidFill>
                  <a:srgbClr val="E6EDF3"/>
                </a:solidFill>
                <a:latin typeface="Courier New"/>
                <a:ea typeface="Courier New"/>
                <a:cs typeface="Courier New"/>
              </a:rPr>
              <a:t>)</a:t>
            </a:r>
          </a:p>
          <a:p>
            <a:pPr algn="l"/>
            <a:r>
              <a:rPr sz="950" b="1" i="0">
                <a:solidFill>
                  <a:srgbClr val="F2A860"/>
                </a:solidFill>
                <a:latin typeface="Courier New"/>
                <a:ea typeface="Courier New"/>
                <a:cs typeface="Courier New"/>
              </a:rPr>
              <a:t>from</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collections</a:t>
            </a:r>
            <a:r>
              <a:rPr sz="950" b="0" i="0">
                <a:solidFill>
                  <a:srgbClr val="E6EDF3"/>
                </a:solidFill>
                <a:latin typeface="Courier New"/>
                <a:ea typeface="Courier New"/>
                <a:cs typeface="Courier New"/>
              </a:rPr>
              <a:t> </a:t>
            </a:r>
            <a:r>
              <a:rPr sz="950" b="1" i="0">
                <a:solidFill>
                  <a:srgbClr val="F2A860"/>
                </a:solidFill>
                <a:latin typeface="Courier New"/>
                <a:ea typeface="Courier New"/>
                <a:cs typeface="Courier New"/>
              </a:rPr>
              <a:t>import</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defaultdict</a:t>
            </a:r>
          </a:p>
          <a:p>
            <a:pPr algn="l"/>
            <a:r>
              <a:rPr sz="950" b="0" i="0">
                <a:solidFill>
                  <a:srgbClr val="E6EDF3"/>
                </a:solidFill>
                <a:latin typeface="Courier New"/>
                <a:ea typeface="Courier New"/>
                <a:cs typeface="Courier New"/>
              </a:rPr>
              <a:t>W</a:t>
            </a:r>
            <a:r>
              <a:rPr sz="950" b="0" i="0">
                <a:solidFill>
                  <a:srgbClr val="E6EDF3"/>
                </a:solidFill>
                <a:latin typeface="Courier New"/>
                <a:ea typeface="Courier New"/>
                <a:cs typeface="Courier New"/>
              </a:rPr>
              <a:t> = </a:t>
            </a:r>
            <a:r>
              <a:rPr sz="950" b="0" i="0">
                <a:solidFill>
                  <a:srgbClr val="E6EDF3"/>
                </a:solidFill>
                <a:latin typeface="Courier New"/>
                <a:ea typeface="Courier New"/>
                <a:cs typeface="Courier New"/>
              </a:rPr>
              <a:t>defaultdict</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int</a:t>
            </a:r>
            <a:r>
              <a:rPr sz="950" b="0" i="0">
                <a:solidFill>
                  <a:srgbClr val="E6EDF3"/>
                </a:solidFill>
                <a:latin typeface="Courier New"/>
                <a:ea typeface="Courier New"/>
                <a:cs typeface="Courier New"/>
              </a:rPr>
              <a:t>)</a:t>
            </a:r>
          </a:p>
        </p:txBody>
      </p:sp>
      <p:sp>
        <p:nvSpPr>
          <p:cNvPr id="29" name="code 17"/>
          <p:cNvSpPr/>
          <p:nvPr/>
        </p:nvSpPr>
        <p:spPr>
          <a:xfrm>
            <a:off x="365760" y="1723644"/>
            <a:ext cx="5166360" cy="374904"/>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950" b="1" i="0">
                <a:solidFill>
                  <a:srgbClr val="F2A860"/>
                </a:solidFill>
                <a:latin typeface="Courier New"/>
                <a:ea typeface="Courier New"/>
                <a:cs typeface="Courier New"/>
              </a:rPr>
              <a:t>for</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nm</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n</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f</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w</a:t>
            </a:r>
            <a:r>
              <a:rPr sz="950" b="0" i="0">
                <a:solidFill>
                  <a:srgbClr val="E6EDF3"/>
                </a:solidFill>
                <a:latin typeface="Courier New"/>
                <a:ea typeface="Courier New"/>
                <a:cs typeface="Courier New"/>
              </a:rPr>
              <a:t> </a:t>
            </a:r>
            <a:r>
              <a:rPr sz="950" b="1" i="0">
                <a:solidFill>
                  <a:srgbClr val="F2A860"/>
                </a:solidFill>
                <a:latin typeface="Courier New"/>
                <a:ea typeface="Courier New"/>
                <a:cs typeface="Courier New"/>
              </a:rPr>
              <a:t>in</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fw</a:t>
            </a:r>
            <a:r>
              <a:rPr sz="950" b="0" i="0">
                <a:solidFill>
                  <a:srgbClr val="E6EDF3"/>
                </a:solidFill>
                <a:latin typeface="Courier New"/>
                <a:ea typeface="Courier New"/>
                <a:cs typeface="Courier New"/>
              </a:rPr>
              <a:t>:</a:t>
            </a:r>
          </a:p>
          <a:p>
            <a:pPr algn="l"/>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W</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nm</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split</a:t>
            </a:r>
            <a:r>
              <a:rPr sz="950" b="0" i="0">
                <a:solidFill>
                  <a:srgbClr val="E6EDF3"/>
                </a:solidFill>
                <a:latin typeface="Courier New"/>
                <a:ea typeface="Courier New"/>
                <a:cs typeface="Courier New"/>
              </a:rPr>
              <a:t>()[</a:t>
            </a:r>
            <a:r>
              <a:rPr sz="950" b="0" i="0">
                <a:solidFill>
                  <a:srgbClr val="FFD28A"/>
                </a:solidFill>
                <a:latin typeface="Courier New"/>
                <a:ea typeface="Courier New"/>
                <a:cs typeface="Courier New"/>
              </a:rPr>
              <a:t>0</a:t>
            </a:r>
            <a:r>
              <a:rPr sz="950" b="0" i="0">
                <a:solidFill>
                  <a:srgbClr val="E6EDF3"/>
                </a:solidFill>
                <a:latin typeface="Courier New"/>
                <a:ea typeface="Courier New"/>
                <a:cs typeface="Courier New"/>
              </a:rPr>
              <a:t>]] += </a:t>
            </a:r>
            <a:r>
              <a:rPr sz="950" b="0" i="0">
                <a:solidFill>
                  <a:srgbClr val="E6EDF3"/>
                </a:solidFill>
                <a:latin typeface="Courier New"/>
                <a:ea typeface="Courier New"/>
                <a:cs typeface="Courier New"/>
              </a:rPr>
              <a:t>w</a:t>
            </a:r>
          </a:p>
        </p:txBody>
      </p:sp>
      <p:sp>
        <p:nvSpPr>
          <p:cNvPr id="30" name="code 17"/>
          <p:cNvSpPr/>
          <p:nvPr/>
        </p:nvSpPr>
        <p:spPr>
          <a:xfrm>
            <a:off x="365760" y="2125980"/>
            <a:ext cx="5166360" cy="525780"/>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950" b="0" i="0">
                <a:solidFill>
                  <a:srgbClr val="E6EDF3"/>
                </a:solidFill>
                <a:latin typeface="Courier New"/>
                <a:ea typeface="Courier New"/>
                <a:cs typeface="Courier New"/>
              </a:rPr>
              <a:t>total</a:t>
            </a:r>
            <a:r>
              <a:rPr sz="950" b="0" i="0">
                <a:solidFill>
                  <a:srgbClr val="E6EDF3"/>
                </a:solidFill>
                <a:latin typeface="Courier New"/>
                <a:ea typeface="Courier New"/>
                <a:cs typeface="Courier New"/>
              </a:rPr>
              <a:t> = </a:t>
            </a:r>
            <a:r>
              <a:rPr sz="950" b="0" i="0">
                <a:solidFill>
                  <a:srgbClr val="E6EDF3"/>
                </a:solidFill>
                <a:latin typeface="Courier New"/>
                <a:ea typeface="Courier New"/>
                <a:cs typeface="Courier New"/>
              </a:rPr>
              <a:t>sum</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W</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values</a:t>
            </a:r>
            <a:r>
              <a:rPr sz="950" b="0" i="0">
                <a:solidFill>
                  <a:srgbClr val="E6EDF3"/>
                </a:solidFill>
                <a:latin typeface="Courier New"/>
                <a:ea typeface="Courier New"/>
                <a:cs typeface="Courier New"/>
              </a:rPr>
              <a:t>())</a:t>
            </a:r>
          </a:p>
          <a:p>
            <a:pPr algn="l"/>
            <a:r>
              <a:rPr sz="950" b="0" i="0">
                <a:solidFill>
                  <a:srgbClr val="E6EDF3"/>
                </a:solidFill>
                <a:latin typeface="Courier New"/>
                <a:ea typeface="Courier New"/>
                <a:cs typeface="Courier New"/>
              </a:rPr>
              <a:t>vb</a:t>
            </a:r>
            <a:r>
              <a:rPr sz="950" b="0" i="0">
                <a:solidFill>
                  <a:srgbClr val="E6EDF3"/>
                </a:solidFill>
                <a:latin typeface="Courier New"/>
                <a:ea typeface="Courier New"/>
                <a:cs typeface="Courier New"/>
              </a:rPr>
              <a:t> = </a:t>
            </a:r>
            <a:r>
              <a:rPr sz="950" b="0" i="0">
                <a:solidFill>
                  <a:srgbClr val="E6EDF3"/>
                </a:solidFill>
                <a:latin typeface="Courier New"/>
                <a:ea typeface="Courier New"/>
                <a:cs typeface="Courier New"/>
              </a:rPr>
              <a:t>vbytes</a:t>
            </a:r>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ALICE</a:t>
            </a:r>
            <a:r>
              <a:rPr sz="950" b="0" i="0">
                <a:solidFill>
                  <a:srgbClr val="E6EDF3"/>
                </a:solidFill>
                <a:latin typeface="Courier New"/>
                <a:ea typeface="Courier New"/>
                <a:cs typeface="Courier New"/>
              </a:rPr>
              <a:t>)</a:t>
            </a:r>
          </a:p>
          <a:p>
            <a:pPr algn="l"/>
            <a:r>
              <a:rPr sz="950" b="0" i="0">
                <a:solidFill>
                  <a:srgbClr val="E6EDF3"/>
                </a:solidFill>
                <a:latin typeface="Courier New"/>
                <a:ea typeface="Courier New"/>
                <a:cs typeface="Courier New"/>
              </a:rPr>
              <a:t>(</a:t>
            </a:r>
            <a:r>
              <a:rPr sz="950" b="0" i="0">
                <a:solidFill>
                  <a:srgbClr val="E6EDF3"/>
                </a:solidFill>
                <a:latin typeface="Courier New"/>
                <a:ea typeface="Courier New"/>
                <a:cs typeface="Courier New"/>
              </a:rPr>
              <a:t>total</a:t>
            </a:r>
            <a:r>
              <a:rPr sz="950" b="0" i="0">
                <a:solidFill>
                  <a:srgbClr val="E6EDF3"/>
                </a:solidFill>
                <a:latin typeface="Courier New"/>
                <a:ea typeface="Courier New"/>
                <a:cs typeface="Courier New"/>
              </a:rPr>
              <a:t>, </a:t>
            </a:r>
            <a:r>
              <a:rPr sz="950" b="0" i="0">
                <a:solidFill>
                  <a:srgbClr val="E6EDF3"/>
                </a:solidFill>
                <a:latin typeface="Courier New"/>
                <a:ea typeface="Courier New"/>
                <a:cs typeface="Courier New"/>
              </a:rPr>
              <a:t>vb</a:t>
            </a:r>
            <a:r>
              <a:rPr sz="950" b="0" i="0">
                <a:solidFill>
                  <a:srgbClr val="E6EDF3"/>
                </a:solidFill>
                <a:latin typeface="Courier New"/>
                <a:ea typeface="Courier New"/>
                <a:cs typeface="Courier New"/>
              </a:rPr>
              <a:t>)</a:t>
            </a:r>
          </a:p>
        </p:txBody>
      </p:sp>
      <p:sp>
        <p:nvSpPr>
          <p:cNvPr id="31" name="result 17"/>
          <p:cNvSpPr/>
          <p:nvPr/>
        </p:nvSpPr>
        <p:spPr>
          <a:xfrm>
            <a:off x="365760" y="2697480"/>
            <a:ext cx="5166360" cy="93360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sult 17"/>
          <p:cNvSpPr txBox="1"/>
          <p:nvPr/>
        </p:nvSpPr>
        <p:spPr>
          <a:xfrm>
            <a:off x="457200" y="2724912"/>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33" name="result 17"/>
          <p:cNvSpPr txBox="1"/>
          <p:nvPr/>
        </p:nvSpPr>
        <p:spPr>
          <a:xfrm>
            <a:off x="457200" y="2834640"/>
            <a:ext cx="4983480" cy="294894"/>
          </a:xfrm>
          <a:prstGeom prst="rect">
            <a:avLst/>
          </a:prstGeom>
          <a:noFill/>
        </p:spPr>
        <p:txBody>
          <a:bodyPr wrap="square" lIns="0" rIns="0" tIns="0" bIns="0" anchor="t">
            <a:spAutoFit/>
          </a:bodyPr>
          <a:lstStyle/>
          <a:p>
            <a:pPr algn="l"/>
            <a:r>
              <a:rPr sz="900" b="0" i="0">
                <a:solidFill>
                  <a:srgbClr val="6E655C"/>
                </a:solidFill>
                <a:latin typeface="Courier New"/>
                <a:ea typeface="Courier New"/>
                <a:cs typeface="Courier New"/>
              </a:rPr>
              <a:t>dict(W)</a:t>
            </a:r>
            <a:r>
              <a:rPr sz="900" b="1" i="0">
                <a:solidFill>
                  <a:srgbClr val="D97A14"/>
                </a:solidFill>
                <a:latin typeface="Courier New"/>
                <a:ea typeface="Courier New"/>
                <a:cs typeface="Courier New"/>
              </a:rPr>
              <a:t>  →  </a:t>
            </a:r>
            <a:r>
              <a:rPr sz="900" b="1" i="0">
                <a:solidFill>
                  <a:srgbClr val="2B2622"/>
                </a:solidFill>
                <a:latin typeface="Courier New"/>
                <a:ea typeface="Courier New"/>
                <a:cs typeface="Courier New"/>
              </a:rPr>
              <a:t>{'version': 16, 'marker': 1, 'flag': 1, 'input': 168, 'output': 300, 'witness': 67, 'lock': 16}</a:t>
            </a:r>
          </a:p>
        </p:txBody>
      </p:sp>
      <p:sp>
        <p:nvSpPr>
          <p:cNvPr id="34" name="result 17"/>
          <p:cNvSpPr txBox="1"/>
          <p:nvPr/>
        </p:nvSpPr>
        <p:spPr>
          <a:xfrm>
            <a:off x="457200" y="3129534"/>
            <a:ext cx="4983480" cy="152019"/>
          </a:xfrm>
          <a:prstGeom prst="rect">
            <a:avLst/>
          </a:prstGeom>
          <a:noFill/>
        </p:spPr>
        <p:txBody>
          <a:bodyPr wrap="square" lIns="0" rIns="0" tIns="0" bIns="0" anchor="t">
            <a:spAutoFit/>
          </a:bodyPr>
          <a:lstStyle/>
          <a:p>
            <a:pPr algn="l"/>
            <a:r>
              <a:rPr sz="900" b="0" i="0">
                <a:solidFill>
                  <a:srgbClr val="6E655C"/>
                </a:solidFill>
                <a:latin typeface="Courier New"/>
                <a:ea typeface="Courier New"/>
                <a:cs typeface="Courier New"/>
              </a:rPr>
              <a:t>total</a:t>
            </a:r>
            <a:r>
              <a:rPr sz="900" b="1" i="0">
                <a:solidFill>
                  <a:srgbClr val="D97A14"/>
                </a:solidFill>
                <a:latin typeface="Courier New"/>
                <a:ea typeface="Courier New"/>
                <a:cs typeface="Courier New"/>
              </a:rPr>
              <a:t>  →  </a:t>
            </a:r>
            <a:r>
              <a:rPr sz="900" b="1" i="0">
                <a:solidFill>
                  <a:srgbClr val="2B2622"/>
                </a:solidFill>
                <a:latin typeface="Courier New"/>
                <a:ea typeface="Courier New"/>
                <a:cs typeface="Courier New"/>
              </a:rPr>
              <a:t>569</a:t>
            </a:r>
          </a:p>
        </p:txBody>
      </p:sp>
      <p:sp>
        <p:nvSpPr>
          <p:cNvPr id="35" name="result 17"/>
          <p:cNvSpPr txBox="1"/>
          <p:nvPr/>
        </p:nvSpPr>
        <p:spPr>
          <a:xfrm>
            <a:off x="457200" y="3281553"/>
            <a:ext cx="4983480" cy="152019"/>
          </a:xfrm>
          <a:prstGeom prst="rect">
            <a:avLst/>
          </a:prstGeom>
          <a:noFill/>
        </p:spPr>
        <p:txBody>
          <a:bodyPr wrap="square" lIns="0" rIns="0" tIns="0" bIns="0" anchor="t">
            <a:spAutoFit/>
          </a:bodyPr>
          <a:lstStyle/>
          <a:p>
            <a:pPr algn="l"/>
            <a:r>
              <a:rPr sz="900" b="0" i="0">
                <a:solidFill>
                  <a:srgbClr val="6E655C"/>
                </a:solidFill>
                <a:latin typeface="Courier New"/>
                <a:ea typeface="Courier New"/>
                <a:cs typeface="Courier New"/>
              </a:rPr>
              <a:t>vb</a:t>
            </a:r>
            <a:r>
              <a:rPr sz="900" b="1" i="0">
                <a:solidFill>
                  <a:srgbClr val="D97A14"/>
                </a:solidFill>
                <a:latin typeface="Courier New"/>
                <a:ea typeface="Courier New"/>
                <a:cs typeface="Courier New"/>
              </a:rPr>
              <a:t>  →  </a:t>
            </a:r>
            <a:r>
              <a:rPr sz="900" b="1" i="0">
                <a:solidFill>
                  <a:srgbClr val="2B2622"/>
                </a:solidFill>
                <a:latin typeface="Courier New"/>
                <a:ea typeface="Courier New"/>
                <a:cs typeface="Courier New"/>
              </a:rPr>
              <a:t>143</a:t>
            </a:r>
          </a:p>
        </p:txBody>
      </p:sp>
      <p:sp>
        <p:nvSpPr>
          <p:cNvPr id="36" name="result 17"/>
          <p:cNvSpPr txBox="1"/>
          <p:nvPr/>
        </p:nvSpPr>
        <p:spPr>
          <a:xfrm>
            <a:off x="457200" y="3433572"/>
            <a:ext cx="4983480" cy="152019"/>
          </a:xfrm>
          <a:prstGeom prst="rect">
            <a:avLst/>
          </a:prstGeom>
          <a:noFill/>
        </p:spPr>
        <p:txBody>
          <a:bodyPr wrap="square" lIns="0" rIns="0" tIns="0" bIns="0" anchor="t">
            <a:spAutoFit/>
          </a:bodyPr>
          <a:lstStyle/>
          <a:p>
            <a:pPr algn="l"/>
            <a:r>
              <a:rPr sz="900" b="0" i="0">
                <a:solidFill>
                  <a:srgbClr val="6E655C"/>
                </a:solidFill>
                <a:latin typeface="Courier New"/>
                <a:ea typeface="Courier New"/>
                <a:cs typeface="Courier New"/>
              </a:rPr>
              <a:t>(total, vb)</a:t>
            </a:r>
            <a:r>
              <a:rPr sz="900" b="1" i="0">
                <a:solidFill>
                  <a:srgbClr val="D97A14"/>
                </a:solidFill>
                <a:latin typeface="Courier New"/>
                <a:ea typeface="Courier New"/>
                <a:cs typeface="Courier New"/>
              </a:rPr>
              <a:t>  →  </a:t>
            </a:r>
            <a:r>
              <a:rPr sz="900" b="1" i="0">
                <a:solidFill>
                  <a:srgbClr val="2B2622"/>
                </a:solidFill>
                <a:latin typeface="Courier New"/>
                <a:ea typeface="Courier New"/>
                <a:cs typeface="Courier New"/>
              </a:rPr>
              <a:t>(569, 143)</a:t>
            </a:r>
          </a:p>
        </p:txBody>
      </p:sp>
      <p:sp>
        <p:nvSpPr>
          <p:cNvPr id="37" name="explanation 17"/>
          <p:cNvSpPr txBox="1"/>
          <p:nvPr/>
        </p:nvSpPr>
        <p:spPr>
          <a:xfrm>
            <a:off x="365760" y="3667658"/>
            <a:ext cx="5166360" cy="210312"/>
          </a:xfrm>
          <a:prstGeom prst="rect">
            <a:avLst/>
          </a:prstGeom>
          <a:noFill/>
        </p:spPr>
        <p:txBody>
          <a:bodyPr wrap="square" lIns="0" rIns="0" tIns="0" bIns="0" anchor="t">
            <a:spAutoFit/>
          </a:bodyPr>
          <a:lstStyle/>
          <a:p>
            <a:pPr algn="l"/>
            <a:r>
              <a:rPr sz="900" b="1" i="0">
                <a:solidFill>
                  <a:srgbClr val="D97A14"/>
                </a:solidFill>
                <a:latin typeface="Calibri"/>
                <a:ea typeface="Calibri"/>
                <a:cs typeface="Calibri"/>
              </a:rPr>
              <a:t>Lines 1-3  </a:t>
            </a:r>
            <a:r>
              <a:rPr sz="900" b="0" i="0">
                <a:solidFill>
                  <a:srgbClr val="2B2622"/>
                </a:solidFill>
                <a:latin typeface="Calibri"/>
                <a:ea typeface="Calibri"/>
                <a:cs typeface="Calibri"/>
              </a:rPr>
              <a:t>Every field weighs its bytes times four, except marker, flag and witness.</a:t>
            </a:r>
          </a:p>
        </p:txBody>
      </p:sp>
      <p:sp>
        <p:nvSpPr>
          <p:cNvPr id="38" name="explanation 17"/>
          <p:cNvSpPr txBox="1"/>
          <p:nvPr/>
        </p:nvSpPr>
        <p:spPr>
          <a:xfrm>
            <a:off x="365760" y="3877970"/>
            <a:ext cx="5166360" cy="210312"/>
          </a:xfrm>
          <a:prstGeom prst="rect">
            <a:avLst/>
          </a:prstGeom>
          <a:noFill/>
        </p:spPr>
        <p:txBody>
          <a:bodyPr wrap="square" lIns="0" rIns="0" tIns="0" bIns="0" anchor="t">
            <a:spAutoFit/>
          </a:bodyPr>
          <a:lstStyle/>
          <a:p>
            <a:pPr algn="l"/>
            <a:r>
              <a:rPr sz="900" b="1" i="0">
                <a:solidFill>
                  <a:srgbClr val="D97A14"/>
                </a:solidFill>
                <a:latin typeface="Calibri"/>
                <a:ea typeface="Calibri"/>
                <a:cs typeface="Calibri"/>
              </a:rPr>
              <a:t>Lines 4-5  </a:t>
            </a:r>
            <a:r>
              <a:rPr sz="900" b="0" i="0">
                <a:solidFill>
                  <a:srgbClr val="2B2622"/>
                </a:solidFill>
                <a:latin typeface="Calibri"/>
                <a:ea typeface="Calibri"/>
                <a:cs typeface="Calibri"/>
              </a:rPr>
              <a:t>Add the weights up per group of fields.</a:t>
            </a:r>
          </a:p>
        </p:txBody>
      </p:sp>
      <p:sp>
        <p:nvSpPr>
          <p:cNvPr id="39" name="explanation 17"/>
          <p:cNvSpPr txBox="1"/>
          <p:nvPr/>
        </p:nvSpPr>
        <p:spPr>
          <a:xfrm>
            <a:off x="365760" y="4088282"/>
            <a:ext cx="5166360" cy="347472"/>
          </a:xfrm>
          <a:prstGeom prst="rect">
            <a:avLst/>
          </a:prstGeom>
          <a:noFill/>
        </p:spPr>
        <p:txBody>
          <a:bodyPr wrap="square" lIns="0" rIns="0" tIns="0" bIns="0" anchor="t">
            <a:spAutoFit/>
          </a:bodyPr>
          <a:lstStyle/>
          <a:p>
            <a:pPr algn="l"/>
            <a:r>
              <a:rPr sz="900" b="1" i="0">
                <a:solidFill>
                  <a:srgbClr val="D97A14"/>
                </a:solidFill>
                <a:latin typeface="Calibri"/>
                <a:ea typeface="Calibri"/>
                <a:cs typeface="Calibri"/>
              </a:rPr>
              <a:t>Lines 6-8  </a:t>
            </a:r>
            <a:r>
              <a:rPr sz="900" b="0" i="0">
                <a:solidFill>
                  <a:srgbClr val="2B2622"/>
                </a:solidFill>
                <a:latin typeface="Calibri"/>
                <a:ea typeface="Calibri"/>
                <a:cs typeface="Calibri"/>
              </a:rPr>
              <a:t>The weights add up to the book's 569; virtual bytes are a quarter, rounded up.</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Weight and foundations (2 of 3)</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Hash function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Any input, a fixed 32-byte digest.</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meat grinder: any input, a result of fixed size.</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Double SHA-256</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SHA-256 of SHA-256.</a:t>
            </a:r>
            <a:endParaRPr lang="en-US" sz="1300" dirty="0"/>
          </a:p>
        </p:txBody>
      </p:sp>
      <p:sp>
        <p:nvSpPr>
          <p:cNvPr id="13" name="Text 11"/>
          <p:cNvSpPr txBox="1"/>
          <p:nvPr/>
        </p:nvSpPr>
        <p:spPr>
          <a:xfrm>
            <a:off x="4828032" y="1805940"/>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running the grinder twice for safety.</a:t>
            </a:r>
            <a:endParaRPr lang="en-US" sz="1150" dirty="0"/>
          </a:p>
        </p:txBody>
      </p:sp>
      <p:sp>
        <p:nvSpPr>
          <p:cNvPr id="14" name="Shape 12"/>
          <p:cNvSpPr/>
          <p:nvPr/>
        </p:nvSpPr>
        <p:spPr>
          <a:xfrm>
            <a:off x="457200"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5" name="Shape 13"/>
          <p:cNvSpPr/>
          <p:nvPr/>
        </p:nvSpPr>
        <p:spPr>
          <a:xfrm>
            <a:off x="475488" y="2633472"/>
            <a:ext cx="64008" cy="841248"/>
          </a:xfrm>
          <a:prstGeom prst="rect">
            <a:avLst/>
          </a:prstGeom>
          <a:solidFill>
            <a:srgbClr val="D97A14"/>
          </a:solidFill>
          <a:ln w="12700">
            <a:solidFill>
              <a:srgbClr val="D97A14"/>
            </a:solidFill>
            <a:prstDash val="solid"/>
          </a:ln>
        </p:spPr>
        <p:txBody>
          <a:bodyPr/>
          <a:p/>
        </p:txBody>
      </p:sp>
      <p:sp>
        <p:nvSpPr>
          <p:cNvPr id="16" name="Text 14"/>
          <p:cNvSpPr txBox="1"/>
          <p:nvPr/>
        </p:nvSpPr>
        <p:spPr>
          <a:xfrm>
            <a:off x="640080"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Transaction identifier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Double SHA-256 of the legacy bytes, reversed.</a:t>
            </a:r>
            <a:endParaRPr lang="en-US" sz="1300" dirty="0"/>
          </a:p>
        </p:txBody>
      </p:sp>
      <p:sp>
        <p:nvSpPr>
          <p:cNvPr id="17" name="Text 15"/>
          <p:cNvSpPr txBox="1"/>
          <p:nvPr/>
        </p:nvSpPr>
        <p:spPr>
          <a:xfrm>
            <a:off x="640080"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parcel's tracking number from its plain contents.</a:t>
            </a:r>
            <a:endParaRPr lang="en-US" sz="1150" dirty="0"/>
          </a:p>
        </p:txBody>
      </p:sp>
      <p:sp>
        <p:nvSpPr>
          <p:cNvPr id="18" name="Shape 16"/>
          <p:cNvSpPr/>
          <p:nvPr/>
        </p:nvSpPr>
        <p:spPr>
          <a:xfrm>
            <a:off x="4645152" y="2505456"/>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9" name="Shape 17"/>
          <p:cNvSpPr/>
          <p:nvPr/>
        </p:nvSpPr>
        <p:spPr>
          <a:xfrm>
            <a:off x="4663440" y="2633472"/>
            <a:ext cx="64008" cy="841248"/>
          </a:xfrm>
          <a:prstGeom prst="rect">
            <a:avLst/>
          </a:prstGeom>
          <a:solidFill>
            <a:srgbClr val="D97A14"/>
          </a:solidFill>
          <a:ln w="12700">
            <a:solidFill>
              <a:srgbClr val="D97A14"/>
            </a:solidFill>
            <a:prstDash val="solid"/>
          </a:ln>
        </p:spPr>
        <p:txBody>
          <a:bodyPr/>
          <a:p/>
        </p:txBody>
      </p:sp>
      <p:sp>
        <p:nvSpPr>
          <p:cNvPr id="20" name="Text 18"/>
          <p:cNvSpPr txBox="1"/>
          <p:nvPr/>
        </p:nvSpPr>
        <p:spPr>
          <a:xfrm>
            <a:off x="4828032" y="2569464"/>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 transaction identifier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hash of everything, witness included.</a:t>
            </a:r>
            <a:endParaRPr lang="en-US" sz="1300" dirty="0"/>
          </a:p>
        </p:txBody>
      </p:sp>
      <p:sp>
        <p:nvSpPr>
          <p:cNvPr id="21" name="Text 19"/>
          <p:cNvSpPr txBox="1"/>
          <p:nvPr/>
        </p:nvSpPr>
        <p:spPr>
          <a:xfrm>
            <a:off x="4828032" y="303123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tracking number that counts the annex too.</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66 / 71</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How a txid is made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Double SHA-256 of the legacy bytes, reversed</a:t>
            </a:r>
            <a:endParaRPr lang="en-US" sz="13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from the legacy bytes to the txid</a:t>
            </a:r>
            <a:endParaRPr lang="en-US" sz="11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508760"/>
                <a:gridCol w="14630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Legacy 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Double SHA-256, reversed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466200308696215b</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Equals the library's txid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42062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reversed digest equals the library's txid.</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Identifiers are computed, never stored: anyone can recompute them</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67 / 71</a:t>
            </a:r>
            <a:endParaRPr lang="en-US" sz="1100" dirty="0"/>
          </a:p>
        </p:txBody>
      </p:sp>
      <p:sp>
        <p:nvSpPr>
          <p:cNvPr id="60" name="code 18"/>
          <p:cNvSpPr/>
          <p:nvPr/>
        </p:nvSpPr>
        <p:spPr>
          <a:xfrm>
            <a:off x="365760" y="1170432"/>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leg</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serialize</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tx</a:t>
            </a:r>
            <a:r>
              <a:rPr sz="1100" b="0" i="0">
                <a:solidFill>
                  <a:srgbClr val="E6EDF3"/>
                </a:solidFill>
                <a:latin typeface="Courier New"/>
                <a:ea typeface="Courier New"/>
                <a:cs typeface="Courier New"/>
              </a:rPr>
              <a:t>, </a:t>
            </a:r>
            <a:r>
              <a:rPr sz="1100" b="0" i="0">
                <a:solidFill>
                  <a:srgbClr val="E6EDF3"/>
                </a:solidFill>
                <a:latin typeface="Courier New"/>
                <a:ea typeface="Courier New"/>
                <a:cs typeface="Courier New"/>
              </a:rPr>
              <a:t>witness</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False</a:t>
            </a:r>
            <a:r>
              <a:rPr sz="1100" b="0" i="0">
                <a:solidFill>
                  <a:srgbClr val="E6EDF3"/>
                </a:solidFill>
                <a:latin typeface="Courier New"/>
                <a:ea typeface="Courier New"/>
                <a:cs typeface="Courier New"/>
              </a:rPr>
              <a:t>)</a:t>
            </a:r>
          </a:p>
        </p:txBody>
      </p:sp>
      <p:sp>
        <p:nvSpPr>
          <p:cNvPr id="61" name="code 18"/>
          <p:cNvSpPr/>
          <p:nvPr/>
        </p:nvSpPr>
        <p:spPr>
          <a:xfrm>
            <a:off x="365760" y="1445666"/>
            <a:ext cx="5166360" cy="247802"/>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h2</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sha256</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sha256</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leg</a:t>
            </a:r>
            <a:r>
              <a:rPr sz="1100" b="0" i="0">
                <a:solidFill>
                  <a:srgbClr val="E6EDF3"/>
                </a:solidFill>
                <a:latin typeface="Courier New"/>
                <a:ea typeface="Courier New"/>
                <a:cs typeface="Courier New"/>
              </a:rPr>
              <a:t>))</a:t>
            </a:r>
          </a:p>
        </p:txBody>
      </p:sp>
      <p:sp>
        <p:nvSpPr>
          <p:cNvPr id="62" name="code 18"/>
          <p:cNvSpPr/>
          <p:nvPr/>
        </p:nvSpPr>
        <p:spPr>
          <a:xfrm>
            <a:off x="365760" y="1720900"/>
            <a:ext cx="5166360" cy="597103"/>
          </a:xfrm>
          <a:prstGeom prst="roundRect">
            <a:avLst>
              <a:gd name="adj" fmla="val 5000"/>
            </a:avLst>
          </a:prstGeom>
          <a:solidFill>
            <a:srgbClr val="23272E"/>
          </a:solidFill>
          <a:ln w="1270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109728" tIns="109728" bIns="109728"/>
          <a:lstStyle/>
          <a:p>
            <a:pPr algn="l"/>
            <a:r>
              <a:rPr sz="1100" b="0" i="0">
                <a:solidFill>
                  <a:srgbClr val="E6EDF3"/>
                </a:solidFill>
                <a:latin typeface="Courier New"/>
                <a:ea typeface="Courier New"/>
                <a:cs typeface="Courier New"/>
              </a:rPr>
              <a:t>shown</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h2</a:t>
            </a:r>
            <a:r>
              <a:rPr sz="1100" b="0" i="0">
                <a:solidFill>
                  <a:srgbClr val="E6EDF3"/>
                </a:solidFill>
                <a:latin typeface="Courier New"/>
                <a:ea typeface="Courier New"/>
                <a:cs typeface="Courier New"/>
              </a:rPr>
              <a:t>[::-</a:t>
            </a:r>
            <a:r>
              <a:rPr sz="1100" b="0" i="0">
                <a:solidFill>
                  <a:srgbClr val="FFD28A"/>
                </a:solidFill>
                <a:latin typeface="Courier New"/>
                <a:ea typeface="Courier New"/>
                <a:cs typeface="Courier New"/>
              </a:rPr>
              <a:t>1</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hex</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same</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shown</a:t>
            </a:r>
            <a:r>
              <a:rPr sz="1100" b="0" i="0">
                <a:solidFill>
                  <a:srgbClr val="E6EDF3"/>
                </a:solidFill>
                <a:latin typeface="Courier New"/>
                <a:ea typeface="Courier New"/>
                <a:cs typeface="Courier New"/>
              </a:rPr>
              <a:t> == </a:t>
            </a:r>
            <a:r>
              <a:rPr sz="1100" b="0" i="0">
                <a:solidFill>
                  <a:srgbClr val="E6EDF3"/>
                </a:solidFill>
                <a:latin typeface="Courier New"/>
                <a:ea typeface="Courier New"/>
                <a:cs typeface="Courier New"/>
              </a:rPr>
              <a:t>txid</a:t>
            </a:r>
            <a:r>
              <a:rPr sz="1100" b="0" i="0">
                <a:solidFill>
                  <a:srgbClr val="E6EDF3"/>
                </a:solidFill>
                <a:latin typeface="Courier New"/>
                <a:ea typeface="Courier New"/>
                <a:cs typeface="Courier New"/>
              </a:rPr>
              <a:t>(</a:t>
            </a:r>
            <a:r>
              <a:rPr sz="1100" b="0" i="0">
                <a:solidFill>
                  <a:srgbClr val="E6EDF3"/>
                </a:solidFill>
                <a:latin typeface="Courier New"/>
                <a:ea typeface="Courier New"/>
                <a:cs typeface="Courier New"/>
              </a:rPr>
              <a:t>ALICE</a:t>
            </a:r>
            <a:r>
              <a:rPr sz="1100" b="0" i="0">
                <a:solidFill>
                  <a:srgbClr val="E6EDF3"/>
                </a:solidFill>
                <a:latin typeface="Courier New"/>
                <a:ea typeface="Courier New"/>
                <a:cs typeface="Courier New"/>
              </a:rPr>
              <a:t>)</a:t>
            </a:r>
          </a:p>
          <a:p>
            <a:pPr algn="l"/>
            <a:r>
              <a:rPr sz="1100" b="0" i="0">
                <a:solidFill>
                  <a:srgbClr val="E6EDF3"/>
                </a:solidFill>
                <a:latin typeface="Courier New"/>
                <a:ea typeface="Courier New"/>
                <a:cs typeface="Courier New"/>
              </a:rPr>
              <a:t>same</a:t>
            </a:r>
          </a:p>
        </p:txBody>
      </p:sp>
      <p:sp>
        <p:nvSpPr>
          <p:cNvPr id="63" name="result 18"/>
          <p:cNvSpPr/>
          <p:nvPr/>
        </p:nvSpPr>
        <p:spPr>
          <a:xfrm>
            <a:off x="365760" y="2363724"/>
            <a:ext cx="5166360" cy="719632"/>
          </a:xfrm>
          <a:prstGeom prst="roundRect">
            <a:avLst>
              <a:gd name="adj" fmla="val 6000"/>
            </a:avLst>
          </a:prstGeom>
          <a:solidFill>
            <a:srgbClr val="FFFFFF"/>
          </a:solidFill>
          <a:ln w="15875">
            <a:solidFill>
              <a:srgbClr val="2F6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sult 18"/>
          <p:cNvSpPr txBox="1"/>
          <p:nvPr/>
        </p:nvSpPr>
        <p:spPr>
          <a:xfrm>
            <a:off x="457200" y="2391156"/>
            <a:ext cx="4983480" cy="109728"/>
          </a:xfrm>
          <a:prstGeom prst="rect">
            <a:avLst/>
          </a:prstGeom>
          <a:noFill/>
        </p:spPr>
        <p:txBody>
          <a:bodyPr wrap="square" lIns="0" rIns="0" tIns="0" bIns="0" anchor="t">
            <a:spAutoFit/>
          </a:bodyPr>
          <a:lstStyle/>
          <a:p>
            <a:pPr algn="l"/>
            <a:r>
              <a:rPr sz="850" b="1" i="0">
                <a:solidFill>
                  <a:srgbClr val="2F6D62"/>
                </a:solidFill>
                <a:latin typeface="Calibri"/>
                <a:ea typeface="Calibri"/>
                <a:cs typeface="Calibri"/>
              </a:rPr>
              <a:t>RESULT  </a:t>
            </a:r>
            <a:r>
              <a:rPr sz="850" b="0" i="1">
                <a:solidFill>
                  <a:srgbClr val="6E655C"/>
                </a:solidFill>
                <a:latin typeface="Calibri"/>
                <a:ea typeface="Calibri"/>
                <a:cs typeface="Calibri"/>
              </a:rPr>
              <a:t>Python 3.14.6 · the chapter setup defines ALICE, PREV, FIRST and tx</a:t>
            </a:r>
          </a:p>
        </p:txBody>
      </p:sp>
      <p:sp>
        <p:nvSpPr>
          <p:cNvPr id="65" name="result 18"/>
          <p:cNvSpPr txBox="1"/>
          <p:nvPr/>
        </p:nvSpPr>
        <p:spPr>
          <a:xfrm>
            <a:off x="457200" y="2500884"/>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len(leg)</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125</a:t>
            </a:r>
          </a:p>
        </p:txBody>
      </p:sp>
      <p:sp>
        <p:nvSpPr>
          <p:cNvPr id="66" name="result 18"/>
          <p:cNvSpPr txBox="1"/>
          <p:nvPr/>
        </p:nvSpPr>
        <p:spPr>
          <a:xfrm>
            <a:off x="457200" y="2676715"/>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shown[:16]</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'466200308696215b'</a:t>
            </a:r>
          </a:p>
        </p:txBody>
      </p:sp>
      <p:sp>
        <p:nvSpPr>
          <p:cNvPr id="67" name="result 18"/>
          <p:cNvSpPr txBox="1"/>
          <p:nvPr/>
        </p:nvSpPr>
        <p:spPr>
          <a:xfrm>
            <a:off x="457200" y="2852547"/>
            <a:ext cx="4983480" cy="175831"/>
          </a:xfrm>
          <a:prstGeom prst="rect">
            <a:avLst/>
          </a:prstGeom>
          <a:noFill/>
        </p:spPr>
        <p:txBody>
          <a:bodyPr wrap="square" lIns="0" rIns="0" tIns="0" bIns="0" anchor="t">
            <a:spAutoFit/>
          </a:bodyPr>
          <a:lstStyle/>
          <a:p>
            <a:pPr algn="l"/>
            <a:r>
              <a:rPr sz="1050" b="0" i="0">
                <a:solidFill>
                  <a:srgbClr val="6E655C"/>
                </a:solidFill>
                <a:latin typeface="Courier New"/>
                <a:ea typeface="Courier New"/>
                <a:cs typeface="Courier New"/>
              </a:rPr>
              <a:t>same</a:t>
            </a:r>
            <a:r>
              <a:rPr sz="1050" b="1" i="0">
                <a:solidFill>
                  <a:srgbClr val="D97A14"/>
                </a:solidFill>
                <a:latin typeface="Courier New"/>
                <a:ea typeface="Courier New"/>
                <a:cs typeface="Courier New"/>
              </a:rPr>
              <a:t>  →  </a:t>
            </a:r>
            <a:r>
              <a:rPr sz="1050" b="1" i="0">
                <a:solidFill>
                  <a:srgbClr val="2B2622"/>
                </a:solidFill>
                <a:latin typeface="Courier New"/>
                <a:ea typeface="Courier New"/>
                <a:cs typeface="Courier New"/>
              </a:rPr>
              <a:t>True</a:t>
            </a:r>
          </a:p>
        </p:txBody>
      </p:sp>
      <p:sp>
        <p:nvSpPr>
          <p:cNvPr id="68" name="explanation 18"/>
          <p:cNvSpPr txBox="1"/>
          <p:nvPr/>
        </p:nvSpPr>
        <p:spPr>
          <a:xfrm>
            <a:off x="365760" y="3119932"/>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1  </a:t>
            </a:r>
            <a:r>
              <a:rPr sz="1200" b="0" i="0">
                <a:solidFill>
                  <a:srgbClr val="2B2622"/>
                </a:solidFill>
                <a:latin typeface="Calibri"/>
                <a:ea typeface="Calibri"/>
                <a:cs typeface="Calibri"/>
              </a:rPr>
              <a:t>Start from the legacy bytes: the witness is not part of the txid.</a:t>
            </a:r>
          </a:p>
        </p:txBody>
      </p:sp>
      <p:sp>
        <p:nvSpPr>
          <p:cNvPr id="69" name="explanation 18"/>
          <p:cNvSpPr txBox="1"/>
          <p:nvPr/>
        </p:nvSpPr>
        <p:spPr>
          <a:xfrm>
            <a:off x="365760" y="3558844"/>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 2  </a:t>
            </a:r>
            <a:r>
              <a:rPr sz="1200" b="0" i="0">
                <a:solidFill>
                  <a:srgbClr val="2B2622"/>
                </a:solidFill>
                <a:latin typeface="Calibri"/>
                <a:ea typeface="Calibri"/>
                <a:cs typeface="Calibri"/>
              </a:rPr>
              <a:t>Hash the bytes twice with SHA-256, the second hash of the first.</a:t>
            </a:r>
          </a:p>
        </p:txBody>
      </p:sp>
      <p:sp>
        <p:nvSpPr>
          <p:cNvPr id="70" name="explanation 18"/>
          <p:cNvSpPr txBox="1"/>
          <p:nvPr/>
        </p:nvSpPr>
        <p:spPr>
          <a:xfrm>
            <a:off x="365760" y="3997756"/>
            <a:ext cx="5166360" cy="438912"/>
          </a:xfrm>
          <a:prstGeom prst="rect">
            <a:avLst/>
          </a:prstGeom>
          <a:noFill/>
        </p:spPr>
        <p:txBody>
          <a:bodyPr wrap="square" lIns="0" rIns="0" tIns="0" bIns="0" anchor="t">
            <a:spAutoFit/>
          </a:bodyPr>
          <a:lstStyle/>
          <a:p>
            <a:pPr algn="l"/>
            <a:r>
              <a:rPr sz="1200" b="1" i="0">
                <a:solidFill>
                  <a:srgbClr val="D97A14"/>
                </a:solidFill>
                <a:latin typeface="Calibri"/>
                <a:ea typeface="Calibri"/>
                <a:cs typeface="Calibri"/>
              </a:rPr>
              <a:t>Lines 3-5  </a:t>
            </a:r>
            <a:r>
              <a:rPr sz="1200" b="0" i="0">
                <a:solidFill>
                  <a:srgbClr val="2B2622"/>
                </a:solidFill>
                <a:latin typeface="Calibri"/>
                <a:ea typeface="Calibri"/>
                <a:cs typeface="Calibri"/>
              </a:rPr>
              <a:t>Reverse the digest for display: the result is the library's txid.</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5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Weight and foundations (3 of 3)</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txBody>
          <a:bodyPr/>
          <a:p/>
        </p:txBody>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Relay policy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What a node chooses to relay and keep.</a:t>
            </a:r>
            <a:endParaRPr lang="en-US" sz="1300" dirty="0"/>
          </a:p>
        </p:txBody>
      </p:sp>
      <p:sp>
        <p:nvSpPr>
          <p:cNvPr id="9" name="Text 7"/>
          <p:cNvSpPr txBox="1"/>
          <p:nvPr/>
        </p:nvSpPr>
        <p:spPr>
          <a:xfrm>
            <a:off x="640080" y="1805940"/>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house rules of one post office.</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txBody>
          <a:bodyPr/>
          <a:p/>
        </p:txBody>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txBody>
          <a:bodyPr/>
          <a:p/>
        </p:txBody>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Consensus rule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What every node must enforce identically.</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law every post office must obey identically.</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68 / 71</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chapter in five lines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One line per part, each provable from its slides</a:t>
            </a:r>
            <a:endParaRPr lang="en-US" sz="1300" dirty="0"/>
          </a:p>
        </p:txBody>
      </p:sp>
      <p:sp>
        <p:nvSpPr>
          <p:cNvPr id="6" name="Shape 4"/>
          <p:cNvSpPr/>
          <p:nvPr/>
        </p:nvSpPr>
        <p:spPr>
          <a:xfrm>
            <a:off x="457200" y="1408176"/>
            <a:ext cx="402336" cy="402336"/>
          </a:xfrm>
          <a:prstGeom prst="ellipse">
            <a:avLst/>
          </a:prstGeom>
          <a:solidFill>
            <a:srgbClr val="D97A14"/>
          </a:solidFill>
          <a:ln w="12700">
            <a:solidFill>
              <a:srgbClr val="D97A14"/>
            </a:solidFill>
            <a:prstDash val="solid"/>
          </a:ln>
        </p:spPr>
        <p:txBody>
          <a:bodyPr/>
          <a:p/>
        </p:txBody>
      </p:sp>
      <p:sp>
        <p:nvSpPr>
          <p:cNvPr id="7" name="Text 5"/>
          <p:cNvSpPr txBox="1"/>
          <p:nvPr/>
        </p:nvSpPr>
        <p:spPr>
          <a:xfrm>
            <a:off x="457200" y="14081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371600"/>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A transaction asks strangers to update their ledgers: inputs point, witnesses prove, outputs assign.</a:t>
            </a:r>
            <a:endParaRPr lang="en-US" sz="1250" dirty="0"/>
          </a:p>
        </p:txBody>
      </p:sp>
      <p:sp>
        <p:nvSpPr>
          <p:cNvPr id="9" name="Shape 7"/>
          <p:cNvSpPr/>
          <p:nvPr/>
        </p:nvSpPr>
        <p:spPr>
          <a:xfrm>
            <a:off x="457200" y="2011680"/>
            <a:ext cx="402336" cy="402336"/>
          </a:xfrm>
          <a:prstGeom prst="ellipse">
            <a:avLst/>
          </a:prstGeom>
          <a:solidFill>
            <a:srgbClr val="D97A14"/>
          </a:solidFill>
          <a:ln w="12700">
            <a:solidFill>
              <a:srgbClr val="D97A14"/>
            </a:solidFill>
            <a:prstDash val="solid"/>
          </a:ln>
        </p:spPr>
        <p:txBody>
          <a:bodyPr/>
          <a:p/>
        </p:txBody>
      </p:sp>
      <p:sp>
        <p:nvSpPr>
          <p:cNvPr id="10" name="Text 8"/>
          <p:cNvSpPr txBox="1"/>
          <p:nvPr/>
        </p:nvSpPr>
        <p:spPr>
          <a:xfrm>
            <a:off x="457200" y="20116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975104"/>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The sequence field has meant three things, and the lock time is read against the median of eleven blocks.</a:t>
            </a:r>
            <a:endParaRPr lang="en-US" sz="1250" dirty="0"/>
          </a:p>
        </p:txBody>
      </p:sp>
      <p:sp>
        <p:nvSpPr>
          <p:cNvPr id="12" name="Shape 10"/>
          <p:cNvSpPr/>
          <p:nvPr/>
        </p:nvSpPr>
        <p:spPr>
          <a:xfrm>
            <a:off x="457200" y="2615184"/>
            <a:ext cx="402336" cy="402336"/>
          </a:xfrm>
          <a:prstGeom prst="ellipse">
            <a:avLst/>
          </a:prstGeom>
          <a:solidFill>
            <a:srgbClr val="D97A14"/>
          </a:solidFill>
          <a:ln w="12700">
            <a:solidFill>
              <a:srgbClr val="D97A14"/>
            </a:solidFill>
            <a:prstDash val="solid"/>
          </a:ln>
        </p:spPr>
        <p:txBody>
          <a:bodyPr/>
          <a:p/>
        </p:txBody>
      </p:sp>
      <p:sp>
        <p:nvSpPr>
          <p:cNvPr id="13" name="Text 11"/>
          <p:cNvSpPr txBox="1"/>
          <p:nvPr/>
        </p:nvSpPr>
        <p:spPr>
          <a:xfrm>
            <a:off x="457200" y="26151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578608"/>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An output is an amount and a condition; the fee is a difference, and dust is a policy about everyone's database.</a:t>
            </a:r>
            <a:endParaRPr lang="en-US" sz="1250" dirty="0"/>
          </a:p>
        </p:txBody>
      </p:sp>
      <p:sp>
        <p:nvSpPr>
          <p:cNvPr id="15" name="Shape 13"/>
          <p:cNvSpPr/>
          <p:nvPr/>
        </p:nvSpPr>
        <p:spPr>
          <a:xfrm>
            <a:off x="457200" y="3218688"/>
            <a:ext cx="402336" cy="402336"/>
          </a:xfrm>
          <a:prstGeom prst="ellipse">
            <a:avLst/>
          </a:prstGeom>
          <a:solidFill>
            <a:srgbClr val="D97A14"/>
          </a:solidFill>
          <a:ln w="12700">
            <a:solidFill>
              <a:srgbClr val="D97A14"/>
            </a:solidFill>
            <a:prstDash val="solid"/>
          </a:ln>
        </p:spPr>
        <p:txBody>
          <a:bodyPr/>
          <a:p/>
        </p:txBody>
      </p:sp>
      <p:sp>
        <p:nvSpPr>
          <p:cNvPr id="16" name="Text 14"/>
          <p:cNvSpPr txBox="1"/>
          <p:nvPr/>
        </p:nvSpPr>
        <p:spPr>
          <a:xfrm>
            <a:off x="457200" y="321868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3182112"/>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Witnesses in the input script made identifiers malleable; segregated witness moved them out, as a soft fork.</a:t>
            </a:r>
            <a:endParaRPr lang="en-US" sz="1250" dirty="0"/>
          </a:p>
        </p:txBody>
      </p:sp>
      <p:sp>
        <p:nvSpPr>
          <p:cNvPr id="18" name="Shape 16"/>
          <p:cNvSpPr/>
          <p:nvPr/>
        </p:nvSpPr>
        <p:spPr>
          <a:xfrm>
            <a:off x="457200" y="3822192"/>
            <a:ext cx="402336" cy="402336"/>
          </a:xfrm>
          <a:prstGeom prst="ellipse">
            <a:avLst/>
          </a:prstGeom>
          <a:solidFill>
            <a:srgbClr val="D97A14"/>
          </a:solidFill>
          <a:ln w="12700">
            <a:solidFill>
              <a:srgbClr val="D97A14"/>
            </a:solidFill>
            <a:prstDash val="solid"/>
          </a:ln>
        </p:spPr>
        <p:txBody>
          <a:bodyPr/>
          <a:p/>
        </p:txBody>
      </p:sp>
      <p:sp>
        <p:nvSpPr>
          <p:cNvPr id="19" name="Text 17"/>
          <p:cNvSpPr txBox="1"/>
          <p:nvPr/>
        </p:nvSpPr>
        <p:spPr>
          <a:xfrm>
            <a:off x="457200" y="3822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024128" y="3785616"/>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The coinbase creates coins under a schedule that ends at block 6,929,999, and weight is what a block is filled by.</a:t>
            </a:r>
            <a:endParaRPr lang="en-US" sz="1250" dirty="0"/>
          </a:p>
        </p:txBody>
      </p:sp>
      <p:sp>
        <p:nvSpPr>
          <p:cNvPr id="21" name="Shape 19"/>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22" name="Text 2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If a line feels unproven, the code slide of its part carries the receipt</a:t>
            </a:r>
            <a:endParaRPr lang="en-US" sz="1350" dirty="0"/>
          </a:p>
        </p:txBody>
      </p:sp>
      <p:sp>
        <p:nvSpPr>
          <p:cNvPr id="23"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69 / 71</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txBody>
          <a:bodyPr/>
          <a:p/>
        </p:txBody>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Where to go from here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Checked 2026-10-22; every entry is a live link in this file</a:t>
            </a:r>
            <a:endParaRPr lang="en-US" sz="1300" dirty="0"/>
          </a:p>
        </p:txBody>
      </p:sp>
      <p:sp>
        <p:nvSpPr>
          <p:cNvPr id="6" name="Text 4"/>
          <p:cNvSpPr txBox="1"/>
          <p:nvPr/>
        </p:nvSpPr>
        <p:spPr>
          <a:xfrm>
            <a:off x="457200" y="137160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Read</a:t>
            </a:r>
            <a:endParaRPr lang="en-US" sz="1250" dirty="0"/>
          </a:p>
        </p:txBody>
      </p:sp>
      <p:sp>
        <p:nvSpPr>
          <p:cNvPr id="7" name="Shape 5"/>
          <p:cNvSpPr/>
          <p:nvPr/>
        </p:nvSpPr>
        <p:spPr>
          <a:xfrm>
            <a:off x="493776" y="1719072"/>
            <a:ext cx="82296" cy="82296"/>
          </a:xfrm>
          <a:prstGeom prst="ellipse">
            <a:avLst/>
          </a:prstGeom>
          <a:solidFill>
            <a:srgbClr val="D97A14"/>
          </a:solidFill>
          <a:ln w="12700">
            <a:solidFill>
              <a:srgbClr val="D97A14"/>
            </a:solidFill>
            <a:prstDash val="solid"/>
          </a:ln>
        </p:spPr>
        <p:txBody>
          <a:bodyPr/>
          <a:p/>
        </p:txBody>
      </p:sp>
      <p:sp>
        <p:nvSpPr>
          <p:cNvPr id="8" name="Text 6"/>
          <p:cNvSpPr txBox="1"/>
          <p:nvPr/>
        </p:nvSpPr>
        <p:spPr>
          <a:xfrm>
            <a:off x="658368" y="1645920"/>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Mastering Bitcoin, ch. 6: Transactions</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Chapter text as AsciiDoc source, plain text, free to read</a:t>
            </a:r>
            <a:endParaRPr lang="en-US" sz="1000" dirty="0"/>
          </a:p>
        </p:txBody>
      </p:sp>
      <p:sp>
        <p:nvSpPr>
          <p:cNvPr id="9" name="Shape 7"/>
          <p:cNvSpPr/>
          <p:nvPr/>
        </p:nvSpPr>
        <p:spPr>
          <a:xfrm>
            <a:off x="493776" y="2121408"/>
            <a:ext cx="82296" cy="82296"/>
          </a:xfrm>
          <a:prstGeom prst="ellipse">
            <a:avLst/>
          </a:prstGeom>
          <a:solidFill>
            <a:srgbClr val="D97A14"/>
          </a:solidFill>
          <a:ln w="12700">
            <a:solidFill>
              <a:srgbClr val="D97A14"/>
            </a:solidFill>
            <a:prstDash val="solid"/>
          </a:ln>
        </p:spPr>
        <p:txBody>
          <a:bodyPr/>
          <a:p/>
        </p:txBody>
      </p:sp>
      <p:sp>
        <p:nvSpPr>
          <p:cNvPr id="10" name="Text 8"/>
          <p:cNvSpPr txBox="1"/>
          <p:nvPr/>
        </p:nvSpPr>
        <p:spPr>
          <a:xfrm>
            <a:off x="658368" y="2048256"/>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Transaction Malleability and MtGox (paper)</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Decker and Wattenhofer's measurements, free to download</a:t>
            </a:r>
            <a:endParaRPr lang="en-US" sz="1000" dirty="0"/>
          </a:p>
        </p:txBody>
      </p:sp>
      <p:sp>
        <p:nvSpPr>
          <p:cNvPr id="11" name="Text 9"/>
          <p:cNvSpPr txBox="1"/>
          <p:nvPr/>
        </p:nvSpPr>
        <p:spPr>
          <a:xfrm>
            <a:off x="457200" y="2523744"/>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Standards</a:t>
            </a:r>
            <a:endParaRPr lang="en-US" sz="1250" dirty="0"/>
          </a:p>
        </p:txBody>
      </p:sp>
      <p:sp>
        <p:nvSpPr>
          <p:cNvPr id="12" name="Shape 10"/>
          <p:cNvSpPr/>
          <p:nvPr/>
        </p:nvSpPr>
        <p:spPr>
          <a:xfrm>
            <a:off x="493776" y="2871216"/>
            <a:ext cx="82296" cy="82296"/>
          </a:xfrm>
          <a:prstGeom prst="ellipse">
            <a:avLst/>
          </a:prstGeom>
          <a:solidFill>
            <a:srgbClr val="D97A14"/>
          </a:solidFill>
          <a:ln w="12700">
            <a:solidFill>
              <a:srgbClr val="D97A14"/>
            </a:solidFill>
            <a:prstDash val="solid"/>
          </a:ln>
        </p:spPr>
        <p:txBody>
          <a:bodyPr/>
          <a:p/>
        </p:txBody>
      </p:sp>
      <p:sp>
        <p:nvSpPr>
          <p:cNvPr id="13" name="Text 11"/>
          <p:cNvSpPr txBox="1"/>
          <p:nvPr/>
        </p:nvSpPr>
        <p:spPr>
          <a:xfrm>
            <a:off x="658368" y="2798064"/>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BIP 141: Segregated Witness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Weight, witness data and the new transaction format  bips.dev</a:t>
            </a:r>
            <a:endParaRPr lang="en-US" sz="1000" dirty="0"/>
          </a:p>
        </p:txBody>
      </p:sp>
      <p:sp>
        <p:nvSpPr>
          <p:cNvPr id="14" name="Shape 12"/>
          <p:cNvSpPr/>
          <p:nvPr/>
        </p:nvSpPr>
        <p:spPr>
          <a:xfrm>
            <a:off x="493776" y="3273552"/>
            <a:ext cx="82296" cy="82296"/>
          </a:xfrm>
          <a:prstGeom prst="ellipse">
            <a:avLst/>
          </a:prstGeom>
          <a:solidFill>
            <a:srgbClr val="D97A14"/>
          </a:solidFill>
          <a:ln w="12700">
            <a:solidFill>
              <a:srgbClr val="D97A14"/>
            </a:solidFill>
            <a:prstDash val="solid"/>
          </a:ln>
        </p:spPr>
        <p:txBody>
          <a:bodyPr/>
          <a:p/>
        </p:txBody>
      </p:sp>
      <p:sp>
        <p:nvSpPr>
          <p:cNvPr id="15" name="Text 13"/>
          <p:cNvSpPr txBox="1"/>
          <p:nvPr/>
        </p:nvSpPr>
        <p:spPr>
          <a:xfrm>
            <a:off x="658368" y="3200400"/>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BIP 68: Relative lock-time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Locking an input by sequence numbers  bips.dev</a:t>
            </a:r>
            <a:endParaRPr lang="en-US" sz="1000" dirty="0"/>
          </a:p>
        </p:txBody>
      </p:sp>
      <p:sp>
        <p:nvSpPr>
          <p:cNvPr id="16" name="Shape 14"/>
          <p:cNvSpPr/>
          <p:nvPr/>
        </p:nvSpPr>
        <p:spPr>
          <a:xfrm>
            <a:off x="493776" y="3675888"/>
            <a:ext cx="82296" cy="82296"/>
          </a:xfrm>
          <a:prstGeom prst="ellipse">
            <a:avLst/>
          </a:prstGeom>
          <a:solidFill>
            <a:srgbClr val="D97A14"/>
          </a:solidFill>
          <a:ln w="12700">
            <a:solidFill>
              <a:srgbClr val="D97A14"/>
            </a:solidFill>
            <a:prstDash val="solid"/>
          </a:ln>
        </p:spPr>
        <p:txBody>
          <a:bodyPr/>
          <a:p/>
        </p:txBody>
      </p:sp>
      <p:sp>
        <p:nvSpPr>
          <p:cNvPr id="17" name="Text 15"/>
          <p:cNvSpPr txBox="1"/>
          <p:nvPr/>
        </p:nvSpPr>
        <p:spPr>
          <a:xfrm>
            <a:off x="658368" y="3602736"/>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BIP 125: Opt-in Replace-by-Fee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How a transaction signals that it may be replaced  bips.dev</a:t>
            </a:r>
            <a:endParaRPr lang="en-US" sz="1000" dirty="0"/>
          </a:p>
        </p:txBody>
      </p:sp>
      <p:sp>
        <p:nvSpPr>
          <p:cNvPr id="18" name="Text 16"/>
          <p:cNvSpPr txBox="1"/>
          <p:nvPr/>
        </p:nvSpPr>
        <p:spPr>
          <a:xfrm>
            <a:off x="4732020" y="137160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Tools</a:t>
            </a:r>
            <a:endParaRPr lang="en-US" sz="1250" dirty="0"/>
          </a:p>
        </p:txBody>
      </p:sp>
      <p:sp>
        <p:nvSpPr>
          <p:cNvPr id="19" name="Shape 17"/>
          <p:cNvSpPr/>
          <p:nvPr/>
        </p:nvSpPr>
        <p:spPr>
          <a:xfrm>
            <a:off x="4768596" y="1719072"/>
            <a:ext cx="82296" cy="82296"/>
          </a:xfrm>
          <a:prstGeom prst="ellipse">
            <a:avLst/>
          </a:prstGeom>
          <a:solidFill>
            <a:srgbClr val="D97A14"/>
          </a:solidFill>
          <a:ln w="12700">
            <a:solidFill>
              <a:srgbClr val="D97A14"/>
            </a:solidFill>
            <a:prstDash val="solid"/>
          </a:ln>
        </p:spPr>
        <p:txBody>
          <a:bodyPr/>
          <a:p/>
        </p:txBody>
      </p:sp>
      <p:sp>
        <p:nvSpPr>
          <p:cNvPr id="20" name="Text 18"/>
          <p:cNvSpPr txBox="1"/>
          <p:nvPr/>
        </p:nvSpPr>
        <p:spPr>
          <a:xfrm>
            <a:off x="4933188" y="1645920"/>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Alice's transaction on mempool.space (tx)</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Block 775,072: the payment this chapter builds  mempool.space</a:t>
            </a:r>
            <a:endParaRPr lang="en-US" sz="1000" dirty="0"/>
          </a:p>
        </p:txBody>
      </p:sp>
      <p:sp>
        <p:nvSpPr>
          <p:cNvPr id="21" name="Shape 19"/>
          <p:cNvSpPr/>
          <p:nvPr/>
        </p:nvSpPr>
        <p:spPr>
          <a:xfrm>
            <a:off x="4768596" y="2121408"/>
            <a:ext cx="82296" cy="82296"/>
          </a:xfrm>
          <a:prstGeom prst="ellipse">
            <a:avLst/>
          </a:prstGeom>
          <a:solidFill>
            <a:srgbClr val="D97A14"/>
          </a:solidFill>
          <a:ln w="12700">
            <a:solidFill>
              <a:srgbClr val="D97A14"/>
            </a:solidFill>
            <a:prstDash val="solid"/>
          </a:ln>
        </p:spPr>
        <p:txBody>
          <a:bodyPr/>
          <a:p/>
        </p:txBody>
      </p:sp>
      <p:sp>
        <p:nvSpPr>
          <p:cNvPr id="22" name="Text 20"/>
          <p:cNvSpPr txBox="1"/>
          <p:nvPr/>
        </p:nvSpPr>
        <p:spPr>
          <a:xfrm>
            <a:off x="4933188" y="2048256"/>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Bitcoin Wiki: Transaction (guide)</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Fields of a transaction, explained on the wiki  en.bitcoin.it</a:t>
            </a:r>
            <a:endParaRPr lang="en-US" sz="1000" dirty="0"/>
          </a:p>
        </p:txBody>
      </p:sp>
      <p:sp>
        <p:nvSpPr>
          <p:cNvPr id="23" name="Text 21"/>
          <p:cNvSpPr txBox="1"/>
          <p:nvPr/>
        </p:nvSpPr>
        <p:spPr>
          <a:xfrm>
            <a:off x="4732020" y="2523744"/>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Community</a:t>
            </a:r>
            <a:endParaRPr lang="en-US" sz="1250" dirty="0"/>
          </a:p>
        </p:txBody>
      </p:sp>
      <p:sp>
        <p:nvSpPr>
          <p:cNvPr id="24" name="Shape 22"/>
          <p:cNvSpPr/>
          <p:nvPr/>
        </p:nvSpPr>
        <p:spPr>
          <a:xfrm>
            <a:off x="4768596" y="2871216"/>
            <a:ext cx="82296" cy="82296"/>
          </a:xfrm>
          <a:prstGeom prst="ellipse">
            <a:avLst/>
          </a:prstGeom>
          <a:solidFill>
            <a:srgbClr val="D97A14"/>
          </a:solidFill>
          <a:ln w="12700">
            <a:solidFill>
              <a:srgbClr val="D97A14"/>
            </a:solidFill>
            <a:prstDash val="solid"/>
          </a:ln>
        </p:spPr>
        <p:txBody>
          <a:bodyPr/>
          <a:p/>
        </p:txBody>
      </p:sp>
      <p:sp>
        <p:nvSpPr>
          <p:cNvPr id="25" name="Text 23"/>
          <p:cNvSpPr txBox="1"/>
          <p:nvPr/>
        </p:nvSpPr>
        <p:spPr>
          <a:xfrm>
            <a:off x="4933188" y="2798064"/>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Pizza for bitcoins? (bitcointalk thread)</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Laszlo Hanyecz's offer of 10,000 bitcoins, May 2010</a:t>
            </a:r>
            <a:endParaRPr lang="en-US" sz="1000" dirty="0"/>
          </a:p>
        </p:txBody>
      </p:sp>
      <p:sp>
        <p:nvSpPr>
          <p:cNvPr id="26" name="Shape 24"/>
          <p:cNvSpPr/>
          <p:nvPr/>
        </p:nvSpPr>
        <p:spPr>
          <a:xfrm>
            <a:off x="4768596" y="3273552"/>
            <a:ext cx="82296" cy="82296"/>
          </a:xfrm>
          <a:prstGeom prst="ellipse">
            <a:avLst/>
          </a:prstGeom>
          <a:solidFill>
            <a:srgbClr val="D97A14"/>
          </a:solidFill>
          <a:ln w="12700">
            <a:solidFill>
              <a:srgbClr val="D97A14"/>
            </a:solidFill>
            <a:prstDash val="solid"/>
          </a:ln>
        </p:spPr>
        <p:txBody>
          <a:bodyPr/>
          <a:p/>
        </p:txBody>
      </p:sp>
      <p:sp>
        <p:nvSpPr>
          <p:cNvPr id="27" name="Text 25"/>
          <p:cNvSpPr txBox="1"/>
          <p:nvPr/>
        </p:nvSpPr>
        <p:spPr>
          <a:xfrm>
            <a:off x="4933188" y="3200400"/>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Strange block 74638 (bitcointalk thread)</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The forum thread where the overflow was found live</a:t>
            </a:r>
            <a:endParaRPr lang="en-US" sz="1000" dirty="0"/>
          </a:p>
        </p:txBody>
      </p:sp>
      <p:sp>
        <p:nvSpPr>
          <p:cNvPr id="28" name="Text 26"/>
          <p:cNvSpPr txBox="1"/>
          <p:nvPr/>
        </p:nvSpPr>
        <p:spPr>
          <a:xfrm>
            <a:off x="4732020" y="3675888"/>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Watch</a:t>
            </a:r>
            <a:endParaRPr lang="en-US" sz="1250" dirty="0"/>
          </a:p>
        </p:txBody>
      </p:sp>
      <p:sp>
        <p:nvSpPr>
          <p:cNvPr id="29" name="Shape 27"/>
          <p:cNvSpPr/>
          <p:nvPr/>
        </p:nvSpPr>
        <p:spPr>
          <a:xfrm>
            <a:off x="4768596" y="4023360"/>
            <a:ext cx="82296" cy="82296"/>
          </a:xfrm>
          <a:prstGeom prst="ellipse">
            <a:avLst/>
          </a:prstGeom>
          <a:solidFill>
            <a:srgbClr val="D97A14"/>
          </a:solidFill>
          <a:ln w="12700">
            <a:solidFill>
              <a:srgbClr val="D97A14"/>
            </a:solidFill>
            <a:prstDash val="solid"/>
          </a:ln>
        </p:spPr>
        <p:txBody>
          <a:bodyPr/>
          <a:p/>
        </p:txBody>
      </p:sp>
      <p:sp>
        <p:nvSpPr>
          <p:cNvPr id="30" name="Text 28"/>
          <p:cNvSpPr txBox="1"/>
          <p:nvPr/>
        </p:nvSpPr>
        <p:spPr>
          <a:xfrm>
            <a:off x="4933188" y="3950208"/>
            <a:ext cx="3753612" cy="38404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Bitcoin transaction (tutorial video)</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Mobilefish.com walks through inputs, outputs and signatures</a:t>
            </a:r>
            <a:endParaRPr lang="en-US" sz="1000" dirty="0"/>
          </a:p>
        </p:txBody>
      </p:sp>
      <p:sp>
        <p:nvSpPr>
          <p:cNvPr id="31" name="Shape 29"/>
          <p:cNvSpPr/>
          <p:nvPr/>
        </p:nvSpPr>
        <p:spPr>
          <a:xfrm>
            <a:off x="457200" y="4636008"/>
            <a:ext cx="91440" cy="310896"/>
          </a:xfrm>
          <a:prstGeom prst="rect">
            <a:avLst/>
          </a:prstGeom>
          <a:solidFill>
            <a:srgbClr val="D97A14"/>
          </a:solidFill>
          <a:ln w="12700">
            <a:solidFill>
              <a:srgbClr val="D97A14"/>
            </a:solidFill>
            <a:prstDash val="solid"/>
          </a:ln>
        </p:spPr>
        <p:txBody>
          <a:bodyPr/>
          <a:p/>
        </p:txBody>
      </p:sp>
      <p:sp>
        <p:nvSpPr>
          <p:cNvPr id="32" name="Text 3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Parse any transaction yourself and match the explorer's identifier and weight</a:t>
            </a:r>
            <a:endParaRPr lang="en-US" sz="1350" dirty="0"/>
          </a:p>
        </p:txBody>
      </p:sp>
      <p:sp>
        <p:nvSpPr>
          <p:cNvPr id="33" name="Text 3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70 / 71</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txBody>
          <a:bodyPr/>
          <a:p/>
        </p:txBody>
      </p:sp>
      <p:sp>
        <p:nvSpPr>
          <p:cNvPr id="3" name="Text 1"/>
          <p:cNvSpPr txBox="1"/>
          <p:nvPr/>
        </p:nvSpPr>
        <p:spPr>
          <a:xfrm>
            <a:off x="548640" y="1325880"/>
            <a:ext cx="8046720" cy="868680"/>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What you should now be able to say</a:t>
            </a:r>
            <a:endParaRPr lang="en-US" sz="2800" dirty="0"/>
          </a:p>
        </p:txBody>
      </p:sp>
      <p:sp>
        <p:nvSpPr>
          <p:cNvPr id="4" name="Text 2"/>
          <p:cNvSpPr txBox="1"/>
          <p:nvPr/>
        </p:nvSpPr>
        <p:spPr>
          <a:xfrm>
            <a:off x="548640" y="2194560"/>
            <a:ext cx="8046720" cy="548640"/>
          </a:xfrm>
          <a:prstGeom prst="rect">
            <a:avLst/>
          </a:prstGeom>
          <a:noFill/>
          <a:ln/>
        </p:spPr>
        <p:txBody>
          <a:bodyPr wrap="square" lIns="0" tIns="0" rIns="0" bIns="0" rtlCol="0" anchor="t"/>
          <a:lstStyle/>
          <a:p>
            <a:pPr indent="0" marL="0">
              <a:buNone/>
            </a:pPr>
            <a:r>
              <a:rPr lang="en-US" sz="1600" dirty="0">
                <a:solidFill>
                  <a:srgbClr val="2F6D62"/>
                </a:solidFill>
                <a:latin typeface="Calibri" pitchFamily="34" charset="0"/>
                <a:ea typeface="Calibri" pitchFamily="34" charset="-122"/>
                <a:cs typeface="Calibri" pitchFamily="34" charset="-120"/>
              </a:rPr>
              <a:t>And where each claim gets its proof</a:t>
            </a:r>
            <a:endParaRPr lang="en-US" sz="1600" dirty="0"/>
          </a:p>
        </p:txBody>
      </p:sp>
      <p:sp>
        <p:nvSpPr>
          <p:cNvPr id="5" name="Text 3"/>
          <p:cNvSpPr txBox="1"/>
          <p:nvPr/>
        </p:nvSpPr>
        <p:spPr>
          <a:xfrm>
            <a:off x="548640" y="2788920"/>
            <a:ext cx="8046720" cy="15087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What a transaction asks of full nodes</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What sequence and lock time permit</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Why identifiers were malleable, and the fix</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How 569 is computed; who creates bitcoin</a:t>
            </a:r>
            <a:endParaRPr lang="en-US" sz="1600" dirty="0"/>
          </a:p>
        </p:txBody>
      </p:sp>
      <p:sp>
        <p:nvSpPr>
          <p:cNvPr id="6" name="Text 4"/>
          <p:cNvSpPr txBox="1"/>
          <p:nvPr/>
        </p:nvSpPr>
        <p:spPr>
          <a:xfrm>
            <a:off x="548640" y="4407408"/>
            <a:ext cx="7132320" cy="457200"/>
          </a:xfrm>
          <a:prstGeom prst="rect">
            <a:avLst/>
          </a:prstGeom>
          <a:noFill/>
          <a:ln/>
        </p:spPr>
        <p:txBody>
          <a:bodyPr wrap="square" lIns="0" tIns="0" rIns="0" bIns="0" rtlCol="0" anchor="ctr"/>
          <a:lstStyle/>
          <a:p>
            <a:pPr indent="0" marL="0">
              <a:buNone/>
            </a:pPr>
            <a:r>
              <a:rPr lang="en-US" sz="2000" i="1" dirty="0">
                <a:solidFill>
                  <a:srgbClr val="6E655C"/>
                </a:solidFill>
                <a:latin typeface="Cambria" pitchFamily="34" charset="0"/>
                <a:ea typeface="Cambria" pitchFamily="34" charset="-122"/>
                <a:cs typeface="Cambria" pitchFamily="34" charset="-120"/>
              </a:rPr>
              <a:t>Questions?</a:t>
            </a:r>
            <a:endParaRPr lang="en-US" sz="2000" dirty="0"/>
          </a:p>
        </p:txBody>
      </p:sp>
      <p:sp>
        <p:nvSpPr>
          <p:cNvPr id="7" name="Text 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71 / 71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SEN0401 Chapter 6</dc:title>
  <dc:subject>PptxGenJS Presentation</dc:subject>
  <dc:creator>Yusuf Altunel</dc:creator>
  <cp:lastModifiedBy>Yusuf Altunel</cp:lastModifiedBy>
  <cp:revision>1</cp:revision>
  <dcterms:created xsi:type="dcterms:W3CDTF">2026-10-22T19:01:59Z</dcterms:created>
  <dcterms:modified xsi:type="dcterms:W3CDTF">2026-10-28T14:10:00Z</dcterms:modified>
  <cp:version>2.3.0</cp:version>
</cp:coreProperties>
</file>