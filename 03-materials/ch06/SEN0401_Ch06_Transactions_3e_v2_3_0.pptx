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media/image-10-1.jpg" ContentType="image/jpg"/>
  <Override PartName="/ppt/media/image-22-1.jpg" ContentType="image/jpg"/>
  <Override PartName="/ppt/media/image-35-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version</c:v>
                  </c:pt>
                  <c:pt idx="1">
                    <c:v>marker</c:v>
                  </c:pt>
                  <c:pt idx="2">
                    <c:v>flag</c:v>
                  </c:pt>
                  <c:pt idx="3">
                    <c:v>input</c:v>
                  </c:pt>
                  <c:pt idx="4">
                    <c:v>output</c:v>
                  </c:pt>
                  <c:pt idx="5">
                    <c:v>witness</c:v>
                  </c:pt>
                  <c:pt idx="6">
                    <c:v>lock</c:v>
                  </c:pt>
                </c:lvl>
              </c:multiLvlStrCache>
            </c:multiLvlStrRef>
          </c:cat>
          <c:val>
            <c:numRef>
              <c:f>Sheet1!$B$2:$B$8</c:f>
              <c:numCache>
                <c:formatCode>General</c:formatCode>
                <c:ptCount val="7"/>
                <c:pt idx="0">
                  <c:v>4</c:v>
                </c:pt>
                <c:pt idx="1">
                  <c:v>1</c:v>
                </c:pt>
                <c:pt idx="2">
                  <c:v>1</c:v>
                </c:pt>
                <c:pt idx="3">
                  <c:v>42</c:v>
                </c:pt>
                <c:pt idx="4">
                  <c:v>75</c:v>
                </c:pt>
                <c:pt idx="5">
                  <c:v>67</c:v>
                </c:pt>
                <c:pt idx="6">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252</c:v>
                  </c:pt>
                  <c:pt idx="2">
                    <c:v>253</c:v>
                  </c:pt>
                  <c:pt idx="3">
                    <c:v>65535</c:v>
                  </c:pt>
                  <c:pt idx="4">
                    <c:v>65536</c:v>
                  </c:pt>
                  <c:pt idx="5">
                    <c:v>2**32</c:v>
                  </c:pt>
                </c:lvl>
              </c:multiLvlStrCache>
            </c:multiLvlStrRef>
          </c:cat>
          <c:val>
            <c:numRef>
              <c:f>Sheet1!$B$2:$B$7</c:f>
              <c:numCache>
                <c:formatCode>General</c:formatCode>
                <c:ptCount val="6"/>
                <c:pt idx="0">
                  <c:v>1</c:v>
                </c:pt>
                <c:pt idx="1">
                  <c:v>1</c:v>
                </c:pt>
                <c:pt idx="2">
                  <c:v>3</c:v>
                </c:pt>
                <c:pt idx="3">
                  <c:v>3</c:v>
                </c:pt>
                <c:pt idx="4">
                  <c:v>5</c:v>
                </c:pt>
                <c:pt idx="5">
                  <c:v>9</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output 0</c:v>
                  </c:pt>
                  <c:pt idx="1">
                    <c:v>output 1</c:v>
                  </c:pt>
                  <c:pt idx="2">
                    <c:v>fee</c:v>
                  </c:pt>
                </c:lvl>
              </c:multiLvlStrCache>
            </c:multiLvlStrRef>
          </c:cat>
          <c:val>
            <c:numRef>
              <c:f>Sheet1!$B$2:$B$4</c:f>
              <c:numCache>
                <c:formatCode>General</c:formatCode>
                <c:ptCount val="3"/>
                <c:pt idx="0">
                  <c:v>20000</c:v>
                </c:pt>
                <c:pt idx="1">
                  <c:v>75000</c:v>
                </c:pt>
                <c:pt idx="2">
                  <c:v>5000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c:v>
                  </c:pt>
                  <c:pt idx="1">
                    <c:v>P2WPKH</c:v>
                  </c:pt>
                  <c:pt idx="2">
                    <c:v>P2TR</c:v>
                  </c:pt>
                  <c:pt idx="3">
                    <c:v>RET</c:v>
                  </c:pt>
                </c:lvl>
              </c:multiLvlStrCache>
            </c:multiLvlStrRef>
          </c:cat>
          <c:val>
            <c:numRef>
              <c:f>Sheet1!$B$2:$B$5</c:f>
              <c:numCache>
                <c:formatCode>General</c:formatCode>
                <c:ptCount val="4"/>
                <c:pt idx="0">
                  <c:v>546</c:v>
                </c:pt>
                <c:pt idx="1">
                  <c:v>294</c:v>
                </c:pt>
                <c:pt idx="2">
                  <c:v>330</c:v>
                </c:pt>
                <c:pt idx="3">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 after the first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cat>
            <c:multiLvlStrRef>
              <c:f>Sheet1!$A$2:$A$12</c:f>
              <c:multiLvlStrCache>
                <c:ptCount val="11"/>
                <c:lvl>
                  <c:pt idx="0">
                    <c:v>b1</c:v>
                  </c:pt>
                  <c:pt idx="1">
                    <c:v>b2</c:v>
                  </c:pt>
                  <c:pt idx="2">
                    <c:v>b3</c:v>
                  </c:pt>
                  <c:pt idx="3">
                    <c:v>b4</c:v>
                  </c:pt>
                  <c:pt idx="4">
                    <c:v>b5</c:v>
                  </c:pt>
                  <c:pt idx="5">
                    <c:v>b6</c:v>
                  </c:pt>
                  <c:pt idx="6">
                    <c:v>b7</c:v>
                  </c:pt>
                  <c:pt idx="7">
                    <c:v>b8</c:v>
                  </c:pt>
                  <c:pt idx="8">
                    <c:v>b9</c:v>
                  </c:pt>
                  <c:pt idx="9">
                    <c:v>b10</c:v>
                  </c:pt>
                  <c:pt idx="10">
                    <c:v>b11</c:v>
                  </c:pt>
                </c:lvl>
              </c:multiLvlStrCache>
            </c:multiLvlStrRef>
          </c:cat>
          <c:val>
            <c:numRef>
              <c:f>Sheet1!$B$2:$B$12</c:f>
              <c:numCache>
                <c:formatCode>General</c:formatCode>
                <c:ptCount val="11"/>
                <c:pt idx="0">
                  <c:v>1500</c:v>
                </c:pt>
                <c:pt idx="1">
                  <c:v>2100</c:v>
                </c:pt>
                <c:pt idx="2">
                  <c:v>500</c:v>
                </c:pt>
                <c:pt idx="3">
                  <c:v>2700</c:v>
                </c:pt>
                <c:pt idx="4">
                  <c:v>2400</c:v>
                </c:pt>
                <c:pt idx="5">
                  <c:v>0</c:v>
                </c:pt>
                <c:pt idx="6">
                  <c:v>2600</c:v>
                </c:pt>
                <c:pt idx="7">
                  <c:v>1800</c:v>
                </c:pt>
                <c:pt idx="8">
                  <c:v>1200</c:v>
                </c:pt>
                <c:pt idx="9">
                  <c:v>2300</c:v>
                </c:pt>
                <c:pt idx="10">
                  <c:v>2500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bitcoin per block</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weight units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version</c:v>
                  </c:pt>
                  <c:pt idx="1">
                    <c:v>marker</c:v>
                  </c:pt>
                  <c:pt idx="2">
                    <c:v>flag</c:v>
                  </c:pt>
                  <c:pt idx="3">
                    <c:v>input</c:v>
                  </c:pt>
                  <c:pt idx="4">
                    <c:v>output</c:v>
                  </c:pt>
                  <c:pt idx="5">
                    <c:v>witness</c:v>
                  </c:pt>
                  <c:pt idx="6">
                    <c:v>lock</c:v>
                  </c:pt>
                </c:lvl>
              </c:multiLvlStrCache>
            </c:multiLvlStrRef>
          </c:cat>
          <c:val>
            <c:numRef>
              <c:f>Sheet1!$B$2:$B$8</c:f>
              <c:numCache>
                <c:formatCode>General</c:formatCode>
                <c:ptCount val="7"/>
                <c:pt idx="0">
                  <c:v>16</c:v>
                </c:pt>
                <c:pt idx="1">
                  <c:v>1</c:v>
                </c:pt>
                <c:pt idx="2">
                  <c:v>1</c:v>
                </c:pt>
                <c:pt idx="3">
                  <c:v>168</c:v>
                </c:pt>
                <c:pt idx="4">
                  <c:v>300</c:v>
                </c:pt>
                <c:pt idx="5">
                  <c:v>67</c:v>
                </c:pt>
                <c:pt idx="6">
                  <c:v>16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 byte by byte. Every number was computed from those bytes with the chapter's own Python library, and no Bitcoin Core node was available where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eight parts that follow the order of the bytes of a transaction. Four true stories and eighteen code examples are spread across them. The examples are listed in the same order in the chapter code tab of the course page, so every slide can be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eight branches and 107 concepts. Each branch gets a divider, concept cards with everyday comparisons, code that runs, and some branches a true story. The deck follows the order in which the bytes of a transaction are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opens one real transaction. We read Alice's payment byte by byte and compare its two serializations. A story about the first transaction ever closes the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The ownership record of a full node, The parts of a transaction and Serialized transaction.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parses Alice's transaction from the book into named fields and adds up their lengths. The seven groups add back to the 194 bytes of the serialized transaction, so no byte is unexplained.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Extended serialization format, Legacy serialization, Partially signed bitcoin transaction and Byte map.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payment is written twice. The legacy form leaves out marker, flag and witness, and its hash is the txid that explorers show. The extended form has its own hash, the wtxid.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lesson is that the format you are reading is the one from block 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bytes of a transaction are not data about money. They tell a node which rules apply and whether a witness follows, so every later field is read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Version 1, Version 2 and BIP68 and The version 3 proposal.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bytes decide how everything after them is read. The version says which rules apply, and the zero marker with the one flag announces a witness. A legacy parser would read the zero as an empty input list.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Presigned transactions, Marker byte and Flag byte.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name the coins a transaction spends, and they state no amount. We meet the compact count, the outpoint and its two byte orders, and the database of unspent coins.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Input count, CompactSize unsigned integer, Other variable-length integers and Outpoint.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in a transaction use a variable-length integer. Up to 252 it is one byte; beyond that a first byte of fd, fe or ff says that two, four or eight more bytes follow.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previous transaction's identifier, Output index, The rule against double spending and Conflicting transactions.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input points at a coin by the txid of an earlier transaction and an output number. The bytes are stored in one order and printed in the reverse order, which is a classic source of mistakes.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UTXO database, Digest, Internal byte order and Display byte order.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node keeps a database of unspent outputs. Applying a transaction removes the coins its inputs name and adds the coins its outputs create. The difference in value is the fee.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lesson is that an input count of 131 is what one-output payments can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Input script and Script length prefix.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four-byte field has carried three meanings in fifteen years. We decode it against two proposals, BIP125 and BIP68, and see why bit 31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Sequence number, Setup and refund transactions, Payment channel and The replacement bandwidth attack.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bytes signal finality, opt-in replacement under BIP125 and a relative timelock under BIP68. Setting bit 31 switches the timelock off, which is why the third value shows none.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Opt-in replace-by-fee, The BIP125 signal, BIP68 relative timelock and The type flag.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demand an hour, the type flag is set and the value counts units of 512 seconds, so an hour rounds up to 4,096 seconds. Counted in blocks, thirty blocks after a coin confirms is the earliest spend.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disable flag and The 16-bit mask.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hold the amounts and the locks. The part ends with a block that created 184 billion bitcoins and with the policy that keeps tiny outputs out of everyone's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Output count, Amount, Satoshi and The consensus range of an amount.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state amounts in satoshis. The input states none, so the spent coin's value comes from the record of that coin. What the outputs do not take is the fee that the miner collects.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Uneconomical output, Dust limit, Data-carrier output and Output script.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August 2010 a block carried two outputs of about 92 billion bitcoins each. Their sum wrapped around to a negative number, which passed the check on the total. Checking every output closes the hole.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The lesson is that a signed amount needs a range check; the chain learned it the hard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 size limits, Anyone-can-spend scripts and Standard transaction outputs.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output is dust when it costs more to spend than it is worth, at the relay fee. Segwit outputs are cheaper to spend, so their limit is lower. A data-carrier output can never be spent and is exempt.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is the proof that a spender may spend. We see how proofs inside the input script made identifiers malleable, and how segregated witness repaired that as a soft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Witness, Public key and signature as witness, Contract protocols and Circular dependency.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number can be pushed on the script stack in four ways. Each way is a different byte string, so the same payment gets four different legacy identifiers. This was the malleability that software could not ignore.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Third-party transaction malleability, Alternative push encodings, Second-party transaction malleability and Wanted malleability.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segregated witness the signature lives outside the txid. Replacing it leaves the txid unchanged, so chains of unconfirmed payments stay valid. The wtxid still covers the witness and changes.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Segregated witness, Hard fork, Soft fork and Witness program.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Witness structure, Witness stack, Witness item and A legacy input's witness.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a soft fork. Old nodes saw the new outputs as anyone-can-spend scripts and accepted the blocks, while upgraded nodes enforced the witness rules. That is why it could be activated without 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special cases of a transaction: one that may not be mined before a time, and one that creates new coins. The clock and the money supply both follow from simple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lock time field, Lock time as a block height, Lock time as an epoch time and Median time past.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timestamps are not monotonic, so a time lock is compared with the median of the last eleven. Values below 500 million are heights; larger ones are times. The median lags the highest timestamp.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Coinbase transaction, The null outpoint, The coinbase field and Block subsidy.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starts at 50 bitcoin and is halved every 210,000 blocks by a right shift. It reaches zero after block 6,929,999, and the total ever issued stays just below 21 million.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reward and Maturity rule.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coinbase has one input that points at nothing. Its coins are locked for 100 blocks, so that a reorganisation cannot invalidate coins that were already spent. Block 9's coins were spendable by block 170.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closes with what a block is filled by, and with the hashes and rule sets that every figure of the chapter rests on. We recompute the weight 569 from the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Weight, Vbytes, The block weight limit and Weight factors.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field weighs its bytes times four, except the marker, the flag and the witness, which weigh one. The sum is the 569 the book quotes, and dividing by four gives 143 virtual bytes.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Hash function, Double SHA-256, Transaction identifier and Witness transaction identifier.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txid is not a field. It is the double SHA-256 of the legacy serialization, shown in reverse byte order. We recompute it from the bytes and it matches the library and the explorer.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Relay policy and Consensus rule.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there. The chapter code tab of the course page lets you rerun all eighteen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take any confirmed transaction from the explorer and run the chapter code on its hexadecimal. The course page for chapter 6 carries the full resource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6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hyperlink" Target="https://en.bitcoin.it/wiki/Value_overflow_incident" TargetMode="External"/><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hyperlink" Target="https://arxiv.org/abs/1403.6676" TargetMode="Externa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bips.dev/141/" TargetMode="External"/><Relationship Id="rId4" Type="http://schemas.openxmlformats.org/officeDocument/2006/relationships/hyperlink" Target="https://bips.dev/68/" TargetMode="External"/><Relationship Id="rId5" Type="http://schemas.openxmlformats.org/officeDocument/2006/relationships/hyperlink" Target="https://bips.dev/125/"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en.bitcoin.it/wiki/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hyperlink" Target="https://www.youtube.com/embed/PrcJD4rznyA" TargetMode="External"/><Relationship Id="rId11" Type="http://schemas.openxmlformats.org/officeDocument/2006/relationships/slideLayout" Target="../slideLayouts/slideLayout1.xml"/><Relationship Id="rId1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with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6309360" y="320040"/>
            <a:ext cx="2377440" cy="160020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Figure: a byte map of a transaction, Antonopoulos and Harding, Mastering Bitcoin 3e, CC BY-SA 4.0. Python 3.14.6, no Bitcoin Core node.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1. Questions and the chapter map</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5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2. What a transaction is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5-10)</a:t>
            </a:r>
            <a:endParaRPr lang="en-US" sz="115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3. Version, marker and flag</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11-14)</a:t>
            </a:r>
            <a:endParaRPr lang="en-US" sz="115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4. Inputs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15-23)</a:t>
            </a:r>
            <a:endParaRPr lang="en-US" sz="115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5. The sequence field</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24-29)</a:t>
            </a:r>
            <a:endParaRPr lang="en-US" sz="115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6. Outputs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30-37)</a:t>
            </a:r>
            <a:endParaRPr lang="en-US" sz="115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7. Witnesses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38-46)</a:t>
            </a:r>
            <a:endParaRPr lang="en-US" sz="1150" dirty="0"/>
          </a:p>
        </p:txBody>
      </p:sp>
      <p:sp>
        <p:nvSpPr>
          <p:cNvPr id="20" name="Shape 18"/>
          <p:cNvSpPr/>
          <p:nvPr/>
        </p:nvSpPr>
        <p:spPr>
          <a:xfrm>
            <a:off x="2426208" y="3499104"/>
            <a:ext cx="1822704"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2517648"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8. Lock time and the coinbase</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47-53)</a:t>
            </a:r>
            <a:endParaRPr lang="en-US" sz="1150" dirty="0"/>
          </a:p>
        </p:txBody>
      </p:sp>
      <p:sp>
        <p:nvSpPr>
          <p:cNvPr id="22" name="Shape 20"/>
          <p:cNvSpPr/>
          <p:nvPr/>
        </p:nvSpPr>
        <p:spPr>
          <a:xfrm>
            <a:off x="4395216" y="3499104"/>
            <a:ext cx="1822704"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4486656"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9. Weight and foundations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54-62)</a:t>
            </a:r>
            <a:endParaRPr lang="en-US" sz="1150" dirty="0"/>
          </a:p>
        </p:txBody>
      </p:sp>
      <p:sp>
        <p:nvSpPr>
          <p:cNvPr id="24" name="Shape 22"/>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5" name="Text 23"/>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62</a:t>
            </a:r>
            <a:endParaRPr lang="en-US" sz="2600" dirty="0"/>
          </a:p>
        </p:txBody>
      </p:sp>
      <p:sp>
        <p:nvSpPr>
          <p:cNvPr id="26" name="Text 24"/>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8" name="Text 26"/>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30" name="Shape 28"/>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31" name="Text 29"/>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32" name="Text 30"/>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parts, one real transaction, and a summary you can check</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 marker and flag tell a node?</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witnesses in the input script make the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569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creates new bitcoins, and when can they be spent?</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0" name="Shape 8"/>
          <p:cNvSpPr/>
          <p:nvPr/>
        </p:nvSpPr>
        <p:spPr>
          <a:xfrm>
            <a:off x="4645152" y="1280160"/>
            <a:ext cx="1947672" cy="1490472"/>
          </a:xfrm>
          <a:prstGeom prst="roundRect">
            <a:avLst>
              <a:gd name="adj" fmla="val 4908"/>
            </a:avLst>
          </a:prstGeom>
          <a:solidFill>
            <a:srgbClr val="D97A14"/>
          </a:solidFill>
          <a:ln w="12700">
            <a:solidFill>
              <a:srgbClr val="D97A14"/>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4" name="Shape 12"/>
          <p:cNvSpPr/>
          <p:nvPr/>
        </p:nvSpPr>
        <p:spPr>
          <a:xfrm>
            <a:off x="457200" y="2898648"/>
            <a:ext cx="1947672"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8" name="Shape 16"/>
          <p:cNvSpPr/>
          <p:nvPr/>
        </p:nvSpPr>
        <p:spPr>
          <a:xfrm>
            <a:off x="4645152" y="2898648"/>
            <a:ext cx="1947672" cy="1490472"/>
          </a:xfrm>
          <a:prstGeom prst="roundRect">
            <a:avLst>
              <a:gd name="adj" fmla="val 4908"/>
            </a:avLst>
          </a:prstGeom>
          <a:solidFill>
            <a:srgbClr val="F2ECE1"/>
          </a:solidFill>
          <a:ln w="12700">
            <a:solidFill>
              <a:srgbClr val="DFD6C7"/>
            </a:solidFill>
            <a:prstDash val="solid"/>
          </a:ln>
        </p:spPr>
      </p:sp>
      <p:sp>
        <p:nvSpPr>
          <p:cNvPr id="19" name="Text 17"/>
          <p:cNvSpPr txBox="1"/>
          <p:nvPr/>
        </p:nvSpPr>
        <p:spPr>
          <a:xfrm>
            <a:off x="4736592"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0" name="Shape 18"/>
          <p:cNvSpPr/>
          <p:nvPr/>
        </p:nvSpPr>
        <p:spPr>
          <a:xfrm>
            <a:off x="6739128" y="2898648"/>
            <a:ext cx="1947672" cy="1490472"/>
          </a:xfrm>
          <a:prstGeom prst="roundRect">
            <a:avLst>
              <a:gd name="adj" fmla="val 4908"/>
            </a:avLst>
          </a:prstGeom>
          <a:solidFill>
            <a:srgbClr val="F2ECE1"/>
          </a:solidFill>
          <a:ln w="12700">
            <a:solidFill>
              <a:srgbClr val="DFD6C7"/>
            </a:solidFill>
            <a:prstDash val="solid"/>
          </a:ln>
        </p:spPr>
      </p:sp>
      <p:sp>
        <p:nvSpPr>
          <p:cNvPr id="21" name="Text 19"/>
          <p:cNvSpPr txBox="1"/>
          <p:nvPr/>
        </p:nvSpPr>
        <p:spPr>
          <a:xfrm>
            <a:off x="6830568"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every slide today lives on this map</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a transaction is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transaction is a signed letter asking every ledger to update itself.</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Idea of a transaction</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What a transaction is and what each node does with 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signed letter that asks every ledger to change.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Serialization formats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ways a transaction is written out as bytes.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packing a letter flat for the post.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transaction is: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request to thousands of databases.</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signed letter asking every bank branch to update its ledger.</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ownership record of a full node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keeps the same register.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land register that every town keeps an identical copy of.</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parts of a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Five top-level fields, plus two for segwit.</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with boxes for payer, payee, amount and signature.</a:t>
            </a:r>
            <a:endParaRPr lang="en-US" sz="1150" dirty="0"/>
          </a:p>
        </p:txBody>
      </p:sp>
      <p:sp>
        <p:nvSpPr>
          <p:cNvPr id="18" name="Shape 16"/>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19" name="Shape 17"/>
          <p:cNvSpPr/>
          <p:nvPr/>
        </p:nvSpPr>
        <p:spPr>
          <a:xfrm>
            <a:off x="4663440" y="2710282"/>
            <a:ext cx="64008" cy="918058"/>
          </a:xfrm>
          <a:prstGeom prst="rect">
            <a:avLst/>
          </a:prstGeom>
          <a:solidFill>
            <a:srgbClr val="D97A14"/>
          </a:solidFill>
          <a:ln w="12700">
            <a:solidFill>
              <a:srgbClr val="D97A14"/>
            </a:solidFill>
            <a:prstDash val="solid"/>
          </a:ln>
        </p:spPr>
      </p:sp>
      <p:sp>
        <p:nvSpPr>
          <p:cNvPr id="20" name="Text 18"/>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Serialized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194 bytes Bitcoin Core returned.</a:t>
            </a:r>
            <a:endParaRPr lang="en-US" sz="1300" dirty="0"/>
          </a:p>
        </p:txBody>
      </p:sp>
      <p:sp>
        <p:nvSpPr>
          <p:cNvPr id="21" name="Text 19"/>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letter flattened into one long strip of tape.</a:t>
            </a:r>
            <a:endParaRPr lang="en-US" sz="1150" dirty="0"/>
          </a:p>
        </p:txBody>
      </p:sp>
      <p:sp>
        <p:nvSpPr>
          <p:cNvPr id="22" name="Text 20"/>
          <p:cNvSpPr txBox="1"/>
          <p:nvPr/>
        </p:nvSpPr>
        <p:spPr>
          <a:xfrm>
            <a:off x="4828032"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A Serialized Bitcoin Transaction</a:t>
            </a:r>
            <a:endParaRPr lang="en-US" sz="10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every one named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from its hexadecimal text</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per field group (all 194)</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Outputs and the witness take the most bytes; version and lock time take four each.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come in a fixed order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62</a:t>
            </a:r>
            <a:endParaRPr lang="en-US" sz="1100" dirty="0"/>
          </a:p>
        </p:txBody>
      </p:sp>
      <p:sp>
        <p:nvSpPr>
          <p:cNvPr id="28" name="code 1"/>
          <p:cNvSpPr/>
          <p:nvPr/>
        </p:nvSpPr>
        <p:spPr>
          <a:xfrm>
            <a:off x="365760" y="1216152"/>
            <a:ext cx="5166360" cy="119420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parse_tx</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p>
          <a:p>
            <a:pPr algn="l"/>
            <a:r>
              <a:rPr sz="1100" b="1" i="0">
                <a:solidFill>
                  <a:srgbClr val="F2A860"/>
                </a:solidFill>
                <a:latin typeface="Courier New"/>
                <a:ea typeface="Courier New"/>
                <a:cs typeface="Courier New"/>
              </a:rPr>
              <a:t>from</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collections</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import</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defaultdict</a:t>
            </a:r>
          </a:p>
          <a:p>
            <a:pPr algn="l"/>
            <a:r>
              <a:rPr sz="1100" b="0" i="0">
                <a:solidFill>
                  <a:srgbClr val="E6EDF3"/>
                </a:solidFill>
                <a:latin typeface="Courier New"/>
                <a:ea typeface="Courier New"/>
                <a:cs typeface="Courier New"/>
              </a:rPr>
              <a:t>g</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defaultdict</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int</a:t>
            </a:r>
            <a:r>
              <a:rPr sz="1100" b="0" i="0">
                <a:solidFill>
                  <a:srgbClr val="E6EDF3"/>
                </a:solidFill>
                <a:latin typeface="Courier New"/>
                <a:ea typeface="Courier New"/>
                <a:cs typeface="Courier New"/>
              </a:rPr>
              <a:t>)</a:t>
            </a:r>
          </a:p>
          <a:p>
            <a:pPr algn="l"/>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p</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'spans'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g</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split</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0</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n</a:t>
            </a:r>
          </a:p>
          <a:p>
            <a:pPr algn="l"/>
            <a:r>
              <a:rPr sz="1100" b="0" i="0">
                <a:solidFill>
                  <a:srgbClr val="E6EDF3"/>
                </a:solidFill>
                <a:latin typeface="Courier New"/>
                <a:ea typeface="Courier New"/>
                <a:cs typeface="Courier New"/>
              </a:rPr>
              <a:t>sum</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g</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values</a:t>
            </a:r>
            <a:r>
              <a:rPr sz="1100" b="0" i="0">
                <a:solidFill>
                  <a:srgbClr val="E6EDF3"/>
                </a:solidFill>
                <a:latin typeface="Courier New"/>
                <a:ea typeface="Courier New"/>
                <a:cs typeface="Courier New"/>
              </a:rPr>
              <a:t>())</a:t>
            </a:r>
          </a:p>
        </p:txBody>
      </p:sp>
      <p:sp>
        <p:nvSpPr>
          <p:cNvPr id="29" name="result 1"/>
          <p:cNvSpPr/>
          <p:nvPr/>
        </p:nvSpPr>
        <p:spPr>
          <a:xfrm>
            <a:off x="365760" y="2474366"/>
            <a:ext cx="5166360" cy="737920"/>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dict(g)</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{'version': 4, 'marker': 1, 'flag': 1, 'input': 42, 'output': 75, 'witness': 67, 'lock': 4}</a:t>
            </a:r>
          </a:p>
          <a:p>
            <a:pPr algn="l"/>
            <a:r>
              <a:rPr sz="1050" b="0" i="0">
                <a:solidFill>
                  <a:srgbClr val="6E655C"/>
                </a:solidFill>
                <a:latin typeface="Courier New"/>
                <a:ea typeface="Courier New"/>
                <a:cs typeface="Courier New"/>
              </a:rPr>
              <a:t>sum(g.values())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194</a:t>
            </a:r>
          </a:p>
        </p:txBody>
      </p:sp>
      <p:sp>
        <p:nvSpPr>
          <p:cNvPr id="30" name="explanation 1"/>
          <p:cNvSpPr txBox="1"/>
          <p:nvPr/>
        </p:nvSpPr>
        <p:spPr>
          <a:xfrm>
            <a:off x="365760" y="3276295"/>
            <a:ext cx="5166360" cy="1277416"/>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Lines 1-2  </a:t>
            </a:r>
            <a:r>
              <a:rPr sz="1200" b="0" i="0">
                <a:solidFill>
                  <a:srgbClr val="2B2622"/>
                </a:solidFill>
                <a:latin typeface="Calibri"/>
                <a:ea typeface="Calibri"/>
                <a:cs typeface="Calibri"/>
              </a:rPr>
              <a:t>The library names every field of the transaction and where it sits.</a:t>
            </a:r>
          </a:p>
          <a:p>
            <a:pPr algn="l">
              <a:spcAft>
                <a:spcPts val="300"/>
              </a:spcAft>
            </a:pPr>
            <a:r>
              <a:rPr sz="1200" b="1" i="0">
                <a:solidFill>
                  <a:srgbClr val="D97A14"/>
                </a:solidFill>
                <a:latin typeface="Calibri"/>
                <a:ea typeface="Calibri"/>
                <a:cs typeface="Calibri"/>
              </a:rPr>
              <a:t>Lines 3-5  </a:t>
            </a:r>
            <a:r>
              <a:rPr sz="1200" b="0" i="0">
                <a:solidFill>
                  <a:srgbClr val="2B2622"/>
                </a:solidFill>
                <a:latin typeface="Calibri"/>
                <a:ea typeface="Calibri"/>
                <a:cs typeface="Calibri"/>
              </a:rPr>
              <a:t>Walk the fields in byte order and add up their lengths, one total per group.</a:t>
            </a:r>
          </a:p>
          <a:p>
            <a:pPr algn="l">
              <a:spcAft>
                <a:spcPts val="300"/>
              </a:spcAft>
            </a:pPr>
            <a:r>
              <a:rPr sz="1200" b="1" i="0">
                <a:solidFill>
                  <a:srgbClr val="D97A14"/>
                </a:solidFill>
                <a:latin typeface="Calibri"/>
                <a:ea typeface="Calibri"/>
                <a:cs typeface="Calibri"/>
              </a:rPr>
              <a:t>Line 6  </a:t>
            </a:r>
            <a:r>
              <a:rPr sz="1200" b="0" i="0">
                <a:solidFill>
                  <a:srgbClr val="2B2622"/>
                </a:solidFill>
                <a:latin typeface="Calibri"/>
                <a:ea typeface="Calibri"/>
                <a:cs typeface="Calibri"/>
              </a:rPr>
              <a:t>The groups add back to the whole transaction: no byte is left over.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transaction is: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Extended serialization format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Marker 00, flag 01, witness at the end.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same letter with a signed slip tucked in at the end.</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Legacy serialization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 marker, no flag, no witness.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plain letter, before the extra slip was invented.</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Partially signed bitcoin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template passed between programs.</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passed round the office until every signer has signed.</a:t>
            </a:r>
            <a:endParaRPr lang="en-US" sz="1150" dirty="0"/>
          </a:p>
        </p:txBody>
      </p:sp>
      <p:sp>
        <p:nvSpPr>
          <p:cNvPr id="18" name="Text 16"/>
          <p:cNvSpPr txBox="1"/>
          <p:nvPr/>
        </p:nvSpPr>
        <p:spPr>
          <a:xfrm>
            <a:off x="640080"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PSBT</a:t>
            </a:r>
            <a:endParaRPr lang="en-US" sz="100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Byte map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field at its offset.</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floor plan showing which room each byte lives in.</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serializations, two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Extended with the witness, legacy without it</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two forms of one payment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77240"/>
                <a:gridCol w="502920"/>
                <a:gridCol w="16916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Form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Hash (16 hex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Extended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194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f7cdbc7cf8b910d3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Legacy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466200308696215b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87121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69 extra bytes are marker, flag and witness. The txid hashes the legacy form; the wtxid hashes the extended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txid hashes the legacy bytes only; the wtxid hashes everything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62</a:t>
            </a:r>
            <a:endParaRPr lang="en-US" sz="1100" dirty="0"/>
          </a:p>
        </p:txBody>
      </p:sp>
      <p:sp>
        <p:nvSpPr>
          <p:cNvPr id="28" name="code 2"/>
          <p:cNvSpPr/>
          <p:nvPr/>
        </p:nvSpPr>
        <p:spPr>
          <a:xfrm>
            <a:off x="365760" y="1216152"/>
            <a:ext cx="5166360" cy="101955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ext</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serialize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witness</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True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leg</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serialize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witness</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False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ids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wtxid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16</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16</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sizes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len</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ext</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len</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leg</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sizes</a:t>
            </a:r>
          </a:p>
        </p:txBody>
      </p:sp>
      <p:sp>
        <p:nvSpPr>
          <p:cNvPr id="29" name="result 2"/>
          <p:cNvSpPr/>
          <p:nvPr/>
        </p:nvSpPr>
        <p:spPr>
          <a:xfrm>
            <a:off x="365760" y="2299716"/>
            <a:ext cx="5166360" cy="571500"/>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sizes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[194, 125]</a:t>
            </a:r>
          </a:p>
          <a:p>
            <a:pPr algn="l"/>
            <a:r>
              <a:rPr sz="1050" b="0" i="0">
                <a:solidFill>
                  <a:srgbClr val="6E655C"/>
                </a:solidFill>
                <a:latin typeface="Courier New"/>
                <a:ea typeface="Courier New"/>
                <a:cs typeface="Courier New"/>
              </a:rPr>
              <a:t>ids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['f7cdbc7cf8b910d3', '466200308696215b']</a:t>
            </a:r>
          </a:p>
        </p:txBody>
      </p:sp>
      <p:sp>
        <p:nvSpPr>
          <p:cNvPr id="30" name="explanation 2"/>
          <p:cNvSpPr txBox="1"/>
          <p:nvPr/>
        </p:nvSpPr>
        <p:spPr>
          <a:xfrm>
            <a:off x="365760" y="2935224"/>
            <a:ext cx="5166360" cy="1618488"/>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Lines 1-2  </a:t>
            </a:r>
            <a:r>
              <a:rPr sz="1200" b="0" i="0">
                <a:solidFill>
                  <a:srgbClr val="2B2622"/>
                </a:solidFill>
                <a:latin typeface="Calibri"/>
                <a:ea typeface="Calibri"/>
                <a:cs typeface="Calibri"/>
              </a:rPr>
              <a:t>The same payment is written twice: once with the witness, once without.</a:t>
            </a:r>
          </a:p>
          <a:p>
            <a:pPr algn="l">
              <a:spcAft>
                <a:spcPts val="300"/>
              </a:spcAft>
            </a:pPr>
            <a:r>
              <a:rPr sz="1200" b="1" i="0">
                <a:solidFill>
                  <a:srgbClr val="D97A14"/>
                </a:solidFill>
                <a:latin typeface="Calibri"/>
                <a:ea typeface="Calibri"/>
                <a:cs typeface="Calibri"/>
              </a:rPr>
              <a:t>Line 3  </a:t>
            </a:r>
            <a:r>
              <a:rPr sz="1200" b="0" i="0">
                <a:solidFill>
                  <a:srgbClr val="2B2622"/>
                </a:solidFill>
                <a:latin typeface="Calibri"/>
                <a:ea typeface="Calibri"/>
                <a:cs typeface="Calibri"/>
              </a:rPr>
              <a:t>The legacy form is shorter, and each form has its own hash.</a:t>
            </a:r>
          </a:p>
          <a:p>
            <a:pPr algn="l">
              <a:spcAft>
                <a:spcPts val="300"/>
              </a:spcAft>
            </a:pPr>
            <a:r>
              <a:rPr sz="1200" b="1" i="0">
                <a:solidFill>
                  <a:srgbClr val="D97A14"/>
                </a:solidFill>
                <a:latin typeface="Calibri"/>
                <a:ea typeface="Calibri"/>
                <a:cs typeface="Calibri"/>
              </a:rPr>
              <a:t>Lines 4-5  </a:t>
            </a:r>
            <a:r>
              <a:rPr sz="1200" b="0" i="0">
                <a:solidFill>
                  <a:srgbClr val="2B2622"/>
                </a:solidFill>
                <a:latin typeface="Calibri"/>
                <a:ea typeface="Calibri"/>
                <a:cs typeface="Calibri"/>
              </a:rPr>
              <a:t>Sizes in bytes: the extended form carries marker, flag and witness.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transaction ever to spend an output</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 Nakamoto sent Hal Finney 10 bitcoins, the first transaction ever to spend an output.</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started the software the day before and wanted to test the network with a real payment.</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One input points at the coinbase of block 9; two outputs pay 10 BTC to Finney and 40 BTC back.</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Legacy format, no marker, no flag, no witness: every field this chapter reads was already there.</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(sender…</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block…</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Version, marker and flag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Version, marker and flag are the edition number and labels on the envelope.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version field</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Four bytes that say which rule edition applies.</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edition number printed on a form.</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Marker and flag</a:t>
            </a:r>
            <a:endParaRPr lang="en-US" sz="1200" dirty="0"/>
          </a:p>
        </p:txBody>
      </p:sp>
      <p:sp>
        <p:nvSpPr>
          <p:cNvPr id="12" name="Text 10"/>
          <p:cNvSpPr txBox="1"/>
          <p:nvPr/>
        </p:nvSpPr>
        <p:spPr>
          <a:xfrm>
            <a:off x="4800600" y="2487168"/>
            <a:ext cx="3840480" cy="21488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bytes that announce the witness format.</a:t>
            </a:r>
            <a:endParaRPr lang="en-US" sz="1150" dirty="0"/>
          </a:p>
        </p:txBody>
      </p:sp>
      <p:sp>
        <p:nvSpPr>
          <p:cNvPr id="13" name="Text 11"/>
          <p:cNvSpPr txBox="1"/>
          <p:nvPr/>
        </p:nvSpPr>
        <p:spPr>
          <a:xfrm>
            <a:off x="4800600" y="2729484"/>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fragile label on a parcel.</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Version, marker and flag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Version 1</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01000000 in the first four bytes.</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edition 1 of a form, still valid in every office.</a:t>
            </a:r>
            <a:endParaRPr lang="en-US" sz="1150" dirty="0"/>
          </a:p>
        </p:txBody>
      </p:sp>
      <p:sp>
        <p:nvSpPr>
          <p:cNvPr id="10" name="Shape 8"/>
          <p:cNvSpPr/>
          <p:nvPr/>
        </p:nvSpPr>
        <p:spPr>
          <a:xfrm>
            <a:off x="3249168" y="1280160"/>
            <a:ext cx="2645664"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3267456"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Version 2 and BIP68</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version that turns sequence into a timelock.</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edition 2, which adds a waiting-period box to the form.</a:t>
            </a:r>
            <a:endParaRPr lang="en-US" sz="1150" dirty="0"/>
          </a:p>
        </p:txBody>
      </p:sp>
      <p:sp>
        <p:nvSpPr>
          <p:cNvPr id="14" name="Shape 12"/>
          <p:cNvSpPr/>
          <p:nvPr/>
        </p:nvSpPr>
        <p:spPr>
          <a:xfrm>
            <a:off x="6041136" y="1280160"/>
            <a:ext cx="2645664"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6059424" y="1408176"/>
            <a:ext cx="64008" cy="108356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version 3 proposal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policy, not a consensus change.</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draft edition that offices may choose to accept.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six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marker and flag in Alice's transaction</a:t>
            </a:r>
            <a:endParaRPr lang="en-US" sz="13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six bytes, read</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05840"/>
                <a:gridCol w="91440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marker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flag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zero where a count is expected tells a node that the extended format, with a witness, follows.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zero marker where an input count would be tells old and new nodes apart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62</a:t>
            </a:r>
            <a:endParaRPr lang="en-US" sz="1100" dirty="0"/>
          </a:p>
        </p:txBody>
      </p:sp>
      <p:sp>
        <p:nvSpPr>
          <p:cNvPr id="28" name="code 3"/>
          <p:cNvSpPr/>
          <p:nvPr/>
        </p:nvSpPr>
        <p:spPr>
          <a:xfrm>
            <a:off x="365760" y="1216152"/>
            <a:ext cx="5166360" cy="101955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raw</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bytes</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fromhex</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version</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int</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from_bytes</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raw</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0</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4</a:t>
            </a:r>
            <a:r>
              <a:rPr sz="1100" b="0" i="0">
                <a:solidFill>
                  <a:srgbClr val="E6EDF3"/>
                </a:solidFill>
                <a:latin typeface="Courier New"/>
                <a:ea typeface="Courier New"/>
                <a:cs typeface="Courier New"/>
              </a:rPr>
              <a:t>], </a:t>
            </a:r>
            <a:r>
              <a:rPr sz="1100" b="0" i="0">
                <a:solidFill>
                  <a:srgbClr val="9ECBFF"/>
                </a:solidFill>
                <a:latin typeface="Courier New"/>
                <a:ea typeface="Courier New"/>
                <a:cs typeface="Courier New"/>
              </a:rPr>
              <a:t>'little'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marker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flag</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raw</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4</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raw</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5</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head</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raw</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6</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hex</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head</a:t>
            </a:r>
          </a:p>
        </p:txBody>
      </p:sp>
      <p:sp>
        <p:nvSpPr>
          <p:cNvPr id="29" name="result 3"/>
          <p:cNvSpPr/>
          <p:nvPr/>
        </p:nvSpPr>
        <p:spPr>
          <a:xfrm>
            <a:off x="365760" y="2299716"/>
            <a:ext cx="5166360" cy="737920"/>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head</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'010000000001'</a:t>
            </a:r>
          </a:p>
          <a:p>
            <a:pPr algn="l"/>
            <a:r>
              <a:rPr sz="1050" b="0" i="0">
                <a:solidFill>
                  <a:srgbClr val="6E655C"/>
                </a:solidFill>
                <a:latin typeface="Courier New"/>
                <a:ea typeface="Courier New"/>
                <a:cs typeface="Courier New"/>
              </a:rPr>
              <a:t>version</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a:t>
            </a:r>
          </a:p>
          <a:p>
            <a:pPr algn="l"/>
            <a:r>
              <a:rPr sz="1050" b="0" i="0">
                <a:solidFill>
                  <a:srgbClr val="6E655C"/>
                </a:solidFill>
                <a:latin typeface="Courier New"/>
                <a:ea typeface="Courier New"/>
                <a:cs typeface="Courier New"/>
              </a:rPr>
              <a:t>(marker, flag)</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(0, 1)</a:t>
            </a:r>
          </a:p>
        </p:txBody>
      </p:sp>
      <p:sp>
        <p:nvSpPr>
          <p:cNvPr id="30" name="explanation 3"/>
          <p:cNvSpPr txBox="1"/>
          <p:nvPr/>
        </p:nvSpPr>
        <p:spPr>
          <a:xfrm>
            <a:off x="365760" y="3101644"/>
            <a:ext cx="5166360" cy="1452067"/>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 1  </a:t>
            </a:r>
            <a:r>
              <a:rPr sz="1200" b="0" i="0">
                <a:solidFill>
                  <a:srgbClr val="2B2622"/>
                </a:solidFill>
                <a:latin typeface="Calibri"/>
                <a:ea typeface="Calibri"/>
                <a:cs typeface="Calibri"/>
              </a:rPr>
              <a:t>Raw bytes let us address single bytes of the transaction.</a:t>
            </a:r>
          </a:p>
          <a:p>
            <a:pPr algn="l">
              <a:spcAft>
                <a:spcPts val="300"/>
              </a:spcAft>
            </a:pPr>
            <a:r>
              <a:rPr sz="1200" b="1" i="0">
                <a:solidFill>
                  <a:srgbClr val="D97A14"/>
                </a:solidFill>
                <a:latin typeface="Calibri"/>
                <a:ea typeface="Calibri"/>
                <a:cs typeface="Calibri"/>
              </a:rPr>
              <a:t>Line 2  </a:t>
            </a:r>
            <a:r>
              <a:rPr sz="1200" b="0" i="0">
                <a:solidFill>
                  <a:srgbClr val="2B2622"/>
                </a:solidFill>
                <a:latin typeface="Calibri"/>
                <a:ea typeface="Calibri"/>
                <a:cs typeface="Calibri"/>
              </a:rPr>
              <a:t>The version takes four bytes, least significant byte first.</a:t>
            </a:r>
          </a:p>
          <a:p>
            <a:pPr algn="l">
              <a:spcAft>
                <a:spcPts val="300"/>
              </a:spcAft>
            </a:pPr>
            <a:r>
              <a:rPr sz="1200" b="1" i="0">
                <a:solidFill>
                  <a:srgbClr val="D97A14"/>
                </a:solidFill>
                <a:latin typeface="Calibri"/>
                <a:ea typeface="Calibri"/>
                <a:cs typeface="Calibri"/>
              </a:rPr>
              <a:t>Lines 3-5  </a:t>
            </a:r>
            <a:r>
              <a:rPr sz="1200" b="0" i="0">
                <a:solidFill>
                  <a:srgbClr val="2B2622"/>
                </a:solidFill>
                <a:latin typeface="Calibri"/>
                <a:ea typeface="Calibri"/>
                <a:cs typeface="Calibri"/>
              </a:rPr>
              <a:t>Marker zero and flag one announce that a witness follows.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Version, marker and flag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685239"/>
          </a:xfrm>
          <a:prstGeom prst="roundRect">
            <a:avLst>
              <a:gd name="adj" fmla="val 4341"/>
            </a:avLst>
          </a:prstGeom>
          <a:solidFill>
            <a:srgbClr val="F2ECE1"/>
          </a:solidFill>
          <a:ln w="12700">
            <a:solidFill>
              <a:srgbClr val="DFD6C7"/>
            </a:solidFill>
            <a:prstDash val="solid"/>
          </a:ln>
        </p:spPr>
      </p:sp>
      <p:sp>
        <p:nvSpPr>
          <p:cNvPr id="7" name="Shape 5"/>
          <p:cNvSpPr/>
          <p:nvPr/>
        </p:nvSpPr>
        <p:spPr>
          <a:xfrm>
            <a:off x="475488" y="1408176"/>
            <a:ext cx="64008" cy="1429207"/>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Presigned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Signed now, broadcast years later.</a:t>
            </a:r>
            <a:endParaRPr lang="en-US" sz="1300" dirty="0"/>
          </a:p>
        </p:txBody>
      </p:sp>
      <p:sp>
        <p:nvSpPr>
          <p:cNvPr id="9" name="Text 7"/>
          <p:cNvSpPr txBox="1"/>
          <p:nvPr/>
        </p:nvSpPr>
        <p:spPr>
          <a:xfrm>
            <a:off x="640080"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 kept in a drawer.</a:t>
            </a:r>
            <a:endParaRPr lang="en-US" sz="1150" dirty="0"/>
          </a:p>
        </p:txBody>
      </p:sp>
      <p:sp>
        <p:nvSpPr>
          <p:cNvPr id="10" name="Shape 8"/>
          <p:cNvSpPr/>
          <p:nvPr/>
        </p:nvSpPr>
        <p:spPr>
          <a:xfrm>
            <a:off x="3249168" y="1280160"/>
            <a:ext cx="2645664" cy="1685239"/>
          </a:xfrm>
          <a:prstGeom prst="roundRect">
            <a:avLst>
              <a:gd name="adj" fmla="val 4341"/>
            </a:avLst>
          </a:prstGeom>
          <a:solidFill>
            <a:srgbClr val="F2ECE1"/>
          </a:solidFill>
          <a:ln w="12700">
            <a:solidFill>
              <a:srgbClr val="DFD6C7"/>
            </a:solidFill>
            <a:prstDash val="solid"/>
          </a:ln>
        </p:spPr>
      </p:sp>
      <p:sp>
        <p:nvSpPr>
          <p:cNvPr id="11" name="Shape 9"/>
          <p:cNvSpPr/>
          <p:nvPr/>
        </p:nvSpPr>
        <p:spPr>
          <a:xfrm>
            <a:off x="3267456" y="1408176"/>
            <a:ext cx="64008" cy="1429207"/>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Marker byte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zero where a count cannot be zero.</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sticker on a parcel saying special contents inside.</a:t>
            </a:r>
            <a:endParaRPr lang="en-US" sz="1150" dirty="0"/>
          </a:p>
        </p:txBody>
      </p:sp>
      <p:sp>
        <p:nvSpPr>
          <p:cNvPr id="14" name="Text 12"/>
          <p:cNvSpPr txBox="1"/>
          <p:nvPr/>
        </p:nvSpPr>
        <p:spPr>
          <a:xfrm>
            <a:off x="3432048" y="2574036"/>
            <a:ext cx="2371344"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Extended Marker and Flag</a:t>
            </a:r>
            <a:endParaRPr lang="en-US" sz="1000" dirty="0"/>
          </a:p>
        </p:txBody>
      </p:sp>
      <p:sp>
        <p:nvSpPr>
          <p:cNvPr id="15" name="Shape 13"/>
          <p:cNvSpPr/>
          <p:nvPr/>
        </p:nvSpPr>
        <p:spPr>
          <a:xfrm>
            <a:off x="6041136" y="1280160"/>
            <a:ext cx="2645664" cy="1685239"/>
          </a:xfrm>
          <a:prstGeom prst="roundRect">
            <a:avLst>
              <a:gd name="adj" fmla="val 4341"/>
            </a:avLst>
          </a:prstGeom>
          <a:solidFill>
            <a:srgbClr val="F2ECE1"/>
          </a:solidFill>
          <a:ln w="12700">
            <a:solidFill>
              <a:srgbClr val="DFD6C7"/>
            </a:solidFill>
            <a:prstDash val="solid"/>
          </a:ln>
        </p:spPr>
      </p:sp>
      <p:sp>
        <p:nvSpPr>
          <p:cNvPr id="16" name="Shape 14"/>
          <p:cNvSpPr/>
          <p:nvPr/>
        </p:nvSpPr>
        <p:spPr>
          <a:xfrm>
            <a:off x="6059424" y="1408176"/>
            <a:ext cx="64008" cy="1429207"/>
          </a:xfrm>
          <a:prstGeom prst="rect">
            <a:avLst/>
          </a:prstGeom>
          <a:solidFill>
            <a:srgbClr val="D97A14"/>
          </a:solidFill>
          <a:ln w="12700">
            <a:solidFill>
              <a:srgbClr val="D97A14"/>
            </a:solidFill>
            <a:prstDash val="solid"/>
          </a:ln>
        </p:spPr>
      </p:sp>
      <p:sp>
        <p:nvSpPr>
          <p:cNvPr id="17" name="Text 15"/>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Flag byte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with other values reserved.</a:t>
            </a:r>
            <a:endParaRPr lang="en-US" sz="1300" dirty="0"/>
          </a:p>
        </p:txBody>
      </p:sp>
      <p:sp>
        <p:nvSpPr>
          <p:cNvPr id="18" name="Text 16"/>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second sticker that names the kind of extras.</a:t>
            </a:r>
            <a:endParaRPr lang="en-US" sz="11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Inputs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Inputs are the banknotes you hand over, each named by its address.</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input list</a:t>
            </a:r>
            <a:endParaRPr lang="en-US" sz="1100" dirty="0"/>
          </a:p>
        </p:txBody>
      </p:sp>
      <p:sp>
        <p:nvSpPr>
          <p:cNvPr id="8" name="Text 6"/>
          <p:cNvSpPr txBox="1"/>
          <p:nvPr/>
        </p:nvSpPr>
        <p:spPr>
          <a:xfrm>
            <a:off x="77724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list of coins this transaction spends.</a:t>
            </a:r>
            <a:endParaRPr lang="en-US" sz="1100" dirty="0"/>
          </a:p>
        </p:txBody>
      </p:sp>
      <p:sp>
        <p:nvSpPr>
          <p:cNvPr id="9" name="Text 7"/>
          <p:cNvSpPr txBox="1"/>
          <p:nvPr/>
        </p:nvSpPr>
        <p:spPr>
          <a:xfrm>
            <a:off x="777240" y="2892247"/>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receipt listing the notes you hand over.</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outpoint</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address of one coin: a transaction and an output number.</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street address with building and flat.</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Byte order</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same 32 bytes can be read in two directions.</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book you can read from the front or the back.</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input script</a:t>
            </a:r>
            <a:endParaRPr lang="en-US" sz="1100" dirty="0"/>
          </a:p>
        </p:txBody>
      </p:sp>
      <p:sp>
        <p:nvSpPr>
          <p:cNvPr id="20" name="Text 18"/>
          <p:cNvSpPr txBox="1"/>
          <p:nvPr/>
        </p:nvSpPr>
        <p:spPr>
          <a:xfrm>
            <a:off x="681228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slot where legacy inputs put their proof.</a:t>
            </a:r>
            <a:endParaRPr lang="en-US" sz="1100" dirty="0"/>
          </a:p>
        </p:txBody>
      </p:sp>
      <p:sp>
        <p:nvSpPr>
          <p:cNvPr id="21" name="Text 19"/>
          <p:cNvSpPr txBox="1"/>
          <p:nvPr/>
        </p:nvSpPr>
        <p:spPr>
          <a:xfrm>
            <a:off x="6812280" y="2892247"/>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keyhole that legacy inputs fill with the key.</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(1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count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At least one, in practice a few thousand.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counting how many cheques are stapled to a payment.</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Length of Transaction Input List</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CompactSize unsigned integer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 3, 5 or 9 bytes, by value.</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ticket machine: small numbers get short tickets.</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Other variable-length integers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Three encodings, one name that is safe.</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three kinds of ticket sold under one name.</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Outpoint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36 bytes: a txid and an index.</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street address: building number plus flat number.</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CompactSize: counting in few bytes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bytes a count takes grow with the count</a:t>
            </a:r>
            <a:endParaRPr lang="en-US" sz="13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taken by each count</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First bytes written: 01 fc fd fd fe ff. The values fd, fe and ff announce longer numbers.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Small counts cost one byte; the first byte warns when a longer number follows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62</a:t>
            </a:r>
            <a:endParaRPr lang="en-US" sz="1100" dirty="0"/>
          </a:p>
        </p:txBody>
      </p:sp>
      <p:sp>
        <p:nvSpPr>
          <p:cNvPr id="28" name="code 4"/>
          <p:cNvSpPr/>
          <p:nvPr/>
        </p:nvSpPr>
        <p:spPr>
          <a:xfrm>
            <a:off x="365760" y="1216152"/>
            <a:ext cx="5166360" cy="844905"/>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values</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1</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252</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253</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65535</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65536</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32</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sizes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len</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cs_encode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values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prefix</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cs_encode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hex</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values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sizes</a:t>
            </a:r>
          </a:p>
        </p:txBody>
      </p:sp>
      <p:sp>
        <p:nvSpPr>
          <p:cNvPr id="29" name="result 4"/>
          <p:cNvSpPr/>
          <p:nvPr/>
        </p:nvSpPr>
        <p:spPr>
          <a:xfrm>
            <a:off x="365760" y="2125065"/>
            <a:ext cx="5166360" cy="571500"/>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sizes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 1, 3, 3, 5, 9]</a:t>
            </a:r>
          </a:p>
          <a:p>
            <a:pPr algn="l"/>
            <a:r>
              <a:rPr sz="1050" b="0" i="0">
                <a:solidFill>
                  <a:srgbClr val="6E655C"/>
                </a:solidFill>
                <a:latin typeface="Courier New"/>
                <a:ea typeface="Courier New"/>
                <a:cs typeface="Courier New"/>
              </a:rPr>
              <a:t>prefix</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['01', 'fc', 'fd', 'fd', 'fe', 'ff']</a:t>
            </a:r>
          </a:p>
        </p:txBody>
      </p:sp>
      <p:sp>
        <p:nvSpPr>
          <p:cNvPr id="30" name="explanation 4"/>
          <p:cNvSpPr txBox="1"/>
          <p:nvPr/>
        </p:nvSpPr>
        <p:spPr>
          <a:xfrm>
            <a:off x="365760" y="2760573"/>
            <a:ext cx="5166360" cy="1793138"/>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 1  </a:t>
            </a:r>
            <a:r>
              <a:rPr sz="1200" b="0" i="0">
                <a:solidFill>
                  <a:srgbClr val="2B2622"/>
                </a:solidFill>
                <a:latin typeface="Calibri"/>
                <a:ea typeface="Calibri"/>
                <a:cs typeface="Calibri"/>
              </a:rPr>
              <a:t>Six counts, chosen at the edges where the encoding changes length.</a:t>
            </a:r>
          </a:p>
          <a:p>
            <a:pPr algn="l">
              <a:spcAft>
                <a:spcPts val="300"/>
              </a:spcAft>
            </a:pPr>
            <a:r>
              <a:rPr sz="1200" b="1" i="0">
                <a:solidFill>
                  <a:srgbClr val="D97A14"/>
                </a:solidFill>
                <a:latin typeface="Calibri"/>
                <a:ea typeface="Calibri"/>
                <a:cs typeface="Calibri"/>
              </a:rPr>
              <a:t>Line 2  </a:t>
            </a:r>
            <a:r>
              <a:rPr sz="1200" b="0" i="0">
                <a:solidFill>
                  <a:srgbClr val="2B2622"/>
                </a:solidFill>
                <a:latin typeface="Calibri"/>
                <a:ea typeface="Calibri"/>
                <a:cs typeface="Calibri"/>
              </a:rPr>
              <a:t>Encode each count as a transaction does, and measure the bytes it takes.</a:t>
            </a:r>
          </a:p>
          <a:p>
            <a:pPr algn="l">
              <a:spcAft>
                <a:spcPts val="300"/>
              </a:spcAft>
            </a:pPr>
            <a:r>
              <a:rPr sz="1200" b="1" i="0">
                <a:solidFill>
                  <a:srgbClr val="D97A14"/>
                </a:solidFill>
                <a:latin typeface="Calibri"/>
                <a:ea typeface="Calibri"/>
                <a:cs typeface="Calibri"/>
              </a:rPr>
              <a:t>Lines 3-4  </a:t>
            </a:r>
            <a:r>
              <a:rPr sz="1200" b="0" i="0">
                <a:solidFill>
                  <a:srgbClr val="2B2622"/>
                </a:solidFill>
                <a:latin typeface="Calibri"/>
                <a:ea typeface="Calibri"/>
                <a:cs typeface="Calibri"/>
              </a:rPr>
              <a:t>The first byte of each encoding: fd, fe or ff announce a longer number.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(2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previous transaction's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32 bytes of an outpoint.</a:t>
            </a:r>
            <a:endParaRPr lang="en-US" sz="1300" dirty="0"/>
          </a:p>
        </p:txBody>
      </p:sp>
      <p:sp>
        <p:nvSpPr>
          <p:cNvPr id="9" name="Text 7"/>
          <p:cNvSpPr txBox="1"/>
          <p:nvPr/>
        </p:nvSpPr>
        <p:spPr>
          <a:xfrm>
            <a:off x="640080" y="200710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building number in that address.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index</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Four bytes counting from zero.</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flat number inside the building, counted from zero.</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rule against double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output is spent at most once.</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banknote that can be handed over only once.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Conflicting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Same outpoint, two spenders.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cheques written against the same banknote.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coin an input spends</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outpoint, read both ways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Form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First 16 hex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Stored in the input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eb3ae38f27191aa5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Printed by explorers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4ac5418026798669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Reversing back restores 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Input 0 spends output 1 of the earlier transaction. The stored and printed forms are mirror images.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it names a coin by transaction and output number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62</a:t>
            </a:r>
            <a:endParaRPr lang="en-US" sz="1100" dirty="0"/>
          </a:p>
        </p:txBody>
      </p:sp>
      <p:sp>
        <p:nvSpPr>
          <p:cNvPr id="28" name="code 5"/>
          <p:cNvSpPr/>
          <p:nvPr/>
        </p:nvSpPr>
        <p:spPr>
          <a:xfrm>
            <a:off x="365760" y="1216152"/>
            <a:ext cx="5166360" cy="1146657"/>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050" b="0" i="0">
                <a:solidFill>
                  <a:srgbClr val="E6EDF3"/>
                </a:solidFill>
                <a:latin typeface="Courier New"/>
                <a:ea typeface="Courier New"/>
                <a:cs typeface="Courier New"/>
              </a:rPr>
              <a:t>i0</a:t>
            </a:r>
            <a:r>
              <a:rPr sz="1050" b="0" i="0">
                <a:solidFill>
                  <a:srgbClr val="E6EDF3"/>
                </a:solidFill>
                <a:latin typeface="Courier New"/>
                <a:ea typeface="Courier New"/>
                <a:cs typeface="Courier New"/>
              </a:rPr>
              <a:t> = </a:t>
            </a:r>
            <a:r>
              <a:rPr sz="1050" b="0" i="0">
                <a:solidFill>
                  <a:srgbClr val="E6EDF3"/>
                </a:solidFill>
                <a:latin typeface="Courier New"/>
                <a:ea typeface="Courier New"/>
                <a:cs typeface="Courier New"/>
              </a:rPr>
              <a:t>tx</a:t>
            </a:r>
            <a:r>
              <a:rPr sz="1050" b="0" i="0">
                <a:solidFill>
                  <a:srgbClr val="E6EDF3"/>
                </a:solidFill>
                <a:latin typeface="Courier New"/>
                <a:ea typeface="Courier New"/>
                <a:cs typeface="Courier New"/>
              </a:rPr>
              <a:t>[</a:t>
            </a:r>
            <a:r>
              <a:rPr sz="1050" b="0" i="0">
                <a:solidFill>
                  <a:srgbClr val="9ECBFF"/>
                </a:solidFill>
                <a:latin typeface="Courier New"/>
                <a:ea typeface="Courier New"/>
                <a:cs typeface="Courier New"/>
              </a:rPr>
              <a:t>'inputs'</a:t>
            </a:r>
            <a:r>
              <a:rPr sz="1050" b="0" i="0">
                <a:solidFill>
                  <a:srgbClr val="E6EDF3"/>
                </a:solidFill>
                <a:latin typeface="Courier New"/>
                <a:ea typeface="Courier New"/>
                <a:cs typeface="Courier New"/>
              </a:rPr>
              <a:t>][</a:t>
            </a:r>
            <a:r>
              <a:rPr sz="1050" b="0" i="0">
                <a:solidFill>
                  <a:srgbClr val="FFD28A"/>
                </a:solidFill>
                <a:latin typeface="Courier New"/>
                <a:ea typeface="Courier New"/>
                <a:cs typeface="Courier New"/>
              </a:rPr>
              <a:t>0</a:t>
            </a:r>
            <a:r>
              <a:rPr sz="1050" b="0" i="0">
                <a:solidFill>
                  <a:srgbClr val="E6EDF3"/>
                </a:solidFill>
                <a:latin typeface="Courier New"/>
                <a:ea typeface="Courier New"/>
                <a:cs typeface="Courier New"/>
              </a:rPr>
              <a:t>]</a:t>
            </a:r>
          </a:p>
          <a:p>
            <a:pPr algn="l"/>
            <a:r>
              <a:rPr sz="1050" b="0" i="0">
                <a:solidFill>
                  <a:srgbClr val="E6EDF3"/>
                </a:solidFill>
                <a:latin typeface="Courier New"/>
                <a:ea typeface="Courier New"/>
                <a:cs typeface="Courier New"/>
              </a:rPr>
              <a:t>stored</a:t>
            </a:r>
            <a:r>
              <a:rPr sz="1050" b="0" i="0">
                <a:solidFill>
                  <a:srgbClr val="E6EDF3"/>
                </a:solidFill>
                <a:latin typeface="Courier New"/>
                <a:ea typeface="Courier New"/>
                <a:cs typeface="Courier New"/>
              </a:rPr>
              <a:t> = </a:t>
            </a:r>
            <a:r>
              <a:rPr sz="1050" b="0" i="0">
                <a:solidFill>
                  <a:srgbClr val="E6EDF3"/>
                </a:solidFill>
                <a:latin typeface="Courier New"/>
                <a:ea typeface="Courier New"/>
                <a:cs typeface="Courier New"/>
              </a:rPr>
              <a:t>i0</a:t>
            </a:r>
            <a:r>
              <a:rPr sz="1050" b="0" i="0">
                <a:solidFill>
                  <a:srgbClr val="E6EDF3"/>
                </a:solidFill>
                <a:latin typeface="Courier New"/>
                <a:ea typeface="Courier New"/>
                <a:cs typeface="Courier New"/>
              </a:rPr>
              <a:t>[</a:t>
            </a:r>
            <a:r>
              <a:rPr sz="1050" b="0" i="0">
                <a:solidFill>
                  <a:srgbClr val="9ECBFF"/>
                </a:solidFill>
                <a:latin typeface="Courier New"/>
                <a:ea typeface="Courier New"/>
                <a:cs typeface="Courier New"/>
              </a:rPr>
              <a:t>'txid_internal'</a:t>
            </a:r>
            <a:r>
              <a:rPr sz="1050" b="0" i="0">
                <a:solidFill>
                  <a:srgbClr val="E6EDF3"/>
                </a:solidFill>
                <a:latin typeface="Courier New"/>
                <a:ea typeface="Courier New"/>
                <a:cs typeface="Courier New"/>
              </a:rPr>
              <a:t>]</a:t>
            </a:r>
          </a:p>
          <a:p>
            <a:pPr algn="l"/>
            <a:r>
              <a:rPr sz="1050" b="0" i="0">
                <a:solidFill>
                  <a:srgbClr val="E6EDF3"/>
                </a:solidFill>
                <a:latin typeface="Courier New"/>
                <a:ea typeface="Courier New"/>
                <a:cs typeface="Courier New"/>
              </a:rPr>
              <a:t>shown</a:t>
            </a:r>
            <a:r>
              <a:rPr sz="1050" b="0" i="0">
                <a:solidFill>
                  <a:srgbClr val="E6EDF3"/>
                </a:solidFill>
                <a:latin typeface="Courier New"/>
                <a:ea typeface="Courier New"/>
                <a:cs typeface="Courier New"/>
              </a:rPr>
              <a:t> = </a:t>
            </a:r>
            <a:r>
              <a:rPr sz="1050" b="0" i="0">
                <a:solidFill>
                  <a:srgbClr val="E6EDF3"/>
                </a:solidFill>
                <a:latin typeface="Courier New"/>
                <a:ea typeface="Courier New"/>
                <a:cs typeface="Courier New"/>
              </a:rPr>
              <a:t>internal_to_display</a:t>
            </a:r>
            <a:r>
              <a:rPr sz="1050" b="0" i="0">
                <a:solidFill>
                  <a:srgbClr val="E6EDF3"/>
                </a:solidFill>
                <a:latin typeface="Courier New"/>
                <a:ea typeface="Courier New"/>
                <a:cs typeface="Courier New"/>
              </a:rPr>
              <a:t>(</a:t>
            </a:r>
            <a:r>
              <a:rPr sz="1050" b="0" i="0">
                <a:solidFill>
                  <a:srgbClr val="E6EDF3"/>
                </a:solidFill>
                <a:latin typeface="Courier New"/>
                <a:ea typeface="Courier New"/>
                <a:cs typeface="Courier New"/>
              </a:rPr>
              <a:t>stored</a:t>
            </a:r>
            <a:r>
              <a:rPr sz="1050" b="0" i="0">
                <a:solidFill>
                  <a:srgbClr val="E6EDF3"/>
                </a:solidFill>
                <a:latin typeface="Courier New"/>
                <a:ea typeface="Courier New"/>
                <a:cs typeface="Courier New"/>
              </a:rPr>
              <a:t>)</a:t>
            </a:r>
          </a:p>
          <a:p>
            <a:pPr algn="l"/>
            <a:r>
              <a:rPr sz="1050" b="0" i="0">
                <a:solidFill>
                  <a:srgbClr val="E6EDF3"/>
                </a:solidFill>
                <a:latin typeface="Courier New"/>
                <a:ea typeface="Courier New"/>
                <a:cs typeface="Courier New"/>
              </a:rPr>
              <a:t>back</a:t>
            </a:r>
            <a:r>
              <a:rPr sz="1050" b="0" i="0">
                <a:solidFill>
                  <a:srgbClr val="E6EDF3"/>
                </a:solidFill>
                <a:latin typeface="Courier New"/>
                <a:ea typeface="Courier New"/>
                <a:cs typeface="Courier New"/>
              </a:rPr>
              <a:t> = </a:t>
            </a:r>
            <a:r>
              <a:rPr sz="1050" b="0" i="0">
                <a:solidFill>
                  <a:srgbClr val="E6EDF3"/>
                </a:solidFill>
                <a:latin typeface="Courier New"/>
                <a:ea typeface="Courier New"/>
                <a:cs typeface="Courier New"/>
              </a:rPr>
              <a:t>display_to_internal</a:t>
            </a:r>
            <a:r>
              <a:rPr sz="1050" b="0" i="0">
                <a:solidFill>
                  <a:srgbClr val="E6EDF3"/>
                </a:solidFill>
                <a:latin typeface="Courier New"/>
                <a:ea typeface="Courier New"/>
                <a:cs typeface="Courier New"/>
              </a:rPr>
              <a:t>(</a:t>
            </a:r>
            <a:r>
              <a:rPr sz="1050" b="0" i="0">
                <a:solidFill>
                  <a:srgbClr val="E6EDF3"/>
                </a:solidFill>
                <a:latin typeface="Courier New"/>
                <a:ea typeface="Courier New"/>
                <a:cs typeface="Courier New"/>
              </a:rPr>
              <a:t>shown</a:t>
            </a:r>
            <a:r>
              <a:rPr sz="1050" b="0" i="0">
                <a:solidFill>
                  <a:srgbClr val="E6EDF3"/>
                </a:solidFill>
                <a:latin typeface="Courier New"/>
                <a:ea typeface="Courier New"/>
                <a:cs typeface="Courier New"/>
              </a:rPr>
              <a:t>)</a:t>
            </a:r>
          </a:p>
          <a:p>
            <a:pPr algn="l"/>
            <a:r>
              <a:rPr sz="1050" b="0" i="0">
                <a:solidFill>
                  <a:srgbClr val="E6EDF3"/>
                </a:solidFill>
                <a:latin typeface="Courier New"/>
                <a:ea typeface="Courier New"/>
                <a:cs typeface="Courier New"/>
              </a:rPr>
              <a:t>check</a:t>
            </a:r>
            <a:r>
              <a:rPr sz="1050" b="0" i="0">
                <a:solidFill>
                  <a:srgbClr val="E6EDF3"/>
                </a:solidFill>
                <a:latin typeface="Courier New"/>
                <a:ea typeface="Courier New"/>
                <a:cs typeface="Courier New"/>
              </a:rPr>
              <a:t> = </a:t>
            </a:r>
            <a:r>
              <a:rPr sz="1050" b="0" i="0">
                <a:solidFill>
                  <a:srgbClr val="E6EDF3"/>
                </a:solidFill>
                <a:latin typeface="Courier New"/>
                <a:ea typeface="Courier New"/>
                <a:cs typeface="Courier New"/>
              </a:rPr>
              <a:t>back</a:t>
            </a:r>
            <a:r>
              <a:rPr sz="1050" b="0" i="0">
                <a:solidFill>
                  <a:srgbClr val="E6EDF3"/>
                </a:solidFill>
                <a:latin typeface="Courier New"/>
                <a:ea typeface="Courier New"/>
                <a:cs typeface="Courier New"/>
              </a:rPr>
              <a:t> == </a:t>
            </a:r>
            <a:r>
              <a:rPr sz="1050" b="0" i="0">
                <a:solidFill>
                  <a:srgbClr val="E6EDF3"/>
                </a:solidFill>
                <a:latin typeface="Courier New"/>
                <a:ea typeface="Courier New"/>
                <a:cs typeface="Courier New"/>
              </a:rPr>
              <a:t>stored</a:t>
            </a:r>
            <a:r>
              <a:rPr sz="1050" b="0" i="0">
                <a:solidFill>
                  <a:srgbClr val="E6EDF3"/>
                </a:solidFill>
                <a:latin typeface="Courier New"/>
                <a:ea typeface="Courier New"/>
                <a:cs typeface="Courier New"/>
              </a:rPr>
              <a:t> </a:t>
            </a:r>
            <a:r>
              <a:rPr sz="1050" b="1" i="0">
                <a:solidFill>
                  <a:srgbClr val="F2A860"/>
                </a:solidFill>
                <a:latin typeface="Courier New"/>
                <a:ea typeface="Courier New"/>
                <a:cs typeface="Courier New"/>
              </a:rPr>
              <a:t>and</a:t>
            </a:r>
            <a:r>
              <a:rPr sz="1050" b="0" i="0">
                <a:solidFill>
                  <a:srgbClr val="E6EDF3"/>
                </a:solidFill>
                <a:latin typeface="Courier New"/>
                <a:ea typeface="Courier New"/>
                <a:cs typeface="Courier New"/>
              </a:rPr>
              <a:t> </a:t>
            </a:r>
            <a:r>
              <a:rPr sz="1050" b="0" i="0">
                <a:solidFill>
                  <a:srgbClr val="E6EDF3"/>
                </a:solidFill>
                <a:latin typeface="Courier New"/>
                <a:ea typeface="Courier New"/>
                <a:cs typeface="Courier New"/>
              </a:rPr>
              <a:t>shown</a:t>
            </a:r>
            <a:r>
              <a:rPr sz="1050" b="0" i="0">
                <a:solidFill>
                  <a:srgbClr val="E6EDF3"/>
                </a:solidFill>
                <a:latin typeface="Courier New"/>
                <a:ea typeface="Courier New"/>
                <a:cs typeface="Courier New"/>
              </a:rPr>
              <a:t> == </a:t>
            </a:r>
            <a:r>
              <a:rPr sz="1050" b="0" i="0">
                <a:solidFill>
                  <a:srgbClr val="E6EDF3"/>
                </a:solidFill>
                <a:latin typeface="Courier New"/>
                <a:ea typeface="Courier New"/>
                <a:cs typeface="Courier New"/>
              </a:rPr>
              <a:t>txid</a:t>
            </a:r>
            <a:r>
              <a:rPr sz="1050" b="0" i="0">
                <a:solidFill>
                  <a:srgbClr val="E6EDF3"/>
                </a:solidFill>
                <a:latin typeface="Courier New"/>
                <a:ea typeface="Courier New"/>
                <a:cs typeface="Courier New"/>
              </a:rPr>
              <a:t>(</a:t>
            </a:r>
            <a:r>
              <a:rPr sz="1050" b="0" i="0">
                <a:solidFill>
                  <a:srgbClr val="E6EDF3"/>
                </a:solidFill>
                <a:latin typeface="Courier New"/>
                <a:ea typeface="Courier New"/>
                <a:cs typeface="Courier New"/>
              </a:rPr>
              <a:t>PREV</a:t>
            </a:r>
            <a:r>
              <a:rPr sz="1050" b="0" i="0">
                <a:solidFill>
                  <a:srgbClr val="E6EDF3"/>
                </a:solidFill>
                <a:latin typeface="Courier New"/>
                <a:ea typeface="Courier New"/>
                <a:cs typeface="Courier New"/>
              </a:rPr>
              <a:t>)</a:t>
            </a:r>
          </a:p>
          <a:p>
            <a:pPr algn="l"/>
            <a:r>
              <a:rPr sz="1050" b="0" i="0">
                <a:solidFill>
                  <a:srgbClr val="E6EDF3"/>
                </a:solidFill>
                <a:latin typeface="Courier New"/>
                <a:ea typeface="Courier New"/>
                <a:cs typeface="Courier New"/>
              </a:rPr>
              <a:t>check</a:t>
            </a:r>
          </a:p>
        </p:txBody>
      </p:sp>
      <p:sp>
        <p:nvSpPr>
          <p:cNvPr id="29" name="result 5"/>
          <p:cNvSpPr/>
          <p:nvPr/>
        </p:nvSpPr>
        <p:spPr>
          <a:xfrm>
            <a:off x="365760" y="2426817"/>
            <a:ext cx="5166360" cy="872337"/>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00" b="0" i="0">
                <a:solidFill>
                  <a:srgbClr val="6E655C"/>
                </a:solidFill>
                <a:latin typeface="Courier New"/>
                <a:ea typeface="Courier New"/>
                <a:cs typeface="Courier New"/>
              </a:rPr>
              <a:t>stored[:16]</a:t>
            </a:r>
            <a:r>
              <a:rPr sz="1000" b="1" i="0">
                <a:solidFill>
                  <a:srgbClr val="D97A14"/>
                </a:solidFill>
                <a:latin typeface="Courier New"/>
                <a:ea typeface="Courier New"/>
                <a:cs typeface="Courier New"/>
              </a:rPr>
              <a:t>  →  </a:t>
            </a:r>
            <a:r>
              <a:rPr sz="1000" b="1" i="0">
                <a:solidFill>
                  <a:srgbClr val="2B2622"/>
                </a:solidFill>
                <a:latin typeface="Courier New"/>
                <a:ea typeface="Courier New"/>
                <a:cs typeface="Courier New"/>
              </a:rPr>
              <a:t>'eb3ae38f27191aa5'</a:t>
            </a:r>
          </a:p>
          <a:p>
            <a:pPr algn="l"/>
            <a:r>
              <a:rPr sz="1000" b="0" i="0">
                <a:solidFill>
                  <a:srgbClr val="6E655C"/>
                </a:solidFill>
                <a:latin typeface="Courier New"/>
                <a:ea typeface="Courier New"/>
                <a:cs typeface="Courier New"/>
              </a:rPr>
              <a:t>shown[:16]</a:t>
            </a:r>
            <a:r>
              <a:rPr sz="1000" b="1" i="0">
                <a:solidFill>
                  <a:srgbClr val="D97A14"/>
                </a:solidFill>
                <a:latin typeface="Courier New"/>
                <a:ea typeface="Courier New"/>
                <a:cs typeface="Courier New"/>
              </a:rPr>
              <a:t>  →  </a:t>
            </a:r>
            <a:r>
              <a:rPr sz="1000" b="1" i="0">
                <a:solidFill>
                  <a:srgbClr val="2B2622"/>
                </a:solidFill>
                <a:latin typeface="Courier New"/>
                <a:ea typeface="Courier New"/>
                <a:cs typeface="Courier New"/>
              </a:rPr>
              <a:t>'4ac5418026798669'</a:t>
            </a:r>
          </a:p>
          <a:p>
            <a:pPr algn="l"/>
            <a:r>
              <a:rPr sz="1000" b="0" i="0">
                <a:solidFill>
                  <a:srgbClr val="6E655C"/>
                </a:solidFill>
                <a:latin typeface="Courier New"/>
                <a:ea typeface="Courier New"/>
                <a:cs typeface="Courier New"/>
              </a:rPr>
              <a:t>check</a:t>
            </a:r>
            <a:r>
              <a:rPr sz="1000" b="1" i="0">
                <a:solidFill>
                  <a:srgbClr val="D97A14"/>
                </a:solidFill>
                <a:latin typeface="Courier New"/>
                <a:ea typeface="Courier New"/>
                <a:cs typeface="Courier New"/>
              </a:rPr>
              <a:t>  →  </a:t>
            </a:r>
            <a:r>
              <a:rPr sz="1000" b="1" i="0">
                <a:solidFill>
                  <a:srgbClr val="2B2622"/>
                </a:solidFill>
                <a:latin typeface="Courier New"/>
                <a:ea typeface="Courier New"/>
                <a:cs typeface="Courier New"/>
              </a:rPr>
              <a:t>True</a:t>
            </a:r>
          </a:p>
          <a:p>
            <a:pPr algn="l"/>
            <a:r>
              <a:rPr sz="1000" b="0" i="0">
                <a:solidFill>
                  <a:srgbClr val="6E655C"/>
                </a:solidFill>
                <a:latin typeface="Courier New"/>
                <a:ea typeface="Courier New"/>
                <a:cs typeface="Courier New"/>
              </a:rPr>
              <a:t>i0['vout']</a:t>
            </a:r>
            <a:r>
              <a:rPr sz="1000" b="1" i="0">
                <a:solidFill>
                  <a:srgbClr val="D97A14"/>
                </a:solidFill>
                <a:latin typeface="Courier New"/>
                <a:ea typeface="Courier New"/>
                <a:cs typeface="Courier New"/>
              </a:rPr>
              <a:t>  →  </a:t>
            </a:r>
            <a:r>
              <a:rPr sz="1000" b="1" i="0">
                <a:solidFill>
                  <a:srgbClr val="2B2622"/>
                </a:solidFill>
                <a:latin typeface="Courier New"/>
                <a:ea typeface="Courier New"/>
                <a:cs typeface="Courier New"/>
              </a:rPr>
              <a:t>1</a:t>
            </a:r>
          </a:p>
        </p:txBody>
      </p:sp>
      <p:sp>
        <p:nvSpPr>
          <p:cNvPr id="30" name="explanation 5"/>
          <p:cNvSpPr txBox="1"/>
          <p:nvPr/>
        </p:nvSpPr>
        <p:spPr>
          <a:xfrm>
            <a:off x="365760" y="3363163"/>
            <a:ext cx="5166360" cy="1190548"/>
          </a:xfrm>
          <a:prstGeom prst="rect">
            <a:avLst/>
          </a:prstGeom>
          <a:noFill/>
        </p:spPr>
        <p:txBody>
          <a:bodyPr wrap="square" lIns="0" rIns="0" tIns="0" bIns="0" anchor="t">
            <a:spAutoFit/>
          </a:bodyPr>
          <a:lstStyle/>
          <a:p>
            <a:pPr algn="l">
              <a:spcAft>
                <a:spcPts val="300"/>
              </a:spcAft>
            </a:pPr>
            <a:r>
              <a:rPr sz="1100" b="1" i="0">
                <a:solidFill>
                  <a:srgbClr val="D97A14"/>
                </a:solidFill>
                <a:latin typeface="Calibri"/>
                <a:ea typeface="Calibri"/>
                <a:cs typeface="Calibri"/>
              </a:rPr>
              <a:t>Lines 1-2  </a:t>
            </a:r>
            <a:r>
              <a:rPr sz="1100" b="0" i="0">
                <a:solidFill>
                  <a:srgbClr val="2B2622"/>
                </a:solidFill>
                <a:latin typeface="Calibri"/>
                <a:ea typeface="Calibri"/>
                <a:cs typeface="Calibri"/>
              </a:rPr>
              <a:t>An input names a coin: the txid of an earlier transaction and an output number.</a:t>
            </a:r>
          </a:p>
          <a:p>
            <a:pPr algn="l">
              <a:spcAft>
                <a:spcPts val="300"/>
              </a:spcAft>
            </a:pPr>
            <a:r>
              <a:rPr sz="1100" b="1" i="0">
                <a:solidFill>
                  <a:srgbClr val="D97A14"/>
                </a:solidFill>
                <a:latin typeface="Calibri"/>
                <a:ea typeface="Calibri"/>
                <a:cs typeface="Calibri"/>
              </a:rPr>
              <a:t>Lines 3-4  </a:t>
            </a:r>
            <a:r>
              <a:rPr sz="1100" b="0" i="0">
                <a:solidFill>
                  <a:srgbClr val="2B2622"/>
                </a:solidFill>
                <a:latin typeface="Calibri"/>
                <a:ea typeface="Calibri"/>
                <a:cs typeface="Calibri"/>
              </a:rPr>
              <a:t>Explorers print the same 32 bytes in reverse order, and reversing twice restores them.</a:t>
            </a:r>
          </a:p>
          <a:p>
            <a:pPr algn="l">
              <a:spcAft>
                <a:spcPts val="300"/>
              </a:spcAft>
            </a:pPr>
            <a:r>
              <a:rPr sz="1100" b="1" i="0">
                <a:solidFill>
                  <a:srgbClr val="D97A14"/>
                </a:solidFill>
                <a:latin typeface="Calibri"/>
                <a:ea typeface="Calibri"/>
                <a:cs typeface="Calibri"/>
              </a:rPr>
              <a:t>Lines 5-6  </a:t>
            </a:r>
            <a:r>
              <a:rPr sz="1100" b="0" i="0">
                <a:solidFill>
                  <a:srgbClr val="2B2622"/>
                </a:solidFill>
                <a:latin typeface="Calibri"/>
                <a:ea typeface="Calibri"/>
                <a:cs typeface="Calibri"/>
              </a:rPr>
              <a:t>The printed form equals the earlier transaction's txid; the index says which output.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(3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UTXO database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Remove what is spent, add what is created.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drawer holding only the banknotes nobody has spent.</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Utreexo</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Digest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32 bytes that identify a transaction.</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fingerprint taken from a whole document.</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Internal byte order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order inside the bytes.</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a phone number from its last digit.</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Display byte order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order on the screen.</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phone number the usual way round.</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spend updates the UTXO set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Remove what is spent, add what is created</a:t>
            </a:r>
            <a:endParaRPr lang="en-US" sz="13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set of unspent outputs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914400"/>
                <a:gridCol w="548640"/>
                <a:gridCol w="15087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After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20,000 + 75,000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Left over: 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of 5,000 satoshis is no field; it is 100,000 minus 95,000.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Nodes keep only unspent outputs; the fee is whatever is left over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62</a:t>
            </a:r>
            <a:endParaRPr lang="en-US" sz="1100" dirty="0"/>
          </a:p>
        </p:txBody>
      </p:sp>
      <p:sp>
        <p:nvSpPr>
          <p:cNvPr id="28" name="code 6"/>
          <p:cNvSpPr/>
          <p:nvPr/>
        </p:nvSpPr>
        <p:spPr>
          <a:xfrm>
            <a:off x="365760" y="1216152"/>
            <a:ext cx="5166360" cy="1718157"/>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prev</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PREV_REC</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'vout'</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utxo</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PREV</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1</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prev</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'value'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before</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sorted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utxo</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values</a:t>
            </a:r>
            <a:r>
              <a:rPr sz="1100" b="0" i="0">
                <a:solidFill>
                  <a:srgbClr val="E6EDF3"/>
                </a:solidFill>
                <a:latin typeface="Courier New"/>
                <a:ea typeface="Courier New"/>
                <a:cs typeface="Courier New"/>
              </a:rPr>
              <a:t>())</a:t>
            </a:r>
          </a:p>
          <a:p>
            <a:pPr algn="l"/>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i</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'inputs'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del</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utxo</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i</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'txid'</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i</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'vout'</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t</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outs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'outputs'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utxo</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o</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'value'</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o</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enumerate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outs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fee</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sum</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before</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sum</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utxo</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values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fee</a:t>
            </a:r>
          </a:p>
        </p:txBody>
      </p:sp>
      <p:sp>
        <p:nvSpPr>
          <p:cNvPr id="29" name="result 6"/>
          <p:cNvSpPr/>
          <p:nvPr/>
        </p:nvSpPr>
        <p:spPr>
          <a:xfrm>
            <a:off x="365760" y="2998317"/>
            <a:ext cx="5166360" cy="737920"/>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before</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[100000]</a:t>
            </a:r>
          </a:p>
          <a:p>
            <a:pPr algn="l"/>
            <a:r>
              <a:rPr sz="1050" b="0" i="0">
                <a:solidFill>
                  <a:srgbClr val="6E655C"/>
                </a:solidFill>
                <a:latin typeface="Courier New"/>
                <a:ea typeface="Courier New"/>
                <a:cs typeface="Courier New"/>
              </a:rPr>
              <a:t>sorted(utxo.values())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[20000, 75000]</a:t>
            </a:r>
          </a:p>
          <a:p>
            <a:pPr algn="l"/>
            <a:r>
              <a:rPr sz="1050" b="0" i="0">
                <a:solidFill>
                  <a:srgbClr val="6E655C"/>
                </a:solidFill>
                <a:latin typeface="Courier New"/>
                <a:ea typeface="Courier New"/>
                <a:cs typeface="Courier New"/>
              </a:rPr>
              <a:t>fee</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5000</a:t>
            </a:r>
          </a:p>
        </p:txBody>
      </p:sp>
      <p:sp>
        <p:nvSpPr>
          <p:cNvPr id="30" name="explanation 6"/>
          <p:cNvSpPr txBox="1"/>
          <p:nvPr/>
        </p:nvSpPr>
        <p:spPr>
          <a:xfrm>
            <a:off x="365760" y="3800246"/>
            <a:ext cx="5166360" cy="753465"/>
          </a:xfrm>
          <a:prstGeom prst="rect">
            <a:avLst/>
          </a:prstGeom>
          <a:noFill/>
        </p:spPr>
        <p:txBody>
          <a:bodyPr wrap="square" lIns="0" rIns="0" tIns="0" bIns="0" anchor="t">
            <a:spAutoFit/>
          </a:bodyPr>
          <a:lstStyle/>
          <a:p>
            <a:pPr algn="l">
              <a:spcAft>
                <a:spcPts val="300"/>
              </a:spcAft>
            </a:pPr>
            <a:r>
              <a:rPr sz="1050" b="1" i="0">
                <a:solidFill>
                  <a:srgbClr val="D97A14"/>
                </a:solidFill>
                <a:latin typeface="Calibri"/>
                <a:ea typeface="Calibri"/>
                <a:cs typeface="Calibri"/>
              </a:rPr>
              <a:t>Lines 1-3  </a:t>
            </a:r>
            <a:r>
              <a:rPr sz="1050" b="0" i="0">
                <a:solidFill>
                  <a:srgbClr val="2B2622"/>
                </a:solidFill>
                <a:latin typeface="Calibri"/>
                <a:ea typeface="Calibri"/>
                <a:cs typeface="Calibri"/>
              </a:rPr>
              <a:t>Before the payment the set holds the one coin Alice spends.</a:t>
            </a:r>
          </a:p>
          <a:p>
            <a:pPr algn="l">
              <a:spcAft>
                <a:spcPts val="300"/>
              </a:spcAft>
            </a:pPr>
            <a:r>
              <a:rPr sz="1050" b="1" i="0">
                <a:solidFill>
                  <a:srgbClr val="D97A14"/>
                </a:solidFill>
                <a:latin typeface="Calibri"/>
                <a:ea typeface="Calibri"/>
                <a:cs typeface="Calibri"/>
              </a:rPr>
              <a:t>Lines 4-7  </a:t>
            </a:r>
            <a:r>
              <a:rPr sz="1050" b="0" i="0">
                <a:solidFill>
                  <a:srgbClr val="2B2622"/>
                </a:solidFill>
                <a:latin typeface="Calibri"/>
                <a:ea typeface="Calibri"/>
                <a:cs typeface="Calibri"/>
              </a:rPr>
              <a:t>Each input removes the coin it names; each output adds a new coin.</a:t>
            </a:r>
          </a:p>
          <a:p>
            <a:pPr algn="l">
              <a:spcAft>
                <a:spcPts val="300"/>
              </a:spcAft>
            </a:pPr>
            <a:r>
              <a:rPr sz="1050" b="1" i="0">
                <a:solidFill>
                  <a:srgbClr val="D97A14"/>
                </a:solidFill>
                <a:latin typeface="Calibri"/>
                <a:ea typeface="Calibri"/>
                <a:cs typeface="Calibri"/>
              </a:rPr>
              <a:t>Lines 8-9  </a:t>
            </a:r>
            <a:r>
              <a:rPr sz="1050" b="0" i="0">
                <a:solidFill>
                  <a:srgbClr val="2B2622"/>
                </a:solidFill>
                <a:latin typeface="Calibri"/>
                <a:ea typeface="Calibri"/>
                <a:cs typeface="Calibri"/>
              </a:rPr>
              <a:t>What is left over is the fee; no field of the transaction states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most famous purchase ever made with bitcoin</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Laszlo Hanyecz paid 10,000 bitcoins for two pizzas that a forum user ordered for him.</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He wanted to show that bitcoin could buy something real; his forum offer began four days earlier.</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payment confirmed in block 57,043: 131 inputs, one output of 10,000 BTC, a fee of 0.99 BTC.</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wallet that gathered many 50 BTC rewards must list every one of them as an input.</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programm…</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Papa John's on Atlan…</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(4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107 bytes for a legacy spend, 0 for segwit.</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you hand over at the door.</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length prefix</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0x6b says 107 bytes follow.</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label on a box saying how many items it holds.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sequence field</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sequence field is a booth ticket whose meaning changed three times.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Sequence replacement</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use of the field: replace an unfinished transaction.</a:t>
            </a:r>
            <a:endParaRPr lang="en-US" sz="1150" dirty="0"/>
          </a:p>
        </p:txBody>
      </p:sp>
      <p:sp>
        <p:nvSpPr>
          <p:cNvPr id="9" name="Text 7"/>
          <p:cNvSpPr txBox="1"/>
          <p:nvPr/>
        </p:nvSpPr>
        <p:spPr>
          <a:xfrm>
            <a:off x="777240" y="3086100"/>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order slip you can reissue until the kitchen closes.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Opt-in replace-by-fee</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later transaction that pays more replaces an earlier one.</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outbidding someone at an auction.</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Relative timelock</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coin that cannot be spent until some time after it arrived.</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gift card that activates a week after purchase.</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 sequence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Sequence number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last four bytes of an input.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counter on a ticket that the booth can reissue.</a:t>
            </a:r>
            <a:endParaRPr lang="en-US" sz="1150" dirty="0"/>
          </a:p>
        </p:txBody>
      </p:sp>
      <p:sp>
        <p:nvSpPr>
          <p:cNvPr id="10" name="Shape 8"/>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1" name="Shape 9"/>
          <p:cNvSpPr/>
          <p:nvPr/>
        </p:nvSpPr>
        <p:spPr>
          <a:xfrm>
            <a:off x="4663440" y="1408176"/>
            <a:ext cx="64008" cy="107350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Setup and refund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deposit that needs both signatures.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locked deposit box that needs two keys.</a:t>
            </a:r>
            <a:endParaRPr lang="en-US" sz="1150" dirty="0"/>
          </a:p>
        </p:txBody>
      </p:sp>
      <p:sp>
        <p:nvSpPr>
          <p:cNvPr id="14" name="Text 12"/>
          <p:cNvSpPr txBox="1"/>
          <p:nvPr/>
        </p:nvSpPr>
        <p:spPr>
          <a:xfrm>
            <a:off x="4828032"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setup transaction</a:t>
            </a:r>
            <a:endParaRPr lang="en-US" sz="100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Payment channel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versions, one broadcast.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many orders, one bill at the end.</a:t>
            </a:r>
            <a:endParaRPr lang="en-US" sz="1150" dirty="0"/>
          </a:p>
        </p:txBody>
      </p:sp>
      <p:sp>
        <p:nvSpPr>
          <p:cNvPr id="19" name="Text 17"/>
          <p:cNvSpPr txBox="1"/>
          <p:nvPr/>
        </p:nvSpPr>
        <p:spPr>
          <a:xfrm>
            <a:off x="640080" y="3674974"/>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high-frequency transactions</a:t>
            </a:r>
            <a:endParaRPr lang="en-US" sz="1000" dirty="0"/>
          </a:p>
        </p:txBody>
      </p:sp>
      <p:sp>
        <p:nvSpPr>
          <p:cNvPr id="20" name="Shape 18"/>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1" name="Shape 19"/>
          <p:cNvSpPr/>
          <p:nvPr/>
        </p:nvSpPr>
        <p:spPr>
          <a:xfrm>
            <a:off x="4663440" y="2865730"/>
            <a:ext cx="64008" cy="1073506"/>
          </a:xfrm>
          <a:prstGeom prst="rect">
            <a:avLst/>
          </a:prstGeom>
          <a:solidFill>
            <a:srgbClr val="D97A14"/>
          </a:solidFill>
          <a:ln w="12700">
            <a:solidFill>
              <a:srgbClr val="D97A14"/>
            </a:solidFill>
            <a:prstDash val="solid"/>
          </a:ln>
        </p:spPr>
      </p:sp>
      <p:sp>
        <p:nvSpPr>
          <p:cNvPr id="22" name="Text 20"/>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replacement bandwidth attack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20 KB in, 10 GB out, every minute.</a:t>
            </a:r>
            <a:endParaRPr lang="en-US" sz="1300" dirty="0"/>
          </a:p>
        </p:txBody>
      </p:sp>
      <p:sp>
        <p:nvSpPr>
          <p:cNvPr id="23" name="Text 21"/>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refiling the same form again and again to clog the office.</a:t>
            </a:r>
            <a:endParaRPr lang="en-US" sz="1150" dirty="0"/>
          </a:p>
        </p:txBody>
      </p:sp>
      <p:sp>
        <p:nvSpPr>
          <p:cNvPr id="24" name="Text 22"/>
          <p:cNvSpPr txBox="1"/>
          <p:nvPr/>
        </p:nvSpPr>
        <p:spPr>
          <a:xfrm>
            <a:off x="4828032" y="3674974"/>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Original sequence-based transaction replacement</a:t>
            </a:r>
            <a:endParaRPr lang="en-US" sz="10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sequence values, three meanings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and a relative timelock</a:t>
            </a:r>
            <a:endParaRPr lang="en-US" sz="13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values decoded</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914400"/>
                <a:gridCol w="960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Sequence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Replaceable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Timelock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0x0000001e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 blocks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two are final or almost final; the third signals replacement; only the last carries a timelock.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field is the security bit of this chapter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62</a:t>
            </a:r>
            <a:endParaRPr lang="en-US" sz="1100" dirty="0"/>
          </a:p>
        </p:txBody>
      </p:sp>
      <p:sp>
        <p:nvSpPr>
          <p:cNvPr id="28" name="code 7"/>
          <p:cNvSpPr/>
          <p:nvPr/>
        </p:nvSpPr>
        <p:spPr>
          <a:xfrm>
            <a:off x="365760" y="1216152"/>
            <a:ext cx="5166360" cy="101955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seqs</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0xffffffff</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0xfffffffe</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0xfffffffd</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30</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ds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sequence_decode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seqs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keys</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'hex'</a:t>
            </a:r>
            <a:r>
              <a:rPr sz="1100" b="0" i="0">
                <a:solidFill>
                  <a:srgbClr val="E6EDF3"/>
                </a:solidFill>
                <a:latin typeface="Courier New"/>
                <a:ea typeface="Courier New"/>
                <a:cs typeface="Courier New"/>
              </a:rPr>
              <a:t>, </a:t>
            </a:r>
            <a:r>
              <a:rPr sz="1100" b="0" i="0">
                <a:solidFill>
                  <a:srgbClr val="9ECBFF"/>
                </a:solidFill>
                <a:latin typeface="Courier New"/>
                <a:ea typeface="Courier New"/>
                <a:cs typeface="Courier New"/>
              </a:rPr>
              <a:t>'rbf_signal'</a:t>
            </a:r>
            <a:r>
              <a:rPr sz="1100" b="0" i="0">
                <a:solidFill>
                  <a:srgbClr val="E6EDF3"/>
                </a:solidFill>
                <a:latin typeface="Courier New"/>
                <a:ea typeface="Courier New"/>
                <a:cs typeface="Courier New"/>
              </a:rPr>
              <a:t>, </a:t>
            </a:r>
            <a:r>
              <a:rPr sz="1100" b="0" i="0">
                <a:solidFill>
                  <a:srgbClr val="9ECBFF"/>
                </a:solidFill>
                <a:latin typeface="Courier New"/>
                <a:ea typeface="Courier New"/>
                <a:cs typeface="Courier New"/>
              </a:rPr>
              <a:t>'relative_timelock'</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rows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tuple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k</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k</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keys</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d</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ds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rows</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3</a:t>
            </a:r>
            <a:r>
              <a:rPr sz="1100" b="0" i="0">
                <a:solidFill>
                  <a:srgbClr val="E6EDF3"/>
                </a:solidFill>
                <a:latin typeface="Courier New"/>
                <a:ea typeface="Courier New"/>
                <a:cs typeface="Courier New"/>
              </a:rPr>
              <a:t>]</a:t>
            </a:r>
          </a:p>
        </p:txBody>
      </p:sp>
      <p:sp>
        <p:nvSpPr>
          <p:cNvPr id="29" name="result 7"/>
          <p:cNvSpPr/>
          <p:nvPr/>
        </p:nvSpPr>
        <p:spPr>
          <a:xfrm>
            <a:off x="365760" y="2299716"/>
            <a:ext cx="5166360" cy="904341"/>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rows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[('0xffffffff', False, None), ('0xfffffffe', False, None), ('0xfffffffd', True, None), ('0x0000001e', True, ('blocks', 30))]</a:t>
            </a:r>
          </a:p>
          <a:p>
            <a:pPr algn="l"/>
            <a:r>
              <a:rPr sz="1050" b="0" i="0">
                <a:solidFill>
                  <a:srgbClr val="6E655C"/>
                </a:solidFill>
                <a:latin typeface="Courier New"/>
                <a:ea typeface="Courier New"/>
                <a:cs typeface="Courier New"/>
              </a:rPr>
              <a:t>rows[3]</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('0x0000001e', True, ('blocks', 30))</a:t>
            </a:r>
          </a:p>
        </p:txBody>
      </p:sp>
      <p:sp>
        <p:nvSpPr>
          <p:cNvPr id="30" name="explanation 7"/>
          <p:cNvSpPr txBox="1"/>
          <p:nvPr/>
        </p:nvSpPr>
        <p:spPr>
          <a:xfrm>
            <a:off x="365760" y="3268065"/>
            <a:ext cx="5166360" cy="1285646"/>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 1  </a:t>
            </a:r>
            <a:r>
              <a:rPr sz="1200" b="0" i="0">
                <a:solidFill>
                  <a:srgbClr val="2B2622"/>
                </a:solidFill>
                <a:latin typeface="Calibri"/>
                <a:ea typeface="Calibri"/>
                <a:cs typeface="Calibri"/>
              </a:rPr>
              <a:t>Four typical values: final, almost final, replaceable, and thirty blocks.</a:t>
            </a:r>
          </a:p>
          <a:p>
            <a:pPr algn="l">
              <a:spcAft>
                <a:spcPts val="300"/>
              </a:spcAft>
            </a:pPr>
            <a:r>
              <a:rPr sz="1200" b="1" i="0">
                <a:solidFill>
                  <a:srgbClr val="D97A14"/>
                </a:solidFill>
                <a:latin typeface="Calibri"/>
                <a:ea typeface="Calibri"/>
                <a:cs typeface="Calibri"/>
              </a:rPr>
              <a:t>Line 2  </a:t>
            </a:r>
            <a:r>
              <a:rPr sz="1200" b="0" i="0">
                <a:solidFill>
                  <a:srgbClr val="2B2622"/>
                </a:solidFill>
                <a:latin typeface="Calibri"/>
                <a:ea typeface="Calibri"/>
                <a:cs typeface="Calibri"/>
              </a:rPr>
              <a:t>The decoder applies BIP68 and BIP125, which reused the same field.</a:t>
            </a:r>
          </a:p>
          <a:p>
            <a:pPr algn="l">
              <a:spcAft>
                <a:spcPts val="300"/>
              </a:spcAft>
            </a:pPr>
            <a:r>
              <a:rPr sz="1200" b="1" i="0">
                <a:solidFill>
                  <a:srgbClr val="D97A14"/>
                </a:solidFill>
                <a:latin typeface="Calibri"/>
                <a:ea typeface="Calibri"/>
                <a:cs typeface="Calibri"/>
              </a:rPr>
              <a:t>Lines 3-5  </a:t>
            </a:r>
            <a:r>
              <a:rPr sz="1200" b="0" i="0">
                <a:solidFill>
                  <a:srgbClr val="2B2622"/>
                </a:solidFill>
                <a:latin typeface="Calibri"/>
                <a:ea typeface="Calibri"/>
                <a:cs typeface="Calibri"/>
              </a:rPr>
              <a:t>Each row shows the replace signal and the relative timelock.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Opt-in replace-by-fee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higher fee rate replaces a lower one.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that says I may be replaced by a better-paid one.</a:t>
            </a:r>
            <a:endParaRPr lang="en-US" sz="1150" dirty="0"/>
          </a:p>
        </p:txBody>
      </p:sp>
      <p:sp>
        <p:nvSpPr>
          <p:cNvPr id="10" name="Shape 8"/>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1" name="Shape 9"/>
          <p:cNvSpPr/>
          <p:nvPr/>
        </p:nvSpPr>
        <p:spPr>
          <a:xfrm>
            <a:off x="4663440" y="1408176"/>
            <a:ext cx="64008" cy="107350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BIP125 signal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Below 0xfffffffe means replaceable.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 box marked amendable on the form.</a:t>
            </a:r>
            <a:endParaRPr lang="en-US" sz="1150" dirty="0"/>
          </a:p>
        </p:txBody>
      </p:sp>
      <p:sp>
        <p:nvSpPr>
          <p:cNvPr id="14" name="Text 12"/>
          <p:cNvSpPr txBox="1"/>
          <p:nvPr/>
        </p:nvSpPr>
        <p:spPr>
          <a:xfrm>
            <a:off x="4828032" y="2217420"/>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Opt-in transaction replacement signaling</a:t>
            </a:r>
            <a:endParaRPr lang="en-US" sz="100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BIP68 relative timelock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30 blocks: confirm 29 blocks after the output.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coupon valid only some days after purchase.</a:t>
            </a:r>
            <a:endParaRPr lang="en-US" sz="1150" dirty="0"/>
          </a:p>
        </p:txBody>
      </p:sp>
      <p:sp>
        <p:nvSpPr>
          <p:cNvPr id="19" name="Text 17"/>
          <p:cNvSpPr txBox="1"/>
          <p:nvPr/>
        </p:nvSpPr>
        <p:spPr>
          <a:xfrm>
            <a:off x="640080" y="3674974"/>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Sequence as a consensus-enforced relative timelock</a:t>
            </a:r>
            <a:endParaRPr lang="en-US" sz="1000" dirty="0"/>
          </a:p>
        </p:txBody>
      </p:sp>
      <p:sp>
        <p:nvSpPr>
          <p:cNvPr id="20" name="Shape 18"/>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1" name="Shape 19"/>
          <p:cNvSpPr/>
          <p:nvPr/>
        </p:nvSpPr>
        <p:spPr>
          <a:xfrm>
            <a:off x="4663440" y="2865730"/>
            <a:ext cx="64008" cy="1073506"/>
          </a:xfrm>
          <a:prstGeom prst="rect">
            <a:avLst/>
          </a:prstGeom>
          <a:solidFill>
            <a:srgbClr val="D97A14"/>
          </a:solidFill>
          <a:ln w="12700">
            <a:solidFill>
              <a:srgbClr val="D97A14"/>
            </a:solidFill>
            <a:prstDash val="solid"/>
          </a:ln>
        </p:spPr>
      </p:sp>
      <p:sp>
        <p:nvSpPr>
          <p:cNvPr id="22" name="Text 20"/>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type flag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Bit 22 chooses blocks or 512-second units.</a:t>
            </a:r>
            <a:endParaRPr lang="en-US" sz="1300" dirty="0"/>
          </a:p>
        </p:txBody>
      </p:sp>
      <p:sp>
        <p:nvSpPr>
          <p:cNvPr id="23" name="Text 21"/>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switch choosing between counting turns and counting minutes.</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BIP68: an hour as a sequence number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32 bits of the field are divided</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sequence values and BIP68 masks</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2103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hour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0x400008 = 4,096 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Earliest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774,988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Masks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0x80000000, 0x400000, 0xffff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 hour rounds up to eight units of 512 seconds, which is 4,096 seconds.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Disable flag, type flag and a 16-bit value share one field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62</a:t>
            </a:r>
            <a:endParaRPr lang="en-US" sz="1100" dirty="0"/>
          </a:p>
        </p:txBody>
      </p:sp>
      <p:sp>
        <p:nvSpPr>
          <p:cNvPr id="30" name="code 8"/>
          <p:cNvSpPr/>
          <p:nvPr/>
        </p:nvSpPr>
        <p:spPr>
          <a:xfrm>
            <a:off x="365760" y="1216152"/>
            <a:ext cx="5166360" cy="136885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sequence_for</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seconds</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3600</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rt</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sequence_decode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'relative_timelock'</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first</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earliest_block</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774958</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30</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dis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hex</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SEQUENCE_LOCKTIME_DISABLE_FLAG</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typ</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hex</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SEQUENCE_LOCKTIME_TYPE_FLAG</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msk</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hex</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SEQUENCE_LOCKTIME_MASK</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first</a:t>
            </a:r>
          </a:p>
        </p:txBody>
      </p:sp>
      <p:sp>
        <p:nvSpPr>
          <p:cNvPr id="31" name="result 8"/>
          <p:cNvSpPr/>
          <p:nvPr/>
        </p:nvSpPr>
        <p:spPr>
          <a:xfrm>
            <a:off x="365760" y="2649016"/>
            <a:ext cx="5166360" cy="904341"/>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hex(s)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'0x400008'</a:t>
            </a:r>
          </a:p>
          <a:p>
            <a:pPr algn="l"/>
            <a:r>
              <a:rPr sz="1050" b="0" i="0">
                <a:solidFill>
                  <a:srgbClr val="6E655C"/>
                </a:solidFill>
                <a:latin typeface="Courier New"/>
                <a:ea typeface="Courier New"/>
                <a:cs typeface="Courier New"/>
              </a:rPr>
              <a:t>rt</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('seconds', 4096)</a:t>
            </a:r>
          </a:p>
          <a:p>
            <a:pPr algn="l"/>
            <a:r>
              <a:rPr sz="1050" b="0" i="0">
                <a:solidFill>
                  <a:srgbClr val="6E655C"/>
                </a:solidFill>
                <a:latin typeface="Courier New"/>
                <a:ea typeface="Courier New"/>
                <a:cs typeface="Courier New"/>
              </a:rPr>
              <a:t>first</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774988</a:t>
            </a:r>
          </a:p>
          <a:p>
            <a:pPr algn="l"/>
            <a:r>
              <a:rPr sz="1050" b="0" i="0">
                <a:solidFill>
                  <a:srgbClr val="6E655C"/>
                </a:solidFill>
                <a:latin typeface="Courier New"/>
                <a:ea typeface="Courier New"/>
                <a:cs typeface="Courier New"/>
              </a:rPr>
              <a:t>[dis, typ, msk]</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['0x80000000', '0x400000', '0xffff']</a:t>
            </a:r>
          </a:p>
        </p:txBody>
      </p:sp>
      <p:sp>
        <p:nvSpPr>
          <p:cNvPr id="32" name="explanation 8"/>
          <p:cNvSpPr txBox="1"/>
          <p:nvPr/>
        </p:nvSpPr>
        <p:spPr>
          <a:xfrm>
            <a:off x="365760" y="3617366"/>
            <a:ext cx="5166360" cy="936345"/>
          </a:xfrm>
          <a:prstGeom prst="rect">
            <a:avLst/>
          </a:prstGeom>
          <a:noFill/>
        </p:spPr>
        <p:txBody>
          <a:bodyPr wrap="square" lIns="0" rIns="0" tIns="0" bIns="0" anchor="t">
            <a:spAutoFit/>
          </a:bodyPr>
          <a:lstStyle/>
          <a:p>
            <a:pPr algn="l">
              <a:spcAft>
                <a:spcPts val="300"/>
              </a:spcAft>
            </a:pPr>
            <a:r>
              <a:rPr sz="1050" b="1" i="0">
                <a:solidFill>
                  <a:srgbClr val="D97A14"/>
                </a:solidFill>
                <a:latin typeface="Calibri"/>
                <a:ea typeface="Calibri"/>
                <a:cs typeface="Calibri"/>
              </a:rPr>
              <a:t>Lines 1-2  </a:t>
            </a:r>
            <a:r>
              <a:rPr sz="1050" b="0" i="0">
                <a:solidFill>
                  <a:srgbClr val="2B2622"/>
                </a:solidFill>
                <a:latin typeface="Calibri"/>
                <a:ea typeface="Calibri"/>
                <a:cs typeface="Calibri"/>
              </a:rPr>
              <a:t>One hour is counted in units of 512 seconds, with the type flag set.</a:t>
            </a:r>
          </a:p>
          <a:p>
            <a:pPr algn="l">
              <a:spcAft>
                <a:spcPts val="300"/>
              </a:spcAft>
            </a:pPr>
            <a:r>
              <a:rPr sz="1050" b="1" i="0">
                <a:solidFill>
                  <a:srgbClr val="D97A14"/>
                </a:solidFill>
                <a:latin typeface="Calibri"/>
                <a:ea typeface="Calibri"/>
                <a:cs typeface="Calibri"/>
              </a:rPr>
              <a:t>Line 3  </a:t>
            </a:r>
            <a:r>
              <a:rPr sz="1050" b="0" i="0">
                <a:solidFill>
                  <a:srgbClr val="2B2622"/>
                </a:solidFill>
                <a:latin typeface="Calibri"/>
                <a:ea typeface="Calibri"/>
                <a:cs typeface="Calibri"/>
              </a:rPr>
              <a:t>Thirty blocks after a coin confirmed at 774,958 is the earliest spend.</a:t>
            </a:r>
          </a:p>
          <a:p>
            <a:pPr algn="l">
              <a:spcAft>
                <a:spcPts val="300"/>
              </a:spcAft>
            </a:pPr>
            <a:r>
              <a:rPr sz="1050" b="1" i="0">
                <a:solidFill>
                  <a:srgbClr val="D97A14"/>
                </a:solidFill>
                <a:latin typeface="Calibri"/>
                <a:ea typeface="Calibri"/>
                <a:cs typeface="Calibri"/>
              </a:rPr>
              <a:t>Lines 4-7  </a:t>
            </a:r>
            <a:r>
              <a:rPr sz="1050" b="0" i="0">
                <a:solidFill>
                  <a:srgbClr val="2B2622"/>
                </a:solidFill>
                <a:latin typeface="Calibri"/>
                <a:ea typeface="Calibri"/>
                <a:cs typeface="Calibri"/>
              </a:rPr>
              <a:t>Three masks split the 32 bits into two flags and a 16-bit value.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disable flag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Bit 31 switches the timelock off.</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off switch that makes the coupon valid at once.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16-bit mask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65,535 blocks or units, about a year.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counter with room for only 65,535 ticks.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Outputs are the lines of a till receipt: an amount and who may collect it.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output list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list of new coins the transaction creates.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change a till hands back.</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Dust policy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Rules that keep tiny coins from clogging everyone's database.</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 that refuses to count single cents.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output script</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lock that decides who may spend the new coin.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lock fitted to a new deposit box.</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(1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count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Two outputs: a payment and change.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how many envelopes of money leave the till.</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Amount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8 bytes, little-endian, in satoshis.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sum on a cheque, written in the smallest coins.</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Satoshi</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100 million to a bitcoin.</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cent that is a hundred-millionth of the whole note.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consensus range of an amount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From 0 to 2.1 quadrillion.</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form that cannot print negative or absurd sums.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Amounts, change and the fee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output is an amount and a condition</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satoshis in each output, and the fee</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spent coin held 100,000 satoshis; the outputs take 95,000 and the remaining 5,000 is the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field holds a balance or a fee; both are differences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62</a:t>
            </a:r>
            <a:endParaRPr lang="en-US" sz="1100" dirty="0"/>
          </a:p>
        </p:txBody>
      </p:sp>
      <p:sp>
        <p:nvSpPr>
          <p:cNvPr id="28" name="code 9"/>
          <p:cNvSpPr/>
          <p:nvPr/>
        </p:nvSpPr>
        <p:spPr>
          <a:xfrm>
            <a:off x="365760" y="1216152"/>
            <a:ext cx="5166360" cy="101955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paid</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o</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'value'</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o</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'outputs'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funds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PREV_REC</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'vout'</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a:t>
            </a:r>
            <a:r>
              <a:rPr sz="1100" b="0" i="0">
                <a:solidFill>
                  <a:srgbClr val="E6EDF3"/>
                </a:solidFill>
                <a:latin typeface="Courier New"/>
                <a:ea typeface="Courier New"/>
                <a:cs typeface="Courier New"/>
              </a:rPr>
              <a:t>][</a:t>
            </a:r>
            <a:r>
              <a:rPr sz="1100" b="0" i="0">
                <a:solidFill>
                  <a:srgbClr val="9ECBFF"/>
                </a:solidFill>
                <a:latin typeface="Courier New"/>
                <a:ea typeface="Courier New"/>
                <a:cs typeface="Courier New"/>
              </a:rPr>
              <a:t>'value'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fee</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funds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sum</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paid</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parts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paid</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fee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fee</a:t>
            </a:r>
          </a:p>
        </p:txBody>
      </p:sp>
      <p:sp>
        <p:nvSpPr>
          <p:cNvPr id="29" name="result 9"/>
          <p:cNvSpPr/>
          <p:nvPr/>
        </p:nvSpPr>
        <p:spPr>
          <a:xfrm>
            <a:off x="365760" y="2299716"/>
            <a:ext cx="5166360" cy="737920"/>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parts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[20000, 75000, 5000]</a:t>
            </a:r>
          </a:p>
          <a:p>
            <a:pPr algn="l"/>
            <a:r>
              <a:rPr sz="1050" b="0" i="0">
                <a:solidFill>
                  <a:srgbClr val="6E655C"/>
                </a:solidFill>
                <a:latin typeface="Courier New"/>
                <a:ea typeface="Courier New"/>
                <a:cs typeface="Courier New"/>
              </a:rPr>
              <a:t>funds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100000</a:t>
            </a:r>
          </a:p>
          <a:p>
            <a:pPr algn="l"/>
            <a:r>
              <a:rPr sz="1050" b="0" i="0">
                <a:solidFill>
                  <a:srgbClr val="6E655C"/>
                </a:solidFill>
                <a:latin typeface="Courier New"/>
                <a:ea typeface="Courier New"/>
                <a:cs typeface="Courier New"/>
              </a:rPr>
              <a:t>fee</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5000</a:t>
            </a:r>
          </a:p>
        </p:txBody>
      </p:sp>
      <p:sp>
        <p:nvSpPr>
          <p:cNvPr id="30" name="explanation 9"/>
          <p:cNvSpPr txBox="1"/>
          <p:nvPr/>
        </p:nvSpPr>
        <p:spPr>
          <a:xfrm>
            <a:off x="365760" y="3101644"/>
            <a:ext cx="5166360" cy="1452067"/>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 1  </a:t>
            </a:r>
            <a:r>
              <a:rPr sz="1200" b="0" i="0">
                <a:solidFill>
                  <a:srgbClr val="2B2622"/>
                </a:solidFill>
                <a:latin typeface="Calibri"/>
                <a:ea typeface="Calibri"/>
                <a:cs typeface="Calibri"/>
              </a:rPr>
              <a:t>Each output states an amount, in satoshis, the smallest unit.</a:t>
            </a:r>
          </a:p>
          <a:p>
            <a:pPr algn="l">
              <a:spcAft>
                <a:spcPts val="300"/>
              </a:spcAft>
            </a:pPr>
            <a:r>
              <a:rPr sz="1200" b="1" i="0">
                <a:solidFill>
                  <a:srgbClr val="D97A14"/>
                </a:solidFill>
                <a:latin typeface="Calibri"/>
                <a:ea typeface="Calibri"/>
                <a:cs typeface="Calibri"/>
              </a:rPr>
              <a:t>Line 2  </a:t>
            </a:r>
            <a:r>
              <a:rPr sz="1200" b="0" i="0">
                <a:solidFill>
                  <a:srgbClr val="2B2622"/>
                </a:solidFill>
                <a:latin typeface="Calibri"/>
                <a:ea typeface="Calibri"/>
                <a:cs typeface="Calibri"/>
              </a:rPr>
              <a:t>The input states no amount; it is read from the coin that is spent.</a:t>
            </a:r>
          </a:p>
          <a:p>
            <a:pPr algn="l">
              <a:spcAft>
                <a:spcPts val="300"/>
              </a:spcAft>
            </a:pPr>
            <a:r>
              <a:rPr sz="1200" b="1" i="0">
                <a:solidFill>
                  <a:srgbClr val="D97A14"/>
                </a:solidFill>
                <a:latin typeface="Calibri"/>
                <a:ea typeface="Calibri"/>
                <a:cs typeface="Calibri"/>
              </a:rPr>
              <a:t>Lines 3-5  </a:t>
            </a:r>
            <a:r>
              <a:rPr sz="1200" b="0" i="0">
                <a:solidFill>
                  <a:srgbClr val="2B2622"/>
                </a:solidFill>
                <a:latin typeface="Calibri"/>
                <a:ea typeface="Calibri"/>
                <a:cs typeface="Calibri"/>
              </a:rPr>
              <a:t>The fee is only a difference between inputs and outputs.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(2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Uneconomical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Worth less than the fee to spend it.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coin so small the postage costs more than the coin.</a:t>
            </a:r>
            <a:endParaRPr lang="en-US" sz="1150" dirty="0"/>
          </a:p>
        </p:txBody>
      </p:sp>
      <p:sp>
        <p:nvSpPr>
          <p:cNvPr id="10" name="Text 8"/>
          <p:cNvSpPr txBox="1"/>
          <p:nvPr/>
        </p:nvSpPr>
        <p:spPr>
          <a:xfrm>
            <a:off x="640080" y="2217420"/>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Uneconomical outputs and disallowed dust</a:t>
            </a:r>
            <a:endParaRPr lang="en-US" sz="1000" dirty="0"/>
          </a:p>
        </p:txBody>
      </p:sp>
      <p:sp>
        <p:nvSpPr>
          <p:cNvPr id="11" name="Shape 9"/>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2" name="Shape 10"/>
          <p:cNvSpPr/>
          <p:nvPr/>
        </p:nvSpPr>
        <p:spPr>
          <a:xfrm>
            <a:off x="4663440" y="1408176"/>
            <a:ext cx="64008" cy="1073506"/>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Dust limit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546 satoshis, from 182 bytes at 3,000 sat/kvB.</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smallest coin the post office agrees to carry.</a:t>
            </a:r>
            <a:endParaRPr lang="en-US" sz="115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Data-carrier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OP_RETURN: unspendable, so not dust.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note stuck on a parcel, carrying no money.</a:t>
            </a:r>
            <a:endParaRPr lang="en-US" sz="1150" dirty="0"/>
          </a:p>
        </p:txBody>
      </p:sp>
      <p:sp>
        <p:nvSpPr>
          <p:cNvPr id="19" name="Shape 17"/>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0" name="Shape 18"/>
          <p:cNvSpPr/>
          <p:nvPr/>
        </p:nvSpPr>
        <p:spPr>
          <a:xfrm>
            <a:off x="4663440" y="2865730"/>
            <a:ext cx="64008" cy="1073506"/>
          </a:xfrm>
          <a:prstGeom prst="rect">
            <a:avLst/>
          </a:prstGeom>
          <a:solidFill>
            <a:srgbClr val="D97A14"/>
          </a:solidFill>
          <a:ln w="12700">
            <a:solidFill>
              <a:srgbClr val="D97A14"/>
            </a:solidFill>
            <a:prstDash val="solid"/>
          </a:ln>
        </p:spPr>
      </p:sp>
      <p:sp>
        <p:nvSpPr>
          <p:cNvPr id="21" name="Text 19"/>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34 bytes to Bob, 22 bytes of change.</a:t>
            </a:r>
            <a:endParaRPr lang="en-US" sz="1300" dirty="0"/>
          </a:p>
        </p:txBody>
      </p:sp>
      <p:sp>
        <p:nvSpPr>
          <p:cNvPr id="22" name="Text 20"/>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fitted to the coin: whoever opens it may spend.</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2010 overflow,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two huge outputs added up to a negative number</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arithmetic of block 74,638</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outputs added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-997,538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test: total in range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True: 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New test: each in range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False: 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negative total is below the limit, so only the per-output check catches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each amount and the total: one check on the total was not enough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62</a:t>
            </a:r>
            <a:endParaRPr lang="en-US" sz="1100" dirty="0"/>
          </a:p>
        </p:txBody>
      </p:sp>
      <p:sp>
        <p:nvSpPr>
          <p:cNvPr id="36" name="code 10"/>
          <p:cNvSpPr/>
          <p:nvPr/>
        </p:nvSpPr>
        <p:spPr>
          <a:xfrm>
            <a:off x="365760" y="1216152"/>
            <a:ext cx="5166360" cy="119420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out</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9223372036854277039</a:t>
            </a:r>
          </a:p>
          <a:p>
            <a:pPr algn="l"/>
            <a:r>
              <a:rPr sz="1100" b="0" i="0">
                <a:solidFill>
                  <a:srgbClr val="E6EDF3"/>
                </a:solidFill>
                <a:latin typeface="Courier New"/>
                <a:ea typeface="Courier New"/>
                <a:cs typeface="Courier New"/>
              </a:rPr>
              <a:t>wrapped</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2</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out</a:t>
            </a:r>
            <a:r>
              <a:rPr sz="1100" b="0" i="0">
                <a:solidFill>
                  <a:srgbClr val="E6EDF3"/>
                </a:solidFill>
                <a:latin typeface="Courier New"/>
                <a:ea typeface="Courier New"/>
                <a:cs typeface="Courier New"/>
              </a:rPr>
              <a:t>) &amp; </a:t>
            </a:r>
            <a:r>
              <a:rPr sz="1100" b="0" i="0">
                <a:solidFill>
                  <a:srgbClr val="FFD28A"/>
                </a:solidFill>
                <a:latin typeface="Courier New"/>
                <a:ea typeface="Courier New"/>
                <a:cs typeface="Courier New"/>
              </a:rPr>
              <a:t>0xffffffffffffffff</a:t>
            </a:r>
          </a:p>
          <a:p>
            <a:pPr algn="l"/>
            <a:r>
              <a:rPr sz="1100" b="0" i="0">
                <a:solidFill>
                  <a:srgbClr val="E6EDF3"/>
                </a:solidFill>
                <a:latin typeface="Courier New"/>
                <a:ea typeface="Courier New"/>
                <a:cs typeface="Courier New"/>
              </a:rPr>
              <a:t>total</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wrapped</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2</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64</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if</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wrapped</a:t>
            </a:r>
            <a:r>
              <a:rPr sz="1100" b="0" i="0">
                <a:solidFill>
                  <a:srgbClr val="E6EDF3"/>
                </a:solidFill>
                <a:latin typeface="Courier New"/>
                <a:ea typeface="Courier New"/>
                <a:cs typeface="Courier New"/>
              </a:rPr>
              <a:t> &gt;= </a:t>
            </a:r>
            <a:r>
              <a:rPr sz="1100" b="0" i="0">
                <a:solidFill>
                  <a:srgbClr val="FFD28A"/>
                </a:solidFill>
                <a:latin typeface="Courier New"/>
                <a:ea typeface="Courier New"/>
                <a:cs typeface="Courier New"/>
              </a:rPr>
              <a:t>2</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63</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else</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wrapped</a:t>
            </a:r>
          </a:p>
          <a:p>
            <a:pPr algn="l"/>
            <a:r>
              <a:rPr sz="1100" b="0" i="0">
                <a:solidFill>
                  <a:srgbClr val="E6EDF3"/>
                </a:solidFill>
                <a:latin typeface="Courier New"/>
                <a:ea typeface="Courier New"/>
                <a:cs typeface="Courier New"/>
              </a:rPr>
              <a:t>naive_ok</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total</a:t>
            </a:r>
            <a:r>
              <a:rPr sz="1100" b="0" i="0">
                <a:solidFill>
                  <a:srgbClr val="E6EDF3"/>
                </a:solidFill>
                <a:latin typeface="Courier New"/>
                <a:ea typeface="Courier New"/>
                <a:cs typeface="Courier New"/>
              </a:rPr>
              <a:t> &lt;= </a:t>
            </a:r>
            <a:r>
              <a:rPr sz="1100" b="0" i="0">
                <a:solidFill>
                  <a:srgbClr val="E6EDF3"/>
                </a:solidFill>
                <a:latin typeface="Courier New"/>
                <a:ea typeface="Courier New"/>
                <a:cs typeface="Courier New"/>
              </a:rPr>
              <a:t>MAX_MONEY</a:t>
            </a:r>
          </a:p>
          <a:p>
            <a:pPr algn="l"/>
            <a:r>
              <a:rPr sz="1100" b="0" i="0">
                <a:solidFill>
                  <a:srgbClr val="E6EDF3"/>
                </a:solidFill>
                <a:latin typeface="Courier New"/>
                <a:ea typeface="Courier New"/>
                <a:cs typeface="Courier New"/>
              </a:rPr>
              <a:t>fixed_ok</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money_range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out</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naive_ok</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fixed_ok</a:t>
            </a:r>
            <a:r>
              <a:rPr sz="1100" b="0" i="0">
                <a:solidFill>
                  <a:srgbClr val="E6EDF3"/>
                </a:solidFill>
                <a:latin typeface="Courier New"/>
                <a:ea typeface="Courier New"/>
                <a:cs typeface="Courier New"/>
              </a:rPr>
              <a:t>)</a:t>
            </a:r>
          </a:p>
        </p:txBody>
      </p:sp>
      <p:sp>
        <p:nvSpPr>
          <p:cNvPr id="37" name="result 10"/>
          <p:cNvSpPr/>
          <p:nvPr/>
        </p:nvSpPr>
        <p:spPr>
          <a:xfrm>
            <a:off x="365760" y="2474366"/>
            <a:ext cx="5166360" cy="904341"/>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total</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-997538</a:t>
            </a:r>
          </a:p>
          <a:p>
            <a:pPr algn="l"/>
            <a:r>
              <a:rPr sz="1050" b="0" i="0">
                <a:solidFill>
                  <a:srgbClr val="6E655C"/>
                </a:solidFill>
                <a:latin typeface="Courier New"/>
                <a:ea typeface="Courier New"/>
                <a:cs typeface="Courier New"/>
              </a:rPr>
              <a:t>naive_ok</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True</a:t>
            </a:r>
          </a:p>
          <a:p>
            <a:pPr algn="l"/>
            <a:r>
              <a:rPr sz="1050" b="0" i="0">
                <a:solidFill>
                  <a:srgbClr val="6E655C"/>
                </a:solidFill>
                <a:latin typeface="Courier New"/>
                <a:ea typeface="Courier New"/>
                <a:cs typeface="Courier New"/>
              </a:rPr>
              <a:t>fixed_ok</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False</a:t>
            </a:r>
          </a:p>
          <a:p>
            <a:pPr algn="l"/>
            <a:r>
              <a:rPr sz="1050" b="0" i="0">
                <a:solidFill>
                  <a:srgbClr val="6E655C"/>
                </a:solidFill>
                <a:latin typeface="Courier New"/>
                <a:ea typeface="Courier New"/>
                <a:cs typeface="Courier New"/>
              </a:rPr>
              <a:t>(naive_ok, fixed_ok)</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(True, False)</a:t>
            </a:r>
          </a:p>
        </p:txBody>
      </p:sp>
      <p:sp>
        <p:nvSpPr>
          <p:cNvPr id="38" name="explanation 10"/>
          <p:cNvSpPr txBox="1"/>
          <p:nvPr/>
        </p:nvSpPr>
        <p:spPr>
          <a:xfrm>
            <a:off x="365760" y="3442716"/>
            <a:ext cx="5166360" cy="1110996"/>
          </a:xfrm>
          <a:prstGeom prst="rect">
            <a:avLst/>
          </a:prstGeom>
          <a:noFill/>
        </p:spPr>
        <p:txBody>
          <a:bodyPr wrap="square" lIns="0" rIns="0" tIns="0" bIns="0" anchor="t">
            <a:spAutoFit/>
          </a:bodyPr>
          <a:lstStyle/>
          <a:p>
            <a:pPr algn="l">
              <a:spcAft>
                <a:spcPts val="300"/>
              </a:spcAft>
            </a:pPr>
            <a:r>
              <a:rPr sz="1100" b="1" i="0">
                <a:solidFill>
                  <a:srgbClr val="D97A14"/>
                </a:solidFill>
                <a:latin typeface="Calibri"/>
                <a:ea typeface="Calibri"/>
                <a:cs typeface="Calibri"/>
              </a:rPr>
              <a:t>Line 1  </a:t>
            </a:r>
            <a:r>
              <a:rPr sz="1100" b="0" i="0">
                <a:solidFill>
                  <a:srgbClr val="2B2622"/>
                </a:solidFill>
                <a:latin typeface="Calibri"/>
                <a:ea typeface="Calibri"/>
                <a:cs typeface="Calibri"/>
              </a:rPr>
              <a:t>Each of the two outputs of block 74,638 held this many satoshis.</a:t>
            </a:r>
          </a:p>
          <a:p>
            <a:pPr algn="l">
              <a:spcAft>
                <a:spcPts val="300"/>
              </a:spcAft>
            </a:pPr>
            <a:r>
              <a:rPr sz="1100" b="1" i="0">
                <a:solidFill>
                  <a:srgbClr val="D97A14"/>
                </a:solidFill>
                <a:latin typeface="Calibri"/>
                <a:ea typeface="Calibri"/>
                <a:cs typeface="Calibri"/>
              </a:rPr>
              <a:t>Lines 2-3  </a:t>
            </a:r>
            <a:r>
              <a:rPr sz="1100" b="0" i="0">
                <a:solidFill>
                  <a:srgbClr val="2B2622"/>
                </a:solidFill>
                <a:latin typeface="Calibri"/>
                <a:ea typeface="Calibri"/>
                <a:cs typeface="Calibri"/>
              </a:rPr>
              <a:t>Added as 64-bit signed integers, two such amounts wrap to a negative number.</a:t>
            </a:r>
          </a:p>
          <a:p>
            <a:pPr algn="l">
              <a:spcAft>
                <a:spcPts val="300"/>
              </a:spcAft>
            </a:pPr>
            <a:r>
              <a:rPr sz="1100" b="1" i="0">
                <a:solidFill>
                  <a:srgbClr val="D97A14"/>
                </a:solidFill>
                <a:latin typeface="Calibri"/>
                <a:ea typeface="Calibri"/>
                <a:cs typeface="Calibri"/>
              </a:rPr>
              <a:t>Lines 4-6  </a:t>
            </a:r>
            <a:r>
              <a:rPr sz="1100" b="0" i="0">
                <a:solidFill>
                  <a:srgbClr val="2B2622"/>
                </a:solidFill>
                <a:latin typeface="Calibri"/>
                <a:ea typeface="Calibri"/>
                <a:cs typeface="Calibri"/>
              </a:rPr>
              <a:t>A check on the total passed; a check on each output refuses the block.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bug that created money out of thin air</a:t>
            </a:r>
            <a:endParaRPr lang="en-US" sz="1300" dirty="0"/>
          </a:p>
        </p:txBody>
      </p:sp>
      <p:pic>
        <p:nvPicPr>
          <p:cNvPr id="6" name="Image 0" descr="../../03-materials/ch06/assets/photo_satoshi_bust_budapest.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Satoshi bust, Budapest - Fekist, CC BY-SA 4.0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74,638 held a transaction with two outputs of 92 billion bitcoins each, 184 billion in all.</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Added as 64-bit integers the amounts wrapped to a small negative number, which passed the check.</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Jeff Garzik reported it within two hours; Satoshi patched it in about five; the chain recovered at block 74,691.</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still cites the bug, CVE-2010-5139, in tx_check.cpp.</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Jef…</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 and the…</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(3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size limits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Zero at minimum, 10,000 bytes to spend.</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cap on how long the lock's instructions may be.</a:t>
            </a:r>
            <a:endParaRPr lang="en-US" sz="1150" dirty="0"/>
          </a:p>
        </p:txBody>
      </p:sp>
      <p:sp>
        <p:nvSpPr>
          <p:cNvPr id="10" name="Shape 8"/>
          <p:cNvSpPr/>
          <p:nvPr/>
        </p:nvSpPr>
        <p:spPr>
          <a:xfrm>
            <a:off x="3249168" y="1280160"/>
            <a:ext cx="2645664"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3267456"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Anyone-can-spend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empty script that OP_TRUE satisfies.</a:t>
            </a:r>
            <a:endParaRPr lang="en-US" sz="1300" dirty="0"/>
          </a:p>
        </p:txBody>
      </p:sp>
      <p:sp>
        <p:nvSpPr>
          <p:cNvPr id="13" name="Text 11"/>
          <p:cNvSpPr txBox="1"/>
          <p:nvPr/>
        </p:nvSpPr>
        <p:spPr>
          <a:xfrm>
            <a:off x="3432048"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left unlocked in the street.</a:t>
            </a:r>
            <a:endParaRPr lang="en-US" sz="1150" dirty="0"/>
          </a:p>
        </p:txBody>
      </p:sp>
      <p:sp>
        <p:nvSpPr>
          <p:cNvPr id="14" name="Shape 12"/>
          <p:cNvSpPr/>
          <p:nvPr/>
        </p:nvSpPr>
        <p:spPr>
          <a:xfrm>
            <a:off x="6041136" y="1280160"/>
            <a:ext cx="2645664"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6059424" y="1408176"/>
            <a:ext cx="64008" cy="110642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Standard transaction outputs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few templates relay policy allows.</a:t>
            </a:r>
            <a:endParaRPr lang="en-US" sz="1300" dirty="0"/>
          </a:p>
        </p:txBody>
      </p:sp>
      <p:sp>
        <p:nvSpPr>
          <p:cNvPr id="17" name="Text 15"/>
          <p:cNvSpPr txBox="1"/>
          <p:nvPr/>
        </p:nvSpPr>
        <p:spPr>
          <a:xfrm>
            <a:off x="6224016"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few lock models the post office accepts.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limits by output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smallest output a node will relay</a:t>
            </a:r>
            <a:endParaRPr lang="en-US" sz="13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dust limit in satoshis, at 3,000 sat/kvB</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 output below its limit is not relayed. OP_RETURN outputs cannot be spent, so their limit is zero.</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62</a:t>
            </a:r>
            <a:endParaRPr lang="en-US" sz="1100" dirty="0"/>
          </a:p>
        </p:txBody>
      </p:sp>
      <p:sp>
        <p:nvSpPr>
          <p:cNvPr id="23" name="code 11"/>
          <p:cNvSpPr/>
          <p:nvPr/>
        </p:nvSpPr>
        <p:spPr>
          <a:xfrm>
            <a:off x="365760" y="1216152"/>
            <a:ext cx="5166360" cy="119420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P2PKH</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'76a914'</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'00'</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20</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'88ac'</a:t>
            </a:r>
          </a:p>
          <a:p>
            <a:pPr algn="l"/>
            <a:r>
              <a:rPr sz="1100" b="0" i="0">
                <a:solidFill>
                  <a:srgbClr val="E6EDF3"/>
                </a:solidFill>
                <a:latin typeface="Courier New"/>
                <a:ea typeface="Courier New"/>
                <a:cs typeface="Courier New"/>
              </a:rPr>
              <a:t>P2WPKH</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'0014'</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'00'</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20</a:t>
            </a:r>
          </a:p>
          <a:p>
            <a:pPr algn="l"/>
            <a:r>
              <a:rPr sz="1100" b="0" i="0">
                <a:solidFill>
                  <a:srgbClr val="E6EDF3"/>
                </a:solidFill>
                <a:latin typeface="Courier New"/>
                <a:ea typeface="Courier New"/>
                <a:cs typeface="Courier New"/>
              </a:rPr>
              <a:t>P2TR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RET</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'5120'</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'00'</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32</a:t>
            </a:r>
            <a:r>
              <a:rPr sz="1100" b="0" i="0">
                <a:solidFill>
                  <a:srgbClr val="E6EDF3"/>
                </a:solidFill>
                <a:latin typeface="Courier New"/>
                <a:ea typeface="Courier New"/>
                <a:cs typeface="Courier New"/>
              </a:rPr>
              <a:t>, </a:t>
            </a:r>
            <a:r>
              <a:rPr sz="1100" b="0" i="0">
                <a:solidFill>
                  <a:srgbClr val="9ECBFF"/>
                </a:solidFill>
                <a:latin typeface="Courier New"/>
                <a:ea typeface="Courier New"/>
                <a:cs typeface="Courier New"/>
              </a:rPr>
              <a:t>'6a04deadbeef'</a:t>
            </a:r>
          </a:p>
          <a:p>
            <a:pPr algn="l"/>
            <a:r>
              <a:rPr sz="1100" b="0" i="0">
                <a:solidFill>
                  <a:srgbClr val="E6EDF3"/>
                </a:solidFill>
                <a:latin typeface="Courier New"/>
                <a:ea typeface="Courier New"/>
                <a:cs typeface="Courier New"/>
              </a:rPr>
              <a:t>scripts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P2PKH</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P2WPKH</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P2TR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RET</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limits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dust_threshold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scripts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limits</a:t>
            </a:r>
          </a:p>
        </p:txBody>
      </p:sp>
      <p:sp>
        <p:nvSpPr>
          <p:cNvPr id="24" name="result 11"/>
          <p:cNvSpPr/>
          <p:nvPr/>
        </p:nvSpPr>
        <p:spPr>
          <a:xfrm>
            <a:off x="365760" y="2474366"/>
            <a:ext cx="5166360" cy="404164"/>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limits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[546, 294, 330, 0]</a:t>
            </a:r>
          </a:p>
        </p:txBody>
      </p:sp>
      <p:sp>
        <p:nvSpPr>
          <p:cNvPr id="25" name="explanation 11"/>
          <p:cNvSpPr txBox="1"/>
          <p:nvPr/>
        </p:nvSpPr>
        <p:spPr>
          <a:xfrm>
            <a:off x="365760" y="2942539"/>
            <a:ext cx="5166360" cy="1611172"/>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Lines 1-3  </a:t>
            </a:r>
            <a:r>
              <a:rPr sz="1200" b="0" i="0">
                <a:solidFill>
                  <a:srgbClr val="2B2622"/>
                </a:solidFill>
                <a:latin typeface="Calibri"/>
                <a:ea typeface="Calibri"/>
                <a:cs typeface="Calibri"/>
              </a:rPr>
              <a:t>Four output scripts: three that can be spent and one data carrier.</a:t>
            </a:r>
          </a:p>
          <a:p>
            <a:pPr algn="l">
              <a:spcAft>
                <a:spcPts val="300"/>
              </a:spcAft>
            </a:pPr>
            <a:r>
              <a:rPr sz="1200" b="1" i="0">
                <a:solidFill>
                  <a:srgbClr val="D97A14"/>
                </a:solidFill>
                <a:latin typeface="Calibri"/>
                <a:ea typeface="Calibri"/>
                <a:cs typeface="Calibri"/>
              </a:rPr>
              <a:t>Lines 4-6  </a:t>
            </a:r>
            <a:r>
              <a:rPr sz="1200" b="0" i="0">
                <a:solidFill>
                  <a:srgbClr val="2B2622"/>
                </a:solidFill>
                <a:latin typeface="Calibri"/>
                <a:ea typeface="Calibri"/>
                <a:cs typeface="Calibri"/>
              </a:rPr>
              <a:t>The limit is the cost of creating plus spending an output, at the relay fee.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witness is the ID you show at the counter, kept off the receipt.</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Idea of a witness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Evidence that the spender may spend, kept apart.</a:t>
            </a:r>
            <a:endParaRPr lang="en-US" sz="1100" dirty="0"/>
          </a:p>
        </p:txBody>
      </p:sp>
      <p:sp>
        <p:nvSpPr>
          <p:cNvPr id="9" name="Text 7"/>
          <p:cNvSpPr txBox="1"/>
          <p:nvPr/>
        </p:nvSpPr>
        <p:spPr>
          <a:xfrm>
            <a:off x="777240" y="3062326"/>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ID card you show at the counter.</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Malleability</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Changing a transaction's identifier without changing what it pays.</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re-spelling a name so the filing clerk loses the receipt.</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Segwit</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upgrade that moved the proof out of the identifier.</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keeping the passport photo off the ticket number.</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Witness layout</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How the separate proofs are written after the main fields.</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annex pages bound behind the main letter.</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(1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value 2 solves 2 OP_ADD 4 OP_EQUAL.</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answer to the riddle printed on the lock.</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Public key and signature as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problem only the key holder can solve.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signature only the account holder can produce.</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Contract protocols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Transactions signed out of order.</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agreements signed in advance so nobody can walk away.</a:t>
            </a:r>
            <a:endParaRPr lang="en-US" sz="1150" dirty="0"/>
          </a:p>
        </p:txBody>
      </p:sp>
      <p:sp>
        <p:nvSpPr>
          <p:cNvPr id="18" name="Text 16"/>
          <p:cNvSpPr txBox="1"/>
          <p:nvPr/>
        </p:nvSpPr>
        <p:spPr>
          <a:xfrm>
            <a:off x="640080"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trustless protocol</a:t>
            </a:r>
            <a:endParaRPr lang="en-US" sz="100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Circular dependency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refund needs the deposit's txid first.</a:t>
            </a:r>
            <a:endParaRPr lang="en-US" sz="1300" dirty="0"/>
          </a:p>
        </p:txBody>
      </p:sp>
      <p:sp>
        <p:nvSpPr>
          <p:cNvPr id="22" name="Text 20"/>
          <p:cNvSpPr txBox="1"/>
          <p:nvPr/>
        </p:nvSpPr>
        <p:spPr>
          <a:xfrm>
            <a:off x="4828032" y="3108046"/>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needing the key to get the key.</a:t>
            </a:r>
            <a:endParaRPr lang="en-US" sz="1150" dirty="0"/>
          </a:p>
        </p:txBody>
      </p:sp>
      <p:sp>
        <p:nvSpPr>
          <p:cNvPr id="23" name="Text 21"/>
          <p:cNvSpPr txBox="1"/>
          <p:nvPr/>
        </p:nvSpPr>
        <p:spPr>
          <a:xfrm>
            <a:off x="4828032" y="3341218"/>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Circular Dependencies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spend, four identifiers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encodings and third-party malleability</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pushes of the number 2</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51560"/>
                <a:gridCol w="822960"/>
                <a:gridCol w="10972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Encoding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New 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0423a53a</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OP_PUSH1 0x02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b3485f99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OP_PUSH2 0x0002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020200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18da36d1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OP_PUSHDATA1 0x0102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4c0102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4d986cd8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4 encodings give 4 different identifiers for one payment.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stranger could change the txid without changing the payment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62</a:t>
            </a:r>
            <a:endParaRPr lang="en-US" sz="1100" dirty="0"/>
          </a:p>
        </p:txBody>
      </p:sp>
      <p:sp>
        <p:nvSpPr>
          <p:cNvPr id="42" name="code 12"/>
          <p:cNvSpPr/>
          <p:nvPr/>
        </p:nvSpPr>
        <p:spPr>
          <a:xfrm>
            <a:off x="365760" y="1216152"/>
            <a:ext cx="5166360" cy="119420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enc</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push_encodings</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2</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ids</a:t>
            </a:r>
            <a:r>
              <a:rPr sz="1100" b="0" i="0">
                <a:solidFill>
                  <a:srgbClr val="E6EDF3"/>
                </a:solidFill>
                <a:latin typeface="Courier New"/>
                <a:ea typeface="Courier New"/>
                <a:cs typeface="Courier New"/>
              </a:rPr>
              <a:t> = {}</a:t>
            </a:r>
          </a:p>
          <a:p>
            <a:pPr algn="l"/>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k</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enc</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items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ids</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k</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with_input_script</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FIRST</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s</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8</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distinct</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len</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set</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ids</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values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distinct</a:t>
            </a:r>
          </a:p>
        </p:txBody>
      </p:sp>
      <p:sp>
        <p:nvSpPr>
          <p:cNvPr id="43" name="result 12"/>
          <p:cNvSpPr/>
          <p:nvPr/>
        </p:nvSpPr>
        <p:spPr>
          <a:xfrm>
            <a:off x="365760" y="2474366"/>
            <a:ext cx="5166360" cy="904341"/>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list(enc.values())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['52', '0102', '020200', '4c0102']</a:t>
            </a:r>
          </a:p>
          <a:p>
            <a:pPr algn="l"/>
            <a:r>
              <a:rPr sz="1050" b="0" i="0">
                <a:solidFill>
                  <a:srgbClr val="6E655C"/>
                </a:solidFill>
                <a:latin typeface="Courier New"/>
                <a:ea typeface="Courier New"/>
                <a:cs typeface="Courier New"/>
              </a:rPr>
              <a:t>ids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{'OP_2': '0423a53a', 'OP_PUSH1 0x02': 'b3485f99', 'OP_PUSH2 0x0002': '18da36d1', 'OP_PUSHDATA1 0x0102': '4d986cd8'}</a:t>
            </a:r>
          </a:p>
          <a:p>
            <a:pPr algn="l"/>
            <a:r>
              <a:rPr sz="1050" b="0" i="0">
                <a:solidFill>
                  <a:srgbClr val="6E655C"/>
                </a:solidFill>
                <a:latin typeface="Courier New"/>
                <a:ea typeface="Courier New"/>
                <a:cs typeface="Courier New"/>
              </a:rPr>
              <a:t>distinct</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4</a:t>
            </a:r>
          </a:p>
        </p:txBody>
      </p:sp>
      <p:sp>
        <p:nvSpPr>
          <p:cNvPr id="44" name="explanation 12"/>
          <p:cNvSpPr txBox="1"/>
          <p:nvPr/>
        </p:nvSpPr>
        <p:spPr>
          <a:xfrm>
            <a:off x="365760" y="3442716"/>
            <a:ext cx="5166360" cy="1110996"/>
          </a:xfrm>
          <a:prstGeom prst="rect">
            <a:avLst/>
          </a:prstGeom>
          <a:noFill/>
        </p:spPr>
        <p:txBody>
          <a:bodyPr wrap="square" lIns="0" rIns="0" tIns="0" bIns="0" anchor="t">
            <a:spAutoFit/>
          </a:bodyPr>
          <a:lstStyle/>
          <a:p>
            <a:pPr algn="l">
              <a:spcAft>
                <a:spcPts val="300"/>
              </a:spcAft>
            </a:pPr>
            <a:r>
              <a:rPr sz="1050" b="1" i="0">
                <a:solidFill>
                  <a:srgbClr val="D97A14"/>
                </a:solidFill>
                <a:latin typeface="Calibri"/>
                <a:ea typeface="Calibri"/>
                <a:cs typeface="Calibri"/>
              </a:rPr>
              <a:t>Line 1  </a:t>
            </a:r>
            <a:r>
              <a:rPr sz="1050" b="0" i="0">
                <a:solidFill>
                  <a:srgbClr val="2B2622"/>
                </a:solidFill>
                <a:latin typeface="Calibri"/>
                <a:ea typeface="Calibri"/>
                <a:cs typeface="Calibri"/>
              </a:rPr>
              <a:t>One small number can be pushed on the script stack in four different ways.</a:t>
            </a:r>
          </a:p>
          <a:p>
            <a:pPr algn="l">
              <a:spcAft>
                <a:spcPts val="300"/>
              </a:spcAft>
            </a:pPr>
            <a:r>
              <a:rPr sz="1050" b="1" i="0">
                <a:solidFill>
                  <a:srgbClr val="D97A14"/>
                </a:solidFill>
                <a:latin typeface="Calibri"/>
                <a:ea typeface="Calibri"/>
                <a:cs typeface="Calibri"/>
              </a:rPr>
              <a:t>Lines 2-4  </a:t>
            </a:r>
            <a:r>
              <a:rPr sz="1050" b="0" i="0">
                <a:solidFill>
                  <a:srgbClr val="2B2622"/>
                </a:solidFill>
                <a:latin typeface="Calibri"/>
                <a:ea typeface="Calibri"/>
                <a:cs typeface="Calibri"/>
              </a:rPr>
              <a:t>Swap each encoding into the first-ever spend; the payment itself is unchanged.</a:t>
            </a:r>
          </a:p>
          <a:p>
            <a:pPr algn="l">
              <a:spcAft>
                <a:spcPts val="300"/>
              </a:spcAft>
            </a:pPr>
            <a:r>
              <a:rPr sz="1050" b="1" i="0">
                <a:solidFill>
                  <a:srgbClr val="D97A14"/>
                </a:solidFill>
                <a:latin typeface="Calibri"/>
                <a:ea typeface="Calibri"/>
                <a:cs typeface="Calibri"/>
              </a:rPr>
              <a:t>Lines 5-6  </a:t>
            </a:r>
            <a:r>
              <a:rPr sz="1050" b="0" i="0">
                <a:solidFill>
                  <a:srgbClr val="2B2622"/>
                </a:solidFill>
                <a:latin typeface="Calibri"/>
                <a:ea typeface="Calibri"/>
                <a:cs typeface="Calibri"/>
              </a:rPr>
              <a:t>Four different byte strings give four different legacy identifiers.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(2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84148"/>
          </a:xfrm>
          <a:prstGeom prst="roundRect">
            <a:avLst>
              <a:gd name="adj" fmla="val 6178"/>
            </a:avLst>
          </a:prstGeom>
          <a:solidFill>
            <a:srgbClr val="F2ECE1"/>
          </a:solidFill>
          <a:ln w="12700">
            <a:solidFill>
              <a:srgbClr val="DFD6C7"/>
            </a:solidFill>
            <a:prstDash val="solid"/>
          </a:ln>
        </p:spPr>
      </p:sp>
      <p:sp>
        <p:nvSpPr>
          <p:cNvPr id="7" name="Shape 5"/>
          <p:cNvSpPr/>
          <p:nvPr/>
        </p:nvSpPr>
        <p:spPr>
          <a:xfrm>
            <a:off x="475488" y="1408176"/>
            <a:ext cx="64008" cy="92811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Third-party transaction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stranger changes the txid, not the payment.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stranger rewording your cheque without changing the sum.</a:t>
            </a:r>
            <a:endParaRPr lang="en-US" sz="1150" dirty="0"/>
          </a:p>
        </p:txBody>
      </p:sp>
      <p:sp>
        <p:nvSpPr>
          <p:cNvPr id="10" name="Shape 8"/>
          <p:cNvSpPr/>
          <p:nvPr/>
        </p:nvSpPr>
        <p:spPr>
          <a:xfrm>
            <a:off x="4645152" y="1280160"/>
            <a:ext cx="4041648" cy="1184148"/>
          </a:xfrm>
          <a:prstGeom prst="roundRect">
            <a:avLst>
              <a:gd name="adj" fmla="val 6178"/>
            </a:avLst>
          </a:prstGeom>
          <a:solidFill>
            <a:srgbClr val="F2ECE1"/>
          </a:solidFill>
          <a:ln w="12700">
            <a:solidFill>
              <a:srgbClr val="DFD6C7"/>
            </a:solidFill>
            <a:prstDash val="solid"/>
          </a:ln>
        </p:spPr>
      </p:sp>
      <p:sp>
        <p:nvSpPr>
          <p:cNvPr id="11" name="Shape 9"/>
          <p:cNvSpPr/>
          <p:nvPr/>
        </p:nvSpPr>
        <p:spPr>
          <a:xfrm>
            <a:off x="4663440" y="1408176"/>
            <a:ext cx="64008" cy="92811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Alternative push encodings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Four byte strings for the number 2.</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four ways to write the same number in words.</a:t>
            </a:r>
            <a:endParaRPr lang="en-US" sz="1150" dirty="0"/>
          </a:p>
        </p:txBody>
      </p:sp>
      <p:sp>
        <p:nvSpPr>
          <p:cNvPr id="14" name="Shape 12"/>
          <p:cNvSpPr/>
          <p:nvPr/>
        </p:nvSpPr>
        <p:spPr>
          <a:xfrm>
            <a:off x="457200" y="2592324"/>
            <a:ext cx="4041648" cy="1184148"/>
          </a:xfrm>
          <a:prstGeom prst="roundRect">
            <a:avLst>
              <a:gd name="adj" fmla="val 6178"/>
            </a:avLst>
          </a:prstGeom>
          <a:solidFill>
            <a:srgbClr val="F2ECE1"/>
          </a:solidFill>
          <a:ln w="12700">
            <a:solidFill>
              <a:srgbClr val="DFD6C7"/>
            </a:solidFill>
            <a:prstDash val="solid"/>
          </a:ln>
        </p:spPr>
      </p:sp>
      <p:sp>
        <p:nvSpPr>
          <p:cNvPr id="15" name="Shape 13"/>
          <p:cNvSpPr/>
          <p:nvPr/>
        </p:nvSpPr>
        <p:spPr>
          <a:xfrm>
            <a:off x="475488" y="2720340"/>
            <a:ext cx="64008" cy="928116"/>
          </a:xfrm>
          <a:prstGeom prst="rect">
            <a:avLst/>
          </a:prstGeom>
          <a:solidFill>
            <a:srgbClr val="D97A14"/>
          </a:solidFill>
          <a:ln w="12700">
            <a:solidFill>
              <a:srgbClr val="D97A14"/>
            </a:solidFill>
            <a:prstDash val="solid"/>
          </a:ln>
        </p:spPr>
      </p:sp>
      <p:sp>
        <p:nvSpPr>
          <p:cNvPr id="16" name="Text 14"/>
          <p:cNvSpPr txBox="1"/>
          <p:nvPr/>
        </p:nvSpPr>
        <p:spPr>
          <a:xfrm>
            <a:off x="640080" y="2656332"/>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Second-party transaction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counterparty re-signs and changes the txid.</a:t>
            </a:r>
            <a:endParaRPr lang="en-US" sz="1300" dirty="0"/>
          </a:p>
        </p:txBody>
      </p:sp>
      <p:sp>
        <p:nvSpPr>
          <p:cNvPr id="17" name="Text 15"/>
          <p:cNvSpPr txBox="1"/>
          <p:nvPr/>
        </p:nvSpPr>
        <p:spPr>
          <a:xfrm>
            <a:off x="640080" y="331927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your partner re-signing a document with another pen.</a:t>
            </a:r>
            <a:endParaRPr lang="en-US" sz="1150" dirty="0"/>
          </a:p>
        </p:txBody>
      </p:sp>
      <p:sp>
        <p:nvSpPr>
          <p:cNvPr id="18" name="Shape 16"/>
          <p:cNvSpPr/>
          <p:nvPr/>
        </p:nvSpPr>
        <p:spPr>
          <a:xfrm>
            <a:off x="4645152" y="2592324"/>
            <a:ext cx="4041648" cy="1184148"/>
          </a:xfrm>
          <a:prstGeom prst="roundRect">
            <a:avLst>
              <a:gd name="adj" fmla="val 6178"/>
            </a:avLst>
          </a:prstGeom>
          <a:solidFill>
            <a:srgbClr val="F2ECE1"/>
          </a:solidFill>
          <a:ln w="12700">
            <a:solidFill>
              <a:srgbClr val="DFD6C7"/>
            </a:solidFill>
            <a:prstDash val="solid"/>
          </a:ln>
        </p:spPr>
      </p:sp>
      <p:sp>
        <p:nvSpPr>
          <p:cNvPr id="19" name="Shape 17"/>
          <p:cNvSpPr/>
          <p:nvPr/>
        </p:nvSpPr>
        <p:spPr>
          <a:xfrm>
            <a:off x="4663440" y="2720340"/>
            <a:ext cx="64008" cy="928116"/>
          </a:xfrm>
          <a:prstGeom prst="rect">
            <a:avLst/>
          </a:prstGeom>
          <a:solidFill>
            <a:srgbClr val="D97A14"/>
          </a:solidFill>
          <a:ln w="12700">
            <a:solidFill>
              <a:srgbClr val="D97A14"/>
            </a:solidFill>
            <a:prstDash val="solid"/>
          </a:ln>
        </p:spPr>
      </p:sp>
      <p:sp>
        <p:nvSpPr>
          <p:cNvPr id="20" name="Text 18"/>
          <p:cNvSpPr txBox="1"/>
          <p:nvPr/>
        </p:nvSpPr>
        <p:spPr>
          <a:xfrm>
            <a:off x="4828032" y="265633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Wanted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Mutation the sender allows.</a:t>
            </a:r>
            <a:endParaRPr lang="en-US" sz="1300" dirty="0"/>
          </a:p>
        </p:txBody>
      </p:sp>
      <p:sp>
        <p:nvSpPr>
          <p:cNvPr id="21" name="Text 19"/>
          <p:cNvSpPr txBox="1"/>
          <p:nvPr/>
        </p:nvSpPr>
        <p:spPr>
          <a:xfrm>
            <a:off x="4828032" y="311810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with a box for changes allowed by me.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change the witness, keep the txid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two identifiers cover</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12 hex digits of each identifier</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77240"/>
                <a:gridCol w="1097280"/>
                <a:gridCol w="10972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Identifier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Before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After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466200308696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466200308696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f7cdbc7cf8b9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06f7a607a82e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8712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wtxid notices the new witness; the txid, and everything built on it, stays valid.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safely be built on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62</a:t>
            </a:r>
            <a:endParaRPr lang="en-US" sz="1100" dirty="0"/>
          </a:p>
        </p:txBody>
      </p:sp>
      <p:sp>
        <p:nvSpPr>
          <p:cNvPr id="44" name="code 13"/>
          <p:cNvSpPr/>
          <p:nvPr/>
        </p:nvSpPr>
        <p:spPr>
          <a:xfrm>
            <a:off x="365760" y="1216152"/>
            <a:ext cx="5166360" cy="119420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mutated</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with_witness_item</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 </a:t>
            </a:r>
            <a:r>
              <a:rPr sz="1100" b="0" i="0">
                <a:solidFill>
                  <a:srgbClr val="9ECBFF"/>
                </a:solidFill>
                <a:latin typeface="Courier New"/>
                <a:ea typeface="Courier New"/>
                <a:cs typeface="Courier New"/>
              </a:rPr>
              <a:t>'00'</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65</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same_txid</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mutated</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same_wtxid</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wtxid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mutated</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wtxid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a</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b</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12</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wtxid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12</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c</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wtxid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mutated</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12</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same_txid</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same_wtxid</a:t>
            </a:r>
            <a:r>
              <a:rPr sz="1100" b="0" i="0">
                <a:solidFill>
                  <a:srgbClr val="E6EDF3"/>
                </a:solidFill>
                <a:latin typeface="Courier New"/>
                <a:ea typeface="Courier New"/>
                <a:cs typeface="Courier New"/>
              </a:rPr>
              <a:t>)</a:t>
            </a:r>
          </a:p>
        </p:txBody>
      </p:sp>
      <p:sp>
        <p:nvSpPr>
          <p:cNvPr id="45" name="result 13"/>
          <p:cNvSpPr/>
          <p:nvPr/>
        </p:nvSpPr>
        <p:spPr>
          <a:xfrm>
            <a:off x="365760" y="2474366"/>
            <a:ext cx="5166360" cy="904341"/>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same_txid</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True</a:t>
            </a:r>
          </a:p>
          <a:p>
            <a:pPr algn="l"/>
            <a:r>
              <a:rPr sz="1050" b="0" i="0">
                <a:solidFill>
                  <a:srgbClr val="6E655C"/>
                </a:solidFill>
                <a:latin typeface="Courier New"/>
                <a:ea typeface="Courier New"/>
                <a:cs typeface="Courier New"/>
              </a:rPr>
              <a:t>same_wtxid</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False</a:t>
            </a:r>
          </a:p>
          <a:p>
            <a:pPr algn="l"/>
            <a:r>
              <a:rPr sz="1050" b="0" i="0">
                <a:solidFill>
                  <a:srgbClr val="6E655C"/>
                </a:solidFill>
                <a:latin typeface="Courier New"/>
                <a:ea typeface="Courier New"/>
                <a:cs typeface="Courier New"/>
              </a:rPr>
              <a:t>[a, b, c]</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['466200308696', 'f7cdbc7cf8b9', '06f7a607a82e']</a:t>
            </a:r>
          </a:p>
          <a:p>
            <a:pPr algn="l"/>
            <a:r>
              <a:rPr sz="1050" b="0" i="0">
                <a:solidFill>
                  <a:srgbClr val="6E655C"/>
                </a:solidFill>
                <a:latin typeface="Courier New"/>
                <a:ea typeface="Courier New"/>
                <a:cs typeface="Courier New"/>
              </a:rPr>
              <a:t>(same_txid, same_wtxid)</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(True, False)</a:t>
            </a:r>
          </a:p>
        </p:txBody>
      </p:sp>
      <p:sp>
        <p:nvSpPr>
          <p:cNvPr id="46" name="explanation 13"/>
          <p:cNvSpPr txBox="1"/>
          <p:nvPr/>
        </p:nvSpPr>
        <p:spPr>
          <a:xfrm>
            <a:off x="365760" y="3442716"/>
            <a:ext cx="5166360" cy="1110996"/>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 1  </a:t>
            </a:r>
            <a:r>
              <a:rPr sz="1200" b="0" i="0">
                <a:solidFill>
                  <a:srgbClr val="2B2622"/>
                </a:solidFill>
                <a:latin typeface="Calibri"/>
                <a:ea typeface="Calibri"/>
                <a:cs typeface="Calibri"/>
              </a:rPr>
              <a:t>Replace the signature in the witness by 65 zero bytes.</a:t>
            </a:r>
          </a:p>
          <a:p>
            <a:pPr algn="l">
              <a:spcAft>
                <a:spcPts val="300"/>
              </a:spcAft>
            </a:pPr>
            <a:r>
              <a:rPr sz="1200" b="1" i="0">
                <a:solidFill>
                  <a:srgbClr val="D97A14"/>
                </a:solidFill>
                <a:latin typeface="Calibri"/>
                <a:ea typeface="Calibri"/>
                <a:cs typeface="Calibri"/>
              </a:rPr>
              <a:t>Lines 2-3  </a:t>
            </a:r>
            <a:r>
              <a:rPr sz="1200" b="0" i="0">
                <a:solidFill>
                  <a:srgbClr val="2B2622"/>
                </a:solidFill>
                <a:latin typeface="Calibri"/>
                <a:ea typeface="Calibri"/>
                <a:cs typeface="Calibri"/>
              </a:rPr>
              <a:t>The txid ignores the witness and stays; the wtxid covers it and changes.</a:t>
            </a:r>
          </a:p>
          <a:p>
            <a:pPr algn="l">
              <a:spcAft>
                <a:spcPts val="300"/>
              </a:spcAft>
            </a:pPr>
            <a:r>
              <a:rPr sz="1200" b="1" i="0">
                <a:solidFill>
                  <a:srgbClr val="D97A14"/>
                </a:solidFill>
                <a:latin typeface="Calibri"/>
                <a:ea typeface="Calibri"/>
                <a:cs typeface="Calibri"/>
              </a:rPr>
              <a:t>Lines 4-6  </a:t>
            </a:r>
            <a:r>
              <a:rPr sz="1200" b="0" i="0">
                <a:solidFill>
                  <a:srgbClr val="2B2622"/>
                </a:solidFill>
                <a:latin typeface="Calibri"/>
                <a:ea typeface="Calibri"/>
                <a:cs typeface="Calibri"/>
              </a:rPr>
              <a:t>Twelve hex digits of each identifier, for the table beside the listing.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exchange blames the protocol, and researchers check</a:t>
            </a:r>
            <a:endParaRPr lang="en-US" sz="1300" dirty="0"/>
          </a:p>
        </p:txBody>
      </p:sp>
      <p:pic>
        <p:nvPicPr>
          <p:cNvPr id="6" name="Image 0" descr="../../03-materials/ch06/assets/photo_mtgox_logo.pn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Mt. Gox halted withdrawals and blamed transaction malleability for missing bitcoins.</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stranger can re-encode an input script, change the txid and make a payment look as if it failed.</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Decker and Wattenhofer of ETH Zurich recorded a year of traffic: only 1,811 BTC were hit before the press release.</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Segregated witness took the input script out of the txid in 2017.</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then the larges…</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Shibuya, Tokyo - and t…</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arxiv.org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(3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witness stays out of the txid.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moving the signatures to a separate page the receipt ignores.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change old nodes would reject.</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road standard that old cars cannot drive on.</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Soft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New nodes reject more, accept no more.</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road rule that old cars can still obey.</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program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version number and 2 to 40 bytes.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label saying which kind of key fits.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62</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(4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structure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new field for what the input script held.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annex page stapled to the transaction.</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Witness Structure Serialization</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stack per input, counted by the inputs.</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pile of papers handed in for one input.</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item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65-byte signature, length-prefixed.</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sheet in the pile, with its length stamped on.</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 legacy input's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stack of zero items.</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empty annex: nothing stapled to old-style inputs.</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segregated witness could be activated without splitting the network</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Blocks that old nodes reject become valid.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upgrade,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new road standard that old cars cannot use.</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nodes reject more; they accept nothing new.</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still follow the chain and accept its blocks.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speed limit that old cars can still obey.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old nodes keep accepting the blocks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Lock time and the coinbase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lock time is a post-dated cheque; a coinbase is the mint's wage slip.</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Lock time</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rule that a transaction may not enter a block before a time.</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Coinbase transactions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transaction of every block, which creates new coins.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mint's wage slip for the miner.</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lock time field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Zero: eligible for any block.</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do-not-open-before date on an envelope.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 as a block height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123,456 means block 123,456 or later.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do not open before a numbered page of the logbook.</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 as an epoch time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500,000,000 or more is a timestamp.</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do not open before this calendar date.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Median time past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middle of eleven block times.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asking the middle voter, not the loudest.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median time past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clock a lock time is read against</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times, seconds after 1675556500</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median of the eleven is 2,100 s, 600 s below the highest. Lock time kinds: any block, block height, epoch 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says not after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62</a:t>
            </a:r>
            <a:endParaRPr lang="en-US" sz="1100" dirty="0"/>
          </a:p>
        </p:txBody>
      </p:sp>
      <p:sp>
        <p:nvSpPr>
          <p:cNvPr id="28" name="code 14"/>
          <p:cNvSpPr/>
          <p:nvPr/>
        </p:nvSpPr>
        <p:spPr>
          <a:xfrm>
            <a:off x="365760" y="1216152"/>
            <a:ext cx="5166360" cy="1543507"/>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ks</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15</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21</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5</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27</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24</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0</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26</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18</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12</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23</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25</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times</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1675556500</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100</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k</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k</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ks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mtp</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median_time_past</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times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offsets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1675556500</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t</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times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mtp_offset</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mtp</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1675556500</a:t>
            </a:r>
          </a:p>
          <a:p>
            <a:pPr algn="l"/>
            <a:r>
              <a:rPr sz="1100" b="0" i="0">
                <a:solidFill>
                  <a:srgbClr val="E6EDF3"/>
                </a:solidFill>
                <a:latin typeface="Courier New"/>
                <a:ea typeface="Courier New"/>
                <a:cs typeface="Courier New"/>
              </a:rPr>
              <a:t>lt</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0</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123456</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1675556500</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kinds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locktime_decode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0</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lt</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mtp_offset</a:t>
            </a:r>
          </a:p>
        </p:txBody>
      </p:sp>
      <p:sp>
        <p:nvSpPr>
          <p:cNvPr id="29" name="result 14"/>
          <p:cNvSpPr/>
          <p:nvPr/>
        </p:nvSpPr>
        <p:spPr>
          <a:xfrm>
            <a:off x="365760" y="2823667"/>
            <a:ext cx="5166360" cy="904341"/>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offsets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[1500, 2100, 500, 2700, 2400, 0, 2600, 1800, 1200, 2300, 2500]</a:t>
            </a:r>
          </a:p>
          <a:p>
            <a:pPr algn="l"/>
            <a:r>
              <a:rPr sz="1050" b="0" i="0">
                <a:solidFill>
                  <a:srgbClr val="6E655C"/>
                </a:solidFill>
                <a:latin typeface="Courier New"/>
                <a:ea typeface="Courier New"/>
                <a:cs typeface="Courier New"/>
              </a:rPr>
              <a:t>mtp_offset</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2100</a:t>
            </a:r>
          </a:p>
          <a:p>
            <a:pPr algn="l"/>
            <a:r>
              <a:rPr sz="1050" b="0" i="0">
                <a:solidFill>
                  <a:srgbClr val="6E655C"/>
                </a:solidFill>
                <a:latin typeface="Courier New"/>
                <a:ea typeface="Courier New"/>
                <a:cs typeface="Courier New"/>
              </a:rPr>
              <a:t>kinds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['any block', 'block height', 'epoch time']</a:t>
            </a:r>
          </a:p>
        </p:txBody>
      </p:sp>
      <p:sp>
        <p:nvSpPr>
          <p:cNvPr id="30" name="explanation 14"/>
          <p:cNvSpPr txBox="1"/>
          <p:nvPr/>
        </p:nvSpPr>
        <p:spPr>
          <a:xfrm>
            <a:off x="365760" y="3792016"/>
            <a:ext cx="5166360" cy="761695"/>
          </a:xfrm>
          <a:prstGeom prst="rect">
            <a:avLst/>
          </a:prstGeom>
          <a:noFill/>
        </p:spPr>
        <p:txBody>
          <a:bodyPr wrap="square" lIns="0" rIns="0" tIns="0" bIns="0" anchor="t">
            <a:spAutoFit/>
          </a:bodyPr>
          <a:lstStyle/>
          <a:p>
            <a:pPr algn="l">
              <a:spcAft>
                <a:spcPts val="300"/>
              </a:spcAft>
            </a:pPr>
            <a:r>
              <a:rPr sz="1050" b="1" i="0">
                <a:solidFill>
                  <a:srgbClr val="D97A14"/>
                </a:solidFill>
                <a:latin typeface="Calibri"/>
                <a:ea typeface="Calibri"/>
                <a:cs typeface="Calibri"/>
              </a:rPr>
              <a:t>Lines 1-2  </a:t>
            </a:r>
            <a:r>
              <a:rPr sz="1050" b="0" i="0">
                <a:solidFill>
                  <a:srgbClr val="2B2622"/>
                </a:solidFill>
                <a:latin typeface="Calibri"/>
                <a:ea typeface="Calibri"/>
                <a:cs typeface="Calibri"/>
              </a:rPr>
              <a:t>Eleven block times, out of order, as they are on the real chain.</a:t>
            </a:r>
          </a:p>
          <a:p>
            <a:pPr algn="l">
              <a:spcAft>
                <a:spcPts val="300"/>
              </a:spcAft>
            </a:pPr>
            <a:r>
              <a:rPr sz="1050" b="1" i="0">
                <a:solidFill>
                  <a:srgbClr val="D97A14"/>
                </a:solidFill>
                <a:latin typeface="Calibri"/>
                <a:ea typeface="Calibri"/>
                <a:cs typeface="Calibri"/>
              </a:rPr>
              <a:t>Lines 3-5  </a:t>
            </a:r>
            <a:r>
              <a:rPr sz="1050" b="0" i="0">
                <a:solidFill>
                  <a:srgbClr val="2B2622"/>
                </a:solidFill>
                <a:latin typeface="Calibri"/>
                <a:ea typeface="Calibri"/>
                <a:cs typeface="Calibri"/>
              </a:rPr>
              <a:t>The median time past is the middle of the eleven, not the newest.</a:t>
            </a:r>
          </a:p>
          <a:p>
            <a:pPr algn="l">
              <a:spcAft>
                <a:spcPts val="300"/>
              </a:spcAft>
            </a:pPr>
            <a:r>
              <a:rPr sz="1050" b="1" i="0">
                <a:solidFill>
                  <a:srgbClr val="D97A14"/>
                </a:solidFill>
                <a:latin typeface="Calibri"/>
                <a:ea typeface="Calibri"/>
                <a:cs typeface="Calibri"/>
              </a:rPr>
              <a:t>Lines 6-8  </a:t>
            </a:r>
            <a:r>
              <a:rPr sz="1050" b="0" i="0">
                <a:solidFill>
                  <a:srgbClr val="2B2622"/>
                </a:solidFill>
                <a:latin typeface="Calibri"/>
                <a:ea typeface="Calibri"/>
                <a:cs typeface="Calibri"/>
              </a:rPr>
              <a:t>A lock time below 500 million is a height; a larger one is a time.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Coinbase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First in the block, made by the miner.</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bonus the mint pays whoever closes the page.</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generation transaction</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null outpoint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32 zero bytes and index 0xffffffff.</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ticket with no previous holder: printed new.</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coinbase field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 to 100 bytes, beginning with the height.</a:t>
            </a:r>
            <a:endParaRPr lang="en-US" sz="1300" dirty="0"/>
          </a:p>
        </p:txBody>
      </p:sp>
      <p:sp>
        <p:nvSpPr>
          <p:cNvPr id="18" name="Text 16"/>
          <p:cNvSpPr txBox="1"/>
          <p:nvPr/>
        </p:nvSpPr>
        <p:spPr>
          <a:xfrm>
            <a:off x="640080" y="3108046"/>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free text box on the bonus slip.</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subsidy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50 BTC, halved every 210,000 blocks.</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bonus that halves every four years of work.</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62</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created by each block</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number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last subsidy is paid at block 6,929,999; the total ever issued is 20,999,999.9769 bitcoin.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62</a:t>
            </a:r>
            <a:endParaRPr lang="en-US" sz="1100" dirty="0"/>
          </a:p>
        </p:txBody>
      </p:sp>
      <p:sp>
        <p:nvSpPr>
          <p:cNvPr id="28" name="code 15"/>
          <p:cNvSpPr/>
          <p:nvPr/>
        </p:nvSpPr>
        <p:spPr>
          <a:xfrm>
            <a:off x="365760" y="1216152"/>
            <a:ext cx="5166360" cy="101955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210000</a:t>
            </a:r>
          </a:p>
          <a:p>
            <a:pPr algn="l"/>
            <a:r>
              <a:rPr sz="1100" b="0" i="0">
                <a:solidFill>
                  <a:srgbClr val="E6EDF3"/>
                </a:solidFill>
                <a:latin typeface="Courier New"/>
                <a:ea typeface="Courier New"/>
                <a:cs typeface="Courier New"/>
              </a:rPr>
              <a:t>subs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block_subsidy</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n</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h</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COIN</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h</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range</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9</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last</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last_subsidy_height</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total</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total_subsidy</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COIN</a:t>
            </a:r>
          </a:p>
          <a:p>
            <a:pPr algn="l"/>
            <a:r>
              <a:rPr sz="1100" b="0" i="0">
                <a:solidFill>
                  <a:srgbClr val="E6EDF3"/>
                </a:solidFill>
                <a:latin typeface="Courier New"/>
                <a:ea typeface="Courier New"/>
                <a:cs typeface="Courier New"/>
              </a:rPr>
              <a:t>last</a:t>
            </a:r>
          </a:p>
        </p:txBody>
      </p:sp>
      <p:sp>
        <p:nvSpPr>
          <p:cNvPr id="29" name="result 15"/>
          <p:cNvSpPr/>
          <p:nvPr/>
        </p:nvSpPr>
        <p:spPr>
          <a:xfrm>
            <a:off x="365760" y="2299716"/>
            <a:ext cx="5166360" cy="904341"/>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subs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[50.0, 25.0, 12.5, 6.25, 3.125, 1.5625, 0.78125, 0.390625, 0.1953125]</a:t>
            </a:r>
          </a:p>
          <a:p>
            <a:pPr algn="l"/>
            <a:r>
              <a:rPr sz="1050" b="0" i="0">
                <a:solidFill>
                  <a:srgbClr val="6E655C"/>
                </a:solidFill>
                <a:latin typeface="Courier New"/>
                <a:ea typeface="Courier New"/>
                <a:cs typeface="Courier New"/>
              </a:rPr>
              <a:t>last</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6929999</a:t>
            </a:r>
          </a:p>
          <a:p>
            <a:pPr algn="l"/>
            <a:r>
              <a:rPr sz="1050" b="0" i="0">
                <a:solidFill>
                  <a:srgbClr val="6E655C"/>
                </a:solidFill>
                <a:latin typeface="Courier New"/>
                <a:ea typeface="Courier New"/>
                <a:cs typeface="Courier New"/>
              </a:rPr>
              <a:t>total</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20999999.9769</a:t>
            </a:r>
          </a:p>
        </p:txBody>
      </p:sp>
      <p:sp>
        <p:nvSpPr>
          <p:cNvPr id="30" name="explanation 15"/>
          <p:cNvSpPr txBox="1"/>
          <p:nvPr/>
        </p:nvSpPr>
        <p:spPr>
          <a:xfrm>
            <a:off x="365760" y="3268065"/>
            <a:ext cx="5166360" cy="1285646"/>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Lines 1-2  </a:t>
            </a:r>
            <a:r>
              <a:rPr sz="1200" b="0" i="0">
                <a:solidFill>
                  <a:srgbClr val="2B2622"/>
                </a:solidFill>
                <a:latin typeface="Calibri"/>
                <a:ea typeface="Calibri"/>
                <a:cs typeface="Calibri"/>
              </a:rPr>
              <a:t>The subsidy halves at every multiple of 210,000 blocks.</a:t>
            </a:r>
          </a:p>
          <a:p>
            <a:pPr algn="l">
              <a:spcAft>
                <a:spcPts val="300"/>
              </a:spcAft>
            </a:pPr>
            <a:r>
              <a:rPr sz="1200" b="1" i="0">
                <a:solidFill>
                  <a:srgbClr val="D97A14"/>
                </a:solidFill>
                <a:latin typeface="Calibri"/>
                <a:ea typeface="Calibri"/>
                <a:cs typeface="Calibri"/>
              </a:rPr>
              <a:t>Line 3  </a:t>
            </a:r>
            <a:r>
              <a:rPr sz="1200" b="0" i="0">
                <a:solidFill>
                  <a:srgbClr val="2B2622"/>
                </a:solidFill>
                <a:latin typeface="Calibri"/>
                <a:ea typeface="Calibri"/>
                <a:cs typeface="Calibri"/>
              </a:rPr>
              <a:t>After the block found here the subsidy is zero for good.</a:t>
            </a:r>
          </a:p>
          <a:p>
            <a:pPr algn="l">
              <a:spcAft>
                <a:spcPts val="300"/>
              </a:spcAft>
            </a:pPr>
            <a:r>
              <a:rPr sz="1200" b="1" i="0">
                <a:solidFill>
                  <a:srgbClr val="D97A14"/>
                </a:solidFill>
                <a:latin typeface="Calibri"/>
                <a:ea typeface="Calibri"/>
                <a:cs typeface="Calibri"/>
              </a:rPr>
              <a:t>Lines 4-5  </a:t>
            </a:r>
            <a:r>
              <a:rPr sz="1200" b="0" i="0">
                <a:solidFill>
                  <a:srgbClr val="2B2622"/>
                </a:solidFill>
                <a:latin typeface="Calibri"/>
                <a:ea typeface="Calibri"/>
                <a:cs typeface="Calibri"/>
              </a:rPr>
              <a:t>Everything ever issued stays just below 21 million bitcoin.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reward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Fees plus subsidy, as a ceiling.</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bonus plus the tips from customers.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Maturity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100 confirmations before spending.</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wages you cannot spend until the pay clears.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coinbase and its maturity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null input, and 100 blocks of waiting</a:t>
            </a:r>
            <a:endParaRPr lang="en-US" sz="13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coin created at block 9</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188720"/>
                <a:gridCol w="73152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 at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Spendable?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161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is_coinbase is True for the null input and False for Alice's transaction.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Newly created coins cannot be spent until 100 blocks have passed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62</a:t>
            </a:r>
            <a:endParaRPr lang="en-US" sz="1100" dirty="0"/>
          </a:p>
        </p:txBody>
      </p:sp>
      <p:sp>
        <p:nvSpPr>
          <p:cNvPr id="55" name="code 16"/>
          <p:cNvSpPr/>
          <p:nvPr/>
        </p:nvSpPr>
        <p:spPr>
          <a:xfrm>
            <a:off x="365760" y="1216152"/>
            <a:ext cx="5166360" cy="119420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null</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'txid'</a:t>
            </a:r>
            <a:r>
              <a:rPr sz="1100" b="0" i="0">
                <a:solidFill>
                  <a:srgbClr val="E6EDF3"/>
                </a:solidFill>
                <a:latin typeface="Courier New"/>
                <a:ea typeface="Courier New"/>
                <a:cs typeface="Courier New"/>
              </a:rPr>
              <a:t>: </a:t>
            </a:r>
            <a:r>
              <a:rPr sz="1100" b="0" i="0">
                <a:solidFill>
                  <a:srgbClr val="9ECBFF"/>
                </a:solidFill>
                <a:latin typeface="Courier New"/>
                <a:ea typeface="Courier New"/>
                <a:cs typeface="Courier New"/>
              </a:rPr>
              <a:t>'00'</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32</a:t>
            </a:r>
            <a:r>
              <a:rPr sz="1100" b="0" i="0">
                <a:solidFill>
                  <a:srgbClr val="E6EDF3"/>
                </a:solidFill>
                <a:latin typeface="Courier New"/>
                <a:ea typeface="Courier New"/>
                <a:cs typeface="Courier New"/>
              </a:rPr>
              <a:t>, </a:t>
            </a:r>
            <a:r>
              <a:rPr sz="1100" b="0" i="0">
                <a:solidFill>
                  <a:srgbClr val="9ECBFF"/>
                </a:solidFill>
                <a:latin typeface="Courier New"/>
                <a:ea typeface="Courier New"/>
                <a:cs typeface="Courier New"/>
              </a:rPr>
              <a:t>'vout'</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0xffffffff</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cb</a:t>
            </a:r>
            <a:r>
              <a:rPr sz="1100" b="0" i="0">
                <a:solidFill>
                  <a:srgbClr val="E6EDF3"/>
                </a:solidFill>
                <a:latin typeface="Courier New"/>
                <a:ea typeface="Courier New"/>
                <a:cs typeface="Courier New"/>
              </a:rPr>
              <a:t> = {</a:t>
            </a:r>
            <a:r>
              <a:rPr sz="1100" b="0" i="0">
                <a:solidFill>
                  <a:srgbClr val="9ECBFF"/>
                </a:solidFill>
                <a:latin typeface="Courier New"/>
                <a:ea typeface="Courier New"/>
                <a:cs typeface="Courier New"/>
              </a:rPr>
              <a:t>'inputs'</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null</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flags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is_coinbase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cb</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is_coinbase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hs</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100</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108</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109</a:t>
            </a:r>
            <a:r>
              <a:rPr sz="1100" b="0" i="0">
                <a:solidFill>
                  <a:srgbClr val="E6EDF3"/>
                </a:solidFill>
                <a:latin typeface="Courier New"/>
                <a:ea typeface="Courier New"/>
                <a:cs typeface="Courier New"/>
              </a:rPr>
              <a:t>, </a:t>
            </a:r>
            <a:r>
              <a:rPr sz="1100" b="0" i="0">
                <a:solidFill>
                  <a:srgbClr val="FFD28A"/>
                </a:solidFill>
                <a:latin typeface="Courier New"/>
                <a:ea typeface="Courier New"/>
                <a:cs typeface="Courier New"/>
              </a:rPr>
              <a:t>170</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ages</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h</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h</a:t>
            </a:r>
            <a:r>
              <a:rPr sz="1100" b="0" i="0">
                <a:solidFill>
                  <a:srgbClr val="E6EDF3"/>
                </a:solidFill>
                <a:latin typeface="Courier New"/>
                <a:ea typeface="Courier New"/>
                <a:cs typeface="Courier New"/>
              </a:rPr>
              <a:t> - </a:t>
            </a:r>
            <a:r>
              <a:rPr sz="1100" b="0" i="0">
                <a:solidFill>
                  <a:srgbClr val="FFD28A"/>
                </a:solidFill>
                <a:latin typeface="Courier New"/>
                <a:ea typeface="Courier New"/>
                <a:cs typeface="Courier New"/>
              </a:rPr>
              <a:t>9</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coinbase_mature</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9</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h</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for</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h</a:t>
            </a:r>
            <a:r>
              <a:rPr sz="1100" b="0" i="0">
                <a:solidFill>
                  <a:srgbClr val="E6EDF3"/>
                </a:solidFill>
                <a:latin typeface="Courier New"/>
                <a:ea typeface="Courier New"/>
                <a:cs typeface="Courier New"/>
              </a:rPr>
              <a:t> </a:t>
            </a:r>
            <a:r>
              <a:rPr sz="1100" b="1" i="0">
                <a:solidFill>
                  <a:srgbClr val="F2A860"/>
                </a:solidFill>
                <a:latin typeface="Courier New"/>
                <a:ea typeface="Courier New"/>
                <a:cs typeface="Courier New"/>
              </a:rPr>
              <a:t>in</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hs</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flags</a:t>
            </a:r>
          </a:p>
        </p:txBody>
      </p:sp>
      <p:sp>
        <p:nvSpPr>
          <p:cNvPr id="56" name="result 16"/>
          <p:cNvSpPr/>
          <p:nvPr/>
        </p:nvSpPr>
        <p:spPr>
          <a:xfrm>
            <a:off x="365760" y="2474366"/>
            <a:ext cx="5166360" cy="737920"/>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flags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(True, False)</a:t>
            </a:r>
          </a:p>
          <a:p>
            <a:pPr algn="l"/>
            <a:r>
              <a:rPr sz="1050" b="0" i="0">
                <a:solidFill>
                  <a:srgbClr val="6E655C"/>
                </a:solidFill>
                <a:latin typeface="Courier New"/>
                <a:ea typeface="Courier New"/>
                <a:cs typeface="Courier New"/>
              </a:rPr>
              <a:t>ages</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[(100, 91, False), (108, 99, False), (109, 100, True), (170, 161, True)]</a:t>
            </a:r>
          </a:p>
        </p:txBody>
      </p:sp>
      <p:sp>
        <p:nvSpPr>
          <p:cNvPr id="57" name="explanation 16"/>
          <p:cNvSpPr txBox="1"/>
          <p:nvPr/>
        </p:nvSpPr>
        <p:spPr>
          <a:xfrm>
            <a:off x="365760" y="3276295"/>
            <a:ext cx="5166360" cy="1277416"/>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Lines 1-2  </a:t>
            </a:r>
            <a:r>
              <a:rPr sz="1200" b="0" i="0">
                <a:solidFill>
                  <a:srgbClr val="2B2622"/>
                </a:solidFill>
                <a:latin typeface="Calibri"/>
                <a:ea typeface="Calibri"/>
                <a:cs typeface="Calibri"/>
              </a:rPr>
              <a:t>A coinbase input points at nothing: a null txid and the largest output index.</a:t>
            </a:r>
          </a:p>
          <a:p>
            <a:pPr algn="l">
              <a:spcAft>
                <a:spcPts val="300"/>
              </a:spcAft>
            </a:pPr>
            <a:r>
              <a:rPr sz="1200" b="1" i="0">
                <a:solidFill>
                  <a:srgbClr val="D97A14"/>
                </a:solidFill>
                <a:latin typeface="Calibri"/>
                <a:ea typeface="Calibri"/>
                <a:cs typeface="Calibri"/>
              </a:rPr>
              <a:t>Line 3  </a:t>
            </a:r>
            <a:r>
              <a:rPr sz="1200" b="0" i="0">
                <a:solidFill>
                  <a:srgbClr val="2B2622"/>
                </a:solidFill>
                <a:latin typeface="Calibri"/>
                <a:ea typeface="Calibri"/>
                <a:cs typeface="Calibri"/>
              </a:rPr>
              <a:t>Alice's transaction is an ordinary one, not a coinbase.</a:t>
            </a:r>
          </a:p>
          <a:p>
            <a:pPr algn="l">
              <a:spcAft>
                <a:spcPts val="300"/>
              </a:spcAft>
            </a:pPr>
            <a:r>
              <a:rPr sz="1200" b="1" i="0">
                <a:solidFill>
                  <a:srgbClr val="D97A14"/>
                </a:solidFill>
                <a:latin typeface="Calibri"/>
                <a:ea typeface="Calibri"/>
                <a:cs typeface="Calibri"/>
              </a:rPr>
              <a:t>Lines 4-6  </a:t>
            </a:r>
            <a:r>
              <a:rPr sz="1200" b="0" i="0">
                <a:solidFill>
                  <a:srgbClr val="2B2622"/>
                </a:solidFill>
                <a:latin typeface="Calibri"/>
                <a:ea typeface="Calibri"/>
                <a:cs typeface="Calibri"/>
              </a:rPr>
              <a:t>A coin created at block 9 may be spent only 100 blocks later.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Weight and 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Weight is a transaction's postage; foundations are the post office's rules.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Weight and vbytes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measure that decides how much block space a transaction uses.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postage that charges less for the small print.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Foundations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hashes, identifiers and rule sets the chapter rests on.</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foundations under a house.</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62</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(1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 times the legacy size plus the full size.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postage priced by volume, with signatures at a discount.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Vbytes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Weight divided by four, rounded up.</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parcel size after the discount is applied.</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block weight limit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4 million weight a block.</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lorry that carries four million weight units.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Weight factors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4 for most fields, 1 for marker, flag and witness.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price list: four for plain bytes, one for annex bytes.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weight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Where the weight of Alice's transaction comes from</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weight units per field group (total 569)</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Total weight 569; divided by four and rounded up that is 143 virtual bytes.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block is filled by, and witness bytes cost a quarter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62</a:t>
            </a:r>
            <a:endParaRPr lang="en-US" sz="1100" dirty="0"/>
          </a:p>
        </p:txBody>
      </p:sp>
      <p:sp>
        <p:nvSpPr>
          <p:cNvPr id="28" name="code 17"/>
          <p:cNvSpPr/>
          <p:nvPr/>
        </p:nvSpPr>
        <p:spPr>
          <a:xfrm>
            <a:off x="365760" y="1216152"/>
            <a:ext cx="5166360" cy="1416405"/>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000" b="0" i="0">
                <a:solidFill>
                  <a:srgbClr val="E6EDF3"/>
                </a:solidFill>
                <a:latin typeface="Courier New"/>
                <a:ea typeface="Courier New"/>
                <a:cs typeface="Courier New"/>
              </a:rPr>
              <a:t>fw</a:t>
            </a:r>
            <a:r>
              <a:rPr sz="1000" b="0" i="0">
                <a:solidFill>
                  <a:srgbClr val="E6EDF3"/>
                </a:solidFill>
                <a:latin typeface="Courier New"/>
                <a:ea typeface="Courier New"/>
                <a:cs typeface="Courier New"/>
              </a:rPr>
              <a:t> = </a:t>
            </a:r>
            <a:r>
              <a:rPr sz="1000" b="0" i="0">
                <a:solidFill>
                  <a:srgbClr val="E6EDF3"/>
                </a:solidFill>
                <a:latin typeface="Courier New"/>
                <a:ea typeface="Courier New"/>
                <a:cs typeface="Courier New"/>
              </a:rPr>
              <a:t>field_weights</a:t>
            </a:r>
            <a:r>
              <a:rPr sz="1000" b="0" i="0">
                <a:solidFill>
                  <a:srgbClr val="E6EDF3"/>
                </a:solidFill>
                <a:latin typeface="Courier New"/>
                <a:ea typeface="Courier New"/>
                <a:cs typeface="Courier New"/>
              </a:rPr>
              <a:t>(</a:t>
            </a:r>
            <a:r>
              <a:rPr sz="1000" b="0" i="0">
                <a:solidFill>
                  <a:srgbClr val="E6EDF3"/>
                </a:solidFill>
                <a:latin typeface="Courier New"/>
                <a:ea typeface="Courier New"/>
                <a:cs typeface="Courier New"/>
              </a:rPr>
              <a:t>ALICE</a:t>
            </a:r>
            <a:r>
              <a:rPr sz="1000" b="0" i="0">
                <a:solidFill>
                  <a:srgbClr val="E6EDF3"/>
                </a:solidFill>
                <a:latin typeface="Courier New"/>
                <a:ea typeface="Courier New"/>
                <a:cs typeface="Courier New"/>
              </a:rPr>
              <a:t>)</a:t>
            </a:r>
          </a:p>
          <a:p>
            <a:pPr algn="l"/>
            <a:r>
              <a:rPr sz="1000" b="1" i="0">
                <a:solidFill>
                  <a:srgbClr val="F2A860"/>
                </a:solidFill>
                <a:latin typeface="Courier New"/>
                <a:ea typeface="Courier New"/>
                <a:cs typeface="Courier New"/>
              </a:rPr>
              <a:t>from</a:t>
            </a:r>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collections</a:t>
            </a:r>
            <a:r>
              <a:rPr sz="1000" b="0" i="0">
                <a:solidFill>
                  <a:srgbClr val="E6EDF3"/>
                </a:solidFill>
                <a:latin typeface="Courier New"/>
                <a:ea typeface="Courier New"/>
                <a:cs typeface="Courier New"/>
              </a:rPr>
              <a:t> </a:t>
            </a:r>
            <a:r>
              <a:rPr sz="1000" b="1" i="0">
                <a:solidFill>
                  <a:srgbClr val="F2A860"/>
                </a:solidFill>
                <a:latin typeface="Courier New"/>
                <a:ea typeface="Courier New"/>
                <a:cs typeface="Courier New"/>
              </a:rPr>
              <a:t>import</a:t>
            </a:r>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defaultdict</a:t>
            </a:r>
          </a:p>
          <a:p>
            <a:pPr algn="l"/>
            <a:r>
              <a:rPr sz="1000" b="0" i="0">
                <a:solidFill>
                  <a:srgbClr val="E6EDF3"/>
                </a:solidFill>
                <a:latin typeface="Courier New"/>
                <a:ea typeface="Courier New"/>
                <a:cs typeface="Courier New"/>
              </a:rPr>
              <a:t>W</a:t>
            </a:r>
            <a:r>
              <a:rPr sz="1000" b="0" i="0">
                <a:solidFill>
                  <a:srgbClr val="E6EDF3"/>
                </a:solidFill>
                <a:latin typeface="Courier New"/>
                <a:ea typeface="Courier New"/>
                <a:cs typeface="Courier New"/>
              </a:rPr>
              <a:t> = </a:t>
            </a:r>
            <a:r>
              <a:rPr sz="1000" b="0" i="0">
                <a:solidFill>
                  <a:srgbClr val="E6EDF3"/>
                </a:solidFill>
                <a:latin typeface="Courier New"/>
                <a:ea typeface="Courier New"/>
                <a:cs typeface="Courier New"/>
              </a:rPr>
              <a:t>defaultdict</a:t>
            </a:r>
            <a:r>
              <a:rPr sz="1000" b="0" i="0">
                <a:solidFill>
                  <a:srgbClr val="E6EDF3"/>
                </a:solidFill>
                <a:latin typeface="Courier New"/>
                <a:ea typeface="Courier New"/>
                <a:cs typeface="Courier New"/>
              </a:rPr>
              <a:t>(</a:t>
            </a:r>
            <a:r>
              <a:rPr sz="1000" b="0" i="0">
                <a:solidFill>
                  <a:srgbClr val="E6EDF3"/>
                </a:solidFill>
                <a:latin typeface="Courier New"/>
                <a:ea typeface="Courier New"/>
                <a:cs typeface="Courier New"/>
              </a:rPr>
              <a:t>int</a:t>
            </a:r>
            <a:r>
              <a:rPr sz="1000" b="0" i="0">
                <a:solidFill>
                  <a:srgbClr val="E6EDF3"/>
                </a:solidFill>
                <a:latin typeface="Courier New"/>
                <a:ea typeface="Courier New"/>
                <a:cs typeface="Courier New"/>
              </a:rPr>
              <a:t>)</a:t>
            </a:r>
          </a:p>
          <a:p>
            <a:pPr algn="l"/>
            <a:r>
              <a:rPr sz="1000" b="1" i="0">
                <a:solidFill>
                  <a:srgbClr val="F2A860"/>
                </a:solidFill>
                <a:latin typeface="Courier New"/>
                <a:ea typeface="Courier New"/>
                <a:cs typeface="Courier New"/>
              </a:rPr>
              <a:t>for</a:t>
            </a:r>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nm</a:t>
            </a:r>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n</a:t>
            </a:r>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f</a:t>
            </a:r>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w</a:t>
            </a:r>
            <a:r>
              <a:rPr sz="1000" b="0" i="0">
                <a:solidFill>
                  <a:srgbClr val="E6EDF3"/>
                </a:solidFill>
                <a:latin typeface="Courier New"/>
                <a:ea typeface="Courier New"/>
                <a:cs typeface="Courier New"/>
              </a:rPr>
              <a:t> </a:t>
            </a:r>
            <a:r>
              <a:rPr sz="1000" b="1" i="0">
                <a:solidFill>
                  <a:srgbClr val="F2A860"/>
                </a:solidFill>
                <a:latin typeface="Courier New"/>
                <a:ea typeface="Courier New"/>
                <a:cs typeface="Courier New"/>
              </a:rPr>
              <a:t>in</a:t>
            </a:r>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fw</a:t>
            </a:r>
            <a:r>
              <a:rPr sz="1000" b="0" i="0">
                <a:solidFill>
                  <a:srgbClr val="E6EDF3"/>
                </a:solidFill>
                <a:latin typeface="Courier New"/>
                <a:ea typeface="Courier New"/>
                <a:cs typeface="Courier New"/>
              </a:rPr>
              <a:t>:</a:t>
            </a:r>
          </a:p>
          <a:p>
            <a:pPr algn="l"/>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W</a:t>
            </a:r>
            <a:r>
              <a:rPr sz="1000" b="0" i="0">
                <a:solidFill>
                  <a:srgbClr val="E6EDF3"/>
                </a:solidFill>
                <a:latin typeface="Courier New"/>
                <a:ea typeface="Courier New"/>
                <a:cs typeface="Courier New"/>
              </a:rPr>
              <a:t>[</a:t>
            </a:r>
            <a:r>
              <a:rPr sz="1000" b="0" i="0">
                <a:solidFill>
                  <a:srgbClr val="E6EDF3"/>
                </a:solidFill>
                <a:latin typeface="Courier New"/>
                <a:ea typeface="Courier New"/>
                <a:cs typeface="Courier New"/>
              </a:rPr>
              <a:t>nm</a:t>
            </a:r>
            <a:r>
              <a:rPr sz="1000" b="0" i="0">
                <a:solidFill>
                  <a:srgbClr val="E6EDF3"/>
                </a:solidFill>
                <a:latin typeface="Courier New"/>
                <a:ea typeface="Courier New"/>
                <a:cs typeface="Courier New"/>
              </a:rPr>
              <a:t>.</a:t>
            </a:r>
            <a:r>
              <a:rPr sz="1000" b="0" i="0">
                <a:solidFill>
                  <a:srgbClr val="E6EDF3"/>
                </a:solidFill>
                <a:latin typeface="Courier New"/>
                <a:ea typeface="Courier New"/>
                <a:cs typeface="Courier New"/>
              </a:rPr>
              <a:t>split</a:t>
            </a:r>
            <a:r>
              <a:rPr sz="1000" b="0" i="0">
                <a:solidFill>
                  <a:srgbClr val="E6EDF3"/>
                </a:solidFill>
                <a:latin typeface="Courier New"/>
                <a:ea typeface="Courier New"/>
                <a:cs typeface="Courier New"/>
              </a:rPr>
              <a:t>()[</a:t>
            </a:r>
            <a:r>
              <a:rPr sz="1000" b="0" i="0">
                <a:solidFill>
                  <a:srgbClr val="FFD28A"/>
                </a:solidFill>
                <a:latin typeface="Courier New"/>
                <a:ea typeface="Courier New"/>
                <a:cs typeface="Courier New"/>
              </a:rPr>
              <a:t>0</a:t>
            </a:r>
            <a:r>
              <a:rPr sz="1000" b="0" i="0">
                <a:solidFill>
                  <a:srgbClr val="E6EDF3"/>
                </a:solidFill>
                <a:latin typeface="Courier New"/>
                <a:ea typeface="Courier New"/>
                <a:cs typeface="Courier New"/>
              </a:rPr>
              <a:t>]] += </a:t>
            </a:r>
            <a:r>
              <a:rPr sz="1000" b="0" i="0">
                <a:solidFill>
                  <a:srgbClr val="E6EDF3"/>
                </a:solidFill>
                <a:latin typeface="Courier New"/>
                <a:ea typeface="Courier New"/>
                <a:cs typeface="Courier New"/>
              </a:rPr>
              <a:t>w</a:t>
            </a:r>
          </a:p>
          <a:p>
            <a:pPr algn="l"/>
            <a:r>
              <a:rPr sz="1000" b="0" i="0">
                <a:solidFill>
                  <a:srgbClr val="E6EDF3"/>
                </a:solidFill>
                <a:latin typeface="Courier New"/>
                <a:ea typeface="Courier New"/>
                <a:cs typeface="Courier New"/>
              </a:rPr>
              <a:t>total</a:t>
            </a:r>
            <a:r>
              <a:rPr sz="1000" b="0" i="0">
                <a:solidFill>
                  <a:srgbClr val="E6EDF3"/>
                </a:solidFill>
                <a:latin typeface="Courier New"/>
                <a:ea typeface="Courier New"/>
                <a:cs typeface="Courier New"/>
              </a:rPr>
              <a:t> = </a:t>
            </a:r>
            <a:r>
              <a:rPr sz="1000" b="0" i="0">
                <a:solidFill>
                  <a:srgbClr val="E6EDF3"/>
                </a:solidFill>
                <a:latin typeface="Courier New"/>
                <a:ea typeface="Courier New"/>
                <a:cs typeface="Courier New"/>
              </a:rPr>
              <a:t>sum</a:t>
            </a:r>
            <a:r>
              <a:rPr sz="1000" b="0" i="0">
                <a:solidFill>
                  <a:srgbClr val="E6EDF3"/>
                </a:solidFill>
                <a:latin typeface="Courier New"/>
                <a:ea typeface="Courier New"/>
                <a:cs typeface="Courier New"/>
              </a:rPr>
              <a:t>(</a:t>
            </a:r>
            <a:r>
              <a:rPr sz="1000" b="0" i="0">
                <a:solidFill>
                  <a:srgbClr val="E6EDF3"/>
                </a:solidFill>
                <a:latin typeface="Courier New"/>
                <a:ea typeface="Courier New"/>
                <a:cs typeface="Courier New"/>
              </a:rPr>
              <a:t>W</a:t>
            </a:r>
            <a:r>
              <a:rPr sz="1000" b="0" i="0">
                <a:solidFill>
                  <a:srgbClr val="E6EDF3"/>
                </a:solidFill>
                <a:latin typeface="Courier New"/>
                <a:ea typeface="Courier New"/>
                <a:cs typeface="Courier New"/>
              </a:rPr>
              <a:t>.</a:t>
            </a:r>
            <a:r>
              <a:rPr sz="1000" b="0" i="0">
                <a:solidFill>
                  <a:srgbClr val="E6EDF3"/>
                </a:solidFill>
                <a:latin typeface="Courier New"/>
                <a:ea typeface="Courier New"/>
                <a:cs typeface="Courier New"/>
              </a:rPr>
              <a:t>values</a:t>
            </a:r>
            <a:r>
              <a:rPr sz="1000" b="0" i="0">
                <a:solidFill>
                  <a:srgbClr val="E6EDF3"/>
                </a:solidFill>
                <a:latin typeface="Courier New"/>
                <a:ea typeface="Courier New"/>
                <a:cs typeface="Courier New"/>
              </a:rPr>
              <a:t>())</a:t>
            </a:r>
          </a:p>
          <a:p>
            <a:pPr algn="l"/>
            <a:r>
              <a:rPr sz="1000" b="0" i="0">
                <a:solidFill>
                  <a:srgbClr val="E6EDF3"/>
                </a:solidFill>
                <a:latin typeface="Courier New"/>
                <a:ea typeface="Courier New"/>
                <a:cs typeface="Courier New"/>
              </a:rPr>
              <a:t>vb</a:t>
            </a:r>
            <a:r>
              <a:rPr sz="1000" b="0" i="0">
                <a:solidFill>
                  <a:srgbClr val="E6EDF3"/>
                </a:solidFill>
                <a:latin typeface="Courier New"/>
                <a:ea typeface="Courier New"/>
                <a:cs typeface="Courier New"/>
              </a:rPr>
              <a:t> = </a:t>
            </a:r>
            <a:r>
              <a:rPr sz="1000" b="0" i="0">
                <a:solidFill>
                  <a:srgbClr val="E6EDF3"/>
                </a:solidFill>
                <a:latin typeface="Courier New"/>
                <a:ea typeface="Courier New"/>
                <a:cs typeface="Courier New"/>
              </a:rPr>
              <a:t>vbytes</a:t>
            </a:r>
            <a:r>
              <a:rPr sz="1000" b="0" i="0">
                <a:solidFill>
                  <a:srgbClr val="E6EDF3"/>
                </a:solidFill>
                <a:latin typeface="Courier New"/>
                <a:ea typeface="Courier New"/>
                <a:cs typeface="Courier New"/>
              </a:rPr>
              <a:t>(</a:t>
            </a:r>
            <a:r>
              <a:rPr sz="1000" b="0" i="0">
                <a:solidFill>
                  <a:srgbClr val="E6EDF3"/>
                </a:solidFill>
                <a:latin typeface="Courier New"/>
                <a:ea typeface="Courier New"/>
                <a:cs typeface="Courier New"/>
              </a:rPr>
              <a:t>ALICE</a:t>
            </a:r>
            <a:r>
              <a:rPr sz="1000" b="0" i="0">
                <a:solidFill>
                  <a:srgbClr val="E6EDF3"/>
                </a:solidFill>
                <a:latin typeface="Courier New"/>
                <a:ea typeface="Courier New"/>
                <a:cs typeface="Courier New"/>
              </a:rPr>
              <a:t>)</a:t>
            </a:r>
          </a:p>
          <a:p>
            <a:pPr algn="l"/>
            <a:r>
              <a:rPr sz="1000" b="0" i="0">
                <a:solidFill>
                  <a:srgbClr val="E6EDF3"/>
                </a:solidFill>
                <a:latin typeface="Courier New"/>
                <a:ea typeface="Courier New"/>
                <a:cs typeface="Courier New"/>
              </a:rPr>
              <a:t>(</a:t>
            </a:r>
            <a:r>
              <a:rPr sz="1000" b="0" i="0">
                <a:solidFill>
                  <a:srgbClr val="E6EDF3"/>
                </a:solidFill>
                <a:latin typeface="Courier New"/>
                <a:ea typeface="Courier New"/>
                <a:cs typeface="Courier New"/>
              </a:rPr>
              <a:t>total</a:t>
            </a:r>
            <a:r>
              <a:rPr sz="1000" b="0" i="0">
                <a:solidFill>
                  <a:srgbClr val="E6EDF3"/>
                </a:solidFill>
                <a:latin typeface="Courier New"/>
                <a:ea typeface="Courier New"/>
                <a:cs typeface="Courier New"/>
              </a:rPr>
              <a:t>, </a:t>
            </a:r>
            <a:r>
              <a:rPr sz="1000" b="0" i="0">
                <a:solidFill>
                  <a:srgbClr val="E6EDF3"/>
                </a:solidFill>
                <a:latin typeface="Courier New"/>
                <a:ea typeface="Courier New"/>
                <a:cs typeface="Courier New"/>
              </a:rPr>
              <a:t>vb</a:t>
            </a:r>
            <a:r>
              <a:rPr sz="1000" b="0" i="0">
                <a:solidFill>
                  <a:srgbClr val="E6EDF3"/>
                </a:solidFill>
                <a:latin typeface="Courier New"/>
                <a:ea typeface="Courier New"/>
                <a:cs typeface="Courier New"/>
              </a:rPr>
              <a:t>)</a:t>
            </a:r>
          </a:p>
        </p:txBody>
      </p:sp>
      <p:sp>
        <p:nvSpPr>
          <p:cNvPr id="29" name="result 17"/>
          <p:cNvSpPr/>
          <p:nvPr/>
        </p:nvSpPr>
        <p:spPr>
          <a:xfrm>
            <a:off x="365760" y="2696565"/>
            <a:ext cx="5166360" cy="992124"/>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950" b="0" i="0">
                <a:solidFill>
                  <a:srgbClr val="6E655C"/>
                </a:solidFill>
                <a:latin typeface="Courier New"/>
                <a:ea typeface="Courier New"/>
                <a:cs typeface="Courier New"/>
              </a:rPr>
              <a:t>dict(W)</a:t>
            </a:r>
            <a:r>
              <a:rPr sz="950" b="1" i="0">
                <a:solidFill>
                  <a:srgbClr val="D97A14"/>
                </a:solidFill>
                <a:latin typeface="Courier New"/>
                <a:ea typeface="Courier New"/>
                <a:cs typeface="Courier New"/>
              </a:rPr>
              <a:t>  →  </a:t>
            </a:r>
            <a:r>
              <a:rPr sz="950" b="1" i="0">
                <a:solidFill>
                  <a:srgbClr val="2B2622"/>
                </a:solidFill>
                <a:latin typeface="Courier New"/>
                <a:ea typeface="Courier New"/>
                <a:cs typeface="Courier New"/>
              </a:rPr>
              <a:t>{'version': 16, 'marker': 1, 'flag': 1, 'input': 168, 'output': 300, 'witness': 67, 'lock': 16}</a:t>
            </a:r>
          </a:p>
          <a:p>
            <a:pPr algn="l"/>
            <a:r>
              <a:rPr sz="950" b="0" i="0">
                <a:solidFill>
                  <a:srgbClr val="6E655C"/>
                </a:solidFill>
                <a:latin typeface="Courier New"/>
                <a:ea typeface="Courier New"/>
                <a:cs typeface="Courier New"/>
              </a:rPr>
              <a:t>total</a:t>
            </a:r>
            <a:r>
              <a:rPr sz="950" b="1" i="0">
                <a:solidFill>
                  <a:srgbClr val="D97A14"/>
                </a:solidFill>
                <a:latin typeface="Courier New"/>
                <a:ea typeface="Courier New"/>
                <a:cs typeface="Courier New"/>
              </a:rPr>
              <a:t>  →  </a:t>
            </a:r>
            <a:r>
              <a:rPr sz="950" b="1" i="0">
                <a:solidFill>
                  <a:srgbClr val="2B2622"/>
                </a:solidFill>
                <a:latin typeface="Courier New"/>
                <a:ea typeface="Courier New"/>
                <a:cs typeface="Courier New"/>
              </a:rPr>
              <a:t>569</a:t>
            </a:r>
          </a:p>
          <a:p>
            <a:pPr algn="l"/>
            <a:r>
              <a:rPr sz="950" b="0" i="0">
                <a:solidFill>
                  <a:srgbClr val="6E655C"/>
                </a:solidFill>
                <a:latin typeface="Courier New"/>
                <a:ea typeface="Courier New"/>
                <a:cs typeface="Courier New"/>
              </a:rPr>
              <a:t>vb</a:t>
            </a:r>
            <a:r>
              <a:rPr sz="950" b="1" i="0">
                <a:solidFill>
                  <a:srgbClr val="D97A14"/>
                </a:solidFill>
                <a:latin typeface="Courier New"/>
                <a:ea typeface="Courier New"/>
                <a:cs typeface="Courier New"/>
              </a:rPr>
              <a:t>  →  </a:t>
            </a:r>
            <a:r>
              <a:rPr sz="950" b="1" i="0">
                <a:solidFill>
                  <a:srgbClr val="2B2622"/>
                </a:solidFill>
                <a:latin typeface="Courier New"/>
                <a:ea typeface="Courier New"/>
                <a:cs typeface="Courier New"/>
              </a:rPr>
              <a:t>143</a:t>
            </a:r>
          </a:p>
          <a:p>
            <a:pPr algn="l"/>
            <a:r>
              <a:rPr sz="950" b="0" i="0">
                <a:solidFill>
                  <a:srgbClr val="6E655C"/>
                </a:solidFill>
                <a:latin typeface="Courier New"/>
                <a:ea typeface="Courier New"/>
                <a:cs typeface="Courier New"/>
              </a:rPr>
              <a:t>(total, vb)</a:t>
            </a:r>
            <a:r>
              <a:rPr sz="950" b="1" i="0">
                <a:solidFill>
                  <a:srgbClr val="D97A14"/>
                </a:solidFill>
                <a:latin typeface="Courier New"/>
                <a:ea typeface="Courier New"/>
                <a:cs typeface="Courier New"/>
              </a:rPr>
              <a:t>  →  </a:t>
            </a:r>
            <a:r>
              <a:rPr sz="950" b="1" i="0">
                <a:solidFill>
                  <a:srgbClr val="2B2622"/>
                </a:solidFill>
                <a:latin typeface="Courier New"/>
                <a:ea typeface="Courier New"/>
                <a:cs typeface="Courier New"/>
              </a:rPr>
              <a:t>(569, 143)</a:t>
            </a:r>
          </a:p>
        </p:txBody>
      </p:sp>
      <p:sp>
        <p:nvSpPr>
          <p:cNvPr id="30" name="explanation 17"/>
          <p:cNvSpPr txBox="1"/>
          <p:nvPr/>
        </p:nvSpPr>
        <p:spPr>
          <a:xfrm>
            <a:off x="365760" y="3752697"/>
            <a:ext cx="5166360" cy="801014"/>
          </a:xfrm>
          <a:prstGeom prst="rect">
            <a:avLst/>
          </a:prstGeom>
          <a:noFill/>
        </p:spPr>
        <p:txBody>
          <a:bodyPr wrap="square" lIns="0" rIns="0" tIns="0" bIns="0" anchor="t">
            <a:spAutoFit/>
          </a:bodyPr>
          <a:lstStyle/>
          <a:p>
            <a:pPr algn="l">
              <a:spcAft>
                <a:spcPts val="300"/>
              </a:spcAft>
            </a:pPr>
            <a:r>
              <a:rPr sz="1000" b="1" i="0">
                <a:solidFill>
                  <a:srgbClr val="D97A14"/>
                </a:solidFill>
                <a:latin typeface="Calibri"/>
                <a:ea typeface="Calibri"/>
                <a:cs typeface="Calibri"/>
              </a:rPr>
              <a:t>Lines 1-3  </a:t>
            </a:r>
            <a:r>
              <a:rPr sz="1000" b="0" i="0">
                <a:solidFill>
                  <a:srgbClr val="2B2622"/>
                </a:solidFill>
                <a:latin typeface="Calibri"/>
                <a:ea typeface="Calibri"/>
                <a:cs typeface="Calibri"/>
              </a:rPr>
              <a:t>Every field weighs its bytes times four, except marker, flag and witness.</a:t>
            </a:r>
          </a:p>
          <a:p>
            <a:pPr algn="l">
              <a:spcAft>
                <a:spcPts val="300"/>
              </a:spcAft>
            </a:pPr>
            <a:r>
              <a:rPr sz="1000" b="1" i="0">
                <a:solidFill>
                  <a:srgbClr val="D97A14"/>
                </a:solidFill>
                <a:latin typeface="Calibri"/>
                <a:ea typeface="Calibri"/>
                <a:cs typeface="Calibri"/>
              </a:rPr>
              <a:t>Lines 4-5  </a:t>
            </a:r>
            <a:r>
              <a:rPr sz="1000" b="0" i="0">
                <a:solidFill>
                  <a:srgbClr val="2B2622"/>
                </a:solidFill>
                <a:latin typeface="Calibri"/>
                <a:ea typeface="Calibri"/>
                <a:cs typeface="Calibri"/>
              </a:rPr>
              <a:t>Add the weights up per group of fields.</a:t>
            </a:r>
          </a:p>
          <a:p>
            <a:pPr algn="l">
              <a:spcAft>
                <a:spcPts val="300"/>
              </a:spcAft>
            </a:pPr>
            <a:r>
              <a:rPr sz="1000" b="1" i="0">
                <a:solidFill>
                  <a:srgbClr val="D97A14"/>
                </a:solidFill>
                <a:latin typeface="Calibri"/>
                <a:ea typeface="Calibri"/>
                <a:cs typeface="Calibri"/>
              </a:rPr>
              <a:t>Lines 6-8  </a:t>
            </a:r>
            <a:r>
              <a:rPr sz="1000" b="0" i="0">
                <a:solidFill>
                  <a:srgbClr val="2B2622"/>
                </a:solidFill>
                <a:latin typeface="Calibri"/>
                <a:ea typeface="Calibri"/>
                <a:cs typeface="Calibri"/>
              </a:rPr>
              <a:t>The weights add up to the book's 569; virtual bytes are a quarter, rounded up.</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(2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Hash function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Any input, a fixed 32-byte digest.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meat grinder: any input, a result of fixed size.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Double SHA-256</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SHA-256 of SHA-256.</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running the grinder twice for safety.</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Double SHA-256 of the legacy bytes, reversed.</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parcel's tracking number from its plain contents.</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transaction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hash of everything, witness included.</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tracking number that counts the annex too.</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txBody>
          <a:bodyPr/>
          <a:p/>
        </p:txBody>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a txid is made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Double SHA-256 of the legacy bytes, reversed</a:t>
            </a:r>
            <a:endParaRPr lang="en-US" sz="13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from the legacy bytes to the txid</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Legacy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Double SHA-256, reversed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466200308696215b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Equals the library's txid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reversed digest equals the library's txid.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txBody>
          <a:bodyPr/>
          <a:p/>
        </p:txBody>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Identifiers are computed, never stored: anyone can recompute them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62</a:t>
            </a:r>
            <a:endParaRPr lang="en-US" sz="1100" dirty="0"/>
          </a:p>
        </p:txBody>
      </p:sp>
      <p:sp>
        <p:nvSpPr>
          <p:cNvPr id="60" name="code 18"/>
          <p:cNvSpPr/>
          <p:nvPr/>
        </p:nvSpPr>
        <p:spPr>
          <a:xfrm>
            <a:off x="365760" y="1216152"/>
            <a:ext cx="5166360" cy="1019556"/>
          </a:xfrm>
          <a:prstGeom prst="roundRect">
            <a:avLst>
              <a:gd name="adj" fmla="val 4000"/>
            </a:avLst>
          </a:prstGeom>
          <a:solidFill>
            <a:srgbClr val="23272E"/>
          </a:solidFill>
          <a:ln w="1270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109728" bIns="109728"/>
          <a:lstStyle/>
          <a:p>
            <a:pPr algn="l"/>
            <a:r>
              <a:rPr sz="1100" b="0" i="0">
                <a:solidFill>
                  <a:srgbClr val="E6EDF3"/>
                </a:solidFill>
                <a:latin typeface="Courier New"/>
                <a:ea typeface="Courier New"/>
                <a:cs typeface="Courier New"/>
              </a:rPr>
              <a:t>leg</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serialize</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tx</a:t>
            </a:r>
            <a:r>
              <a:rPr sz="1100" b="0" i="0">
                <a:solidFill>
                  <a:srgbClr val="E6EDF3"/>
                </a:solidFill>
                <a:latin typeface="Courier New"/>
                <a:ea typeface="Courier New"/>
                <a:cs typeface="Courier New"/>
              </a:rPr>
              <a:t>, </a:t>
            </a:r>
            <a:r>
              <a:rPr sz="1100" b="0" i="0">
                <a:solidFill>
                  <a:srgbClr val="E6EDF3"/>
                </a:solidFill>
                <a:latin typeface="Courier New"/>
                <a:ea typeface="Courier New"/>
                <a:cs typeface="Courier New"/>
              </a:rPr>
              <a:t>witness</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False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h2</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sha256</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sha256</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leg</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shown</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h2</a:t>
            </a:r>
            <a:r>
              <a:rPr sz="1100" b="0" i="0">
                <a:solidFill>
                  <a:srgbClr val="E6EDF3"/>
                </a:solidFill>
                <a:latin typeface="Courier New"/>
                <a:ea typeface="Courier New"/>
                <a:cs typeface="Courier New"/>
              </a:rPr>
              <a:t>[::-</a:t>
            </a:r>
            <a:r>
              <a:rPr sz="1100" b="0" i="0">
                <a:solidFill>
                  <a:srgbClr val="FFD28A"/>
                </a:solidFill>
                <a:latin typeface="Courier New"/>
                <a:ea typeface="Courier New"/>
                <a:cs typeface="Courier New"/>
              </a:rPr>
              <a:t>1</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hex</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same</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shown</a:t>
            </a:r>
            <a:r>
              <a:rPr sz="1100" b="0" i="0">
                <a:solidFill>
                  <a:srgbClr val="E6EDF3"/>
                </a:solidFill>
                <a:latin typeface="Courier New"/>
                <a:ea typeface="Courier New"/>
                <a:cs typeface="Courier New"/>
              </a:rPr>
              <a:t> == </a:t>
            </a:r>
            <a:r>
              <a:rPr sz="1100" b="0" i="0">
                <a:solidFill>
                  <a:srgbClr val="E6EDF3"/>
                </a:solidFill>
                <a:latin typeface="Courier New"/>
                <a:ea typeface="Courier New"/>
                <a:cs typeface="Courier New"/>
              </a:rPr>
              <a:t>txid</a:t>
            </a:r>
            <a:r>
              <a:rPr sz="1100" b="0" i="0">
                <a:solidFill>
                  <a:srgbClr val="E6EDF3"/>
                </a:solidFill>
                <a:latin typeface="Courier New"/>
                <a:ea typeface="Courier New"/>
                <a:cs typeface="Courier New"/>
              </a:rPr>
              <a:t>(</a:t>
            </a:r>
            <a:r>
              <a:rPr sz="1100" b="0" i="0">
                <a:solidFill>
                  <a:srgbClr val="E6EDF3"/>
                </a:solidFill>
                <a:latin typeface="Courier New"/>
                <a:ea typeface="Courier New"/>
                <a:cs typeface="Courier New"/>
              </a:rPr>
              <a:t>ALICE</a:t>
            </a:r>
            <a:r>
              <a:rPr sz="1100" b="0" i="0">
                <a:solidFill>
                  <a:srgbClr val="E6EDF3"/>
                </a:solidFill>
                <a:latin typeface="Courier New"/>
                <a:ea typeface="Courier New"/>
                <a:cs typeface="Courier New"/>
              </a:rPr>
              <a:t>)</a:t>
            </a:r>
          </a:p>
          <a:p>
            <a:pPr algn="l"/>
            <a:r>
              <a:rPr sz="1100" b="0" i="0">
                <a:solidFill>
                  <a:srgbClr val="E6EDF3"/>
                </a:solidFill>
                <a:latin typeface="Courier New"/>
                <a:ea typeface="Courier New"/>
                <a:cs typeface="Courier New"/>
              </a:rPr>
              <a:t>same</a:t>
            </a:r>
          </a:p>
        </p:txBody>
      </p:sp>
      <p:sp>
        <p:nvSpPr>
          <p:cNvPr id="61" name="result 18"/>
          <p:cNvSpPr/>
          <p:nvPr/>
        </p:nvSpPr>
        <p:spPr>
          <a:xfrm>
            <a:off x="365760" y="2299716"/>
            <a:ext cx="5166360" cy="737920"/>
          </a:xfrm>
          <a:prstGeom prst="roundRect">
            <a:avLst>
              <a:gd name="adj" fmla="val 6000"/>
            </a:avLst>
          </a:prstGeom>
          <a:solidFill>
            <a:srgbClr val="FFFFFF"/>
          </a:solidFill>
          <a:ln w="15875">
            <a:solidFill>
              <a:srgbClr val="2F6D62"/>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spcAft>
                <a:spcPts val="200"/>
              </a:spcAft>
            </a:pPr>
            <a:r>
              <a:rPr sz="850" b="1" i="0">
                <a:solidFill>
                  <a:srgbClr val="2F6D62"/>
                </a:solidFill>
                <a:latin typeface="Calibri"/>
                <a:ea typeface="Calibri"/>
                <a:cs typeface="Calibri"/>
              </a:rPr>
              <a:t>RESULT  </a:t>
            </a:r>
            <a:r>
              <a:rPr sz="850" b="0" i="1">
                <a:solidFill>
                  <a:srgbClr val="6E655C"/>
                </a:solidFill>
                <a:latin typeface="Calibri"/>
                <a:ea typeface="Calibri"/>
                <a:cs typeface="Calibri"/>
              </a:rPr>
              <a:t>Python 3.14.6 · the chapter setup defines ALICE, PREV, FIRST and tx</a:t>
            </a:r>
          </a:p>
          <a:p>
            <a:pPr algn="l"/>
            <a:r>
              <a:rPr sz="1050" b="0" i="0">
                <a:solidFill>
                  <a:srgbClr val="6E655C"/>
                </a:solidFill>
                <a:latin typeface="Courier New"/>
                <a:ea typeface="Courier New"/>
                <a:cs typeface="Courier New"/>
              </a:rPr>
              <a:t>len(leg)</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125</a:t>
            </a:r>
          </a:p>
          <a:p>
            <a:pPr algn="l"/>
            <a:r>
              <a:rPr sz="1050" b="0" i="0">
                <a:solidFill>
                  <a:srgbClr val="6E655C"/>
                </a:solidFill>
                <a:latin typeface="Courier New"/>
                <a:ea typeface="Courier New"/>
                <a:cs typeface="Courier New"/>
              </a:rPr>
              <a:t>shown[:16]</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'466200308696215b'</a:t>
            </a:r>
          </a:p>
          <a:p>
            <a:pPr algn="l"/>
            <a:r>
              <a:rPr sz="1050" b="0" i="0">
                <a:solidFill>
                  <a:srgbClr val="6E655C"/>
                </a:solidFill>
                <a:latin typeface="Courier New"/>
                <a:ea typeface="Courier New"/>
                <a:cs typeface="Courier New"/>
              </a:rPr>
              <a:t>same</a:t>
            </a:r>
            <a:r>
              <a:rPr sz="1050" b="1" i="0">
                <a:solidFill>
                  <a:srgbClr val="D97A14"/>
                </a:solidFill>
                <a:latin typeface="Courier New"/>
                <a:ea typeface="Courier New"/>
                <a:cs typeface="Courier New"/>
              </a:rPr>
              <a:t>  →  </a:t>
            </a:r>
            <a:r>
              <a:rPr sz="1050" b="1" i="0">
                <a:solidFill>
                  <a:srgbClr val="2B2622"/>
                </a:solidFill>
                <a:latin typeface="Courier New"/>
                <a:ea typeface="Courier New"/>
                <a:cs typeface="Courier New"/>
              </a:rPr>
              <a:t>True</a:t>
            </a:r>
          </a:p>
        </p:txBody>
      </p:sp>
      <p:sp>
        <p:nvSpPr>
          <p:cNvPr id="62" name="explanation 18"/>
          <p:cNvSpPr txBox="1"/>
          <p:nvPr/>
        </p:nvSpPr>
        <p:spPr>
          <a:xfrm>
            <a:off x="365760" y="3101644"/>
            <a:ext cx="5166360" cy="1452067"/>
          </a:xfrm>
          <a:prstGeom prst="rect">
            <a:avLst/>
          </a:prstGeom>
          <a:noFill/>
        </p:spPr>
        <p:txBody>
          <a:bodyPr wrap="square" lIns="0" rIns="0" tIns="0" bIns="0" anchor="t">
            <a:spAutoFit/>
          </a:bodyPr>
          <a:lstStyle/>
          <a:p>
            <a:pPr algn="l">
              <a:spcAft>
                <a:spcPts val="300"/>
              </a:spcAft>
            </a:pPr>
            <a:r>
              <a:rPr sz="1200" b="1" i="0">
                <a:solidFill>
                  <a:srgbClr val="D97A14"/>
                </a:solidFill>
                <a:latin typeface="Calibri"/>
                <a:ea typeface="Calibri"/>
                <a:cs typeface="Calibri"/>
              </a:rPr>
              <a:t>Line 1  </a:t>
            </a:r>
            <a:r>
              <a:rPr sz="1200" b="0" i="0">
                <a:solidFill>
                  <a:srgbClr val="2B2622"/>
                </a:solidFill>
                <a:latin typeface="Calibri"/>
                <a:ea typeface="Calibri"/>
                <a:cs typeface="Calibri"/>
              </a:rPr>
              <a:t>Start from the legacy bytes: the witness is not part of the txid.</a:t>
            </a:r>
          </a:p>
          <a:p>
            <a:pPr algn="l">
              <a:spcAft>
                <a:spcPts val="300"/>
              </a:spcAft>
            </a:pPr>
            <a:r>
              <a:rPr sz="1200" b="1" i="0">
                <a:solidFill>
                  <a:srgbClr val="D97A14"/>
                </a:solidFill>
                <a:latin typeface="Calibri"/>
                <a:ea typeface="Calibri"/>
                <a:cs typeface="Calibri"/>
              </a:rPr>
              <a:t>Line 2  </a:t>
            </a:r>
            <a:r>
              <a:rPr sz="1200" b="0" i="0">
                <a:solidFill>
                  <a:srgbClr val="2B2622"/>
                </a:solidFill>
                <a:latin typeface="Calibri"/>
                <a:ea typeface="Calibri"/>
                <a:cs typeface="Calibri"/>
              </a:rPr>
              <a:t>Hash the bytes twice with SHA-256, the second hash of the first.</a:t>
            </a:r>
          </a:p>
          <a:p>
            <a:pPr algn="l">
              <a:spcAft>
                <a:spcPts val="300"/>
              </a:spcAft>
            </a:pPr>
            <a:r>
              <a:rPr sz="1200" b="1" i="0">
                <a:solidFill>
                  <a:srgbClr val="D97A14"/>
                </a:solidFill>
                <a:latin typeface="Calibri"/>
                <a:ea typeface="Calibri"/>
                <a:cs typeface="Calibri"/>
              </a:rPr>
              <a:t>Lines 3-5  </a:t>
            </a:r>
            <a:r>
              <a:rPr sz="1200" b="0" i="0">
                <a:solidFill>
                  <a:srgbClr val="2B2622"/>
                </a:solidFill>
                <a:latin typeface="Calibri"/>
                <a:ea typeface="Calibri"/>
                <a:cs typeface="Calibri"/>
              </a:rPr>
              <a:t>Reverse the digest for display: the result is the library's txid.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(3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Relay policy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What a node chooses to relay and keep.</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of one post office.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Consensus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What every node must enforce identically.</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law every post office must obey identically.</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asks strangers to update their ledgers: inputs point, witnesses prove, outputs assign.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and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coins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62</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2026-10-22;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6: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Decker and Wattenhofer's measurements, free to download</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Weight, witness data and the new transaction format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68: Relative lock-time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Locking an input by sequence numbers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125: Opt-in Replace-by-Fee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transaction signals that it may be replaced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Alice's transaction on mempool.space (tx)</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Block 775,072: the payment this chapter builds  mempool.space</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Wiki: Transaction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Fields of a transaction, explained on the wiki  en.bitcoin.it</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Strange block 74638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forum thread where the overflow was found live</a:t>
            </a:r>
            <a:endParaRPr lang="en-US" sz="1000" dirty="0"/>
          </a:p>
        </p:txBody>
      </p:sp>
      <p:sp>
        <p:nvSpPr>
          <p:cNvPr id="28" name="Text 26"/>
          <p:cNvSpPr txBox="1"/>
          <p:nvPr/>
        </p:nvSpPr>
        <p:spPr>
          <a:xfrm>
            <a:off x="4732020" y="367588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9" name="Shape 27"/>
          <p:cNvSpPr/>
          <p:nvPr/>
        </p:nvSpPr>
        <p:spPr>
          <a:xfrm>
            <a:off x="4768596" y="4023360"/>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3950208"/>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transaction (tutorial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Mobilefish.com walks through inputs, outputs and signatures</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62</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of full nodes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sequence and lock time permit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the fix</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who creates bitcoin</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62 / 62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dc:title>
  <dc:subject>PptxGenJS Presentation</dc:subject>
  <dc:creator>Yusuf Altunel</dc:creator>
  <cp:lastModifiedBy>Yusuf Altunel</cp:lastModifiedBy>
  <cp:revision>1</cp:revision>
  <dcterms:created xsi:type="dcterms:W3CDTF">2026-10-22T19:01:59Z</dcterms:created>
  <dcterms:modified xsi:type="dcterms:W3CDTF">2026-10-28T14:10:00Z</dcterms:modified>
  <cp:version>2.3.0</cp:version>
</cp:coreProperties>
</file>