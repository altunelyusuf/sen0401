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media/image-10-1.jpg" ContentType="image/jpg"/>
  <Override PartName="/ppt/media/image-21-1.jpg" ContentType="image/jpg"/>
  <Override PartName="/ppt/media/image-32-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version</c:v>
                  </c:pt>
                  <c:pt idx="1">
                    <c:v>marker</c:v>
                  </c:pt>
                  <c:pt idx="2">
                    <c:v>flag</c:v>
                  </c:pt>
                  <c:pt idx="3">
                    <c:v>input</c:v>
                  </c:pt>
                  <c:pt idx="4">
                    <c:v>output</c:v>
                  </c:pt>
                  <c:pt idx="5">
                    <c:v>witness</c:v>
                  </c:pt>
                  <c:pt idx="6">
                    <c:v>lock</c:v>
                  </c:pt>
                </c:lvl>
              </c:multiLvlStrCache>
            </c:multiLvlStrRef>
          </c:cat>
          <c:val>
            <c:numRef>
              <c:f>Sheet1!$B$2:$B$8</c:f>
              <c:numCache>
                <c:formatCode>General</c:formatCode>
                <c:ptCount val="7"/>
                <c:pt idx="0">
                  <c:v>4</c:v>
                </c:pt>
                <c:pt idx="1">
                  <c:v>1</c:v>
                </c:pt>
                <c:pt idx="2">
                  <c:v>1</c:v>
                </c:pt>
                <c:pt idx="3">
                  <c:v>42</c:v>
                </c:pt>
                <c:pt idx="4">
                  <c:v>75</c:v>
                </c:pt>
                <c:pt idx="5">
                  <c:v>67</c:v>
                </c:pt>
                <c:pt idx="6">
                  <c:v>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1</c:v>
                  </c:pt>
                  <c:pt idx="1">
                    <c:v>252</c:v>
                  </c:pt>
                  <c:pt idx="2">
                    <c:v>253</c:v>
                  </c:pt>
                  <c:pt idx="3">
                    <c:v>65,535</c:v>
                  </c:pt>
                  <c:pt idx="4">
                    <c:v>65,536</c:v>
                  </c:pt>
                  <c:pt idx="5">
                    <c:v>4,294,967,296</c:v>
                  </c:pt>
                </c:lvl>
              </c:multiLvlStrCache>
            </c:multiLvlStrRef>
          </c:cat>
          <c:val>
            <c:numRef>
              <c:f>Sheet1!$B$2:$B$7</c:f>
              <c:numCache>
                <c:formatCode>General</c:formatCode>
                <c:ptCount val="6"/>
                <c:pt idx="0">
                  <c:v>1</c:v>
                </c:pt>
                <c:pt idx="1">
                  <c:v>1</c:v>
                </c:pt>
                <c:pt idx="2">
                  <c:v>3</c:v>
                </c:pt>
                <c:pt idx="3">
                  <c:v>3</c:v>
                </c:pt>
                <c:pt idx="4">
                  <c:v>5</c:v>
                </c:pt>
                <c:pt idx="5">
                  <c:v>9</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output 0</c:v>
                  </c:pt>
                  <c:pt idx="1">
                    <c:v>output 1</c:v>
                  </c:pt>
                  <c:pt idx="2">
                    <c:v>fee (a difference)</c:v>
                  </c:pt>
                </c:lvl>
              </c:multiLvlStrCache>
            </c:multiLvlStrRef>
          </c:cat>
          <c:val>
            <c:numRef>
              <c:f>Sheet1!$B$2:$B$4</c:f>
              <c:numCache>
                <c:formatCode>General</c:formatCode>
                <c:ptCount val="3"/>
                <c:pt idx="0">
                  <c:v>20000</c:v>
                </c:pt>
                <c:pt idx="1">
                  <c:v>75000</c:v>
                </c:pt>
                <c:pt idx="2">
                  <c:v>5000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P2PKH legacy</c:v>
                  </c:pt>
                  <c:pt idx="1">
                    <c:v>P2WPKH segwit</c:v>
                  </c:pt>
                  <c:pt idx="2">
                    <c:v>P2TR taproot</c:v>
                  </c:pt>
                  <c:pt idx="3">
                    <c:v>OP_RETURN</c:v>
                  </c:pt>
                </c:lvl>
              </c:multiLvlStrCache>
            </c:multiLvlStrRef>
          </c:cat>
          <c:val>
            <c:numRef>
              <c:f>Sheet1!$B$2:$B$5</c:f>
              <c:numCache>
                <c:formatCode>General</c:formatCode>
                <c:ptCount val="4"/>
                <c:pt idx="0">
                  <c:v>546</c:v>
                </c:pt>
                <c:pt idx="1">
                  <c:v>294</c:v>
                </c:pt>
                <c:pt idx="2">
                  <c:v>330</c:v>
                </c:pt>
                <c:pt idx="3">
                  <c:v>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seconds after the first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cat>
            <c:multiLvlStrRef>
              <c:f>Sheet1!$A$2:$A$12</c:f>
              <c:multiLvlStrCache>
                <c:ptCount val="11"/>
                <c:lvl>
                  <c:pt idx="0">
                    <c:v>b1</c:v>
                  </c:pt>
                  <c:pt idx="1">
                    <c:v>b2</c:v>
                  </c:pt>
                  <c:pt idx="2">
                    <c:v>b3</c:v>
                  </c:pt>
                  <c:pt idx="3">
                    <c:v>b4</c:v>
                  </c:pt>
                  <c:pt idx="4">
                    <c:v>b5</c:v>
                  </c:pt>
                  <c:pt idx="5">
                    <c:v>b6</c:v>
                  </c:pt>
                  <c:pt idx="6">
                    <c:v>b7</c:v>
                  </c:pt>
                  <c:pt idx="7">
                    <c:v>b8</c:v>
                  </c:pt>
                  <c:pt idx="8">
                    <c:v>b9</c:v>
                  </c:pt>
                  <c:pt idx="9">
                    <c:v>b10</c:v>
                  </c:pt>
                  <c:pt idx="10">
                    <c:v>b11</c:v>
                  </c:pt>
                </c:lvl>
              </c:multiLvlStrCache>
            </c:multiLvlStrRef>
          </c:cat>
          <c:val>
            <c:numRef>
              <c:f>Sheet1!$B$2:$B$12</c:f>
              <c:numCache>
                <c:formatCode>General</c:formatCode>
                <c:ptCount val="11"/>
                <c:pt idx="0">
                  <c:v>1500</c:v>
                </c:pt>
                <c:pt idx="1">
                  <c:v>2100</c:v>
                </c:pt>
                <c:pt idx="2">
                  <c:v>500</c:v>
                </c:pt>
                <c:pt idx="3">
                  <c:v>2700</c:v>
                </c:pt>
                <c:pt idx="4">
                  <c:v>2400</c:v>
                </c:pt>
                <c:pt idx="5">
                  <c:v>0</c:v>
                </c:pt>
                <c:pt idx="6">
                  <c:v>2600</c:v>
                </c:pt>
                <c:pt idx="7">
                  <c:v>1800</c:v>
                </c:pt>
                <c:pt idx="8">
                  <c:v>1200</c:v>
                </c:pt>
                <c:pt idx="9">
                  <c:v>2300</c:v>
                </c:pt>
                <c:pt idx="10">
                  <c:v>2500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bitcoin per block</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cat>
            <c:multiLvlStrRef>
              <c:f>Sheet1!$A$2:$A$10</c:f>
              <c:multiLvlStrCache>
                <c:ptCount val="9"/>
                <c:lvl>
                  <c:pt idx="0">
                    <c:v>0</c:v>
                  </c:pt>
                  <c:pt idx="1">
                    <c:v>1</c:v>
                  </c:pt>
                  <c:pt idx="2">
                    <c:v>2</c:v>
                  </c:pt>
                  <c:pt idx="3">
                    <c:v>3</c:v>
                  </c:pt>
                  <c:pt idx="4">
                    <c:v>4</c:v>
                  </c:pt>
                  <c:pt idx="5">
                    <c:v>5</c:v>
                  </c:pt>
                  <c:pt idx="6">
                    <c:v>6</c:v>
                  </c:pt>
                  <c:pt idx="7">
                    <c:v>7</c:v>
                  </c:pt>
                  <c:pt idx="8">
                    <c:v>8</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weight units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version</c:v>
                  </c:pt>
                  <c:pt idx="1">
                    <c:v>marker</c:v>
                  </c:pt>
                  <c:pt idx="2">
                    <c:v>flag</c:v>
                  </c:pt>
                  <c:pt idx="3">
                    <c:v>input</c:v>
                  </c:pt>
                  <c:pt idx="4">
                    <c:v>output</c:v>
                  </c:pt>
                  <c:pt idx="5">
                    <c:v>witness</c:v>
                  </c:pt>
                  <c:pt idx="6">
                    <c:v>lock</c:v>
                  </c:pt>
                </c:lvl>
              </c:multiLvlStrCache>
            </c:multiLvlStrRef>
          </c:cat>
          <c:val>
            <c:numRef>
              <c:f>Sheet1!$B$2:$B$8</c:f>
              <c:numCache>
                <c:formatCode>General</c:formatCode>
                <c:ptCount val="7"/>
                <c:pt idx="0">
                  <c:v>16</c:v>
                </c:pt>
                <c:pt idx="1">
                  <c:v>1</c:v>
                </c:pt>
                <c:pt idx="2">
                  <c:v>1</c:v>
                </c:pt>
                <c:pt idx="3">
                  <c:v>168</c:v>
                </c:pt>
                <c:pt idx="4">
                  <c:v>300</c:v>
                </c:pt>
                <c:pt idx="5">
                  <c:v>67</c:v>
                </c:pt>
                <c:pt idx="6">
                  <c:v>16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reads one real Bitcoin transaction, Alice's payment to Bob from the book, byte by byte. Every number was computed from those bytes with the chapter's own Python library, and no Bitcoin Core node was available where it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eight parts that follow the order of the bytes of a transaction. Four true stories and eighteen code examples are spread across them. The examples are listed in the same order in the chapter code tab of the course page, so every slide can be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eight branches and 107 concepts. Each branch gets a divider, concept cards with everyday comparisons, code that runs, and some branches a true story. The deck follows the order in which the bytes of a transaction are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opens one real transaction. We read Alice's payment byte by byte and compare its two serializations. A story about the first transaction ever closes the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Transaction, The ownership record of a full node, The parts of a transaction and Serialized transaction.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parses Alice's transaction from the book into named fields and adds up their lengths. The seven groups add back to the 194 bytes of the serialized transaction, so no byte is unexplained.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Extended serialization format, Legacy serialization, Partially signed bitcoin transaction and Byte map.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payment is written twice. The legacy form leaves out marker, flag and witness, and its hash is the txid that explorers show. The extended form has its own hash, the wtxid.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2009-01-12. On 11 January 2009 Hal Finney posted two words, running bitcoin, and the next day the software's author sent him 10 BTC. The lesson is that the format you are reading is the one from block 170.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six bytes of a transaction are not data about money. They tell a node which rules apply and whether a witness follows, so every later field is read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Version 1, Version 2 and BIP68, The version 3 proposal, Presigned transactions, Marker byte and Flag byte.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bytes decide how everything after them is read. The version says which rules apply, and the zero marker with the one flag announces a witness. A legacy parser would read the zero as an empty input list.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name the coins a transaction spends, and they state no amount. We meet the compact count, the outpoint and its two byte orders, and the database of unspent coins.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Input count, CompactSize unsigned integer, Other variable-length integers, Outpoint and The previous transaction's identifier.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in a transaction use a variable-length integer. Up to 252 it is one byte; beyond that a first byte of fd, fe or ff says that two, four or eight more bytes follow.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Output index, The rule against double spending, Conflicting transactions, The UTXO database and Digest.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input points at a coin by the txid of an earlier transaction and an output number. The bytes are stored in one order and printed in the reverse order, which is a classic source of mistakes.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Internal byte order, Display byte order, Input script and Script length prefix.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node keeps a database of unspent outputs. Applying a transaction removes the coins its inputs name and adds the coins its outputs create. The difference in value is the fee.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2010-05-22. Four days after offering 10,000 BTC on the bitcointalk forum to anyone who would send him two pizzas, Laszlo Hanyecz reported that the deal was done. The lesson is that an input count of 131 is what one-output payments can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four-byte field has carried three meanings in fifteen years. We decode it against two proposals, BIP125 and BIP68, and see why bit 31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Sequence number, Setup and refund transactions, Payment channel, The replacement bandwidth attack and Opt-in replace-by-fee.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four bytes signal finality, opt-in replacement under BIP125 and a relative timelock under BIP68. Setting bit 31 switches the timelock off, which is why the third value shows none.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BIP125 signal, BIP68 relative timelock, The type flag, The disable flag and The 16-bit mask.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demand an hour, the type flag is set and the value counts units of 512 seconds, so an hour rounds up to 4,096 seconds. Counted in blocks, thirty blocks after a coin confirms is the earliest spend.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hold the amounts and the locks. The part ends with a block that created 184 billion bitcoins and with the policy that keeps tiny outputs out of everyone's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Output count, Amount, Satoshi, The consensus range of an amount, Uneconomical output and Dust limit.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state amounts in satoshis. The input states none, so the spent coin's value comes from the record of that coin. What the outputs do not take is the fee that the miner collects.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Data-carrier output, Output script, Script size limits, Anyone-can-spend scripts and Standard transaction outputs.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August 2010 a block carried two outputs of about 92 billion bitcoins each. Their sum wrapped around to a negative number, which passed the check on the total. Checking every output closes the hole.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2010-08-15. Block 74,638 contained a transaction with two outputs of 92,233,720,368.54277039 BTC each. The lesson is that a signed amount needs a range check; the chain learned it the hard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output is dust when it costs more to spend than it is worth, at the relay fee. Segwit outputs are cheaper to spend, so their limit is lower. A data-carrier output can never be spent and is exempt.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is the proof that a spender may spend. We see how proofs inside the input script made identifiers malleable, and how segregated witness repaired that as a soft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Witness, Public key and signature as witness, Contract protocols, Circular dependency, Third-party transaction malleability and Alternative push encodings.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number can be pushed on the script stack in four ways. Each way is a different byte string, so the same payment gets four different legacy identifiers. This was the malleability that software could not ignore.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Second-party transaction malleability, Wanted malleability, Segregated witness, Hard fork, Soft fork and Witness program.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segregated witness the signature lives outside the txid. Replacing it leaves the txid unchanged, so chains of unconfirmed payments stay valid. The wtxid still covers the witness and changes.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2014-02-10. On 7 February 2014 Mt. Gox halted bitcoin withdrawals, and on 10 February it issued a press release blaming a bug in the bitcoin software: someone could alter transaction details to make it seem that a sending of bitcoins had not occurred when it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Witness structure, Witness stack, Witness item and A legacy input's witness.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was a soft fork. Old nodes saw the new outputs as anyone-can-spend scripts and accepted the blocks, while upgraded nodes enforced the witness rules. That is why it could be activated without a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special cases of a transaction: one that may not be mined before a time, and one that creates new coins. The clock and the money supply both follow from simple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lock time field, Lock time as a block height, Lock time as an epoch time, Median time past and Coinbase transaction.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timestamps are not monotonic, so a time lock is compared with the median of the last eleven. Values below 500 million are heights; larger ones are times. The median lags the highest timestamp.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null outpoint, The coinbase field, Block subsidy, Block reward and Maturity rule.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subsidy starts at 50 bitcoin and is halved every 210,000 blocks by a right shift. It reaches zero after block 6,929,999, and the total ever issued stays just below 21 million.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coinbase has one input that points at nothing. Its coins are locked for 100 blocks, so that a reorganisation cannot invalidate coins that were already spent. Block 9's coins were spendable by block 170.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 closes with what a block is filled by, and with the hashes and rule sets that every figure of the chapter rests on. We recompute the weight 569 from the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Weight, Vbytes, The block weight limit, Weight factors and Hash function.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field weighs its bytes times four, except the marker, the flag and the witness, which weigh one. The sum is the 569 the book quotes, and dividing by four gives 143 virtual bytes.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Double SHA-256, Transaction identifier, Witness transaction identifier, Relay policy and Consensus rule.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txid is not a field. It is the double SHA-256 of the legacy serialization, shown in reverse byte order. We recompute it from the bytes and it matches the library and the explorer.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for each group of parts. A line that feels unproven should send you back to its code slide, because every figure in it was computed there. The chapter code tab of the course page lets you rerun all eighteen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opened on the date in the subtitle. A good exercise is to take any confirmed transaction from the explorer and run the chapter code on its hexadecimal. The course page for chapter 6 carries the full resource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6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hyperlink" Target="https://bitcointalk.org/index.php?topic=137.0"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hyperlink" Target="https://en.bitcoin.it/wiki/Value_overflow_incident" TargetMode="External"/><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hyperlink" Target="https://arxiv.org/abs/1403.6676" TargetMode="External"/><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s://raw.githubusercontent.com/bitcoinbook/bitcoinbook/develop/ch06_transactions.adoc" TargetMode="External"/><Relationship Id="rId2" Type="http://schemas.openxmlformats.org/officeDocument/2006/relationships/hyperlink" Target="https://arxiv.org/abs/1403.6676" TargetMode="External"/><Relationship Id="rId3" Type="http://schemas.openxmlformats.org/officeDocument/2006/relationships/hyperlink" Target="https://bips.dev/141/" TargetMode="External"/><Relationship Id="rId4" Type="http://schemas.openxmlformats.org/officeDocument/2006/relationships/hyperlink" Target="https://bips.dev/68/" TargetMode="External"/><Relationship Id="rId5" Type="http://schemas.openxmlformats.org/officeDocument/2006/relationships/hyperlink" Target="https://bips.dev/125/" TargetMode="External"/><Relationship Id="rId6" Type="http://schemas.openxmlformats.org/officeDocument/2006/relationships/hyperlink" Target="https://mempool.space/tx/466200308696215bbc949d5141a49a4138ecdfdfaa2a8029c1f9bcecd1f96177" TargetMode="External"/><Relationship Id="rId7" Type="http://schemas.openxmlformats.org/officeDocument/2006/relationships/hyperlink" Target="https://en.bitcoin.it/wiki/Transaction" TargetMode="External"/><Relationship Id="rId8" Type="http://schemas.openxmlformats.org/officeDocument/2006/relationships/hyperlink" Target="https://bitcointalk.org/index.php?topic=137.0" TargetMode="External"/><Relationship Id="rId9" Type="http://schemas.openxmlformats.org/officeDocument/2006/relationships/hyperlink" Target="https://bitcointalk.org/index.php?topic=822.0" TargetMode="External"/><Relationship Id="rId10" Type="http://schemas.openxmlformats.org/officeDocument/2006/relationships/hyperlink" Target="https://www.youtube.com/embed/PrcJD4rznyA" TargetMode="External"/><Relationship Id="rId11" Type="http://schemas.openxmlformats.org/officeDocument/2006/relationships/slideLayout" Target="../slideLayouts/slideLayout1.xml"/><Relationship Id="rId1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Transactions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real transaction, 194 bytes, read field by field, with every number recomputed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6/assets/mbc3_0601.png">    </p:cNvPr>
          <p:cNvPicPr>
            <a:picLocks noChangeAspect="1"/>
          </p:cNvPicPr>
          <p:nvPr/>
        </p:nvPicPr>
        <p:blipFill>
          <a:blip r:embed="rId1"/>
          <a:srcRect l="0" r="0" t="0" b="0"/>
          <a:stretch/>
        </p:blipFill>
        <p:spPr>
          <a:xfrm>
            <a:off x="6309360" y="320040"/>
            <a:ext cx="2377440" cy="160020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Figure: a byte map of a transaction, Antonopoulos and Harding, Mastering Bitcoin 3e, CC BY-SA 4.0. Python 3.14.6, no Bitcoin Core node.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55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 parts; every number is a slide you can jump to</a:t>
            </a:r>
            <a:endParaRPr lang="en-US" sz="1300" dirty="0"/>
          </a:p>
        </p:txBody>
      </p:sp>
      <p:sp>
        <p:nvSpPr>
          <p:cNvPr id="6" name="Shape 4"/>
          <p:cNvSpPr/>
          <p:nvPr/>
        </p:nvSpPr>
        <p:spPr>
          <a:xfrm>
            <a:off x="457200" y="1280160"/>
            <a:ext cx="1822704" cy="981456"/>
          </a:xfrm>
          <a:prstGeom prst="roundRect">
            <a:avLst>
              <a:gd name="adj" fmla="val 7453"/>
            </a:avLst>
          </a:prstGeom>
          <a:solidFill>
            <a:srgbClr val="F2ECE1"/>
          </a:solidFill>
          <a:ln w="12700">
            <a:solidFill>
              <a:srgbClr val="DFD6C7"/>
            </a:solidFill>
            <a:prstDash val="solid"/>
          </a:ln>
        </p:spPr>
      </p:sp>
      <p:sp>
        <p:nvSpPr>
          <p:cNvPr id="7" name="Text 5"/>
          <p:cNvSpPr txBox="1"/>
          <p:nvPr/>
        </p:nvSpPr>
        <p:spPr>
          <a:xfrm>
            <a:off x="548640" y="1335024"/>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1. Questions and the chapter map</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50" dirty="0"/>
          </a:p>
        </p:txBody>
      </p:sp>
      <p:sp>
        <p:nvSpPr>
          <p:cNvPr id="8" name="Shape 6"/>
          <p:cNvSpPr/>
          <p:nvPr/>
        </p:nvSpPr>
        <p:spPr>
          <a:xfrm>
            <a:off x="2426208" y="1280160"/>
            <a:ext cx="1822704" cy="981456"/>
          </a:xfrm>
          <a:prstGeom prst="roundRect">
            <a:avLst>
              <a:gd name="adj" fmla="val 7453"/>
            </a:avLst>
          </a:prstGeom>
          <a:solidFill>
            <a:srgbClr val="F2ECE1"/>
          </a:solidFill>
          <a:ln w="12700">
            <a:solidFill>
              <a:srgbClr val="DFD6C7"/>
            </a:solidFill>
            <a:prstDash val="solid"/>
          </a:ln>
        </p:spPr>
      </p:sp>
      <p:sp>
        <p:nvSpPr>
          <p:cNvPr id="9" name="Text 7"/>
          <p:cNvSpPr txBox="1"/>
          <p:nvPr/>
        </p:nvSpPr>
        <p:spPr>
          <a:xfrm>
            <a:off x="2517648" y="1335024"/>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2. What a transaction is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5-10)</a:t>
            </a:r>
            <a:endParaRPr lang="en-US" sz="1150" dirty="0"/>
          </a:p>
        </p:txBody>
      </p:sp>
      <p:sp>
        <p:nvSpPr>
          <p:cNvPr id="10" name="Shape 8"/>
          <p:cNvSpPr/>
          <p:nvPr/>
        </p:nvSpPr>
        <p:spPr>
          <a:xfrm>
            <a:off x="4395216" y="1280160"/>
            <a:ext cx="1822704" cy="981456"/>
          </a:xfrm>
          <a:prstGeom prst="roundRect">
            <a:avLst>
              <a:gd name="adj" fmla="val 7453"/>
            </a:avLst>
          </a:prstGeom>
          <a:solidFill>
            <a:srgbClr val="F2ECE1"/>
          </a:solidFill>
          <a:ln w="12700">
            <a:solidFill>
              <a:srgbClr val="DFD6C7"/>
            </a:solidFill>
            <a:prstDash val="solid"/>
          </a:ln>
        </p:spPr>
      </p:sp>
      <p:sp>
        <p:nvSpPr>
          <p:cNvPr id="11" name="Text 9"/>
          <p:cNvSpPr txBox="1"/>
          <p:nvPr/>
        </p:nvSpPr>
        <p:spPr>
          <a:xfrm>
            <a:off x="4486656" y="1335024"/>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3. Version, marker and flag</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11-13)</a:t>
            </a:r>
            <a:endParaRPr lang="en-US" sz="1150" dirty="0"/>
          </a:p>
        </p:txBody>
      </p:sp>
      <p:sp>
        <p:nvSpPr>
          <p:cNvPr id="12" name="Shape 10"/>
          <p:cNvSpPr/>
          <p:nvPr/>
        </p:nvSpPr>
        <p:spPr>
          <a:xfrm>
            <a:off x="457200" y="2389632"/>
            <a:ext cx="1822704" cy="981456"/>
          </a:xfrm>
          <a:prstGeom prst="roundRect">
            <a:avLst>
              <a:gd name="adj" fmla="val 7453"/>
            </a:avLst>
          </a:prstGeom>
          <a:solidFill>
            <a:srgbClr val="F2ECE1"/>
          </a:solidFill>
          <a:ln w="12700">
            <a:solidFill>
              <a:srgbClr val="DFD6C7"/>
            </a:solidFill>
            <a:prstDash val="solid"/>
          </a:ln>
        </p:spPr>
      </p:sp>
      <p:sp>
        <p:nvSpPr>
          <p:cNvPr id="13" name="Text 11"/>
          <p:cNvSpPr txBox="1"/>
          <p:nvPr/>
        </p:nvSpPr>
        <p:spPr>
          <a:xfrm>
            <a:off x="548640" y="2444496"/>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4. Inputs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14-21)</a:t>
            </a:r>
            <a:endParaRPr lang="en-US" sz="1150" dirty="0"/>
          </a:p>
        </p:txBody>
      </p:sp>
      <p:sp>
        <p:nvSpPr>
          <p:cNvPr id="14" name="Shape 12"/>
          <p:cNvSpPr/>
          <p:nvPr/>
        </p:nvSpPr>
        <p:spPr>
          <a:xfrm>
            <a:off x="2426208" y="2389632"/>
            <a:ext cx="1822704"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2517648" y="2444496"/>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5. The sequence field</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22-26)</a:t>
            </a:r>
            <a:endParaRPr lang="en-US" sz="1150" dirty="0"/>
          </a:p>
        </p:txBody>
      </p:sp>
      <p:sp>
        <p:nvSpPr>
          <p:cNvPr id="16" name="Shape 14"/>
          <p:cNvSpPr/>
          <p:nvPr/>
        </p:nvSpPr>
        <p:spPr>
          <a:xfrm>
            <a:off x="4395216" y="2389632"/>
            <a:ext cx="1822704" cy="981456"/>
          </a:xfrm>
          <a:prstGeom prst="roundRect">
            <a:avLst>
              <a:gd name="adj" fmla="val 7453"/>
            </a:avLst>
          </a:prstGeom>
          <a:solidFill>
            <a:srgbClr val="F2ECE1"/>
          </a:solidFill>
          <a:ln w="12700">
            <a:solidFill>
              <a:srgbClr val="DFD6C7"/>
            </a:solidFill>
            <a:prstDash val="solid"/>
          </a:ln>
        </p:spPr>
      </p:sp>
      <p:sp>
        <p:nvSpPr>
          <p:cNvPr id="17" name="Text 15"/>
          <p:cNvSpPr txBox="1"/>
          <p:nvPr/>
        </p:nvSpPr>
        <p:spPr>
          <a:xfrm>
            <a:off x="4486656" y="2444496"/>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6. Outputs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27-33)</a:t>
            </a:r>
            <a:endParaRPr lang="en-US" sz="1150" dirty="0"/>
          </a:p>
        </p:txBody>
      </p:sp>
      <p:sp>
        <p:nvSpPr>
          <p:cNvPr id="18" name="Shape 16"/>
          <p:cNvSpPr/>
          <p:nvPr/>
        </p:nvSpPr>
        <p:spPr>
          <a:xfrm>
            <a:off x="457200" y="3499104"/>
            <a:ext cx="1822704" cy="981456"/>
          </a:xfrm>
          <a:prstGeom prst="roundRect">
            <a:avLst>
              <a:gd name="adj" fmla="val 7453"/>
            </a:avLst>
          </a:prstGeom>
          <a:solidFill>
            <a:srgbClr val="F2ECE1"/>
          </a:solidFill>
          <a:ln w="12700">
            <a:solidFill>
              <a:srgbClr val="DFD6C7"/>
            </a:solidFill>
            <a:prstDash val="solid"/>
          </a:ln>
        </p:spPr>
      </p:sp>
      <p:sp>
        <p:nvSpPr>
          <p:cNvPr id="19" name="Text 17"/>
          <p:cNvSpPr txBox="1"/>
          <p:nvPr/>
        </p:nvSpPr>
        <p:spPr>
          <a:xfrm>
            <a:off x="548640" y="3553968"/>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7. Witnesses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34-41)</a:t>
            </a:r>
            <a:endParaRPr lang="en-US" sz="1150" dirty="0"/>
          </a:p>
        </p:txBody>
      </p:sp>
      <p:sp>
        <p:nvSpPr>
          <p:cNvPr id="20" name="Shape 18"/>
          <p:cNvSpPr/>
          <p:nvPr/>
        </p:nvSpPr>
        <p:spPr>
          <a:xfrm>
            <a:off x="2426208" y="3499104"/>
            <a:ext cx="1822704"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2517648" y="3553968"/>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8. Lock time and the coinbase</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42-47)</a:t>
            </a:r>
            <a:endParaRPr lang="en-US" sz="1150" dirty="0"/>
          </a:p>
        </p:txBody>
      </p:sp>
      <p:sp>
        <p:nvSpPr>
          <p:cNvPr id="22" name="Shape 20"/>
          <p:cNvSpPr/>
          <p:nvPr/>
        </p:nvSpPr>
        <p:spPr>
          <a:xfrm>
            <a:off x="4395216" y="3499104"/>
            <a:ext cx="1822704" cy="981456"/>
          </a:xfrm>
          <a:prstGeom prst="roundRect">
            <a:avLst>
              <a:gd name="adj" fmla="val 7453"/>
            </a:avLst>
          </a:prstGeom>
          <a:solidFill>
            <a:srgbClr val="F2ECE1"/>
          </a:solidFill>
          <a:ln w="12700">
            <a:solidFill>
              <a:srgbClr val="DFD6C7"/>
            </a:solidFill>
            <a:prstDash val="solid"/>
          </a:ln>
        </p:spPr>
      </p:sp>
      <p:sp>
        <p:nvSpPr>
          <p:cNvPr id="23" name="Text 21"/>
          <p:cNvSpPr txBox="1"/>
          <p:nvPr/>
        </p:nvSpPr>
        <p:spPr>
          <a:xfrm>
            <a:off x="4486656" y="3553968"/>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9. Weight and foundations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48-55)</a:t>
            </a:r>
            <a:endParaRPr lang="en-US" sz="1150" dirty="0"/>
          </a:p>
        </p:txBody>
      </p:sp>
      <p:sp>
        <p:nvSpPr>
          <p:cNvPr id="24" name="Shape 22"/>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5" name="Text 23"/>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55</a:t>
            </a:r>
            <a:endParaRPr lang="en-US" sz="2600" dirty="0"/>
          </a:p>
        </p:txBody>
      </p:sp>
      <p:sp>
        <p:nvSpPr>
          <p:cNvPr id="26" name="Text 24"/>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8" name="Text 26"/>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9" name="Text 27"/>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30" name="Shape 28"/>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31" name="Text 29"/>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32" name="Text 30"/>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parts, one real transaction, and a summary you can check</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55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Bitcoin transaction ask full nodes to do?</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transaction serialized in the extended and the legacy format?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version, marker and flag tell a node?</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three meanings has the sequence field carried?</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did witnesses in the input script make the identifier malleable?</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are weight and vbytes computed, and does 569 reproduce from the bytes?</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creates new bitcoins, and when can they be spent?</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55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1947672"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What a transaction is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8" name="Shape 6"/>
          <p:cNvSpPr/>
          <p:nvPr/>
        </p:nvSpPr>
        <p:spPr>
          <a:xfrm>
            <a:off x="2551176" y="1280160"/>
            <a:ext cx="1947672"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2642616"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Version, marker and flag</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0" name="Shape 8"/>
          <p:cNvSpPr/>
          <p:nvPr/>
        </p:nvSpPr>
        <p:spPr>
          <a:xfrm>
            <a:off x="4645152" y="1280160"/>
            <a:ext cx="1947672" cy="1490472"/>
          </a:xfrm>
          <a:prstGeom prst="roundRect">
            <a:avLst>
              <a:gd name="adj" fmla="val 4908"/>
            </a:avLst>
          </a:prstGeom>
          <a:solidFill>
            <a:srgbClr val="D97A14"/>
          </a:solidFill>
          <a:ln w="12700">
            <a:solidFill>
              <a:srgbClr val="D97A14"/>
            </a:solidFill>
            <a:prstDash val="solid"/>
          </a:ln>
        </p:spPr>
      </p:sp>
      <p:sp>
        <p:nvSpPr>
          <p:cNvPr id="11" name="Text 9"/>
          <p:cNvSpPr txBox="1"/>
          <p:nvPr/>
        </p:nvSpPr>
        <p:spPr>
          <a:xfrm>
            <a:off x="4736592" y="1335024"/>
            <a:ext cx="1764792" cy="13807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Inputs</a:t>
            </a:r>
            <a:endParaRPr lang="en-US" sz="1250" dirty="0"/>
          </a:p>
          <a:p>
            <a:pPr algn="ctr" indent="0" marL="0">
              <a:buNone/>
            </a:pPr>
            <a:r>
              <a:rPr lang="en-US" sz="1050" dirty="0">
                <a:solidFill>
                  <a:srgbClr val="FFFFFF"/>
                </a:solidFill>
                <a:latin typeface="Calibri" pitchFamily="34" charset="0"/>
                <a:ea typeface="Calibri" pitchFamily="34" charset="-122"/>
                <a:cs typeface="Calibri" pitchFamily="34" charset="-120"/>
              </a:rPr>
              <a:t>18 concepts</a:t>
            </a:r>
            <a:endParaRPr lang="en-US" sz="1250" dirty="0"/>
          </a:p>
        </p:txBody>
      </p:sp>
      <p:sp>
        <p:nvSpPr>
          <p:cNvPr id="12" name="Shape 10"/>
          <p:cNvSpPr/>
          <p:nvPr/>
        </p:nvSpPr>
        <p:spPr>
          <a:xfrm>
            <a:off x="6739128" y="1280160"/>
            <a:ext cx="1947672"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6830568"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sequence field</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13 concepts</a:t>
            </a:r>
            <a:endParaRPr lang="en-US" sz="1250" dirty="0"/>
          </a:p>
        </p:txBody>
      </p:sp>
      <p:sp>
        <p:nvSpPr>
          <p:cNvPr id="14" name="Shape 12"/>
          <p:cNvSpPr/>
          <p:nvPr/>
        </p:nvSpPr>
        <p:spPr>
          <a:xfrm>
            <a:off x="457200" y="2898648"/>
            <a:ext cx="1947672" cy="1490472"/>
          </a:xfrm>
          <a:prstGeom prst="roundRect">
            <a:avLst>
              <a:gd name="adj" fmla="val 4908"/>
            </a:avLst>
          </a:prstGeom>
          <a:solidFill>
            <a:srgbClr val="F2ECE1"/>
          </a:solidFill>
          <a:ln w="12700">
            <a:solidFill>
              <a:srgbClr val="DFD6C7"/>
            </a:solidFill>
            <a:prstDash val="solid"/>
          </a:ln>
        </p:spPr>
      </p:sp>
      <p:sp>
        <p:nvSpPr>
          <p:cNvPr id="15" name="Text 13"/>
          <p:cNvSpPr txBox="1"/>
          <p:nvPr/>
        </p:nvSpPr>
        <p:spPr>
          <a:xfrm>
            <a:off x="548640"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Outputs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16" name="Shape 14"/>
          <p:cNvSpPr/>
          <p:nvPr/>
        </p:nvSpPr>
        <p:spPr>
          <a:xfrm>
            <a:off x="2551176" y="2898648"/>
            <a:ext cx="1947672"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2642616"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Witnesses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20 concepts</a:t>
            </a:r>
            <a:endParaRPr lang="en-US" sz="1250" dirty="0"/>
          </a:p>
        </p:txBody>
      </p:sp>
      <p:sp>
        <p:nvSpPr>
          <p:cNvPr id="18" name="Shape 16"/>
          <p:cNvSpPr/>
          <p:nvPr/>
        </p:nvSpPr>
        <p:spPr>
          <a:xfrm>
            <a:off x="4645152" y="2898648"/>
            <a:ext cx="1947672" cy="1490472"/>
          </a:xfrm>
          <a:prstGeom prst="roundRect">
            <a:avLst>
              <a:gd name="adj" fmla="val 4908"/>
            </a:avLst>
          </a:prstGeom>
          <a:solidFill>
            <a:srgbClr val="F2ECE1"/>
          </a:solidFill>
          <a:ln w="12700">
            <a:solidFill>
              <a:srgbClr val="DFD6C7"/>
            </a:solidFill>
            <a:prstDash val="solid"/>
          </a:ln>
        </p:spPr>
      </p:sp>
      <p:sp>
        <p:nvSpPr>
          <p:cNvPr id="19" name="Text 17"/>
          <p:cNvSpPr txBox="1"/>
          <p:nvPr/>
        </p:nvSpPr>
        <p:spPr>
          <a:xfrm>
            <a:off x="4736592"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Lock time and the coinbase</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0" name="Shape 18"/>
          <p:cNvSpPr/>
          <p:nvPr/>
        </p:nvSpPr>
        <p:spPr>
          <a:xfrm>
            <a:off x="6739128" y="2898648"/>
            <a:ext cx="1947672" cy="1490472"/>
          </a:xfrm>
          <a:prstGeom prst="roundRect">
            <a:avLst>
              <a:gd name="adj" fmla="val 4908"/>
            </a:avLst>
          </a:prstGeom>
          <a:solidFill>
            <a:srgbClr val="F2ECE1"/>
          </a:solidFill>
          <a:ln w="12700">
            <a:solidFill>
              <a:srgbClr val="DFD6C7"/>
            </a:solidFill>
            <a:prstDash val="solid"/>
          </a:ln>
        </p:spPr>
      </p:sp>
      <p:sp>
        <p:nvSpPr>
          <p:cNvPr id="21" name="Text 19"/>
          <p:cNvSpPr txBox="1"/>
          <p:nvPr/>
        </p:nvSpPr>
        <p:spPr>
          <a:xfrm>
            <a:off x="6830568"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Weight and foundations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every slide today lives on this map</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55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What a transaction is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transaction is a signed letter asking every ledger to update itself.</a:t>
            </a:r>
            <a:endParaRPr lang="en-US" sz="1500" dirty="0"/>
          </a:p>
        </p:txBody>
      </p:sp>
      <p:sp>
        <p:nvSpPr>
          <p:cNvPr id="6" name="Shape 4"/>
          <p:cNvSpPr/>
          <p:nvPr/>
        </p:nvSpPr>
        <p:spPr>
          <a:xfrm>
            <a:off x="777240" y="2148840"/>
            <a:ext cx="3858768" cy="1783080"/>
          </a:xfrm>
          <a:prstGeom prst="roundRect">
            <a:avLst>
              <a:gd name="adj" fmla="val 4103"/>
            </a:avLst>
          </a:prstGeom>
          <a:solidFill>
            <a:srgbClr val="2F6D62"/>
          </a:solidFill>
          <a:ln w="12700">
            <a:solidFill>
              <a:srgbClr val="2F6D62"/>
            </a:solidFill>
            <a:prstDash val="solid"/>
          </a:ln>
        </p:spPr>
      </p:sp>
      <p:sp>
        <p:nvSpPr>
          <p:cNvPr id="7" name="Text 5"/>
          <p:cNvSpPr txBox="1"/>
          <p:nvPr/>
        </p:nvSpPr>
        <p:spPr>
          <a:xfrm>
            <a:off x="850392" y="2194560"/>
            <a:ext cx="3712464" cy="1691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The idea of a transaction</a:t>
            </a:r>
            <a:endParaRPr lang="en-US" sz="1600" dirty="0"/>
          </a:p>
          <a:p>
            <a:pPr algn="ctr" indent="0" marL="0">
              <a:buNone/>
            </a:pPr>
            <a:r>
              <a:rPr lang="en-US" sz="1300" dirty="0">
                <a:solidFill>
                  <a:srgbClr val="D7E4E0"/>
                </a:solidFill>
                <a:latin typeface="Calibri" pitchFamily="34" charset="0"/>
                <a:ea typeface="Calibri" pitchFamily="34" charset="-122"/>
                <a:cs typeface="Calibri" pitchFamily="34" charset="-120"/>
              </a:rPr>
              <a:t>What a transaction is and what each node does with it. Like a signed letter that asks every ledger to change.</a:t>
            </a:r>
            <a:endParaRPr lang="en-US" sz="1600" dirty="0"/>
          </a:p>
        </p:txBody>
      </p:sp>
      <p:sp>
        <p:nvSpPr>
          <p:cNvPr id="8" name="Shape 6"/>
          <p:cNvSpPr/>
          <p:nvPr/>
        </p:nvSpPr>
        <p:spPr>
          <a:xfrm>
            <a:off x="4782312" y="2148840"/>
            <a:ext cx="3858768" cy="1783080"/>
          </a:xfrm>
          <a:prstGeom prst="roundRect">
            <a:avLst>
              <a:gd name="adj" fmla="val 4103"/>
            </a:avLst>
          </a:prstGeom>
          <a:solidFill>
            <a:srgbClr val="2F6D62"/>
          </a:solidFill>
          <a:ln w="12700">
            <a:solidFill>
              <a:srgbClr val="2F6D62"/>
            </a:solidFill>
            <a:prstDash val="solid"/>
          </a:ln>
        </p:spPr>
      </p:sp>
      <p:sp>
        <p:nvSpPr>
          <p:cNvPr id="9" name="Text 7"/>
          <p:cNvSpPr txBox="1"/>
          <p:nvPr/>
        </p:nvSpPr>
        <p:spPr>
          <a:xfrm>
            <a:off x="4855464" y="2194560"/>
            <a:ext cx="3712464" cy="1691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Serialization formats</a:t>
            </a:r>
            <a:endParaRPr lang="en-US" sz="1600" dirty="0"/>
          </a:p>
          <a:p>
            <a:pPr algn="ctr" indent="0" marL="0">
              <a:buNone/>
            </a:pPr>
            <a:r>
              <a:rPr lang="en-US" sz="1300" dirty="0">
                <a:solidFill>
                  <a:srgbClr val="D7E4E0"/>
                </a:solidFill>
                <a:latin typeface="Calibri" pitchFamily="34" charset="0"/>
                <a:ea typeface="Calibri" pitchFamily="34" charset="-122"/>
                <a:cs typeface="Calibri" pitchFamily="34" charset="-120"/>
              </a:rPr>
              <a:t>The ways a transaction is written out as bytes. Like packing a letter flat for the post.</a:t>
            </a:r>
            <a:endParaRPr lang="en-US" sz="1600" dirty="0"/>
          </a:p>
        </p:txBody>
      </p:sp>
      <p:sp>
        <p:nvSpPr>
          <p:cNvPr id="10" name="Shape 8"/>
          <p:cNvSpPr/>
          <p:nvPr/>
        </p:nvSpPr>
        <p:spPr>
          <a:xfrm>
            <a:off x="777240" y="4114800"/>
            <a:ext cx="914400" cy="365760"/>
          </a:xfrm>
          <a:prstGeom prst="rect">
            <a:avLst/>
          </a:prstGeom>
          <a:solidFill>
            <a:srgbClr val="D97A14"/>
          </a:solidFill>
          <a:ln w="19050">
            <a:solidFill>
              <a:srgbClr val="FFFFFF"/>
            </a:solidFill>
            <a:prstDash val="solid"/>
          </a:ln>
        </p:spPr>
      </p:sp>
      <p:sp>
        <p:nvSpPr>
          <p:cNvPr id="11" name="Text 9"/>
          <p:cNvSpPr txBox="1"/>
          <p:nvPr/>
        </p:nvSpPr>
        <p:spPr>
          <a:xfrm>
            <a:off x="777240" y="4114800"/>
            <a:ext cx="9144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p>
        </p:txBody>
      </p:sp>
      <p:sp>
        <p:nvSpPr>
          <p:cNvPr id="12" name="Shape 10"/>
          <p:cNvSpPr/>
          <p:nvPr/>
        </p:nvSpPr>
        <p:spPr>
          <a:xfrm>
            <a:off x="1691640" y="4114800"/>
            <a:ext cx="822960" cy="365760"/>
          </a:xfrm>
          <a:prstGeom prst="rect">
            <a:avLst/>
          </a:prstGeom>
          <a:solidFill>
            <a:srgbClr val="D97A14"/>
          </a:solidFill>
          <a:ln w="19050">
            <a:solidFill>
              <a:srgbClr val="FFFFFF"/>
            </a:solidFill>
            <a:prstDash val="solid"/>
          </a:ln>
        </p:spPr>
      </p:sp>
      <p:sp>
        <p:nvSpPr>
          <p:cNvPr id="13" name="Text 11"/>
          <p:cNvSpPr txBox="1"/>
          <p:nvPr/>
        </p:nvSpPr>
        <p:spPr>
          <a:xfrm>
            <a:off x="1691640" y="4114800"/>
            <a:ext cx="8229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Marker Flag</a:t>
            </a:r>
            <a:endParaRPr lang="en-US" sz="1000" dirty="0"/>
          </a:p>
        </p:txBody>
      </p:sp>
      <p:sp>
        <p:nvSpPr>
          <p:cNvPr id="14" name="Shape 12"/>
          <p:cNvSpPr/>
          <p:nvPr/>
        </p:nvSpPr>
        <p:spPr>
          <a:xfrm>
            <a:off x="2514600" y="4114800"/>
            <a:ext cx="1737360" cy="365760"/>
          </a:xfrm>
          <a:prstGeom prst="rect">
            <a:avLst/>
          </a:prstGeom>
          <a:solidFill>
            <a:srgbClr val="D97A14"/>
          </a:solidFill>
          <a:ln w="19050">
            <a:solidFill>
              <a:srgbClr val="FFFFFF"/>
            </a:solidFill>
            <a:prstDash val="solid"/>
          </a:ln>
        </p:spPr>
      </p:sp>
      <p:sp>
        <p:nvSpPr>
          <p:cNvPr id="15" name="Text 13"/>
          <p:cNvSpPr txBox="1"/>
          <p:nvPr/>
        </p:nvSpPr>
        <p:spPr>
          <a:xfrm>
            <a:off x="2514600" y="4114800"/>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p>
        </p:txBody>
      </p:sp>
      <p:sp>
        <p:nvSpPr>
          <p:cNvPr id="16" name="Shape 14"/>
          <p:cNvSpPr/>
          <p:nvPr/>
        </p:nvSpPr>
        <p:spPr>
          <a:xfrm>
            <a:off x="4251960" y="4114800"/>
            <a:ext cx="1737360" cy="365760"/>
          </a:xfrm>
          <a:prstGeom prst="rect">
            <a:avLst/>
          </a:prstGeom>
          <a:solidFill>
            <a:srgbClr val="D97A14"/>
          </a:solidFill>
          <a:ln w="19050">
            <a:solidFill>
              <a:srgbClr val="FFFFFF"/>
            </a:solidFill>
            <a:prstDash val="solid"/>
          </a:ln>
        </p:spPr>
      </p:sp>
      <p:sp>
        <p:nvSpPr>
          <p:cNvPr id="17" name="Text 15"/>
          <p:cNvSpPr txBox="1"/>
          <p:nvPr/>
        </p:nvSpPr>
        <p:spPr>
          <a:xfrm>
            <a:off x="4251960" y="4114800"/>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Outputs</a:t>
            </a:r>
            <a:endParaRPr lang="en-US" sz="1000" dirty="0"/>
          </a:p>
        </p:txBody>
      </p:sp>
      <p:sp>
        <p:nvSpPr>
          <p:cNvPr id="18" name="Shape 16"/>
          <p:cNvSpPr/>
          <p:nvPr/>
        </p:nvSpPr>
        <p:spPr>
          <a:xfrm>
            <a:off x="5989320" y="4114800"/>
            <a:ext cx="1737360" cy="365760"/>
          </a:xfrm>
          <a:prstGeom prst="rect">
            <a:avLst/>
          </a:prstGeom>
          <a:solidFill>
            <a:srgbClr val="D97A14"/>
          </a:solidFill>
          <a:ln w="19050">
            <a:solidFill>
              <a:srgbClr val="FFFFFF"/>
            </a:solidFill>
            <a:prstDash val="solid"/>
          </a:ln>
        </p:spPr>
      </p:sp>
      <p:sp>
        <p:nvSpPr>
          <p:cNvPr id="19" name="Text 17"/>
          <p:cNvSpPr txBox="1"/>
          <p:nvPr/>
        </p:nvSpPr>
        <p:spPr>
          <a:xfrm>
            <a:off x="5989320" y="4114800"/>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Witnesses</a:t>
            </a:r>
            <a:endParaRPr lang="en-US" sz="1000" dirty="0"/>
          </a:p>
        </p:txBody>
      </p:sp>
      <p:sp>
        <p:nvSpPr>
          <p:cNvPr id="20" name="Shape 18"/>
          <p:cNvSpPr/>
          <p:nvPr/>
        </p:nvSpPr>
        <p:spPr>
          <a:xfrm>
            <a:off x="7726680" y="4114800"/>
            <a:ext cx="914400" cy="365760"/>
          </a:xfrm>
          <a:prstGeom prst="rect">
            <a:avLst/>
          </a:prstGeom>
          <a:solidFill>
            <a:srgbClr val="D97A14"/>
          </a:solidFill>
          <a:ln w="19050">
            <a:solidFill>
              <a:srgbClr val="FFFFFF"/>
            </a:solidFill>
            <a:prstDash val="solid"/>
          </a:ln>
        </p:spPr>
      </p:sp>
      <p:sp>
        <p:nvSpPr>
          <p:cNvPr id="21" name="Text 19"/>
          <p:cNvSpPr txBox="1"/>
          <p:nvPr/>
        </p:nvSpPr>
        <p:spPr>
          <a:xfrm>
            <a:off x="7726680" y="4114800"/>
            <a:ext cx="9144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Lock time</a:t>
            </a:r>
            <a:endParaRPr lang="en-US" sz="100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55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transaction is: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Transaction</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A request to thousands of databases.</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a signed letter asking every bank branch to update its ledger.</a:t>
            </a:r>
            <a:endParaRPr lang="en-US" sz="1350" dirty="0"/>
          </a:p>
        </p:txBody>
      </p:sp>
      <p:sp>
        <p:nvSpPr>
          <p:cNvPr id="9" name="Shape 7"/>
          <p:cNvSpPr/>
          <p:nvPr/>
        </p:nvSpPr>
        <p:spPr>
          <a:xfrm>
            <a:off x="4645152" y="1280160"/>
            <a:ext cx="4041648"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4663440"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4828032" y="1344168"/>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The ownership record of a full node</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Every node keeps the same register.</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a land register that every town keeps an identical copy of.</a:t>
            </a:r>
            <a:endParaRPr lang="en-US" sz="1350" dirty="0"/>
          </a:p>
        </p:txBody>
      </p:sp>
      <p:sp>
        <p:nvSpPr>
          <p:cNvPr id="12" name="Shape 10"/>
          <p:cNvSpPr/>
          <p:nvPr/>
        </p:nvSpPr>
        <p:spPr>
          <a:xfrm>
            <a:off x="457200" y="2944368"/>
            <a:ext cx="4041648"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475488" y="3072384"/>
            <a:ext cx="64008" cy="1280160"/>
          </a:xfrm>
          <a:prstGeom prst="rect">
            <a:avLst/>
          </a:prstGeom>
          <a:solidFill>
            <a:srgbClr val="D97A14"/>
          </a:solidFill>
          <a:ln w="12700">
            <a:solidFill>
              <a:srgbClr val="D97A14"/>
            </a:solidFill>
            <a:prstDash val="solid"/>
          </a:ln>
        </p:spPr>
      </p:sp>
      <p:sp>
        <p:nvSpPr>
          <p:cNvPr id="14" name="Text 12"/>
          <p:cNvSpPr txBox="1"/>
          <p:nvPr/>
        </p:nvSpPr>
        <p:spPr>
          <a:xfrm>
            <a:off x="640080" y="3008376"/>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The parts of a transaction</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Five top-level fields, plus two for segwit.</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a cheque with boxes for payer, payee, amount and signature.</a:t>
            </a:r>
            <a:endParaRPr lang="en-US" sz="1350" dirty="0"/>
          </a:p>
        </p:txBody>
      </p:sp>
      <p:sp>
        <p:nvSpPr>
          <p:cNvPr id="15" name="Shape 13"/>
          <p:cNvSpPr/>
          <p:nvPr/>
        </p:nvSpPr>
        <p:spPr>
          <a:xfrm>
            <a:off x="4645152" y="2944368"/>
            <a:ext cx="4041648"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663440"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4828032" y="3008376"/>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Serialized transaction</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The 194 bytes Bitcoin Core returned.</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a letter flattened into one long strip of tape.</a:t>
            </a:r>
            <a:endParaRPr lang="en-US" sz="13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55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194 bytes, every one named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Alice's transaction, parsed from its hexadecimal text</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tx = parse_tx(ALICE)                  </a:t>
            </a:r>
            <a:r>
              <a:rPr lang="en-US" sz="1100" i="1" dirty="0">
                <a:solidFill>
                  <a:srgbClr val="8FA98F"/>
                </a:solidFill>
                <a:latin typeface="Courier New" pitchFamily="34" charset="0"/>
                <a:ea typeface="Courier New" pitchFamily="34" charset="-122"/>
                <a:cs typeface="Courier New" pitchFamily="34" charset="-120"/>
              </a:rPr>
              <a:t># to fields</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groups = {}</a:t>
            </a:r>
            <a:endParaRPr lang="en-US" sz="1100" dirty="0"/>
          </a:p>
          <a:p>
            <a:pPr indent="0" marL="0">
              <a:lnSpc>
                <a:spcPts val="1430"/>
              </a:lnSpc>
              <a:buNone/>
            </a:pP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name, pos, n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tx[</a:t>
            </a:r>
            <a:r>
              <a:rPr lang="en-US" sz="1100" dirty="0">
                <a:solidFill>
                  <a:srgbClr val="9ECBFF"/>
                </a:solidFill>
                <a:latin typeface="Courier New" pitchFamily="34" charset="0"/>
                <a:ea typeface="Courier New" pitchFamily="34" charset="-122"/>
                <a:cs typeface="Courier New" pitchFamily="34" charset="-120"/>
              </a:rPr>
              <a:t>'spans'</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every field</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key = name.split(</a:t>
            </a:r>
            <a:r>
              <a:rPr lang="en-US" sz="1100" dirty="0">
                <a:solidFill>
                  <a:srgbClr val="9ECBFF"/>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0</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first word</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groups[key] = groups.get(key, </a:t>
            </a:r>
            <a:r>
              <a:rPr lang="en-US" sz="1100" dirty="0">
                <a:solidFill>
                  <a:srgbClr val="FFD28A"/>
                </a:solidFill>
                <a:latin typeface="Courier New" pitchFamily="34" charset="0"/>
                <a:ea typeface="Courier New" pitchFamily="34" charset="-122"/>
                <a:cs typeface="Courier New" pitchFamily="34" charset="-120"/>
              </a:rPr>
              <a:t>0</a:t>
            </a:r>
            <a:r>
              <a:rPr lang="en-US" sz="1100" dirty="0">
                <a:solidFill>
                  <a:srgbClr val="E6EDF3"/>
                </a:solidFill>
                <a:latin typeface="Courier New" pitchFamily="34" charset="0"/>
                <a:ea typeface="Courier New" pitchFamily="34" charset="-122"/>
                <a:cs typeface="Courier New" pitchFamily="34" charset="-120"/>
              </a:rPr>
              <a:t>) + n</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total = sum(groups.values())          </a:t>
            </a:r>
            <a:r>
              <a:rPr lang="en-US" sz="1100" i="1" dirty="0">
                <a:solidFill>
                  <a:srgbClr val="8FA98F"/>
                </a:solidFill>
                <a:latin typeface="Courier New" pitchFamily="34" charset="0"/>
                <a:ea typeface="Courier New" pitchFamily="34" charset="-122"/>
                <a:cs typeface="Courier New" pitchFamily="34" charset="-120"/>
              </a:rPr>
              <a:t># all bytes</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library names every field of the transaction and its position.</a:t>
            </a:r>
            <a:endParaRPr lang="en-US" sz="1050" dirty="0"/>
          </a:p>
        </p:txBody>
      </p:sp>
      <p:sp>
        <p:nvSpPr>
          <p:cNvPr id="13" name="Shape 11"/>
          <p:cNvSpPr/>
          <p:nvPr/>
        </p:nvSpPr>
        <p:spPr>
          <a:xfrm>
            <a:off x="548640" y="182105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82105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 up the field lengths, one total per group.</a:t>
            </a:r>
            <a:endParaRPr lang="en-US" sz="1050" dirty="0"/>
          </a:p>
        </p:txBody>
      </p:sp>
      <p:sp>
        <p:nvSpPr>
          <p:cNvPr id="18" name="Shape 16"/>
          <p:cNvSpPr/>
          <p:nvPr/>
        </p:nvSpPr>
        <p:spPr>
          <a:xfrm>
            <a:off x="548640" y="236588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36588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groups sum to the whole: no byte is left over.</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the first line sets up tx</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per field group (all 194)</a:t>
            </a:r>
            <a:endParaRPr lang="en-US" sz="1100" dirty="0"/>
          </a:p>
        </p:txBody>
      </p:sp>
      <p:graphicFrame>
        <p:nvGraphicFramePr>
          <p:cNvPr id="25" name="Chart 0" descr=""/>
          <p:cNvGraphicFramePr/>
          <p:nvPr/>
        </p:nvGraphicFramePr>
        <p:xfrm>
          <a:off x="457200" y="3273552"/>
          <a:ext cx="5120640" cy="1271016"/>
        </p:xfrm>
        <a:graphic xmlns:a="http://schemas.openxmlformats.org/drawingml/2006/main">
          <a:graphicData uri="http://schemas.openxmlformats.org/drawingml/2006/chart">
            <c:chart xmlns:c="http://schemas.openxmlformats.org/drawingml/2006/chart" r:id="rId1"/>
          </a:graphicData>
        </a:graphic>
      </p:graphicFrame>
      <p:sp>
        <p:nvSpPr>
          <p:cNvPr id="26" name="Text 23"/>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Outputs and the witness take the most bytes; the version and the lock time take four each.</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byte belongs to a named field, and the fields come in a fixed order</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55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transaction is: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Extended serialization format</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Marker 00, flag 01, witness at the end.</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the same letter with a signed slip tucked in at the end.</a:t>
            </a:r>
            <a:endParaRPr lang="en-US" sz="1350" dirty="0"/>
          </a:p>
        </p:txBody>
      </p:sp>
      <p:sp>
        <p:nvSpPr>
          <p:cNvPr id="9" name="Shape 7"/>
          <p:cNvSpPr/>
          <p:nvPr/>
        </p:nvSpPr>
        <p:spPr>
          <a:xfrm>
            <a:off x="4645152" y="1280160"/>
            <a:ext cx="4041648"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4663440"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4828032" y="1344168"/>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Legacy serialization</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No marker, no flag, no witness.</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the plain letter, before the extra slip was invented.</a:t>
            </a:r>
            <a:endParaRPr lang="en-US" sz="1350" dirty="0"/>
          </a:p>
        </p:txBody>
      </p:sp>
      <p:sp>
        <p:nvSpPr>
          <p:cNvPr id="12" name="Shape 10"/>
          <p:cNvSpPr/>
          <p:nvPr/>
        </p:nvSpPr>
        <p:spPr>
          <a:xfrm>
            <a:off x="457200" y="2944368"/>
            <a:ext cx="4041648"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475488" y="3072384"/>
            <a:ext cx="64008" cy="1280160"/>
          </a:xfrm>
          <a:prstGeom prst="rect">
            <a:avLst/>
          </a:prstGeom>
          <a:solidFill>
            <a:srgbClr val="D97A14"/>
          </a:solidFill>
          <a:ln w="12700">
            <a:solidFill>
              <a:srgbClr val="D97A14"/>
            </a:solidFill>
            <a:prstDash val="solid"/>
          </a:ln>
        </p:spPr>
      </p:sp>
      <p:sp>
        <p:nvSpPr>
          <p:cNvPr id="14" name="Text 12"/>
          <p:cNvSpPr txBox="1"/>
          <p:nvPr/>
        </p:nvSpPr>
        <p:spPr>
          <a:xfrm>
            <a:off x="640080" y="3008376"/>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Partially signed bitcoin transaction</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A template passed between programs.</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a form passed round the office until every signer has signed.</a:t>
            </a:r>
            <a:endParaRPr lang="en-US" sz="1350" dirty="0"/>
          </a:p>
        </p:txBody>
      </p:sp>
      <p:sp>
        <p:nvSpPr>
          <p:cNvPr id="15" name="Shape 13"/>
          <p:cNvSpPr/>
          <p:nvPr/>
        </p:nvSpPr>
        <p:spPr>
          <a:xfrm>
            <a:off x="4645152" y="2944368"/>
            <a:ext cx="4041648"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663440"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4828032" y="3008376"/>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Byte map</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Every field at its offset.</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a floor plan showing which room each byte lives in.</a:t>
            </a:r>
            <a:endParaRPr lang="en-US" sz="13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55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serializations, two identifiers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Extended with the witness, legacy without it</a:t>
            </a:r>
            <a:endParaRPr lang="en-US" sz="1300" dirty="0"/>
          </a:p>
        </p:txBody>
      </p:sp>
      <p:sp>
        <p:nvSpPr>
          <p:cNvPr id="6" name="Shape 4"/>
          <p:cNvSpPr/>
          <p:nvPr/>
        </p:nvSpPr>
        <p:spPr>
          <a:xfrm>
            <a:off x="457200" y="1325880"/>
            <a:ext cx="4937760" cy="1595628"/>
          </a:xfrm>
          <a:prstGeom prst="roundRect">
            <a:avLst>
              <a:gd name="adj" fmla="val 5731"/>
            </a:avLst>
          </a:prstGeom>
          <a:solidFill>
            <a:srgbClr val="23272E"/>
          </a:solidFill>
          <a:ln w="12700">
            <a:solidFill>
              <a:srgbClr val="23272E"/>
            </a:solidFill>
            <a:prstDash val="solid"/>
          </a:ln>
        </p:spPr>
      </p:sp>
      <p:sp>
        <p:nvSpPr>
          <p:cNvPr id="7" name="Text 5"/>
          <p:cNvSpPr txBox="1"/>
          <p:nvPr/>
        </p:nvSpPr>
        <p:spPr>
          <a:xfrm>
            <a:off x="868680" y="1444752"/>
            <a:ext cx="4389120" cy="1357884"/>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ext = serialize(tx, witness=</a:t>
            </a:r>
            <a:r>
              <a:rPr lang="en-US" sz="1100" b="1" dirty="0">
                <a:solidFill>
                  <a:srgbClr val="F2A860"/>
                </a:solidFill>
                <a:latin typeface="Courier New" pitchFamily="34" charset="0"/>
                <a:ea typeface="Courier New" pitchFamily="34" charset="-122"/>
                <a:cs typeface="Courier New" pitchFamily="34" charset="-120"/>
              </a:rPr>
              <a:t>True</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with witness</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leg = serialize(tx, witness=</a:t>
            </a:r>
            <a:r>
              <a:rPr lang="en-US" sz="1100" b="1" dirty="0">
                <a:solidFill>
                  <a:srgbClr val="F2A860"/>
                </a:solidFill>
                <a:latin typeface="Courier New" pitchFamily="34" charset="0"/>
                <a:ea typeface="Courier New" pitchFamily="34" charset="-122"/>
                <a:cs typeface="Courier New" pitchFamily="34" charset="-120"/>
              </a:rPr>
              <a:t>False</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without it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sizes = [len(ext), len(leg)]</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txid_leg = txid(ALICE)[:</a:t>
            </a:r>
            <a:r>
              <a:rPr lang="en-US" sz="1100" dirty="0">
                <a:solidFill>
                  <a:srgbClr val="FFD28A"/>
                </a:solidFill>
                <a:latin typeface="Courier New" pitchFamily="34" charset="0"/>
                <a:ea typeface="Courier New" pitchFamily="34" charset="-122"/>
                <a:cs typeface="Courier New" pitchFamily="34" charset="-120"/>
              </a:rPr>
              <a:t>16</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legacy</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wtxid_ext = wtxid(ALICE)[:</a:t>
            </a:r>
            <a:r>
              <a:rPr lang="en-US" sz="1100" dirty="0">
                <a:solidFill>
                  <a:srgbClr val="FFD28A"/>
                </a:solidFill>
                <a:latin typeface="Courier New" pitchFamily="34" charset="0"/>
                <a:ea typeface="Courier New" pitchFamily="34" charset="-122"/>
                <a:cs typeface="Courier New" pitchFamily="34" charset="-120"/>
              </a:rPr>
              <a:t>16</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extended</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payment, written twice: with the witness and without.</a:t>
            </a:r>
            <a:endParaRPr lang="en-US" sz="1050" dirty="0"/>
          </a:p>
        </p:txBody>
      </p:sp>
      <p:sp>
        <p:nvSpPr>
          <p:cNvPr id="13" name="Shape 11"/>
          <p:cNvSpPr/>
          <p:nvPr/>
        </p:nvSpPr>
        <p:spPr>
          <a:xfrm>
            <a:off x="548640" y="182105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82105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legacy form is shorter: no marker, flag or witness.</a:t>
            </a:r>
            <a:endParaRPr lang="en-US" sz="1050" dirty="0"/>
          </a:p>
        </p:txBody>
      </p:sp>
      <p:sp>
        <p:nvSpPr>
          <p:cNvPr id="18" name="Shape 16"/>
          <p:cNvSpPr/>
          <p:nvPr/>
        </p:nvSpPr>
        <p:spPr>
          <a:xfrm>
            <a:off x="548640" y="200266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00266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57150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Different bytes give different hashes, so each form has its own identifier.</a:t>
            </a:r>
            <a:endParaRPr lang="en-US" sz="1050" dirty="0"/>
          </a:p>
        </p:txBody>
      </p:sp>
      <p:sp>
        <p:nvSpPr>
          <p:cNvPr id="23" name="Text 21"/>
          <p:cNvSpPr txBox="1"/>
          <p:nvPr/>
        </p:nvSpPr>
        <p:spPr>
          <a:xfrm>
            <a:off x="457200" y="2948940"/>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195828"/>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two serializations of one payment</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3442716"/>
          <a:ext cx="5120640" cy="914400"/>
        </p:xfrm>
        <a:graphic>
          <a:graphicData uri="http://schemas.openxmlformats.org/drawingml/2006/table">
            <a:tbl>
              <a:tblPr/>
              <a:tblGrid>
                <a:gridCol w="1828800"/>
                <a:gridCol w="731520"/>
                <a:gridCol w="256032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Format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Bytes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Identifier (16 hex digits)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Extended, with witness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194</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wtxid f7cdbc7cf8b910d3</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Legacy, no witness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txid 466200308696215b</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6" name="Text 23"/>
          <p:cNvSpPr txBox="1"/>
          <p:nvPr/>
        </p:nvSpPr>
        <p:spPr>
          <a:xfrm>
            <a:off x="5897880" y="3488436"/>
            <a:ext cx="2788920" cy="1010412"/>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69-byte difference is the marker, the flag and the witness; only the legacy bytes are hashed for the txid.</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txid hashes the legacy bytes only; the wtxid hashes everything</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55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Ten bitcoins to Hal Finney, block 170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transaction ever to spend an output</a:t>
            </a:r>
            <a:endParaRPr lang="en-US" sz="1300" dirty="0"/>
          </a:p>
        </p:txBody>
      </p:sp>
      <p:pic>
        <p:nvPicPr>
          <p:cNvPr id="6" name="Image 0" descr="../../03-materials/ch06/assets/photo_hal_finney_1972.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Satoshi Nakamoto sent Hal Finney 10 bitcoins, the first transaction ever to spend an output.</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Finney had started the software the day before and wanted to test the network with a real payment.</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One input points at the coinbase of block 9; two outputs pay 10 BTC to Finney and 40 BTC back.</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Legacy format, no marker, no flag, no witness: every field this chapter reads was already there.</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(sender…</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 of the block…</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2009-01-12</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55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Version, marker and flag</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Version, marker and flag are the edition number and labels on the envelope.</a:t>
            </a:r>
            <a:endParaRPr lang="en-US" sz="1500" dirty="0"/>
          </a:p>
        </p:txBody>
      </p:sp>
      <p:sp>
        <p:nvSpPr>
          <p:cNvPr id="6" name="Shape 4"/>
          <p:cNvSpPr/>
          <p:nvPr/>
        </p:nvSpPr>
        <p:spPr>
          <a:xfrm>
            <a:off x="777240" y="2148840"/>
            <a:ext cx="3858768" cy="1783080"/>
          </a:xfrm>
          <a:prstGeom prst="roundRect">
            <a:avLst>
              <a:gd name="adj" fmla="val 4103"/>
            </a:avLst>
          </a:prstGeom>
          <a:solidFill>
            <a:srgbClr val="2F6D62"/>
          </a:solidFill>
          <a:ln w="12700">
            <a:solidFill>
              <a:srgbClr val="2F6D62"/>
            </a:solidFill>
            <a:prstDash val="solid"/>
          </a:ln>
        </p:spPr>
      </p:sp>
      <p:sp>
        <p:nvSpPr>
          <p:cNvPr id="7" name="Text 5"/>
          <p:cNvSpPr txBox="1"/>
          <p:nvPr/>
        </p:nvSpPr>
        <p:spPr>
          <a:xfrm>
            <a:off x="850392" y="2194560"/>
            <a:ext cx="3712464" cy="1691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The version field</a:t>
            </a:r>
            <a:endParaRPr lang="en-US" sz="1600" dirty="0"/>
          </a:p>
          <a:p>
            <a:pPr algn="ctr" indent="0" marL="0">
              <a:buNone/>
            </a:pPr>
            <a:r>
              <a:rPr lang="en-US" sz="1300" dirty="0">
                <a:solidFill>
                  <a:srgbClr val="D7E4E0"/>
                </a:solidFill>
                <a:latin typeface="Calibri" pitchFamily="34" charset="0"/>
                <a:ea typeface="Calibri" pitchFamily="34" charset="-122"/>
                <a:cs typeface="Calibri" pitchFamily="34" charset="-120"/>
              </a:rPr>
              <a:t>Four bytes that say which rule edition applies. Like the edition number printed on a form.</a:t>
            </a:r>
            <a:endParaRPr lang="en-US" sz="1600" dirty="0"/>
          </a:p>
        </p:txBody>
      </p:sp>
      <p:sp>
        <p:nvSpPr>
          <p:cNvPr id="8" name="Shape 6"/>
          <p:cNvSpPr/>
          <p:nvPr/>
        </p:nvSpPr>
        <p:spPr>
          <a:xfrm>
            <a:off x="4782312" y="2148840"/>
            <a:ext cx="3858768" cy="1783080"/>
          </a:xfrm>
          <a:prstGeom prst="roundRect">
            <a:avLst>
              <a:gd name="adj" fmla="val 4103"/>
            </a:avLst>
          </a:prstGeom>
          <a:solidFill>
            <a:srgbClr val="2F6D62"/>
          </a:solidFill>
          <a:ln w="12700">
            <a:solidFill>
              <a:srgbClr val="2F6D62"/>
            </a:solidFill>
            <a:prstDash val="solid"/>
          </a:ln>
        </p:spPr>
      </p:sp>
      <p:sp>
        <p:nvSpPr>
          <p:cNvPr id="9" name="Text 7"/>
          <p:cNvSpPr txBox="1"/>
          <p:nvPr/>
        </p:nvSpPr>
        <p:spPr>
          <a:xfrm>
            <a:off x="4855464" y="2194560"/>
            <a:ext cx="3712464" cy="1691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The marker and the flag</a:t>
            </a:r>
            <a:endParaRPr lang="en-US" sz="1600" dirty="0"/>
          </a:p>
          <a:p>
            <a:pPr algn="ctr" indent="0" marL="0">
              <a:buNone/>
            </a:pPr>
            <a:r>
              <a:rPr lang="en-US" sz="1300" dirty="0">
                <a:solidFill>
                  <a:srgbClr val="D7E4E0"/>
                </a:solidFill>
                <a:latin typeface="Calibri" pitchFamily="34" charset="0"/>
                <a:ea typeface="Calibri" pitchFamily="34" charset="-122"/>
                <a:cs typeface="Calibri" pitchFamily="34" charset="-120"/>
              </a:rPr>
              <a:t>Two bytes that announce the witness format. Like a fragile label on a parcel.</a:t>
            </a:r>
            <a:endParaRPr lang="en-US" sz="1600" dirty="0"/>
          </a:p>
        </p:txBody>
      </p:sp>
      <p:sp>
        <p:nvSpPr>
          <p:cNvPr id="10" name="Shape 8"/>
          <p:cNvSpPr/>
          <p:nvPr/>
        </p:nvSpPr>
        <p:spPr>
          <a:xfrm>
            <a:off x="777240" y="4114800"/>
            <a:ext cx="914400" cy="365760"/>
          </a:xfrm>
          <a:prstGeom prst="rect">
            <a:avLst/>
          </a:prstGeom>
          <a:solidFill>
            <a:srgbClr val="D97A14"/>
          </a:solidFill>
          <a:ln w="19050">
            <a:solidFill>
              <a:srgbClr val="FFFFFF"/>
            </a:solidFill>
            <a:prstDash val="solid"/>
          </a:ln>
        </p:spPr>
      </p:sp>
      <p:sp>
        <p:nvSpPr>
          <p:cNvPr id="11" name="Text 9"/>
          <p:cNvSpPr txBox="1"/>
          <p:nvPr/>
        </p:nvSpPr>
        <p:spPr>
          <a:xfrm>
            <a:off x="777240" y="4114800"/>
            <a:ext cx="9144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p>
        </p:txBody>
      </p:sp>
      <p:sp>
        <p:nvSpPr>
          <p:cNvPr id="12" name="Shape 10"/>
          <p:cNvSpPr/>
          <p:nvPr/>
        </p:nvSpPr>
        <p:spPr>
          <a:xfrm>
            <a:off x="1691640" y="4114800"/>
            <a:ext cx="822960" cy="365760"/>
          </a:xfrm>
          <a:prstGeom prst="rect">
            <a:avLst/>
          </a:prstGeom>
          <a:solidFill>
            <a:srgbClr val="D97A14"/>
          </a:solidFill>
          <a:ln w="19050">
            <a:solidFill>
              <a:srgbClr val="FFFFFF"/>
            </a:solidFill>
            <a:prstDash val="solid"/>
          </a:ln>
        </p:spPr>
      </p:sp>
      <p:sp>
        <p:nvSpPr>
          <p:cNvPr id="13" name="Text 11"/>
          <p:cNvSpPr txBox="1"/>
          <p:nvPr/>
        </p:nvSpPr>
        <p:spPr>
          <a:xfrm>
            <a:off x="1691640" y="4114800"/>
            <a:ext cx="8229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Marker Flag</a:t>
            </a:r>
            <a:endParaRPr lang="en-US" sz="1000" dirty="0"/>
          </a:p>
        </p:txBody>
      </p:sp>
      <p:sp>
        <p:nvSpPr>
          <p:cNvPr id="14" name="Shape 12"/>
          <p:cNvSpPr/>
          <p:nvPr/>
        </p:nvSpPr>
        <p:spPr>
          <a:xfrm>
            <a:off x="2514600" y="4114800"/>
            <a:ext cx="1737360" cy="365760"/>
          </a:xfrm>
          <a:prstGeom prst="rect">
            <a:avLst/>
          </a:prstGeom>
          <a:solidFill>
            <a:srgbClr val="F2ECE1"/>
          </a:solidFill>
          <a:ln w="19050">
            <a:solidFill>
              <a:srgbClr val="FFFFFF"/>
            </a:solidFill>
            <a:prstDash val="solid"/>
          </a:ln>
        </p:spPr>
      </p:sp>
      <p:sp>
        <p:nvSpPr>
          <p:cNvPr id="15" name="Text 13"/>
          <p:cNvSpPr txBox="1"/>
          <p:nvPr/>
        </p:nvSpPr>
        <p:spPr>
          <a:xfrm>
            <a:off x="251460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p>
        </p:txBody>
      </p:sp>
      <p:sp>
        <p:nvSpPr>
          <p:cNvPr id="16" name="Shape 14"/>
          <p:cNvSpPr/>
          <p:nvPr/>
        </p:nvSpPr>
        <p:spPr>
          <a:xfrm>
            <a:off x="4251960" y="4114800"/>
            <a:ext cx="1737360" cy="365760"/>
          </a:xfrm>
          <a:prstGeom prst="rect">
            <a:avLst/>
          </a:prstGeom>
          <a:solidFill>
            <a:srgbClr val="F2ECE1"/>
          </a:solidFill>
          <a:ln w="19050">
            <a:solidFill>
              <a:srgbClr val="FFFFFF"/>
            </a:solidFill>
            <a:prstDash val="solid"/>
          </a:ln>
        </p:spPr>
      </p:sp>
      <p:sp>
        <p:nvSpPr>
          <p:cNvPr id="17" name="Text 15"/>
          <p:cNvSpPr txBox="1"/>
          <p:nvPr/>
        </p:nvSpPr>
        <p:spPr>
          <a:xfrm>
            <a:off x="425196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p>
        </p:txBody>
      </p:sp>
      <p:sp>
        <p:nvSpPr>
          <p:cNvPr id="18" name="Shape 16"/>
          <p:cNvSpPr/>
          <p:nvPr/>
        </p:nvSpPr>
        <p:spPr>
          <a:xfrm>
            <a:off x="5989320" y="4114800"/>
            <a:ext cx="1737360" cy="365760"/>
          </a:xfrm>
          <a:prstGeom prst="rect">
            <a:avLst/>
          </a:prstGeom>
          <a:solidFill>
            <a:srgbClr val="F2ECE1"/>
          </a:solidFill>
          <a:ln w="19050">
            <a:solidFill>
              <a:srgbClr val="FFFFFF"/>
            </a:solidFill>
            <a:prstDash val="solid"/>
          </a:ln>
        </p:spPr>
      </p:sp>
      <p:sp>
        <p:nvSpPr>
          <p:cNvPr id="19" name="Text 17"/>
          <p:cNvSpPr txBox="1"/>
          <p:nvPr/>
        </p:nvSpPr>
        <p:spPr>
          <a:xfrm>
            <a:off x="598932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p>
        </p:txBody>
      </p:sp>
      <p:sp>
        <p:nvSpPr>
          <p:cNvPr id="20" name="Shape 18"/>
          <p:cNvSpPr/>
          <p:nvPr/>
        </p:nvSpPr>
        <p:spPr>
          <a:xfrm>
            <a:off x="7726680" y="4114800"/>
            <a:ext cx="914400" cy="365760"/>
          </a:xfrm>
          <a:prstGeom prst="rect">
            <a:avLst/>
          </a:prstGeom>
          <a:solidFill>
            <a:srgbClr val="F2ECE1"/>
          </a:solidFill>
          <a:ln w="19050">
            <a:solidFill>
              <a:srgbClr val="FFFFFF"/>
            </a:solidFill>
            <a:prstDash val="solid"/>
          </a:ln>
        </p:spPr>
      </p:sp>
      <p:sp>
        <p:nvSpPr>
          <p:cNvPr id="21" name="Text 19"/>
          <p:cNvSpPr txBox="1"/>
          <p:nvPr/>
        </p:nvSpPr>
        <p:spPr>
          <a:xfrm>
            <a:off x="7726680" y="4114800"/>
            <a:ext cx="91440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55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Version, marker and flag: concepts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Version 1</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01000000 in the first four bytes.</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edition 1 of a form, still valid in every office.</a:t>
            </a:r>
            <a:endParaRPr lang="en-US" sz="1300" dirty="0"/>
          </a:p>
        </p:txBody>
      </p:sp>
      <p:sp>
        <p:nvSpPr>
          <p:cNvPr id="9" name="Shape 7"/>
          <p:cNvSpPr/>
          <p:nvPr/>
        </p:nvSpPr>
        <p:spPr>
          <a:xfrm>
            <a:off x="3249168" y="1280160"/>
            <a:ext cx="2645664"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3267456"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3432048"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Version 2 and BIP68</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The version that turns sequence into a timelock.</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edition 2, which adds a waiting-period box to the form.</a:t>
            </a:r>
            <a:endParaRPr lang="en-US" sz="1300" dirty="0"/>
          </a:p>
        </p:txBody>
      </p:sp>
      <p:sp>
        <p:nvSpPr>
          <p:cNvPr id="12" name="Shape 10"/>
          <p:cNvSpPr/>
          <p:nvPr/>
        </p:nvSpPr>
        <p:spPr>
          <a:xfrm>
            <a:off x="6041136" y="1280160"/>
            <a:ext cx="2645664"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6059424" y="1408176"/>
            <a:ext cx="64008" cy="1280160"/>
          </a:xfrm>
          <a:prstGeom prst="rect">
            <a:avLst/>
          </a:prstGeom>
          <a:solidFill>
            <a:srgbClr val="D97A14"/>
          </a:solidFill>
          <a:ln w="12700">
            <a:solidFill>
              <a:srgbClr val="D97A14"/>
            </a:solidFill>
            <a:prstDash val="solid"/>
          </a:ln>
        </p:spPr>
      </p:sp>
      <p:sp>
        <p:nvSpPr>
          <p:cNvPr id="14" name="Text 12"/>
          <p:cNvSpPr txBox="1"/>
          <p:nvPr/>
        </p:nvSpPr>
        <p:spPr>
          <a:xfrm>
            <a:off x="6224016"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version 3 proposal</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 policy, not a consensus change.</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draft edition that offices may choose to accept.</a:t>
            </a:r>
            <a:endParaRPr lang="en-US" sz="1300" dirty="0"/>
          </a:p>
        </p:txBody>
      </p:sp>
      <p:sp>
        <p:nvSpPr>
          <p:cNvPr id="15" name="Shape 13"/>
          <p:cNvSpPr/>
          <p:nvPr/>
        </p:nvSpPr>
        <p:spPr>
          <a:xfrm>
            <a:off x="457200" y="2944368"/>
            <a:ext cx="2645664"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75488"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640080"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Presigned transactions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Signed now, broadcast years later.</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post-dated cheque kept in a drawer.</a:t>
            </a:r>
            <a:endParaRPr lang="en-US" sz="1300" dirty="0"/>
          </a:p>
        </p:txBody>
      </p:sp>
      <p:sp>
        <p:nvSpPr>
          <p:cNvPr id="18" name="Shape 16"/>
          <p:cNvSpPr/>
          <p:nvPr/>
        </p:nvSpPr>
        <p:spPr>
          <a:xfrm>
            <a:off x="3249168" y="2944368"/>
            <a:ext cx="2645664" cy="1536192"/>
          </a:xfrm>
          <a:prstGeom prst="roundRect">
            <a:avLst>
              <a:gd name="adj" fmla="val 4762"/>
            </a:avLst>
          </a:prstGeom>
          <a:solidFill>
            <a:srgbClr val="F2ECE1"/>
          </a:solidFill>
          <a:ln w="12700">
            <a:solidFill>
              <a:srgbClr val="DFD6C7"/>
            </a:solidFill>
            <a:prstDash val="solid"/>
          </a:ln>
        </p:spPr>
      </p:sp>
      <p:sp>
        <p:nvSpPr>
          <p:cNvPr id="19" name="Shape 17"/>
          <p:cNvSpPr/>
          <p:nvPr/>
        </p:nvSpPr>
        <p:spPr>
          <a:xfrm>
            <a:off x="3267456" y="3072384"/>
            <a:ext cx="64008" cy="1280160"/>
          </a:xfrm>
          <a:prstGeom prst="rect">
            <a:avLst/>
          </a:prstGeom>
          <a:solidFill>
            <a:srgbClr val="D97A14"/>
          </a:solidFill>
          <a:ln w="12700">
            <a:solidFill>
              <a:srgbClr val="D97A14"/>
            </a:solidFill>
            <a:prstDash val="solid"/>
          </a:ln>
        </p:spPr>
      </p:sp>
      <p:sp>
        <p:nvSpPr>
          <p:cNvPr id="20" name="Text 18"/>
          <p:cNvSpPr txBox="1"/>
          <p:nvPr/>
        </p:nvSpPr>
        <p:spPr>
          <a:xfrm>
            <a:off x="3432048"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Marker byte</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 zero where a count cannot be zero.</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sticker on a parcel saying special contents inside.</a:t>
            </a:r>
            <a:endParaRPr lang="en-US" sz="1300" dirty="0"/>
          </a:p>
        </p:txBody>
      </p:sp>
      <p:sp>
        <p:nvSpPr>
          <p:cNvPr id="21" name="Shape 19"/>
          <p:cNvSpPr/>
          <p:nvPr/>
        </p:nvSpPr>
        <p:spPr>
          <a:xfrm>
            <a:off x="6041136" y="2944368"/>
            <a:ext cx="2645664" cy="1536192"/>
          </a:xfrm>
          <a:prstGeom prst="roundRect">
            <a:avLst>
              <a:gd name="adj" fmla="val 4762"/>
            </a:avLst>
          </a:prstGeom>
          <a:solidFill>
            <a:srgbClr val="F2ECE1"/>
          </a:solidFill>
          <a:ln w="12700">
            <a:solidFill>
              <a:srgbClr val="DFD6C7"/>
            </a:solidFill>
            <a:prstDash val="solid"/>
          </a:ln>
        </p:spPr>
      </p:sp>
      <p:sp>
        <p:nvSpPr>
          <p:cNvPr id="22" name="Shape 20"/>
          <p:cNvSpPr/>
          <p:nvPr/>
        </p:nvSpPr>
        <p:spPr>
          <a:xfrm>
            <a:off x="6059424" y="3072384"/>
            <a:ext cx="64008" cy="1280160"/>
          </a:xfrm>
          <a:prstGeom prst="rect">
            <a:avLst/>
          </a:prstGeom>
          <a:solidFill>
            <a:srgbClr val="D97A14"/>
          </a:solidFill>
          <a:ln w="12700">
            <a:solidFill>
              <a:srgbClr val="D97A14"/>
            </a:solidFill>
            <a:prstDash val="solid"/>
          </a:ln>
        </p:spPr>
      </p:sp>
      <p:sp>
        <p:nvSpPr>
          <p:cNvPr id="23" name="Text 21"/>
          <p:cNvSpPr txBox="1"/>
          <p:nvPr/>
        </p:nvSpPr>
        <p:spPr>
          <a:xfrm>
            <a:off x="6224016"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Flag byte</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One, with other values reserved.</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second sticker that names the kind of extras.</a:t>
            </a:r>
            <a:endParaRPr lang="en-US" sz="13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55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first six bytes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Version, marker and flag in Alice's transaction</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raw = bytes.fromhex(ALICE)            </a:t>
            </a:r>
            <a:r>
              <a:rPr lang="en-US" sz="1100" i="1" dirty="0">
                <a:solidFill>
                  <a:srgbClr val="8FA98F"/>
                </a:solidFill>
                <a:latin typeface="Courier New" pitchFamily="34" charset="0"/>
                <a:ea typeface="Courier New" pitchFamily="34" charset="-122"/>
                <a:cs typeface="Courier New" pitchFamily="34" charset="-120"/>
              </a:rPr>
              <a:t># all bytes</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version = int.from_bytes(raw[</a:t>
            </a:r>
            <a:r>
              <a:rPr lang="en-US" sz="1100" dirty="0">
                <a:solidFill>
                  <a:srgbClr val="FFD28A"/>
                </a:solidFill>
                <a:latin typeface="Courier New" pitchFamily="34" charset="0"/>
                <a:ea typeface="Courier New" pitchFamily="34" charset="-122"/>
                <a:cs typeface="Courier New" pitchFamily="34" charset="-120"/>
              </a:rPr>
              <a:t>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4</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9ECBFF"/>
                </a:solidFill>
                <a:latin typeface="Courier New" pitchFamily="34" charset="0"/>
                <a:ea typeface="Courier New" pitchFamily="34" charset="-122"/>
                <a:cs typeface="Courier New" pitchFamily="34" charset="-120"/>
              </a:rPr>
              <a:t>'little'</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marker, flag = raw[</a:t>
            </a:r>
            <a:r>
              <a:rPr lang="en-US" sz="1100" dirty="0">
                <a:solidFill>
                  <a:srgbClr val="FFD28A"/>
                </a:solidFill>
                <a:latin typeface="Courier New" pitchFamily="34" charset="0"/>
                <a:ea typeface="Courier New" pitchFamily="34" charset="-122"/>
                <a:cs typeface="Courier New" pitchFamily="34" charset="-120"/>
              </a:rPr>
              <a:t>4</a:t>
            </a:r>
            <a:r>
              <a:rPr lang="en-US" sz="1100" dirty="0">
                <a:solidFill>
                  <a:srgbClr val="E6EDF3"/>
                </a:solidFill>
                <a:latin typeface="Courier New" pitchFamily="34" charset="0"/>
                <a:ea typeface="Courier New" pitchFamily="34" charset="-122"/>
                <a:cs typeface="Courier New" pitchFamily="34" charset="-120"/>
              </a:rPr>
              <a:t>], raw[</a:t>
            </a:r>
            <a:r>
              <a:rPr lang="en-US" sz="1100" dirty="0">
                <a:solidFill>
                  <a:srgbClr val="FFD28A"/>
                </a:solidFill>
                <a:latin typeface="Courier New" pitchFamily="34" charset="0"/>
                <a:ea typeface="Courier New" pitchFamily="34" charset="-122"/>
                <a:cs typeface="Courier New" pitchFamily="34" charset="-120"/>
              </a:rPr>
              <a:t>5</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head = raw[:</a:t>
            </a:r>
            <a:r>
              <a:rPr lang="en-US" sz="1100" dirty="0">
                <a:solidFill>
                  <a:srgbClr val="FFD28A"/>
                </a:solidFill>
                <a:latin typeface="Courier New" pitchFamily="34" charset="0"/>
                <a:ea typeface="Courier New" pitchFamily="34" charset="-122"/>
                <a:cs typeface="Courier New" pitchFamily="34" charset="-120"/>
              </a:rPr>
              <a:t>6</a:t>
            </a:r>
            <a:r>
              <a:rPr lang="en-US" sz="1100" dirty="0">
                <a:solidFill>
                  <a:srgbClr val="E6EDF3"/>
                </a:solidFill>
                <a:latin typeface="Courier New" pitchFamily="34" charset="0"/>
                <a:ea typeface="Courier New" pitchFamily="34" charset="-122"/>
                <a:cs typeface="Courier New" pitchFamily="34" charset="-120"/>
              </a:rPr>
              <a:t>].hex()                  </a:t>
            </a:r>
            <a:r>
              <a:rPr lang="en-US" sz="1100" i="1" dirty="0">
                <a:solidFill>
                  <a:srgbClr val="8FA98F"/>
                </a:solidFill>
                <a:latin typeface="Courier New" pitchFamily="34" charset="0"/>
                <a:ea typeface="Courier New" pitchFamily="34" charset="-122"/>
                <a:cs typeface="Courier New" pitchFamily="34" charset="-120"/>
              </a:rPr>
              <a:t># first six</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Raw bytes let us address single bytes.</a:t>
            </a:r>
            <a:endParaRPr lang="en-US" sz="1050" dirty="0"/>
          </a:p>
        </p:txBody>
      </p:sp>
      <p:sp>
        <p:nvSpPr>
          <p:cNvPr id="13" name="Shape 11"/>
          <p:cNvSpPr/>
          <p:nvPr/>
        </p:nvSpPr>
        <p:spPr>
          <a:xfrm>
            <a:off x="548640" y="163944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63944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version takes four bytes, least significant first.</a:t>
            </a:r>
            <a:endParaRPr lang="en-US" sz="1050" dirty="0"/>
          </a:p>
        </p:txBody>
      </p:sp>
      <p:sp>
        <p:nvSpPr>
          <p:cNvPr id="18" name="Shape 16"/>
          <p:cNvSpPr/>
          <p:nvPr/>
        </p:nvSpPr>
        <p:spPr>
          <a:xfrm>
            <a:off x="548640" y="182105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182105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Marker zero and flag one announce a witness.</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first six bytes, read</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3273552"/>
          <a:ext cx="5120640" cy="914400"/>
        </p:xfrm>
        <a:graphic>
          <a:graphicData uri="http://schemas.openxmlformats.org/drawingml/2006/table">
            <a:tbl>
              <a:tblPr/>
              <a:tblGrid>
                <a:gridCol w="1188720"/>
                <a:gridCol w="914400"/>
                <a:gridCol w="731520"/>
                <a:gridCol w="228600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Bytes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Field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Value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Meaning</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01000000</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version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rule edition 1</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00</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marker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not a real input count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flag</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witness follows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6" name="Text 23"/>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node that sees a zero where it expects a count knows the extended format is in use.</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zero marker where an input count would be tells old and new nodes apart</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55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Inputs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Inputs are the banknotes you hand over, each named by its address.</a:t>
            </a:r>
            <a:endParaRPr lang="en-US" sz="1500" dirty="0"/>
          </a:p>
        </p:txBody>
      </p:sp>
      <p:sp>
        <p:nvSpPr>
          <p:cNvPr id="6" name="Shape 4"/>
          <p:cNvSpPr/>
          <p:nvPr/>
        </p:nvSpPr>
        <p:spPr>
          <a:xfrm>
            <a:off x="777240" y="2148840"/>
            <a:ext cx="1856232" cy="1783080"/>
          </a:xfrm>
          <a:prstGeom prst="roundRect">
            <a:avLst>
              <a:gd name="adj" fmla="val 4103"/>
            </a:avLst>
          </a:prstGeom>
          <a:solidFill>
            <a:srgbClr val="2F6D62"/>
          </a:solidFill>
          <a:ln w="12700">
            <a:solidFill>
              <a:srgbClr val="2F6D62"/>
            </a:solidFill>
            <a:prstDash val="solid"/>
          </a:ln>
        </p:spPr>
      </p:sp>
      <p:sp>
        <p:nvSpPr>
          <p:cNvPr id="7" name="Text 5"/>
          <p:cNvSpPr txBox="1"/>
          <p:nvPr/>
        </p:nvSpPr>
        <p:spPr>
          <a:xfrm>
            <a:off x="850392" y="2194560"/>
            <a:ext cx="1709928" cy="1691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input list</a:t>
            </a:r>
            <a:endParaRPr lang="en-US" sz="1200" dirty="0"/>
          </a:p>
          <a:p>
            <a:pPr algn="ctr" indent="0" marL="0">
              <a:buNone/>
            </a:pPr>
            <a:r>
              <a:rPr lang="en-US" sz="1050" dirty="0">
                <a:solidFill>
                  <a:srgbClr val="D7E4E0"/>
                </a:solidFill>
                <a:latin typeface="Calibri" pitchFamily="34" charset="0"/>
                <a:ea typeface="Calibri" pitchFamily="34" charset="-122"/>
                <a:cs typeface="Calibri" pitchFamily="34" charset="-120"/>
              </a:rPr>
              <a:t>The list of coins this transaction spends. Like a receipt listing the notes you hand over.</a:t>
            </a:r>
            <a:endParaRPr lang="en-US" sz="1200" dirty="0"/>
          </a:p>
        </p:txBody>
      </p:sp>
      <p:sp>
        <p:nvSpPr>
          <p:cNvPr id="8" name="Shape 6"/>
          <p:cNvSpPr/>
          <p:nvPr/>
        </p:nvSpPr>
        <p:spPr>
          <a:xfrm>
            <a:off x="2779776" y="2148840"/>
            <a:ext cx="1856232" cy="1783080"/>
          </a:xfrm>
          <a:prstGeom prst="roundRect">
            <a:avLst>
              <a:gd name="adj" fmla="val 4103"/>
            </a:avLst>
          </a:prstGeom>
          <a:solidFill>
            <a:srgbClr val="2F6D62"/>
          </a:solidFill>
          <a:ln w="12700">
            <a:solidFill>
              <a:srgbClr val="2F6D62"/>
            </a:solidFill>
            <a:prstDash val="solid"/>
          </a:ln>
        </p:spPr>
      </p:sp>
      <p:sp>
        <p:nvSpPr>
          <p:cNvPr id="9" name="Text 7"/>
          <p:cNvSpPr txBox="1"/>
          <p:nvPr/>
        </p:nvSpPr>
        <p:spPr>
          <a:xfrm>
            <a:off x="2852928" y="2194560"/>
            <a:ext cx="1709928" cy="1691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outpoint</a:t>
            </a:r>
            <a:endParaRPr lang="en-US" sz="1200" dirty="0"/>
          </a:p>
          <a:p>
            <a:pPr algn="ctr" indent="0" marL="0">
              <a:buNone/>
            </a:pPr>
            <a:r>
              <a:rPr lang="en-US" sz="1050" dirty="0">
                <a:solidFill>
                  <a:srgbClr val="D7E4E0"/>
                </a:solidFill>
                <a:latin typeface="Calibri" pitchFamily="34" charset="0"/>
                <a:ea typeface="Calibri" pitchFamily="34" charset="-122"/>
                <a:cs typeface="Calibri" pitchFamily="34" charset="-120"/>
              </a:rPr>
              <a:t>The address of one coin: a transaction and an output number. Like a street address with building and flat.</a:t>
            </a:r>
            <a:endParaRPr lang="en-US" sz="1200" dirty="0"/>
          </a:p>
        </p:txBody>
      </p:sp>
      <p:sp>
        <p:nvSpPr>
          <p:cNvPr id="10" name="Shape 8"/>
          <p:cNvSpPr/>
          <p:nvPr/>
        </p:nvSpPr>
        <p:spPr>
          <a:xfrm>
            <a:off x="4782312" y="2148840"/>
            <a:ext cx="1856232" cy="1783080"/>
          </a:xfrm>
          <a:prstGeom prst="roundRect">
            <a:avLst>
              <a:gd name="adj" fmla="val 4103"/>
            </a:avLst>
          </a:prstGeom>
          <a:solidFill>
            <a:srgbClr val="2F6D62"/>
          </a:solidFill>
          <a:ln w="12700">
            <a:solidFill>
              <a:srgbClr val="2F6D62"/>
            </a:solidFill>
            <a:prstDash val="solid"/>
          </a:ln>
        </p:spPr>
      </p:sp>
      <p:sp>
        <p:nvSpPr>
          <p:cNvPr id="11" name="Text 9"/>
          <p:cNvSpPr txBox="1"/>
          <p:nvPr/>
        </p:nvSpPr>
        <p:spPr>
          <a:xfrm>
            <a:off x="4855464" y="2194560"/>
            <a:ext cx="1709928" cy="1691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Internal and display byte order</a:t>
            </a:r>
            <a:endParaRPr lang="en-US" sz="1200" dirty="0"/>
          </a:p>
          <a:p>
            <a:pPr algn="ctr" indent="0" marL="0">
              <a:buNone/>
            </a:pPr>
            <a:r>
              <a:rPr lang="en-US" sz="1050" dirty="0">
                <a:solidFill>
                  <a:srgbClr val="D7E4E0"/>
                </a:solidFill>
                <a:latin typeface="Calibri" pitchFamily="34" charset="0"/>
                <a:ea typeface="Calibri" pitchFamily="34" charset="-122"/>
                <a:cs typeface="Calibri" pitchFamily="34" charset="-120"/>
              </a:rPr>
              <a:t>The same 32 bytes can be read in two directions. Like a book you can read from the front or the back.</a:t>
            </a:r>
            <a:endParaRPr lang="en-US" sz="1200" dirty="0"/>
          </a:p>
        </p:txBody>
      </p:sp>
      <p:sp>
        <p:nvSpPr>
          <p:cNvPr id="12" name="Shape 10"/>
          <p:cNvSpPr/>
          <p:nvPr/>
        </p:nvSpPr>
        <p:spPr>
          <a:xfrm>
            <a:off x="6784848" y="2148840"/>
            <a:ext cx="1856232" cy="1783080"/>
          </a:xfrm>
          <a:prstGeom prst="roundRect">
            <a:avLst>
              <a:gd name="adj" fmla="val 4103"/>
            </a:avLst>
          </a:prstGeom>
          <a:solidFill>
            <a:srgbClr val="2F6D62"/>
          </a:solidFill>
          <a:ln w="12700">
            <a:solidFill>
              <a:srgbClr val="2F6D62"/>
            </a:solidFill>
            <a:prstDash val="solid"/>
          </a:ln>
        </p:spPr>
      </p:sp>
      <p:sp>
        <p:nvSpPr>
          <p:cNvPr id="13" name="Text 11"/>
          <p:cNvSpPr txBox="1"/>
          <p:nvPr/>
        </p:nvSpPr>
        <p:spPr>
          <a:xfrm>
            <a:off x="6858000" y="2194560"/>
            <a:ext cx="1709928" cy="1691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input script</a:t>
            </a:r>
            <a:endParaRPr lang="en-US" sz="1200" dirty="0"/>
          </a:p>
          <a:p>
            <a:pPr algn="ctr" indent="0" marL="0">
              <a:buNone/>
            </a:pPr>
            <a:r>
              <a:rPr lang="en-US" sz="1050" dirty="0">
                <a:solidFill>
                  <a:srgbClr val="D7E4E0"/>
                </a:solidFill>
                <a:latin typeface="Calibri" pitchFamily="34" charset="0"/>
                <a:ea typeface="Calibri" pitchFamily="34" charset="-122"/>
                <a:cs typeface="Calibri" pitchFamily="34" charset="-120"/>
              </a:rPr>
              <a:t>The slot where legacy inputs put their proof. Like a keyhole that legacy inputs fill with the key.</a:t>
            </a:r>
            <a:endParaRPr lang="en-US" sz="1200" dirty="0"/>
          </a:p>
        </p:txBody>
      </p:sp>
      <p:sp>
        <p:nvSpPr>
          <p:cNvPr id="14" name="Shape 12"/>
          <p:cNvSpPr/>
          <p:nvPr/>
        </p:nvSpPr>
        <p:spPr>
          <a:xfrm>
            <a:off x="777240" y="4114800"/>
            <a:ext cx="914400" cy="365760"/>
          </a:xfrm>
          <a:prstGeom prst="rect">
            <a:avLst/>
          </a:prstGeom>
          <a:solidFill>
            <a:srgbClr val="F2ECE1"/>
          </a:solidFill>
          <a:ln w="19050">
            <a:solidFill>
              <a:srgbClr val="FFFFFF"/>
            </a:solidFill>
            <a:prstDash val="solid"/>
          </a:ln>
        </p:spPr>
      </p:sp>
      <p:sp>
        <p:nvSpPr>
          <p:cNvPr id="15" name="Text 13"/>
          <p:cNvSpPr txBox="1"/>
          <p:nvPr/>
        </p:nvSpPr>
        <p:spPr>
          <a:xfrm>
            <a:off x="777240" y="4114800"/>
            <a:ext cx="91440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p>
        </p:txBody>
      </p:sp>
      <p:sp>
        <p:nvSpPr>
          <p:cNvPr id="16" name="Shape 14"/>
          <p:cNvSpPr/>
          <p:nvPr/>
        </p:nvSpPr>
        <p:spPr>
          <a:xfrm>
            <a:off x="1691640" y="4114800"/>
            <a:ext cx="822960" cy="365760"/>
          </a:xfrm>
          <a:prstGeom prst="rect">
            <a:avLst/>
          </a:prstGeom>
          <a:solidFill>
            <a:srgbClr val="F2ECE1"/>
          </a:solidFill>
          <a:ln w="19050">
            <a:solidFill>
              <a:srgbClr val="FFFFFF"/>
            </a:solidFill>
            <a:prstDash val="solid"/>
          </a:ln>
        </p:spPr>
      </p:sp>
      <p:sp>
        <p:nvSpPr>
          <p:cNvPr id="17" name="Text 15"/>
          <p:cNvSpPr txBox="1"/>
          <p:nvPr/>
        </p:nvSpPr>
        <p:spPr>
          <a:xfrm>
            <a:off x="1691640" y="4114800"/>
            <a:ext cx="8229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p>
        </p:txBody>
      </p:sp>
      <p:sp>
        <p:nvSpPr>
          <p:cNvPr id="18" name="Shape 16"/>
          <p:cNvSpPr/>
          <p:nvPr/>
        </p:nvSpPr>
        <p:spPr>
          <a:xfrm>
            <a:off x="2514600" y="4114800"/>
            <a:ext cx="1737360" cy="365760"/>
          </a:xfrm>
          <a:prstGeom prst="rect">
            <a:avLst/>
          </a:prstGeom>
          <a:solidFill>
            <a:srgbClr val="D97A14"/>
          </a:solidFill>
          <a:ln w="19050">
            <a:solidFill>
              <a:srgbClr val="FFFFFF"/>
            </a:solidFill>
            <a:prstDash val="solid"/>
          </a:ln>
        </p:spPr>
      </p:sp>
      <p:sp>
        <p:nvSpPr>
          <p:cNvPr id="19" name="Text 17"/>
          <p:cNvSpPr txBox="1"/>
          <p:nvPr/>
        </p:nvSpPr>
        <p:spPr>
          <a:xfrm>
            <a:off x="2514600" y="4114800"/>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p>
        </p:txBody>
      </p:sp>
      <p:sp>
        <p:nvSpPr>
          <p:cNvPr id="20" name="Shape 18"/>
          <p:cNvSpPr/>
          <p:nvPr/>
        </p:nvSpPr>
        <p:spPr>
          <a:xfrm>
            <a:off x="4251960" y="4114800"/>
            <a:ext cx="1737360" cy="365760"/>
          </a:xfrm>
          <a:prstGeom prst="rect">
            <a:avLst/>
          </a:prstGeom>
          <a:solidFill>
            <a:srgbClr val="F2ECE1"/>
          </a:solidFill>
          <a:ln w="19050">
            <a:solidFill>
              <a:srgbClr val="FFFFFF"/>
            </a:solidFill>
            <a:prstDash val="solid"/>
          </a:ln>
        </p:spPr>
      </p:sp>
      <p:sp>
        <p:nvSpPr>
          <p:cNvPr id="21" name="Text 19"/>
          <p:cNvSpPr txBox="1"/>
          <p:nvPr/>
        </p:nvSpPr>
        <p:spPr>
          <a:xfrm>
            <a:off x="425196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p>
        </p:txBody>
      </p:sp>
      <p:sp>
        <p:nvSpPr>
          <p:cNvPr id="22" name="Shape 20"/>
          <p:cNvSpPr/>
          <p:nvPr/>
        </p:nvSpPr>
        <p:spPr>
          <a:xfrm>
            <a:off x="5989320" y="4114800"/>
            <a:ext cx="1737360" cy="365760"/>
          </a:xfrm>
          <a:prstGeom prst="rect">
            <a:avLst/>
          </a:prstGeom>
          <a:solidFill>
            <a:srgbClr val="F2ECE1"/>
          </a:solidFill>
          <a:ln w="19050">
            <a:solidFill>
              <a:srgbClr val="FFFFFF"/>
            </a:solidFill>
            <a:prstDash val="solid"/>
          </a:ln>
        </p:spPr>
      </p:sp>
      <p:sp>
        <p:nvSpPr>
          <p:cNvPr id="23" name="Text 21"/>
          <p:cNvSpPr txBox="1"/>
          <p:nvPr/>
        </p:nvSpPr>
        <p:spPr>
          <a:xfrm>
            <a:off x="598932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p>
        </p:txBody>
      </p:sp>
      <p:sp>
        <p:nvSpPr>
          <p:cNvPr id="24" name="Shape 22"/>
          <p:cNvSpPr/>
          <p:nvPr/>
        </p:nvSpPr>
        <p:spPr>
          <a:xfrm>
            <a:off x="7726680" y="4114800"/>
            <a:ext cx="914400" cy="365760"/>
          </a:xfrm>
          <a:prstGeom prst="rect">
            <a:avLst/>
          </a:prstGeom>
          <a:solidFill>
            <a:srgbClr val="F2ECE1"/>
          </a:solidFill>
          <a:ln w="19050">
            <a:solidFill>
              <a:srgbClr val="FFFFFF"/>
            </a:solidFill>
            <a:prstDash val="solid"/>
          </a:ln>
        </p:spPr>
      </p:sp>
      <p:sp>
        <p:nvSpPr>
          <p:cNvPr id="25" name="Text 23"/>
          <p:cNvSpPr txBox="1"/>
          <p:nvPr/>
        </p:nvSpPr>
        <p:spPr>
          <a:xfrm>
            <a:off x="7726680" y="4114800"/>
            <a:ext cx="91440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55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(1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Input count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At least one, in practice a few thousand.</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counting how many cheques are stapled to a payment.</a:t>
            </a:r>
            <a:endParaRPr lang="en-US" sz="1300" dirty="0"/>
          </a:p>
        </p:txBody>
      </p:sp>
      <p:sp>
        <p:nvSpPr>
          <p:cNvPr id="9" name="Shape 7"/>
          <p:cNvSpPr/>
          <p:nvPr/>
        </p:nvSpPr>
        <p:spPr>
          <a:xfrm>
            <a:off x="3249168" y="1280160"/>
            <a:ext cx="2645664"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3267456"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3432048"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CompactSize unsigned integer</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1, 3, 5 or 9 bytes, by value.</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ticket machine: small numbers get short tickets.</a:t>
            </a:r>
            <a:endParaRPr lang="en-US" sz="1300" dirty="0"/>
          </a:p>
        </p:txBody>
      </p:sp>
      <p:sp>
        <p:nvSpPr>
          <p:cNvPr id="12" name="Shape 10"/>
          <p:cNvSpPr/>
          <p:nvPr/>
        </p:nvSpPr>
        <p:spPr>
          <a:xfrm>
            <a:off x="6041136" y="1280160"/>
            <a:ext cx="2645664"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6059424" y="1408176"/>
            <a:ext cx="64008" cy="1280160"/>
          </a:xfrm>
          <a:prstGeom prst="rect">
            <a:avLst/>
          </a:prstGeom>
          <a:solidFill>
            <a:srgbClr val="D97A14"/>
          </a:solidFill>
          <a:ln w="12700">
            <a:solidFill>
              <a:srgbClr val="D97A14"/>
            </a:solidFill>
            <a:prstDash val="solid"/>
          </a:ln>
        </p:spPr>
      </p:sp>
      <p:sp>
        <p:nvSpPr>
          <p:cNvPr id="14" name="Text 12"/>
          <p:cNvSpPr txBox="1"/>
          <p:nvPr/>
        </p:nvSpPr>
        <p:spPr>
          <a:xfrm>
            <a:off x="6224016"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Other variable-length integers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Three encodings, one name that is safe.</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three kinds of ticket sold under one name.</a:t>
            </a:r>
            <a:endParaRPr lang="en-US" sz="1300" dirty="0"/>
          </a:p>
        </p:txBody>
      </p:sp>
      <p:sp>
        <p:nvSpPr>
          <p:cNvPr id="15" name="Shape 13"/>
          <p:cNvSpPr/>
          <p:nvPr/>
        </p:nvSpPr>
        <p:spPr>
          <a:xfrm>
            <a:off x="457200" y="2944368"/>
            <a:ext cx="2645664"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75488"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640080"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Outpoint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36 bytes: a txid and an index.</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street address: building number plus flat number.</a:t>
            </a:r>
            <a:endParaRPr lang="en-US" sz="1300" dirty="0"/>
          </a:p>
        </p:txBody>
      </p:sp>
      <p:sp>
        <p:nvSpPr>
          <p:cNvPr id="18" name="Shape 16"/>
          <p:cNvSpPr/>
          <p:nvPr/>
        </p:nvSpPr>
        <p:spPr>
          <a:xfrm>
            <a:off x="3249168" y="2944368"/>
            <a:ext cx="2645664" cy="1536192"/>
          </a:xfrm>
          <a:prstGeom prst="roundRect">
            <a:avLst>
              <a:gd name="adj" fmla="val 4762"/>
            </a:avLst>
          </a:prstGeom>
          <a:solidFill>
            <a:srgbClr val="F2ECE1"/>
          </a:solidFill>
          <a:ln w="12700">
            <a:solidFill>
              <a:srgbClr val="DFD6C7"/>
            </a:solidFill>
            <a:prstDash val="solid"/>
          </a:ln>
        </p:spPr>
      </p:sp>
      <p:sp>
        <p:nvSpPr>
          <p:cNvPr id="19" name="Shape 17"/>
          <p:cNvSpPr/>
          <p:nvPr/>
        </p:nvSpPr>
        <p:spPr>
          <a:xfrm>
            <a:off x="3267456" y="3072384"/>
            <a:ext cx="64008" cy="1280160"/>
          </a:xfrm>
          <a:prstGeom prst="rect">
            <a:avLst/>
          </a:prstGeom>
          <a:solidFill>
            <a:srgbClr val="D97A14"/>
          </a:solidFill>
          <a:ln w="12700">
            <a:solidFill>
              <a:srgbClr val="D97A14"/>
            </a:solidFill>
            <a:prstDash val="solid"/>
          </a:ln>
        </p:spPr>
      </p:sp>
      <p:sp>
        <p:nvSpPr>
          <p:cNvPr id="20" name="Text 18"/>
          <p:cNvSpPr txBox="1"/>
          <p:nvPr/>
        </p:nvSpPr>
        <p:spPr>
          <a:xfrm>
            <a:off x="3432048"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previous transaction's identifier</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The first 32 bytes of an outpoint.</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the building number in that address.</a:t>
            </a:r>
            <a:endParaRPr lang="en-US" sz="13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55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CompactSize: counting in few bytes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bytes a count takes grow with the count</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values = [</a:t>
            </a:r>
            <a:r>
              <a:rPr lang="en-US" sz="1100" dirty="0">
                <a:solidFill>
                  <a:srgbClr val="FFD28A"/>
                </a:solidFill>
                <a:latin typeface="Courier New" pitchFamily="34" charset="0"/>
                <a:ea typeface="Courier New" pitchFamily="34" charset="-122"/>
                <a:cs typeface="Courier New" pitchFamily="34" charset="-120"/>
              </a:rPr>
              <a:t>1</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FD28A"/>
                </a:solidFill>
                <a:latin typeface="Courier New" pitchFamily="34" charset="0"/>
                <a:ea typeface="Courier New" pitchFamily="34" charset="-122"/>
                <a:cs typeface="Courier New" pitchFamily="34" charset="-120"/>
              </a:rPr>
              <a:t>252</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FD28A"/>
                </a:solidFill>
                <a:latin typeface="Courier New" pitchFamily="34" charset="0"/>
                <a:ea typeface="Courier New" pitchFamily="34" charset="-122"/>
                <a:cs typeface="Courier New" pitchFamily="34" charset="-120"/>
              </a:rPr>
              <a:t>253</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FD28A"/>
                </a:solidFill>
                <a:latin typeface="Courier New" pitchFamily="34" charset="0"/>
                <a:ea typeface="Courier New" pitchFamily="34" charset="-122"/>
                <a:cs typeface="Courier New" pitchFamily="34" charset="-120"/>
              </a:rPr>
              <a:t>65535</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FD28A"/>
                </a:solidFill>
                <a:latin typeface="Courier New" pitchFamily="34" charset="0"/>
                <a:ea typeface="Courier New" pitchFamily="34" charset="-122"/>
                <a:cs typeface="Courier New" pitchFamily="34" charset="-120"/>
              </a:rPr>
              <a:t>65536</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FD28A"/>
                </a:solidFill>
                <a:latin typeface="Courier New" pitchFamily="34" charset="0"/>
                <a:ea typeface="Courier New" pitchFamily="34" charset="-122"/>
                <a:cs typeface="Courier New" pitchFamily="34" charset="-120"/>
              </a:rPr>
              <a:t>2</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32</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sizes = [len(cs_encode(n)) </a:t>
            </a: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n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values]</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prefix = [cs_encode(n)[:</a:t>
            </a:r>
            <a:r>
              <a:rPr lang="en-US" sz="1100" dirty="0">
                <a:solidFill>
                  <a:srgbClr val="FFD28A"/>
                </a:solidFill>
                <a:latin typeface="Courier New" pitchFamily="34" charset="0"/>
                <a:ea typeface="Courier New" pitchFamily="34" charset="-122"/>
                <a:cs typeface="Courier New" pitchFamily="34" charset="-120"/>
              </a:rPr>
              <a:t>1</a:t>
            </a:r>
            <a:r>
              <a:rPr lang="en-US" sz="1100" dirty="0">
                <a:solidFill>
                  <a:srgbClr val="E6EDF3"/>
                </a:solidFill>
                <a:latin typeface="Courier New" pitchFamily="34" charset="0"/>
                <a:ea typeface="Courier New" pitchFamily="34" charset="-122"/>
                <a:cs typeface="Courier New" pitchFamily="34" charset="-120"/>
              </a:rPr>
              <a:t>].hex() </a:t>
            </a: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n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values]</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 counts, chosen where the encoding changes length.</a:t>
            </a:r>
            <a:endParaRPr lang="en-US" sz="1050" dirty="0"/>
          </a:p>
        </p:txBody>
      </p:sp>
      <p:sp>
        <p:nvSpPr>
          <p:cNvPr id="13" name="Shape 11"/>
          <p:cNvSpPr/>
          <p:nvPr/>
        </p:nvSpPr>
        <p:spPr>
          <a:xfrm>
            <a:off x="548640" y="163944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63944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Encode each count and measure the bytes it takes.</a:t>
            </a:r>
            <a:endParaRPr lang="en-US" sz="1050" dirty="0"/>
          </a:p>
        </p:txBody>
      </p:sp>
      <p:sp>
        <p:nvSpPr>
          <p:cNvPr id="18" name="Shape 16"/>
          <p:cNvSpPr/>
          <p:nvPr/>
        </p:nvSpPr>
        <p:spPr>
          <a:xfrm>
            <a:off x="548640" y="182105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182105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first byte of fd, fe or ff announces a longer number.</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taken by each count</a:t>
            </a:r>
            <a:endParaRPr lang="en-US" sz="1100" dirty="0"/>
          </a:p>
        </p:txBody>
      </p:sp>
      <p:graphicFrame>
        <p:nvGraphicFramePr>
          <p:cNvPr id="25" name="Chart 0" descr=""/>
          <p:cNvGraphicFramePr/>
          <p:nvPr/>
        </p:nvGraphicFramePr>
        <p:xfrm>
          <a:off x="457200" y="3273552"/>
          <a:ext cx="5120640" cy="1271016"/>
        </p:xfrm>
        <a:graphic xmlns:a="http://schemas.openxmlformats.org/drawingml/2006/main">
          <a:graphicData uri="http://schemas.openxmlformats.org/drawingml/2006/chart">
            <c:chart xmlns:c="http://schemas.openxmlformats.org/drawingml/2006/chart" r:id="rId1"/>
          </a:graphicData>
        </a:graphic>
      </p:graphicFrame>
      <p:sp>
        <p:nvSpPr>
          <p:cNvPr id="26" name="Text 23"/>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First bytes written: 01 fc fd fd fe ff. The values fd, fe and ff announce longer numbers.</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Small counts cost one byte; the first byte warns when a longer number follows</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55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(2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Output index</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Four bytes counting from zero.</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the flat number inside the building, counted from zero.</a:t>
            </a:r>
            <a:endParaRPr lang="en-US" sz="1300" dirty="0"/>
          </a:p>
        </p:txBody>
      </p:sp>
      <p:sp>
        <p:nvSpPr>
          <p:cNvPr id="9" name="Shape 7"/>
          <p:cNvSpPr/>
          <p:nvPr/>
        </p:nvSpPr>
        <p:spPr>
          <a:xfrm>
            <a:off x="3249168" y="1280160"/>
            <a:ext cx="2645664"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3267456"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3432048"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rule against double spending</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An output is spent at most once.</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banknote that can be handed over only once.</a:t>
            </a:r>
            <a:endParaRPr lang="en-US" sz="1300" dirty="0"/>
          </a:p>
        </p:txBody>
      </p:sp>
      <p:sp>
        <p:nvSpPr>
          <p:cNvPr id="12" name="Shape 10"/>
          <p:cNvSpPr/>
          <p:nvPr/>
        </p:nvSpPr>
        <p:spPr>
          <a:xfrm>
            <a:off x="6041136" y="1280160"/>
            <a:ext cx="2645664"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6059424" y="1408176"/>
            <a:ext cx="64008" cy="1280160"/>
          </a:xfrm>
          <a:prstGeom prst="rect">
            <a:avLst/>
          </a:prstGeom>
          <a:solidFill>
            <a:srgbClr val="D97A14"/>
          </a:solidFill>
          <a:ln w="12700">
            <a:solidFill>
              <a:srgbClr val="D97A14"/>
            </a:solidFill>
            <a:prstDash val="solid"/>
          </a:ln>
        </p:spPr>
      </p:sp>
      <p:sp>
        <p:nvSpPr>
          <p:cNvPr id="14" name="Text 12"/>
          <p:cNvSpPr txBox="1"/>
          <p:nvPr/>
        </p:nvSpPr>
        <p:spPr>
          <a:xfrm>
            <a:off x="6224016"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Conflicting transactions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Same outpoint, two spenders.</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two cheques written against the same banknote.</a:t>
            </a:r>
            <a:endParaRPr lang="en-US" sz="1300" dirty="0"/>
          </a:p>
        </p:txBody>
      </p:sp>
      <p:sp>
        <p:nvSpPr>
          <p:cNvPr id="15" name="Shape 13"/>
          <p:cNvSpPr/>
          <p:nvPr/>
        </p:nvSpPr>
        <p:spPr>
          <a:xfrm>
            <a:off x="457200" y="2944368"/>
            <a:ext cx="2645664"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75488"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640080"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UTXO database</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Remove what is spent, add what is created.</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drawer holding only the banknotes nobody has spent.</a:t>
            </a:r>
            <a:endParaRPr lang="en-US" sz="1300" dirty="0"/>
          </a:p>
        </p:txBody>
      </p:sp>
      <p:sp>
        <p:nvSpPr>
          <p:cNvPr id="18" name="Shape 16"/>
          <p:cNvSpPr/>
          <p:nvPr/>
        </p:nvSpPr>
        <p:spPr>
          <a:xfrm>
            <a:off x="3249168" y="2944368"/>
            <a:ext cx="2645664" cy="1536192"/>
          </a:xfrm>
          <a:prstGeom prst="roundRect">
            <a:avLst>
              <a:gd name="adj" fmla="val 4762"/>
            </a:avLst>
          </a:prstGeom>
          <a:solidFill>
            <a:srgbClr val="F2ECE1"/>
          </a:solidFill>
          <a:ln w="12700">
            <a:solidFill>
              <a:srgbClr val="DFD6C7"/>
            </a:solidFill>
            <a:prstDash val="solid"/>
          </a:ln>
        </p:spPr>
      </p:sp>
      <p:sp>
        <p:nvSpPr>
          <p:cNvPr id="19" name="Shape 17"/>
          <p:cNvSpPr/>
          <p:nvPr/>
        </p:nvSpPr>
        <p:spPr>
          <a:xfrm>
            <a:off x="3267456" y="3072384"/>
            <a:ext cx="64008" cy="1280160"/>
          </a:xfrm>
          <a:prstGeom prst="rect">
            <a:avLst/>
          </a:prstGeom>
          <a:solidFill>
            <a:srgbClr val="D97A14"/>
          </a:solidFill>
          <a:ln w="12700">
            <a:solidFill>
              <a:srgbClr val="D97A14"/>
            </a:solidFill>
            <a:prstDash val="solid"/>
          </a:ln>
        </p:spPr>
      </p:sp>
      <p:sp>
        <p:nvSpPr>
          <p:cNvPr id="20" name="Text 18"/>
          <p:cNvSpPr txBox="1"/>
          <p:nvPr/>
        </p:nvSpPr>
        <p:spPr>
          <a:xfrm>
            <a:off x="3432048"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Digest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32 bytes that identify a transaction.</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fingerprint taken from a whole document.</a:t>
            </a:r>
            <a:endParaRPr lang="en-US" sz="13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55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outpoint, read both ways 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Which coin an input spends</a:t>
            </a:r>
            <a:endParaRPr lang="en-US" sz="1300" dirty="0"/>
          </a:p>
        </p:txBody>
      </p:sp>
      <p:sp>
        <p:nvSpPr>
          <p:cNvPr id="6" name="Shape 4"/>
          <p:cNvSpPr/>
          <p:nvPr/>
        </p:nvSpPr>
        <p:spPr>
          <a:xfrm>
            <a:off x="457200" y="1325880"/>
            <a:ext cx="4937760" cy="1595628"/>
          </a:xfrm>
          <a:prstGeom prst="roundRect">
            <a:avLst>
              <a:gd name="adj" fmla="val 5731"/>
            </a:avLst>
          </a:prstGeom>
          <a:solidFill>
            <a:srgbClr val="23272E"/>
          </a:solidFill>
          <a:ln w="12700">
            <a:solidFill>
              <a:srgbClr val="23272E"/>
            </a:solidFill>
            <a:prstDash val="solid"/>
          </a:ln>
        </p:spPr>
      </p:sp>
      <p:sp>
        <p:nvSpPr>
          <p:cNvPr id="7" name="Text 5"/>
          <p:cNvSpPr txBox="1"/>
          <p:nvPr/>
        </p:nvSpPr>
        <p:spPr>
          <a:xfrm>
            <a:off x="868680" y="1444752"/>
            <a:ext cx="4389120" cy="1357884"/>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i0 = tx[</a:t>
            </a:r>
            <a:r>
              <a:rPr lang="en-US" sz="1100" dirty="0">
                <a:solidFill>
                  <a:srgbClr val="9ECBFF"/>
                </a:solidFill>
                <a:latin typeface="Courier New" pitchFamily="34" charset="0"/>
                <a:ea typeface="Courier New" pitchFamily="34" charset="-122"/>
                <a:cs typeface="Courier New" pitchFamily="34" charset="-120"/>
              </a:rPr>
              <a:t>'inputs'</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0</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stored = i0[</a:t>
            </a:r>
            <a:r>
              <a:rPr lang="en-US" sz="1100" dirty="0">
                <a:solidFill>
                  <a:srgbClr val="9ECBFF"/>
                </a:solidFill>
                <a:latin typeface="Courier New" pitchFamily="34" charset="0"/>
                <a:ea typeface="Courier New" pitchFamily="34" charset="-122"/>
                <a:cs typeface="Courier New" pitchFamily="34" charset="-120"/>
              </a:rPr>
              <a:t>'txid_internal'</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as stored</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shown = internal_to_display(stored)   </a:t>
            </a:r>
            <a:r>
              <a:rPr lang="en-US" sz="1100" i="1" dirty="0">
                <a:solidFill>
                  <a:srgbClr val="8FA98F"/>
                </a:solidFill>
                <a:latin typeface="Courier New" pitchFamily="34" charset="0"/>
                <a:ea typeface="Courier New" pitchFamily="34" charset="-122"/>
                <a:cs typeface="Courier New" pitchFamily="34" charset="-120"/>
              </a:rPr>
              <a:t># as printed</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back = display_to_internal(shown)</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check = back == stored </a:t>
            </a:r>
            <a:r>
              <a:rPr lang="en-US" sz="1100" b="1" dirty="0">
                <a:solidFill>
                  <a:srgbClr val="F2A860"/>
                </a:solidFill>
                <a:latin typeface="Courier New" pitchFamily="34" charset="0"/>
                <a:ea typeface="Courier New" pitchFamily="34" charset="-122"/>
                <a:cs typeface="Courier New" pitchFamily="34" charset="-120"/>
              </a:rPr>
              <a:t>and</a:t>
            </a:r>
            <a:r>
              <a:rPr lang="en-US" sz="1100" dirty="0">
                <a:solidFill>
                  <a:srgbClr val="E6EDF3"/>
                </a:solidFill>
                <a:latin typeface="Courier New" pitchFamily="34" charset="0"/>
                <a:ea typeface="Courier New" pitchFamily="34" charset="-122"/>
                <a:cs typeface="Courier New" pitchFamily="34" charset="-120"/>
              </a:rPr>
              <a:t> shown == txid(PREV)</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vout = i0[</a:t>
            </a:r>
            <a:r>
              <a:rPr lang="en-US" sz="1100" dirty="0">
                <a:solidFill>
                  <a:srgbClr val="9ECBFF"/>
                </a:solidFill>
                <a:latin typeface="Courier New" pitchFamily="34" charset="0"/>
                <a:ea typeface="Courier New" pitchFamily="34" charset="-122"/>
                <a:cs typeface="Courier New" pitchFamily="34" charset="-120"/>
              </a:rPr>
              <a:t>'vout'</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which output</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 input names a coin: the earlier txid and an output number.</a:t>
            </a:r>
            <a:endParaRPr lang="en-US" sz="1050" dirty="0"/>
          </a:p>
        </p:txBody>
      </p:sp>
      <p:sp>
        <p:nvSpPr>
          <p:cNvPr id="13" name="Shape 11"/>
          <p:cNvSpPr/>
          <p:nvPr/>
        </p:nvSpPr>
        <p:spPr>
          <a:xfrm>
            <a:off x="548640" y="182105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82105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Explorers print the same 32 bytes in reverse order.</a:t>
            </a:r>
            <a:endParaRPr lang="en-US" sz="1050" dirty="0"/>
          </a:p>
        </p:txBody>
      </p:sp>
      <p:sp>
        <p:nvSpPr>
          <p:cNvPr id="18" name="Shape 16"/>
          <p:cNvSpPr/>
          <p:nvPr/>
        </p:nvSpPr>
        <p:spPr>
          <a:xfrm>
            <a:off x="548640" y="218427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18427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57150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Reversing twice restores the original, and it equals the earlier txid.</a:t>
            </a:r>
            <a:endParaRPr lang="en-US" sz="1050" dirty="0"/>
          </a:p>
        </p:txBody>
      </p:sp>
      <p:sp>
        <p:nvSpPr>
          <p:cNvPr id="23" name="Text 21"/>
          <p:cNvSpPr txBox="1"/>
          <p:nvPr/>
        </p:nvSpPr>
        <p:spPr>
          <a:xfrm>
            <a:off x="457200" y="2948940"/>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195828"/>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first 16 hex digits of the outpoint</a:t>
            </a:r>
            <a:endParaRPr lang="en-US" sz="1100" dirty="0"/>
          </a:p>
        </p:txBody>
      </p:sp>
      <p:sp>
        <p:nvSpPr>
          <p:cNvPr id="25" name="Shape 23"/>
          <p:cNvSpPr/>
          <p:nvPr/>
        </p:nvSpPr>
        <p:spPr>
          <a:xfrm>
            <a:off x="457200" y="3442716"/>
            <a:ext cx="1389888" cy="1101852"/>
          </a:xfrm>
          <a:prstGeom prst="roundRect">
            <a:avLst>
              <a:gd name="adj" fmla="val 8299"/>
            </a:avLst>
          </a:prstGeom>
          <a:solidFill>
            <a:srgbClr val="2F6D62"/>
          </a:solidFill>
          <a:ln w="12700">
            <a:solidFill>
              <a:srgbClr val="2F6D62"/>
            </a:solidFill>
            <a:prstDash val="solid"/>
          </a:ln>
        </p:spPr>
      </p:sp>
      <p:sp>
        <p:nvSpPr>
          <p:cNvPr id="26" name="Text 24"/>
          <p:cNvSpPr txBox="1"/>
          <p:nvPr/>
        </p:nvSpPr>
        <p:spPr>
          <a:xfrm>
            <a:off x="530352" y="3488436"/>
            <a:ext cx="1243584" cy="10104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Stored in the input</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eb3ae38f27191aa5...</a:t>
            </a:r>
            <a:endParaRPr lang="en-US" sz="1100" dirty="0"/>
          </a:p>
        </p:txBody>
      </p:sp>
      <p:sp>
        <p:nvSpPr>
          <p:cNvPr id="27" name="Shape 25"/>
          <p:cNvSpPr/>
          <p:nvPr/>
        </p:nvSpPr>
        <p:spPr>
          <a:xfrm>
            <a:off x="1901952" y="3993642"/>
            <a:ext cx="365760" cy="0"/>
          </a:xfrm>
          <a:prstGeom prst="line">
            <a:avLst/>
          </a:prstGeom>
          <a:noFill/>
          <a:ln w="25400">
            <a:solidFill>
              <a:srgbClr val="D97A14"/>
            </a:solidFill>
            <a:prstDash val="solid"/>
            <a:tailEnd type="triangle"/>
          </a:ln>
        </p:spPr>
      </p:sp>
      <p:sp>
        <p:nvSpPr>
          <p:cNvPr id="28" name="Shape 26"/>
          <p:cNvSpPr/>
          <p:nvPr/>
        </p:nvSpPr>
        <p:spPr>
          <a:xfrm>
            <a:off x="2322576" y="3442716"/>
            <a:ext cx="1389888" cy="1101852"/>
          </a:xfrm>
          <a:prstGeom prst="roundRect">
            <a:avLst>
              <a:gd name="adj" fmla="val 8299"/>
            </a:avLst>
          </a:prstGeom>
          <a:solidFill>
            <a:srgbClr val="2F6D62"/>
          </a:solidFill>
          <a:ln w="12700">
            <a:solidFill>
              <a:srgbClr val="2F6D62"/>
            </a:solidFill>
            <a:prstDash val="solid"/>
          </a:ln>
        </p:spPr>
      </p:sp>
      <p:sp>
        <p:nvSpPr>
          <p:cNvPr id="29" name="Text 27"/>
          <p:cNvSpPr txBox="1"/>
          <p:nvPr/>
        </p:nvSpPr>
        <p:spPr>
          <a:xfrm>
            <a:off x="2395728" y="3488436"/>
            <a:ext cx="1243584" cy="10104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Reverse the 32 bytes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round trip holds</a:t>
            </a:r>
            <a:endParaRPr lang="en-US" sz="1100" dirty="0"/>
          </a:p>
        </p:txBody>
      </p:sp>
      <p:sp>
        <p:nvSpPr>
          <p:cNvPr id="30" name="Shape 28"/>
          <p:cNvSpPr/>
          <p:nvPr/>
        </p:nvSpPr>
        <p:spPr>
          <a:xfrm>
            <a:off x="3767328" y="3993642"/>
            <a:ext cx="365760" cy="0"/>
          </a:xfrm>
          <a:prstGeom prst="line">
            <a:avLst/>
          </a:prstGeom>
          <a:noFill/>
          <a:ln w="25400">
            <a:solidFill>
              <a:srgbClr val="D97A14"/>
            </a:solidFill>
            <a:prstDash val="solid"/>
            <a:tailEnd type="triangle"/>
          </a:ln>
        </p:spPr>
      </p:sp>
      <p:sp>
        <p:nvSpPr>
          <p:cNvPr id="31" name="Shape 29"/>
          <p:cNvSpPr/>
          <p:nvPr/>
        </p:nvSpPr>
        <p:spPr>
          <a:xfrm>
            <a:off x="4187952" y="3442716"/>
            <a:ext cx="1389888" cy="1101852"/>
          </a:xfrm>
          <a:prstGeom prst="roundRect">
            <a:avLst>
              <a:gd name="adj" fmla="val 8299"/>
            </a:avLst>
          </a:prstGeom>
          <a:solidFill>
            <a:srgbClr val="2F6D62"/>
          </a:solidFill>
          <a:ln w="12700">
            <a:solidFill>
              <a:srgbClr val="2F6D62"/>
            </a:solidFill>
            <a:prstDash val="solid"/>
          </a:ln>
        </p:spPr>
      </p:sp>
      <p:sp>
        <p:nvSpPr>
          <p:cNvPr id="32" name="Text 30"/>
          <p:cNvSpPr txBox="1"/>
          <p:nvPr/>
        </p:nvSpPr>
        <p:spPr>
          <a:xfrm>
            <a:off x="4261104" y="3488436"/>
            <a:ext cx="1243584" cy="10104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Printed by explorers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4ac5418026798669...</a:t>
            </a:r>
            <a:endParaRPr lang="en-US" sz="1100" dirty="0"/>
          </a:p>
        </p:txBody>
      </p:sp>
      <p:sp>
        <p:nvSpPr>
          <p:cNvPr id="33" name="Text 31"/>
          <p:cNvSpPr txBox="1"/>
          <p:nvPr/>
        </p:nvSpPr>
        <p:spPr>
          <a:xfrm>
            <a:off x="5897880" y="3488436"/>
            <a:ext cx="2788920" cy="1010412"/>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Input 0 spends output 1 of the earlier transaction; its stored and printed forms are mirror images.</a:t>
            </a:r>
            <a:endParaRPr lang="en-US" sz="115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input states no amount; it names a coin by transaction and output number</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55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(3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Internal byte order</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The order inside the bytes.</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reading a phone number from its last digit.</a:t>
            </a:r>
            <a:endParaRPr lang="en-US" sz="1350" dirty="0"/>
          </a:p>
        </p:txBody>
      </p:sp>
      <p:sp>
        <p:nvSpPr>
          <p:cNvPr id="9" name="Shape 7"/>
          <p:cNvSpPr/>
          <p:nvPr/>
        </p:nvSpPr>
        <p:spPr>
          <a:xfrm>
            <a:off x="4645152" y="1280160"/>
            <a:ext cx="4041648"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4663440"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4828032" y="1344168"/>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Display byte order</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The order on the screen.</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reading the phone number the usual way round.</a:t>
            </a:r>
            <a:endParaRPr lang="en-US" sz="1350" dirty="0"/>
          </a:p>
        </p:txBody>
      </p:sp>
      <p:sp>
        <p:nvSpPr>
          <p:cNvPr id="12" name="Shape 10"/>
          <p:cNvSpPr/>
          <p:nvPr/>
        </p:nvSpPr>
        <p:spPr>
          <a:xfrm>
            <a:off x="457200" y="2944368"/>
            <a:ext cx="4041648"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475488" y="3072384"/>
            <a:ext cx="64008" cy="1280160"/>
          </a:xfrm>
          <a:prstGeom prst="rect">
            <a:avLst/>
          </a:prstGeom>
          <a:solidFill>
            <a:srgbClr val="D97A14"/>
          </a:solidFill>
          <a:ln w="12700">
            <a:solidFill>
              <a:srgbClr val="D97A14"/>
            </a:solidFill>
            <a:prstDash val="solid"/>
          </a:ln>
        </p:spPr>
      </p:sp>
      <p:sp>
        <p:nvSpPr>
          <p:cNvPr id="14" name="Text 12"/>
          <p:cNvSpPr txBox="1"/>
          <p:nvPr/>
        </p:nvSpPr>
        <p:spPr>
          <a:xfrm>
            <a:off x="640080" y="3008376"/>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Input script</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107 bytes for a legacy spend, 0 for segwit.</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the key you hand over at the door.</a:t>
            </a:r>
            <a:endParaRPr lang="en-US" sz="1350" dirty="0"/>
          </a:p>
        </p:txBody>
      </p:sp>
      <p:sp>
        <p:nvSpPr>
          <p:cNvPr id="15" name="Shape 13"/>
          <p:cNvSpPr/>
          <p:nvPr/>
        </p:nvSpPr>
        <p:spPr>
          <a:xfrm>
            <a:off x="4645152" y="2944368"/>
            <a:ext cx="4041648"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663440"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4828032" y="3008376"/>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Script length prefix</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0x6b says 107 bytes follow.</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a label on a box saying how many items it holds.</a:t>
            </a:r>
            <a:endParaRPr lang="en-US" sz="13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55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spend updates the UTXO set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Remove what is spent, add what is created</a:t>
            </a:r>
            <a:endParaRPr lang="en-US" sz="1300" dirty="0"/>
          </a:p>
        </p:txBody>
      </p:sp>
      <p:sp>
        <p:nvSpPr>
          <p:cNvPr id="6" name="Shape 4"/>
          <p:cNvSpPr/>
          <p:nvPr/>
        </p:nvSpPr>
        <p:spPr>
          <a:xfrm>
            <a:off x="457200" y="1325880"/>
            <a:ext cx="4937760" cy="1920240"/>
          </a:xfrm>
          <a:prstGeom prst="roundRect">
            <a:avLst>
              <a:gd name="adj" fmla="val 4762"/>
            </a:avLst>
          </a:prstGeom>
          <a:solidFill>
            <a:srgbClr val="23272E"/>
          </a:solidFill>
          <a:ln w="12700">
            <a:solidFill>
              <a:srgbClr val="23272E"/>
            </a:solidFill>
            <a:prstDash val="solid"/>
          </a:ln>
        </p:spPr>
      </p:sp>
      <p:sp>
        <p:nvSpPr>
          <p:cNvPr id="7" name="Text 5"/>
          <p:cNvSpPr txBox="1"/>
          <p:nvPr/>
        </p:nvSpPr>
        <p:spPr>
          <a:xfrm>
            <a:off x="868680" y="1444752"/>
            <a:ext cx="4389120" cy="1682496"/>
          </a:xfrm>
          <a:prstGeom prst="rect">
            <a:avLst/>
          </a:prstGeom>
          <a:noFill/>
          <a:ln/>
        </p:spPr>
        <p:txBody>
          <a:bodyPr wrap="square" lIns="0" tIns="0" rIns="0" bIns="0" rtlCol="0" anchor="t"/>
          <a:lstStyle/>
          <a:p>
            <a:pPr indent="0" marL="0">
              <a:lnSpc>
                <a:spcPts val="1300"/>
              </a:lnSpc>
              <a:buNone/>
            </a:pPr>
            <a:r>
              <a:rPr lang="en-US" sz="1000" dirty="0">
                <a:solidFill>
                  <a:srgbClr val="E6EDF3"/>
                </a:solidFill>
                <a:latin typeface="Courier New" pitchFamily="34" charset="0"/>
                <a:ea typeface="Courier New" pitchFamily="34" charset="-122"/>
                <a:cs typeface="Courier New" pitchFamily="34" charset="-120"/>
              </a:rPr>
              <a:t>prev = PREV_REC[</a:t>
            </a:r>
            <a:r>
              <a:rPr lang="en-US" sz="1000" dirty="0">
                <a:solidFill>
                  <a:srgbClr val="9ECBFF"/>
                </a:solidFill>
                <a:latin typeface="Courier New" pitchFamily="34" charset="0"/>
                <a:ea typeface="Courier New" pitchFamily="34" charset="-122"/>
                <a:cs typeface="Courier New" pitchFamily="34" charset="-120"/>
              </a:rPr>
              <a:t>'vout'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i="1" dirty="0">
                <a:solidFill>
                  <a:srgbClr val="8FA98F"/>
                </a:solidFill>
                <a:latin typeface="Courier New" pitchFamily="34" charset="0"/>
                <a:ea typeface="Courier New" pitchFamily="34" charset="-122"/>
                <a:cs typeface="Courier New" pitchFamily="34" charset="-120"/>
              </a:rPr>
              <a:t># the coin</a:t>
            </a:r>
            <a:endParaRPr lang="en-US" sz="1000" dirty="0"/>
          </a:p>
          <a:p>
            <a:pPr indent="0" marL="0">
              <a:lnSpc>
                <a:spcPts val="1300"/>
              </a:lnSpc>
              <a:buNone/>
            </a:pPr>
            <a:r>
              <a:rPr lang="en-US" sz="1000" dirty="0">
                <a:solidFill>
                  <a:srgbClr val="E6EDF3"/>
                </a:solidFill>
                <a:latin typeface="Courier New" pitchFamily="34" charset="0"/>
                <a:ea typeface="Courier New" pitchFamily="34" charset="-122"/>
                <a:cs typeface="Courier New" pitchFamily="34" charset="-120"/>
              </a:rPr>
              <a:t>utxo = {(txid(PREV),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prev[</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rgbClr val="E6EDF3"/>
                </a:solidFill>
                <a:latin typeface="Courier New" pitchFamily="34" charset="0"/>
                <a:ea typeface="Courier New" pitchFamily="34" charset="-122"/>
                <a:cs typeface="Courier New" pitchFamily="34" charset="-120"/>
              </a:rPr>
              <a:t>before = sorted(utxo.values())</a:t>
            </a:r>
            <a:endParaRPr lang="en-US" sz="1000" dirty="0"/>
          </a:p>
          <a:p>
            <a:pPr indent="0" marL="0">
              <a:lnSpc>
                <a:spcPts val="1300"/>
              </a:lnSpc>
              <a:buNone/>
            </a:pP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tx[</a:t>
            </a:r>
            <a:r>
              <a:rPr lang="en-US" sz="1000" dirty="0">
                <a:solidFill>
                  <a:srgbClr val="9ECBFF"/>
                </a:solidFill>
                <a:latin typeface="Courier New" pitchFamily="34" charset="0"/>
                <a:ea typeface="Courier New" pitchFamily="34" charset="-122"/>
                <a:cs typeface="Courier New" pitchFamily="34" charset="-120"/>
              </a:rPr>
              <a:t>'inputs'</a:t>
            </a:r>
            <a:r>
              <a:rPr lang="en-US" sz="1000" dirty="0">
                <a:solidFill>
                  <a:srgbClr val="E6EDF3"/>
                </a:solidFill>
                <a:latin typeface="Courier New" pitchFamily="34" charset="0"/>
                <a:ea typeface="Courier New" pitchFamily="34" charset="-122"/>
                <a:cs typeface="Courier New" pitchFamily="34" charset="-120"/>
              </a:rPr>
              <a:t>]:                </a:t>
            </a:r>
            <a:r>
              <a:rPr lang="en-US" sz="1000" i="1" dirty="0">
                <a:solidFill>
                  <a:srgbClr val="8FA98F"/>
                </a:solidFill>
                <a:latin typeface="Courier New" pitchFamily="34" charset="0"/>
                <a:ea typeface="Courier New" pitchFamily="34" charset="-122"/>
                <a:cs typeface="Courier New" pitchFamily="34" charset="-120"/>
              </a:rPr>
              <a:t># spent: out</a:t>
            </a:r>
            <a:endParaRPr lang="en-US" sz="1000" dirty="0"/>
          </a:p>
          <a:p>
            <a:pPr indent="0" marL="0">
              <a:lnSpc>
                <a:spcPts val="1300"/>
              </a:lnSpc>
              <a:buNone/>
            </a:pPr>
            <a:r>
              <a:rPr lang="en-US" sz="1000" dirty="0">
                <a:solidFill>
                  <a:srgbClr val="E6EDF3"/>
                </a:solidFill>
                <a:latin typeface="Courier New" pitchFamily="34" charset="0"/>
                <a:ea typeface="Courier New" pitchFamily="34" charset="-122"/>
                <a:cs typeface="Courier New" pitchFamily="34" charset="-120"/>
              </a:rPr>
              <a:t>    del utxo[(i[</a:t>
            </a:r>
            <a:r>
              <a:rPr lang="en-US" sz="1000" dirty="0">
                <a:solidFill>
                  <a:srgbClr val="9ECBFF"/>
                </a:solidFill>
                <a:latin typeface="Courier New" pitchFamily="34" charset="0"/>
                <a:ea typeface="Courier New" pitchFamily="34" charset="-122"/>
                <a:cs typeface="Courier New" pitchFamily="34" charset="-120"/>
              </a:rPr>
              <a:t>'txid'</a:t>
            </a:r>
            <a:r>
              <a:rPr lang="en-US" sz="1000" dirty="0">
                <a:solidFill>
                  <a:srgbClr val="E6EDF3"/>
                </a:solidFill>
                <a:latin typeface="Courier New" pitchFamily="34" charset="0"/>
                <a:ea typeface="Courier New" pitchFamily="34" charset="-122"/>
                <a:cs typeface="Courier New" pitchFamily="34" charset="-120"/>
              </a:rPr>
              <a:t>], i[</a:t>
            </a:r>
            <a:r>
              <a:rPr lang="en-US" sz="1000" dirty="0">
                <a:solidFill>
                  <a:srgbClr val="9ECBFF"/>
                </a:solidFill>
                <a:latin typeface="Courier New" pitchFamily="34" charset="0"/>
                <a:ea typeface="Courier New" pitchFamily="34" charset="-122"/>
                <a:cs typeface="Courier New" pitchFamily="34" charset="-120"/>
              </a:rPr>
              <a:t>'vout'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o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enumerate(tx[</a:t>
            </a:r>
            <a:r>
              <a:rPr lang="en-US" sz="1000" dirty="0">
                <a:solidFill>
                  <a:srgbClr val="9ECBFF"/>
                </a:solidFill>
                <a:latin typeface="Courier New" pitchFamily="34" charset="0"/>
                <a:ea typeface="Courier New" pitchFamily="34" charset="-122"/>
                <a:cs typeface="Courier New" pitchFamily="34" charset="-120"/>
              </a:rPr>
              <a:t>'outputs'</a:t>
            </a:r>
            <a:r>
              <a:rPr lang="en-US" sz="1000" dirty="0">
                <a:solidFill>
                  <a:srgbClr val="E6EDF3"/>
                </a:solidFill>
                <a:latin typeface="Courier New" pitchFamily="34" charset="0"/>
                <a:ea typeface="Courier New" pitchFamily="34" charset="-122"/>
                <a:cs typeface="Courier New" pitchFamily="34" charset="-120"/>
              </a:rPr>
              <a:t>]): </a:t>
            </a:r>
            <a:r>
              <a:rPr lang="en-US" sz="1000" i="1" dirty="0">
                <a:solidFill>
                  <a:srgbClr val="8FA98F"/>
                </a:solidFill>
                <a:latin typeface="Courier New" pitchFamily="34" charset="0"/>
                <a:ea typeface="Courier New" pitchFamily="34" charset="-122"/>
                <a:cs typeface="Courier New" pitchFamily="34" charset="-120"/>
              </a:rPr>
              <a:t># new: in</a:t>
            </a:r>
            <a:endParaRPr lang="en-US" sz="1000" dirty="0"/>
          </a:p>
          <a:p>
            <a:pPr indent="0" marL="0">
              <a:lnSpc>
                <a:spcPts val="1300"/>
              </a:lnSpc>
              <a:buNone/>
            </a:pPr>
            <a:r>
              <a:rPr lang="en-US" sz="1000" dirty="0">
                <a:solidFill>
                  <a:srgbClr val="E6EDF3"/>
                </a:solidFill>
                <a:latin typeface="Courier New" pitchFamily="34" charset="0"/>
                <a:ea typeface="Courier New" pitchFamily="34" charset="-122"/>
                <a:cs typeface="Courier New" pitchFamily="34" charset="-120"/>
              </a:rPr>
              <a:t>    utxo[(txid(ALICE), n)] = o[</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rgbClr val="E6EDF3"/>
                </a:solidFill>
                <a:latin typeface="Courier New" pitchFamily="34" charset="0"/>
                <a:ea typeface="Courier New" pitchFamily="34" charset="-122"/>
                <a:cs typeface="Courier New" pitchFamily="34" charset="-120"/>
              </a:rPr>
              <a:t>fee = sum(before) - sum(utxo.values())</a:t>
            </a:r>
            <a:endParaRPr lang="en-US" sz="1000" dirty="0"/>
          </a:p>
        </p:txBody>
      </p:sp>
      <p:sp>
        <p:nvSpPr>
          <p:cNvPr id="8" name="Shape 6"/>
          <p:cNvSpPr/>
          <p:nvPr/>
        </p:nvSpPr>
        <p:spPr>
          <a:xfrm>
            <a:off x="548640" y="1449578"/>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49578"/>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Before the payment the set holds Alice's one coin.</a:t>
            </a:r>
            <a:endParaRPr lang="en-US" sz="1050" dirty="0"/>
          </a:p>
        </p:txBody>
      </p:sp>
      <p:sp>
        <p:nvSpPr>
          <p:cNvPr id="13" name="Shape 11"/>
          <p:cNvSpPr/>
          <p:nvPr/>
        </p:nvSpPr>
        <p:spPr>
          <a:xfrm>
            <a:off x="548640" y="1944878"/>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944878"/>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input removes the coin it names.</a:t>
            </a:r>
            <a:endParaRPr lang="en-US" sz="1050" dirty="0"/>
          </a:p>
        </p:txBody>
      </p:sp>
      <p:sp>
        <p:nvSpPr>
          <p:cNvPr id="18" name="Shape 16"/>
          <p:cNvSpPr/>
          <p:nvPr/>
        </p:nvSpPr>
        <p:spPr>
          <a:xfrm>
            <a:off x="548640" y="2275078"/>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275078"/>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output adds a new coin, named by txid and position.</a:t>
            </a:r>
            <a:endParaRPr lang="en-US" sz="1050" dirty="0"/>
          </a:p>
        </p:txBody>
      </p:sp>
      <p:sp>
        <p:nvSpPr>
          <p:cNvPr id="23" name="Shape 21"/>
          <p:cNvSpPr/>
          <p:nvPr/>
        </p:nvSpPr>
        <p:spPr>
          <a:xfrm>
            <a:off x="548640" y="2605278"/>
            <a:ext cx="219456" cy="155448"/>
          </a:xfrm>
          <a:prstGeom prst="roundRect">
            <a:avLst>
              <a:gd name="adj" fmla="val 47059"/>
            </a:avLst>
          </a:prstGeom>
          <a:solidFill>
            <a:srgbClr val="D97A14"/>
          </a:solidFill>
          <a:ln w="12700">
            <a:solidFill>
              <a:srgbClr val="D97A14"/>
            </a:solidFill>
            <a:prstDash val="solid"/>
          </a:ln>
        </p:spPr>
      </p:sp>
      <p:sp>
        <p:nvSpPr>
          <p:cNvPr id="24" name="Text 22"/>
          <p:cNvSpPr txBox="1"/>
          <p:nvPr/>
        </p:nvSpPr>
        <p:spPr>
          <a:xfrm>
            <a:off x="548640" y="2605278"/>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5" name="Shape 23"/>
          <p:cNvSpPr/>
          <p:nvPr/>
        </p:nvSpPr>
        <p:spPr>
          <a:xfrm>
            <a:off x="5577840" y="2862072"/>
            <a:ext cx="256032" cy="256032"/>
          </a:xfrm>
          <a:prstGeom prst="ellipse">
            <a:avLst/>
          </a:prstGeom>
          <a:solidFill>
            <a:srgbClr val="D97A14"/>
          </a:solidFill>
          <a:ln w="12700">
            <a:solidFill>
              <a:srgbClr val="D97A14"/>
            </a:solidFill>
            <a:prstDash val="solid"/>
          </a:ln>
        </p:spPr>
      </p:sp>
      <p:sp>
        <p:nvSpPr>
          <p:cNvPr id="26" name="Text 24"/>
          <p:cNvSpPr txBox="1"/>
          <p:nvPr/>
        </p:nvSpPr>
        <p:spPr>
          <a:xfrm>
            <a:off x="5577840" y="28620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7" name="Text 25"/>
          <p:cNvSpPr txBox="1"/>
          <p:nvPr/>
        </p:nvSpPr>
        <p:spPr>
          <a:xfrm>
            <a:off x="5925312" y="2807208"/>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What is left over is the fee; no field states it.</a:t>
            </a:r>
            <a:endParaRPr lang="en-US" sz="1050" dirty="0"/>
          </a:p>
        </p:txBody>
      </p:sp>
      <p:sp>
        <p:nvSpPr>
          <p:cNvPr id="28" name="Text 26"/>
          <p:cNvSpPr txBox="1"/>
          <p:nvPr/>
        </p:nvSpPr>
        <p:spPr>
          <a:xfrm>
            <a:off x="457200" y="3273552"/>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9" name="Text 27"/>
          <p:cNvSpPr txBox="1"/>
          <p:nvPr/>
        </p:nvSpPr>
        <p:spPr>
          <a:xfrm>
            <a:off x="457200" y="3520440"/>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set of unspent outputs, before and after</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3767328"/>
          <a:ext cx="5120640" cy="914400"/>
        </p:xfrm>
        <a:graphic>
          <a:graphicData uri="http://schemas.openxmlformats.org/drawingml/2006/table">
            <a:tbl>
              <a:tblPr/>
              <a:tblGrid>
                <a:gridCol w="2194560"/>
                <a:gridCol w="1188720"/>
                <a:gridCol w="1737360"/>
              </a:tblGrid>
              <a:tr h="19431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Step</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Coins in the set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Amounts (satoshis)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19431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Before the payment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100,000</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9431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After: one removed, two added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20,000 and 75,000</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9431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Left over: the fee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31" name="Text 28"/>
          <p:cNvSpPr txBox="1"/>
          <p:nvPr/>
        </p:nvSpPr>
        <p:spPr>
          <a:xfrm>
            <a:off x="5897880" y="3813048"/>
            <a:ext cx="2788920" cy="685800"/>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fee of 5,000 satoshis is not a field; it is 100,000 - 95,000.</a:t>
            </a:r>
            <a:endParaRPr lang="en-US" sz="1150" dirty="0"/>
          </a:p>
        </p:txBody>
      </p:sp>
      <p:sp>
        <p:nvSpPr>
          <p:cNvPr id="32"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Nodes keep only unspent outputs; the fee is whatever is left over</a:t>
            </a:r>
            <a:endParaRPr lang="en-US" sz="1350" dirty="0"/>
          </a:p>
        </p:txBody>
      </p:sp>
      <p:sp>
        <p:nvSpPr>
          <p:cNvPr id="34"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55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10,000 bitcoins for two pizzas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most famous purchase ever made with bitcoin</a:t>
            </a:r>
            <a:endParaRPr lang="en-US" sz="1300" dirty="0"/>
          </a:p>
        </p:txBody>
      </p:sp>
      <p:pic>
        <p:nvPicPr>
          <p:cNvPr id="6" name="Image 0" descr="../../03-materials/ch06/assets/photo_papa_johns_jacksonville.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plaque - Sanjev Rajaram, CC0</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Laszlo Hanyecz paid 10,000 bitcoins for two pizzas that a forum user ordered for him.</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He wanted to show that bitcoin could buy something real; his forum offer began four days earlier.</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payment confirmed in block 57,043: 131 inputs, one output of 10,000 BTC, a fee of 0.99 BTC.</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wallet that gathered many 50 BTC rewards must list every one of them as an input.</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 programm…</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 Papa John's on Atlan…</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bitcointalk.org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55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sequence field</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sequence field is a booth ticket whose meaning changed three times.</a:t>
            </a:r>
            <a:endParaRPr lang="en-US" sz="1500" dirty="0"/>
          </a:p>
        </p:txBody>
      </p:sp>
      <p:sp>
        <p:nvSpPr>
          <p:cNvPr id="6" name="Shape 4"/>
          <p:cNvSpPr/>
          <p:nvPr/>
        </p:nvSpPr>
        <p:spPr>
          <a:xfrm>
            <a:off x="777240" y="2148840"/>
            <a:ext cx="2523744" cy="1783080"/>
          </a:xfrm>
          <a:prstGeom prst="roundRect">
            <a:avLst>
              <a:gd name="adj" fmla="val 4103"/>
            </a:avLst>
          </a:prstGeom>
          <a:solidFill>
            <a:srgbClr val="2F6D62"/>
          </a:solidFill>
          <a:ln w="12700">
            <a:solidFill>
              <a:srgbClr val="2F6D62"/>
            </a:solidFill>
            <a:prstDash val="solid"/>
          </a:ln>
        </p:spPr>
      </p:sp>
      <p:sp>
        <p:nvSpPr>
          <p:cNvPr id="7" name="Text 5"/>
          <p:cNvSpPr txBox="1"/>
          <p:nvPr/>
        </p:nvSpPr>
        <p:spPr>
          <a:xfrm>
            <a:off x="850392" y="2194560"/>
            <a:ext cx="2377440" cy="1691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Original sequence-based replacement</a:t>
            </a:r>
            <a:endParaRPr lang="en-US" sz="1400" dirty="0"/>
          </a:p>
          <a:p>
            <a:pPr algn="ctr" indent="0" marL="0">
              <a:buNone/>
            </a:pPr>
            <a:r>
              <a:rPr lang="en-US" sz="1200" dirty="0">
                <a:solidFill>
                  <a:srgbClr val="D7E4E0"/>
                </a:solidFill>
                <a:latin typeface="Calibri" pitchFamily="34" charset="0"/>
                <a:ea typeface="Calibri" pitchFamily="34" charset="-122"/>
                <a:cs typeface="Calibri" pitchFamily="34" charset="-120"/>
              </a:rPr>
              <a:t>The first use of the field: replace an unfinished transaction. Like an order slip you can reissue until the kitchen closes.</a:t>
            </a:r>
            <a:endParaRPr lang="en-US" sz="1400" dirty="0"/>
          </a:p>
        </p:txBody>
      </p:sp>
      <p:sp>
        <p:nvSpPr>
          <p:cNvPr id="8" name="Shape 6"/>
          <p:cNvSpPr/>
          <p:nvPr/>
        </p:nvSpPr>
        <p:spPr>
          <a:xfrm>
            <a:off x="3447288" y="2148840"/>
            <a:ext cx="2523744" cy="1783080"/>
          </a:xfrm>
          <a:prstGeom prst="roundRect">
            <a:avLst>
              <a:gd name="adj" fmla="val 4103"/>
            </a:avLst>
          </a:prstGeom>
          <a:solidFill>
            <a:srgbClr val="2F6D62"/>
          </a:solidFill>
          <a:ln w="12700">
            <a:solidFill>
              <a:srgbClr val="2F6D62"/>
            </a:solidFill>
            <a:prstDash val="solid"/>
          </a:ln>
        </p:spPr>
      </p:sp>
      <p:sp>
        <p:nvSpPr>
          <p:cNvPr id="9" name="Text 7"/>
          <p:cNvSpPr txBox="1"/>
          <p:nvPr/>
        </p:nvSpPr>
        <p:spPr>
          <a:xfrm>
            <a:off x="3520440" y="2194560"/>
            <a:ext cx="2377440" cy="1691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Opt-in replace-by-fee</a:t>
            </a:r>
            <a:endParaRPr lang="en-US" sz="1400" dirty="0"/>
          </a:p>
          <a:p>
            <a:pPr algn="ctr" indent="0" marL="0">
              <a:buNone/>
            </a:pPr>
            <a:r>
              <a:rPr lang="en-US" sz="1200" dirty="0">
                <a:solidFill>
                  <a:srgbClr val="D7E4E0"/>
                </a:solidFill>
                <a:latin typeface="Calibri" pitchFamily="34" charset="0"/>
                <a:ea typeface="Calibri" pitchFamily="34" charset="-122"/>
                <a:cs typeface="Calibri" pitchFamily="34" charset="-120"/>
              </a:rPr>
              <a:t>A later transaction that pays more replaces an earlier one. Like outbidding someone at an auction.</a:t>
            </a:r>
            <a:endParaRPr lang="en-US" sz="1400" dirty="0"/>
          </a:p>
        </p:txBody>
      </p:sp>
      <p:sp>
        <p:nvSpPr>
          <p:cNvPr id="10" name="Shape 8"/>
          <p:cNvSpPr/>
          <p:nvPr/>
        </p:nvSpPr>
        <p:spPr>
          <a:xfrm>
            <a:off x="6117336" y="2148840"/>
            <a:ext cx="2523744" cy="1783080"/>
          </a:xfrm>
          <a:prstGeom prst="roundRect">
            <a:avLst>
              <a:gd name="adj" fmla="val 4103"/>
            </a:avLst>
          </a:prstGeom>
          <a:solidFill>
            <a:srgbClr val="2F6D62"/>
          </a:solidFill>
          <a:ln w="12700">
            <a:solidFill>
              <a:srgbClr val="2F6D62"/>
            </a:solidFill>
            <a:prstDash val="solid"/>
          </a:ln>
        </p:spPr>
      </p:sp>
      <p:sp>
        <p:nvSpPr>
          <p:cNvPr id="11" name="Text 9"/>
          <p:cNvSpPr txBox="1"/>
          <p:nvPr/>
        </p:nvSpPr>
        <p:spPr>
          <a:xfrm>
            <a:off x="6190488" y="2194560"/>
            <a:ext cx="2377440" cy="1691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Sequence as a relative timelock</a:t>
            </a:r>
            <a:endParaRPr lang="en-US" sz="1400" dirty="0"/>
          </a:p>
          <a:p>
            <a:pPr algn="ctr" indent="0" marL="0">
              <a:buNone/>
            </a:pPr>
            <a:r>
              <a:rPr lang="en-US" sz="1200" dirty="0">
                <a:solidFill>
                  <a:srgbClr val="D7E4E0"/>
                </a:solidFill>
                <a:latin typeface="Calibri" pitchFamily="34" charset="0"/>
                <a:ea typeface="Calibri" pitchFamily="34" charset="-122"/>
                <a:cs typeface="Calibri" pitchFamily="34" charset="-120"/>
              </a:rPr>
              <a:t>A coin that cannot be spent until some time after it arrived. Like a gift card that activates a week after purchase.</a:t>
            </a:r>
            <a:endParaRPr lang="en-US" sz="1400" dirty="0"/>
          </a:p>
        </p:txBody>
      </p:sp>
      <p:sp>
        <p:nvSpPr>
          <p:cNvPr id="12" name="Shape 10"/>
          <p:cNvSpPr/>
          <p:nvPr/>
        </p:nvSpPr>
        <p:spPr>
          <a:xfrm>
            <a:off x="777240" y="4114800"/>
            <a:ext cx="914400" cy="365760"/>
          </a:xfrm>
          <a:prstGeom prst="rect">
            <a:avLst/>
          </a:prstGeom>
          <a:solidFill>
            <a:srgbClr val="F2ECE1"/>
          </a:solidFill>
          <a:ln w="19050">
            <a:solidFill>
              <a:srgbClr val="FFFFFF"/>
            </a:solidFill>
            <a:prstDash val="solid"/>
          </a:ln>
        </p:spPr>
      </p:sp>
      <p:sp>
        <p:nvSpPr>
          <p:cNvPr id="13" name="Text 11"/>
          <p:cNvSpPr txBox="1"/>
          <p:nvPr/>
        </p:nvSpPr>
        <p:spPr>
          <a:xfrm>
            <a:off x="777240" y="4114800"/>
            <a:ext cx="91440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p>
        </p:txBody>
      </p:sp>
      <p:sp>
        <p:nvSpPr>
          <p:cNvPr id="14" name="Shape 12"/>
          <p:cNvSpPr/>
          <p:nvPr/>
        </p:nvSpPr>
        <p:spPr>
          <a:xfrm>
            <a:off x="1691640" y="4114800"/>
            <a:ext cx="822960" cy="365760"/>
          </a:xfrm>
          <a:prstGeom prst="rect">
            <a:avLst/>
          </a:prstGeom>
          <a:solidFill>
            <a:srgbClr val="F2ECE1"/>
          </a:solidFill>
          <a:ln w="19050">
            <a:solidFill>
              <a:srgbClr val="FFFFFF"/>
            </a:solidFill>
            <a:prstDash val="solid"/>
          </a:ln>
        </p:spPr>
      </p:sp>
      <p:sp>
        <p:nvSpPr>
          <p:cNvPr id="15" name="Text 13"/>
          <p:cNvSpPr txBox="1"/>
          <p:nvPr/>
        </p:nvSpPr>
        <p:spPr>
          <a:xfrm>
            <a:off x="1691640" y="4114800"/>
            <a:ext cx="8229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p>
        </p:txBody>
      </p:sp>
      <p:sp>
        <p:nvSpPr>
          <p:cNvPr id="16" name="Shape 14"/>
          <p:cNvSpPr/>
          <p:nvPr/>
        </p:nvSpPr>
        <p:spPr>
          <a:xfrm>
            <a:off x="2514600" y="4114800"/>
            <a:ext cx="1737360" cy="365760"/>
          </a:xfrm>
          <a:prstGeom prst="rect">
            <a:avLst/>
          </a:prstGeom>
          <a:solidFill>
            <a:srgbClr val="D97A14"/>
          </a:solidFill>
          <a:ln w="19050">
            <a:solidFill>
              <a:srgbClr val="FFFFFF"/>
            </a:solidFill>
            <a:prstDash val="solid"/>
          </a:ln>
        </p:spPr>
      </p:sp>
      <p:sp>
        <p:nvSpPr>
          <p:cNvPr id="17" name="Text 15"/>
          <p:cNvSpPr txBox="1"/>
          <p:nvPr/>
        </p:nvSpPr>
        <p:spPr>
          <a:xfrm>
            <a:off x="2514600" y="4114800"/>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Inputs: sequence</a:t>
            </a:r>
            <a:endParaRPr lang="en-US" sz="1000" dirty="0"/>
          </a:p>
        </p:txBody>
      </p:sp>
      <p:sp>
        <p:nvSpPr>
          <p:cNvPr id="18" name="Shape 16"/>
          <p:cNvSpPr/>
          <p:nvPr/>
        </p:nvSpPr>
        <p:spPr>
          <a:xfrm>
            <a:off x="4251960" y="4114800"/>
            <a:ext cx="1737360" cy="365760"/>
          </a:xfrm>
          <a:prstGeom prst="rect">
            <a:avLst/>
          </a:prstGeom>
          <a:solidFill>
            <a:srgbClr val="F2ECE1"/>
          </a:solidFill>
          <a:ln w="19050">
            <a:solidFill>
              <a:srgbClr val="FFFFFF"/>
            </a:solidFill>
            <a:prstDash val="solid"/>
          </a:ln>
        </p:spPr>
      </p:sp>
      <p:sp>
        <p:nvSpPr>
          <p:cNvPr id="19" name="Text 17"/>
          <p:cNvSpPr txBox="1"/>
          <p:nvPr/>
        </p:nvSpPr>
        <p:spPr>
          <a:xfrm>
            <a:off x="425196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p>
        </p:txBody>
      </p:sp>
      <p:sp>
        <p:nvSpPr>
          <p:cNvPr id="20" name="Shape 18"/>
          <p:cNvSpPr/>
          <p:nvPr/>
        </p:nvSpPr>
        <p:spPr>
          <a:xfrm>
            <a:off x="5989320" y="4114800"/>
            <a:ext cx="1737360" cy="365760"/>
          </a:xfrm>
          <a:prstGeom prst="rect">
            <a:avLst/>
          </a:prstGeom>
          <a:solidFill>
            <a:srgbClr val="F2ECE1"/>
          </a:solidFill>
          <a:ln w="19050">
            <a:solidFill>
              <a:srgbClr val="FFFFFF"/>
            </a:solidFill>
            <a:prstDash val="solid"/>
          </a:ln>
        </p:spPr>
      </p:sp>
      <p:sp>
        <p:nvSpPr>
          <p:cNvPr id="21" name="Text 19"/>
          <p:cNvSpPr txBox="1"/>
          <p:nvPr/>
        </p:nvSpPr>
        <p:spPr>
          <a:xfrm>
            <a:off x="598932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p>
        </p:txBody>
      </p:sp>
      <p:sp>
        <p:nvSpPr>
          <p:cNvPr id="22" name="Shape 20"/>
          <p:cNvSpPr/>
          <p:nvPr/>
        </p:nvSpPr>
        <p:spPr>
          <a:xfrm>
            <a:off x="7726680" y="4114800"/>
            <a:ext cx="914400" cy="365760"/>
          </a:xfrm>
          <a:prstGeom prst="rect">
            <a:avLst/>
          </a:prstGeom>
          <a:solidFill>
            <a:srgbClr val="F2ECE1"/>
          </a:solidFill>
          <a:ln w="19050">
            <a:solidFill>
              <a:srgbClr val="FFFFFF"/>
            </a:solidFill>
            <a:prstDash val="solid"/>
          </a:ln>
        </p:spPr>
      </p:sp>
      <p:sp>
        <p:nvSpPr>
          <p:cNvPr id="23" name="Text 21"/>
          <p:cNvSpPr txBox="1"/>
          <p:nvPr/>
        </p:nvSpPr>
        <p:spPr>
          <a:xfrm>
            <a:off x="7726680" y="4114800"/>
            <a:ext cx="91440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55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sequence field: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Sequence number</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The last four bytes of an input.</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counter on a ticket that the booth can reissue.</a:t>
            </a:r>
            <a:endParaRPr lang="en-US" sz="1300" dirty="0"/>
          </a:p>
        </p:txBody>
      </p:sp>
      <p:sp>
        <p:nvSpPr>
          <p:cNvPr id="9" name="Shape 7"/>
          <p:cNvSpPr/>
          <p:nvPr/>
        </p:nvSpPr>
        <p:spPr>
          <a:xfrm>
            <a:off x="3249168" y="1280160"/>
            <a:ext cx="2645664"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3267456"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3432048"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Setup and refund transactions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 deposit that needs both signatures.</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locked deposit box that needs two keys.</a:t>
            </a:r>
            <a:endParaRPr lang="en-US" sz="1300" dirty="0"/>
          </a:p>
        </p:txBody>
      </p:sp>
      <p:sp>
        <p:nvSpPr>
          <p:cNvPr id="12" name="Shape 10"/>
          <p:cNvSpPr/>
          <p:nvPr/>
        </p:nvSpPr>
        <p:spPr>
          <a:xfrm>
            <a:off x="6041136" y="1280160"/>
            <a:ext cx="2645664"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6059424" y="1408176"/>
            <a:ext cx="64008" cy="1280160"/>
          </a:xfrm>
          <a:prstGeom prst="rect">
            <a:avLst/>
          </a:prstGeom>
          <a:solidFill>
            <a:srgbClr val="D97A14"/>
          </a:solidFill>
          <a:ln w="12700">
            <a:solidFill>
              <a:srgbClr val="D97A14"/>
            </a:solidFill>
            <a:prstDash val="solid"/>
          </a:ln>
        </p:spPr>
      </p:sp>
      <p:sp>
        <p:nvSpPr>
          <p:cNvPr id="14" name="Text 12"/>
          <p:cNvSpPr txBox="1"/>
          <p:nvPr/>
        </p:nvSpPr>
        <p:spPr>
          <a:xfrm>
            <a:off x="6224016"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Payment channel</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Many versions, one broadcast.</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bar tab: many orders, one bill at the end.</a:t>
            </a:r>
            <a:endParaRPr lang="en-US" sz="1300" dirty="0"/>
          </a:p>
        </p:txBody>
      </p:sp>
      <p:sp>
        <p:nvSpPr>
          <p:cNvPr id="15" name="Shape 13"/>
          <p:cNvSpPr/>
          <p:nvPr/>
        </p:nvSpPr>
        <p:spPr>
          <a:xfrm>
            <a:off x="457200" y="2944368"/>
            <a:ext cx="2645664"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75488"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640080"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replacement bandwidth attack</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20 KB in, 10 GB out, every minute.</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refiling the same form again and again to clog the office.</a:t>
            </a:r>
            <a:endParaRPr lang="en-US" sz="1300" dirty="0"/>
          </a:p>
        </p:txBody>
      </p:sp>
      <p:sp>
        <p:nvSpPr>
          <p:cNvPr id="18" name="Shape 16"/>
          <p:cNvSpPr/>
          <p:nvPr/>
        </p:nvSpPr>
        <p:spPr>
          <a:xfrm>
            <a:off x="3249168" y="2944368"/>
            <a:ext cx="2645664" cy="1536192"/>
          </a:xfrm>
          <a:prstGeom prst="roundRect">
            <a:avLst>
              <a:gd name="adj" fmla="val 4762"/>
            </a:avLst>
          </a:prstGeom>
          <a:solidFill>
            <a:srgbClr val="F2ECE1"/>
          </a:solidFill>
          <a:ln w="12700">
            <a:solidFill>
              <a:srgbClr val="DFD6C7"/>
            </a:solidFill>
            <a:prstDash val="solid"/>
          </a:ln>
        </p:spPr>
      </p:sp>
      <p:sp>
        <p:nvSpPr>
          <p:cNvPr id="19" name="Shape 17"/>
          <p:cNvSpPr/>
          <p:nvPr/>
        </p:nvSpPr>
        <p:spPr>
          <a:xfrm>
            <a:off x="3267456" y="3072384"/>
            <a:ext cx="64008" cy="1280160"/>
          </a:xfrm>
          <a:prstGeom prst="rect">
            <a:avLst/>
          </a:prstGeom>
          <a:solidFill>
            <a:srgbClr val="D97A14"/>
          </a:solidFill>
          <a:ln w="12700">
            <a:solidFill>
              <a:srgbClr val="D97A14"/>
            </a:solidFill>
            <a:prstDash val="solid"/>
          </a:ln>
        </p:spPr>
      </p:sp>
      <p:sp>
        <p:nvSpPr>
          <p:cNvPr id="20" name="Text 18"/>
          <p:cNvSpPr txBox="1"/>
          <p:nvPr/>
        </p:nvSpPr>
        <p:spPr>
          <a:xfrm>
            <a:off x="3432048"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Opt-in replace-by-fee</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 higher fee rate replaces a lower one.</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form that says I may be replaced by a better-paid one.</a:t>
            </a:r>
            <a:endParaRPr lang="en-US" sz="13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55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Four sequence values, three meanings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Final, replaceable, and a relative timelock</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rows = []</a:t>
            </a:r>
            <a:endParaRPr lang="en-US" sz="1100" dirty="0"/>
          </a:p>
          <a:p>
            <a:pPr indent="0" marL="0">
              <a:lnSpc>
                <a:spcPts val="1430"/>
              </a:lnSpc>
              <a:buNone/>
            </a:pP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s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(0xffffffff, 0xfffffffe, 0xfffffffd, </a:t>
            </a:r>
            <a:r>
              <a:rPr lang="en-US" sz="1100" dirty="0">
                <a:solidFill>
                  <a:srgbClr val="FFD28A"/>
                </a:solidFill>
                <a:latin typeface="Courier New" pitchFamily="34" charset="0"/>
                <a:ea typeface="Courier New" pitchFamily="34" charset="-122"/>
                <a:cs typeface="Courier New" pitchFamily="34" charset="-120"/>
              </a:rPr>
              <a:t>30</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d = sequence_decode(s)            </a:t>
            </a:r>
            <a:r>
              <a:rPr lang="en-US" sz="1100" i="1" dirty="0">
                <a:solidFill>
                  <a:srgbClr val="8FA98F"/>
                </a:solidFill>
                <a:latin typeface="Courier New" pitchFamily="34" charset="0"/>
                <a:ea typeface="Courier New" pitchFamily="34" charset="-122"/>
                <a:cs typeface="Courier New" pitchFamily="34" charset="-120"/>
              </a:rPr>
              <a:t># BIP68/125</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rows.append((d[</a:t>
            </a:r>
            <a:r>
              <a:rPr lang="en-US" sz="1100" dirty="0">
                <a:solidFill>
                  <a:srgbClr val="9ECBFF"/>
                </a:solidFill>
                <a:latin typeface="Courier New" pitchFamily="34" charset="0"/>
                <a:ea typeface="Courier New" pitchFamily="34" charset="-122"/>
                <a:cs typeface="Courier New" pitchFamily="34" charset="-120"/>
              </a:rPr>
              <a:t>'hex'</a:t>
            </a:r>
            <a:r>
              <a:rPr lang="en-US" sz="1100" dirty="0">
                <a:solidFill>
                  <a:srgbClr val="E6EDF3"/>
                </a:solidFill>
                <a:latin typeface="Courier New" pitchFamily="34" charset="0"/>
                <a:ea typeface="Courier New" pitchFamily="34" charset="-122"/>
                <a:cs typeface="Courier New" pitchFamily="34" charset="-120"/>
              </a:rPr>
              <a:t>], d[</a:t>
            </a:r>
            <a:r>
              <a:rPr lang="en-US" sz="1100" dirty="0">
                <a:solidFill>
                  <a:srgbClr val="9ECBFF"/>
                </a:solidFill>
                <a:latin typeface="Courier New" pitchFamily="34" charset="0"/>
                <a:ea typeface="Courier New" pitchFamily="34" charset="-122"/>
                <a:cs typeface="Courier New" pitchFamily="34" charset="-120"/>
              </a:rPr>
              <a:t>'rbf_signal'</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d[</a:t>
            </a:r>
            <a:r>
              <a:rPr lang="en-US" sz="1100" dirty="0">
                <a:solidFill>
                  <a:srgbClr val="9ECBFF"/>
                </a:solidFill>
                <a:latin typeface="Courier New" pitchFamily="34" charset="0"/>
                <a:ea typeface="Courier New" pitchFamily="34" charset="-122"/>
                <a:cs typeface="Courier New" pitchFamily="34" charset="-120"/>
              </a:rPr>
              <a:t>'relative_timelock'</a:t>
            </a: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
        <p:nvSpPr>
          <p:cNvPr id="8" name="Shape 6"/>
          <p:cNvSpPr/>
          <p:nvPr/>
        </p:nvSpPr>
        <p:spPr>
          <a:xfrm>
            <a:off x="548640" y="163944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63944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Four values: final, almost final, replaceable, thirty blocks.</a:t>
            </a:r>
            <a:endParaRPr lang="en-US" sz="1050" dirty="0"/>
          </a:p>
        </p:txBody>
      </p:sp>
      <p:sp>
        <p:nvSpPr>
          <p:cNvPr id="13" name="Shape 11"/>
          <p:cNvSpPr/>
          <p:nvPr/>
        </p:nvSpPr>
        <p:spPr>
          <a:xfrm>
            <a:off x="548640" y="182105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82105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decoder applies BIP68 and BIP125, which reused the field.</a:t>
            </a:r>
            <a:endParaRPr lang="en-US" sz="1050" dirty="0"/>
          </a:p>
        </p:txBody>
      </p:sp>
      <p:sp>
        <p:nvSpPr>
          <p:cNvPr id="18" name="Shape 16"/>
          <p:cNvSpPr/>
          <p:nvPr/>
        </p:nvSpPr>
        <p:spPr>
          <a:xfrm>
            <a:off x="548640" y="200266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00266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row shows the replace signal and the relative timelock.</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values decoded</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3273552"/>
          <a:ext cx="5120640" cy="914400"/>
        </p:xfrm>
        <a:graphic>
          <a:graphicData uri="http://schemas.openxmlformats.org/drawingml/2006/table">
            <a:tbl>
              <a:tblPr/>
              <a:tblGrid>
                <a:gridCol w="1554480"/>
                <a:gridCol w="1645920"/>
                <a:gridCol w="1920240"/>
              </a:tblGrid>
              <a:tr h="254203">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Sequence value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Replaceable (BIP125)</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Relative timelock (BIP68)</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54203">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0xffffffff</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4203">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0xfffffffe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4203">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0xfffffffd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4203">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0x0000001e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30 blocks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6" name="Text 23"/>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first two are final or almost final; the third signals replacement; only the last carries a timelock.</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 31 of the sequence field is the security bit of this chapter</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55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sequence field: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BIP125 signal</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Below 0xfffffffe means replaceable.</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tick box marked amendable on the form.</a:t>
            </a:r>
            <a:endParaRPr lang="en-US" sz="1300" dirty="0"/>
          </a:p>
        </p:txBody>
      </p:sp>
      <p:sp>
        <p:nvSpPr>
          <p:cNvPr id="9" name="Shape 7"/>
          <p:cNvSpPr/>
          <p:nvPr/>
        </p:nvSpPr>
        <p:spPr>
          <a:xfrm>
            <a:off x="3249168" y="1280160"/>
            <a:ext cx="2645664"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3267456"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3432048"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BIP68 relative timelock</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30 blocks: confirm 29 blocks after the output.</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coupon valid only some days after purchase.</a:t>
            </a:r>
            <a:endParaRPr lang="en-US" sz="1300" dirty="0"/>
          </a:p>
        </p:txBody>
      </p:sp>
      <p:sp>
        <p:nvSpPr>
          <p:cNvPr id="12" name="Shape 10"/>
          <p:cNvSpPr/>
          <p:nvPr/>
        </p:nvSpPr>
        <p:spPr>
          <a:xfrm>
            <a:off x="6041136" y="1280160"/>
            <a:ext cx="2645664"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6059424" y="1408176"/>
            <a:ext cx="64008" cy="1280160"/>
          </a:xfrm>
          <a:prstGeom prst="rect">
            <a:avLst/>
          </a:prstGeom>
          <a:solidFill>
            <a:srgbClr val="D97A14"/>
          </a:solidFill>
          <a:ln w="12700">
            <a:solidFill>
              <a:srgbClr val="D97A14"/>
            </a:solidFill>
            <a:prstDash val="solid"/>
          </a:ln>
        </p:spPr>
      </p:sp>
      <p:sp>
        <p:nvSpPr>
          <p:cNvPr id="14" name="Text 12"/>
          <p:cNvSpPr txBox="1"/>
          <p:nvPr/>
        </p:nvSpPr>
        <p:spPr>
          <a:xfrm>
            <a:off x="6224016"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type flag</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Bit 22 chooses blocks or 512-second units.</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switch choosing between counting turns and counting minutes.</a:t>
            </a:r>
            <a:endParaRPr lang="en-US" sz="1300" dirty="0"/>
          </a:p>
        </p:txBody>
      </p:sp>
      <p:sp>
        <p:nvSpPr>
          <p:cNvPr id="15" name="Shape 13"/>
          <p:cNvSpPr/>
          <p:nvPr/>
        </p:nvSpPr>
        <p:spPr>
          <a:xfrm>
            <a:off x="457200" y="2944368"/>
            <a:ext cx="2645664"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75488"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640080"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disable flag</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Bit 31 switches the timelock off.</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an off switch that makes the coupon valid at once.</a:t>
            </a:r>
            <a:endParaRPr lang="en-US" sz="1300" dirty="0"/>
          </a:p>
        </p:txBody>
      </p:sp>
      <p:sp>
        <p:nvSpPr>
          <p:cNvPr id="18" name="Shape 16"/>
          <p:cNvSpPr/>
          <p:nvPr/>
        </p:nvSpPr>
        <p:spPr>
          <a:xfrm>
            <a:off x="3249168" y="2944368"/>
            <a:ext cx="2645664" cy="1536192"/>
          </a:xfrm>
          <a:prstGeom prst="roundRect">
            <a:avLst>
              <a:gd name="adj" fmla="val 4762"/>
            </a:avLst>
          </a:prstGeom>
          <a:solidFill>
            <a:srgbClr val="F2ECE1"/>
          </a:solidFill>
          <a:ln w="12700">
            <a:solidFill>
              <a:srgbClr val="DFD6C7"/>
            </a:solidFill>
            <a:prstDash val="solid"/>
          </a:ln>
        </p:spPr>
      </p:sp>
      <p:sp>
        <p:nvSpPr>
          <p:cNvPr id="19" name="Shape 17"/>
          <p:cNvSpPr/>
          <p:nvPr/>
        </p:nvSpPr>
        <p:spPr>
          <a:xfrm>
            <a:off x="3267456" y="3072384"/>
            <a:ext cx="64008" cy="1280160"/>
          </a:xfrm>
          <a:prstGeom prst="rect">
            <a:avLst/>
          </a:prstGeom>
          <a:solidFill>
            <a:srgbClr val="D97A14"/>
          </a:solidFill>
          <a:ln w="12700">
            <a:solidFill>
              <a:srgbClr val="D97A14"/>
            </a:solidFill>
            <a:prstDash val="solid"/>
          </a:ln>
        </p:spPr>
      </p:sp>
      <p:sp>
        <p:nvSpPr>
          <p:cNvPr id="20" name="Text 18"/>
          <p:cNvSpPr txBox="1"/>
          <p:nvPr/>
        </p:nvSpPr>
        <p:spPr>
          <a:xfrm>
            <a:off x="3432048"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16-bit mask</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65,535 blocks or units, about a year.</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counter with room for only 65,535 ticks.</a:t>
            </a:r>
            <a:endParaRPr lang="en-US" sz="13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55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BIP68: an hour as a sequence number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32 bits of the field are divided</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s = sequence_for(seconds=</a:t>
            </a:r>
            <a:r>
              <a:rPr lang="en-US" sz="1100" dirty="0">
                <a:solidFill>
                  <a:srgbClr val="FFD28A"/>
                </a:solidFill>
                <a:latin typeface="Courier New" pitchFamily="34" charset="0"/>
                <a:ea typeface="Courier New" pitchFamily="34" charset="-122"/>
                <a:cs typeface="Courier New" pitchFamily="34" charset="-120"/>
              </a:rPr>
              <a:t>3600</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one hour</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rt = sequence_decode(s)[</a:t>
            </a:r>
            <a:r>
              <a:rPr lang="en-US" sz="1100" dirty="0">
                <a:solidFill>
                  <a:srgbClr val="9ECBFF"/>
                </a:solidFill>
                <a:latin typeface="Courier New" pitchFamily="34" charset="0"/>
                <a:ea typeface="Courier New" pitchFamily="34" charset="-122"/>
                <a:cs typeface="Courier New" pitchFamily="34" charset="-120"/>
              </a:rPr>
              <a:t>'relative_timelock'</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first = earliest_block(</a:t>
            </a:r>
            <a:r>
              <a:rPr lang="en-US" sz="1100" dirty="0">
                <a:solidFill>
                  <a:srgbClr val="FFD28A"/>
                </a:solidFill>
                <a:latin typeface="Courier New" pitchFamily="34" charset="0"/>
                <a:ea typeface="Courier New" pitchFamily="34" charset="-122"/>
                <a:cs typeface="Courier New" pitchFamily="34" charset="-120"/>
              </a:rPr>
              <a:t>774958</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FD28A"/>
                </a:solidFill>
                <a:latin typeface="Courier New" pitchFamily="34" charset="0"/>
                <a:ea typeface="Courier New" pitchFamily="34" charset="-122"/>
                <a:cs typeface="Courier New" pitchFamily="34" charset="-120"/>
              </a:rPr>
              <a:t>30</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flags = [hex(SEQUENCE_LOCKTIME_DISABLE_FLAG),</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hex(SEQUENCE_LOCKTIME_TYPE_FLAG),</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hex(SEQUENCE_LOCKTIME_MASK)]</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hour is counted in units of 512 seconds.</a:t>
            </a:r>
            <a:endParaRPr lang="en-US" sz="1050" dirty="0"/>
          </a:p>
        </p:txBody>
      </p:sp>
      <p:sp>
        <p:nvSpPr>
          <p:cNvPr id="13" name="Shape 11"/>
          <p:cNvSpPr/>
          <p:nvPr/>
        </p:nvSpPr>
        <p:spPr>
          <a:xfrm>
            <a:off x="548640" y="182105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82105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Thirty blocks after block 774,958 is the earliest spend.</a:t>
            </a:r>
            <a:endParaRPr lang="en-US" sz="1050" dirty="0"/>
          </a:p>
        </p:txBody>
      </p:sp>
      <p:sp>
        <p:nvSpPr>
          <p:cNvPr id="18" name="Shape 16"/>
          <p:cNvSpPr/>
          <p:nvPr/>
        </p:nvSpPr>
        <p:spPr>
          <a:xfrm>
            <a:off x="548640" y="200266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00266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masks split the 32 bits into flags and a 16-bit value.</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sequence numbers and BIP68 masks</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3273552"/>
          <a:ext cx="5120640" cy="914400"/>
        </p:xfrm>
        <a:graphic>
          <a:graphicData uri="http://schemas.openxmlformats.org/drawingml/2006/table">
            <a:tbl>
              <a:tblPr/>
              <a:tblGrid>
                <a:gridCol w="2377440"/>
                <a:gridCol w="274320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Quantity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One hour as a sequence value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0x400008 = 4,096 seconds in 512 s units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Earliest block: coin at 774,958, 30 blocks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774,988</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Disable, type and value masks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0x80000000, 0x400000, 0xffff</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6" name="Text 23"/>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An hour rounds up to eight units of 512 seconds, which is 4,096 seconds.</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Disable flag, type flag and a 16-bit value share one field</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55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Outputs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Outputs are the lines of a till receipt: an amount and who may collect it.</a:t>
            </a:r>
            <a:endParaRPr lang="en-US" sz="1500" dirty="0"/>
          </a:p>
        </p:txBody>
      </p:sp>
      <p:sp>
        <p:nvSpPr>
          <p:cNvPr id="6" name="Shape 4"/>
          <p:cNvSpPr/>
          <p:nvPr/>
        </p:nvSpPr>
        <p:spPr>
          <a:xfrm>
            <a:off x="777240" y="2148840"/>
            <a:ext cx="2523744" cy="1783080"/>
          </a:xfrm>
          <a:prstGeom prst="roundRect">
            <a:avLst>
              <a:gd name="adj" fmla="val 4103"/>
            </a:avLst>
          </a:prstGeom>
          <a:solidFill>
            <a:srgbClr val="2F6D62"/>
          </a:solidFill>
          <a:ln w="12700">
            <a:solidFill>
              <a:srgbClr val="2F6D62"/>
            </a:solidFill>
            <a:prstDash val="solid"/>
          </a:ln>
        </p:spPr>
      </p:sp>
      <p:sp>
        <p:nvSpPr>
          <p:cNvPr id="7" name="Text 5"/>
          <p:cNvSpPr txBox="1"/>
          <p:nvPr/>
        </p:nvSpPr>
        <p:spPr>
          <a:xfrm>
            <a:off x="850392" y="2194560"/>
            <a:ext cx="2377440" cy="1691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output list</a:t>
            </a:r>
            <a:endParaRPr lang="en-US" sz="1400" dirty="0"/>
          </a:p>
          <a:p>
            <a:pPr algn="ctr" indent="0" marL="0">
              <a:buNone/>
            </a:pPr>
            <a:r>
              <a:rPr lang="en-US" sz="1200" dirty="0">
                <a:solidFill>
                  <a:srgbClr val="D7E4E0"/>
                </a:solidFill>
                <a:latin typeface="Calibri" pitchFamily="34" charset="0"/>
                <a:ea typeface="Calibri" pitchFamily="34" charset="-122"/>
                <a:cs typeface="Calibri" pitchFamily="34" charset="-120"/>
              </a:rPr>
              <a:t>The list of new coins the transaction creates. Like the change a till hands back.</a:t>
            </a:r>
            <a:endParaRPr lang="en-US" sz="1400" dirty="0"/>
          </a:p>
        </p:txBody>
      </p:sp>
      <p:sp>
        <p:nvSpPr>
          <p:cNvPr id="8" name="Shape 6"/>
          <p:cNvSpPr/>
          <p:nvPr/>
        </p:nvSpPr>
        <p:spPr>
          <a:xfrm>
            <a:off x="3447288" y="2148840"/>
            <a:ext cx="2523744" cy="1783080"/>
          </a:xfrm>
          <a:prstGeom prst="roundRect">
            <a:avLst>
              <a:gd name="adj" fmla="val 4103"/>
            </a:avLst>
          </a:prstGeom>
          <a:solidFill>
            <a:srgbClr val="2F6D62"/>
          </a:solidFill>
          <a:ln w="12700">
            <a:solidFill>
              <a:srgbClr val="2F6D62"/>
            </a:solidFill>
            <a:prstDash val="solid"/>
          </a:ln>
        </p:spPr>
      </p:sp>
      <p:sp>
        <p:nvSpPr>
          <p:cNvPr id="9" name="Text 7"/>
          <p:cNvSpPr txBox="1"/>
          <p:nvPr/>
        </p:nvSpPr>
        <p:spPr>
          <a:xfrm>
            <a:off x="3520440" y="2194560"/>
            <a:ext cx="2377440" cy="1691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Uneconomical outputs and dust</a:t>
            </a:r>
            <a:endParaRPr lang="en-US" sz="1400" dirty="0"/>
          </a:p>
          <a:p>
            <a:pPr algn="ctr" indent="0" marL="0">
              <a:buNone/>
            </a:pPr>
            <a:r>
              <a:rPr lang="en-US" sz="1200" dirty="0">
                <a:solidFill>
                  <a:srgbClr val="D7E4E0"/>
                </a:solidFill>
                <a:latin typeface="Calibri" pitchFamily="34" charset="0"/>
                <a:ea typeface="Calibri" pitchFamily="34" charset="-122"/>
                <a:cs typeface="Calibri" pitchFamily="34" charset="-120"/>
              </a:rPr>
              <a:t>Rules that keep tiny coins from clogging everyone's database. Like a bank that refuses to count single cents.</a:t>
            </a:r>
            <a:endParaRPr lang="en-US" sz="1400" dirty="0"/>
          </a:p>
        </p:txBody>
      </p:sp>
      <p:sp>
        <p:nvSpPr>
          <p:cNvPr id="10" name="Shape 8"/>
          <p:cNvSpPr/>
          <p:nvPr/>
        </p:nvSpPr>
        <p:spPr>
          <a:xfrm>
            <a:off x="6117336" y="2148840"/>
            <a:ext cx="2523744" cy="1783080"/>
          </a:xfrm>
          <a:prstGeom prst="roundRect">
            <a:avLst>
              <a:gd name="adj" fmla="val 4103"/>
            </a:avLst>
          </a:prstGeom>
          <a:solidFill>
            <a:srgbClr val="2F6D62"/>
          </a:solidFill>
          <a:ln w="12700">
            <a:solidFill>
              <a:srgbClr val="2F6D62"/>
            </a:solidFill>
            <a:prstDash val="solid"/>
          </a:ln>
        </p:spPr>
      </p:sp>
      <p:sp>
        <p:nvSpPr>
          <p:cNvPr id="11" name="Text 9"/>
          <p:cNvSpPr txBox="1"/>
          <p:nvPr/>
        </p:nvSpPr>
        <p:spPr>
          <a:xfrm>
            <a:off x="6190488" y="2194560"/>
            <a:ext cx="2377440" cy="1691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output script</a:t>
            </a:r>
            <a:endParaRPr lang="en-US" sz="1400" dirty="0"/>
          </a:p>
          <a:p>
            <a:pPr algn="ctr" indent="0" marL="0">
              <a:buNone/>
            </a:pPr>
            <a:r>
              <a:rPr lang="en-US" sz="1200" dirty="0">
                <a:solidFill>
                  <a:srgbClr val="D7E4E0"/>
                </a:solidFill>
                <a:latin typeface="Calibri" pitchFamily="34" charset="0"/>
                <a:ea typeface="Calibri" pitchFamily="34" charset="-122"/>
                <a:cs typeface="Calibri" pitchFamily="34" charset="-120"/>
              </a:rPr>
              <a:t>The lock that decides who may spend the new coin. Like the lock fitted to a new deposit box.</a:t>
            </a:r>
            <a:endParaRPr lang="en-US" sz="1400" dirty="0"/>
          </a:p>
        </p:txBody>
      </p:sp>
      <p:sp>
        <p:nvSpPr>
          <p:cNvPr id="12" name="Shape 10"/>
          <p:cNvSpPr/>
          <p:nvPr/>
        </p:nvSpPr>
        <p:spPr>
          <a:xfrm>
            <a:off x="777240" y="4114800"/>
            <a:ext cx="914400" cy="365760"/>
          </a:xfrm>
          <a:prstGeom prst="rect">
            <a:avLst/>
          </a:prstGeom>
          <a:solidFill>
            <a:srgbClr val="F2ECE1"/>
          </a:solidFill>
          <a:ln w="19050">
            <a:solidFill>
              <a:srgbClr val="FFFFFF"/>
            </a:solidFill>
            <a:prstDash val="solid"/>
          </a:ln>
        </p:spPr>
      </p:sp>
      <p:sp>
        <p:nvSpPr>
          <p:cNvPr id="13" name="Text 11"/>
          <p:cNvSpPr txBox="1"/>
          <p:nvPr/>
        </p:nvSpPr>
        <p:spPr>
          <a:xfrm>
            <a:off x="777240" y="4114800"/>
            <a:ext cx="91440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p>
        </p:txBody>
      </p:sp>
      <p:sp>
        <p:nvSpPr>
          <p:cNvPr id="14" name="Shape 12"/>
          <p:cNvSpPr/>
          <p:nvPr/>
        </p:nvSpPr>
        <p:spPr>
          <a:xfrm>
            <a:off x="1691640" y="4114800"/>
            <a:ext cx="822960" cy="365760"/>
          </a:xfrm>
          <a:prstGeom prst="rect">
            <a:avLst/>
          </a:prstGeom>
          <a:solidFill>
            <a:srgbClr val="F2ECE1"/>
          </a:solidFill>
          <a:ln w="19050">
            <a:solidFill>
              <a:srgbClr val="FFFFFF"/>
            </a:solidFill>
            <a:prstDash val="solid"/>
          </a:ln>
        </p:spPr>
      </p:sp>
      <p:sp>
        <p:nvSpPr>
          <p:cNvPr id="15" name="Text 13"/>
          <p:cNvSpPr txBox="1"/>
          <p:nvPr/>
        </p:nvSpPr>
        <p:spPr>
          <a:xfrm>
            <a:off x="1691640" y="4114800"/>
            <a:ext cx="8229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p>
        </p:txBody>
      </p:sp>
      <p:sp>
        <p:nvSpPr>
          <p:cNvPr id="16" name="Shape 14"/>
          <p:cNvSpPr/>
          <p:nvPr/>
        </p:nvSpPr>
        <p:spPr>
          <a:xfrm>
            <a:off x="2514600" y="4114800"/>
            <a:ext cx="1737360" cy="365760"/>
          </a:xfrm>
          <a:prstGeom prst="rect">
            <a:avLst/>
          </a:prstGeom>
          <a:solidFill>
            <a:srgbClr val="F2ECE1"/>
          </a:solidFill>
          <a:ln w="19050">
            <a:solidFill>
              <a:srgbClr val="FFFFFF"/>
            </a:solidFill>
            <a:prstDash val="solid"/>
          </a:ln>
        </p:spPr>
      </p:sp>
      <p:sp>
        <p:nvSpPr>
          <p:cNvPr id="17" name="Text 15"/>
          <p:cNvSpPr txBox="1"/>
          <p:nvPr/>
        </p:nvSpPr>
        <p:spPr>
          <a:xfrm>
            <a:off x="251460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p>
        </p:txBody>
      </p:sp>
      <p:sp>
        <p:nvSpPr>
          <p:cNvPr id="18" name="Shape 16"/>
          <p:cNvSpPr/>
          <p:nvPr/>
        </p:nvSpPr>
        <p:spPr>
          <a:xfrm>
            <a:off x="4251960" y="4114800"/>
            <a:ext cx="1737360" cy="365760"/>
          </a:xfrm>
          <a:prstGeom prst="rect">
            <a:avLst/>
          </a:prstGeom>
          <a:solidFill>
            <a:srgbClr val="D97A14"/>
          </a:solidFill>
          <a:ln w="19050">
            <a:solidFill>
              <a:srgbClr val="FFFFFF"/>
            </a:solidFill>
            <a:prstDash val="solid"/>
          </a:ln>
        </p:spPr>
      </p:sp>
      <p:sp>
        <p:nvSpPr>
          <p:cNvPr id="19" name="Text 17"/>
          <p:cNvSpPr txBox="1"/>
          <p:nvPr/>
        </p:nvSpPr>
        <p:spPr>
          <a:xfrm>
            <a:off x="4251960" y="4114800"/>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Outputs</a:t>
            </a:r>
            <a:endParaRPr lang="en-US" sz="1000" dirty="0"/>
          </a:p>
        </p:txBody>
      </p:sp>
      <p:sp>
        <p:nvSpPr>
          <p:cNvPr id="20" name="Shape 18"/>
          <p:cNvSpPr/>
          <p:nvPr/>
        </p:nvSpPr>
        <p:spPr>
          <a:xfrm>
            <a:off x="5989320" y="4114800"/>
            <a:ext cx="1737360" cy="365760"/>
          </a:xfrm>
          <a:prstGeom prst="rect">
            <a:avLst/>
          </a:prstGeom>
          <a:solidFill>
            <a:srgbClr val="F2ECE1"/>
          </a:solidFill>
          <a:ln w="19050">
            <a:solidFill>
              <a:srgbClr val="FFFFFF"/>
            </a:solidFill>
            <a:prstDash val="solid"/>
          </a:ln>
        </p:spPr>
      </p:sp>
      <p:sp>
        <p:nvSpPr>
          <p:cNvPr id="21" name="Text 19"/>
          <p:cNvSpPr txBox="1"/>
          <p:nvPr/>
        </p:nvSpPr>
        <p:spPr>
          <a:xfrm>
            <a:off x="598932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p>
        </p:txBody>
      </p:sp>
      <p:sp>
        <p:nvSpPr>
          <p:cNvPr id="22" name="Shape 20"/>
          <p:cNvSpPr/>
          <p:nvPr/>
        </p:nvSpPr>
        <p:spPr>
          <a:xfrm>
            <a:off x="7726680" y="4114800"/>
            <a:ext cx="914400" cy="365760"/>
          </a:xfrm>
          <a:prstGeom prst="rect">
            <a:avLst/>
          </a:prstGeom>
          <a:solidFill>
            <a:srgbClr val="F2ECE1"/>
          </a:solidFill>
          <a:ln w="19050">
            <a:solidFill>
              <a:srgbClr val="FFFFFF"/>
            </a:solidFill>
            <a:prstDash val="solid"/>
          </a:ln>
        </p:spPr>
      </p:sp>
      <p:sp>
        <p:nvSpPr>
          <p:cNvPr id="23" name="Text 21"/>
          <p:cNvSpPr txBox="1"/>
          <p:nvPr/>
        </p:nvSpPr>
        <p:spPr>
          <a:xfrm>
            <a:off x="7726680" y="4114800"/>
            <a:ext cx="91440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55</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Outputs: concepts (1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Output count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Two outputs: a payment and change.</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how many envelopes of money leave the till.</a:t>
            </a:r>
            <a:endParaRPr lang="en-US" sz="1300" dirty="0"/>
          </a:p>
        </p:txBody>
      </p:sp>
      <p:sp>
        <p:nvSpPr>
          <p:cNvPr id="9" name="Shape 7"/>
          <p:cNvSpPr/>
          <p:nvPr/>
        </p:nvSpPr>
        <p:spPr>
          <a:xfrm>
            <a:off x="3249168" y="1280160"/>
            <a:ext cx="2645664"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3267456"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3432048"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Amount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8 bytes, little-endian, in satoshis.</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the sum on a cheque, written in the smallest coins.</a:t>
            </a:r>
            <a:endParaRPr lang="en-US" sz="1300" dirty="0"/>
          </a:p>
        </p:txBody>
      </p:sp>
      <p:sp>
        <p:nvSpPr>
          <p:cNvPr id="12" name="Shape 10"/>
          <p:cNvSpPr/>
          <p:nvPr/>
        </p:nvSpPr>
        <p:spPr>
          <a:xfrm>
            <a:off x="6041136" y="1280160"/>
            <a:ext cx="2645664"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6059424" y="1408176"/>
            <a:ext cx="64008" cy="1280160"/>
          </a:xfrm>
          <a:prstGeom prst="rect">
            <a:avLst/>
          </a:prstGeom>
          <a:solidFill>
            <a:srgbClr val="D97A14"/>
          </a:solidFill>
          <a:ln w="12700">
            <a:solidFill>
              <a:srgbClr val="D97A14"/>
            </a:solidFill>
            <a:prstDash val="solid"/>
          </a:ln>
        </p:spPr>
      </p:sp>
      <p:sp>
        <p:nvSpPr>
          <p:cNvPr id="14" name="Text 12"/>
          <p:cNvSpPr txBox="1"/>
          <p:nvPr/>
        </p:nvSpPr>
        <p:spPr>
          <a:xfrm>
            <a:off x="6224016"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Satoshi</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100 million to a bitcoin.</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cent that is a hundred-millionth of the whole note.</a:t>
            </a:r>
            <a:endParaRPr lang="en-US" sz="1300" dirty="0"/>
          </a:p>
        </p:txBody>
      </p:sp>
      <p:sp>
        <p:nvSpPr>
          <p:cNvPr id="15" name="Shape 13"/>
          <p:cNvSpPr/>
          <p:nvPr/>
        </p:nvSpPr>
        <p:spPr>
          <a:xfrm>
            <a:off x="457200" y="2944368"/>
            <a:ext cx="2645664"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75488"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640080"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consensus range of an amount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From 0 to 2.1 quadrillion.</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cheque form that cannot print negative or absurd sums.</a:t>
            </a:r>
            <a:endParaRPr lang="en-US" sz="1300" dirty="0"/>
          </a:p>
        </p:txBody>
      </p:sp>
      <p:sp>
        <p:nvSpPr>
          <p:cNvPr id="18" name="Shape 16"/>
          <p:cNvSpPr/>
          <p:nvPr/>
        </p:nvSpPr>
        <p:spPr>
          <a:xfrm>
            <a:off x="3249168" y="2944368"/>
            <a:ext cx="2645664" cy="1536192"/>
          </a:xfrm>
          <a:prstGeom prst="roundRect">
            <a:avLst>
              <a:gd name="adj" fmla="val 4762"/>
            </a:avLst>
          </a:prstGeom>
          <a:solidFill>
            <a:srgbClr val="F2ECE1"/>
          </a:solidFill>
          <a:ln w="12700">
            <a:solidFill>
              <a:srgbClr val="DFD6C7"/>
            </a:solidFill>
            <a:prstDash val="solid"/>
          </a:ln>
        </p:spPr>
      </p:sp>
      <p:sp>
        <p:nvSpPr>
          <p:cNvPr id="19" name="Shape 17"/>
          <p:cNvSpPr/>
          <p:nvPr/>
        </p:nvSpPr>
        <p:spPr>
          <a:xfrm>
            <a:off x="3267456" y="3072384"/>
            <a:ext cx="64008" cy="1280160"/>
          </a:xfrm>
          <a:prstGeom prst="rect">
            <a:avLst/>
          </a:prstGeom>
          <a:solidFill>
            <a:srgbClr val="D97A14"/>
          </a:solidFill>
          <a:ln w="12700">
            <a:solidFill>
              <a:srgbClr val="D97A14"/>
            </a:solidFill>
            <a:prstDash val="solid"/>
          </a:ln>
        </p:spPr>
      </p:sp>
      <p:sp>
        <p:nvSpPr>
          <p:cNvPr id="20" name="Text 18"/>
          <p:cNvSpPr txBox="1"/>
          <p:nvPr/>
        </p:nvSpPr>
        <p:spPr>
          <a:xfrm>
            <a:off x="3432048"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Uneconomical output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Worth less than the fee to spend it.</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coin so small the postage costs more than the coin.</a:t>
            </a:r>
            <a:endParaRPr lang="en-US" sz="1300" dirty="0"/>
          </a:p>
        </p:txBody>
      </p:sp>
      <p:sp>
        <p:nvSpPr>
          <p:cNvPr id="21" name="Shape 19"/>
          <p:cNvSpPr/>
          <p:nvPr/>
        </p:nvSpPr>
        <p:spPr>
          <a:xfrm>
            <a:off x="6041136" y="2944368"/>
            <a:ext cx="2645664" cy="1536192"/>
          </a:xfrm>
          <a:prstGeom prst="roundRect">
            <a:avLst>
              <a:gd name="adj" fmla="val 4762"/>
            </a:avLst>
          </a:prstGeom>
          <a:solidFill>
            <a:srgbClr val="F2ECE1"/>
          </a:solidFill>
          <a:ln w="12700">
            <a:solidFill>
              <a:srgbClr val="DFD6C7"/>
            </a:solidFill>
            <a:prstDash val="solid"/>
          </a:ln>
        </p:spPr>
      </p:sp>
      <p:sp>
        <p:nvSpPr>
          <p:cNvPr id="22" name="Shape 20"/>
          <p:cNvSpPr/>
          <p:nvPr/>
        </p:nvSpPr>
        <p:spPr>
          <a:xfrm>
            <a:off x="6059424" y="3072384"/>
            <a:ext cx="64008" cy="1280160"/>
          </a:xfrm>
          <a:prstGeom prst="rect">
            <a:avLst/>
          </a:prstGeom>
          <a:solidFill>
            <a:srgbClr val="D97A14"/>
          </a:solidFill>
          <a:ln w="12700">
            <a:solidFill>
              <a:srgbClr val="D97A14"/>
            </a:solidFill>
            <a:prstDash val="solid"/>
          </a:ln>
        </p:spPr>
      </p:sp>
      <p:sp>
        <p:nvSpPr>
          <p:cNvPr id="23" name="Text 21"/>
          <p:cNvSpPr txBox="1"/>
          <p:nvPr/>
        </p:nvSpPr>
        <p:spPr>
          <a:xfrm>
            <a:off x="6224016"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Dust limit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546 satoshis, from 182 bytes at 3,000 sat/kvB.</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the smallest coin the post office agrees to carry.</a:t>
            </a:r>
            <a:endParaRPr lang="en-US" sz="13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55</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Amounts, change and the fee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output is an amount and a condition</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paid = [o[</a:t>
            </a:r>
            <a:r>
              <a:rPr lang="en-US" sz="1100" dirty="0">
                <a:solidFill>
                  <a:srgbClr val="9ECBFF"/>
                </a:solidFill>
                <a:latin typeface="Courier New" pitchFamily="34" charset="0"/>
                <a:ea typeface="Courier New" pitchFamily="34" charset="-122"/>
                <a:cs typeface="Courier New" pitchFamily="34" charset="-120"/>
              </a:rPr>
              <a:t>'value'</a:t>
            </a:r>
            <a:r>
              <a:rPr lang="en-US" sz="1100" dirty="0">
                <a:solidFill>
                  <a:srgbClr val="E6EDF3"/>
                </a:solidFill>
                <a:latin typeface="Courier New" pitchFamily="34" charset="0"/>
                <a:ea typeface="Courier New" pitchFamily="34" charset="-122"/>
                <a:cs typeface="Courier New" pitchFamily="34" charset="-120"/>
              </a:rPr>
              <a:t>] </a:t>
            </a: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o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tx[</a:t>
            </a:r>
            <a:r>
              <a:rPr lang="en-US" sz="1100" dirty="0">
                <a:solidFill>
                  <a:srgbClr val="9ECBFF"/>
                </a:solidFill>
                <a:latin typeface="Courier New" pitchFamily="34" charset="0"/>
                <a:ea typeface="Courier New" pitchFamily="34" charset="-122"/>
                <a:cs typeface="Courier New" pitchFamily="34" charset="-120"/>
              </a:rPr>
              <a:t>'outputs'</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funds = PREV_REC[</a:t>
            </a:r>
            <a:r>
              <a:rPr lang="en-US" sz="1100" dirty="0">
                <a:solidFill>
                  <a:srgbClr val="9ECBFF"/>
                </a:solidFill>
                <a:latin typeface="Courier New" pitchFamily="34" charset="0"/>
                <a:ea typeface="Courier New" pitchFamily="34" charset="-122"/>
                <a:cs typeface="Courier New" pitchFamily="34" charset="-120"/>
              </a:rPr>
              <a:t>'vout'</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1</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9ECBFF"/>
                </a:solidFill>
                <a:latin typeface="Courier New" pitchFamily="34" charset="0"/>
                <a:ea typeface="Courier New" pitchFamily="34" charset="-122"/>
                <a:cs typeface="Courier New" pitchFamily="34" charset="-120"/>
              </a:rPr>
              <a:t>'value'</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spent coin</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fee = funds - sum(paid)               </a:t>
            </a:r>
            <a:r>
              <a:rPr lang="en-US" sz="1100" i="1" dirty="0">
                <a:solidFill>
                  <a:srgbClr val="8FA98F"/>
                </a:solidFill>
                <a:latin typeface="Courier New" pitchFamily="34" charset="0"/>
                <a:ea typeface="Courier New" pitchFamily="34" charset="-122"/>
                <a:cs typeface="Courier New" pitchFamily="34" charset="-120"/>
              </a:rPr>
              <a:t># the rest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parts = paid + [fee]</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output states an amount in satoshis.</a:t>
            </a:r>
            <a:endParaRPr lang="en-US" sz="1050" dirty="0"/>
          </a:p>
        </p:txBody>
      </p:sp>
      <p:sp>
        <p:nvSpPr>
          <p:cNvPr id="13" name="Shape 11"/>
          <p:cNvSpPr/>
          <p:nvPr/>
        </p:nvSpPr>
        <p:spPr>
          <a:xfrm>
            <a:off x="548640" y="163944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63944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input states none; it is read from the coin spent.</a:t>
            </a:r>
            <a:endParaRPr lang="en-US" sz="1050" dirty="0"/>
          </a:p>
        </p:txBody>
      </p:sp>
      <p:sp>
        <p:nvSpPr>
          <p:cNvPr id="18" name="Shape 16"/>
          <p:cNvSpPr/>
          <p:nvPr/>
        </p:nvSpPr>
        <p:spPr>
          <a:xfrm>
            <a:off x="548640" y="182105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182105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fee is only a difference; no field holds it.</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satoshis in each output, and the fee</a:t>
            </a:r>
            <a:endParaRPr lang="en-US" sz="1100" dirty="0"/>
          </a:p>
        </p:txBody>
      </p:sp>
      <p:graphicFrame>
        <p:nvGraphicFramePr>
          <p:cNvPr id="25" name="Chart 0" descr=""/>
          <p:cNvGraphicFramePr/>
          <p:nvPr/>
        </p:nvGraphicFramePr>
        <p:xfrm>
          <a:off x="457200" y="3273552"/>
          <a:ext cx="5120640" cy="1271016"/>
        </p:xfrm>
        <a:graphic xmlns:a="http://schemas.openxmlformats.org/drawingml/2006/main">
          <a:graphicData uri="http://schemas.openxmlformats.org/drawingml/2006/chart">
            <c:chart xmlns:c="http://schemas.openxmlformats.org/drawingml/2006/chart" r:id="rId1"/>
          </a:graphicData>
        </a:graphic>
      </p:graphicFrame>
      <p:sp>
        <p:nvSpPr>
          <p:cNvPr id="26" name="Text 23"/>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spent coin held 100,000 satoshis; the outputs take 95,000 and the remaining 5,000 is the fee.</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field holds a balance or a fee; both are differences</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55</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Outputs: concepts (2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Data-carrier output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OP_RETURN: unspendable, so not dust.</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note stuck on a parcel, carrying no money.</a:t>
            </a:r>
            <a:endParaRPr lang="en-US" sz="1300" dirty="0"/>
          </a:p>
        </p:txBody>
      </p:sp>
      <p:sp>
        <p:nvSpPr>
          <p:cNvPr id="9" name="Shape 7"/>
          <p:cNvSpPr/>
          <p:nvPr/>
        </p:nvSpPr>
        <p:spPr>
          <a:xfrm>
            <a:off x="3249168" y="1280160"/>
            <a:ext cx="2645664"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3267456"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3432048"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Output script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34 bytes to Bob, 22 bytes of change.</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lock fitted to the coin: whoever opens it may spend.</a:t>
            </a:r>
            <a:endParaRPr lang="en-US" sz="1300" dirty="0"/>
          </a:p>
        </p:txBody>
      </p:sp>
      <p:sp>
        <p:nvSpPr>
          <p:cNvPr id="12" name="Shape 10"/>
          <p:cNvSpPr/>
          <p:nvPr/>
        </p:nvSpPr>
        <p:spPr>
          <a:xfrm>
            <a:off x="6041136" y="1280160"/>
            <a:ext cx="2645664"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6059424" y="1408176"/>
            <a:ext cx="64008" cy="1280160"/>
          </a:xfrm>
          <a:prstGeom prst="rect">
            <a:avLst/>
          </a:prstGeom>
          <a:solidFill>
            <a:srgbClr val="D97A14"/>
          </a:solidFill>
          <a:ln w="12700">
            <a:solidFill>
              <a:srgbClr val="D97A14"/>
            </a:solidFill>
            <a:prstDash val="solid"/>
          </a:ln>
        </p:spPr>
      </p:sp>
      <p:sp>
        <p:nvSpPr>
          <p:cNvPr id="14" name="Text 12"/>
          <p:cNvSpPr txBox="1"/>
          <p:nvPr/>
        </p:nvSpPr>
        <p:spPr>
          <a:xfrm>
            <a:off x="6224016"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Script size limits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Zero at minimum, 10,000 bytes to spend.</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cap on how long the lock's instructions may be.</a:t>
            </a:r>
            <a:endParaRPr lang="en-US" sz="1300" dirty="0"/>
          </a:p>
        </p:txBody>
      </p:sp>
      <p:sp>
        <p:nvSpPr>
          <p:cNvPr id="15" name="Shape 13"/>
          <p:cNvSpPr/>
          <p:nvPr/>
        </p:nvSpPr>
        <p:spPr>
          <a:xfrm>
            <a:off x="457200" y="2944368"/>
            <a:ext cx="2645664"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75488"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640080"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Anyone-can-spend scripts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An empty script that OP_TRUE satisfies.</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safe left unlocked in the street.</a:t>
            </a:r>
            <a:endParaRPr lang="en-US" sz="1300" dirty="0"/>
          </a:p>
        </p:txBody>
      </p:sp>
      <p:sp>
        <p:nvSpPr>
          <p:cNvPr id="18" name="Shape 16"/>
          <p:cNvSpPr/>
          <p:nvPr/>
        </p:nvSpPr>
        <p:spPr>
          <a:xfrm>
            <a:off x="3249168" y="2944368"/>
            <a:ext cx="2645664" cy="1536192"/>
          </a:xfrm>
          <a:prstGeom prst="roundRect">
            <a:avLst>
              <a:gd name="adj" fmla="val 4762"/>
            </a:avLst>
          </a:prstGeom>
          <a:solidFill>
            <a:srgbClr val="F2ECE1"/>
          </a:solidFill>
          <a:ln w="12700">
            <a:solidFill>
              <a:srgbClr val="DFD6C7"/>
            </a:solidFill>
            <a:prstDash val="solid"/>
          </a:ln>
        </p:spPr>
      </p:sp>
      <p:sp>
        <p:nvSpPr>
          <p:cNvPr id="19" name="Shape 17"/>
          <p:cNvSpPr/>
          <p:nvPr/>
        </p:nvSpPr>
        <p:spPr>
          <a:xfrm>
            <a:off x="3267456" y="3072384"/>
            <a:ext cx="64008" cy="1280160"/>
          </a:xfrm>
          <a:prstGeom prst="rect">
            <a:avLst/>
          </a:prstGeom>
          <a:solidFill>
            <a:srgbClr val="D97A14"/>
          </a:solidFill>
          <a:ln w="12700">
            <a:solidFill>
              <a:srgbClr val="D97A14"/>
            </a:solidFill>
            <a:prstDash val="solid"/>
          </a:ln>
        </p:spPr>
      </p:sp>
      <p:sp>
        <p:nvSpPr>
          <p:cNvPr id="20" name="Text 18"/>
          <p:cNvSpPr txBox="1"/>
          <p:nvPr/>
        </p:nvSpPr>
        <p:spPr>
          <a:xfrm>
            <a:off x="3432048"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Standard transaction outputs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 few templates relay policy allows.</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the few lock models the post office accepts.</a:t>
            </a:r>
            <a:endParaRPr lang="en-US" sz="13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55</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2010 overflow,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two huge outputs added up to a negative number</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out = </a:t>
            </a:r>
            <a:r>
              <a:rPr lang="en-US" sz="1100" dirty="0">
                <a:solidFill>
                  <a:srgbClr val="FFD28A"/>
                </a:solidFill>
                <a:latin typeface="Courier New" pitchFamily="34" charset="0"/>
                <a:ea typeface="Courier New" pitchFamily="34" charset="-122"/>
                <a:cs typeface="Courier New" pitchFamily="34" charset="-120"/>
              </a:rPr>
              <a:t>9223372036854277039</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satoshis, each</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wrapped = (</a:t>
            </a:r>
            <a:r>
              <a:rPr lang="en-US" sz="1100" dirty="0">
                <a:solidFill>
                  <a:srgbClr val="FFD28A"/>
                </a:solidFill>
                <a:latin typeface="Courier New" pitchFamily="34" charset="0"/>
                <a:ea typeface="Courier New" pitchFamily="34" charset="-122"/>
                <a:cs typeface="Courier New" pitchFamily="34" charset="-120"/>
              </a:rPr>
              <a:t>2</a:t>
            </a:r>
            <a:r>
              <a:rPr lang="en-US" sz="1100" dirty="0">
                <a:solidFill>
                  <a:srgbClr val="E6EDF3"/>
                </a:solidFill>
                <a:latin typeface="Courier New" pitchFamily="34" charset="0"/>
                <a:ea typeface="Courier New" pitchFamily="34" charset="-122"/>
                <a:cs typeface="Courier New" pitchFamily="34" charset="-120"/>
              </a:rPr>
              <a:t> * out) &amp; 0xffffffffffffffff</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neg = wrapped &gt;= </a:t>
            </a:r>
            <a:r>
              <a:rPr lang="en-US" sz="1100" dirty="0">
                <a:solidFill>
                  <a:srgbClr val="FFD28A"/>
                </a:solidFill>
                <a:latin typeface="Courier New" pitchFamily="34" charset="0"/>
                <a:ea typeface="Courier New" pitchFamily="34" charset="-122"/>
                <a:cs typeface="Courier New" pitchFamily="34" charset="-120"/>
              </a:rPr>
              <a:t>2</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63</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sign bit set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total = wrapped - </a:t>
            </a:r>
            <a:r>
              <a:rPr lang="en-US" sz="1100" dirty="0">
                <a:solidFill>
                  <a:srgbClr val="FFD28A"/>
                </a:solidFill>
                <a:latin typeface="Courier New" pitchFamily="34" charset="0"/>
                <a:ea typeface="Courier New" pitchFamily="34" charset="-122"/>
                <a:cs typeface="Courier New" pitchFamily="34" charset="-120"/>
              </a:rPr>
              <a:t>2</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64</a:t>
            </a:r>
            <a:r>
              <a:rPr lang="en-US" sz="1100" dirty="0">
                <a:solidFill>
                  <a:srgbClr val="E6EDF3"/>
                </a:solidFill>
                <a:latin typeface="Courier New" pitchFamily="34" charset="0"/>
                <a:ea typeface="Courier New" pitchFamily="34" charset="-122"/>
                <a:cs typeface="Courier New" pitchFamily="34" charset="-120"/>
              </a:rPr>
              <a:t> </a:t>
            </a:r>
            <a:r>
              <a:rPr lang="en-US" sz="1100" b="1" dirty="0">
                <a:solidFill>
                  <a:srgbClr val="F2A860"/>
                </a:solidFill>
                <a:latin typeface="Courier New" pitchFamily="34" charset="0"/>
                <a:ea typeface="Courier New" pitchFamily="34" charset="-122"/>
                <a:cs typeface="Courier New" pitchFamily="34" charset="-120"/>
              </a:rPr>
              <a:t>if</a:t>
            </a:r>
            <a:r>
              <a:rPr lang="en-US" sz="1100" dirty="0">
                <a:solidFill>
                  <a:srgbClr val="E6EDF3"/>
                </a:solidFill>
                <a:latin typeface="Courier New" pitchFamily="34" charset="0"/>
                <a:ea typeface="Courier New" pitchFamily="34" charset="-122"/>
                <a:cs typeface="Courier New" pitchFamily="34" charset="-120"/>
              </a:rPr>
              <a:t> neg </a:t>
            </a:r>
            <a:r>
              <a:rPr lang="en-US" sz="1100" b="1" dirty="0">
                <a:solidFill>
                  <a:srgbClr val="F2A860"/>
                </a:solidFill>
                <a:latin typeface="Courier New" pitchFamily="34" charset="0"/>
                <a:ea typeface="Courier New" pitchFamily="34" charset="-122"/>
                <a:cs typeface="Courier New" pitchFamily="34" charset="-120"/>
              </a:rPr>
              <a:t>else</a:t>
            </a:r>
            <a:r>
              <a:rPr lang="en-US" sz="1100" dirty="0">
                <a:solidFill>
                  <a:srgbClr val="E6EDF3"/>
                </a:solidFill>
                <a:latin typeface="Courier New" pitchFamily="34" charset="0"/>
                <a:ea typeface="Courier New" pitchFamily="34" charset="-122"/>
                <a:cs typeface="Courier New" pitchFamily="34" charset="-120"/>
              </a:rPr>
              <a:t> wrapped</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naive_ok = total &lt;= MAX_MONEY         </a:t>
            </a:r>
            <a:r>
              <a:rPr lang="en-US" sz="1100" i="1" dirty="0">
                <a:solidFill>
                  <a:srgbClr val="8FA98F"/>
                </a:solidFill>
                <a:latin typeface="Courier New" pitchFamily="34" charset="0"/>
                <a:ea typeface="Courier New" pitchFamily="34" charset="-122"/>
                <a:cs typeface="Courier New" pitchFamily="34" charset="-120"/>
              </a:rPr>
              <a:t># old check</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fixed_ok = money_range(out)           </a:t>
            </a:r>
            <a:r>
              <a:rPr lang="en-US" sz="1100" i="1" dirty="0">
                <a:solidFill>
                  <a:srgbClr val="8FA98F"/>
                </a:solidFill>
                <a:latin typeface="Courier New" pitchFamily="34" charset="0"/>
                <a:ea typeface="Courier New" pitchFamily="34" charset="-122"/>
                <a:cs typeface="Courier New" pitchFamily="34" charset="-120"/>
              </a:rPr>
              <a:t># each one</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output was about 92 billion bitcoins, in satoshis.</a:t>
            </a:r>
            <a:endParaRPr lang="en-US" sz="1050" dirty="0"/>
          </a:p>
        </p:txBody>
      </p:sp>
      <p:sp>
        <p:nvSpPr>
          <p:cNvPr id="13" name="Shape 11"/>
          <p:cNvSpPr/>
          <p:nvPr/>
        </p:nvSpPr>
        <p:spPr>
          <a:xfrm>
            <a:off x="548640" y="163944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63944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Added as 64-bit integers, two amounts wrap to a negative.</a:t>
            </a:r>
            <a:endParaRPr lang="en-US" sz="1050" dirty="0"/>
          </a:p>
        </p:txBody>
      </p:sp>
      <p:sp>
        <p:nvSpPr>
          <p:cNvPr id="18" name="Shape 16"/>
          <p:cNvSpPr/>
          <p:nvPr/>
        </p:nvSpPr>
        <p:spPr>
          <a:xfrm>
            <a:off x="548640" y="218427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18427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check on the total passed; a check on each output refuses it.</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arithmetic of block 74,638</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3273552"/>
          <a:ext cx="5120640" cy="914400"/>
        </p:xfrm>
        <a:graphic>
          <a:graphicData uri="http://schemas.openxmlformats.org/drawingml/2006/table">
            <a:tbl>
              <a:tblPr/>
              <a:tblGrid>
                <a:gridCol w="2468880"/>
                <a:gridCol w="1005840"/>
                <a:gridCol w="164592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Check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Verdict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Two outputs added as 64-bit integers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-997,538</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wraps below zero</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Old test: total within 21 million?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True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block accepted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New test: each output in range?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False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block refused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6" name="Text 23"/>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negative total is smaller than the limit, so only the per-output check catches it.</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Check each amount and the total: one check on the total was not enough</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55</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that created 184 billion bitcoins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bug that created money out of thin air</a:t>
            </a:r>
            <a:endParaRPr lang="en-US" sz="1300" dirty="0"/>
          </a:p>
        </p:txBody>
      </p:sp>
      <p:pic>
        <p:nvPicPr>
          <p:cNvPr id="6" name="Image 0" descr="../../03-materials/ch06/assets/photo_satoshi_bust_budapest.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Satoshi bust, Budapest - Fekist, CC BY-SA 4.0</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Block 74,638 held a transaction with two outputs of 92 billion bitcoins each, 184 billion in all.</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Added as 64-bit integers the amounts wrapped to a small negative number, which passed the check.</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Jeff Garzik reported it within two hours; Satoshi patched it in about five; the chain recovered at block 74,691.</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Bitcoin Core still cites the bug, CVE-2010-5139, in tx_check.cpp.</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unknown attacker; Jef…</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74,638 - and the…</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2010-08-15</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55</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Dust limits by output type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smallest output a node will relay</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P2PKH  = </a:t>
            </a:r>
            <a:r>
              <a:rPr lang="en-US" sz="1100" dirty="0">
                <a:solidFill>
                  <a:srgbClr val="9ECBFF"/>
                </a:solidFill>
                <a:latin typeface="Courier New" pitchFamily="34" charset="0"/>
                <a:ea typeface="Courier New" pitchFamily="34" charset="-122"/>
                <a:cs typeface="Courier New" pitchFamily="34" charset="-120"/>
              </a:rPr>
              <a:t>'76a914'</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9ECBFF"/>
                </a:solidFill>
                <a:latin typeface="Courier New" pitchFamily="34" charset="0"/>
                <a:ea typeface="Courier New" pitchFamily="34" charset="-122"/>
                <a:cs typeface="Courier New" pitchFamily="34" charset="-120"/>
              </a:rPr>
              <a:t>'00'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20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9ECBFF"/>
                </a:solidFill>
                <a:latin typeface="Courier New" pitchFamily="34" charset="0"/>
                <a:ea typeface="Courier New" pitchFamily="34" charset="-122"/>
                <a:cs typeface="Courier New" pitchFamily="34" charset="-120"/>
              </a:rPr>
              <a:t>'88ac'</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legacy</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P2WPKH = </a:t>
            </a:r>
            <a:r>
              <a:rPr lang="en-US" sz="1100" dirty="0">
                <a:solidFill>
                  <a:srgbClr val="9ECBFF"/>
                </a:solidFill>
                <a:latin typeface="Courier New" pitchFamily="34" charset="0"/>
                <a:ea typeface="Courier New" pitchFamily="34" charset="-122"/>
                <a:cs typeface="Courier New" pitchFamily="34" charset="-120"/>
              </a:rPr>
              <a:t>'0014'</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9ECBFF"/>
                </a:solidFill>
                <a:latin typeface="Courier New" pitchFamily="34" charset="0"/>
                <a:ea typeface="Courier New" pitchFamily="34" charset="-122"/>
                <a:cs typeface="Courier New" pitchFamily="34" charset="-120"/>
              </a:rPr>
              <a:t>'00'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20</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segwit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P2TR   = </a:t>
            </a:r>
            <a:r>
              <a:rPr lang="en-US" sz="1100" dirty="0">
                <a:solidFill>
                  <a:srgbClr val="9ECBFF"/>
                </a:solidFill>
                <a:latin typeface="Courier New" pitchFamily="34" charset="0"/>
                <a:ea typeface="Courier New" pitchFamily="34" charset="-122"/>
                <a:cs typeface="Courier New" pitchFamily="34" charset="-120"/>
              </a:rPr>
              <a:t>'5120'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9ECBFF"/>
                </a:solidFill>
                <a:latin typeface="Courier New" pitchFamily="34" charset="0"/>
                <a:ea typeface="Courier New" pitchFamily="34" charset="-122"/>
                <a:cs typeface="Courier New" pitchFamily="34" charset="-120"/>
              </a:rPr>
              <a:t>'00'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32</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taproot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RET    = </a:t>
            </a:r>
            <a:r>
              <a:rPr lang="en-US" sz="1100" dirty="0">
                <a:solidFill>
                  <a:srgbClr val="9ECBFF"/>
                </a:solidFill>
                <a:latin typeface="Courier New" pitchFamily="34" charset="0"/>
                <a:ea typeface="Courier New" pitchFamily="34" charset="-122"/>
                <a:cs typeface="Courier New" pitchFamily="34" charset="-120"/>
              </a:rPr>
              <a:t>'6a04deadbeef'</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OP_RETURN</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limits = [dust_threshold(s)</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a:t>
            </a: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s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(P2PKH, P2WPKH, P2TR, RET)]</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Four scripts: three that can be spent and one data carrier.</a:t>
            </a:r>
            <a:endParaRPr lang="en-US" sz="1050" dirty="0"/>
          </a:p>
        </p:txBody>
      </p:sp>
      <p:sp>
        <p:nvSpPr>
          <p:cNvPr id="13" name="Shape 11"/>
          <p:cNvSpPr/>
          <p:nvPr/>
        </p:nvSpPr>
        <p:spPr>
          <a:xfrm>
            <a:off x="548640" y="218427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218427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limit is the cost to create plus spend, at the relay fee.</a:t>
            </a:r>
            <a:endParaRPr lang="en-US" sz="1050" dirty="0"/>
          </a:p>
        </p:txBody>
      </p:sp>
      <p:sp>
        <p:nvSpPr>
          <p:cNvPr id="18" name="Shape 16"/>
          <p:cNvSpPr/>
          <p:nvPr/>
        </p:nvSpPr>
        <p:spPr>
          <a:xfrm>
            <a:off x="548640" y="236588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36588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Segwit outputs cost less to spend; OP_RETURN is never dust.</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dust limit in satoshis, at 3,000 sat/kvB</a:t>
            </a:r>
            <a:endParaRPr lang="en-US" sz="1100" dirty="0"/>
          </a:p>
        </p:txBody>
      </p:sp>
      <p:graphicFrame>
        <p:nvGraphicFramePr>
          <p:cNvPr id="25" name="Chart 0" descr=""/>
          <p:cNvGraphicFramePr/>
          <p:nvPr/>
        </p:nvGraphicFramePr>
        <p:xfrm>
          <a:off x="457200" y="3273552"/>
          <a:ext cx="5120640" cy="1271016"/>
        </p:xfrm>
        <a:graphic xmlns:a="http://schemas.openxmlformats.org/drawingml/2006/main">
          <a:graphicData uri="http://schemas.openxmlformats.org/drawingml/2006/chart">
            <c:chart xmlns:c="http://schemas.openxmlformats.org/drawingml/2006/chart" r:id="rId1"/>
          </a:graphicData>
        </a:graphic>
      </p:graphicFrame>
      <p:sp>
        <p:nvSpPr>
          <p:cNvPr id="26" name="Text 23"/>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An output below its limit is not relayed. OP_RETURN outputs cannot be spent, so their limit is zero.</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Dust is a policy about who pays for the UTXO set: everyone, for ever</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55</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witness is the ID you show at the counter, kept off the receipt.</a:t>
            </a:r>
            <a:endParaRPr lang="en-US" sz="1500" dirty="0"/>
          </a:p>
        </p:txBody>
      </p:sp>
      <p:sp>
        <p:nvSpPr>
          <p:cNvPr id="6" name="Shape 4"/>
          <p:cNvSpPr/>
          <p:nvPr/>
        </p:nvSpPr>
        <p:spPr>
          <a:xfrm>
            <a:off x="777240" y="2148840"/>
            <a:ext cx="1856232" cy="1783080"/>
          </a:xfrm>
          <a:prstGeom prst="roundRect">
            <a:avLst>
              <a:gd name="adj" fmla="val 4103"/>
            </a:avLst>
          </a:prstGeom>
          <a:solidFill>
            <a:srgbClr val="2F6D62"/>
          </a:solidFill>
          <a:ln w="12700">
            <a:solidFill>
              <a:srgbClr val="2F6D62"/>
            </a:solidFill>
            <a:prstDash val="solid"/>
          </a:ln>
        </p:spPr>
      </p:sp>
      <p:sp>
        <p:nvSpPr>
          <p:cNvPr id="7" name="Text 5"/>
          <p:cNvSpPr txBox="1"/>
          <p:nvPr/>
        </p:nvSpPr>
        <p:spPr>
          <a:xfrm>
            <a:off x="850392" y="2194560"/>
            <a:ext cx="1709928" cy="1691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idea of a witness</a:t>
            </a:r>
            <a:endParaRPr lang="en-US" sz="1200" dirty="0"/>
          </a:p>
          <a:p>
            <a:pPr algn="ctr" indent="0" marL="0">
              <a:buNone/>
            </a:pPr>
            <a:r>
              <a:rPr lang="en-US" sz="1050" dirty="0">
                <a:solidFill>
                  <a:srgbClr val="D7E4E0"/>
                </a:solidFill>
                <a:latin typeface="Calibri" pitchFamily="34" charset="0"/>
                <a:ea typeface="Calibri" pitchFamily="34" charset="-122"/>
                <a:cs typeface="Calibri" pitchFamily="34" charset="-120"/>
              </a:rPr>
              <a:t>Evidence that the spender may spend, kept apart. Like the ID card you show at the counter.</a:t>
            </a:r>
            <a:endParaRPr lang="en-US" sz="1200" dirty="0"/>
          </a:p>
        </p:txBody>
      </p:sp>
      <p:sp>
        <p:nvSpPr>
          <p:cNvPr id="8" name="Shape 6"/>
          <p:cNvSpPr/>
          <p:nvPr/>
        </p:nvSpPr>
        <p:spPr>
          <a:xfrm>
            <a:off x="2779776" y="2148840"/>
            <a:ext cx="1856232" cy="1783080"/>
          </a:xfrm>
          <a:prstGeom prst="roundRect">
            <a:avLst>
              <a:gd name="adj" fmla="val 4103"/>
            </a:avLst>
          </a:prstGeom>
          <a:solidFill>
            <a:srgbClr val="2F6D62"/>
          </a:solidFill>
          <a:ln w="12700">
            <a:solidFill>
              <a:srgbClr val="2F6D62"/>
            </a:solidFill>
            <a:prstDash val="solid"/>
          </a:ln>
        </p:spPr>
      </p:sp>
      <p:sp>
        <p:nvSpPr>
          <p:cNvPr id="9" name="Text 7"/>
          <p:cNvSpPr txBox="1"/>
          <p:nvPr/>
        </p:nvSpPr>
        <p:spPr>
          <a:xfrm>
            <a:off x="2852928" y="2194560"/>
            <a:ext cx="1709928" cy="1691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malleability problems</a:t>
            </a:r>
            <a:endParaRPr lang="en-US" sz="1200" dirty="0"/>
          </a:p>
          <a:p>
            <a:pPr algn="ctr" indent="0" marL="0">
              <a:buNone/>
            </a:pPr>
            <a:r>
              <a:rPr lang="en-US" sz="1050" dirty="0">
                <a:solidFill>
                  <a:srgbClr val="D7E4E0"/>
                </a:solidFill>
                <a:latin typeface="Calibri" pitchFamily="34" charset="0"/>
                <a:ea typeface="Calibri" pitchFamily="34" charset="-122"/>
                <a:cs typeface="Calibri" pitchFamily="34" charset="-120"/>
              </a:rPr>
              <a:t>Changing a transaction's identifier without changing what it pays. Like re-spelling a name so the filing clerk loses the receipt.</a:t>
            </a:r>
            <a:endParaRPr lang="en-US" sz="1200" dirty="0"/>
          </a:p>
        </p:txBody>
      </p:sp>
      <p:sp>
        <p:nvSpPr>
          <p:cNvPr id="10" name="Shape 8"/>
          <p:cNvSpPr/>
          <p:nvPr/>
        </p:nvSpPr>
        <p:spPr>
          <a:xfrm>
            <a:off x="4782312" y="2148840"/>
            <a:ext cx="1856232" cy="1783080"/>
          </a:xfrm>
          <a:prstGeom prst="roundRect">
            <a:avLst>
              <a:gd name="adj" fmla="val 4103"/>
            </a:avLst>
          </a:prstGeom>
          <a:solidFill>
            <a:srgbClr val="2F6D62"/>
          </a:solidFill>
          <a:ln w="12700">
            <a:solidFill>
              <a:srgbClr val="2F6D62"/>
            </a:solidFill>
            <a:prstDash val="solid"/>
          </a:ln>
        </p:spPr>
      </p:sp>
      <p:sp>
        <p:nvSpPr>
          <p:cNvPr id="11" name="Text 9"/>
          <p:cNvSpPr txBox="1"/>
          <p:nvPr/>
        </p:nvSpPr>
        <p:spPr>
          <a:xfrm>
            <a:off x="4855464" y="2194560"/>
            <a:ext cx="1709928" cy="1691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Segregated witness</a:t>
            </a:r>
            <a:endParaRPr lang="en-US" sz="1200" dirty="0"/>
          </a:p>
          <a:p>
            <a:pPr algn="ctr" indent="0" marL="0">
              <a:buNone/>
            </a:pPr>
            <a:r>
              <a:rPr lang="en-US" sz="1050" dirty="0">
                <a:solidFill>
                  <a:srgbClr val="D7E4E0"/>
                </a:solidFill>
                <a:latin typeface="Calibri" pitchFamily="34" charset="0"/>
                <a:ea typeface="Calibri" pitchFamily="34" charset="-122"/>
                <a:cs typeface="Calibri" pitchFamily="34" charset="-120"/>
              </a:rPr>
              <a:t>The upgrade that moved the proof out of the identifier. Like keeping the passport photo off the ticket number.</a:t>
            </a:r>
            <a:endParaRPr lang="en-US" sz="1200" dirty="0"/>
          </a:p>
        </p:txBody>
      </p:sp>
      <p:sp>
        <p:nvSpPr>
          <p:cNvPr id="12" name="Shape 10"/>
          <p:cNvSpPr/>
          <p:nvPr/>
        </p:nvSpPr>
        <p:spPr>
          <a:xfrm>
            <a:off x="6784848" y="2148840"/>
            <a:ext cx="1856232" cy="1783080"/>
          </a:xfrm>
          <a:prstGeom prst="roundRect">
            <a:avLst>
              <a:gd name="adj" fmla="val 4103"/>
            </a:avLst>
          </a:prstGeom>
          <a:solidFill>
            <a:srgbClr val="2F6D62"/>
          </a:solidFill>
          <a:ln w="12700">
            <a:solidFill>
              <a:srgbClr val="2F6D62"/>
            </a:solidFill>
            <a:prstDash val="solid"/>
          </a:ln>
        </p:spPr>
      </p:sp>
      <p:sp>
        <p:nvSpPr>
          <p:cNvPr id="13" name="Text 11"/>
          <p:cNvSpPr txBox="1"/>
          <p:nvPr/>
        </p:nvSpPr>
        <p:spPr>
          <a:xfrm>
            <a:off x="6858000" y="2194560"/>
            <a:ext cx="1709928" cy="1691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Witness structure serialization</a:t>
            </a:r>
            <a:endParaRPr lang="en-US" sz="1200" dirty="0"/>
          </a:p>
          <a:p>
            <a:pPr algn="ctr" indent="0" marL="0">
              <a:buNone/>
            </a:pPr>
            <a:r>
              <a:rPr lang="en-US" sz="1050" dirty="0">
                <a:solidFill>
                  <a:srgbClr val="D7E4E0"/>
                </a:solidFill>
                <a:latin typeface="Calibri" pitchFamily="34" charset="0"/>
                <a:ea typeface="Calibri" pitchFamily="34" charset="-122"/>
                <a:cs typeface="Calibri" pitchFamily="34" charset="-120"/>
              </a:rPr>
              <a:t>How the separate proofs are written after the main fields. Like annex pages bound behind the main letter.</a:t>
            </a:r>
            <a:endParaRPr lang="en-US" sz="1200" dirty="0"/>
          </a:p>
        </p:txBody>
      </p:sp>
      <p:sp>
        <p:nvSpPr>
          <p:cNvPr id="14" name="Shape 12"/>
          <p:cNvSpPr/>
          <p:nvPr/>
        </p:nvSpPr>
        <p:spPr>
          <a:xfrm>
            <a:off x="777240" y="4114800"/>
            <a:ext cx="914400" cy="365760"/>
          </a:xfrm>
          <a:prstGeom prst="rect">
            <a:avLst/>
          </a:prstGeom>
          <a:solidFill>
            <a:srgbClr val="F2ECE1"/>
          </a:solidFill>
          <a:ln w="19050">
            <a:solidFill>
              <a:srgbClr val="FFFFFF"/>
            </a:solidFill>
            <a:prstDash val="solid"/>
          </a:ln>
        </p:spPr>
      </p:sp>
      <p:sp>
        <p:nvSpPr>
          <p:cNvPr id="15" name="Text 13"/>
          <p:cNvSpPr txBox="1"/>
          <p:nvPr/>
        </p:nvSpPr>
        <p:spPr>
          <a:xfrm>
            <a:off x="777240" y="4114800"/>
            <a:ext cx="91440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p>
        </p:txBody>
      </p:sp>
      <p:sp>
        <p:nvSpPr>
          <p:cNvPr id="16" name="Shape 14"/>
          <p:cNvSpPr/>
          <p:nvPr/>
        </p:nvSpPr>
        <p:spPr>
          <a:xfrm>
            <a:off x="1691640" y="4114800"/>
            <a:ext cx="822960" cy="365760"/>
          </a:xfrm>
          <a:prstGeom prst="rect">
            <a:avLst/>
          </a:prstGeom>
          <a:solidFill>
            <a:srgbClr val="F2ECE1"/>
          </a:solidFill>
          <a:ln w="19050">
            <a:solidFill>
              <a:srgbClr val="FFFFFF"/>
            </a:solidFill>
            <a:prstDash val="solid"/>
          </a:ln>
        </p:spPr>
      </p:sp>
      <p:sp>
        <p:nvSpPr>
          <p:cNvPr id="17" name="Text 15"/>
          <p:cNvSpPr txBox="1"/>
          <p:nvPr/>
        </p:nvSpPr>
        <p:spPr>
          <a:xfrm>
            <a:off x="1691640" y="4114800"/>
            <a:ext cx="8229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p>
        </p:txBody>
      </p:sp>
      <p:sp>
        <p:nvSpPr>
          <p:cNvPr id="18" name="Shape 16"/>
          <p:cNvSpPr/>
          <p:nvPr/>
        </p:nvSpPr>
        <p:spPr>
          <a:xfrm>
            <a:off x="2514600" y="4114800"/>
            <a:ext cx="1737360" cy="365760"/>
          </a:xfrm>
          <a:prstGeom prst="rect">
            <a:avLst/>
          </a:prstGeom>
          <a:solidFill>
            <a:srgbClr val="F2ECE1"/>
          </a:solidFill>
          <a:ln w="19050">
            <a:solidFill>
              <a:srgbClr val="FFFFFF"/>
            </a:solidFill>
            <a:prstDash val="solid"/>
          </a:ln>
        </p:spPr>
      </p:sp>
      <p:sp>
        <p:nvSpPr>
          <p:cNvPr id="19" name="Text 17"/>
          <p:cNvSpPr txBox="1"/>
          <p:nvPr/>
        </p:nvSpPr>
        <p:spPr>
          <a:xfrm>
            <a:off x="251460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p>
        </p:txBody>
      </p:sp>
      <p:sp>
        <p:nvSpPr>
          <p:cNvPr id="20" name="Shape 18"/>
          <p:cNvSpPr/>
          <p:nvPr/>
        </p:nvSpPr>
        <p:spPr>
          <a:xfrm>
            <a:off x="4251960" y="4114800"/>
            <a:ext cx="1737360" cy="365760"/>
          </a:xfrm>
          <a:prstGeom prst="rect">
            <a:avLst/>
          </a:prstGeom>
          <a:solidFill>
            <a:srgbClr val="F2ECE1"/>
          </a:solidFill>
          <a:ln w="19050">
            <a:solidFill>
              <a:srgbClr val="FFFFFF"/>
            </a:solidFill>
            <a:prstDash val="solid"/>
          </a:ln>
        </p:spPr>
      </p:sp>
      <p:sp>
        <p:nvSpPr>
          <p:cNvPr id="21" name="Text 19"/>
          <p:cNvSpPr txBox="1"/>
          <p:nvPr/>
        </p:nvSpPr>
        <p:spPr>
          <a:xfrm>
            <a:off x="425196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p>
        </p:txBody>
      </p:sp>
      <p:sp>
        <p:nvSpPr>
          <p:cNvPr id="22" name="Shape 20"/>
          <p:cNvSpPr/>
          <p:nvPr/>
        </p:nvSpPr>
        <p:spPr>
          <a:xfrm>
            <a:off x="5989320" y="4114800"/>
            <a:ext cx="1737360" cy="365760"/>
          </a:xfrm>
          <a:prstGeom prst="rect">
            <a:avLst/>
          </a:prstGeom>
          <a:solidFill>
            <a:srgbClr val="D97A14"/>
          </a:solidFill>
          <a:ln w="19050">
            <a:solidFill>
              <a:srgbClr val="FFFFFF"/>
            </a:solidFill>
            <a:prstDash val="solid"/>
          </a:ln>
        </p:spPr>
      </p:sp>
      <p:sp>
        <p:nvSpPr>
          <p:cNvPr id="23" name="Text 21"/>
          <p:cNvSpPr txBox="1"/>
          <p:nvPr/>
        </p:nvSpPr>
        <p:spPr>
          <a:xfrm>
            <a:off x="5989320" y="4114800"/>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Witnesses</a:t>
            </a:r>
            <a:endParaRPr lang="en-US" sz="1000" dirty="0"/>
          </a:p>
        </p:txBody>
      </p:sp>
      <p:sp>
        <p:nvSpPr>
          <p:cNvPr id="24" name="Shape 22"/>
          <p:cNvSpPr/>
          <p:nvPr/>
        </p:nvSpPr>
        <p:spPr>
          <a:xfrm>
            <a:off x="7726680" y="4114800"/>
            <a:ext cx="914400" cy="365760"/>
          </a:xfrm>
          <a:prstGeom prst="rect">
            <a:avLst/>
          </a:prstGeom>
          <a:solidFill>
            <a:srgbClr val="F2ECE1"/>
          </a:solidFill>
          <a:ln w="19050">
            <a:solidFill>
              <a:srgbClr val="FFFFFF"/>
            </a:solidFill>
            <a:prstDash val="solid"/>
          </a:ln>
        </p:spPr>
      </p:sp>
      <p:sp>
        <p:nvSpPr>
          <p:cNvPr id="25" name="Text 23"/>
          <p:cNvSpPr txBox="1"/>
          <p:nvPr/>
        </p:nvSpPr>
        <p:spPr>
          <a:xfrm>
            <a:off x="7726680" y="4114800"/>
            <a:ext cx="91440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55</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(1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Witness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The value 2 solves 2 OP_ADD 4 OP_EQUAL.</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the answer to the riddle printed on the lock.</a:t>
            </a:r>
            <a:endParaRPr lang="en-US" sz="1300" dirty="0"/>
          </a:p>
        </p:txBody>
      </p:sp>
      <p:sp>
        <p:nvSpPr>
          <p:cNvPr id="9" name="Shape 7"/>
          <p:cNvSpPr/>
          <p:nvPr/>
        </p:nvSpPr>
        <p:spPr>
          <a:xfrm>
            <a:off x="3249168" y="1280160"/>
            <a:ext cx="2645664"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3267456"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3432048"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Public key and signature as witness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 problem only the key holder can solve.</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signature only the account holder can produce.</a:t>
            </a:r>
            <a:endParaRPr lang="en-US" sz="1300" dirty="0"/>
          </a:p>
        </p:txBody>
      </p:sp>
      <p:sp>
        <p:nvSpPr>
          <p:cNvPr id="12" name="Shape 10"/>
          <p:cNvSpPr/>
          <p:nvPr/>
        </p:nvSpPr>
        <p:spPr>
          <a:xfrm>
            <a:off x="6041136" y="1280160"/>
            <a:ext cx="2645664"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6059424" y="1408176"/>
            <a:ext cx="64008" cy="1280160"/>
          </a:xfrm>
          <a:prstGeom prst="rect">
            <a:avLst/>
          </a:prstGeom>
          <a:solidFill>
            <a:srgbClr val="D97A14"/>
          </a:solidFill>
          <a:ln w="12700">
            <a:solidFill>
              <a:srgbClr val="D97A14"/>
            </a:solidFill>
            <a:prstDash val="solid"/>
          </a:ln>
        </p:spPr>
      </p:sp>
      <p:sp>
        <p:nvSpPr>
          <p:cNvPr id="14" name="Text 12"/>
          <p:cNvSpPr txBox="1"/>
          <p:nvPr/>
        </p:nvSpPr>
        <p:spPr>
          <a:xfrm>
            <a:off x="6224016"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Contract protocols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Transactions signed out of order.</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agreements signed in advance so nobody can walk away.</a:t>
            </a:r>
            <a:endParaRPr lang="en-US" sz="1300" dirty="0"/>
          </a:p>
        </p:txBody>
      </p:sp>
      <p:sp>
        <p:nvSpPr>
          <p:cNvPr id="15" name="Shape 13"/>
          <p:cNvSpPr/>
          <p:nvPr/>
        </p:nvSpPr>
        <p:spPr>
          <a:xfrm>
            <a:off x="457200" y="2944368"/>
            <a:ext cx="2645664"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75488"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640080"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Circular dependency</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The refund needs the deposit's txid first.</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needing the key to get the key.</a:t>
            </a:r>
            <a:endParaRPr lang="en-US" sz="1300" dirty="0"/>
          </a:p>
        </p:txBody>
      </p:sp>
      <p:sp>
        <p:nvSpPr>
          <p:cNvPr id="18" name="Shape 16"/>
          <p:cNvSpPr/>
          <p:nvPr/>
        </p:nvSpPr>
        <p:spPr>
          <a:xfrm>
            <a:off x="3249168" y="2944368"/>
            <a:ext cx="2645664" cy="1536192"/>
          </a:xfrm>
          <a:prstGeom prst="roundRect">
            <a:avLst>
              <a:gd name="adj" fmla="val 4762"/>
            </a:avLst>
          </a:prstGeom>
          <a:solidFill>
            <a:srgbClr val="F2ECE1"/>
          </a:solidFill>
          <a:ln w="12700">
            <a:solidFill>
              <a:srgbClr val="DFD6C7"/>
            </a:solidFill>
            <a:prstDash val="solid"/>
          </a:ln>
        </p:spPr>
      </p:sp>
      <p:sp>
        <p:nvSpPr>
          <p:cNvPr id="19" name="Shape 17"/>
          <p:cNvSpPr/>
          <p:nvPr/>
        </p:nvSpPr>
        <p:spPr>
          <a:xfrm>
            <a:off x="3267456" y="3072384"/>
            <a:ext cx="64008" cy="1280160"/>
          </a:xfrm>
          <a:prstGeom prst="rect">
            <a:avLst/>
          </a:prstGeom>
          <a:solidFill>
            <a:srgbClr val="D97A14"/>
          </a:solidFill>
          <a:ln w="12700">
            <a:solidFill>
              <a:srgbClr val="D97A14"/>
            </a:solidFill>
            <a:prstDash val="solid"/>
          </a:ln>
        </p:spPr>
      </p:sp>
      <p:sp>
        <p:nvSpPr>
          <p:cNvPr id="20" name="Text 18"/>
          <p:cNvSpPr txBox="1"/>
          <p:nvPr/>
        </p:nvSpPr>
        <p:spPr>
          <a:xfrm>
            <a:off x="3432048"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Third-party transaction malleability</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 stranger changes the txid, not the payment.</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stranger rewording your cheque without changing the sum.</a:t>
            </a:r>
            <a:endParaRPr lang="en-US" sz="1300" dirty="0"/>
          </a:p>
        </p:txBody>
      </p:sp>
      <p:sp>
        <p:nvSpPr>
          <p:cNvPr id="21" name="Shape 19"/>
          <p:cNvSpPr/>
          <p:nvPr/>
        </p:nvSpPr>
        <p:spPr>
          <a:xfrm>
            <a:off x="6041136" y="2944368"/>
            <a:ext cx="2645664" cy="1536192"/>
          </a:xfrm>
          <a:prstGeom prst="roundRect">
            <a:avLst>
              <a:gd name="adj" fmla="val 4762"/>
            </a:avLst>
          </a:prstGeom>
          <a:solidFill>
            <a:srgbClr val="F2ECE1"/>
          </a:solidFill>
          <a:ln w="12700">
            <a:solidFill>
              <a:srgbClr val="DFD6C7"/>
            </a:solidFill>
            <a:prstDash val="solid"/>
          </a:ln>
        </p:spPr>
      </p:sp>
      <p:sp>
        <p:nvSpPr>
          <p:cNvPr id="22" name="Shape 20"/>
          <p:cNvSpPr/>
          <p:nvPr/>
        </p:nvSpPr>
        <p:spPr>
          <a:xfrm>
            <a:off x="6059424" y="3072384"/>
            <a:ext cx="64008" cy="1280160"/>
          </a:xfrm>
          <a:prstGeom prst="rect">
            <a:avLst/>
          </a:prstGeom>
          <a:solidFill>
            <a:srgbClr val="D97A14"/>
          </a:solidFill>
          <a:ln w="12700">
            <a:solidFill>
              <a:srgbClr val="D97A14"/>
            </a:solidFill>
            <a:prstDash val="solid"/>
          </a:ln>
        </p:spPr>
      </p:sp>
      <p:sp>
        <p:nvSpPr>
          <p:cNvPr id="23" name="Text 21"/>
          <p:cNvSpPr txBox="1"/>
          <p:nvPr/>
        </p:nvSpPr>
        <p:spPr>
          <a:xfrm>
            <a:off x="6224016"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Alternative push encodings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Four byte strings for the number 2.</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four ways to write the same number in words.</a:t>
            </a:r>
            <a:endParaRPr lang="en-US" sz="13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55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spend, four identifiers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Push encodings and third-party malleability</a:t>
            </a:r>
            <a:endParaRPr lang="en-US" sz="1300" dirty="0"/>
          </a:p>
        </p:txBody>
      </p:sp>
      <p:sp>
        <p:nvSpPr>
          <p:cNvPr id="6" name="Shape 4"/>
          <p:cNvSpPr/>
          <p:nvPr/>
        </p:nvSpPr>
        <p:spPr>
          <a:xfrm>
            <a:off x="457200" y="1325880"/>
            <a:ext cx="4937760" cy="1595628"/>
          </a:xfrm>
          <a:prstGeom prst="roundRect">
            <a:avLst>
              <a:gd name="adj" fmla="val 5731"/>
            </a:avLst>
          </a:prstGeom>
          <a:solidFill>
            <a:srgbClr val="23272E"/>
          </a:solidFill>
          <a:ln w="12700">
            <a:solidFill>
              <a:srgbClr val="23272E"/>
            </a:solidFill>
            <a:prstDash val="solid"/>
          </a:ln>
        </p:spPr>
      </p:sp>
      <p:sp>
        <p:nvSpPr>
          <p:cNvPr id="7" name="Text 5"/>
          <p:cNvSpPr txBox="1"/>
          <p:nvPr/>
        </p:nvSpPr>
        <p:spPr>
          <a:xfrm>
            <a:off x="868680" y="1444752"/>
            <a:ext cx="4389120" cy="1357884"/>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enc = push_encodings(</a:t>
            </a:r>
            <a:r>
              <a:rPr lang="en-US" sz="1100" dirty="0">
                <a:solidFill>
                  <a:srgbClr val="FFD28A"/>
                </a:solidFill>
                <a:latin typeface="Courier New" pitchFamily="34" charset="0"/>
                <a:ea typeface="Courier New" pitchFamily="34" charset="-122"/>
                <a:cs typeface="Courier New" pitchFamily="34" charset="-120"/>
              </a:rPr>
              <a:t>2</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four ways</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ids = {}</a:t>
            </a:r>
            <a:endParaRPr lang="en-US" sz="1100" dirty="0"/>
          </a:p>
          <a:p>
            <a:pPr indent="0" marL="0">
              <a:lnSpc>
                <a:spcPts val="1430"/>
              </a:lnSpc>
              <a:buNone/>
            </a:pP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name, script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enc.items():</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mutated = with_input_script(FIRST, script)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ids[name] = txid(mutated)[:</a:t>
            </a:r>
            <a:r>
              <a:rPr lang="en-US" sz="1100" dirty="0">
                <a:solidFill>
                  <a:srgbClr val="FFD28A"/>
                </a:solidFill>
                <a:latin typeface="Courier New" pitchFamily="34" charset="0"/>
                <a:ea typeface="Courier New" pitchFamily="34" charset="-122"/>
                <a:cs typeface="Courier New" pitchFamily="34" charset="-120"/>
              </a:rPr>
              <a:t>8</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distinct = len(set(ids.values()))</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small number can be pushed in four ways.</a:t>
            </a:r>
            <a:endParaRPr lang="en-US" sz="1050" dirty="0"/>
          </a:p>
        </p:txBody>
      </p:sp>
      <p:sp>
        <p:nvSpPr>
          <p:cNvPr id="13" name="Shape 11"/>
          <p:cNvSpPr/>
          <p:nvPr/>
        </p:nvSpPr>
        <p:spPr>
          <a:xfrm>
            <a:off x="548640" y="182105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82105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57150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Swap each encoding into the first-ever spend; the payment is unchanged.</a:t>
            </a:r>
            <a:endParaRPr lang="en-US" sz="1050" dirty="0"/>
          </a:p>
        </p:txBody>
      </p:sp>
      <p:sp>
        <p:nvSpPr>
          <p:cNvPr id="18" name="Shape 16"/>
          <p:cNvSpPr/>
          <p:nvPr/>
        </p:nvSpPr>
        <p:spPr>
          <a:xfrm>
            <a:off x="548640" y="236588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36588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537460"/>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53746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48259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Four byte strings give four legacy identifiers.</a:t>
            </a:r>
            <a:endParaRPr lang="en-US" sz="1050" dirty="0"/>
          </a:p>
        </p:txBody>
      </p:sp>
      <p:sp>
        <p:nvSpPr>
          <p:cNvPr id="23" name="Text 21"/>
          <p:cNvSpPr txBox="1"/>
          <p:nvPr/>
        </p:nvSpPr>
        <p:spPr>
          <a:xfrm>
            <a:off x="457200" y="2948940"/>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195828"/>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pushes of the number 2</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3442716"/>
          <a:ext cx="5120640" cy="914400"/>
        </p:xfrm>
        <a:graphic>
          <a:graphicData uri="http://schemas.openxmlformats.org/drawingml/2006/table">
            <a:tbl>
              <a:tblPr/>
              <a:tblGrid>
                <a:gridCol w="2194560"/>
                <a:gridCol w="1371600"/>
                <a:gridCol w="1554480"/>
              </a:tblGrid>
              <a:tr h="22037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Encoding</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Script (hex)</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New txid (8 hex)</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2037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OP_2</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52</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0423a53a</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2037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OP_PUSH1 0x02</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0102</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b3485f99</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2037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OP_PUSH2 0x0002</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020200</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18da36d1</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2037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OP_PUSHDATA1 0x0102</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4c0102</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4d986cd8</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6" name="Text 23"/>
          <p:cNvSpPr txBox="1"/>
          <p:nvPr/>
        </p:nvSpPr>
        <p:spPr>
          <a:xfrm>
            <a:off x="5897880" y="3488436"/>
            <a:ext cx="2788920" cy="1010412"/>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4 encodings give 4 different identifiers for one payment.</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stranger could change the txid without changing the payment</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55</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(2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Second-party transaction malleability</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 counterparty re-signs and changes the txid.</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your partner re-signing a document with another pen.</a:t>
            </a:r>
            <a:endParaRPr lang="en-US" sz="1300" dirty="0"/>
          </a:p>
        </p:txBody>
      </p:sp>
      <p:sp>
        <p:nvSpPr>
          <p:cNvPr id="9" name="Shape 7"/>
          <p:cNvSpPr/>
          <p:nvPr/>
        </p:nvSpPr>
        <p:spPr>
          <a:xfrm>
            <a:off x="3249168" y="1280160"/>
            <a:ext cx="2645664"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3267456"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3432048"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Wanted malleability</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Mutation the sender allows.</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form with a box for changes allowed by me.</a:t>
            </a:r>
            <a:endParaRPr lang="en-US" sz="1300" dirty="0"/>
          </a:p>
        </p:txBody>
      </p:sp>
      <p:sp>
        <p:nvSpPr>
          <p:cNvPr id="12" name="Shape 10"/>
          <p:cNvSpPr/>
          <p:nvPr/>
        </p:nvSpPr>
        <p:spPr>
          <a:xfrm>
            <a:off x="6041136" y="1280160"/>
            <a:ext cx="2645664"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6059424" y="1408176"/>
            <a:ext cx="64008" cy="1280160"/>
          </a:xfrm>
          <a:prstGeom prst="rect">
            <a:avLst/>
          </a:prstGeom>
          <a:solidFill>
            <a:srgbClr val="D97A14"/>
          </a:solidFill>
          <a:ln w="12700">
            <a:solidFill>
              <a:srgbClr val="D97A14"/>
            </a:solidFill>
            <a:prstDash val="solid"/>
          </a:ln>
        </p:spPr>
      </p:sp>
      <p:sp>
        <p:nvSpPr>
          <p:cNvPr id="14" name="Text 12"/>
          <p:cNvSpPr txBox="1"/>
          <p:nvPr/>
        </p:nvSpPr>
        <p:spPr>
          <a:xfrm>
            <a:off x="6224016"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Segregated witness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The witness stays out of the txid.</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moving the signatures to a separate page the receipt ignores.</a:t>
            </a:r>
            <a:endParaRPr lang="en-US" sz="1300" dirty="0"/>
          </a:p>
        </p:txBody>
      </p:sp>
      <p:sp>
        <p:nvSpPr>
          <p:cNvPr id="15" name="Shape 13"/>
          <p:cNvSpPr/>
          <p:nvPr/>
        </p:nvSpPr>
        <p:spPr>
          <a:xfrm>
            <a:off x="457200" y="2944368"/>
            <a:ext cx="2645664"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75488"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640080"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Hard fork</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 change old nodes would reject.</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new road standard that old cars cannot drive on.</a:t>
            </a:r>
            <a:endParaRPr lang="en-US" sz="1300" dirty="0"/>
          </a:p>
        </p:txBody>
      </p:sp>
      <p:sp>
        <p:nvSpPr>
          <p:cNvPr id="18" name="Shape 16"/>
          <p:cNvSpPr/>
          <p:nvPr/>
        </p:nvSpPr>
        <p:spPr>
          <a:xfrm>
            <a:off x="3249168" y="2944368"/>
            <a:ext cx="2645664" cy="1536192"/>
          </a:xfrm>
          <a:prstGeom prst="roundRect">
            <a:avLst>
              <a:gd name="adj" fmla="val 4762"/>
            </a:avLst>
          </a:prstGeom>
          <a:solidFill>
            <a:srgbClr val="F2ECE1"/>
          </a:solidFill>
          <a:ln w="12700">
            <a:solidFill>
              <a:srgbClr val="DFD6C7"/>
            </a:solidFill>
            <a:prstDash val="solid"/>
          </a:ln>
        </p:spPr>
      </p:sp>
      <p:sp>
        <p:nvSpPr>
          <p:cNvPr id="19" name="Shape 17"/>
          <p:cNvSpPr/>
          <p:nvPr/>
        </p:nvSpPr>
        <p:spPr>
          <a:xfrm>
            <a:off x="3267456" y="3072384"/>
            <a:ext cx="64008" cy="1280160"/>
          </a:xfrm>
          <a:prstGeom prst="rect">
            <a:avLst/>
          </a:prstGeom>
          <a:solidFill>
            <a:srgbClr val="D97A14"/>
          </a:solidFill>
          <a:ln w="12700">
            <a:solidFill>
              <a:srgbClr val="D97A14"/>
            </a:solidFill>
            <a:prstDash val="solid"/>
          </a:ln>
        </p:spPr>
      </p:sp>
      <p:sp>
        <p:nvSpPr>
          <p:cNvPr id="20" name="Text 18"/>
          <p:cNvSpPr txBox="1"/>
          <p:nvPr/>
        </p:nvSpPr>
        <p:spPr>
          <a:xfrm>
            <a:off x="3432048"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Soft fork</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New nodes reject more, accept no more.</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stricter road rule that old cars can still obey.</a:t>
            </a:r>
            <a:endParaRPr lang="en-US" sz="1300" dirty="0"/>
          </a:p>
        </p:txBody>
      </p:sp>
      <p:sp>
        <p:nvSpPr>
          <p:cNvPr id="21" name="Shape 19"/>
          <p:cNvSpPr/>
          <p:nvPr/>
        </p:nvSpPr>
        <p:spPr>
          <a:xfrm>
            <a:off x="6041136" y="2944368"/>
            <a:ext cx="2645664" cy="1536192"/>
          </a:xfrm>
          <a:prstGeom prst="roundRect">
            <a:avLst>
              <a:gd name="adj" fmla="val 4762"/>
            </a:avLst>
          </a:prstGeom>
          <a:solidFill>
            <a:srgbClr val="F2ECE1"/>
          </a:solidFill>
          <a:ln w="12700">
            <a:solidFill>
              <a:srgbClr val="DFD6C7"/>
            </a:solidFill>
            <a:prstDash val="solid"/>
          </a:ln>
        </p:spPr>
      </p:sp>
      <p:sp>
        <p:nvSpPr>
          <p:cNvPr id="22" name="Shape 20"/>
          <p:cNvSpPr/>
          <p:nvPr/>
        </p:nvSpPr>
        <p:spPr>
          <a:xfrm>
            <a:off x="6059424" y="3072384"/>
            <a:ext cx="64008" cy="1280160"/>
          </a:xfrm>
          <a:prstGeom prst="rect">
            <a:avLst/>
          </a:prstGeom>
          <a:solidFill>
            <a:srgbClr val="D97A14"/>
          </a:solidFill>
          <a:ln w="12700">
            <a:solidFill>
              <a:srgbClr val="D97A14"/>
            </a:solidFill>
            <a:prstDash val="solid"/>
          </a:ln>
        </p:spPr>
      </p:sp>
      <p:sp>
        <p:nvSpPr>
          <p:cNvPr id="23" name="Text 21"/>
          <p:cNvSpPr txBox="1"/>
          <p:nvPr/>
        </p:nvSpPr>
        <p:spPr>
          <a:xfrm>
            <a:off x="6224016"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Witness program</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 version number and 2 to 40 bytes.</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lock label saying which kind of key fits.</a:t>
            </a:r>
            <a:endParaRPr lang="en-US" sz="13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55</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Segwit: change the witness, keep the txid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the two identifiers cover</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mutated = with_witness_item(ALICE, </a:t>
            </a:r>
            <a:r>
              <a:rPr lang="en-US" sz="1100" dirty="0">
                <a:solidFill>
                  <a:srgbClr val="9ECBFF"/>
                </a:solidFill>
                <a:latin typeface="Courier New" pitchFamily="34" charset="0"/>
                <a:ea typeface="Courier New" pitchFamily="34" charset="-122"/>
                <a:cs typeface="Courier New" pitchFamily="34" charset="-120"/>
              </a:rPr>
              <a:t>'00'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65</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same_txid = txid(mutated) == txid(ALICE)</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same_wtxid = wtxid(mutated) == wtxid(ALICE)</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ids = [txid(ALICE)[:</a:t>
            </a:r>
            <a:r>
              <a:rPr lang="en-US" sz="1100" dirty="0">
                <a:solidFill>
                  <a:srgbClr val="FFD28A"/>
                </a:solidFill>
                <a:latin typeface="Courier New" pitchFamily="34" charset="0"/>
                <a:ea typeface="Courier New" pitchFamily="34" charset="-122"/>
                <a:cs typeface="Courier New" pitchFamily="34" charset="-120"/>
              </a:rPr>
              <a:t>12</a:t>
            </a:r>
            <a:r>
              <a:rPr lang="en-US" sz="1100" dirty="0">
                <a:solidFill>
                  <a:srgbClr val="E6EDF3"/>
                </a:solidFill>
                <a:latin typeface="Courier New" pitchFamily="34" charset="0"/>
                <a:ea typeface="Courier New" pitchFamily="34" charset="-122"/>
                <a:cs typeface="Courier New" pitchFamily="34" charset="-120"/>
              </a:rPr>
              <a:t>], wtxid(ALICE)[:</a:t>
            </a:r>
            <a:r>
              <a:rPr lang="en-US" sz="1100" dirty="0">
                <a:solidFill>
                  <a:srgbClr val="FFD28A"/>
                </a:solidFill>
                <a:latin typeface="Courier New" pitchFamily="34" charset="0"/>
                <a:ea typeface="Courier New" pitchFamily="34" charset="-122"/>
                <a:cs typeface="Courier New" pitchFamily="34" charset="-120"/>
              </a:rPr>
              <a:t>12</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wtxid(mutated)[:</a:t>
            </a:r>
            <a:r>
              <a:rPr lang="en-US" sz="1100" dirty="0">
                <a:solidFill>
                  <a:srgbClr val="FFD28A"/>
                </a:solidFill>
                <a:latin typeface="Courier New" pitchFamily="34" charset="0"/>
                <a:ea typeface="Courier New" pitchFamily="34" charset="-122"/>
                <a:cs typeface="Courier New" pitchFamily="34" charset="-120"/>
              </a:rPr>
              <a:t>12</a:t>
            </a: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Replace the signature in the witness by zeros.</a:t>
            </a:r>
            <a:endParaRPr lang="en-US" sz="1050" dirty="0"/>
          </a:p>
        </p:txBody>
      </p:sp>
      <p:sp>
        <p:nvSpPr>
          <p:cNvPr id="13" name="Shape 11"/>
          <p:cNvSpPr/>
          <p:nvPr/>
        </p:nvSpPr>
        <p:spPr>
          <a:xfrm>
            <a:off x="548640" y="163944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63944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txid ignores the witness, so it stays.</a:t>
            </a:r>
            <a:endParaRPr lang="en-US" sz="1050" dirty="0"/>
          </a:p>
        </p:txBody>
      </p:sp>
      <p:sp>
        <p:nvSpPr>
          <p:cNvPr id="18" name="Shape 16"/>
          <p:cNvSpPr/>
          <p:nvPr/>
        </p:nvSpPr>
        <p:spPr>
          <a:xfrm>
            <a:off x="548640" y="182105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182105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wtxid covers the witness, so it changes.</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12 hex digits of each identifier</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3273552"/>
          <a:ext cx="5120640" cy="914400"/>
        </p:xfrm>
        <a:graphic>
          <a:graphicData uri="http://schemas.openxmlformats.org/drawingml/2006/table">
            <a:tbl>
              <a:tblPr/>
              <a:tblGrid>
                <a:gridCol w="914400"/>
                <a:gridCol w="1463040"/>
                <a:gridCol w="1645920"/>
                <a:gridCol w="109728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Identifier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Original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Witness changed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Unchanged?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txid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466200308696</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466200308696</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True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wtxid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f7cdbc7cf8b9</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06f7a607a82e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False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6" name="Text 23"/>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wtxid notices the new witness; the txid, and everything built on it, stays valid.</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What a hash covers decides what can safely be built on it</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55</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Mt. Gox blames malleability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exchange blames the protocol, and researchers check</a:t>
            </a:r>
            <a:endParaRPr lang="en-US" sz="1300" dirty="0"/>
          </a:p>
        </p:txBody>
      </p:sp>
      <p:pic>
        <p:nvPicPr>
          <p:cNvPr id="6" name="Image 0" descr="../../03-materials/ch06/assets/photo_mtgox_logo.pn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Mt. Gox logo - author unknown, public domain</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Mt. Gox halted withdrawals and blamed transaction malleability for missing bitcoins.</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stranger can re-encode an input script, change the txid and make a payment look as if it failed.</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Decker and Wattenhofer of ETH Zurich recorded a year of traffic: only 1,811 BTC were hit before the press release.</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Segregated witness took the input script out of the txid in 2017.</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Mt. Gox, then the larges…</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Shibuya, Tokyo - and t…</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2014-02-10</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Transaction Malleability and MtGox (paper)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arxiv.org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55</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(3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Witness structure</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The new field for what the input script held.</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an annex page stapled to the transaction.</a:t>
            </a:r>
            <a:endParaRPr lang="en-US" sz="1350" dirty="0"/>
          </a:p>
        </p:txBody>
      </p:sp>
      <p:sp>
        <p:nvSpPr>
          <p:cNvPr id="9" name="Shape 7"/>
          <p:cNvSpPr/>
          <p:nvPr/>
        </p:nvSpPr>
        <p:spPr>
          <a:xfrm>
            <a:off x="4645152" y="1280160"/>
            <a:ext cx="4041648"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4663440"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4828032" y="1344168"/>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Witness stack</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One stack per input, counted by the inputs.</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a pile of papers handed in for one input.</a:t>
            </a:r>
            <a:endParaRPr lang="en-US" sz="1350" dirty="0"/>
          </a:p>
        </p:txBody>
      </p:sp>
      <p:sp>
        <p:nvSpPr>
          <p:cNvPr id="12" name="Shape 10"/>
          <p:cNvSpPr/>
          <p:nvPr/>
        </p:nvSpPr>
        <p:spPr>
          <a:xfrm>
            <a:off x="457200" y="2944368"/>
            <a:ext cx="4041648"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475488" y="3072384"/>
            <a:ext cx="64008" cy="1280160"/>
          </a:xfrm>
          <a:prstGeom prst="rect">
            <a:avLst/>
          </a:prstGeom>
          <a:solidFill>
            <a:srgbClr val="D97A14"/>
          </a:solidFill>
          <a:ln w="12700">
            <a:solidFill>
              <a:srgbClr val="D97A14"/>
            </a:solidFill>
            <a:prstDash val="solid"/>
          </a:ln>
        </p:spPr>
      </p:sp>
      <p:sp>
        <p:nvSpPr>
          <p:cNvPr id="14" name="Text 12"/>
          <p:cNvSpPr txBox="1"/>
          <p:nvPr/>
        </p:nvSpPr>
        <p:spPr>
          <a:xfrm>
            <a:off x="640080" y="3008376"/>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Witness item</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A 65-byte signature, length-prefixed.</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one sheet in the pile, with its length stamped on.</a:t>
            </a:r>
            <a:endParaRPr lang="en-US" sz="1350" dirty="0"/>
          </a:p>
        </p:txBody>
      </p:sp>
      <p:sp>
        <p:nvSpPr>
          <p:cNvPr id="15" name="Shape 13"/>
          <p:cNvSpPr/>
          <p:nvPr/>
        </p:nvSpPr>
        <p:spPr>
          <a:xfrm>
            <a:off x="4645152" y="2944368"/>
            <a:ext cx="4041648"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663440"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4828032" y="3008376"/>
            <a:ext cx="3767328" cy="1408176"/>
          </a:xfrm>
          <a:prstGeom prst="rect">
            <a:avLst/>
          </a:prstGeom>
          <a:noFill/>
          <a:ln/>
        </p:spPr>
        <p:txBody>
          <a:bodyPr wrap="square" lIns="0" tIns="0" rIns="0" bIns="0" rtlCol="0" anchor="t"/>
          <a:lstStyle/>
          <a:p>
            <a:pPr indent="0" marL="0">
              <a:spcAft>
                <a:spcPts val="300"/>
              </a:spcAft>
              <a:buNone/>
            </a:pPr>
            <a:r>
              <a:rPr lang="en-US" sz="1350" b="1" dirty="0">
                <a:solidFill>
                  <a:srgbClr val="2B2622"/>
                </a:solidFill>
                <a:latin typeface="Cambria" pitchFamily="34" charset="0"/>
                <a:ea typeface="Cambria" pitchFamily="34" charset="-122"/>
                <a:cs typeface="Cambria" pitchFamily="34" charset="-120"/>
              </a:rPr>
              <a:t>A legacy input's witness</a:t>
            </a:r>
            <a:endParaRPr lang="en-US" sz="1350" dirty="0"/>
          </a:p>
          <a:p>
            <a:pPr indent="0" marL="0">
              <a:spcAft>
                <a:spcPts val="300"/>
              </a:spcAft>
              <a:buNone/>
            </a:pPr>
            <a:r>
              <a:rPr lang="en-US" sz="1200" dirty="0">
                <a:solidFill>
                  <a:srgbClr val="2B2622"/>
                </a:solidFill>
                <a:latin typeface="Calibri" pitchFamily="34" charset="0"/>
                <a:ea typeface="Calibri" pitchFamily="34" charset="-122"/>
                <a:cs typeface="Calibri" pitchFamily="34" charset="-120"/>
              </a:rPr>
              <a:t>A stack of zero items.</a:t>
            </a:r>
            <a:endParaRPr lang="en-US" sz="1350" dirty="0"/>
          </a:p>
          <a:p>
            <a:pPr indent="0" marL="0">
              <a:spcAft>
                <a:spcPts val="300"/>
              </a:spcAft>
              <a:buNone/>
            </a:pPr>
            <a:r>
              <a:rPr lang="en-US" sz="1200" i="1" dirty="0">
                <a:solidFill>
                  <a:srgbClr val="2F6D62"/>
                </a:solidFill>
                <a:latin typeface="Calibri" pitchFamily="34" charset="0"/>
                <a:ea typeface="Calibri" pitchFamily="34" charset="-122"/>
                <a:cs typeface="Calibri" pitchFamily="34" charset="-120"/>
              </a:rPr>
              <a:t>Like an empty annex: nothing stapled to old-style inputs.</a:t>
            </a:r>
            <a:endParaRPr lang="en-US" sz="13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55</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fork or soft fork?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segregated witness could be activated without splitting the network</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hard fork loosens the rules</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Blocks that old nodes reject become valid.</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Every node must upgrade, or the chain splits.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new road standard that old cars cannot use.</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soft fork tightens the rules</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nodes reject more; they accept nothing new.</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still follow the chain and accept its blocks.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stricter speed limit that old cars can still obey.</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can only restrict; old nodes keep accepting the blocks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55</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Lock time and the coinbase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lock time is a post-dated cheque; a coinbase is the mint's wage slip.</a:t>
            </a:r>
            <a:endParaRPr lang="en-US" sz="1500" dirty="0"/>
          </a:p>
        </p:txBody>
      </p:sp>
      <p:sp>
        <p:nvSpPr>
          <p:cNvPr id="6" name="Shape 4"/>
          <p:cNvSpPr/>
          <p:nvPr/>
        </p:nvSpPr>
        <p:spPr>
          <a:xfrm>
            <a:off x="777240" y="2148840"/>
            <a:ext cx="3858768" cy="1783080"/>
          </a:xfrm>
          <a:prstGeom prst="roundRect">
            <a:avLst>
              <a:gd name="adj" fmla="val 4103"/>
            </a:avLst>
          </a:prstGeom>
          <a:solidFill>
            <a:srgbClr val="2F6D62"/>
          </a:solidFill>
          <a:ln w="12700">
            <a:solidFill>
              <a:srgbClr val="2F6D62"/>
            </a:solidFill>
            <a:prstDash val="solid"/>
          </a:ln>
        </p:spPr>
      </p:sp>
      <p:sp>
        <p:nvSpPr>
          <p:cNvPr id="7" name="Text 5"/>
          <p:cNvSpPr txBox="1"/>
          <p:nvPr/>
        </p:nvSpPr>
        <p:spPr>
          <a:xfrm>
            <a:off x="850392" y="2194560"/>
            <a:ext cx="3712464" cy="1691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Lock time</a:t>
            </a:r>
            <a:endParaRPr lang="en-US" sz="1600" dirty="0"/>
          </a:p>
          <a:p>
            <a:pPr algn="ctr" indent="0" marL="0">
              <a:buNone/>
            </a:pPr>
            <a:r>
              <a:rPr lang="en-US" sz="1300" dirty="0">
                <a:solidFill>
                  <a:srgbClr val="D7E4E0"/>
                </a:solidFill>
                <a:latin typeface="Calibri" pitchFamily="34" charset="0"/>
                <a:ea typeface="Calibri" pitchFamily="34" charset="-122"/>
                <a:cs typeface="Calibri" pitchFamily="34" charset="-120"/>
              </a:rPr>
              <a:t>A rule that a transaction may not enter a block before a time. Like a post-dated cheque.</a:t>
            </a:r>
            <a:endParaRPr lang="en-US" sz="1600" dirty="0"/>
          </a:p>
        </p:txBody>
      </p:sp>
      <p:sp>
        <p:nvSpPr>
          <p:cNvPr id="8" name="Shape 6"/>
          <p:cNvSpPr/>
          <p:nvPr/>
        </p:nvSpPr>
        <p:spPr>
          <a:xfrm>
            <a:off x="4782312" y="2148840"/>
            <a:ext cx="3858768" cy="1783080"/>
          </a:xfrm>
          <a:prstGeom prst="roundRect">
            <a:avLst>
              <a:gd name="adj" fmla="val 4103"/>
            </a:avLst>
          </a:prstGeom>
          <a:solidFill>
            <a:srgbClr val="2F6D62"/>
          </a:solidFill>
          <a:ln w="12700">
            <a:solidFill>
              <a:srgbClr val="2F6D62"/>
            </a:solidFill>
            <a:prstDash val="solid"/>
          </a:ln>
        </p:spPr>
      </p:sp>
      <p:sp>
        <p:nvSpPr>
          <p:cNvPr id="9" name="Text 7"/>
          <p:cNvSpPr txBox="1"/>
          <p:nvPr/>
        </p:nvSpPr>
        <p:spPr>
          <a:xfrm>
            <a:off x="4855464" y="2194560"/>
            <a:ext cx="3712464" cy="1691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Coinbase transactions</a:t>
            </a:r>
            <a:endParaRPr lang="en-US" sz="1600" dirty="0"/>
          </a:p>
          <a:p>
            <a:pPr algn="ctr" indent="0" marL="0">
              <a:buNone/>
            </a:pPr>
            <a:r>
              <a:rPr lang="en-US" sz="1300" dirty="0">
                <a:solidFill>
                  <a:srgbClr val="D7E4E0"/>
                </a:solidFill>
                <a:latin typeface="Calibri" pitchFamily="34" charset="0"/>
                <a:ea typeface="Calibri" pitchFamily="34" charset="-122"/>
                <a:cs typeface="Calibri" pitchFamily="34" charset="-120"/>
              </a:rPr>
              <a:t>The first transaction of every block, which creates new coins. Like the mint's wage slip for the miner.</a:t>
            </a:r>
            <a:endParaRPr lang="en-US" sz="1600" dirty="0"/>
          </a:p>
        </p:txBody>
      </p:sp>
      <p:sp>
        <p:nvSpPr>
          <p:cNvPr id="10" name="Shape 8"/>
          <p:cNvSpPr/>
          <p:nvPr/>
        </p:nvSpPr>
        <p:spPr>
          <a:xfrm>
            <a:off x="777240" y="4114800"/>
            <a:ext cx="914400" cy="365760"/>
          </a:xfrm>
          <a:prstGeom prst="rect">
            <a:avLst/>
          </a:prstGeom>
          <a:solidFill>
            <a:srgbClr val="F2ECE1"/>
          </a:solidFill>
          <a:ln w="19050">
            <a:solidFill>
              <a:srgbClr val="FFFFFF"/>
            </a:solidFill>
            <a:prstDash val="solid"/>
          </a:ln>
        </p:spPr>
      </p:sp>
      <p:sp>
        <p:nvSpPr>
          <p:cNvPr id="11" name="Text 9"/>
          <p:cNvSpPr txBox="1"/>
          <p:nvPr/>
        </p:nvSpPr>
        <p:spPr>
          <a:xfrm>
            <a:off x="777240" y="4114800"/>
            <a:ext cx="91440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p>
        </p:txBody>
      </p:sp>
      <p:sp>
        <p:nvSpPr>
          <p:cNvPr id="12" name="Shape 10"/>
          <p:cNvSpPr/>
          <p:nvPr/>
        </p:nvSpPr>
        <p:spPr>
          <a:xfrm>
            <a:off x="1691640" y="4114800"/>
            <a:ext cx="822960" cy="365760"/>
          </a:xfrm>
          <a:prstGeom prst="rect">
            <a:avLst/>
          </a:prstGeom>
          <a:solidFill>
            <a:srgbClr val="F2ECE1"/>
          </a:solidFill>
          <a:ln w="19050">
            <a:solidFill>
              <a:srgbClr val="FFFFFF"/>
            </a:solidFill>
            <a:prstDash val="solid"/>
          </a:ln>
        </p:spPr>
      </p:sp>
      <p:sp>
        <p:nvSpPr>
          <p:cNvPr id="13" name="Text 11"/>
          <p:cNvSpPr txBox="1"/>
          <p:nvPr/>
        </p:nvSpPr>
        <p:spPr>
          <a:xfrm>
            <a:off x="1691640" y="4114800"/>
            <a:ext cx="8229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p>
        </p:txBody>
      </p:sp>
      <p:sp>
        <p:nvSpPr>
          <p:cNvPr id="14" name="Shape 12"/>
          <p:cNvSpPr/>
          <p:nvPr/>
        </p:nvSpPr>
        <p:spPr>
          <a:xfrm>
            <a:off x="2514600" y="4114800"/>
            <a:ext cx="1737360" cy="365760"/>
          </a:xfrm>
          <a:prstGeom prst="rect">
            <a:avLst/>
          </a:prstGeom>
          <a:solidFill>
            <a:srgbClr val="F2ECE1"/>
          </a:solidFill>
          <a:ln w="19050">
            <a:solidFill>
              <a:srgbClr val="FFFFFF"/>
            </a:solidFill>
            <a:prstDash val="solid"/>
          </a:ln>
        </p:spPr>
      </p:sp>
      <p:sp>
        <p:nvSpPr>
          <p:cNvPr id="15" name="Text 13"/>
          <p:cNvSpPr txBox="1"/>
          <p:nvPr/>
        </p:nvSpPr>
        <p:spPr>
          <a:xfrm>
            <a:off x="251460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p>
        </p:txBody>
      </p:sp>
      <p:sp>
        <p:nvSpPr>
          <p:cNvPr id="16" name="Shape 14"/>
          <p:cNvSpPr/>
          <p:nvPr/>
        </p:nvSpPr>
        <p:spPr>
          <a:xfrm>
            <a:off x="4251960" y="4114800"/>
            <a:ext cx="1737360" cy="365760"/>
          </a:xfrm>
          <a:prstGeom prst="rect">
            <a:avLst/>
          </a:prstGeom>
          <a:solidFill>
            <a:srgbClr val="F2ECE1"/>
          </a:solidFill>
          <a:ln w="19050">
            <a:solidFill>
              <a:srgbClr val="FFFFFF"/>
            </a:solidFill>
            <a:prstDash val="solid"/>
          </a:ln>
        </p:spPr>
      </p:sp>
      <p:sp>
        <p:nvSpPr>
          <p:cNvPr id="17" name="Text 15"/>
          <p:cNvSpPr txBox="1"/>
          <p:nvPr/>
        </p:nvSpPr>
        <p:spPr>
          <a:xfrm>
            <a:off x="425196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p>
        </p:txBody>
      </p:sp>
      <p:sp>
        <p:nvSpPr>
          <p:cNvPr id="18" name="Shape 16"/>
          <p:cNvSpPr/>
          <p:nvPr/>
        </p:nvSpPr>
        <p:spPr>
          <a:xfrm>
            <a:off x="5989320" y="4114800"/>
            <a:ext cx="1737360" cy="365760"/>
          </a:xfrm>
          <a:prstGeom prst="rect">
            <a:avLst/>
          </a:prstGeom>
          <a:solidFill>
            <a:srgbClr val="F2ECE1"/>
          </a:solidFill>
          <a:ln w="19050">
            <a:solidFill>
              <a:srgbClr val="FFFFFF"/>
            </a:solidFill>
            <a:prstDash val="solid"/>
          </a:ln>
        </p:spPr>
      </p:sp>
      <p:sp>
        <p:nvSpPr>
          <p:cNvPr id="19" name="Text 17"/>
          <p:cNvSpPr txBox="1"/>
          <p:nvPr/>
        </p:nvSpPr>
        <p:spPr>
          <a:xfrm>
            <a:off x="5989320" y="4114800"/>
            <a:ext cx="1737360" cy="365760"/>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p>
        </p:txBody>
      </p:sp>
      <p:sp>
        <p:nvSpPr>
          <p:cNvPr id="20" name="Shape 18"/>
          <p:cNvSpPr/>
          <p:nvPr/>
        </p:nvSpPr>
        <p:spPr>
          <a:xfrm>
            <a:off x="7726680" y="4114800"/>
            <a:ext cx="914400" cy="365760"/>
          </a:xfrm>
          <a:prstGeom prst="rect">
            <a:avLst/>
          </a:prstGeom>
          <a:solidFill>
            <a:srgbClr val="D97A14"/>
          </a:solidFill>
          <a:ln w="19050">
            <a:solidFill>
              <a:srgbClr val="FFFFFF"/>
            </a:solidFill>
            <a:prstDash val="solid"/>
          </a:ln>
        </p:spPr>
      </p:sp>
      <p:sp>
        <p:nvSpPr>
          <p:cNvPr id="21" name="Text 19"/>
          <p:cNvSpPr txBox="1"/>
          <p:nvPr/>
        </p:nvSpPr>
        <p:spPr>
          <a:xfrm>
            <a:off x="7726680" y="4114800"/>
            <a:ext cx="9144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Lock time</a:t>
            </a:r>
            <a:endParaRPr lang="en-US" sz="100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55</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coinbase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lock time field</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Zero: eligible for any block.</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do-not-open-before date on an envelope.</a:t>
            </a:r>
            <a:endParaRPr lang="en-US" sz="1300" dirty="0"/>
          </a:p>
        </p:txBody>
      </p:sp>
      <p:sp>
        <p:nvSpPr>
          <p:cNvPr id="9" name="Shape 7"/>
          <p:cNvSpPr/>
          <p:nvPr/>
        </p:nvSpPr>
        <p:spPr>
          <a:xfrm>
            <a:off x="3249168" y="1280160"/>
            <a:ext cx="2645664"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3267456"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3432048"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Lock time as a block height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123,456 means block 123,456 or later.</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do not open before a numbered page of the logbook.</a:t>
            </a:r>
            <a:endParaRPr lang="en-US" sz="1300" dirty="0"/>
          </a:p>
        </p:txBody>
      </p:sp>
      <p:sp>
        <p:nvSpPr>
          <p:cNvPr id="12" name="Shape 10"/>
          <p:cNvSpPr/>
          <p:nvPr/>
        </p:nvSpPr>
        <p:spPr>
          <a:xfrm>
            <a:off x="6041136" y="1280160"/>
            <a:ext cx="2645664"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6059424" y="1408176"/>
            <a:ext cx="64008" cy="1280160"/>
          </a:xfrm>
          <a:prstGeom prst="rect">
            <a:avLst/>
          </a:prstGeom>
          <a:solidFill>
            <a:srgbClr val="D97A14"/>
          </a:solidFill>
          <a:ln w="12700">
            <a:solidFill>
              <a:srgbClr val="D97A14"/>
            </a:solidFill>
            <a:prstDash val="solid"/>
          </a:ln>
        </p:spPr>
      </p:sp>
      <p:sp>
        <p:nvSpPr>
          <p:cNvPr id="14" name="Text 12"/>
          <p:cNvSpPr txBox="1"/>
          <p:nvPr/>
        </p:nvSpPr>
        <p:spPr>
          <a:xfrm>
            <a:off x="6224016"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Lock time as an epoch time</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500,000,000 or more is a timestamp.</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do not open before this calendar date.</a:t>
            </a:r>
            <a:endParaRPr lang="en-US" sz="1300" dirty="0"/>
          </a:p>
        </p:txBody>
      </p:sp>
      <p:sp>
        <p:nvSpPr>
          <p:cNvPr id="15" name="Shape 13"/>
          <p:cNvSpPr/>
          <p:nvPr/>
        </p:nvSpPr>
        <p:spPr>
          <a:xfrm>
            <a:off x="457200" y="2944368"/>
            <a:ext cx="2645664"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75488"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640080"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Median time past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The middle of eleven block times.</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asking the middle voter, not the loudest.</a:t>
            </a:r>
            <a:endParaRPr lang="en-US" sz="1300" dirty="0"/>
          </a:p>
        </p:txBody>
      </p:sp>
      <p:sp>
        <p:nvSpPr>
          <p:cNvPr id="18" name="Shape 16"/>
          <p:cNvSpPr/>
          <p:nvPr/>
        </p:nvSpPr>
        <p:spPr>
          <a:xfrm>
            <a:off x="3249168" y="2944368"/>
            <a:ext cx="2645664" cy="1536192"/>
          </a:xfrm>
          <a:prstGeom prst="roundRect">
            <a:avLst>
              <a:gd name="adj" fmla="val 4762"/>
            </a:avLst>
          </a:prstGeom>
          <a:solidFill>
            <a:srgbClr val="F2ECE1"/>
          </a:solidFill>
          <a:ln w="12700">
            <a:solidFill>
              <a:srgbClr val="DFD6C7"/>
            </a:solidFill>
            <a:prstDash val="solid"/>
          </a:ln>
        </p:spPr>
      </p:sp>
      <p:sp>
        <p:nvSpPr>
          <p:cNvPr id="19" name="Shape 17"/>
          <p:cNvSpPr/>
          <p:nvPr/>
        </p:nvSpPr>
        <p:spPr>
          <a:xfrm>
            <a:off x="3267456" y="3072384"/>
            <a:ext cx="64008" cy="1280160"/>
          </a:xfrm>
          <a:prstGeom prst="rect">
            <a:avLst/>
          </a:prstGeom>
          <a:solidFill>
            <a:srgbClr val="D97A14"/>
          </a:solidFill>
          <a:ln w="12700">
            <a:solidFill>
              <a:srgbClr val="D97A14"/>
            </a:solidFill>
            <a:prstDash val="solid"/>
          </a:ln>
        </p:spPr>
      </p:sp>
      <p:sp>
        <p:nvSpPr>
          <p:cNvPr id="20" name="Text 18"/>
          <p:cNvSpPr txBox="1"/>
          <p:nvPr/>
        </p:nvSpPr>
        <p:spPr>
          <a:xfrm>
            <a:off x="3432048"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Coinbase transaction</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First in the block, made by the miner.</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the bonus the mint pays whoever closes the page.</a:t>
            </a:r>
            <a:endParaRPr lang="en-US" sz="13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55</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median time past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Which clock a lock time is read against</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300"/>
              </a:lnSpc>
              <a:buNone/>
            </a:pP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FFD28A"/>
                </a:solidFill>
                <a:latin typeface="Courier New" pitchFamily="34" charset="0"/>
                <a:ea typeface="Courier New" pitchFamily="34" charset="-122"/>
                <a:cs typeface="Courier New" pitchFamily="34" charset="-120"/>
              </a:rPr>
              <a:t>15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27</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rgbClr val="E6EDF3"/>
                </a:solidFill>
                <a:latin typeface="Courier New" pitchFamily="34" charset="0"/>
                <a:ea typeface="Courier New" pitchFamily="34" charset="-122"/>
                <a:cs typeface="Courier New" pitchFamily="34" charset="-120"/>
              </a:rPr>
              <a:t>times = [</a:t>
            </a:r>
            <a:r>
              <a:rPr lang="en-US" sz="1000" dirty="0">
                <a:solidFill>
                  <a:srgbClr val="FFD28A"/>
                </a:solidFill>
                <a:latin typeface="Courier New" pitchFamily="34" charset="0"/>
                <a:ea typeface="Courier New" pitchFamily="34" charset="-122"/>
                <a:cs typeface="Courier New" pitchFamily="34" charset="-120"/>
              </a:rPr>
              <a:t>1675556500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a:p>
            <a:pPr indent="0" marL="0">
              <a:lnSpc>
                <a:spcPts val="1300"/>
              </a:lnSpc>
              <a:buNone/>
            </a:pPr>
            <a:r>
              <a:rPr lang="en-US" sz="1000" dirty="0">
                <a:solidFill>
                  <a:srgbClr val="E6EDF3"/>
                </a:solidFill>
                <a:latin typeface="Courier New" pitchFamily="34" charset="0"/>
                <a:ea typeface="Courier New" pitchFamily="34" charset="-122"/>
                <a:cs typeface="Courier New" pitchFamily="34" charset="-120"/>
              </a:rPr>
              <a:t>mtp = median_time_past(times)</a:t>
            </a:r>
            <a:endParaRPr lang="en-US" sz="1000" dirty="0"/>
          </a:p>
          <a:p>
            <a:pPr indent="0" marL="0">
              <a:lnSpc>
                <a:spcPts val="1300"/>
              </a:lnSpc>
              <a:buNone/>
            </a:pPr>
            <a:r>
              <a:rPr lang="en-US" sz="1000" dirty="0">
                <a:solidFill>
                  <a:srgbClr val="E6EDF3"/>
                </a:solidFill>
                <a:latin typeface="Courier New" pitchFamily="34" charset="0"/>
                <a:ea typeface="Courier New" pitchFamily="34" charset="-122"/>
                <a:cs typeface="Courier New" pitchFamily="34" charset="-120"/>
              </a:rPr>
              <a:t>offsets = [t - </a:t>
            </a:r>
            <a:r>
              <a:rPr lang="en-US" sz="1000" dirty="0">
                <a:solidFill>
                  <a:srgbClr val="FFD28A"/>
                </a:solidFill>
                <a:latin typeface="Courier New" pitchFamily="34" charset="0"/>
                <a:ea typeface="Courier New" pitchFamily="34" charset="-122"/>
                <a:cs typeface="Courier New" pitchFamily="34" charset="-120"/>
              </a:rPr>
              <a:t>1675556500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times]</a:t>
            </a:r>
            <a:endParaRPr lang="en-US" sz="1000" dirty="0"/>
          </a:p>
          <a:p>
            <a:pPr indent="0" marL="0">
              <a:lnSpc>
                <a:spcPts val="1300"/>
              </a:lnSpc>
              <a:buNone/>
            </a:pPr>
            <a:r>
              <a:rPr lang="en-US" sz="1000" dirty="0">
                <a:solidFill>
                  <a:srgbClr val="E6EDF3"/>
                </a:solidFill>
                <a:latin typeface="Courier New" pitchFamily="34" charset="0"/>
                <a:ea typeface="Courier New" pitchFamily="34" charset="-122"/>
                <a:cs typeface="Courier New" pitchFamily="34" charset="-120"/>
              </a:rPr>
              <a:t>mtp_offset = mtp - </a:t>
            </a:r>
            <a:r>
              <a:rPr lang="en-US" sz="1000" dirty="0">
                <a:solidFill>
                  <a:srgbClr val="FFD28A"/>
                </a:solidFill>
                <a:latin typeface="Courier New" pitchFamily="34" charset="0"/>
                <a:ea typeface="Courier New" pitchFamily="34" charset="-122"/>
                <a:cs typeface="Courier New" pitchFamily="34" charset="-120"/>
              </a:rPr>
              <a:t>1675556500</a:t>
            </a:r>
            <a:endParaRPr lang="en-US" sz="1000" dirty="0"/>
          </a:p>
          <a:p>
            <a:pPr indent="0" marL="0">
              <a:lnSpc>
                <a:spcPts val="1300"/>
              </a:lnSpc>
              <a:buNone/>
            </a:pPr>
            <a:r>
              <a:rPr lang="en-US" sz="1000" dirty="0">
                <a:solidFill>
                  <a:srgbClr val="E6EDF3"/>
                </a:solidFill>
                <a:latin typeface="Courier New" pitchFamily="34" charset="0"/>
                <a:ea typeface="Courier New" pitchFamily="34" charset="-122"/>
                <a:cs typeface="Courier New" pitchFamily="34" charset="-120"/>
              </a:rPr>
              <a:t>kinds = [locktime_decode(n)[</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123456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1675556500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548640" y="1449578"/>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49578"/>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Eleven block times, out of order, as on the real chain.</a:t>
            </a:r>
            <a:endParaRPr lang="en-US" sz="1050" dirty="0"/>
          </a:p>
        </p:txBody>
      </p:sp>
      <p:sp>
        <p:nvSpPr>
          <p:cNvPr id="13" name="Shape 11"/>
          <p:cNvSpPr/>
          <p:nvPr/>
        </p:nvSpPr>
        <p:spPr>
          <a:xfrm>
            <a:off x="548640" y="1779778"/>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779778"/>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Median time past is the middle of the eleven, not the newest.</a:t>
            </a:r>
            <a:endParaRPr lang="en-US" sz="1050" dirty="0"/>
          </a:p>
        </p:txBody>
      </p:sp>
      <p:sp>
        <p:nvSpPr>
          <p:cNvPr id="18" name="Shape 16"/>
          <p:cNvSpPr/>
          <p:nvPr/>
        </p:nvSpPr>
        <p:spPr>
          <a:xfrm>
            <a:off x="548640" y="2275078"/>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275078"/>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Small values are heights; large values are times.</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block times in seconds after 1675556500</a:t>
            </a:r>
            <a:endParaRPr lang="en-US" sz="1100" dirty="0"/>
          </a:p>
        </p:txBody>
      </p:sp>
      <p:graphicFrame>
        <p:nvGraphicFramePr>
          <p:cNvPr id="25" name="Chart 0" descr=""/>
          <p:cNvGraphicFramePr/>
          <p:nvPr/>
        </p:nvGraphicFramePr>
        <p:xfrm>
          <a:off x="457200" y="3273552"/>
          <a:ext cx="5120640" cy="1271016"/>
        </p:xfrm>
        <a:graphic xmlns:a="http://schemas.openxmlformats.org/drawingml/2006/main">
          <a:graphicData uri="http://schemas.openxmlformats.org/drawingml/2006/chart">
            <c:chart xmlns:c="http://schemas.openxmlformats.org/drawingml/2006/chart" r:id="rId1"/>
          </a:graphicData>
        </a:graphic>
      </p:graphicFrame>
      <p:sp>
        <p:nvSpPr>
          <p:cNvPr id="26" name="Text 23"/>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median of the eleven is 2,100 s, which is 600 s below the highest timestamp. Lock time kinds: any block, block height, epoch time.</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Lock time says not before; nothing in a transaction says not after</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55</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coinbase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null outpoint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32 zero bytes and index 0xffffffff.</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ticket with no previous holder: printed new.</a:t>
            </a:r>
            <a:endParaRPr lang="en-US" sz="1300" dirty="0"/>
          </a:p>
        </p:txBody>
      </p:sp>
      <p:sp>
        <p:nvSpPr>
          <p:cNvPr id="9" name="Shape 7"/>
          <p:cNvSpPr/>
          <p:nvPr/>
        </p:nvSpPr>
        <p:spPr>
          <a:xfrm>
            <a:off x="3249168" y="1280160"/>
            <a:ext cx="2645664"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3267456"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3432048"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coinbase field</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2 to 100 bytes, beginning with the height.</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free text box on the bonus slip.</a:t>
            </a:r>
            <a:endParaRPr lang="en-US" sz="1300" dirty="0"/>
          </a:p>
        </p:txBody>
      </p:sp>
      <p:sp>
        <p:nvSpPr>
          <p:cNvPr id="12" name="Shape 10"/>
          <p:cNvSpPr/>
          <p:nvPr/>
        </p:nvSpPr>
        <p:spPr>
          <a:xfrm>
            <a:off x="6041136" y="1280160"/>
            <a:ext cx="2645664"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6059424" y="1408176"/>
            <a:ext cx="64008" cy="1280160"/>
          </a:xfrm>
          <a:prstGeom prst="rect">
            <a:avLst/>
          </a:prstGeom>
          <a:solidFill>
            <a:srgbClr val="D97A14"/>
          </a:solidFill>
          <a:ln w="12700">
            <a:solidFill>
              <a:srgbClr val="D97A14"/>
            </a:solidFill>
            <a:prstDash val="solid"/>
          </a:ln>
        </p:spPr>
      </p:sp>
      <p:sp>
        <p:nvSpPr>
          <p:cNvPr id="14" name="Text 12"/>
          <p:cNvSpPr txBox="1"/>
          <p:nvPr/>
        </p:nvSpPr>
        <p:spPr>
          <a:xfrm>
            <a:off x="6224016"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Block subsidy</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50 BTC, halved every 210,000 blocks.</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bonus that halves every four years of work.</a:t>
            </a:r>
            <a:endParaRPr lang="en-US" sz="1300" dirty="0"/>
          </a:p>
        </p:txBody>
      </p:sp>
      <p:sp>
        <p:nvSpPr>
          <p:cNvPr id="15" name="Shape 13"/>
          <p:cNvSpPr/>
          <p:nvPr/>
        </p:nvSpPr>
        <p:spPr>
          <a:xfrm>
            <a:off x="457200" y="2944368"/>
            <a:ext cx="2645664"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75488"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640080"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Block reward</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Fees plus subsidy, as a ceiling.</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the bonus plus the tips from customers.</a:t>
            </a:r>
            <a:endParaRPr lang="en-US" sz="1300" dirty="0"/>
          </a:p>
        </p:txBody>
      </p:sp>
      <p:sp>
        <p:nvSpPr>
          <p:cNvPr id="18" name="Shape 16"/>
          <p:cNvSpPr/>
          <p:nvPr/>
        </p:nvSpPr>
        <p:spPr>
          <a:xfrm>
            <a:off x="3249168" y="2944368"/>
            <a:ext cx="2645664" cy="1536192"/>
          </a:xfrm>
          <a:prstGeom prst="roundRect">
            <a:avLst>
              <a:gd name="adj" fmla="val 4762"/>
            </a:avLst>
          </a:prstGeom>
          <a:solidFill>
            <a:srgbClr val="F2ECE1"/>
          </a:solidFill>
          <a:ln w="12700">
            <a:solidFill>
              <a:srgbClr val="DFD6C7"/>
            </a:solidFill>
            <a:prstDash val="solid"/>
          </a:ln>
        </p:spPr>
      </p:sp>
      <p:sp>
        <p:nvSpPr>
          <p:cNvPr id="19" name="Shape 17"/>
          <p:cNvSpPr/>
          <p:nvPr/>
        </p:nvSpPr>
        <p:spPr>
          <a:xfrm>
            <a:off x="3267456" y="3072384"/>
            <a:ext cx="64008" cy="1280160"/>
          </a:xfrm>
          <a:prstGeom prst="rect">
            <a:avLst/>
          </a:prstGeom>
          <a:solidFill>
            <a:srgbClr val="D97A14"/>
          </a:solidFill>
          <a:ln w="12700">
            <a:solidFill>
              <a:srgbClr val="D97A14"/>
            </a:solidFill>
            <a:prstDash val="solid"/>
          </a:ln>
        </p:spPr>
      </p:sp>
      <p:sp>
        <p:nvSpPr>
          <p:cNvPr id="20" name="Text 18"/>
          <p:cNvSpPr txBox="1"/>
          <p:nvPr/>
        </p:nvSpPr>
        <p:spPr>
          <a:xfrm>
            <a:off x="3432048"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Maturity rule</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100 confirmations before spending.</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wages you cannot spend until the pay clears.</a:t>
            </a:r>
            <a:endParaRPr lang="en-US" sz="13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55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subsidy, halving by halving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bitcoin created by each block</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subs = [block_subsidy(h * </a:t>
            </a:r>
            <a:r>
              <a:rPr lang="en-US" sz="1100" dirty="0">
                <a:solidFill>
                  <a:srgbClr val="FFD28A"/>
                </a:solidFill>
                <a:latin typeface="Courier New" pitchFamily="34" charset="0"/>
                <a:ea typeface="Courier New" pitchFamily="34" charset="-122"/>
                <a:cs typeface="Courier New" pitchFamily="34" charset="-120"/>
              </a:rPr>
              <a:t>210000</a:t>
            </a:r>
            <a:r>
              <a:rPr lang="en-US" sz="1100" dirty="0">
                <a:solidFill>
                  <a:srgbClr val="E6EDF3"/>
                </a:solidFill>
                <a:latin typeface="Courier New" pitchFamily="34" charset="0"/>
                <a:ea typeface="Courier New" pitchFamily="34" charset="-122"/>
                <a:cs typeface="Courier New" pitchFamily="34" charset="-120"/>
              </a:rPr>
              <a:t>) / COIN</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a:t>
            </a: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h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range(</a:t>
            </a:r>
            <a:r>
              <a:rPr lang="en-US" sz="1100" dirty="0">
                <a:solidFill>
                  <a:srgbClr val="FFD28A"/>
                </a:solidFill>
                <a:latin typeface="Courier New" pitchFamily="34" charset="0"/>
                <a:ea typeface="Courier New" pitchFamily="34" charset="-122"/>
                <a:cs typeface="Courier New" pitchFamily="34" charset="-120"/>
              </a:rPr>
              <a:t>9</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bitcoin</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last = last_subsidy_height()          </a:t>
            </a:r>
            <a:r>
              <a:rPr lang="en-US" sz="1100" i="1" dirty="0">
                <a:solidFill>
                  <a:srgbClr val="8FA98F"/>
                </a:solidFill>
                <a:latin typeface="Courier New" pitchFamily="34" charset="0"/>
                <a:ea typeface="Courier New" pitchFamily="34" charset="-122"/>
                <a:cs typeface="Courier New" pitchFamily="34" charset="-120"/>
              </a:rPr>
              <a:t># final block</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total = total_subsidy() / COIN        </a:t>
            </a:r>
            <a:r>
              <a:rPr lang="en-US" sz="1100" i="1" dirty="0">
                <a:solidFill>
                  <a:srgbClr val="8FA98F"/>
                </a:solidFill>
                <a:latin typeface="Courier New" pitchFamily="34" charset="0"/>
                <a:ea typeface="Courier New" pitchFamily="34" charset="-122"/>
                <a:cs typeface="Courier New" pitchFamily="34" charset="-120"/>
              </a:rPr>
              <a:t># ever issued</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subsidy halves at every multiple of 210,000 blocks.</a:t>
            </a:r>
            <a:endParaRPr lang="en-US" sz="1050" dirty="0"/>
          </a:p>
        </p:txBody>
      </p:sp>
      <p:sp>
        <p:nvSpPr>
          <p:cNvPr id="13" name="Shape 11"/>
          <p:cNvSpPr/>
          <p:nvPr/>
        </p:nvSpPr>
        <p:spPr>
          <a:xfrm>
            <a:off x="548640" y="182105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82105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block 6,929,999 the subsidy is zero.</a:t>
            </a:r>
            <a:endParaRPr lang="en-US" sz="1050" dirty="0"/>
          </a:p>
        </p:txBody>
      </p:sp>
      <p:sp>
        <p:nvSpPr>
          <p:cNvPr id="18" name="Shape 16"/>
          <p:cNvSpPr/>
          <p:nvPr/>
        </p:nvSpPr>
        <p:spPr>
          <a:xfrm>
            <a:off x="548640" y="200266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00266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Everything ever issued stays just below 21 million.</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subsidy in bitcoin, by halving number</a:t>
            </a:r>
            <a:endParaRPr lang="en-US" sz="1100" dirty="0"/>
          </a:p>
        </p:txBody>
      </p:sp>
      <p:graphicFrame>
        <p:nvGraphicFramePr>
          <p:cNvPr id="25" name="Chart 0" descr=""/>
          <p:cNvGraphicFramePr/>
          <p:nvPr/>
        </p:nvGraphicFramePr>
        <p:xfrm>
          <a:off x="457200" y="3273552"/>
          <a:ext cx="5120640" cy="1271016"/>
        </p:xfrm>
        <a:graphic xmlns:a="http://schemas.openxmlformats.org/drawingml/2006/main">
          <a:graphicData uri="http://schemas.openxmlformats.org/drawingml/2006/chart">
            <c:chart xmlns:c="http://schemas.openxmlformats.org/drawingml/2006/chart" r:id="rId1"/>
          </a:graphicData>
        </a:graphic>
      </p:graphicFrame>
      <p:sp>
        <p:nvSpPr>
          <p:cNvPr id="26" name="Text 23"/>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last subsidy is paid at block 6,929,999; the total ever issued is 20,999,999.9769 bitcoin.</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coinbase is the only transaction that creates bitcoin</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55</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coinbase and its maturity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null input, and 100 blocks of waiting</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null = {</a:t>
            </a:r>
            <a:r>
              <a:rPr lang="en-US" sz="1100" dirty="0">
                <a:solidFill>
                  <a:srgbClr val="9ECBFF"/>
                </a:solidFill>
                <a:latin typeface="Courier New" pitchFamily="34" charset="0"/>
                <a:ea typeface="Courier New" pitchFamily="34" charset="-122"/>
                <a:cs typeface="Courier New" pitchFamily="34" charset="-120"/>
              </a:rPr>
              <a:t>'txid'</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9ECBFF"/>
                </a:solidFill>
                <a:latin typeface="Courier New" pitchFamily="34" charset="0"/>
                <a:ea typeface="Courier New" pitchFamily="34" charset="-122"/>
                <a:cs typeface="Courier New" pitchFamily="34" charset="-120"/>
              </a:rPr>
              <a:t>'00'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32</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9ECBFF"/>
                </a:solidFill>
                <a:latin typeface="Courier New" pitchFamily="34" charset="0"/>
                <a:ea typeface="Courier New" pitchFamily="34" charset="-122"/>
                <a:cs typeface="Courier New" pitchFamily="34" charset="-120"/>
              </a:rPr>
              <a:t>'vout'</a:t>
            </a:r>
            <a:r>
              <a:rPr lang="en-US" sz="1100" dirty="0">
                <a:solidFill>
                  <a:srgbClr val="E6EDF3"/>
                </a:solidFill>
                <a:latin typeface="Courier New" pitchFamily="34" charset="0"/>
                <a:ea typeface="Courier New" pitchFamily="34" charset="-122"/>
                <a:cs typeface="Courier New" pitchFamily="34" charset="-120"/>
              </a:rPr>
              <a:t>: 0xffffffff}</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cb = {</a:t>
            </a:r>
            <a:r>
              <a:rPr lang="en-US" sz="1100" dirty="0">
                <a:solidFill>
                  <a:srgbClr val="9ECBFF"/>
                </a:solidFill>
                <a:latin typeface="Courier New" pitchFamily="34" charset="0"/>
                <a:ea typeface="Courier New" pitchFamily="34" charset="-122"/>
                <a:cs typeface="Courier New" pitchFamily="34" charset="-120"/>
              </a:rPr>
              <a:t>'inputs'</a:t>
            </a:r>
            <a:r>
              <a:rPr lang="en-US" sz="1100" dirty="0">
                <a:solidFill>
                  <a:srgbClr val="E6EDF3"/>
                </a:solidFill>
                <a:latin typeface="Courier New" pitchFamily="34" charset="0"/>
                <a:ea typeface="Courier New" pitchFamily="34" charset="-122"/>
                <a:cs typeface="Courier New" pitchFamily="34" charset="-120"/>
              </a:rPr>
              <a:t>: [null]}              </a:t>
            </a:r>
            <a:r>
              <a:rPr lang="en-US" sz="1100" i="1" dirty="0">
                <a:solidFill>
                  <a:srgbClr val="8FA98F"/>
                </a:solidFill>
                <a:latin typeface="Courier New" pitchFamily="34" charset="0"/>
                <a:ea typeface="Courier New" pitchFamily="34" charset="-122"/>
                <a:cs typeface="Courier New" pitchFamily="34" charset="-120"/>
              </a:rPr>
              <a:t># a coinbase</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flags = (is_coinbase(cb), is_coinbase(tx))</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ages = [(h, h - </a:t>
            </a:r>
            <a:r>
              <a:rPr lang="en-US" sz="1100" dirty="0">
                <a:solidFill>
                  <a:srgbClr val="FFD28A"/>
                </a:solidFill>
                <a:latin typeface="Courier New" pitchFamily="34" charset="0"/>
                <a:ea typeface="Courier New" pitchFamily="34" charset="-122"/>
                <a:cs typeface="Courier New" pitchFamily="34" charset="-120"/>
              </a:rPr>
              <a:t>9</a:t>
            </a:r>
            <a:r>
              <a:rPr lang="en-US" sz="1100" dirty="0">
                <a:solidFill>
                  <a:srgbClr val="E6EDF3"/>
                </a:solidFill>
                <a:latin typeface="Courier New" pitchFamily="34" charset="0"/>
                <a:ea typeface="Courier New" pitchFamily="34" charset="-122"/>
                <a:cs typeface="Courier New" pitchFamily="34" charset="-120"/>
              </a:rPr>
              <a:t>, coinbase_mature(</a:t>
            </a:r>
            <a:r>
              <a:rPr lang="en-US" sz="1100" dirty="0">
                <a:solidFill>
                  <a:srgbClr val="FFD28A"/>
                </a:solidFill>
                <a:latin typeface="Courier New" pitchFamily="34" charset="0"/>
                <a:ea typeface="Courier New" pitchFamily="34" charset="-122"/>
                <a:cs typeface="Courier New" pitchFamily="34" charset="-120"/>
              </a:rPr>
              <a:t>9</a:t>
            </a:r>
            <a:r>
              <a:rPr lang="en-US" sz="1100" dirty="0">
                <a:solidFill>
                  <a:srgbClr val="E6EDF3"/>
                </a:solidFill>
                <a:latin typeface="Courier New" pitchFamily="34" charset="0"/>
                <a:ea typeface="Courier New" pitchFamily="34" charset="-122"/>
                <a:cs typeface="Courier New" pitchFamily="34" charset="-120"/>
              </a:rPr>
              <a:t>, h))</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a:t>
            </a: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h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FD28A"/>
                </a:solidFill>
                <a:latin typeface="Courier New" pitchFamily="34" charset="0"/>
                <a:ea typeface="Courier New" pitchFamily="34" charset="-122"/>
                <a:cs typeface="Courier New" pitchFamily="34" charset="-120"/>
              </a:rPr>
              <a:t>100</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FD28A"/>
                </a:solidFill>
                <a:latin typeface="Courier New" pitchFamily="34" charset="0"/>
                <a:ea typeface="Courier New" pitchFamily="34" charset="-122"/>
                <a:cs typeface="Courier New" pitchFamily="34" charset="-120"/>
              </a:rPr>
              <a:t>108</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FD28A"/>
                </a:solidFill>
                <a:latin typeface="Courier New" pitchFamily="34" charset="0"/>
                <a:ea typeface="Courier New" pitchFamily="34" charset="-122"/>
                <a:cs typeface="Courier New" pitchFamily="34" charset="-120"/>
              </a:rPr>
              <a:t>109</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FD28A"/>
                </a:solidFill>
                <a:latin typeface="Courier New" pitchFamily="34" charset="0"/>
                <a:ea typeface="Courier New" pitchFamily="34" charset="-122"/>
                <a:cs typeface="Courier New" pitchFamily="34" charset="-120"/>
              </a:rPr>
              <a:t>170</a:t>
            </a: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coinbase input points at nothing: null txid, largest index.</a:t>
            </a:r>
            <a:endParaRPr lang="en-US" sz="1050" dirty="0"/>
          </a:p>
        </p:txBody>
      </p:sp>
      <p:sp>
        <p:nvSpPr>
          <p:cNvPr id="13" name="Shape 11"/>
          <p:cNvSpPr/>
          <p:nvPr/>
        </p:nvSpPr>
        <p:spPr>
          <a:xfrm>
            <a:off x="548640" y="182105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82105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Alice's transaction is ordinary, not a coinbase.</a:t>
            </a:r>
            <a:endParaRPr lang="en-US" sz="1050" dirty="0"/>
          </a:p>
        </p:txBody>
      </p:sp>
      <p:sp>
        <p:nvSpPr>
          <p:cNvPr id="18" name="Shape 16"/>
          <p:cNvSpPr/>
          <p:nvPr/>
        </p:nvSpPr>
        <p:spPr>
          <a:xfrm>
            <a:off x="548640" y="200266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00266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Coins from block 9 may be spent after 100 more blocks.</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coin created at block 9</a:t>
            </a:r>
            <a:endParaRPr lang="en-US" sz="11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3273552"/>
          <a:ext cx="5120640" cy="914400"/>
        </p:xfrm>
        <a:graphic>
          <a:graphicData uri="http://schemas.openxmlformats.org/drawingml/2006/table">
            <a:tbl>
              <a:tblPr/>
              <a:tblGrid>
                <a:gridCol w="1737360"/>
                <a:gridCol w="1737360"/>
                <a:gridCol w="1645920"/>
              </a:tblGrid>
              <a:tr h="254203">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Spend at block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Age in blocks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Spendable?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54203">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91</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4203">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108</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99</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4203">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109</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54203">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170</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161</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6" name="Text 23"/>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is_coinbase is True for the null input and False for Alice's transaction.</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Newly created coins cannot be spent until 100 blocks have passed</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55</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Weight and foundations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Weight is a transaction's postage; foundations are the post office's rules.</a:t>
            </a:r>
            <a:endParaRPr lang="en-US" sz="1500" dirty="0"/>
          </a:p>
        </p:txBody>
      </p:sp>
      <p:sp>
        <p:nvSpPr>
          <p:cNvPr id="6" name="Shape 4"/>
          <p:cNvSpPr/>
          <p:nvPr/>
        </p:nvSpPr>
        <p:spPr>
          <a:xfrm>
            <a:off x="777240" y="2148840"/>
            <a:ext cx="3858768" cy="1783080"/>
          </a:xfrm>
          <a:prstGeom prst="roundRect">
            <a:avLst>
              <a:gd name="adj" fmla="val 4103"/>
            </a:avLst>
          </a:prstGeom>
          <a:solidFill>
            <a:srgbClr val="2F6D62"/>
          </a:solidFill>
          <a:ln w="12700">
            <a:solidFill>
              <a:srgbClr val="2F6D62"/>
            </a:solidFill>
            <a:prstDash val="solid"/>
          </a:ln>
        </p:spPr>
      </p:sp>
      <p:sp>
        <p:nvSpPr>
          <p:cNvPr id="7" name="Text 5"/>
          <p:cNvSpPr txBox="1"/>
          <p:nvPr/>
        </p:nvSpPr>
        <p:spPr>
          <a:xfrm>
            <a:off x="850392" y="2194560"/>
            <a:ext cx="3712464" cy="1691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Weight and vbytes</a:t>
            </a:r>
            <a:endParaRPr lang="en-US" sz="1600" dirty="0"/>
          </a:p>
          <a:p>
            <a:pPr algn="ctr" indent="0" marL="0">
              <a:buNone/>
            </a:pPr>
            <a:r>
              <a:rPr lang="en-US" sz="1300" dirty="0">
                <a:solidFill>
                  <a:srgbClr val="D7E4E0"/>
                </a:solidFill>
                <a:latin typeface="Calibri" pitchFamily="34" charset="0"/>
                <a:ea typeface="Calibri" pitchFamily="34" charset="-122"/>
                <a:cs typeface="Calibri" pitchFamily="34" charset="-120"/>
              </a:rPr>
              <a:t>The measure that decides how much block space a transaction uses. Like postage that charges less for the small print.</a:t>
            </a:r>
            <a:endParaRPr lang="en-US" sz="1600" dirty="0"/>
          </a:p>
        </p:txBody>
      </p:sp>
      <p:sp>
        <p:nvSpPr>
          <p:cNvPr id="8" name="Shape 6"/>
          <p:cNvSpPr/>
          <p:nvPr/>
        </p:nvSpPr>
        <p:spPr>
          <a:xfrm>
            <a:off x="4782312" y="2148840"/>
            <a:ext cx="3858768" cy="1783080"/>
          </a:xfrm>
          <a:prstGeom prst="roundRect">
            <a:avLst>
              <a:gd name="adj" fmla="val 4103"/>
            </a:avLst>
          </a:prstGeom>
          <a:solidFill>
            <a:srgbClr val="2F6D62"/>
          </a:solidFill>
          <a:ln w="12700">
            <a:solidFill>
              <a:srgbClr val="2F6D62"/>
            </a:solidFill>
            <a:prstDash val="solid"/>
          </a:ln>
        </p:spPr>
      </p:sp>
      <p:sp>
        <p:nvSpPr>
          <p:cNvPr id="9" name="Text 7"/>
          <p:cNvSpPr txBox="1"/>
          <p:nvPr/>
        </p:nvSpPr>
        <p:spPr>
          <a:xfrm>
            <a:off x="4855464" y="2194560"/>
            <a:ext cx="3712464" cy="1691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Foundations</a:t>
            </a:r>
            <a:endParaRPr lang="en-US" sz="1600" dirty="0"/>
          </a:p>
          <a:p>
            <a:pPr algn="ctr" indent="0" marL="0">
              <a:buNone/>
            </a:pPr>
            <a:r>
              <a:rPr lang="en-US" sz="1300" dirty="0">
                <a:solidFill>
                  <a:srgbClr val="D7E4E0"/>
                </a:solidFill>
                <a:latin typeface="Calibri" pitchFamily="34" charset="0"/>
                <a:ea typeface="Calibri" pitchFamily="34" charset="-122"/>
                <a:cs typeface="Calibri" pitchFamily="34" charset="-120"/>
              </a:rPr>
              <a:t>The hashes, identifiers and rule sets the chapter rests on. Like the foundations under a house.</a:t>
            </a:r>
            <a:endParaRPr lang="en-US" sz="1600" dirty="0"/>
          </a:p>
        </p:txBody>
      </p:sp>
      <p:sp>
        <p:nvSpPr>
          <p:cNvPr id="10" name="Shape 8"/>
          <p:cNvSpPr/>
          <p:nvPr/>
        </p:nvSpPr>
        <p:spPr>
          <a:xfrm>
            <a:off x="777240" y="4114800"/>
            <a:ext cx="914400" cy="365760"/>
          </a:xfrm>
          <a:prstGeom prst="rect">
            <a:avLst/>
          </a:prstGeom>
          <a:solidFill>
            <a:srgbClr val="D97A14"/>
          </a:solidFill>
          <a:ln w="19050">
            <a:solidFill>
              <a:srgbClr val="FFFFFF"/>
            </a:solidFill>
            <a:prstDash val="solid"/>
          </a:ln>
        </p:spPr>
      </p:sp>
      <p:sp>
        <p:nvSpPr>
          <p:cNvPr id="11" name="Text 9"/>
          <p:cNvSpPr txBox="1"/>
          <p:nvPr/>
        </p:nvSpPr>
        <p:spPr>
          <a:xfrm>
            <a:off x="777240" y="4114800"/>
            <a:ext cx="9144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p>
        </p:txBody>
      </p:sp>
      <p:sp>
        <p:nvSpPr>
          <p:cNvPr id="12" name="Shape 10"/>
          <p:cNvSpPr/>
          <p:nvPr/>
        </p:nvSpPr>
        <p:spPr>
          <a:xfrm>
            <a:off x="1691640" y="4114800"/>
            <a:ext cx="822960" cy="365760"/>
          </a:xfrm>
          <a:prstGeom prst="rect">
            <a:avLst/>
          </a:prstGeom>
          <a:solidFill>
            <a:srgbClr val="D97A14"/>
          </a:solidFill>
          <a:ln w="19050">
            <a:solidFill>
              <a:srgbClr val="FFFFFF"/>
            </a:solidFill>
            <a:prstDash val="solid"/>
          </a:ln>
        </p:spPr>
      </p:sp>
      <p:sp>
        <p:nvSpPr>
          <p:cNvPr id="13" name="Text 11"/>
          <p:cNvSpPr txBox="1"/>
          <p:nvPr/>
        </p:nvSpPr>
        <p:spPr>
          <a:xfrm>
            <a:off x="1691640" y="4114800"/>
            <a:ext cx="8229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Marker Flag</a:t>
            </a:r>
            <a:endParaRPr lang="en-US" sz="1000" dirty="0"/>
          </a:p>
        </p:txBody>
      </p:sp>
      <p:sp>
        <p:nvSpPr>
          <p:cNvPr id="14" name="Shape 12"/>
          <p:cNvSpPr/>
          <p:nvPr/>
        </p:nvSpPr>
        <p:spPr>
          <a:xfrm>
            <a:off x="2514600" y="4114800"/>
            <a:ext cx="1737360" cy="365760"/>
          </a:xfrm>
          <a:prstGeom prst="rect">
            <a:avLst/>
          </a:prstGeom>
          <a:solidFill>
            <a:srgbClr val="D97A14"/>
          </a:solidFill>
          <a:ln w="19050">
            <a:solidFill>
              <a:srgbClr val="FFFFFF"/>
            </a:solidFill>
            <a:prstDash val="solid"/>
          </a:ln>
        </p:spPr>
      </p:sp>
      <p:sp>
        <p:nvSpPr>
          <p:cNvPr id="15" name="Text 13"/>
          <p:cNvSpPr txBox="1"/>
          <p:nvPr/>
        </p:nvSpPr>
        <p:spPr>
          <a:xfrm>
            <a:off x="2514600" y="4114800"/>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p>
        </p:txBody>
      </p:sp>
      <p:sp>
        <p:nvSpPr>
          <p:cNvPr id="16" name="Shape 14"/>
          <p:cNvSpPr/>
          <p:nvPr/>
        </p:nvSpPr>
        <p:spPr>
          <a:xfrm>
            <a:off x="4251960" y="4114800"/>
            <a:ext cx="1737360" cy="365760"/>
          </a:xfrm>
          <a:prstGeom prst="rect">
            <a:avLst/>
          </a:prstGeom>
          <a:solidFill>
            <a:srgbClr val="D97A14"/>
          </a:solidFill>
          <a:ln w="19050">
            <a:solidFill>
              <a:srgbClr val="FFFFFF"/>
            </a:solidFill>
            <a:prstDash val="solid"/>
          </a:ln>
        </p:spPr>
      </p:sp>
      <p:sp>
        <p:nvSpPr>
          <p:cNvPr id="17" name="Text 15"/>
          <p:cNvSpPr txBox="1"/>
          <p:nvPr/>
        </p:nvSpPr>
        <p:spPr>
          <a:xfrm>
            <a:off x="4251960" y="4114800"/>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Outputs</a:t>
            </a:r>
            <a:endParaRPr lang="en-US" sz="1000" dirty="0"/>
          </a:p>
        </p:txBody>
      </p:sp>
      <p:sp>
        <p:nvSpPr>
          <p:cNvPr id="18" name="Shape 16"/>
          <p:cNvSpPr/>
          <p:nvPr/>
        </p:nvSpPr>
        <p:spPr>
          <a:xfrm>
            <a:off x="5989320" y="4114800"/>
            <a:ext cx="1737360" cy="365760"/>
          </a:xfrm>
          <a:prstGeom prst="rect">
            <a:avLst/>
          </a:prstGeom>
          <a:solidFill>
            <a:srgbClr val="D97A14"/>
          </a:solidFill>
          <a:ln w="19050">
            <a:solidFill>
              <a:srgbClr val="FFFFFF"/>
            </a:solidFill>
            <a:prstDash val="solid"/>
          </a:ln>
        </p:spPr>
      </p:sp>
      <p:sp>
        <p:nvSpPr>
          <p:cNvPr id="19" name="Text 17"/>
          <p:cNvSpPr txBox="1"/>
          <p:nvPr/>
        </p:nvSpPr>
        <p:spPr>
          <a:xfrm>
            <a:off x="5989320" y="4114800"/>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Witnesses</a:t>
            </a:r>
            <a:endParaRPr lang="en-US" sz="1000" dirty="0"/>
          </a:p>
        </p:txBody>
      </p:sp>
      <p:sp>
        <p:nvSpPr>
          <p:cNvPr id="20" name="Shape 18"/>
          <p:cNvSpPr/>
          <p:nvPr/>
        </p:nvSpPr>
        <p:spPr>
          <a:xfrm>
            <a:off x="7726680" y="4114800"/>
            <a:ext cx="914400" cy="365760"/>
          </a:xfrm>
          <a:prstGeom prst="rect">
            <a:avLst/>
          </a:prstGeom>
          <a:solidFill>
            <a:srgbClr val="D97A14"/>
          </a:solidFill>
          <a:ln w="19050">
            <a:solidFill>
              <a:srgbClr val="FFFFFF"/>
            </a:solidFill>
            <a:prstDash val="solid"/>
          </a:ln>
        </p:spPr>
      </p:sp>
      <p:sp>
        <p:nvSpPr>
          <p:cNvPr id="21" name="Text 19"/>
          <p:cNvSpPr txBox="1"/>
          <p:nvPr/>
        </p:nvSpPr>
        <p:spPr>
          <a:xfrm>
            <a:off x="7726680" y="4114800"/>
            <a:ext cx="9144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Lock time</a:t>
            </a:r>
            <a:endParaRPr lang="en-US" sz="100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55</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Weight and foundations (1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Weight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3 times the legacy size plus the full size.</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postage priced by volume, with signatures at a discount.</a:t>
            </a:r>
            <a:endParaRPr lang="en-US" sz="1300" dirty="0"/>
          </a:p>
        </p:txBody>
      </p:sp>
      <p:sp>
        <p:nvSpPr>
          <p:cNvPr id="9" name="Shape 7"/>
          <p:cNvSpPr/>
          <p:nvPr/>
        </p:nvSpPr>
        <p:spPr>
          <a:xfrm>
            <a:off x="3249168" y="1280160"/>
            <a:ext cx="2645664"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3267456"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3432048"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Vbytes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Weight divided by four, rounded up.</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the parcel size after the discount is applied.</a:t>
            </a:r>
            <a:endParaRPr lang="en-US" sz="1300" dirty="0"/>
          </a:p>
        </p:txBody>
      </p:sp>
      <p:sp>
        <p:nvSpPr>
          <p:cNvPr id="12" name="Shape 10"/>
          <p:cNvSpPr/>
          <p:nvPr/>
        </p:nvSpPr>
        <p:spPr>
          <a:xfrm>
            <a:off x="6041136" y="1280160"/>
            <a:ext cx="2645664"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6059424" y="1408176"/>
            <a:ext cx="64008" cy="1280160"/>
          </a:xfrm>
          <a:prstGeom prst="rect">
            <a:avLst/>
          </a:prstGeom>
          <a:solidFill>
            <a:srgbClr val="D97A14"/>
          </a:solidFill>
          <a:ln w="12700">
            <a:solidFill>
              <a:srgbClr val="D97A14"/>
            </a:solidFill>
            <a:prstDash val="solid"/>
          </a:ln>
        </p:spPr>
      </p:sp>
      <p:sp>
        <p:nvSpPr>
          <p:cNvPr id="14" name="Text 12"/>
          <p:cNvSpPr txBox="1"/>
          <p:nvPr/>
        </p:nvSpPr>
        <p:spPr>
          <a:xfrm>
            <a:off x="6224016"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The block weight limit</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4 million weight a block.</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lorry that carries four million weight units.</a:t>
            </a:r>
            <a:endParaRPr lang="en-US" sz="1300" dirty="0"/>
          </a:p>
        </p:txBody>
      </p:sp>
      <p:sp>
        <p:nvSpPr>
          <p:cNvPr id="15" name="Shape 13"/>
          <p:cNvSpPr/>
          <p:nvPr/>
        </p:nvSpPr>
        <p:spPr>
          <a:xfrm>
            <a:off x="457200" y="2944368"/>
            <a:ext cx="2645664"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75488"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640080"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Weight factors</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4 for most fields, 1 for marker, flag and witness.</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price list: four for plain bytes, one for annex bytes.</a:t>
            </a:r>
            <a:endParaRPr lang="en-US" sz="1300" dirty="0"/>
          </a:p>
        </p:txBody>
      </p:sp>
      <p:sp>
        <p:nvSpPr>
          <p:cNvPr id="18" name="Shape 16"/>
          <p:cNvSpPr/>
          <p:nvPr/>
        </p:nvSpPr>
        <p:spPr>
          <a:xfrm>
            <a:off x="3249168" y="2944368"/>
            <a:ext cx="2645664" cy="1536192"/>
          </a:xfrm>
          <a:prstGeom prst="roundRect">
            <a:avLst>
              <a:gd name="adj" fmla="val 4762"/>
            </a:avLst>
          </a:prstGeom>
          <a:solidFill>
            <a:srgbClr val="F2ECE1"/>
          </a:solidFill>
          <a:ln w="12700">
            <a:solidFill>
              <a:srgbClr val="DFD6C7"/>
            </a:solidFill>
            <a:prstDash val="solid"/>
          </a:ln>
        </p:spPr>
      </p:sp>
      <p:sp>
        <p:nvSpPr>
          <p:cNvPr id="19" name="Shape 17"/>
          <p:cNvSpPr/>
          <p:nvPr/>
        </p:nvSpPr>
        <p:spPr>
          <a:xfrm>
            <a:off x="3267456" y="3072384"/>
            <a:ext cx="64008" cy="1280160"/>
          </a:xfrm>
          <a:prstGeom prst="rect">
            <a:avLst/>
          </a:prstGeom>
          <a:solidFill>
            <a:srgbClr val="D97A14"/>
          </a:solidFill>
          <a:ln w="12700">
            <a:solidFill>
              <a:srgbClr val="D97A14"/>
            </a:solidFill>
            <a:prstDash val="solid"/>
          </a:ln>
        </p:spPr>
      </p:sp>
      <p:sp>
        <p:nvSpPr>
          <p:cNvPr id="20" name="Text 18"/>
          <p:cNvSpPr txBox="1"/>
          <p:nvPr/>
        </p:nvSpPr>
        <p:spPr>
          <a:xfrm>
            <a:off x="3432048"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Hash function</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Any input, a fixed 32-byte digest.</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meat grinder: any input, a result of fixed size.</a:t>
            </a:r>
            <a:endParaRPr lang="en-US" sz="13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55</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569: weight by field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Where the weight of Alice's transaction comes from</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W = {}</a:t>
            </a:r>
            <a:endParaRPr lang="en-US" sz="1100" dirty="0"/>
          </a:p>
          <a:p>
            <a:pPr indent="0" marL="0">
              <a:lnSpc>
                <a:spcPts val="1430"/>
              </a:lnSpc>
              <a:buNone/>
            </a:pP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name, n, factor, w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field_weights(ALICE):</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key = name.split(</a:t>
            </a:r>
            <a:r>
              <a:rPr lang="en-US" sz="1100" dirty="0">
                <a:solidFill>
                  <a:srgbClr val="9ECBFF"/>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0</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    W[key] = W.get(key, </a:t>
            </a:r>
            <a:r>
              <a:rPr lang="en-US" sz="1100" dirty="0">
                <a:solidFill>
                  <a:srgbClr val="FFD28A"/>
                </a:solidFill>
                <a:latin typeface="Courier New" pitchFamily="34" charset="0"/>
                <a:ea typeface="Courier New" pitchFamily="34" charset="-122"/>
                <a:cs typeface="Courier New" pitchFamily="34" charset="-120"/>
              </a:rPr>
              <a:t>0</a:t>
            </a:r>
            <a:r>
              <a:rPr lang="en-US" sz="1100" dirty="0">
                <a:solidFill>
                  <a:srgbClr val="E6EDF3"/>
                </a:solidFill>
                <a:latin typeface="Courier New" pitchFamily="34" charset="0"/>
                <a:ea typeface="Courier New" pitchFamily="34" charset="-122"/>
                <a:cs typeface="Courier New" pitchFamily="34" charset="-120"/>
              </a:rPr>
              <a:t>) + w        </a:t>
            </a:r>
            <a:r>
              <a:rPr lang="en-US" sz="1100" i="1" dirty="0">
                <a:solidFill>
                  <a:srgbClr val="8FA98F"/>
                </a:solidFill>
                <a:latin typeface="Courier New" pitchFamily="34" charset="0"/>
                <a:ea typeface="Courier New" pitchFamily="34" charset="-122"/>
                <a:cs typeface="Courier New" pitchFamily="34" charset="-120"/>
              </a:rPr>
              <a:t># per group</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total = sum(W.values())               </a:t>
            </a:r>
            <a:r>
              <a:rPr lang="en-US" sz="1100" i="1" dirty="0">
                <a:solidFill>
                  <a:srgbClr val="8FA98F"/>
                </a:solidFill>
                <a:latin typeface="Courier New" pitchFamily="34" charset="0"/>
                <a:ea typeface="Courier New" pitchFamily="34" charset="-122"/>
                <a:cs typeface="Courier New" pitchFamily="34" charset="-120"/>
              </a:rPr>
              <a:t># weight</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vb = vbytes(ALICE)                    </a:t>
            </a:r>
            <a:r>
              <a:rPr lang="en-US" sz="1100" i="1" dirty="0">
                <a:solidFill>
                  <a:srgbClr val="8FA98F"/>
                </a:solidFill>
                <a:latin typeface="Courier New" pitchFamily="34" charset="0"/>
                <a:ea typeface="Courier New" pitchFamily="34" charset="-122"/>
                <a:cs typeface="Courier New" pitchFamily="34" charset="-120"/>
              </a:rPr>
              <a:t># weight / 4</a:t>
            </a:r>
            <a:endParaRPr lang="en-US" sz="1100" dirty="0"/>
          </a:p>
        </p:txBody>
      </p:sp>
      <p:sp>
        <p:nvSpPr>
          <p:cNvPr id="8" name="Shape 6"/>
          <p:cNvSpPr/>
          <p:nvPr/>
        </p:nvSpPr>
        <p:spPr>
          <a:xfrm>
            <a:off x="548640" y="163944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63944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field weighs bytes times four, except marker, flag, witness.</a:t>
            </a:r>
            <a:endParaRPr lang="en-US" sz="1050" dirty="0"/>
          </a:p>
        </p:txBody>
      </p:sp>
      <p:sp>
        <p:nvSpPr>
          <p:cNvPr id="13" name="Shape 11"/>
          <p:cNvSpPr/>
          <p:nvPr/>
        </p:nvSpPr>
        <p:spPr>
          <a:xfrm>
            <a:off x="548640" y="218427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218427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groups add up to the book's weight.</a:t>
            </a:r>
            <a:endParaRPr lang="en-US" sz="1050" dirty="0"/>
          </a:p>
        </p:txBody>
      </p:sp>
      <p:sp>
        <p:nvSpPr>
          <p:cNvPr id="18" name="Shape 16"/>
          <p:cNvSpPr/>
          <p:nvPr/>
        </p:nvSpPr>
        <p:spPr>
          <a:xfrm>
            <a:off x="548640" y="236588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36588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Virtual bytes are the weight divided by four, rounded up.</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weight units per field group (total 569)</a:t>
            </a:r>
            <a:endParaRPr lang="en-US" sz="1100" dirty="0"/>
          </a:p>
        </p:txBody>
      </p:sp>
      <p:graphicFrame>
        <p:nvGraphicFramePr>
          <p:cNvPr id="25" name="Chart 0" descr=""/>
          <p:cNvGraphicFramePr/>
          <p:nvPr/>
        </p:nvGraphicFramePr>
        <p:xfrm>
          <a:off x="457200" y="3273552"/>
          <a:ext cx="5120640" cy="1271016"/>
        </p:xfrm>
        <a:graphic xmlns:a="http://schemas.openxmlformats.org/drawingml/2006/main">
          <a:graphicData uri="http://schemas.openxmlformats.org/drawingml/2006/chart">
            <c:chart xmlns:c="http://schemas.openxmlformats.org/drawingml/2006/chart" r:id="rId1"/>
          </a:graphicData>
        </a:graphic>
      </p:graphicFrame>
      <p:sp>
        <p:nvSpPr>
          <p:cNvPr id="26" name="Text 23"/>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Total weight 569; divided by four and rounded up that is 143 virtual bytes.</a:t>
            </a:r>
            <a:endParaRPr lang="en-US" sz="11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Weight is what a block is filled by, and witness bytes cost a quarter</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55</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Weight and foundations (2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6192"/>
          </a:xfrm>
          <a:prstGeom prst="roundRect">
            <a:avLst>
              <a:gd name="adj" fmla="val 4762"/>
            </a:avLst>
          </a:prstGeom>
          <a:solidFill>
            <a:srgbClr val="F2ECE1"/>
          </a:solidFill>
          <a:ln w="12700">
            <a:solidFill>
              <a:srgbClr val="DFD6C7"/>
            </a:solidFill>
            <a:prstDash val="solid"/>
          </a:ln>
        </p:spPr>
      </p:sp>
      <p:sp>
        <p:nvSpPr>
          <p:cNvPr id="7" name="Shape 5"/>
          <p:cNvSpPr/>
          <p:nvPr/>
        </p:nvSpPr>
        <p:spPr>
          <a:xfrm>
            <a:off x="475488" y="1408176"/>
            <a:ext cx="64008" cy="128016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Double SHA-256</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SHA-256 of SHA-256.</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running the grinder twice for safety.</a:t>
            </a:r>
            <a:endParaRPr lang="en-US" sz="1300" dirty="0"/>
          </a:p>
        </p:txBody>
      </p:sp>
      <p:sp>
        <p:nvSpPr>
          <p:cNvPr id="9" name="Shape 7"/>
          <p:cNvSpPr/>
          <p:nvPr/>
        </p:nvSpPr>
        <p:spPr>
          <a:xfrm>
            <a:off x="3249168" y="1280160"/>
            <a:ext cx="2645664" cy="1536192"/>
          </a:xfrm>
          <a:prstGeom prst="roundRect">
            <a:avLst>
              <a:gd name="adj" fmla="val 4762"/>
            </a:avLst>
          </a:prstGeom>
          <a:solidFill>
            <a:srgbClr val="F2ECE1"/>
          </a:solidFill>
          <a:ln w="12700">
            <a:solidFill>
              <a:srgbClr val="DFD6C7"/>
            </a:solidFill>
            <a:prstDash val="solid"/>
          </a:ln>
        </p:spPr>
      </p:sp>
      <p:sp>
        <p:nvSpPr>
          <p:cNvPr id="10" name="Shape 8"/>
          <p:cNvSpPr/>
          <p:nvPr/>
        </p:nvSpPr>
        <p:spPr>
          <a:xfrm>
            <a:off x="3267456" y="1408176"/>
            <a:ext cx="64008" cy="1280160"/>
          </a:xfrm>
          <a:prstGeom prst="rect">
            <a:avLst/>
          </a:prstGeom>
          <a:solidFill>
            <a:srgbClr val="D97A14"/>
          </a:solidFill>
          <a:ln w="12700">
            <a:solidFill>
              <a:srgbClr val="D97A14"/>
            </a:solidFill>
            <a:prstDash val="solid"/>
          </a:ln>
        </p:spPr>
      </p:sp>
      <p:sp>
        <p:nvSpPr>
          <p:cNvPr id="11" name="Text 9"/>
          <p:cNvSpPr txBox="1"/>
          <p:nvPr/>
        </p:nvSpPr>
        <p:spPr>
          <a:xfrm>
            <a:off x="3432048"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Transaction identifier</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Double SHA-256 of the legacy bytes, reversed.</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parcel's tracking number from its plain contents.</a:t>
            </a:r>
            <a:endParaRPr lang="en-US" sz="1300" dirty="0"/>
          </a:p>
        </p:txBody>
      </p:sp>
      <p:sp>
        <p:nvSpPr>
          <p:cNvPr id="12" name="Shape 10"/>
          <p:cNvSpPr/>
          <p:nvPr/>
        </p:nvSpPr>
        <p:spPr>
          <a:xfrm>
            <a:off x="6041136" y="1280160"/>
            <a:ext cx="2645664" cy="1536192"/>
          </a:xfrm>
          <a:prstGeom prst="roundRect">
            <a:avLst>
              <a:gd name="adj" fmla="val 4762"/>
            </a:avLst>
          </a:prstGeom>
          <a:solidFill>
            <a:srgbClr val="F2ECE1"/>
          </a:solidFill>
          <a:ln w="12700">
            <a:solidFill>
              <a:srgbClr val="DFD6C7"/>
            </a:solidFill>
            <a:prstDash val="solid"/>
          </a:ln>
        </p:spPr>
      </p:sp>
      <p:sp>
        <p:nvSpPr>
          <p:cNvPr id="13" name="Shape 11"/>
          <p:cNvSpPr/>
          <p:nvPr/>
        </p:nvSpPr>
        <p:spPr>
          <a:xfrm>
            <a:off x="6059424" y="1408176"/>
            <a:ext cx="64008" cy="1280160"/>
          </a:xfrm>
          <a:prstGeom prst="rect">
            <a:avLst/>
          </a:prstGeom>
          <a:solidFill>
            <a:srgbClr val="D97A14"/>
          </a:solidFill>
          <a:ln w="12700">
            <a:solidFill>
              <a:srgbClr val="D97A14"/>
            </a:solidFill>
            <a:prstDash val="solid"/>
          </a:ln>
        </p:spPr>
      </p:sp>
      <p:sp>
        <p:nvSpPr>
          <p:cNvPr id="14" name="Text 12"/>
          <p:cNvSpPr txBox="1"/>
          <p:nvPr/>
        </p:nvSpPr>
        <p:spPr>
          <a:xfrm>
            <a:off x="6224016" y="1344168"/>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Witness transaction identifier</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The hash of everything, witness included.</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a tracking number that counts the annex too.</a:t>
            </a:r>
            <a:endParaRPr lang="en-US" sz="1300" dirty="0"/>
          </a:p>
        </p:txBody>
      </p:sp>
      <p:sp>
        <p:nvSpPr>
          <p:cNvPr id="15" name="Shape 13"/>
          <p:cNvSpPr/>
          <p:nvPr/>
        </p:nvSpPr>
        <p:spPr>
          <a:xfrm>
            <a:off x="457200" y="2944368"/>
            <a:ext cx="2645664" cy="1536192"/>
          </a:xfrm>
          <a:prstGeom prst="roundRect">
            <a:avLst>
              <a:gd name="adj" fmla="val 4762"/>
            </a:avLst>
          </a:prstGeom>
          <a:solidFill>
            <a:srgbClr val="F2ECE1"/>
          </a:solidFill>
          <a:ln w="12700">
            <a:solidFill>
              <a:srgbClr val="DFD6C7"/>
            </a:solidFill>
            <a:prstDash val="solid"/>
          </a:ln>
        </p:spPr>
      </p:sp>
      <p:sp>
        <p:nvSpPr>
          <p:cNvPr id="16" name="Shape 14"/>
          <p:cNvSpPr/>
          <p:nvPr/>
        </p:nvSpPr>
        <p:spPr>
          <a:xfrm>
            <a:off x="475488" y="3072384"/>
            <a:ext cx="64008" cy="1280160"/>
          </a:xfrm>
          <a:prstGeom prst="rect">
            <a:avLst/>
          </a:prstGeom>
          <a:solidFill>
            <a:srgbClr val="D97A14"/>
          </a:solidFill>
          <a:ln w="12700">
            <a:solidFill>
              <a:srgbClr val="D97A14"/>
            </a:solidFill>
            <a:prstDash val="solid"/>
          </a:ln>
        </p:spPr>
      </p:sp>
      <p:sp>
        <p:nvSpPr>
          <p:cNvPr id="17" name="Text 15"/>
          <p:cNvSpPr txBox="1"/>
          <p:nvPr/>
        </p:nvSpPr>
        <p:spPr>
          <a:xfrm>
            <a:off x="640080"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Relay policy</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What a node chooses to relay and keep.</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the house rules of one post office.</a:t>
            </a:r>
            <a:endParaRPr lang="en-US" sz="1300" dirty="0"/>
          </a:p>
        </p:txBody>
      </p:sp>
      <p:sp>
        <p:nvSpPr>
          <p:cNvPr id="18" name="Shape 16"/>
          <p:cNvSpPr/>
          <p:nvPr/>
        </p:nvSpPr>
        <p:spPr>
          <a:xfrm>
            <a:off x="3249168" y="2944368"/>
            <a:ext cx="2645664" cy="1536192"/>
          </a:xfrm>
          <a:prstGeom prst="roundRect">
            <a:avLst>
              <a:gd name="adj" fmla="val 4762"/>
            </a:avLst>
          </a:prstGeom>
          <a:solidFill>
            <a:srgbClr val="F2ECE1"/>
          </a:solidFill>
          <a:ln w="12700">
            <a:solidFill>
              <a:srgbClr val="DFD6C7"/>
            </a:solidFill>
            <a:prstDash val="solid"/>
          </a:ln>
        </p:spPr>
      </p:sp>
      <p:sp>
        <p:nvSpPr>
          <p:cNvPr id="19" name="Shape 17"/>
          <p:cNvSpPr/>
          <p:nvPr/>
        </p:nvSpPr>
        <p:spPr>
          <a:xfrm>
            <a:off x="3267456" y="3072384"/>
            <a:ext cx="64008" cy="1280160"/>
          </a:xfrm>
          <a:prstGeom prst="rect">
            <a:avLst/>
          </a:prstGeom>
          <a:solidFill>
            <a:srgbClr val="D97A14"/>
          </a:solidFill>
          <a:ln w="12700">
            <a:solidFill>
              <a:srgbClr val="D97A14"/>
            </a:solidFill>
            <a:prstDash val="solid"/>
          </a:ln>
        </p:spPr>
      </p:sp>
      <p:sp>
        <p:nvSpPr>
          <p:cNvPr id="20" name="Text 18"/>
          <p:cNvSpPr txBox="1"/>
          <p:nvPr/>
        </p:nvSpPr>
        <p:spPr>
          <a:xfrm>
            <a:off x="3432048" y="3008376"/>
            <a:ext cx="2371344" cy="1408176"/>
          </a:xfrm>
          <a:prstGeom prst="rect">
            <a:avLst/>
          </a:prstGeom>
          <a:noFill/>
          <a:ln/>
        </p:spPr>
        <p:txBody>
          <a:bodyPr wrap="square" lIns="0" tIns="0" rIns="0" bIns="0" rtlCol="0" anchor="t"/>
          <a:lstStyle/>
          <a:p>
            <a:pPr indent="0" marL="0">
              <a:spcAft>
                <a:spcPts val="300"/>
              </a:spcAft>
              <a:buNone/>
            </a:pPr>
            <a:r>
              <a:rPr lang="en-US" sz="1300" b="1" dirty="0">
                <a:solidFill>
                  <a:srgbClr val="2B2622"/>
                </a:solidFill>
                <a:latin typeface="Cambria" pitchFamily="34" charset="0"/>
                <a:ea typeface="Cambria" pitchFamily="34" charset="-122"/>
                <a:cs typeface="Cambria" pitchFamily="34" charset="-120"/>
              </a:rPr>
              <a:t>Consensus rule</a:t>
            </a:r>
            <a:endParaRPr lang="en-US" sz="1300" dirty="0"/>
          </a:p>
          <a:p>
            <a:pPr indent="0" marL="0">
              <a:spcAft>
                <a:spcPts val="300"/>
              </a:spcAft>
              <a:buNone/>
            </a:pPr>
            <a:r>
              <a:rPr lang="en-US" sz="1150" dirty="0">
                <a:solidFill>
                  <a:srgbClr val="2B2622"/>
                </a:solidFill>
                <a:latin typeface="Calibri" pitchFamily="34" charset="0"/>
                <a:ea typeface="Calibri" pitchFamily="34" charset="-122"/>
                <a:cs typeface="Calibri" pitchFamily="34" charset="-120"/>
              </a:rPr>
              <a:t>What every node must enforce identically.</a:t>
            </a:r>
            <a:endParaRPr lang="en-US" sz="1300" dirty="0"/>
          </a:p>
          <a:p>
            <a:pPr indent="0" marL="0">
              <a:spcAft>
                <a:spcPts val="300"/>
              </a:spcAft>
              <a:buNone/>
            </a:pPr>
            <a:r>
              <a:rPr lang="en-US" sz="1150" i="1" dirty="0">
                <a:solidFill>
                  <a:srgbClr val="2F6D62"/>
                </a:solidFill>
                <a:latin typeface="Calibri" pitchFamily="34" charset="0"/>
                <a:ea typeface="Calibri" pitchFamily="34" charset="-122"/>
                <a:cs typeface="Calibri" pitchFamily="34" charset="-120"/>
              </a:rPr>
              <a:t>Like the law every post office must obey identically.</a:t>
            </a:r>
            <a:endParaRPr lang="en-US" sz="13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55</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How a txid is made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Double SHA-256 of the legacy bytes, reversed</a:t>
            </a:r>
            <a:endParaRPr lang="en-US" sz="1300" dirty="0"/>
          </a:p>
        </p:txBody>
      </p:sp>
      <p:sp>
        <p:nvSpPr>
          <p:cNvPr id="6" name="Shape 4"/>
          <p:cNvSpPr/>
          <p:nvPr/>
        </p:nvSpPr>
        <p:spPr>
          <a:xfrm>
            <a:off x="457200" y="1325880"/>
            <a:ext cx="4937760" cy="1426464"/>
          </a:xfrm>
          <a:prstGeom prst="roundRect">
            <a:avLst>
              <a:gd name="adj" fmla="val 6410"/>
            </a:avLst>
          </a:prstGeom>
          <a:solidFill>
            <a:srgbClr val="23272E"/>
          </a:solidFill>
          <a:ln w="12700">
            <a:solidFill>
              <a:srgbClr val="23272E"/>
            </a:solidFill>
            <a:prstDash val="solid"/>
          </a:ln>
        </p:spPr>
      </p:sp>
      <p:sp>
        <p:nvSpPr>
          <p:cNvPr id="7" name="Text 5"/>
          <p:cNvSpPr txBox="1"/>
          <p:nvPr/>
        </p:nvSpPr>
        <p:spPr>
          <a:xfrm>
            <a:off x="868680" y="1444752"/>
            <a:ext cx="4389120" cy="1188720"/>
          </a:xfrm>
          <a:prstGeom prst="rect">
            <a:avLst/>
          </a:prstGeom>
          <a:noFill/>
          <a:ln/>
        </p:spPr>
        <p:txBody>
          <a:bodyPr wrap="square" lIns="0" tIns="0" rIns="0" bIns="0" rtlCol="0" anchor="t"/>
          <a:lstStyle/>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leg = serialize(tx, witness=</a:t>
            </a:r>
            <a:r>
              <a:rPr lang="en-US" sz="1100" b="1" dirty="0">
                <a:solidFill>
                  <a:srgbClr val="F2A860"/>
                </a:solidFill>
                <a:latin typeface="Courier New" pitchFamily="34" charset="0"/>
                <a:ea typeface="Courier New" pitchFamily="34" charset="-122"/>
                <a:cs typeface="Courier New" pitchFamily="34" charset="-120"/>
              </a:rPr>
              <a:t>False</a:t>
            </a:r>
            <a:r>
              <a:rPr lang="en-US" sz="1100" dirty="0">
                <a:solidFill>
                  <a:srgbClr val="E6EDF3"/>
                </a:solidFill>
                <a:latin typeface="Courier New" pitchFamily="34" charset="0"/>
                <a:ea typeface="Courier New" pitchFamily="34" charset="-122"/>
                <a:cs typeface="Courier New" pitchFamily="34" charset="-120"/>
              </a:rPr>
              <a:t>)    </a:t>
            </a:r>
            <a:r>
              <a:rPr lang="en-US" sz="1100" i="1" dirty="0">
                <a:solidFill>
                  <a:srgbClr val="8FA98F"/>
                </a:solidFill>
                <a:latin typeface="Courier New" pitchFamily="34" charset="0"/>
                <a:ea typeface="Courier New" pitchFamily="34" charset="-122"/>
                <a:cs typeface="Courier New" pitchFamily="34" charset="-120"/>
              </a:rPr>
              <a:t># no witness</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h1 = sha256(leg)                      </a:t>
            </a:r>
            <a:r>
              <a:rPr lang="en-US" sz="1100" i="1" dirty="0">
                <a:solidFill>
                  <a:srgbClr val="8FA98F"/>
                </a:solidFill>
                <a:latin typeface="Courier New" pitchFamily="34" charset="0"/>
                <a:ea typeface="Courier New" pitchFamily="34" charset="-122"/>
                <a:cs typeface="Courier New" pitchFamily="34" charset="-120"/>
              </a:rPr>
              <a:t># first hash</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h2 = sha256(h1)                       </a:t>
            </a:r>
            <a:r>
              <a:rPr lang="en-US" sz="1100" i="1" dirty="0">
                <a:solidFill>
                  <a:srgbClr val="8FA98F"/>
                </a:solidFill>
                <a:latin typeface="Courier New" pitchFamily="34" charset="0"/>
                <a:ea typeface="Courier New" pitchFamily="34" charset="-122"/>
                <a:cs typeface="Courier New" pitchFamily="34" charset="-120"/>
              </a:rPr>
              <a:t># second hash</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shown = h2[::-</a:t>
            </a:r>
            <a:r>
              <a:rPr lang="en-US" sz="1100" dirty="0">
                <a:solidFill>
                  <a:srgbClr val="FFD28A"/>
                </a:solidFill>
                <a:latin typeface="Courier New" pitchFamily="34" charset="0"/>
                <a:ea typeface="Courier New" pitchFamily="34" charset="-122"/>
                <a:cs typeface="Courier New" pitchFamily="34" charset="-120"/>
              </a:rPr>
              <a:t>1</a:t>
            </a:r>
            <a:r>
              <a:rPr lang="en-US" sz="1100" dirty="0">
                <a:solidFill>
                  <a:srgbClr val="E6EDF3"/>
                </a:solidFill>
                <a:latin typeface="Courier New" pitchFamily="34" charset="0"/>
                <a:ea typeface="Courier New" pitchFamily="34" charset="-122"/>
                <a:cs typeface="Courier New" pitchFamily="34" charset="-120"/>
              </a:rPr>
              <a:t>].hex()                </a:t>
            </a:r>
            <a:r>
              <a:rPr lang="en-US" sz="1100" i="1" dirty="0">
                <a:solidFill>
                  <a:srgbClr val="8FA98F"/>
                </a:solidFill>
                <a:latin typeface="Courier New" pitchFamily="34" charset="0"/>
                <a:ea typeface="Courier New" pitchFamily="34" charset="-122"/>
                <a:cs typeface="Courier New" pitchFamily="34" charset="-120"/>
              </a:rPr>
              <a:t># reversed</a:t>
            </a:r>
            <a:endParaRPr lang="en-US" sz="1100" dirty="0"/>
          </a:p>
          <a:p>
            <a:pPr indent="0" marL="0">
              <a:lnSpc>
                <a:spcPts val="1430"/>
              </a:lnSpc>
              <a:buNone/>
            </a:pPr>
            <a:r>
              <a:rPr lang="en-US" sz="1100" dirty="0">
                <a:solidFill>
                  <a:srgbClr val="E6EDF3"/>
                </a:solidFill>
                <a:latin typeface="Courier New" pitchFamily="34" charset="0"/>
                <a:ea typeface="Courier New" pitchFamily="34" charset="-122"/>
                <a:cs typeface="Courier New" pitchFamily="34" charset="-120"/>
              </a:rPr>
              <a:t>same = shown == txid(ALICE)</a:t>
            </a:r>
            <a:endParaRPr lang="en-US" sz="1100" dirty="0"/>
          </a:p>
        </p:txBody>
      </p:sp>
      <p:sp>
        <p:nvSpPr>
          <p:cNvPr id="8" name="Shape 6"/>
          <p:cNvSpPr/>
          <p:nvPr/>
        </p:nvSpPr>
        <p:spPr>
          <a:xfrm>
            <a:off x="548640" y="1457833"/>
            <a:ext cx="219456" cy="155448"/>
          </a:xfrm>
          <a:prstGeom prst="roundRect">
            <a:avLst>
              <a:gd name="adj" fmla="val 47059"/>
            </a:avLst>
          </a:prstGeom>
          <a:solidFill>
            <a:srgbClr val="D97A14"/>
          </a:solidFill>
          <a:ln w="12700">
            <a:solidFill>
              <a:srgbClr val="D97A14"/>
            </a:solidFill>
            <a:prstDash val="solid"/>
          </a:ln>
        </p:spPr>
      </p:sp>
      <p:sp>
        <p:nvSpPr>
          <p:cNvPr id="9" name="Text 7"/>
          <p:cNvSpPr txBox="1"/>
          <p:nvPr/>
        </p:nvSpPr>
        <p:spPr>
          <a:xfrm>
            <a:off x="548640" y="145783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5577840" y="1380744"/>
            <a:ext cx="256032" cy="256032"/>
          </a:xfrm>
          <a:prstGeom prst="ellipse">
            <a:avLst/>
          </a:prstGeom>
          <a:solidFill>
            <a:srgbClr val="D97A14"/>
          </a:solidFill>
          <a:ln w="12700">
            <a:solidFill>
              <a:srgbClr val="D97A14"/>
            </a:solidFill>
            <a:prstDash val="solid"/>
          </a:ln>
        </p:spPr>
      </p:sp>
      <p:sp>
        <p:nvSpPr>
          <p:cNvPr id="11" name="Text 9"/>
          <p:cNvSpPr txBox="1"/>
          <p:nvPr/>
        </p:nvSpPr>
        <p:spPr>
          <a:xfrm>
            <a:off x="5577840" y="13807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5925312" y="1325880"/>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Start from the legacy bytes: no witness.</a:t>
            </a:r>
            <a:endParaRPr lang="en-US" sz="1050" dirty="0"/>
          </a:p>
        </p:txBody>
      </p:sp>
      <p:sp>
        <p:nvSpPr>
          <p:cNvPr id="13" name="Shape 11"/>
          <p:cNvSpPr/>
          <p:nvPr/>
        </p:nvSpPr>
        <p:spPr>
          <a:xfrm>
            <a:off x="548640" y="1639443"/>
            <a:ext cx="219456" cy="155448"/>
          </a:xfrm>
          <a:prstGeom prst="roundRect">
            <a:avLst>
              <a:gd name="adj" fmla="val 47059"/>
            </a:avLst>
          </a:prstGeom>
          <a:solidFill>
            <a:srgbClr val="D97A14"/>
          </a:solidFill>
          <a:ln w="12700">
            <a:solidFill>
              <a:srgbClr val="D97A14"/>
            </a:solidFill>
            <a:prstDash val="solid"/>
          </a:ln>
        </p:spPr>
      </p:sp>
      <p:sp>
        <p:nvSpPr>
          <p:cNvPr id="14" name="Text 12"/>
          <p:cNvSpPr txBox="1"/>
          <p:nvPr/>
        </p:nvSpPr>
        <p:spPr>
          <a:xfrm>
            <a:off x="548640" y="163944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Shape 13"/>
          <p:cNvSpPr/>
          <p:nvPr/>
        </p:nvSpPr>
        <p:spPr>
          <a:xfrm>
            <a:off x="5577840" y="1874520"/>
            <a:ext cx="256032" cy="256032"/>
          </a:xfrm>
          <a:prstGeom prst="ellipse">
            <a:avLst/>
          </a:prstGeom>
          <a:solidFill>
            <a:srgbClr val="D97A14"/>
          </a:solidFill>
          <a:ln w="12700">
            <a:solidFill>
              <a:srgbClr val="D97A14"/>
            </a:solidFill>
            <a:prstDash val="solid"/>
          </a:ln>
        </p:spPr>
      </p:sp>
      <p:sp>
        <p:nvSpPr>
          <p:cNvPr id="16" name="Text 14"/>
          <p:cNvSpPr txBox="1"/>
          <p:nvPr/>
        </p:nvSpPr>
        <p:spPr>
          <a:xfrm>
            <a:off x="5577840" y="1874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5925312" y="1819656"/>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Hash them twice with SHA-256, one hash after the other.</a:t>
            </a:r>
            <a:endParaRPr lang="en-US" sz="1050" dirty="0"/>
          </a:p>
        </p:txBody>
      </p:sp>
      <p:sp>
        <p:nvSpPr>
          <p:cNvPr id="18" name="Shape 16"/>
          <p:cNvSpPr/>
          <p:nvPr/>
        </p:nvSpPr>
        <p:spPr>
          <a:xfrm>
            <a:off x="548640" y="2002663"/>
            <a:ext cx="219456" cy="155448"/>
          </a:xfrm>
          <a:prstGeom prst="roundRect">
            <a:avLst>
              <a:gd name="adj" fmla="val 47059"/>
            </a:avLst>
          </a:prstGeom>
          <a:solidFill>
            <a:srgbClr val="D97A14"/>
          </a:solidFill>
          <a:ln w="12700">
            <a:solidFill>
              <a:srgbClr val="D97A14"/>
            </a:solidFill>
            <a:prstDash val="solid"/>
          </a:ln>
        </p:spPr>
      </p:sp>
      <p:sp>
        <p:nvSpPr>
          <p:cNvPr id="19" name="Text 17"/>
          <p:cNvSpPr txBox="1"/>
          <p:nvPr/>
        </p:nvSpPr>
        <p:spPr>
          <a:xfrm>
            <a:off x="548640" y="2002663"/>
            <a:ext cx="219456"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5577840" y="2368296"/>
            <a:ext cx="256032" cy="256032"/>
          </a:xfrm>
          <a:prstGeom prst="ellipse">
            <a:avLst/>
          </a:prstGeom>
          <a:solidFill>
            <a:srgbClr val="D97A14"/>
          </a:solidFill>
          <a:ln w="12700">
            <a:solidFill>
              <a:srgbClr val="D97A14"/>
            </a:solidFill>
            <a:prstDash val="solid"/>
          </a:ln>
        </p:spPr>
      </p:sp>
      <p:sp>
        <p:nvSpPr>
          <p:cNvPr id="21" name="Text 19"/>
          <p:cNvSpPr txBox="1"/>
          <p:nvPr/>
        </p:nvSpPr>
        <p:spPr>
          <a:xfrm>
            <a:off x="5577840" y="23682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5925312" y="2313432"/>
            <a:ext cx="2761488" cy="40233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Reverse the digest for display: that is the txid.</a:t>
            </a:r>
            <a:endParaRPr lang="en-US" sz="1050" dirty="0"/>
          </a:p>
        </p:txBody>
      </p:sp>
      <p:sp>
        <p:nvSpPr>
          <p:cNvPr id="23" name="Text 21"/>
          <p:cNvSpPr txBox="1"/>
          <p:nvPr/>
        </p:nvSpPr>
        <p:spPr>
          <a:xfrm>
            <a:off x="457200" y="2779776"/>
            <a:ext cx="493776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Python 3.14.6 - ALICE, PREV, FIRST and tx as set up on slide 7</a:t>
            </a:r>
            <a:endParaRPr lang="en-US" sz="900" dirty="0"/>
          </a:p>
        </p:txBody>
      </p:sp>
      <p:sp>
        <p:nvSpPr>
          <p:cNvPr id="24" name="Text 22"/>
          <p:cNvSpPr txBox="1"/>
          <p:nvPr/>
        </p:nvSpPr>
        <p:spPr>
          <a:xfrm>
            <a:off x="457200" y="3026664"/>
            <a:ext cx="5120640" cy="2286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from the legacy bytes to the txid</a:t>
            </a:r>
            <a:endParaRPr lang="en-US" sz="1100" dirty="0"/>
          </a:p>
        </p:txBody>
      </p:sp>
      <p:sp>
        <p:nvSpPr>
          <p:cNvPr id="25" name="Shape 23"/>
          <p:cNvSpPr/>
          <p:nvPr/>
        </p:nvSpPr>
        <p:spPr>
          <a:xfrm>
            <a:off x="457200" y="3273552"/>
            <a:ext cx="923544" cy="1143000"/>
          </a:xfrm>
          <a:prstGeom prst="roundRect">
            <a:avLst>
              <a:gd name="adj" fmla="val 9901"/>
            </a:avLst>
          </a:prstGeom>
          <a:solidFill>
            <a:srgbClr val="2F6D62"/>
          </a:solidFill>
          <a:ln w="12700">
            <a:solidFill>
              <a:srgbClr val="2F6D62"/>
            </a:solidFill>
            <a:prstDash val="solid"/>
          </a:ln>
        </p:spPr>
      </p:sp>
      <p:sp>
        <p:nvSpPr>
          <p:cNvPr id="26" name="Text 24"/>
          <p:cNvSpPr txBox="1"/>
          <p:nvPr/>
        </p:nvSpPr>
        <p:spPr>
          <a:xfrm>
            <a:off x="530352" y="3319272"/>
            <a:ext cx="777240" cy="10515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Legacy bytes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125 bytes</a:t>
            </a:r>
            <a:endParaRPr lang="en-US" sz="1050" dirty="0"/>
          </a:p>
        </p:txBody>
      </p:sp>
      <p:sp>
        <p:nvSpPr>
          <p:cNvPr id="27" name="Shape 25"/>
          <p:cNvSpPr/>
          <p:nvPr/>
        </p:nvSpPr>
        <p:spPr>
          <a:xfrm>
            <a:off x="1435608" y="3845052"/>
            <a:ext cx="365760" cy="0"/>
          </a:xfrm>
          <a:prstGeom prst="line">
            <a:avLst/>
          </a:prstGeom>
          <a:noFill/>
          <a:ln w="25400">
            <a:solidFill>
              <a:srgbClr val="D97A14"/>
            </a:solidFill>
            <a:prstDash val="solid"/>
            <a:tailEnd type="triangle"/>
          </a:ln>
        </p:spPr>
      </p:sp>
      <p:sp>
        <p:nvSpPr>
          <p:cNvPr id="28" name="Shape 26"/>
          <p:cNvSpPr/>
          <p:nvPr/>
        </p:nvSpPr>
        <p:spPr>
          <a:xfrm>
            <a:off x="1856232" y="3273552"/>
            <a:ext cx="923544" cy="1143000"/>
          </a:xfrm>
          <a:prstGeom prst="roundRect">
            <a:avLst>
              <a:gd name="adj" fmla="val 9901"/>
            </a:avLst>
          </a:prstGeom>
          <a:solidFill>
            <a:srgbClr val="2F6D62"/>
          </a:solidFill>
          <a:ln w="12700">
            <a:solidFill>
              <a:srgbClr val="2F6D62"/>
            </a:solidFill>
            <a:prstDash val="solid"/>
          </a:ln>
        </p:spPr>
      </p:sp>
      <p:sp>
        <p:nvSpPr>
          <p:cNvPr id="29" name="Text 27"/>
          <p:cNvSpPr txBox="1"/>
          <p:nvPr/>
        </p:nvSpPr>
        <p:spPr>
          <a:xfrm>
            <a:off x="1929384" y="3319272"/>
            <a:ext cx="777240" cy="10515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SHA-256</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first hash</a:t>
            </a:r>
            <a:endParaRPr lang="en-US" sz="1050" dirty="0"/>
          </a:p>
        </p:txBody>
      </p:sp>
      <p:sp>
        <p:nvSpPr>
          <p:cNvPr id="30" name="Shape 28"/>
          <p:cNvSpPr/>
          <p:nvPr/>
        </p:nvSpPr>
        <p:spPr>
          <a:xfrm>
            <a:off x="2834640" y="3845052"/>
            <a:ext cx="365760" cy="0"/>
          </a:xfrm>
          <a:prstGeom prst="line">
            <a:avLst/>
          </a:prstGeom>
          <a:noFill/>
          <a:ln w="25400">
            <a:solidFill>
              <a:srgbClr val="D97A14"/>
            </a:solidFill>
            <a:prstDash val="solid"/>
            <a:tailEnd type="triangle"/>
          </a:ln>
        </p:spPr>
      </p:sp>
      <p:sp>
        <p:nvSpPr>
          <p:cNvPr id="31" name="Shape 29"/>
          <p:cNvSpPr/>
          <p:nvPr/>
        </p:nvSpPr>
        <p:spPr>
          <a:xfrm>
            <a:off x="3255264" y="3273552"/>
            <a:ext cx="923544" cy="1143000"/>
          </a:xfrm>
          <a:prstGeom prst="roundRect">
            <a:avLst>
              <a:gd name="adj" fmla="val 9901"/>
            </a:avLst>
          </a:prstGeom>
          <a:solidFill>
            <a:srgbClr val="2F6D62"/>
          </a:solidFill>
          <a:ln w="12700">
            <a:solidFill>
              <a:srgbClr val="2F6D62"/>
            </a:solidFill>
            <a:prstDash val="solid"/>
          </a:ln>
        </p:spPr>
      </p:sp>
      <p:sp>
        <p:nvSpPr>
          <p:cNvPr id="32" name="Text 30"/>
          <p:cNvSpPr txBox="1"/>
          <p:nvPr/>
        </p:nvSpPr>
        <p:spPr>
          <a:xfrm>
            <a:off x="3328416" y="3319272"/>
            <a:ext cx="777240" cy="10515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SHA-256</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second hash</a:t>
            </a:r>
            <a:endParaRPr lang="en-US" sz="1050" dirty="0"/>
          </a:p>
        </p:txBody>
      </p:sp>
      <p:sp>
        <p:nvSpPr>
          <p:cNvPr id="33" name="Shape 31"/>
          <p:cNvSpPr/>
          <p:nvPr/>
        </p:nvSpPr>
        <p:spPr>
          <a:xfrm>
            <a:off x="4233672" y="3845052"/>
            <a:ext cx="365760" cy="0"/>
          </a:xfrm>
          <a:prstGeom prst="line">
            <a:avLst/>
          </a:prstGeom>
          <a:noFill/>
          <a:ln w="25400">
            <a:solidFill>
              <a:srgbClr val="D97A14"/>
            </a:solidFill>
            <a:prstDash val="solid"/>
            <a:tailEnd type="triangle"/>
          </a:ln>
        </p:spPr>
      </p:sp>
      <p:sp>
        <p:nvSpPr>
          <p:cNvPr id="34" name="Shape 32"/>
          <p:cNvSpPr/>
          <p:nvPr/>
        </p:nvSpPr>
        <p:spPr>
          <a:xfrm>
            <a:off x="4654296" y="3273552"/>
            <a:ext cx="923544" cy="1143000"/>
          </a:xfrm>
          <a:prstGeom prst="roundRect">
            <a:avLst>
              <a:gd name="adj" fmla="val 9901"/>
            </a:avLst>
          </a:prstGeom>
          <a:solidFill>
            <a:srgbClr val="2F6D62"/>
          </a:solidFill>
          <a:ln w="12700">
            <a:solidFill>
              <a:srgbClr val="2F6D62"/>
            </a:solidFill>
            <a:prstDash val="solid"/>
          </a:ln>
        </p:spPr>
      </p:sp>
      <p:sp>
        <p:nvSpPr>
          <p:cNvPr id="35" name="Text 33"/>
          <p:cNvSpPr txBox="1"/>
          <p:nvPr/>
        </p:nvSpPr>
        <p:spPr>
          <a:xfrm>
            <a:off x="4727448" y="3319272"/>
            <a:ext cx="777240" cy="10515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Reverse</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466200308696215b...</a:t>
            </a:r>
            <a:endParaRPr lang="en-US" sz="1050" dirty="0"/>
          </a:p>
        </p:txBody>
      </p:sp>
      <p:sp>
        <p:nvSpPr>
          <p:cNvPr id="36" name="Text 34"/>
          <p:cNvSpPr txBox="1"/>
          <p:nvPr/>
        </p:nvSpPr>
        <p:spPr>
          <a:xfrm>
            <a:off x="5897880" y="3319272"/>
            <a:ext cx="2788920" cy="1179576"/>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reversed digest equals the library's txid.</a:t>
            </a:r>
            <a:endParaRPr lang="en-US" sz="1150" dirty="0"/>
          </a:p>
        </p:txBody>
      </p:sp>
      <p:sp>
        <p:nvSpPr>
          <p:cNvPr id="37"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38"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Identifiers are computed, never stored: anyone can recompute them</a:t>
            </a:r>
            <a:endParaRPr lang="en-US" sz="1350" dirty="0"/>
          </a:p>
        </p:txBody>
      </p:sp>
      <p:sp>
        <p:nvSpPr>
          <p:cNvPr id="39"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55</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asks strangers to update their ledgers: inputs point, witnesses prove, outputs assign.</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sequence field has meant three things, and the lock time is read against the median of eleven blocks.</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output is an amount and a condition; the fee is a difference, and dust is a policy about everyone's database.</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in the input script made identifiers malleable; segregated witness moved them out, as a soft fork.</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coinbase creates coins under a schedule that ends at block 6,929,999, and weight is what a block is filled by.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55</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2026-10-22;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6: Transactions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Transaction Malleability and MtGox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Decker and Wattenhofer's measurements, free to download</a:t>
            </a:r>
            <a:endParaRPr lang="en-US" sz="1000" dirty="0"/>
          </a:p>
        </p:txBody>
      </p:sp>
      <p:sp>
        <p:nvSpPr>
          <p:cNvPr id="11" name="Text 9"/>
          <p:cNvSpPr txBox="1"/>
          <p:nvPr/>
        </p:nvSpPr>
        <p:spPr>
          <a:xfrm>
            <a:off x="45720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871216"/>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BIP 141: Segregated Witness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Weight, witness data and the new transaction format  bips.dev</a:t>
            </a:r>
            <a:endParaRPr lang="en-US" sz="100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68: Relative lock-time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Locking an input by sequence numbers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125: Opt-in Replace-by-Fee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a transaction signals that it may be replaced  bips.dev</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Alice's transaction on mempool.space (tx)</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Block 775,072: the payment this chapter builds  mempool.space</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Wiki: Transaction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Fields of a transaction, explained on the wiki  en.bitcoin.it</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6" name="Shape 24"/>
          <p:cNvSpPr/>
          <p:nvPr/>
        </p:nvSpPr>
        <p:spPr>
          <a:xfrm>
            <a:off x="4768596" y="327355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Strange block 74638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forum thread where the overflow was found live</a:t>
            </a:r>
            <a:endParaRPr lang="en-US" sz="1000" dirty="0"/>
          </a:p>
        </p:txBody>
      </p:sp>
      <p:sp>
        <p:nvSpPr>
          <p:cNvPr id="28" name="Text 26"/>
          <p:cNvSpPr txBox="1"/>
          <p:nvPr/>
        </p:nvSpPr>
        <p:spPr>
          <a:xfrm>
            <a:off x="4732020" y="367588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9" name="Shape 27"/>
          <p:cNvSpPr/>
          <p:nvPr/>
        </p:nvSpPr>
        <p:spPr>
          <a:xfrm>
            <a:off x="4768596" y="4023360"/>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3950208"/>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 transaction (tutorial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Mobilefish.com walks through inputs, outputs and signatures</a:t>
            </a:r>
            <a:endParaRPr lang="en-US" sz="10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Parse any transaction yourself and match the explorer's identifier and weight</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55</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asks full nodes to do, field by field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sequence and lock time permit,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identifiers were malleable, and how segwit fixed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569 is computed, and who creates bitcoins under which schedule</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55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6</dc:title>
  <dc:subject>PptxGenJS Presentation</dc:subject>
  <dc:creator>Yusuf Altunel</dc:creator>
  <cp:lastModifiedBy>Yusuf Altunel</cp:lastModifiedBy>
  <cp:revision>1</cp:revision>
  <dcterms:created xsi:type="dcterms:W3CDTF">2026-10-22T18:46:25Z</dcterms:created>
  <dcterms:modified xsi:type="dcterms:W3CDTF">2026-10-22T18:46:25Z</dcterms:modified>
  <cp:version>2.0.0</cp:version>
</cp:coreProperties>
</file>