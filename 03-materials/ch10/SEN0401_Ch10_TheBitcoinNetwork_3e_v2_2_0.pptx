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nodes</c:v>
                </c:pt>
              </c:strCache>
            </c:strRef>
          </c:tx>
          <c:spPr>
            <a:solidFill>
              <a:srgbClr val="D97A14"/>
            </a:solidFill>
            <a:effectLst/>
          </c:spPr>
          <c:invertIfNegative val="0"/>
          <c:dLbls>
            <c:numFmt formatCode="General"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onion</c:v>
                  </c:pt>
                  <c:pt idx="1">
                    <c:v>ipv4</c:v>
                  </c:pt>
                  <c:pt idx="2">
                    <c:v>i2p</c:v>
                  </c:pt>
                  <c:pt idx="3">
                    <c:v>ipv6</c:v>
                  </c:pt>
                  <c:pt idx="4">
                    <c:v>cjdns</c:v>
                  </c:pt>
                </c:lvl>
              </c:multiLvlStrCache>
            </c:multiLvlStrRef>
          </c:cat>
          <c:val>
            <c:numRef>
              <c:f>Sheet1!$B$2:$B$6</c:f>
              <c:numCache>
                <c:formatCode>General</c:formatCode>
                <c:ptCount val="5"/>
                <c:pt idx="0">
                  <c:v>12488</c:v>
                </c:pt>
                <c:pt idx="1">
                  <c:v>7473</c:v>
                </c:pt>
                <c:pt idx="2">
                  <c:v>4208</c:v>
                </c:pt>
                <c:pt idx="3">
                  <c:v>1191</c:v>
                </c:pt>
                <c:pt idx="4">
                  <c:v>1</c:v>
                </c:pt>
              </c:numCache>
            </c:numRef>
          </c:val>
        </c:ser>
        <c:dLbls>
          <c:numFmt formatCode="General"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addresses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cat>
            <c:multiLvlStrRef>
              <c:f>Sheet1!$A$2:$A$9</c:f>
              <c:multiLvlStrCache>
                <c:ptCount val="8"/>
                <c:lvl>
                  <c:pt idx="0">
                    <c:v>bluematt</c:v>
                  </c:pt>
                  <c:pt idx="1">
                    <c:v>emzy</c:v>
                  </c:pt>
                  <c:pt idx="2">
                    <c:v>achownodes</c:v>
                  </c:pt>
                  <c:pt idx="3">
                    <c:v>sipa</c:v>
                  </c:pt>
                  <c:pt idx="4">
                    <c:v>jonasschnelli</c:v>
                  </c:pt>
                  <c:pt idx="5">
                    <c:v>petertodd</c:v>
                  </c:pt>
                  <c:pt idx="6">
                    <c:v>wiz</c:v>
                  </c:pt>
                  <c:pt idx="7">
                    <c:v>sprovoost</c:v>
                  </c:pt>
                </c:lvl>
              </c:multiLvlStrCache>
            </c:multiLvlStrRef>
          </c:cat>
          <c:val>
            <c:numRef>
              <c:f>Sheet1!$B$2:$B$9</c:f>
              <c:numCache>
                <c:formatCode>General</c:formatCode>
                <c:ptCount val="8"/>
                <c:pt idx="0">
                  <c:v>21</c:v>
                </c:pt>
                <c:pt idx="1">
                  <c:v>29</c:v>
                </c:pt>
                <c:pt idx="2">
                  <c:v>20</c:v>
                </c:pt>
                <c:pt idx="3">
                  <c:v>25</c:v>
                </c:pt>
                <c:pt idx="4">
                  <c:v>24</c:v>
                </c:pt>
                <c:pt idx="5">
                  <c:v>24</c:v>
                </c:pt>
                <c:pt idx="6">
                  <c:v>21</c:v>
                </c:pt>
                <c:pt idx="7">
                  <c:v>23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transactions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Pool of node F</c:v>
                  </c:pt>
                  <c:pt idx="1">
                    <c:v>Pool of node G</c:v>
                  </c:pt>
                </c:lvl>
              </c:multiLvlStrCache>
            </c:multiLvlStrRef>
          </c:cat>
          <c:val>
            <c:numRef>
              <c:f>Sheet1!$B$2:$B$3</c:f>
              <c:numCache>
                <c:formatCode>General</c:formatCode>
                <c:ptCount val="2"/>
                <c:pt idx="0">
                  <c:v>6</c:v>
                </c:pt>
                <c:pt idx="1">
                  <c:v>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Full block</c:v>
                  </c:pt>
                  <c:pt idx="1">
                    <c:v>Compact block</c:v>
                  </c:pt>
                </c:lvl>
              </c:multiLvlStrCache>
            </c:multiLvlStrRef>
          </c:cat>
          <c:val>
            <c:numRef>
              <c:f>Sheet1!$B$2:$B$3</c:f>
              <c:numCache>
                <c:formatCode>General</c:formatCode>
                <c:ptCount val="2"/>
                <c:pt idx="0">
                  <c:v>3062</c:v>
                </c:pt>
                <c:pt idx="1">
                  <c:v>332</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1 s</c:v>
                  </c:pt>
                  <c:pt idx="1">
                    <c:v>5 s</c:v>
                  </c:pt>
                  <c:pt idx="2">
                    <c:v>10 s</c:v>
                  </c:pt>
                  <c:pt idx="3">
                    <c:v>30 s</c:v>
                  </c:pt>
                  <c:pt idx="4">
                    <c:v>60 s</c:v>
                  </c:pt>
                </c:lvl>
              </c:multiLvlStrCache>
            </c:multiLvlStrRef>
          </c:cat>
          <c:val>
            <c:numRef>
              <c:f>Sheet1!$B$2:$B$6</c:f>
              <c:numCache>
                <c:formatCode>General</c:formatCode>
                <c:ptCount val="5"/>
                <c:pt idx="0">
                  <c:v>0.17</c:v>
                </c:pt>
                <c:pt idx="1">
                  <c:v>0.83</c:v>
                </c:pt>
                <c:pt idx="2">
                  <c:v>1.65</c:v>
                </c:pt>
                <c:pt idx="3">
                  <c:v>4.88</c:v>
                </c:pt>
                <c:pt idx="4">
                  <c:v>9.52</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Merkle proof</c:v>
                  </c:pt>
                  <c:pt idx="1">
                    <c:v>Whole block</c:v>
                  </c:pt>
                </c:lvl>
              </c:multiLvlStrCache>
            </c:multiLvlStrRef>
          </c:cat>
          <c:val>
            <c:numRef>
              <c:f>Sheet1!$B$2:$B$3</c:f>
              <c:numCache>
                <c:formatCode>General</c:formatCode>
                <c:ptCount val="2"/>
                <c:pt idx="0">
                  <c:v>215</c:v>
                </c:pt>
                <c:pt idx="1">
                  <c:v>4448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q = 0.1</c:v>
                </c:pt>
              </c:strCache>
            </c:strRef>
          </c:tx>
          <c:spPr>
            <a:solidFill>
              <a:srgbClr val="D97A14"/>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0</c:v>
                  </c:pt>
                  <c:pt idx="1">
                    <c:v>3</c:v>
                  </c:pt>
                  <c:pt idx="2">
                    <c:v>6</c:v>
                  </c:pt>
                </c:lvl>
              </c:multiLvlStrCache>
            </c:multiLvlStrRef>
          </c:cat>
          <c:val>
            <c:numRef>
              <c:f>Sheet1!$B$2:$B$4</c:f>
              <c:numCache>
                <c:formatCode>General</c:formatCode>
                <c:ptCount val="3"/>
                <c:pt idx="0">
                  <c:v>1</c:v>
                </c:pt>
                <c:pt idx="1">
                  <c:v>0.0132</c:v>
                </c:pt>
                <c:pt idx="2">
                  <c:v>0.0002</c:v>
                </c:pt>
              </c:numCache>
            </c:numRef>
          </c:val>
        </c:ser>
        <c:ser>
          <c:idx val="1"/>
          <c:order val="1"/>
          <c:tx>
            <c:strRef>
              <c:f>Sheet1!$C$1</c:f>
              <c:strCache>
                <c:ptCount val="1"/>
                <c:pt idx="0">
                  <c:v>q = 0.3</c:v>
                </c:pt>
              </c:strCache>
            </c:strRef>
          </c:tx>
          <c:spPr>
            <a:solidFill>
              <a:srgbClr val="2F6D62"/>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0</c:v>
                  </c:pt>
                  <c:pt idx="1">
                    <c:v>3</c:v>
                  </c:pt>
                  <c:pt idx="2">
                    <c:v>6</c:v>
                  </c:pt>
                </c:lvl>
              </c:multiLvlStrCache>
            </c:multiLvlStrRef>
          </c:cat>
          <c:val>
            <c:numRef>
              <c:f>Sheet1!$C$2:$C$4</c:f>
              <c:numCache>
                <c:formatCode>General</c:formatCode>
                <c:ptCount val="3"/>
                <c:pt idx="0">
                  <c:v>1</c:v>
                </c:pt>
                <c:pt idx="1">
                  <c:v>0.3246</c:v>
                </c:pt>
                <c:pt idx="2">
                  <c:v>0.1321</c:v>
                </c:pt>
              </c:numCache>
            </c:numRef>
          </c:val>
        </c:ser>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Measured</c:v>
                  </c:pt>
                  <c:pt idx="1">
                    <c:v>Formula</c:v>
                  </c:pt>
                </c:lvl>
              </c:multiLvlStrCache>
            </c:multiLvlStrRef>
          </c:cat>
          <c:val>
            <c:numRef>
              <c:f>Sheet1!$B$2:$B$3</c:f>
              <c:numCache>
                <c:formatCode>General</c:formatCode>
                <c:ptCount val="2"/>
                <c:pt idx="0">
                  <c:v>5.3</c:v>
                </c:pt>
                <c:pt idx="1">
                  <c:v>3.1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sorted numbers</c:v>
                </c:pt>
              </c:strCache>
            </c:strRef>
          </c:tx>
          <c:spPr>
            <a:solidFill>
              <a:srgbClr val="D97A14"/>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379</c:v>
                </c:pt>
                <c:pt idx="1">
                  <c:v>476</c:v>
                </c:pt>
                <c:pt idx="2">
                  <c:v>653</c:v>
                </c:pt>
                <c:pt idx="3">
                  <c:v>849</c:v>
                </c:pt>
                <c:pt idx="4">
                  <c:v>900</c:v>
                </c:pt>
              </c:numCache>
            </c:numRef>
          </c:val>
        </c:ser>
        <c:ser>
          <c:idx val="1"/>
          <c:order val="1"/>
          <c:tx>
            <c:strRef>
              <c:f>Sheet1!$C$1</c:f>
              <c:strCache>
                <c:ptCount val="1"/>
                <c:pt idx="0">
                  <c:v>differences</c:v>
                </c:pt>
              </c:strCache>
            </c:strRef>
          </c:tx>
          <c:spPr>
            <a:solidFill>
              <a:srgbClr val="2F6D62"/>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Sheet1!$C$2:$C$6</c:f>
              <c:numCache>
                <c:formatCode>General</c:formatCode>
                <c:ptCount val="5"/>
                <c:pt idx="0">
                  <c:v>379</c:v>
                </c:pt>
                <c:pt idx="1">
                  <c:v>97</c:v>
                </c:pt>
                <c:pt idx="2">
                  <c:v>177</c:v>
                </c:pt>
                <c:pt idx="3">
                  <c:v>196</c:v>
                </c:pt>
                <c:pt idx="4">
                  <c:v>51</c:v>
                </c:pt>
              </c:numCache>
            </c:numRef>
          </c:val>
        </c:ser>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the Bitcoin network works: who is on it, how nodes find each other, and how blocks and payments travel. Every number on a result picture was read from one recorded run of Bitcoin Core 31.1 on a test chain, or computed with the chapter's own Python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that follow the order of the chapter. Five true stories and twenty-two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three parts and 56 key concepts. Each part gets a divider, concept cards with everyday comparisons, code that runs, and true stories.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Bitcoin network is a crowd of ordinary computers that follow the same rules. This part shows who they are, what a node says when it first meets another, and which services it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Who is on the network.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nodes cannot trade blocks until they have greeted each other. The first message is version, naming the software, the protocol and the chain height, and verack confirms it. This greeting was recorded from Bitcoin Core 31.1 on a test chain.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starts with the same 24 bytes. The magic tells which network it belongs to, the command names the message, the length says how much follows, and the checksum guards the payload. Verack has no payload at all.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Who is on the network.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Services travel as bits in the greeting. A full node offers NETWORK, meaning it can serve the whole chain, while a pruned node has deleted old blocks and leaves that bit out. Both are recorded from the same run.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Onion addresses are the largest group of reachable nodes, ahead of IPv4 and I2P. Almost all nodes run Bitcoin Core or its variant Knots. These counts come from one saved snapshot, so treat them as a picture of one day and not as a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node finds its first neighbours, keeps a limited set of links, and learns to pass blocks and payments on. We measure how little a compact block needs and where a payment waits.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Peers, blocks and transactions.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node has no peers, so it asks the DNS seeds that are written into its code. Each seed answered with a different list of reachable nodes. The node then dials them on the default port, 8333, and learns more from there.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Nodes gossip addresses to each other. The old addr message has room for IPv4 and IPv6 only, while addrv2 gives each address a network id and a length, so longer onion and I2P addresses fit. A reply is capped at a share of the address book.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keeps different kinds of links. Full-relay links carry everything, while block-relay-only links carry blocks but no payments and no addresses, which makes them harder to spy on. The limits are constants in the source, read from the saved file.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2015-08-12. At the USENIX Security Symposium in Washington, D.C., which began on 12 August 2015, Ethan Heilman, Alison Kendler, Aviv Zohar and Sharon Goldberg presented Eclipse Attacks on Bitcoin's Peer-to-Peer Network. The lesson is that a node is only as honest as the peers it happens to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node asks for headers before blocks. Each header is 80 bytes and a reply holds up to 2000, so in this run two replies carried the whole chain of 2101 headers. The node checks they link up, then downloads the blocks.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Peers, blocks and transactions.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announces a payment by its witness id, not by the plain id. A peer can also say that it wants only payments above a fee rate. In the run, the peer with a filter heard of the dearer payment only.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child payment can arrive before the payment it spends. The node cannot check it yet, so it keeps it aside and asks the sender for the parent. When the parent arrives, both enter the memory pool.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memory pool holds payments that are valid but not yet in a block, and each node has its own. In the run one node held six and the other none, yet the set of unspent outputs, which only blocks change, was identical on both.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Peers, blocks and transactions.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peer already knows most payments of a new block from its memory pool. So the block travels as a header, a short id of 6 bytes per payment, and the few payments the peer cannot have. The saving here is about nine tenths.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2016-04-27. On 27 April 2016 the number 152 was assigned to the BIP Compact Block Relay by Matt Corallo. The lesson is that do not resend what the receiver already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peer may announce first and wait to be asked, or push the compact block unasked. Pushing saves one round trip, which matters when blocks race. Announcing first wastes nothing on a peer that already has the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Blocks arrive at random, on average every ten minutes, so while your block is still travelling someone else may find one. The longer the delay, the likelier the rival, which is why fast relay matters most to miners.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Peers, blocks and transactions.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error correction sends a little extra so that losses can be repaired without asking again. The simplest form is one parity part: the XOR of all others. XOR the survivors with the parity and the lost part appears.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phone cannot hold the chain, so it asks. This part follows the question: Merkle paths, the Bloom filter that told on wallets, block filters that turn the question around, and the new encrypted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Light clients, privacy and transport.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client keeps only headers. To check a payment it asks a full node for the Merkle path from that payment to the root stored in the header. Recomputing the path and getting the same root proves the payment is in the block.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attacker tries to build a longer secret chain. Nakamoto computed the chance of ever catching up from z blocks behind. With ten percent of the hash rate it falls quickly; with thirty percent it stays large for longer.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Light clients, privacy and transport.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Bloom filter sets a few bits for each item added, and a test looks at the same bits. If one is clear, the item was definitely not added; if all are set, it may have been. The measured wrong-maybe rate follows the formula roughly.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Bloom filters told full nodes which addresses a wallet owned, but Bitcoin Core now keeps the service off. A node run with defaults does not set the BLOOM bit and disconnects a peer that sends filterload, while with the option on the filter works.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2012-10-24. BIP 37 was assigned to Mike Hearn and Matt Corallo on 24 October 2012: a light client would send a Bloom filter of its addresses to a full node and receive only matching transactions. The lesson is that a privacy tool can leak more than it hides.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Light clients, privacy and transport.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filter is a sorted list of hash values. Instead of sending each value, send the first and then only the gaps between neighbours. The gaps are smaller than the numbers, so each needs fewer bits.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Golomb-Rice coding writes each gap as a quotient in unary followed by p remainder bits. It is lossless: decoding returns the identical list. Here it needs fewer bits than a fixed width, and for a real filter the saving is larger.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library rebuilds the basic filter of a block from the block and the scripts it spends, without using Bitcoin Core code. It matched Core's filter and filter header, and it also reproduced all ten test vectors of BIP 158.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2016-05-09. On Monday 9 May 2016 a developer writing as bfd posted to the bitcoin-dev list the message Committed Bloom filters for improved wallet performance and SPV security. The lesson is that reverse the question and the leak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Light clients, privacy and transport.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old transport the network magic and the word version are plain to see. In version 2 neither appears, and the stream has almost eight bits of entropy per byte, which is what random data looks like. It is encrypted, not authenticated. It is example 21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2019-03-08. Jonas Schnelli proposed encrypting peer connections in BIP 151 on 23 March 2016, a proposal that drew mixed comments and was closed with a replacement named. The lesson is that defaults decide how private a network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fresh node reaches the Internet over IPv4 and IPv6. A node configured for Tor reaches the onion network only, so its address is not exposed. The chapter library reads both configurations from the recorded run. It is example 22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figure in it was read from the recorded run or computed there. The chapter code tab of the course page reruns all twenty-two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the date in the subtitle. A good start is the USENIX talk on eclipse attacks, then the Optech topic on compact block relay. The course page for chapter 10 carries the full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10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www.usenix.org/conference/usenixsecurity15/technical-sessions/presentation/heilman"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hyperlink" Target="https://bips.dev/152/"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hyperlink" Target="https://eprint.iacr.org/2014/763" TargetMode="External"/><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hyperlink" Target="https://bips.dev/157/" TargetMode="External"/><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hyperlink" Target="https://bips.dev/324/"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bitcoinops.org/en/topics/compact-block-relay/" TargetMode="External"/><Relationship Id="rId2" Type="http://schemas.openxmlformats.org/officeDocument/2006/relationships/hyperlink" Target="https://bitcoinops.org/en/topics/v2-p2p-transport/" TargetMode="External"/><Relationship Id="rId3" Type="http://schemas.openxmlformats.org/officeDocument/2006/relationships/hyperlink" Target="https://bitnodes.io/" TargetMode="External"/><Relationship Id="rId4" Type="http://schemas.openxmlformats.org/officeDocument/2006/relationships/hyperlink" Target="https://bips.dev/152/" TargetMode="External"/><Relationship Id="rId5" Type="http://schemas.openxmlformats.org/officeDocument/2006/relationships/hyperlink" Target="https://bips.dev/324/" TargetMode="External"/><Relationship Id="rId6" Type="http://schemas.openxmlformats.org/officeDocument/2006/relationships/hyperlink" Target="https://www.usenix.org/conference/usenixsecurity15/technical-sessions/presentation/heilman" TargetMode="External"/><Relationship Id="rId7" Type="http://schemas.openxmlformats.org/officeDocument/2006/relationships/hyperlink" Target="https://www.youtube.com/embed/b-qGTj2Vvns" TargetMode="External"/><Relationship Id="rId8" Type="http://schemas.openxmlformats.org/officeDocument/2006/relationships/hyperlink" Target="https://www.youtube.com/embed/7FWKc8lM4Ek"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10: The Bitcoin Network</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nodes find each other, pass blocks and payments, and what moved since print</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0/assets/ch10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results are recorded, not run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49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parts; every number is a slide you can jump to</a:t>
            </a:r>
            <a:endParaRPr lang="en-US" sz="1300" dirty="0"/>
          </a:p>
        </p:txBody>
      </p:sp>
      <p:sp>
        <p:nvSpPr>
          <p:cNvPr id="6" name="Shape 4"/>
          <p:cNvSpPr/>
          <p:nvPr/>
        </p:nvSpPr>
        <p:spPr>
          <a:xfrm>
            <a:off x="457200" y="1280160"/>
            <a:ext cx="2807208" cy="1536192"/>
          </a:xfrm>
          <a:prstGeom prst="roundRect">
            <a:avLst>
              <a:gd name="adj" fmla="val 4762"/>
            </a:avLst>
          </a:prstGeom>
          <a:solidFill>
            <a:srgbClr val="F2ECE1"/>
          </a:solidFill>
          <a:ln w="12700">
            <a:solidFill>
              <a:srgbClr val="DFD6C7"/>
            </a:solidFill>
            <a:prstDash val="solid"/>
          </a:ln>
        </p:spPr>
      </p:sp>
      <p:sp>
        <p:nvSpPr>
          <p:cNvPr id="7" name="Text 5"/>
          <p:cNvSpPr txBox="1"/>
          <p:nvPr/>
        </p:nvSpPr>
        <p:spPr>
          <a:xfrm>
            <a:off x="548640" y="1335024"/>
            <a:ext cx="2624328" cy="1426464"/>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1536192"/>
          </a:xfrm>
          <a:prstGeom prst="roundRect">
            <a:avLst>
              <a:gd name="adj" fmla="val 4762"/>
            </a:avLst>
          </a:prstGeom>
          <a:solidFill>
            <a:srgbClr val="F2ECE1"/>
          </a:solidFill>
          <a:ln w="12700">
            <a:solidFill>
              <a:srgbClr val="DFD6C7"/>
            </a:solidFill>
            <a:prstDash val="solid"/>
          </a:ln>
        </p:spPr>
      </p:sp>
      <p:sp>
        <p:nvSpPr>
          <p:cNvPr id="9" name="Text 7"/>
          <p:cNvSpPr txBox="1"/>
          <p:nvPr/>
        </p:nvSpPr>
        <p:spPr>
          <a:xfrm>
            <a:off x="3502152" y="1335024"/>
            <a:ext cx="2624328" cy="1426464"/>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Who is on the network</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5-11)</a:t>
            </a:r>
            <a:endParaRPr lang="en-US" sz="1100" dirty="0"/>
          </a:p>
        </p:txBody>
      </p:sp>
      <p:sp>
        <p:nvSpPr>
          <p:cNvPr id="10" name="Shape 8"/>
          <p:cNvSpPr/>
          <p:nvPr/>
        </p:nvSpPr>
        <p:spPr>
          <a:xfrm>
            <a:off x="457200" y="2944368"/>
            <a:ext cx="2807208" cy="1536192"/>
          </a:xfrm>
          <a:prstGeom prst="roundRect">
            <a:avLst>
              <a:gd name="adj" fmla="val 4762"/>
            </a:avLst>
          </a:prstGeom>
          <a:solidFill>
            <a:srgbClr val="F2ECE1"/>
          </a:solidFill>
          <a:ln w="12700">
            <a:solidFill>
              <a:srgbClr val="DFD6C7"/>
            </a:solidFill>
            <a:prstDash val="solid"/>
          </a:ln>
        </p:spPr>
      </p:sp>
      <p:sp>
        <p:nvSpPr>
          <p:cNvPr id="11" name="Text 9"/>
          <p:cNvSpPr txBox="1"/>
          <p:nvPr/>
        </p:nvSpPr>
        <p:spPr>
          <a:xfrm>
            <a:off x="548640" y="2999232"/>
            <a:ext cx="2624328" cy="1426464"/>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Peers, blocks and transactions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12-29)</a:t>
            </a:r>
            <a:endParaRPr lang="en-US" sz="1100" dirty="0"/>
          </a:p>
        </p:txBody>
      </p:sp>
      <p:sp>
        <p:nvSpPr>
          <p:cNvPr id="12" name="Shape 10"/>
          <p:cNvSpPr/>
          <p:nvPr/>
        </p:nvSpPr>
        <p:spPr>
          <a:xfrm>
            <a:off x="3410712" y="2944368"/>
            <a:ext cx="2807208" cy="1536192"/>
          </a:xfrm>
          <a:prstGeom prst="roundRect">
            <a:avLst>
              <a:gd name="adj" fmla="val 4762"/>
            </a:avLst>
          </a:prstGeom>
          <a:solidFill>
            <a:srgbClr val="F2ECE1"/>
          </a:solidFill>
          <a:ln w="12700">
            <a:solidFill>
              <a:srgbClr val="DFD6C7"/>
            </a:solidFill>
            <a:prstDash val="solid"/>
          </a:ln>
        </p:spPr>
      </p:sp>
      <p:sp>
        <p:nvSpPr>
          <p:cNvPr id="13" name="Text 11"/>
          <p:cNvSpPr txBox="1"/>
          <p:nvPr/>
        </p:nvSpPr>
        <p:spPr>
          <a:xfrm>
            <a:off x="3502152" y="2999232"/>
            <a:ext cx="2624328" cy="1426464"/>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Light clients, privacy and transport</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30-49)</a:t>
            </a:r>
            <a:endParaRPr lang="en-US" sz="1100" dirty="0"/>
          </a:p>
        </p:txBody>
      </p:sp>
      <p:sp>
        <p:nvSpPr>
          <p:cNvPr id="14" name="Shape 12"/>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49</a:t>
            </a:r>
            <a:endParaRPr lang="en-US" sz="2600" dirty="0"/>
          </a:p>
        </p:txBody>
      </p:sp>
      <p:sp>
        <p:nvSpPr>
          <p:cNvPr id="16" name="Text 14"/>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17" name="Shape 15"/>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18" name="Text 16"/>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a:t>
            </a:r>
            <a:endParaRPr lang="en-US" sz="2600" dirty="0"/>
          </a:p>
        </p:txBody>
      </p:sp>
      <p:sp>
        <p:nvSpPr>
          <p:cNvPr id="19" name="Text 17"/>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0" name="Shape 18"/>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a:t>
            </a:r>
            <a:endParaRPr lang="en-US" sz="2600" dirty="0"/>
          </a:p>
        </p:txBody>
      </p:sp>
      <p:sp>
        <p:nvSpPr>
          <p:cNvPr id="22" name="Text 20"/>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twenty-two examples, five true stories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49</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is on the network, and what does a node say when it first meets another?</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a new node find its first peers, and how many links does it keep?</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 block travel in a few hundred bytes, and why does speed matter?</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does a payment wait, and what happens to one that arrives before its parent?</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 phone check a payment without the chain?</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did Bloom filters leak, and how do block filters turn the question around?</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the encrypted transport hide, and what does it leave open?</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49</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three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2645664" cy="3108960"/>
          </a:xfrm>
          <a:prstGeom prst="roundRect">
            <a:avLst>
              <a:gd name="adj" fmla="val 2765"/>
            </a:avLst>
          </a:prstGeom>
          <a:solidFill>
            <a:srgbClr val="F2ECE1"/>
          </a:solidFill>
          <a:ln w="12700">
            <a:solidFill>
              <a:srgbClr val="DFD6C7"/>
            </a:solidFill>
            <a:prstDash val="solid"/>
          </a:ln>
        </p:spPr>
      </p:sp>
      <p:sp>
        <p:nvSpPr>
          <p:cNvPr id="7" name="Text 5"/>
          <p:cNvSpPr txBox="1"/>
          <p:nvPr/>
        </p:nvSpPr>
        <p:spPr>
          <a:xfrm>
            <a:off x="548640" y="1335024"/>
            <a:ext cx="2462784" cy="299923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Who is on the network</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key concepts, 3 examples</a:t>
            </a:r>
            <a:endParaRPr lang="en-US" sz="1300" dirty="0"/>
          </a:p>
        </p:txBody>
      </p:sp>
      <p:sp>
        <p:nvSpPr>
          <p:cNvPr id="8" name="Shape 6"/>
          <p:cNvSpPr/>
          <p:nvPr/>
        </p:nvSpPr>
        <p:spPr>
          <a:xfrm>
            <a:off x="3249168" y="1280160"/>
            <a:ext cx="2645664" cy="3108960"/>
          </a:xfrm>
          <a:prstGeom prst="roundRect">
            <a:avLst>
              <a:gd name="adj" fmla="val 2765"/>
            </a:avLst>
          </a:prstGeom>
          <a:solidFill>
            <a:srgbClr val="D97A14"/>
          </a:solidFill>
          <a:ln w="12700">
            <a:solidFill>
              <a:srgbClr val="D97A14"/>
            </a:solidFill>
            <a:prstDash val="solid"/>
          </a:ln>
        </p:spPr>
      </p:sp>
      <p:sp>
        <p:nvSpPr>
          <p:cNvPr id="9" name="Text 7"/>
          <p:cNvSpPr txBox="1"/>
          <p:nvPr/>
        </p:nvSpPr>
        <p:spPr>
          <a:xfrm>
            <a:off x="3340608" y="1335024"/>
            <a:ext cx="2462784" cy="29992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Peers, blocks and transactions</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21 key concepts, 10 examples</a:t>
            </a:r>
            <a:endParaRPr lang="en-US" sz="1300" dirty="0"/>
          </a:p>
        </p:txBody>
      </p:sp>
      <p:sp>
        <p:nvSpPr>
          <p:cNvPr id="10" name="Shape 8"/>
          <p:cNvSpPr/>
          <p:nvPr/>
        </p:nvSpPr>
        <p:spPr>
          <a:xfrm>
            <a:off x="6041136" y="1280160"/>
            <a:ext cx="2645664" cy="3108960"/>
          </a:xfrm>
          <a:prstGeom prst="roundRect">
            <a:avLst>
              <a:gd name="adj" fmla="val 2765"/>
            </a:avLst>
          </a:prstGeom>
          <a:solidFill>
            <a:srgbClr val="F2ECE1"/>
          </a:solidFill>
          <a:ln w="12700">
            <a:solidFill>
              <a:srgbClr val="DFD6C7"/>
            </a:solidFill>
            <a:prstDash val="solid"/>
          </a:ln>
        </p:spPr>
      </p:sp>
      <p:sp>
        <p:nvSpPr>
          <p:cNvPr id="11" name="Text 9"/>
          <p:cNvSpPr txBox="1"/>
          <p:nvPr/>
        </p:nvSpPr>
        <p:spPr>
          <a:xfrm>
            <a:off x="6132576" y="1335024"/>
            <a:ext cx="2462784" cy="299923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Light clients, privacy and transport</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24 key concepts, 9 examples</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every slide today lives on this map</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49</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Who is on the network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a village market with no manager: every stall only talks to its neighbours.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Nodes and roles</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Full, archival, pruned and light nodes keep different data.</a:t>
            </a:r>
            <a:endParaRPr lang="en-US" sz="1150" dirty="0"/>
          </a:p>
        </p:txBody>
      </p:sp>
      <p:sp>
        <p:nvSpPr>
          <p:cNvPr id="9" name="Text 7"/>
          <p:cNvSpPr txBox="1"/>
          <p:nvPr/>
        </p:nvSpPr>
        <p:spPr>
          <a:xfrm>
            <a:off x="77724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town where some keep the whole archive and others a pocket diary.</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handshake</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nodes swap version and verack before anything else.</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strangers who exchange names before they talk.</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Services</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node announces what it offers in one bit field.</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shop window that lists what is on sale.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2621585"/>
                <a:gridCol w="2621585"/>
                <a:gridCol w="262158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Who is on 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Peers and blocks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Light and private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49</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Network: key concepts (1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The Network</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computers that follow the same rules and pass the same messages.</a:t>
            </a:r>
            <a:endParaRPr lang="en-US" sz="1250" dirty="0"/>
          </a:p>
        </p:txBody>
      </p:sp>
      <p:sp>
        <p:nvSpPr>
          <p:cNvPr id="9" name="Text 7"/>
          <p:cNvSpPr txBox="1"/>
          <p:nvPr/>
        </p:nvSpPr>
        <p:spPr>
          <a:xfrm>
            <a:off x="640080"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road system that no single company owns.</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Bitcoin</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money system and a network, run by software that anyone may run.</a:t>
            </a:r>
            <a:endParaRPr lang="en-US" sz="1250" dirty="0"/>
          </a:p>
        </p:txBody>
      </p:sp>
      <p:sp>
        <p:nvSpPr>
          <p:cNvPr id="13" name="Text 11"/>
          <p:cNvSpPr txBox="1"/>
          <p:nvPr/>
        </p:nvSpPr>
        <p:spPr>
          <a:xfrm>
            <a:off x="3432048"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an open recipe book that every kitchen cooks from.</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peer-to-peer networks, Bitcoin as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Every participant is both client and server, and nobody is in charge.</a:t>
            </a:r>
            <a:endParaRPr lang="en-US" sz="1250" dirty="0"/>
          </a:p>
        </p:txBody>
      </p:sp>
      <p:sp>
        <p:nvSpPr>
          <p:cNvPr id="17" name="Text 15"/>
          <p:cNvSpPr txBox="1"/>
          <p:nvPr/>
        </p:nvSpPr>
        <p:spPr>
          <a:xfrm>
            <a:off x="6224016" y="2325319"/>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village market with no manager.</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Bitcoin network</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nodes that speak the Bitcoin protocol to each other over TCP.</a:t>
            </a:r>
            <a:endParaRPr lang="en-US" sz="1250" dirty="0"/>
          </a:p>
        </p:txBody>
      </p:sp>
      <p:sp>
        <p:nvSpPr>
          <p:cNvPr id="21" name="Text 19"/>
          <p:cNvSpPr txBox="1"/>
          <p:nvPr/>
        </p:nvSpPr>
        <p:spPr>
          <a:xfrm>
            <a:off x="640080"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club whose members all speak one dialect.</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589788"/>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Node Types and Roles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Nodes differ in what they store and what they do for others.</a:t>
            </a:r>
            <a:endParaRPr lang="en-US" sz="1250" dirty="0"/>
          </a:p>
        </p:txBody>
      </p:sp>
      <p:sp>
        <p:nvSpPr>
          <p:cNvPr id="25" name="Text 23"/>
          <p:cNvSpPr txBox="1"/>
          <p:nvPr/>
        </p:nvSpPr>
        <p:spPr>
          <a:xfrm>
            <a:off x="3432048" y="3576218"/>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town where some keep the archive and others a diary.</a:t>
            </a:r>
            <a:endParaRPr lang="en-US" sz="1100" dirty="0"/>
          </a:p>
        </p:txBody>
      </p:sp>
      <p:sp>
        <p:nvSpPr>
          <p:cNvPr id="26" name="Shape 24"/>
          <p:cNvSpPr/>
          <p:nvPr/>
        </p:nvSpPr>
        <p:spPr>
          <a:xfrm>
            <a:off x="6041136" y="2894990"/>
            <a:ext cx="2645664" cy="1486814"/>
          </a:xfrm>
          <a:prstGeom prst="roundRect">
            <a:avLst>
              <a:gd name="adj" fmla="val 4920"/>
            </a:avLst>
          </a:prstGeom>
          <a:solidFill>
            <a:srgbClr val="F2ECE1"/>
          </a:solidFill>
          <a:ln w="12700">
            <a:solidFill>
              <a:srgbClr val="DFD6C7"/>
            </a:solidFill>
            <a:prstDash val="solid"/>
          </a:ln>
        </p:spPr>
      </p:sp>
      <p:sp>
        <p:nvSpPr>
          <p:cNvPr id="27" name="Shape 25"/>
          <p:cNvSpPr/>
          <p:nvPr/>
        </p:nvSpPr>
        <p:spPr>
          <a:xfrm>
            <a:off x="6059424" y="3023006"/>
            <a:ext cx="64008" cy="1230782"/>
          </a:xfrm>
          <a:prstGeom prst="rect">
            <a:avLst/>
          </a:prstGeom>
          <a:solidFill>
            <a:srgbClr val="D97A14"/>
          </a:solidFill>
          <a:ln w="12700">
            <a:solidFill>
              <a:srgbClr val="D97A14"/>
            </a:solidFill>
            <a:prstDash val="solid"/>
          </a:ln>
        </p:spPr>
      </p:sp>
      <p:sp>
        <p:nvSpPr>
          <p:cNvPr id="28" name="Text 26"/>
          <p:cNvSpPr txBox="1"/>
          <p:nvPr/>
        </p:nvSpPr>
        <p:spPr>
          <a:xfrm>
            <a:off x="6224016"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nodes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node is a computer that runs Bitcoin software and joins the network.</a:t>
            </a:r>
            <a:endParaRPr lang="en-US" sz="1250" dirty="0"/>
          </a:p>
        </p:txBody>
      </p:sp>
      <p:sp>
        <p:nvSpPr>
          <p:cNvPr id="29" name="Text 27"/>
          <p:cNvSpPr txBox="1"/>
          <p:nvPr/>
        </p:nvSpPr>
        <p:spPr>
          <a:xfrm>
            <a:off x="6224016"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post office in a national postal system.</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49</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handshake: version, then verack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nodes greet each other before anything else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R[</a:t>
            </a:r>
            <a:r>
              <a:rPr lang="en-US" sz="1000" dirty="0">
                <a:solidFill>
                  <a:srgbClr val="9ECBFF"/>
                </a:solidFill>
                <a:latin typeface="Courier New" pitchFamily="34" charset="0"/>
                <a:ea typeface="Courier New" pitchFamily="34" charset="-122"/>
                <a:cs typeface="Courier New" pitchFamily="34" charset="-120"/>
              </a:rPr>
              <a:t>'e1_handshake'</a:t>
            </a:r>
            <a:r>
              <a:rPr lang="en-US" sz="1000" dirty="0">
                <a:solidFill>
                  <a:srgbClr val="E6EDF3"/>
                </a:solidFill>
                <a:latin typeface="Courier New" pitchFamily="34" charset="0"/>
                <a:ea typeface="Courier New" pitchFamily="34" charset="-122"/>
                <a:cs typeface="Courier New" pitchFamily="34" charset="-120"/>
              </a:rPr>
              <a:t>]; v = e[</a:t>
            </a:r>
            <a:r>
              <a:rPr lang="en-US" sz="1000" dirty="0">
                <a:solidFill>
                  <a:srgbClr val="9ECBFF"/>
                </a:solidFill>
                <a:latin typeface="Courier New" pitchFamily="34" charset="0"/>
                <a:ea typeface="Courier New" pitchFamily="34" charset="-122"/>
                <a:cs typeface="Courier New" pitchFamily="34" charset="-120"/>
              </a:rPr>
              <a:t>'node_version'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seq = [c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c,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'sequence'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a:t>
            </a:r>
            <a:r>
              <a:rPr lang="en-US" sz="1000" dirty="0">
                <a:solidFill>
                  <a:srgbClr val="9ECBFF"/>
                </a:solidFill>
                <a:latin typeface="Courier New" pitchFamily="34" charset="0"/>
                <a:ea typeface="Courier New" pitchFamily="34" charset="-122"/>
                <a:cs typeface="Courier New" pitchFamily="34" charset="-120"/>
              </a:rPr>
              <a:t>'user_agent'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'version'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'start_height'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hello = tuple(v[x]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hello</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('/Satoshi:31.1.0/', 70016, 2099)</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greeting between two test nodes running Bitcoin Core 31.1.</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messages arrive in a fixed order, version first.</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version message names the software, the protocol and the chain height.</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greeting of two nodes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325880"/>
                <a:gridCol w="16459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Recorded 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Software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/Satoshi:31.1.0/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Protocol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70016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Chain height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Magic (test 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fabfb5da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Messages in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first four messages are version, wtxidrelay, sendaddrv2 and verack.</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speaks first with version; verack accepts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49</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message is a 24-byte frame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Magic, command, length and checksum come before any payload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P.frame(</a:t>
            </a:r>
            <a:r>
              <a:rPr lang="en-US" sz="1000" dirty="0">
                <a:solidFill>
                  <a:srgbClr val="9ECBFF"/>
                </a:solidFill>
                <a:latin typeface="Courier New" pitchFamily="34" charset="0"/>
                <a:ea typeface="Courier New" pitchFamily="34" charset="-122"/>
                <a:cs typeface="Courier New" pitchFamily="34" charset="-120"/>
              </a:rPr>
              <a:t>'verack'</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972007"/>
          </a:xfrm>
          <a:prstGeom prst="roundRect">
            <a:avLst>
              <a:gd name="adj" fmla="val 7526"/>
            </a:avLst>
          </a:prstGeom>
          <a:solidFill>
            <a:srgbClr val="23272E"/>
          </a:solidFill>
          <a:ln w="12700">
            <a:solidFill>
              <a:srgbClr val="23272E"/>
            </a:solidFill>
            <a:prstDash val="solid"/>
          </a:ln>
        </p:spPr>
      </p:sp>
      <p:sp>
        <p:nvSpPr>
          <p:cNvPr id="9" name="Text 7"/>
          <p:cNvSpPr txBox="1"/>
          <p:nvPr/>
        </p:nvSpPr>
        <p:spPr>
          <a:xfrm>
            <a:off x="603504" y="2030882"/>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int.from_bytes(f[</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'little'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f[</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].rstrip(b</a:t>
            </a:r>
            <a:r>
              <a:rPr lang="en-US" sz="1000" dirty="0">
                <a:solidFill>
                  <a:srgbClr val="9ECBFF"/>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).decode()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 = (f[:</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].hex(), c, n, f[</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('f9beb4d9', 'verack', 0, '5df6e0e2')</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verack message has no payload at all, so only the frame remains.</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7170"/>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fields make the frame: network magic, command, length and checksum.</a:t>
            </a:r>
            <a:endParaRPr lang="en-US" sz="1050" dirty="0"/>
          </a:p>
        </p:txBody>
      </p:sp>
      <p:sp>
        <p:nvSpPr>
          <p:cNvPr id="16" name="Text 14"/>
          <p:cNvSpPr txBox="1"/>
          <p:nvPr/>
        </p:nvSpPr>
        <p:spPr>
          <a:xfrm>
            <a:off x="457200" y="337779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24 bytes of a verack</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59436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Magic (main)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f9beb4d9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Command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verack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Length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Checksum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5df6e0e2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Whole frame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main-network magic is f9beb4d9. Four fields, 24 bytes, and no payload.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Even an empty message has a frame of 24 bytes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Network: key concepts (2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full node checks every block and transaction itself and trusts no one.</a:t>
            </a:r>
            <a:endParaRPr lang="en-US" sz="1300" dirty="0"/>
          </a:p>
        </p:txBody>
      </p:sp>
      <p:sp>
        <p:nvSpPr>
          <p:cNvPr id="9" name="Text 7"/>
          <p:cNvSpPr txBox="1"/>
          <p:nvPr/>
        </p:nvSpPr>
        <p:spPr>
          <a:xfrm>
            <a:off x="640080"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who rechecks every receipt in person.</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archival full nodes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full node that keeps every block since the first.</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library that never throws a book away.</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peers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other nodes that one node is directly connected to.</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neighbours you can call without a go-between.</a:t>
            </a:r>
            <a:endParaRPr lang="en-US" sz="1150" dirty="0"/>
          </a:p>
        </p:txBody>
      </p:sp>
      <p:sp>
        <p:nvSpPr>
          <p:cNvPr id="18" name="Shape 16"/>
          <p:cNvSpPr/>
          <p:nvPr/>
        </p:nvSpPr>
        <p:spPr>
          <a:xfrm>
            <a:off x="457200" y="2925166"/>
            <a:ext cx="2645664" cy="1516990"/>
          </a:xfrm>
          <a:prstGeom prst="roundRect">
            <a:avLst>
              <a:gd name="adj" fmla="val 4822"/>
            </a:avLst>
          </a:prstGeom>
          <a:solidFill>
            <a:srgbClr val="F2ECE1"/>
          </a:solidFill>
          <a:ln w="12700">
            <a:solidFill>
              <a:srgbClr val="DFD6C7"/>
            </a:solidFill>
            <a:prstDash val="solid"/>
          </a:ln>
        </p:spPr>
      </p:sp>
      <p:sp>
        <p:nvSpPr>
          <p:cNvPr id="19" name="Shape 17"/>
          <p:cNvSpPr/>
          <p:nvPr/>
        </p:nvSpPr>
        <p:spPr>
          <a:xfrm>
            <a:off x="475488" y="3053182"/>
            <a:ext cx="64008" cy="1260958"/>
          </a:xfrm>
          <a:prstGeom prst="rect">
            <a:avLst/>
          </a:prstGeom>
          <a:solidFill>
            <a:srgbClr val="D97A14"/>
          </a:solidFill>
          <a:ln w="12700">
            <a:solidFill>
              <a:srgbClr val="D97A14"/>
            </a:solidFill>
            <a:prstDash val="solid"/>
          </a:ln>
        </p:spPr>
      </p:sp>
      <p:sp>
        <p:nvSpPr>
          <p:cNvPr id="20" name="Text 18"/>
          <p:cNvSpPr txBox="1"/>
          <p:nvPr/>
        </p:nvSpPr>
        <p:spPr>
          <a:xfrm>
            <a:off x="640080"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Core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reference software, written by volunteers, that most nodes run.</a:t>
            </a:r>
            <a:endParaRPr lang="en-US" sz="1300" dirty="0"/>
          </a:p>
        </p:txBody>
      </p:sp>
      <p:sp>
        <p:nvSpPr>
          <p:cNvPr id="21" name="Text 19"/>
          <p:cNvSpPr txBox="1"/>
          <p:nvPr/>
        </p:nvSpPr>
        <p:spPr>
          <a:xfrm>
            <a:off x="640080" y="3807562"/>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standard edition of the recipe book, with many editors.</a:t>
            </a:r>
            <a:endParaRPr lang="en-US" sz="1150" dirty="0"/>
          </a:p>
        </p:txBody>
      </p:sp>
      <p:sp>
        <p:nvSpPr>
          <p:cNvPr id="22" name="Shape 20"/>
          <p:cNvSpPr/>
          <p:nvPr/>
        </p:nvSpPr>
        <p:spPr>
          <a:xfrm>
            <a:off x="3249168" y="2925166"/>
            <a:ext cx="2645664" cy="1516990"/>
          </a:xfrm>
          <a:prstGeom prst="roundRect">
            <a:avLst>
              <a:gd name="adj" fmla="val 4822"/>
            </a:avLst>
          </a:prstGeom>
          <a:solidFill>
            <a:srgbClr val="F2ECE1"/>
          </a:solidFill>
          <a:ln w="12700">
            <a:solidFill>
              <a:srgbClr val="DFD6C7"/>
            </a:solidFill>
            <a:prstDash val="solid"/>
          </a:ln>
        </p:spPr>
      </p:sp>
      <p:sp>
        <p:nvSpPr>
          <p:cNvPr id="23" name="Shape 21"/>
          <p:cNvSpPr/>
          <p:nvPr/>
        </p:nvSpPr>
        <p:spPr>
          <a:xfrm>
            <a:off x="3267456" y="3053182"/>
            <a:ext cx="64008" cy="1260958"/>
          </a:xfrm>
          <a:prstGeom prst="rect">
            <a:avLst/>
          </a:prstGeom>
          <a:solidFill>
            <a:srgbClr val="D97A14"/>
          </a:solidFill>
          <a:ln w="12700">
            <a:solidFill>
              <a:srgbClr val="D97A14"/>
            </a:solidFill>
            <a:prstDash val="solid"/>
          </a:ln>
        </p:spPr>
      </p:sp>
      <p:sp>
        <p:nvSpPr>
          <p:cNvPr id="24" name="Text 22"/>
          <p:cNvSpPr txBox="1"/>
          <p:nvPr/>
        </p:nvSpPr>
        <p:spPr>
          <a:xfrm>
            <a:off x="3432048" y="2989174"/>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mining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work of finding new blocks; miners also run nodes.</a:t>
            </a:r>
            <a:endParaRPr lang="en-US" sz="1300" dirty="0"/>
          </a:p>
        </p:txBody>
      </p:sp>
      <p:sp>
        <p:nvSpPr>
          <p:cNvPr id="25" name="Text 23"/>
          <p:cNvSpPr txBox="1"/>
          <p:nvPr/>
        </p:nvSpPr>
        <p:spPr>
          <a:xfrm>
            <a:off x="3432048" y="3629254"/>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lottery whose winner writes the next page of the ledger.</a:t>
            </a:r>
            <a:endParaRPr lang="en-US" sz="11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Services: what a node offers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bit field in the greeting names the services of a node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 R[</a:t>
            </a:r>
            <a:r>
              <a:rPr lang="en-US" sz="1000" dirty="0">
                <a:solidFill>
                  <a:srgbClr val="9ECBFF"/>
                </a:solidFill>
                <a:latin typeface="Courier New" pitchFamily="34" charset="0"/>
                <a:ea typeface="Courier New" pitchFamily="34" charset="-122"/>
                <a:cs typeface="Courier New" pitchFamily="34" charset="-120"/>
              </a:rPr>
              <a:t>'networkinfo_A'</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'localservicesnames'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pruned = R[</a:t>
            </a:r>
            <a:r>
              <a:rPr lang="en-US" sz="1000" dirty="0">
                <a:solidFill>
                  <a:srgbClr val="9ECBFF"/>
                </a:solidFill>
                <a:latin typeface="Courier New" pitchFamily="34" charset="0"/>
                <a:ea typeface="Courier New" pitchFamily="34" charset="-122"/>
                <a:cs typeface="Courier New" pitchFamily="34" charset="-120"/>
              </a:rPr>
              <a:t>'e10_pruned'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'services'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gone = [s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full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not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pruned]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['NETWORK']</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nodes of the run, a full node and a pruned node, list their services.</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pruned node has dropped the NETWORK flag: it keeps only recent blocks.</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services in the greeting</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325880"/>
                <a:gridCol w="777240"/>
                <a:gridCol w="86868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Full node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Pruned node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NETWORK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BLOOM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WITNESS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COMPACT_FILTERS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NETWORK_LIMITED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P2P_V2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78561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pruned node leaves out NETWORK: it has deleted old blocks.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pruned node drops the NETWORK flag but keeps relaying what it has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Who is on the network today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Reachable nodes by network, from the saved Bitnodes snapshot of 2026-10-15</a:t>
            </a:r>
            <a:endParaRPr lang="en-US" sz="1300" dirty="0"/>
          </a:p>
        </p:txBody>
      </p:sp>
      <p:graphicFrame>
        <p:nvGraphicFramePr>
          <p:cNvPr id="6" name="Chart 0" descr=""/>
          <p:cNvGraphicFramePr/>
          <p:nvPr/>
        </p:nvGraphicFramePr>
        <p:xfrm>
          <a:off x="457200" y="1371600"/>
          <a:ext cx="5120640" cy="3017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852160" y="1463040"/>
            <a:ext cx="2834640" cy="1371600"/>
          </a:xfrm>
          <a:prstGeom prst="rect">
            <a:avLst/>
          </a:prstGeom>
          <a:noFill/>
          <a:ln/>
        </p:spPr>
        <p:txBody>
          <a:bodyPr wrap="square" lIns="0" tIns="0" rIns="0" bIns="0" rtlCol="0" anchor="t"/>
          <a:lstStyle/>
          <a:p>
            <a:pPr algn="l" indent="0" marL="0">
              <a:buNone/>
            </a:pPr>
            <a:r>
              <a:rPr lang="en-US" sz="1250" dirty="0">
                <a:solidFill>
                  <a:srgbClr val="2B2622"/>
                </a:solidFill>
                <a:latin typeface="Calibri" pitchFamily="34" charset="0"/>
                <a:ea typeface="Calibri" pitchFamily="34" charset="-122"/>
                <a:cs typeface="Calibri" pitchFamily="34" charset="-120"/>
              </a:rPr>
              <a:t>25,361 reachable nodes counted; 21,195 run plain Bitcoin Core and 4,083 run Knots.</a:t>
            </a:r>
            <a:endParaRPr lang="en-US" sz="1250" dirty="0"/>
          </a:p>
        </p:txBody>
      </p:sp>
      <p:sp>
        <p:nvSpPr>
          <p:cNvPr id="8" name="Text 5"/>
          <p:cNvSpPr txBox="1"/>
          <p:nvPr/>
        </p:nvSpPr>
        <p:spPr>
          <a:xfrm>
            <a:off x="5852160" y="2926080"/>
            <a:ext cx="2834640" cy="914400"/>
          </a:xfrm>
          <a:prstGeom prst="rect">
            <a:avLst/>
          </a:prstGeom>
          <a:noFill/>
          <a:ln/>
        </p:spPr>
        <p:txBody>
          <a:bodyPr wrap="square" lIns="0" tIns="0" rIns="0" bIns="0" rtlCol="0" anchor="t"/>
          <a:lstStyle/>
          <a:p>
            <a:pPr algn="l" indent="0" marL="0">
              <a:buNone/>
            </a:pPr>
            <a:r>
              <a:rPr lang="en-US" sz="1250" dirty="0">
                <a:solidFill>
                  <a:srgbClr val="2B2622"/>
                </a:solidFill>
                <a:latin typeface="Calibri" pitchFamily="34" charset="0"/>
                <a:ea typeface="Calibri" pitchFamily="34" charset="-122"/>
                <a:cs typeface="Calibri" pitchFamily="34" charset="-120"/>
              </a:rPr>
              <a:t>21,768 advertise the encrypted v2 transport; only 4,308 still offer Bloom filters.</a:t>
            </a:r>
            <a:endParaRPr lang="en-US" sz="1250" dirty="0"/>
          </a:p>
        </p:txBody>
      </p:sp>
      <p:sp>
        <p:nvSpPr>
          <p:cNvPr id="9" name="Text 6"/>
          <p:cNvSpPr txBox="1"/>
          <p:nvPr/>
        </p:nvSpPr>
        <p:spPr>
          <a:xfrm>
            <a:off x="5852160" y="3931920"/>
            <a:ext cx="2834640" cy="548640"/>
          </a:xfrm>
          <a:prstGeom prst="rect">
            <a:avLst/>
          </a:prstGeom>
          <a:noFill/>
          <a:ln/>
        </p:spPr>
        <p:txBody>
          <a:bodyPr wrap="square" lIns="0" tIns="0" rIns="0" bIns="0" rtlCol="0" anchor="t"/>
          <a:lstStyle/>
          <a:p>
            <a:pPr algn="l" indent="0" marL="0">
              <a:buNone/>
            </a:pPr>
            <a:r>
              <a:rPr lang="en-US" sz="1050" i="1" dirty="0">
                <a:solidFill>
                  <a:srgbClr val="6E655C"/>
                </a:solidFill>
                <a:latin typeface="Calibri" pitchFamily="34" charset="0"/>
                <a:ea typeface="Calibri" pitchFamily="34" charset="-122"/>
                <a:cs typeface="Calibri" pitchFamily="34" charset="-120"/>
              </a:rPr>
              <a:t>Recorded, not run on the course page: the snapshot is saved in the research package.</a:t>
            </a:r>
            <a:endParaRPr lang="en-US" sz="1050" dirty="0"/>
          </a:p>
        </p:txBody>
      </p:sp>
      <p:sp>
        <p:nvSpPr>
          <p:cNvPr id="10"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census is a snapshot of one day, not a constant</a:t>
            </a:r>
            <a:endParaRPr lang="en-US" sz="1350" dirty="0"/>
          </a:p>
        </p:txBody>
      </p:sp>
      <p:sp>
        <p:nvSpPr>
          <p:cNvPr id="12"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49</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Peers, blocks and transactions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a postal service without a post office: letters pass from hand to hand.</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Finding peers</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DNS seeds and addr messages give a new node its first neighbours.</a:t>
            </a:r>
            <a:endParaRPr lang="en-US" sz="1100" dirty="0"/>
          </a:p>
        </p:txBody>
      </p:sp>
      <p:sp>
        <p:nvSpPr>
          <p:cNvPr id="9" name="Text 7"/>
          <p:cNvSpPr txBox="1"/>
          <p:nvPr/>
        </p:nvSpPr>
        <p:spPr>
          <a:xfrm>
            <a:off x="77724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newcomer who asks the phone directory, then friends.</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Connections</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Eight full-relay and two block-relay-only links, at most 125 in all.</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switchboard with a fixed number of lines.</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Blocks</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Headers come first; compact blocks send only what is missing.</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contents page first, then only the missing chapters.</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Transactions</a:t>
            </a:r>
            <a:endParaRPr lang="en-US" sz="1100" dirty="0"/>
          </a:p>
        </p:txBody>
      </p:sp>
      <p:sp>
        <p:nvSpPr>
          <p:cNvPr id="20" name="Text 18"/>
          <p:cNvSpPr txBox="1"/>
          <p:nvPr/>
        </p:nvSpPr>
        <p:spPr>
          <a:xfrm>
            <a:off x="681228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Payments wait in each node's own pool until a block takes them.</a:t>
            </a:r>
            <a:endParaRPr lang="en-US" sz="1100" dirty="0"/>
          </a:p>
        </p:txBody>
      </p:sp>
      <p:sp>
        <p:nvSpPr>
          <p:cNvPr id="21" name="Text 19"/>
          <p:cNvSpPr txBox="1"/>
          <p:nvPr/>
        </p:nvSpPr>
        <p:spPr>
          <a:xfrm>
            <a:off x="681228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each shop's own waiting list of orders.</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2621585"/>
                <a:gridCol w="2621585"/>
                <a:gridCol w="262158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Who is on 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Peers and blocks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Light and private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and blocks: key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Network Discovery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new node finds its first peers, then learns about many more.</a:t>
            </a:r>
            <a:endParaRPr lang="en-US" sz="1150" dirty="0"/>
          </a:p>
        </p:txBody>
      </p:sp>
      <p:sp>
        <p:nvSpPr>
          <p:cNvPr id="9" name="Text 7"/>
          <p:cNvSpPr txBox="1"/>
          <p:nvPr/>
        </p:nvSpPr>
        <p:spPr>
          <a:xfrm>
            <a:off x="640080"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newcomer who asks the phone directory, then friends.</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DNS seeds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Servers that answer a DNS query with addresses of reachable nodes.</a:t>
            </a:r>
            <a:endParaRPr lang="en-US" sz="1150" dirty="0"/>
          </a:p>
        </p:txBody>
      </p:sp>
      <p:sp>
        <p:nvSpPr>
          <p:cNvPr id="13" name="Text 11"/>
          <p:cNvSpPr txBox="1"/>
          <p:nvPr/>
        </p:nvSpPr>
        <p:spPr>
          <a:xfrm>
            <a:off x="3432048"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phone directory that hands out a few numbers.</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blocks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block bundles transactions and names the block before it.</a:t>
            </a:r>
            <a:endParaRPr lang="en-US" sz="1150" dirty="0"/>
          </a:p>
        </p:txBody>
      </p:sp>
      <p:sp>
        <p:nvSpPr>
          <p:cNvPr id="17" name="Text 15"/>
          <p:cNvSpPr txBox="1"/>
          <p:nvPr/>
        </p:nvSpPr>
        <p:spPr>
          <a:xfrm>
            <a:off x="6224016"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ledger page that cites the page before it.</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blockchain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chain of all blocks, each committing to the hash of its parent.</a:t>
            </a:r>
            <a:endParaRPr lang="en-US" sz="1150" dirty="0"/>
          </a:p>
        </p:txBody>
      </p:sp>
      <p:sp>
        <p:nvSpPr>
          <p:cNvPr id="21" name="Text 19"/>
          <p:cNvSpPr txBox="1"/>
          <p:nvPr/>
        </p:nvSpPr>
        <p:spPr>
          <a:xfrm>
            <a:off x="640080"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ledger whose pages are glued, so none can be swapped.</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syncing blockchain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new node downloads headers first, then the blocks, and checks them.</a:t>
            </a:r>
            <a:endParaRPr lang="en-US" sz="1150" dirty="0"/>
          </a:p>
        </p:txBody>
      </p:sp>
      <p:sp>
        <p:nvSpPr>
          <p:cNvPr id="25" name="Text 23"/>
          <p:cNvSpPr txBox="1"/>
          <p:nvPr/>
        </p:nvSpPr>
        <p:spPr>
          <a:xfrm>
            <a:off x="3432048"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reading the contents page before asking for chapters.</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UTXOs (unspent transaction outputs)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outputs not yet spent; a full node keeps this set to check payments.</a:t>
            </a:r>
            <a:endParaRPr lang="en-US" sz="1150" dirty="0"/>
          </a:p>
        </p:txBody>
      </p:sp>
      <p:sp>
        <p:nvSpPr>
          <p:cNvPr id="29" name="Text 27"/>
          <p:cNvSpPr txBox="1"/>
          <p:nvPr/>
        </p:nvSpPr>
        <p:spPr>
          <a:xfrm>
            <a:off x="6224016"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coins in the drawer, not those already handed over.</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49</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DNS seeds hand out addresses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contact of a node that knows nobody</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R[</a:t>
            </a:r>
            <a:r>
              <a:rPr lang="en-US" sz="1000" dirty="0">
                <a:solidFill>
                  <a:srgbClr val="9ECBFF"/>
                </a:solidFill>
                <a:latin typeface="Courier New" pitchFamily="34" charset="0"/>
                <a:ea typeface="Courier New" pitchFamily="34" charset="-122"/>
                <a:cs typeface="Courier New" pitchFamily="34" charset="-120"/>
              </a:rPr>
              <a:t>'e11_dns_seeds'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[len(v[</a:t>
            </a:r>
            <a:r>
              <a:rPr lang="en-US" sz="1000" dirty="0">
                <a:solidFill>
                  <a:srgbClr val="9ECBFF"/>
                </a:solidFill>
                <a:latin typeface="Courier New" pitchFamily="34" charset="0"/>
                <a:ea typeface="Courier New" pitchFamily="34" charset="-122"/>
                <a:cs typeface="Courier New" pitchFamily="34" charset="-120"/>
              </a:rPr>
              <a:t>'ipv4'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v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d[</a:t>
            </a:r>
            <a:r>
              <a:rPr lang="en-US" sz="1000" dirty="0">
                <a:solidFill>
                  <a:srgbClr val="9ECBFF"/>
                </a:solidFill>
                <a:latin typeface="Courier New" pitchFamily="34" charset="0"/>
                <a:ea typeface="Courier New" pitchFamily="34" charset="-122"/>
                <a:cs typeface="Courier New" pitchFamily="34" charset="-120"/>
              </a:rPr>
              <a:t>'answers'</a:t>
            </a:r>
            <a:r>
              <a:rPr lang="en-US" sz="1000" dirty="0">
                <a:solidFill>
                  <a:srgbClr val="E6EDF3"/>
                </a:solidFill>
                <a:latin typeface="Courier New" pitchFamily="34" charset="0"/>
                <a:ea typeface="Courier New" pitchFamily="34" charset="-122"/>
                <a:cs typeface="Courier New" pitchFamily="34" charset="-120"/>
              </a:rPr>
              <a:t>].values()]</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dirty="0">
                <a:solidFill>
                  <a:srgbClr val="9ECBFF"/>
                </a:solidFill>
                <a:latin typeface="Courier New" pitchFamily="34" charset="0"/>
                <a:ea typeface="Courier New" pitchFamily="34" charset="-122"/>
                <a:cs typeface="Courier New" pitchFamily="34" charset="-120"/>
              </a:rPr>
              <a:t>'core_src_kernel_chainparams.cpp'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port = src(f, </a:t>
            </a:r>
            <a:r>
              <a:rPr lang="en-US" sz="1000" dirty="0">
                <a:solidFill>
                  <a:srgbClr val="9ECBFF"/>
                </a:solidFill>
                <a:latin typeface="Courier New" pitchFamily="34" charset="0"/>
                <a:ea typeface="Courier New" pitchFamily="34" charset="-122"/>
                <a:cs typeface="Courier New" pitchFamily="34" charset="-120"/>
              </a:rPr>
              <a:t>'nDefaultPort'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(len(n), min(n), max(n), port)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 20, 29, '8333')</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asked eight DNS seeds for addresses and counted the IPv4 answers.</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seed answered with twenty to thirty addresses; the default port is 8333.</a:t>
            </a:r>
            <a:endParaRPr lang="en-US" sz="1050" dirty="0"/>
          </a:p>
        </p:txBody>
      </p:sp>
      <p:sp>
        <p:nvSpPr>
          <p:cNvPr id="16" name="Text 14"/>
          <p:cNvSpPr txBox="1"/>
          <p:nvPr/>
        </p:nvSpPr>
        <p:spPr>
          <a:xfrm>
            <a:off x="457200" y="354147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IPv4 addresses per DNS seed</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8 seeds answered with 20 to 29 addresses each; the default port is 8333.</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seeds gave twenty to thirty IPv4 addresses each, for one default port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49</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addr against addrv2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nodes tell each other about other nodes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R[</a:t>
            </a:r>
            <a:r>
              <a:rPr lang="en-US" sz="1000" dirty="0">
                <a:solidFill>
                  <a:srgbClr val="9ECBFF"/>
                </a:solidFill>
                <a:latin typeface="Courier New" pitchFamily="34" charset="0"/>
                <a:ea typeface="Courier New" pitchFamily="34" charset="-122"/>
                <a:cs typeface="Courier New" pitchFamily="34" charset="-120"/>
              </a:rPr>
              <a:t>'e9_addr'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 = a[</a:t>
            </a:r>
            <a:r>
              <a:rPr lang="en-US" sz="1000" dirty="0">
                <a:solidFill>
                  <a:srgbClr val="9ECBFF"/>
                </a:solidFill>
                <a:latin typeface="Courier New" pitchFamily="34" charset="0"/>
                <a:ea typeface="Courier New" pitchFamily="34" charset="-122"/>
                <a:cs typeface="Courier New" pitchFamily="34" charset="-120"/>
              </a:rPr>
              <a:t>'with_sendaddrv2'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'addrv2'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np = </a:t>
            </a:r>
            <a:r>
              <a:rPr lang="en-US" sz="1000" dirty="0">
                <a:solidFill>
                  <a:srgbClr val="9ECBFF"/>
                </a:solidFill>
                <a:latin typeface="Courier New" pitchFamily="34" charset="0"/>
                <a:ea typeface="Courier New" pitchFamily="34" charset="-122"/>
                <a:cs typeface="Courier New" pitchFamily="34" charset="-120"/>
              </a:rPr>
              <a:t>'core_src_net_processing.cpp'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 = src(np, </a:t>
            </a:r>
            <a:r>
              <a:rPr lang="en-US" sz="1000" dirty="0">
                <a:solidFill>
                  <a:srgbClr val="9ECBFF"/>
                </a:solidFill>
                <a:latin typeface="Courier New" pitchFamily="34" charset="0"/>
                <a:ea typeface="Courier New" pitchFamily="34" charset="-122"/>
                <a:cs typeface="Courier New" pitchFamily="34" charset="-120"/>
              </a:rPr>
              <a:t>'MAX_PCT_ADDR_TO_SEND'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a:t>
            </a:r>
            <a:r>
              <a:rPr lang="en-US" sz="1000" dirty="0">
                <a:solidFill>
                  <a:srgbClr val="9ECBFF"/>
                </a:solidFill>
                <a:latin typeface="Courier New" pitchFamily="34" charset="0"/>
                <a:ea typeface="Courier New" pitchFamily="34" charset="-122"/>
                <a:cs typeface="Courier New" pitchFamily="34" charset="-120"/>
              </a:rPr>
              <a:t>'count'</a:t>
            </a:r>
            <a:r>
              <a:rPr lang="en-US" sz="1000" dirty="0">
                <a:solidFill>
                  <a:srgbClr val="E6EDF3"/>
                </a:solidFill>
                <a:latin typeface="Courier New" pitchFamily="34" charset="0"/>
                <a:ea typeface="Courier New" pitchFamily="34" charset="-122"/>
                <a:cs typeface="Courier New" pitchFamily="34" charset="-120"/>
              </a:rPr>
              <a:t>], v2[</a:t>
            </a:r>
            <a:r>
              <a:rPr lang="en-US" sz="1000" dirty="0">
                <a:solidFill>
                  <a:srgbClr val="9ECBFF"/>
                </a:solidFill>
                <a:latin typeface="Courier New" pitchFamily="34" charset="0"/>
                <a:ea typeface="Courier New" pitchFamily="34" charset="-122"/>
                <a:cs typeface="Courier New" pitchFamily="34" charset="-120"/>
              </a:rPr>
              <a:t>'networks'</a:t>
            </a:r>
            <a:r>
              <a:rPr lang="en-US" sz="1000" dirty="0">
                <a:solidFill>
                  <a:srgbClr val="E6EDF3"/>
                </a:solidFill>
                <a:latin typeface="Courier New" pitchFamily="34" charset="0"/>
                <a:ea typeface="Courier New" pitchFamily="34" charset="-122"/>
                <a:cs typeface="Courier New" pitchFamily="34" charset="-120"/>
              </a:rPr>
              <a:t>], v2[</a:t>
            </a:r>
            <a:r>
              <a:rPr lang="en-US" sz="1000" dirty="0">
                <a:solidFill>
                  <a:srgbClr val="9ECBFF"/>
                </a:solidFill>
                <a:latin typeface="Courier New" pitchFamily="34" charset="0"/>
                <a:ea typeface="Courier New" pitchFamily="34" charset="-122"/>
                <a:cs typeface="Courier New" pitchFamily="34" charset="-120"/>
              </a:rPr>
              <a:t>'addr_len'</a:t>
            </a:r>
            <a:r>
              <a:rPr lang="en-US" sz="1000" dirty="0">
                <a:solidFill>
                  <a:srgbClr val="E6EDF3"/>
                </a:solidFill>
                <a:latin typeface="Courier New" pitchFamily="34" charset="0"/>
                <a:ea typeface="Courier New" pitchFamily="34" charset="-122"/>
                <a:cs typeface="Courier New" pitchFamily="34" charset="-120"/>
              </a:rPr>
              <a:t>], cap)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(23, [1, 2], [4, 16], '23')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peers asked for addresses, one with the old addr and one with addrv2.</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reply never holds more than 23 percent of the address book.</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addrv2 adds a network id and variable length, so Tor and I2P fit.</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address messages</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914400"/>
                <a:gridCol w="594360"/>
                <a:gridCol w="14630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Message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Entries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Detail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 (old)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 network id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addrv2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network ids 1 and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addrv2 lengths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 and 16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Reply cap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of the address book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Network id 1 is IPv4 and 2 is IPv6; longer ids carry Tor and I2P addresses.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addrv2 can carry Tor and I2P addresses; the old addr could not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49</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Connection types and their limits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every link relays everything</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'e8_types'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a:t>
            </a:r>
            <a:r>
              <a:rPr lang="en-US" sz="1000" dirty="0">
                <a:solidFill>
                  <a:srgbClr val="9ECBFF"/>
                </a:solidFill>
                <a:latin typeface="Courier New" pitchFamily="34" charset="0"/>
                <a:ea typeface="Courier New" pitchFamily="34" charset="-122"/>
                <a:cs typeface="Courier New" pitchFamily="34" charset="-120"/>
              </a:rPr>
              <a:t>'core_src_net.h'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 src(n, </a:t>
            </a:r>
            <a:r>
              <a:rPr lang="en-US" sz="1000" dirty="0">
                <a:solidFill>
                  <a:srgbClr val="9ECBFF"/>
                </a:solidFill>
                <a:latin typeface="Courier New" pitchFamily="34" charset="0"/>
                <a:ea typeface="Courier New" pitchFamily="34" charset="-122"/>
                <a:cs typeface="Courier New" pitchFamily="34" charset="-120"/>
              </a:rPr>
              <a:t>'MAX_OUTBOUND_FULL_RELAY_CONNECTIONS'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 = src(n, </a:t>
            </a:r>
            <a:r>
              <a:rPr lang="en-US" sz="1000" dirty="0">
                <a:solidFill>
                  <a:srgbClr val="9ECBFF"/>
                </a:solidFill>
                <a:latin typeface="Courier New" pitchFamily="34" charset="0"/>
                <a:ea typeface="Courier New" pitchFamily="34" charset="-122"/>
                <a:cs typeface="Courier New" pitchFamily="34" charset="-120"/>
              </a:rPr>
              <a:t>'MAX_BLOCK_RELAY_ONLY_CONNECTIONS'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886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01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src(n, </a:t>
            </a:r>
            <a:r>
              <a:rPr lang="en-US" sz="1000" dirty="0">
                <a:solidFill>
                  <a:srgbClr val="9ECBFF"/>
                </a:solidFill>
                <a:latin typeface="Courier New" pitchFamily="34" charset="0"/>
                <a:ea typeface="Courier New" pitchFamily="34" charset="-122"/>
                <a:cs typeface="Courier New" pitchFamily="34" charset="-120"/>
              </a:rPr>
              <a:t>'DEFAULT_MAX_PEER_CONNECTIONS'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ro, total)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 '2', '125')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opened three kinds of links, each recorded with what it relays.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keeps eight full-relay links and two block-relay-only links.</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At most 125 links in all, counting those that call in.</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links of one node (Tx: payments, Addr: addresses)</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502920"/>
                <a:gridCol w="548640"/>
                <a:gridCol w="5486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Link type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Tx</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Addr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Wire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addr-fetch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block-relay-only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outbound-full-relay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Limits in the source: 8 full-relay, 2 block-relay-only, 125 links in all.</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Block-relay-only links carry no payments and no addresses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49</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Eight connections, one liar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node is only as honest as the peers it happens to meet</a:t>
            </a:r>
            <a:endParaRPr lang="en-US" sz="1300" dirty="0"/>
          </a:p>
        </p:txBody>
      </p:sp>
      <p:pic>
        <p:nvPicPr>
          <p:cNvPr id="6" name="Image 0" descr="../../03-materials/ch10/assets/photo_total_solar_eclipse_2017.png">    </p:cNvPr>
          <p:cNvPicPr>
            <a:picLocks noChangeAspect="1"/>
          </p:cNvPicPr>
          <p:nvPr/>
        </p:nvPicPr>
        <p:blipFill>
          <a:blip r:embed="rId1"/>
          <a:srcRect l="0" r="0" t="0" b="0"/>
          <a:stretch/>
        </p:blipFill>
        <p:spPr>
          <a:xfrm>
            <a:off x="457200" y="1280160"/>
            <a:ext cx="4023360" cy="978408"/>
          </a:xfrm>
          <a:prstGeom prst="rect">
            <a:avLst/>
          </a:prstGeom>
        </p:spPr>
      </p:pic>
      <p:sp>
        <p:nvSpPr>
          <p:cNvPr id="7" name="Text 4"/>
          <p:cNvSpPr txBox="1"/>
          <p:nvPr/>
        </p:nvSpPr>
        <p:spPr>
          <a:xfrm>
            <a:off x="457200" y="2276856"/>
            <a:ext cx="4023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Total solar eclipse - NASA / Aubrey Gemignani, public domain, Commons</a:t>
            </a:r>
            <a:endParaRPr lang="en-US" sz="900" dirty="0"/>
          </a:p>
        </p:txBody>
      </p:sp>
      <p:sp>
        <p:nvSpPr>
          <p:cNvPr id="8" name="Shape 5"/>
          <p:cNvSpPr/>
          <p:nvPr/>
        </p:nvSpPr>
        <p:spPr>
          <a:xfrm>
            <a:off x="4663440" y="1547622"/>
            <a:ext cx="128016" cy="128016"/>
          </a:xfrm>
          <a:prstGeom prst="diamond">
            <a:avLst/>
          </a:prstGeom>
          <a:solidFill>
            <a:srgbClr val="D97A14"/>
          </a:solidFill>
          <a:ln w="12700">
            <a:solidFill>
              <a:srgbClr val="D97A14"/>
            </a:solidFill>
            <a:prstDash val="solid"/>
          </a:ln>
        </p:spPr>
      </p:sp>
      <p:sp>
        <p:nvSpPr>
          <p:cNvPr id="9" name="Text 6"/>
          <p:cNvSpPr txBox="1"/>
          <p:nvPr/>
        </p:nvSpPr>
        <p:spPr>
          <a:xfrm>
            <a:off x="4937760" y="128016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On 12 August 2015, at USENIX Security in Washington, Ethan Heilman and colleagues presented Eclipse Attacks on Bitcoin's Peer-to-Peer Network.</a:t>
            </a:r>
            <a:endParaRPr lang="en-US" sz="1050" dirty="0"/>
          </a:p>
        </p:txBody>
      </p:sp>
      <p:sp>
        <p:nvSpPr>
          <p:cNvPr id="10" name="Shape 7"/>
          <p:cNvSpPr/>
          <p:nvPr/>
        </p:nvSpPr>
        <p:spPr>
          <a:xfrm>
            <a:off x="4663440" y="22105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937760" y="194310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WHY: An attacker who controls every connection of a victim can feed it a false world and use it for double spending.</a:t>
            </a:r>
            <a:endParaRPr lang="en-US" sz="1050" dirty="0"/>
          </a:p>
        </p:txBody>
      </p:sp>
      <p:sp>
        <p:nvSpPr>
          <p:cNvPr id="12" name="Shape 9"/>
          <p:cNvSpPr/>
          <p:nvPr/>
        </p:nvSpPr>
        <p:spPr>
          <a:xfrm>
            <a:off x="4663440" y="28735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937760" y="260604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The attacker needs enough IP addresses to fill the victim's connection slots; the authors measured the cost by simulation and on live nodes.</a:t>
            </a:r>
            <a:endParaRPr lang="en-US" sz="1050" dirty="0"/>
          </a:p>
        </p:txBody>
      </p:sp>
      <p:sp>
        <p:nvSpPr>
          <p:cNvPr id="14" name="Shape 11"/>
          <p:cNvSpPr/>
          <p:nvPr/>
        </p:nvSpPr>
        <p:spPr>
          <a:xfrm>
            <a:off x="4663440" y="353644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937760" y="326898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WHAT: Bitcoin Core now keeps anchor connections and two block-relay-only links, and picks peers from different autonomous systems.</a:t>
            </a:r>
            <a:endParaRPr lang="en-US" sz="1050" dirty="0"/>
          </a:p>
        </p:txBody>
      </p:sp>
      <p:sp>
        <p:nvSpPr>
          <p:cNvPr id="16" name="Text 13"/>
          <p:cNvSpPr txBox="1"/>
          <p:nvPr/>
        </p:nvSpPr>
        <p:spPr>
          <a:xfrm>
            <a:off x="457200" y="2624328"/>
            <a:ext cx="4023360" cy="329184"/>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an eclipse, not the paper.</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Ethan Heilman and Alison…</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24th USENIX Securi…</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2015-08-12</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Heilman et al.: Eclipse Attacks (paper)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usenix.org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49</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Headers first: 80 bytes a 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a new node syncs the chain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'e2_headers'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[h[</a:t>
            </a:r>
            <a:r>
              <a:rPr lang="en-US" sz="1000" dirty="0">
                <a:solidFill>
                  <a:srgbClr val="9ECBFF"/>
                </a:solidFill>
                <a:latin typeface="Courier New" pitchFamily="34" charset="0"/>
                <a:ea typeface="Courier New" pitchFamily="34" charset="-122"/>
                <a:cs typeface="Courier New" pitchFamily="34" charset="-120"/>
              </a:rPr>
              <a:t>'first_count'</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'second_count'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66273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h[</a:t>
            </a:r>
            <a:r>
              <a:rPr lang="en-US" sz="1000" dirty="0">
                <a:solidFill>
                  <a:srgbClr val="9ECBFF"/>
                </a:solidFill>
                <a:latin typeface="Courier New" pitchFamily="34" charset="0"/>
                <a:ea typeface="Courier New" pitchFamily="34" charset="-122"/>
                <a:cs typeface="Courier New" pitchFamily="34" charset="-120"/>
              </a:rPr>
              <a:t>'header_size'</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'height'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([2000, 101], 80, 2101)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new node first asks a peer for headers, not for blocks.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reply holds at most 2000 headers; the second reply held 101.</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09341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header has a fixed size, so the whole chain of headers is small.</a:t>
            </a:r>
            <a:endParaRPr lang="en-US" sz="1050" dirty="0"/>
          </a:p>
        </p:txBody>
      </p:sp>
      <p:sp>
        <p:nvSpPr>
          <p:cNvPr id="21" name="Text 19"/>
          <p:cNvSpPr txBox="1"/>
          <p:nvPr/>
        </p:nvSpPr>
        <p:spPr>
          <a:xfrm>
            <a:off x="457200" y="334944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headers fetched by a new node</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97280"/>
                <a:gridCol w="868680"/>
                <a:gridCol w="10058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Reply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Headers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First reply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162,003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Second reply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8,182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header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Chain height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2,101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header is 80 bytes; the whole chain of 2,101 headers took two replies.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thousand headers per reply; the whole chain of headers is small</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49</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and blocks: key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transactions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Payments that peers announce, fetch and forward before a miner takes them.</a:t>
            </a:r>
            <a:endParaRPr lang="en-US" sz="1250" dirty="0"/>
          </a:p>
        </p:txBody>
      </p:sp>
      <p:sp>
        <p:nvSpPr>
          <p:cNvPr id="9" name="Text 7"/>
          <p:cNvSpPr txBox="1"/>
          <p:nvPr/>
        </p:nvSpPr>
        <p:spPr>
          <a:xfrm>
            <a:off x="640080"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letters passed from hand to hand toward a postbox.</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8272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unconfirmed transactions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Valid transactions that no block contains yet.</a:t>
            </a:r>
            <a:endParaRPr lang="en-US" sz="1250" dirty="0"/>
          </a:p>
        </p:txBody>
      </p:sp>
      <p:sp>
        <p:nvSpPr>
          <p:cNvPr id="13" name="Text 11"/>
          <p:cNvSpPr txBox="1"/>
          <p:nvPr/>
        </p:nvSpPr>
        <p:spPr>
          <a:xfrm>
            <a:off x="3432048" y="215432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cheques handed in but not yet cleared.</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8272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Mempools and Orphan Pools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Each node keeps its own waiting areas for transactions.</a:t>
            </a:r>
            <a:endParaRPr lang="en-US" sz="1250" dirty="0"/>
          </a:p>
        </p:txBody>
      </p:sp>
      <p:sp>
        <p:nvSpPr>
          <p:cNvPr id="17" name="Text 15"/>
          <p:cNvSpPr txBox="1"/>
          <p:nvPr/>
        </p:nvSpPr>
        <p:spPr>
          <a:xfrm>
            <a:off x="6224016" y="215432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shop with a waiting list and a shelf of incomplete orders.</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589788"/>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memory pool</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valid, unconfirmed transactions that one node holds.</a:t>
            </a:r>
            <a:endParaRPr lang="en-US" sz="1250" dirty="0"/>
          </a:p>
        </p:txBody>
      </p:sp>
      <p:sp>
        <p:nvSpPr>
          <p:cNvPr id="21" name="Text 19"/>
          <p:cNvSpPr txBox="1"/>
          <p:nvPr/>
        </p:nvSpPr>
        <p:spPr>
          <a:xfrm>
            <a:off x="640080" y="3576218"/>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each shop's own waiting list.</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orphan pools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Transactions whose parent is unknown wait here until it arrives.</a:t>
            </a:r>
            <a:endParaRPr lang="en-US" sz="1250" dirty="0"/>
          </a:p>
        </p:txBody>
      </p:sp>
      <p:sp>
        <p:nvSpPr>
          <p:cNvPr id="25" name="Text 23"/>
          <p:cNvSpPr txBox="1"/>
          <p:nvPr/>
        </p:nvSpPr>
        <p:spPr>
          <a:xfrm>
            <a:off x="3432048" y="3746297"/>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child's form that waits for the parent's signature.</a:t>
            </a:r>
            <a:endParaRPr lang="en-US" sz="11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Relay by wtxid and the fee filter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a payment is announced to a peer</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'e5_relay'</a:t>
            </a:r>
            <a:r>
              <a:rPr lang="en-US" sz="1000" dirty="0">
                <a:solidFill>
                  <a:srgbClr val="E6EDF3"/>
                </a:solidFill>
                <a:latin typeface="Courier New" pitchFamily="34" charset="0"/>
                <a:ea typeface="Courier New" pitchFamily="34" charset="-122"/>
                <a:cs typeface="Courier New" pitchFamily="34" charset="-120"/>
              </a:rPr>
              <a:t>]; k = r[</a:t>
            </a:r>
            <a:r>
              <a:rPr lang="en-US" sz="1000" dirty="0">
                <a:solidFill>
                  <a:srgbClr val="9ECBFF"/>
                </a:solidFill>
                <a:latin typeface="Courier New" pitchFamily="34" charset="0"/>
                <a:ea typeface="Courier New" pitchFamily="34" charset="-122"/>
                <a:cs typeface="Courier New" pitchFamily="34" charset="-120"/>
              </a:rPr>
              <a:t>'invs'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 hi = r[</a:t>
            </a:r>
            <a:r>
              <a:rPr lang="en-US" sz="1000" dirty="0">
                <a:solidFill>
                  <a:srgbClr val="9ECBFF"/>
                </a:solidFill>
                <a:latin typeface="Courier New" pitchFamily="34" charset="0"/>
                <a:ea typeface="Courier New" pitchFamily="34" charset="-122"/>
                <a:cs typeface="Courier New" pitchFamily="34" charset="-120"/>
              </a:rPr>
              <a:t>'feerate_low'</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'feerate_high'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rates = (round(lo,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round(hi,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972007"/>
          </a:xfrm>
          <a:prstGeom prst="roundRect">
            <a:avLst>
              <a:gd name="adj" fmla="val 7526"/>
            </a:avLst>
          </a:prstGeom>
          <a:solidFill>
            <a:srgbClr val="23272E"/>
          </a:solidFill>
          <a:ln w="12700">
            <a:solidFill>
              <a:srgbClr val="23272E"/>
            </a:solidFill>
            <a:prstDash val="solid"/>
          </a:ln>
        </p:spPr>
      </p:sp>
      <p:sp>
        <p:nvSpPr>
          <p:cNvPr id="9" name="Text 7"/>
          <p:cNvSpPr txBox="1"/>
          <p:nvPr/>
        </p:nvSpPr>
        <p:spPr>
          <a:xfrm>
            <a:off x="603504" y="2360981"/>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ff = r[</a:t>
            </a:r>
            <a:r>
              <a:rPr lang="en-US" sz="1000" dirty="0">
                <a:solidFill>
                  <a:srgbClr val="9ECBFF"/>
                </a:solidFill>
                <a:latin typeface="Courier New" pitchFamily="34" charset="0"/>
                <a:ea typeface="Courier New" pitchFamily="34" charset="-122"/>
                <a:cs typeface="Courier New" pitchFamily="34" charset="-120"/>
              </a:rPr>
              <a:t>'peer_feefilter_sat_per_kvb'</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k[</a:t>
            </a:r>
            <a:r>
              <a:rPr lang="en-US" sz="1000" dirty="0">
                <a:solidFill>
                  <a:srgbClr val="9ECBFF"/>
                </a:solidFill>
                <a:latin typeface="Courier New" pitchFamily="34" charset="0"/>
                <a:ea typeface="Courier New" pitchFamily="34" charset="-122"/>
                <a:cs typeface="Courier New" pitchFamily="34" charset="-120"/>
              </a:rPr>
              <a:t>'normal_wtxidrelay'</a:t>
            </a:r>
            <a:r>
              <a:rPr lang="en-US" sz="1000" dirty="0">
                <a:solidFill>
                  <a:srgbClr val="E6EDF3"/>
                </a:solidFill>
                <a:latin typeface="Courier New" pitchFamily="34" charset="0"/>
                <a:ea typeface="Courier New" pitchFamily="34" charset="-122"/>
                <a:cs typeface="Courier New" pitchFamily="34" charset="-120"/>
              </a:rPr>
              <a:t>], k[</a:t>
            </a:r>
            <a:r>
              <a:rPr lang="en-US" sz="1000" dirty="0">
                <a:solidFill>
                  <a:srgbClr val="9ECBFF"/>
                </a:solidFill>
                <a:latin typeface="Courier New" pitchFamily="34" charset="0"/>
                <a:ea typeface="Courier New" pitchFamily="34" charset="-122"/>
                <a:cs typeface="Courier New" pitchFamily="34" charset="-120"/>
              </a:rPr>
              <a:t>'feefilter_5sat'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heard = (len(h[</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len(h[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(ff, rates, heard)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(5000, (2.0, 20.0), (2, 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announced two transactions, one cheap and one dear.</a:t>
            </a:r>
            <a:endParaRPr lang="en-US" sz="1050" dirty="0"/>
          </a:p>
        </p:txBody>
      </p:sp>
      <p:sp>
        <p:nvSpPr>
          <p:cNvPr id="13" name="Shape 11"/>
          <p:cNvSpPr/>
          <p:nvPr/>
        </p:nvSpPr>
        <p:spPr>
          <a:xfrm>
            <a:off x="365760" y="2214677"/>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28726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peer that sets a fee filter hears only of the dearer one.</a:t>
            </a:r>
            <a:endParaRPr lang="en-US" sz="1050" dirty="0"/>
          </a:p>
        </p:txBody>
      </p:sp>
      <p:sp>
        <p:nvSpPr>
          <p:cNvPr id="16" name="Text 14"/>
          <p:cNvSpPr txBox="1"/>
          <p:nvPr/>
        </p:nvSpPr>
        <p:spPr>
          <a:xfrm>
            <a:off x="457200" y="354330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is told of which payment</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97280"/>
                <a:gridCol w="1143000"/>
                <a:gridCol w="7315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Fee filter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Heard of</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Normal 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of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Filtering 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5,000 sat/kvB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of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Fee rates sent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 and 20.0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sat/vB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filter of 5,000 sat/kvB is 5 sat/vB: the cheaper payment is not announced.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fee filter keeps cheap payments away from a peer that does not want them</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49</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orphan waits for its parent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that arrives before the one it spends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 = R[</a:t>
            </a:r>
            <a:r>
              <a:rPr lang="en-US" sz="1000" dirty="0">
                <a:solidFill>
                  <a:srgbClr val="9ECBFF"/>
                </a:solidFill>
                <a:latin typeface="Courier New" pitchFamily="34" charset="0"/>
                <a:ea typeface="Courier New" pitchFamily="34" charset="-122"/>
                <a:cs typeface="Courier New" pitchFamily="34" charset="-120"/>
              </a:rPr>
              <a:t>'e4_orphan'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o[</a:t>
            </a:r>
            <a:r>
              <a:rPr lang="en-US" sz="1000" dirty="0">
                <a:solidFill>
                  <a:srgbClr val="9ECBFF"/>
                </a:solidFill>
                <a:latin typeface="Courier New" pitchFamily="34" charset="0"/>
                <a:ea typeface="Courier New" pitchFamily="34" charset="-122"/>
                <a:cs typeface="Courier New" pitchFamily="34" charset="-120"/>
              </a:rPr>
              <a:t>'child_in_mempool_after_child'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ask = hex(o[</a:t>
            </a:r>
            <a:r>
              <a:rPr lang="en-US" sz="1000" dirty="0">
                <a:solidFill>
                  <a:srgbClr val="9ECBFF"/>
                </a:solidFill>
                <a:latin typeface="Courier New" pitchFamily="34" charset="0"/>
                <a:ea typeface="Courier New" pitchFamily="34" charset="-122"/>
                <a:cs typeface="Courier New" pitchFamily="34" charset="-120"/>
              </a:rPr>
              <a:t>'node_asked_for_parent'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a:t>
            </a:r>
            <a:r>
              <a:rPr lang="en-US" sz="1000" dirty="0">
                <a:solidFill>
                  <a:srgbClr val="9ECBFF"/>
                </a:solidFill>
                <a:latin typeface="Courier New" pitchFamily="34" charset="0"/>
                <a:ea typeface="Courier New" pitchFamily="34" charset="-122"/>
                <a:cs typeface="Courier New" pitchFamily="34" charset="-120"/>
              </a:rPr>
              <a:t>'parent_in_mempool_after'</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'child_in_mempool_after'</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late = tuple(o[x]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ask, late)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'0x40000001',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child transaction is sent before its parent, so the node cannot take it.</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asks the sender for the missing parent.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Once the parent arrives, both sit in the memory pool.</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order of events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51560"/>
                <a:gridCol w="19202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Child sent first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child in pool: 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Node asks for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0x40000001 (witness tx)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Parent sent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parent in pool: 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Afterwards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child in pool: 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child is kept aside, not dropped; its parent releases 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node asks the sender for the parent instead of dropping the child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49</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Every node has its own memory pool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waiting list is local; the chain state is shared</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R[</a:t>
            </a:r>
            <a:r>
              <a:rPr lang="en-US" sz="1000" dirty="0">
                <a:solidFill>
                  <a:srgbClr val="9ECBFF"/>
                </a:solidFill>
                <a:latin typeface="Courier New" pitchFamily="34" charset="0"/>
                <a:ea typeface="Courier New" pitchFamily="34" charset="-122"/>
                <a:cs typeface="Courier New" pitchFamily="34" charset="-120"/>
              </a:rPr>
              <a:t>'e10_mempool_vs_utxo'</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m[</a:t>
            </a:r>
            <a:r>
              <a:rPr lang="en-US" sz="1000" dirty="0">
                <a:solidFill>
                  <a:srgbClr val="9ECBFF"/>
                </a:solidFill>
                <a:latin typeface="Courier New" pitchFamily="34" charset="0"/>
                <a:ea typeface="Courier New" pitchFamily="34" charset="-122"/>
                <a:cs typeface="Courier New" pitchFamily="34" charset="-120"/>
              </a:rPr>
              <a:t>'before_block'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pools = (b[</a:t>
            </a:r>
            <a:r>
              <a:rPr lang="en-US" sz="1000" dirty="0">
                <a:solidFill>
                  <a:srgbClr val="9ECBFF"/>
                </a:solidFill>
                <a:latin typeface="Courier New" pitchFamily="34" charset="0"/>
                <a:ea typeface="Courier New" pitchFamily="34" charset="-122"/>
                <a:cs typeface="Courier New" pitchFamily="34" charset="-120"/>
              </a:rPr>
              <a:t>'F_mempool'</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'G_mempool'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452421"/>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52557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m[</a:t>
            </a:r>
            <a:r>
              <a:rPr lang="en-US" sz="1000" dirty="0">
                <a:solidFill>
                  <a:srgbClr val="9ECBFF"/>
                </a:solidFill>
                <a:latin typeface="Courier New" pitchFamily="34" charset="0"/>
                <a:ea typeface="Courier New" pitchFamily="34" charset="-122"/>
                <a:cs typeface="Courier New" pitchFamily="34" charset="-120"/>
              </a:rPr>
              <a:t>'utxo_hash_F'</a:t>
            </a:r>
            <a:r>
              <a:rPr lang="en-US" sz="1000" dirty="0">
                <a:solidFill>
                  <a:srgbClr val="E6EDF3"/>
                </a:solidFill>
                <a:latin typeface="Courier New" pitchFamily="34" charset="0"/>
                <a:ea typeface="Courier New" pitchFamily="34" charset="-122"/>
                <a:cs typeface="Courier New" pitchFamily="34" charset="-120"/>
              </a:rPr>
              <a:t>] == m[</a:t>
            </a:r>
            <a:r>
              <a:rPr lang="en-US" sz="1000" dirty="0">
                <a:solidFill>
                  <a:srgbClr val="9ECBFF"/>
                </a:solidFill>
                <a:latin typeface="Courier New" pitchFamily="34" charset="0"/>
                <a:ea typeface="Courier New" pitchFamily="34" charset="-122"/>
                <a:cs typeface="Courier New" pitchFamily="34" charset="-120"/>
              </a:rPr>
              <a:t>'utxo_hash_G'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(pools, same, m[</a:t>
            </a:r>
            <a:r>
              <a:rPr lang="en-US" sz="1000" dirty="0">
                <a:solidFill>
                  <a:srgbClr val="9ECBFF"/>
                </a:solidFill>
                <a:latin typeface="Courier New" pitchFamily="34" charset="0"/>
                <a:ea typeface="Courier New" pitchFamily="34" charset="-122"/>
                <a:cs typeface="Courier New" pitchFamily="34" charset="-120"/>
              </a:rPr>
              <a:t>'utxo_count_F'</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 0), True, 107)</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Node F holds six unconfirmed transactions; node G, never told, holds none.</a:t>
            </a:r>
            <a:endParaRPr lang="en-US" sz="1050" dirty="0"/>
          </a:p>
        </p:txBody>
      </p:sp>
      <p:sp>
        <p:nvSpPr>
          <p:cNvPr id="13" name="Shape 11"/>
          <p:cNvSpPr/>
          <p:nvPr/>
        </p:nvSpPr>
        <p:spPr>
          <a:xfrm>
            <a:off x="365760" y="2379269"/>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37926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176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Yet both agree on the set of unspent outputs.</a:t>
            </a:r>
            <a:endParaRPr lang="en-US" sz="1050" dirty="0"/>
          </a:p>
        </p:txBody>
      </p:sp>
      <p:sp>
        <p:nvSpPr>
          <p:cNvPr id="16" name="Text 14"/>
          <p:cNvSpPr txBox="1"/>
          <p:nvPr/>
        </p:nvSpPr>
        <p:spPr>
          <a:xfrm>
            <a:off x="457200" y="337779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payments waiting in two nodes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nodes hold the same 107 unspent outputs: the chain state agrees.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Pools may differ between nodes, yet the unspent outputs agree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49</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and blocks: key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Compact Block Relay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block is sent as short ids of transactions the peer already has.</a:t>
            </a:r>
            <a:endParaRPr lang="en-US" sz="1250" dirty="0"/>
          </a:p>
        </p:txBody>
      </p:sp>
      <p:sp>
        <p:nvSpPr>
          <p:cNvPr id="9" name="Text 7"/>
          <p:cNvSpPr txBox="1"/>
          <p:nvPr/>
        </p:nvSpPr>
        <p:spPr>
          <a:xfrm>
            <a:off x="640080" y="213146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telling a friend the page numbers of a book they own.</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low-bandwidth mode (compact block relay)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peer announces the block and sends the compact block on request.</a:t>
            </a:r>
            <a:endParaRPr lang="en-US" sz="1250" dirty="0"/>
          </a:p>
        </p:txBody>
      </p:sp>
      <p:sp>
        <p:nvSpPr>
          <p:cNvPr id="13" name="Text 11"/>
          <p:cNvSpPr txBox="1"/>
          <p:nvPr/>
        </p:nvSpPr>
        <p:spPr>
          <a:xfrm>
            <a:off x="3432048" y="2325319"/>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waiter who asks before bringing the dish.</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high-bandwidth mode (compact block relay)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peer pushes the compact block at once, before full checks.</a:t>
            </a:r>
            <a:endParaRPr lang="en-US" sz="1250" dirty="0"/>
          </a:p>
        </p:txBody>
      </p:sp>
      <p:sp>
        <p:nvSpPr>
          <p:cNvPr id="17" name="Text 15"/>
          <p:cNvSpPr txBox="1"/>
          <p:nvPr/>
        </p:nvSpPr>
        <p:spPr>
          <a:xfrm>
            <a:off x="6224016" y="2325319"/>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courier who runs over with the parcel unasked.</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block-finding races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Two miners may find a block almost together; speed decides which stays.</a:t>
            </a:r>
            <a:endParaRPr lang="en-US" sz="1250" dirty="0"/>
          </a:p>
        </p:txBody>
      </p:sp>
      <p:sp>
        <p:nvSpPr>
          <p:cNvPr id="21" name="Text 19"/>
          <p:cNvSpPr txBox="1"/>
          <p:nvPr/>
        </p:nvSpPr>
        <p:spPr>
          <a:xfrm>
            <a:off x="640080"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two runners finishing within a breath.</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78272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Private Block Relay Networks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Miners pass blocks to each other over fast private networks.</a:t>
            </a:r>
            <a:endParaRPr lang="en-US" sz="1250" dirty="0"/>
          </a:p>
        </p:txBody>
      </p:sp>
      <p:sp>
        <p:nvSpPr>
          <p:cNvPr id="25" name="Text 23"/>
          <p:cNvSpPr txBox="1"/>
          <p:nvPr/>
        </p:nvSpPr>
        <p:spPr>
          <a:xfrm>
            <a:off x="3432048" y="376915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an express lane beside the public road.</a:t>
            </a:r>
            <a:endParaRPr lang="en-US" sz="11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49</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Compact blocks: 332 bytes, not 3,062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 152 sends only what the peer lacks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'e3_compact'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ids = (c[</a:t>
            </a:r>
            <a:r>
              <a:rPr lang="en-US" sz="1000" dirty="0">
                <a:solidFill>
                  <a:srgbClr val="9ECBFF"/>
                </a:solidFill>
                <a:latin typeface="Courier New" pitchFamily="34" charset="0"/>
                <a:ea typeface="Courier New" pitchFamily="34" charset="-122"/>
                <a:cs typeface="Courier New" pitchFamily="34" charset="-120"/>
              </a:rPr>
              <a:t>'short_id_count'</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'short_id_bytes'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(c[</a:t>
            </a:r>
            <a:r>
              <a:rPr lang="en-US" sz="1000" dirty="0">
                <a:solidFill>
                  <a:srgbClr val="9ECBFF"/>
                </a:solidFill>
                <a:latin typeface="Courier New" pitchFamily="34" charset="0"/>
                <a:ea typeface="Courier New" pitchFamily="34" charset="-122"/>
                <a:cs typeface="Courier New" pitchFamily="34" charset="-120"/>
              </a:rPr>
              <a:t>'cmpctblock_bytes'</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'full_block_bytes'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ratio = round(sizes[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sizes[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(332, 3062)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test node sent one block of 13 transactions as a compact block.</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Twelve short ids of 6 bytes stand for what the peer already holds.</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Compare the bytes on the wire with the full block.</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of one block of 13 payments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compact block is 10.8 percent of the size: 12 short ids of 6 bytes, the coinbase sent whole.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peer rebuilds the block from its own memory pool</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49</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Sending a block as a list of short codes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 not resend what the receiver already knows</a:t>
            </a:r>
            <a:endParaRPr lang="en-US" sz="1300" dirty="0"/>
          </a:p>
        </p:txBody>
      </p:sp>
      <p:pic>
        <p:nvPicPr>
          <p:cNvPr id="6" name="Image 0" descr="../../03-materials/ch10/assets/photo_optical_fibre.png">    </p:cNvPr>
          <p:cNvPicPr>
            <a:picLocks noChangeAspect="1"/>
          </p:cNvPicPr>
          <p:nvPr/>
        </p:nvPicPr>
        <p:blipFill>
          <a:blip r:embed="rId1"/>
          <a:srcRect l="0" r="0" t="0" b="0"/>
          <a:stretch/>
        </p:blipFill>
        <p:spPr>
          <a:xfrm>
            <a:off x="457200" y="1280160"/>
            <a:ext cx="2103120" cy="2331720"/>
          </a:xfrm>
          <a:prstGeom prst="rect">
            <a:avLst/>
          </a:prstGeom>
        </p:spPr>
      </p:pic>
      <p:sp>
        <p:nvSpPr>
          <p:cNvPr id="7" name="Text 4"/>
          <p:cNvSpPr txBox="1"/>
          <p:nvPr/>
        </p:nvSpPr>
        <p:spPr>
          <a:xfrm>
            <a:off x="457200" y="3630168"/>
            <a:ext cx="21031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Optical fibre strands - BigRiz, CC BY-SA 3.0, Wikimedia Commons</a:t>
            </a:r>
            <a:endParaRPr lang="en-US" sz="900" dirty="0"/>
          </a:p>
        </p:txBody>
      </p:sp>
      <p:sp>
        <p:nvSpPr>
          <p:cNvPr id="8" name="Shape 5"/>
          <p:cNvSpPr/>
          <p:nvPr/>
        </p:nvSpPr>
        <p:spPr>
          <a:xfrm>
            <a:off x="28346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108960" y="1280160"/>
            <a:ext cx="55778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27 April 2016 BIP 152, Compact Block Relay, was assigned to Matt Corallo; Suhas Daftuar wrote the Bitcoin Core code.</a:t>
            </a:r>
            <a:endParaRPr lang="en-US" sz="1150" dirty="0"/>
          </a:p>
        </p:txBody>
      </p:sp>
      <p:sp>
        <p:nvSpPr>
          <p:cNvPr id="10" name="Shape 7"/>
          <p:cNvSpPr/>
          <p:nvPr/>
        </p:nvSpPr>
        <p:spPr>
          <a:xfrm>
            <a:off x="28346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108960" y="1897380"/>
            <a:ext cx="55778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node already knows most payments of a new block from its memory pool, so sending them again wastes time.</a:t>
            </a:r>
            <a:endParaRPr lang="en-US" sz="1150" dirty="0"/>
          </a:p>
        </p:txBody>
      </p:sp>
      <p:sp>
        <p:nvSpPr>
          <p:cNvPr id="12" name="Shape 9"/>
          <p:cNvSpPr/>
          <p:nvPr/>
        </p:nvSpPr>
        <p:spPr>
          <a:xfrm>
            <a:off x="28346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108960" y="2514600"/>
            <a:ext cx="55778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block travels as a header, a 6-byte short id per payment and the few payments the peer cannot have, such as the coinbase.</a:t>
            </a:r>
            <a:endParaRPr lang="en-US" sz="1150" dirty="0"/>
          </a:p>
        </p:txBody>
      </p:sp>
      <p:sp>
        <p:nvSpPr>
          <p:cNvPr id="14" name="Shape 11"/>
          <p:cNvSpPr/>
          <p:nvPr/>
        </p:nvSpPr>
        <p:spPr>
          <a:xfrm>
            <a:off x="28346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108960" y="3131820"/>
            <a:ext cx="55778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In this chapter's run, a block of 13 payments went out as 332 bytes instead of 3,062.</a:t>
            </a:r>
            <a:endParaRPr lang="en-US" sz="1150" dirty="0"/>
          </a:p>
        </p:txBody>
      </p:sp>
      <p:sp>
        <p:nvSpPr>
          <p:cNvPr id="16" name="Text 13"/>
          <p:cNvSpPr txBox="1"/>
          <p:nvPr/>
        </p:nvSpPr>
        <p:spPr>
          <a:xfrm>
            <a:off x="2834640" y="3813048"/>
            <a:ext cx="5852160" cy="201168"/>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Stand-in picture: optical fibre, not the BIP.</a:t>
            </a:r>
            <a:endParaRPr lang="en-US" sz="90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Matt Corallo, a Bitcoin …</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2016-04-27</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152: Compact Block Relay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49</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ways to announce a compact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 152 lets each peer choose its mode</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Low-bandwidth mode</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peer first announces the block.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We ask for the compact block if we want it.</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waiter who asks before bringing the dish.</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High-bandwidth mode</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peer sends the compact block at once.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It does so before it has fully checked the block.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courier who runs over with the parcel unasked.</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Pushing saves a round trip; announcing first saves bandwidth</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49</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block-finding race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a slow block risks a rival</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delays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rival = L.rival_block_probability</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[round(rival(s),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delays]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[0.0017, 0.0083, 0.0165, 0.0488, 0.0952]</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Blocks arrive on average every 600 seconds, at random moments.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chance that a rival block appears while yours still travels.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a rival block, percent, by delay</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block that takes 60 seconds to travel has a 9.5 percent chance of a rival.</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block that travels for a minute has about a one in ten chance of a rival</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49</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and blocks: key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private block relay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Blocks pass over a dedicated, fast channel, not the open network.</a:t>
            </a:r>
            <a:endParaRPr lang="en-US" sz="1150" dirty="0"/>
          </a:p>
        </p:txBody>
      </p:sp>
      <p:sp>
        <p:nvSpPr>
          <p:cNvPr id="9" name="Text 7"/>
          <p:cNvSpPr txBox="1"/>
          <p:nvPr/>
        </p:nvSpPr>
        <p:spPr>
          <a:xfrm>
            <a:off x="640080"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private courier for urgent parcels.</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FEC (Forward Error Correction)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Extra parity data lets a receiver rebuild lost packets without asking.</a:t>
            </a:r>
            <a:endParaRPr lang="en-US" sz="1150" dirty="0"/>
          </a:p>
        </p:txBody>
      </p:sp>
      <p:sp>
        <p:nvSpPr>
          <p:cNvPr id="13" name="Text 11"/>
          <p:cNvSpPr txBox="1"/>
          <p:nvPr/>
        </p:nvSpPr>
        <p:spPr>
          <a:xfrm>
            <a:off x="3432048"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spare part packed in the box, so no repair call is needed.</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Bitcoin Relay Network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Matt Corallo's relay network for miners, built to move blocks quickly.</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ring road built only for lorries.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FIBRE (Fast Internet Bitcoin Relay Engine)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relay network that sends blocks with FEC over UDP.</a:t>
            </a:r>
            <a:endParaRPr lang="en-US" sz="1150" dirty="0"/>
          </a:p>
        </p:txBody>
      </p:sp>
      <p:sp>
        <p:nvSpPr>
          <p:cNvPr id="21" name="Text 19"/>
          <p:cNvSpPr txBox="1"/>
          <p:nvPr/>
        </p:nvSpPr>
        <p:spPr>
          <a:xfrm>
            <a:off x="640080"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conveyor belt that adds a spare part to every box.</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152</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proposal that defines compact blocks and the messages that carry them.</a:t>
            </a:r>
            <a:endParaRPr lang="en-US" sz="1150" dirty="0"/>
          </a:p>
        </p:txBody>
      </p:sp>
      <p:sp>
        <p:nvSpPr>
          <p:cNvPr id="25" name="Text 23"/>
          <p:cNvSpPr txBox="1"/>
          <p:nvPr/>
        </p:nvSpPr>
        <p:spPr>
          <a:xfrm>
            <a:off x="3432048"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rule-book page for the page-number shortcut.</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49</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parity part rebuilds a lost part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idea behind forward error correction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 = [b</a:t>
            </a:r>
            <a:r>
              <a:rPr lang="en-US" sz="1000" dirty="0">
                <a:solidFill>
                  <a:srgbClr val="9ECBFF"/>
                </a:solidFill>
                <a:latin typeface="Courier New" pitchFamily="34" charset="0"/>
                <a:ea typeface="Courier New" pitchFamily="34" charset="-122"/>
                <a:cs typeface="Courier New" pitchFamily="34" charset="-120"/>
              </a:rPr>
              <a:t>'compac'</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't bloc'</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'k mess'</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'age!!!'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 = L.parity_code(parts)</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lost = [parts[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None</a:t>
            </a:r>
            <a:r>
              <a:rPr lang="en-US" sz="1000" dirty="0">
                <a:solidFill>
                  <a:srgbClr val="E6EDF3"/>
                </a:solidFill>
                <a:latin typeface="Courier New" pitchFamily="34" charset="0"/>
                <a:ea typeface="Courier New" pitchFamily="34" charset="-122"/>
                <a:cs typeface="Courier New" pitchFamily="34" charset="-120"/>
              </a:rPr>
              <a:t>, parts[</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parts[</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.join(L.rebuild(lost, par))</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b'compact block message!!!'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Cut a message into four parts and add one parity part, their XOR.</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Lose any one part; the parity and the other three rebuild it.</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parts and one parity part</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05840"/>
                <a:gridCol w="1143000"/>
                <a:gridCol w="8229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Content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State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compac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 bloc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k mess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1d0807585c52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Rebuilt part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 bloc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from the rest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96849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message is whole again: compact block message!!!.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extra part, the XOR of the others, repairs any single loss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Light clients, privacy and transport</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a tourist with a map: ask the locals, and mind what your question gives away.</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Light clients</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Merkle path proves a payment to a client with only headers.</a:t>
            </a:r>
            <a:endParaRPr lang="en-US" sz="1100" dirty="0"/>
          </a:p>
        </p:txBody>
      </p:sp>
      <p:sp>
        <p:nvSpPr>
          <p:cNvPr id="9" name="Text 7"/>
          <p:cNvSpPr txBox="1"/>
          <p:nvPr/>
        </p:nvSpPr>
        <p:spPr>
          <a:xfrm>
            <a:off x="77724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name proved from the headings on its path.</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Bloom filters</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fuzzy guest list that leaks which addresses a wallet owns.</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guest list that admits a few strangers.</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Block filters</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One small filter per block lets the client ask nothing at all.</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library that posts each day's index.</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Transport</a:t>
            </a:r>
            <a:endParaRPr lang="en-US" sz="1100" dirty="0"/>
          </a:p>
        </p:txBody>
      </p:sp>
      <p:sp>
        <p:nvSpPr>
          <p:cNvPr id="20" name="Text 18"/>
          <p:cNvSpPr txBox="1"/>
          <p:nvPr/>
        </p:nvSpPr>
        <p:spPr>
          <a:xfrm>
            <a:off x="681228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Version 2 encrypts peer traffic; Tor and I2P hide who is who.</a:t>
            </a:r>
            <a:endParaRPr lang="en-US" sz="1100" dirty="0"/>
          </a:p>
        </p:txBody>
      </p:sp>
      <p:sp>
        <p:nvSpPr>
          <p:cNvPr id="21" name="Text 19"/>
          <p:cNvSpPr txBox="1"/>
          <p:nvPr/>
        </p:nvSpPr>
        <p:spPr>
          <a:xfrm>
            <a:off x="681228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sealed envelope, and a note passed through friends.</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2621585"/>
                <a:gridCol w="2621585"/>
                <a:gridCol w="262158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Who is on 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Peers and blocks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Light and private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49</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Light clients: key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Lightweight Clients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Clients that keep only block headers and ask full nodes for the rest.</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tourist with a map who asks the locals.</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SPV (simplified-payment-verification) clients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Clients that check a payment with a Merkle path and the header chain.</a:t>
            </a:r>
            <a:endParaRPr lang="en-US" sz="1150" dirty="0"/>
          </a:p>
        </p:txBody>
      </p:sp>
      <p:sp>
        <p:nvSpPr>
          <p:cNvPr id="13" name="Text 11"/>
          <p:cNvSpPr txBox="1"/>
          <p:nvPr/>
        </p:nvSpPr>
        <p:spPr>
          <a:xfrm>
            <a:off x="3432048"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proving a name is in a phone book by the headings on its path.</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Bloom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compact set that may say yes by mistake but never no by mistake.</a:t>
            </a:r>
            <a:endParaRPr lang="en-US" sz="1150" dirty="0"/>
          </a:p>
        </p:txBody>
      </p:sp>
      <p:sp>
        <p:nvSpPr>
          <p:cNvPr id="17" name="Text 15"/>
          <p:cNvSpPr txBox="1"/>
          <p:nvPr/>
        </p:nvSpPr>
        <p:spPr>
          <a:xfrm>
            <a:off x="6224016"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guest list that admits a few strangers.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How Bloom Filters Work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Several hash functions set bits for each item; a test reads the same bits.</a:t>
            </a:r>
            <a:endParaRPr lang="en-US" sz="1150" dirty="0"/>
          </a:p>
        </p:txBody>
      </p:sp>
      <p:sp>
        <p:nvSpPr>
          <p:cNvPr id="21" name="Text 19"/>
          <p:cNvSpPr txBox="1"/>
          <p:nvPr/>
        </p:nvSpPr>
        <p:spPr>
          <a:xfrm>
            <a:off x="640080"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stamping boxes on a card, then checking the same boxes.</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How Lightweight Clients Use Bloom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client sends a filter of its addresses and gets matching transactions.</a:t>
            </a:r>
            <a:endParaRPr lang="en-US" sz="1150" dirty="0"/>
          </a:p>
        </p:txBody>
      </p:sp>
      <p:sp>
        <p:nvSpPr>
          <p:cNvPr id="25" name="Text 23"/>
          <p:cNvSpPr txBox="1"/>
          <p:nvPr/>
        </p:nvSpPr>
        <p:spPr>
          <a:xfrm>
            <a:off x="3432048" y="390814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describing roughly what to deliver to a courier.</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false positives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Items reported as present although they were never added.</a:t>
            </a:r>
            <a:endParaRPr lang="en-US" sz="1150" dirty="0"/>
          </a:p>
        </p:txBody>
      </p:sp>
      <p:sp>
        <p:nvSpPr>
          <p:cNvPr id="29" name="Text 27"/>
          <p:cNvSpPr txBox="1"/>
          <p:nvPr/>
        </p:nvSpPr>
        <p:spPr>
          <a:xfrm>
            <a:off x="6224016"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stranger waved in because he looked like a guest.</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49</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light client checks a Merkle path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Proof of a payment without the block</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'e6_spv'</a:t>
            </a:r>
            <a:r>
              <a:rPr lang="en-US" sz="1000" dirty="0">
                <a:solidFill>
                  <a:srgbClr val="E6EDF3"/>
                </a:solidFill>
                <a:latin typeface="Courier New" pitchFamily="34" charset="0"/>
                <a:ea typeface="Courier New" pitchFamily="34" charset="-122"/>
                <a:cs typeface="Courier New" pitchFamily="34" charset="-120"/>
              </a:rPr>
              <a:t>]; e = R[</a:t>
            </a:r>
            <a:r>
              <a:rPr lang="en-US" sz="1000" dirty="0">
                <a:solidFill>
                  <a:srgbClr val="9ECBFF"/>
                </a:solidFill>
                <a:latin typeface="Courier New" pitchFamily="34" charset="0"/>
                <a:ea typeface="Courier New" pitchFamily="34" charset="-122"/>
                <a:cs typeface="Courier New" pitchFamily="34" charset="-120"/>
              </a:rPr>
              <a:t>'e6_bloom_enabled'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s[</a:t>
            </a:r>
            <a:r>
              <a:rPr lang="en-US" sz="1000" dirty="0">
                <a:solidFill>
                  <a:srgbClr val="9ECBFF"/>
                </a:solidFill>
                <a:latin typeface="Courier New" pitchFamily="34" charset="0"/>
                <a:ea typeface="Courier New" pitchFamily="34" charset="-122"/>
                <a:cs typeface="Courier New" pitchFamily="34" charset="-120"/>
              </a:rPr>
              <a:t>'root_from_path'</a:t>
            </a:r>
            <a:r>
              <a:rPr lang="en-US" sz="1000" dirty="0">
                <a:solidFill>
                  <a:srgbClr val="E6EDF3"/>
                </a:solidFill>
                <a:latin typeface="Courier New" pitchFamily="34" charset="0"/>
                <a:ea typeface="Courier New" pitchFamily="34" charset="-122"/>
                <a:cs typeface="Courier New" pitchFamily="34" charset="-120"/>
              </a:rPr>
              <a:t>] == s[</a:t>
            </a:r>
            <a:r>
              <a:rPr lang="en-US" sz="1000" dirty="0">
                <a:solidFill>
                  <a:srgbClr val="9ECBFF"/>
                </a:solidFill>
                <a:latin typeface="Courier New" pitchFamily="34" charset="0"/>
                <a:ea typeface="Courier New" pitchFamily="34" charset="-122"/>
                <a:cs typeface="Courier New" pitchFamily="34" charset="-120"/>
              </a:rPr>
              <a:t>'header_root'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(s[</a:t>
            </a:r>
            <a:r>
              <a:rPr lang="en-US" sz="1000" dirty="0">
                <a:solidFill>
                  <a:srgbClr val="9ECBFF"/>
                </a:solidFill>
                <a:latin typeface="Courier New" pitchFamily="34" charset="0"/>
                <a:ea typeface="Courier New" pitchFamily="34" charset="-122"/>
                <a:cs typeface="Courier New" pitchFamily="34" charset="-120"/>
              </a:rPr>
              <a:t>'proof_bytes'</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'full_block_bytes'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
            </a:r>
            <a:r>
              <a:rPr lang="en-US" sz="1000" dirty="0">
                <a:solidFill>
                  <a:srgbClr val="9ECBFF"/>
                </a:solidFill>
                <a:latin typeface="Courier New" pitchFamily="34" charset="0"/>
                <a:ea typeface="Courier New" pitchFamily="34" charset="-122"/>
                <a:cs typeface="Courier New" pitchFamily="34" charset="-120"/>
              </a:rPr>
              <a:t>'path_len'</a:t>
            </a:r>
            <a:r>
              <a:rPr lang="en-US" sz="1000" dirty="0">
                <a:solidFill>
                  <a:srgbClr val="E6EDF3"/>
                </a:solidFill>
                <a:latin typeface="Courier New" pitchFamily="34" charset="0"/>
                <a:ea typeface="Courier New" pitchFamily="34" charset="-122"/>
                <a:cs typeface="Courier New" pitchFamily="34" charset="-120"/>
              </a:rPr>
              <a:t>], ok, 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 True, (215, 4448))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light client holds only headers; a full node sends one transaction with its path.</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hashes lead from the transaction to the root in the header.</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proof is far smaller than the block it comes from.</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sent to a light client</a:t>
            </a:r>
            <a:endParaRPr lang="en-US" sz="1100" dirty="0"/>
          </a:p>
        </p:txBody>
      </p:sp>
      <p:graphicFrame>
        <p:nvGraphicFramePr>
          <p:cNvPr id="23"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path of 3 hashes in a block of 5 payments reaches the root: match.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hashes link the payment to the root in the header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49</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Double-spend odds by confirmations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Nakamoto's calculation for an attacker with a share q</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 =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zs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L.double_spend_probability</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 [[round(f(x, z),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 0.0132, 0.0002], [1.0, 0.3246, 0.1321]]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 attacker holds a share q of the hash rate and tries to catch up.</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Nakamoto's formula gives the chance of ever catching up from z blocks behind.</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catching up, by blocks behind</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Orange: attacker share 0.1. Slate: share 0.3. After 6 blocks: 0.0002 and 0.1321.</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confirmations make catching up far less likely</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49</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Light clients: key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37</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2012 proposal that added Bloom filters to the protocol.</a:t>
            </a:r>
            <a:endParaRPr lang="en-US" sz="1150" dirty="0"/>
          </a:p>
        </p:txBody>
      </p:sp>
      <p:sp>
        <p:nvSpPr>
          <p:cNvPr id="9" name="Text 7"/>
          <p:cNvSpPr txBox="1"/>
          <p:nvPr/>
        </p:nvSpPr>
        <p:spPr>
          <a:xfrm>
            <a:off x="640080"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2012 rule-book page for guest lists.</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Compact Block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small filter per block, built by the node, that clients download and test.</a:t>
            </a:r>
            <a:endParaRPr lang="en-US" sz="1150" dirty="0"/>
          </a:p>
        </p:txBody>
      </p:sp>
      <p:sp>
        <p:nvSpPr>
          <p:cNvPr id="13" name="Text 11"/>
          <p:cNvSpPr txBox="1"/>
          <p:nvPr/>
        </p:nvSpPr>
        <p:spPr>
          <a:xfrm>
            <a:off x="3432048"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library that posts each day's index.</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Golomb-Rice Coded Sets (GCS)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compressed set made by sorting hashes and coding their differences.</a:t>
            </a:r>
            <a:endParaRPr lang="en-US" sz="1150" dirty="0"/>
          </a:p>
        </p:txBody>
      </p:sp>
      <p:sp>
        <p:nvSpPr>
          <p:cNvPr id="17" name="Text 15"/>
          <p:cNvSpPr txBox="1"/>
          <p:nvPr/>
        </p:nvSpPr>
        <p:spPr>
          <a:xfrm>
            <a:off x="6224016"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staircase described by the height of each step.</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GCS (Golomb-Rice coded sets)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compression behind the filters of BIP 158.</a:t>
            </a:r>
            <a:endParaRPr lang="en-US" sz="1150" dirty="0"/>
          </a:p>
        </p:txBody>
      </p:sp>
      <p:sp>
        <p:nvSpPr>
          <p:cNvPr id="21" name="Text 19"/>
          <p:cNvSpPr txBox="1"/>
          <p:nvPr/>
        </p:nvSpPr>
        <p:spPr>
          <a:xfrm>
            <a:off x="640080" y="3599078"/>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long list squeezed by saying only how much each entry rises.</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What Data to Include in a Block Filter</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basic filter holds output scripts and spent scripts, not OP_RETURN data.</a:t>
            </a:r>
            <a:endParaRPr lang="en-US" sz="1150" dirty="0"/>
          </a:p>
        </p:txBody>
      </p:sp>
      <p:sp>
        <p:nvSpPr>
          <p:cNvPr id="25" name="Text 23"/>
          <p:cNvSpPr txBox="1"/>
          <p:nvPr/>
        </p:nvSpPr>
        <p:spPr>
          <a:xfrm>
            <a:off x="3432048"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an index that lists the names and skips the fine print.</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Downloading Block Filters from Multiple Peers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client compares the filter headers of several peers before it trusts one.</a:t>
            </a:r>
            <a:endParaRPr lang="en-US" sz="1150" dirty="0"/>
          </a:p>
        </p:txBody>
      </p:sp>
      <p:sp>
        <p:nvSpPr>
          <p:cNvPr id="29" name="Text 27"/>
          <p:cNvSpPr txBox="1"/>
          <p:nvPr/>
        </p:nvSpPr>
        <p:spPr>
          <a:xfrm>
            <a:off x="6224016"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asking several witnesses and comparing their stories.</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49</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toy Bloom filter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Sixteen bits, three hash functions, two patterns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L.toy_bloom_experiment()</a:t>
            </a:r>
            <a:endParaRPr lang="en-US" sz="1000" dirty="0"/>
          </a:p>
        </p:txBody>
      </p:sp>
      <p:sp>
        <p:nvSpPr>
          <p:cNvPr id="8" name="Shape 6"/>
          <p:cNvSpPr/>
          <p:nvPr/>
        </p:nvSpPr>
        <p:spPr>
          <a:xfrm>
            <a:off x="457200" y="1957730"/>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03088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r[</a:t>
            </a:r>
            <a:r>
              <a:rPr lang="en-US" sz="1000" dirty="0">
                <a:solidFill>
                  <a:srgbClr val="9ECBFF"/>
                </a:solidFill>
                <a:latin typeface="Courier New" pitchFamily="34" charset="0"/>
                <a:ea typeface="Courier New" pitchFamily="34" charset="-122"/>
                <a:cs typeface="Courier New" pitchFamily="34" charset="-120"/>
              </a:rPr>
              <a:t>'inserted_ok'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r>
              <a:rPr lang="en-US" sz="1000" dirty="0">
                <a:solidFill>
                  <a:srgbClr val="9ECBFF"/>
                </a:solidFill>
                <a:latin typeface="Courier New" pitchFamily="34" charset="0"/>
                <a:ea typeface="Courier New" pitchFamily="34" charset="-122"/>
                <a:cs typeface="Courier New" pitchFamily="34" charset="-120"/>
              </a:rPr>
              <a:t>'fp_measured'</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'fp_formula'</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(0.053, 0.031)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filter of 16 bits and 3 hash functions holds the patterns A and B.</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707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Everything added is found, but some strangers pass as well.</a:t>
            </a:r>
            <a:endParaRPr lang="en-US" sz="1050" dirty="0"/>
          </a:p>
        </p:txBody>
      </p:sp>
      <p:sp>
        <p:nvSpPr>
          <p:cNvPr id="16" name="Text 14"/>
          <p:cNvSpPr txBox="1"/>
          <p:nvPr/>
        </p:nvSpPr>
        <p:spPr>
          <a:xfrm>
            <a:off x="457200" y="288310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false positives, percent</a:t>
            </a:r>
            <a:endParaRPr lang="en-US" sz="1100" dirty="0"/>
          </a:p>
        </p:txBody>
      </p:sp>
      <p:graphicFrame>
        <p:nvGraphicFramePr>
          <p:cNvPr id="18"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patterns are found (yes); 6 of 16 bits are set, so strangers sometimes pass.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filter says maybe or definitely not; the maybe can be wrong</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49</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Bloom filters are off by default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changed after the privacy paper</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R[</a:t>
            </a:r>
            <a:r>
              <a:rPr lang="en-US" sz="1000" dirty="0">
                <a:solidFill>
                  <a:srgbClr val="9ECBFF"/>
                </a:solidFill>
                <a:latin typeface="Courier New" pitchFamily="34" charset="0"/>
                <a:ea typeface="Courier New" pitchFamily="34" charset="-122"/>
                <a:cs typeface="Courier New" pitchFamily="34" charset="-120"/>
              </a:rPr>
              <a:t>'e6_bloom_default'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has = </a:t>
            </a:r>
            <a:r>
              <a:rPr lang="en-US" sz="1000" dirty="0">
                <a:solidFill>
                  <a:srgbClr val="9ECBFF"/>
                </a:solidFill>
                <a:latin typeface="Courier New" pitchFamily="34" charset="0"/>
                <a:ea typeface="Courier New" pitchFamily="34" charset="-122"/>
                <a:cs typeface="Courier New" pitchFamily="34" charset="-120"/>
              </a:rPr>
              <a:t>'BLOOM'</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d[</a:t>
            </a:r>
            <a:r>
              <a:rPr lang="en-US" sz="1000" dirty="0">
                <a:solidFill>
                  <a:srgbClr val="9ECBFF"/>
                </a:solidFill>
                <a:latin typeface="Courier New" pitchFamily="34" charset="0"/>
                <a:ea typeface="Courier New" pitchFamily="34" charset="-122"/>
                <a:cs typeface="Courier New" pitchFamily="34" charset="-120"/>
              </a:rPr>
              <a:t>'services_names'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gone = d[</a:t>
            </a:r>
            <a:r>
              <a:rPr lang="en-US" sz="1000" dirty="0">
                <a:solidFill>
                  <a:srgbClr val="9ECBFF"/>
                </a:solidFill>
                <a:latin typeface="Courier New" pitchFamily="34" charset="0"/>
                <a:ea typeface="Courier New" pitchFamily="34" charset="-122"/>
                <a:cs typeface="Courier New" pitchFamily="34" charset="-120"/>
              </a:rPr>
              <a:t>'disconnected_after_filterload'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827325"/>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R[</a:t>
            </a:r>
            <a:r>
              <a:rPr lang="en-US" sz="1000" dirty="0">
                <a:solidFill>
                  <a:srgbClr val="9ECBFF"/>
                </a:solidFill>
                <a:latin typeface="Courier New" pitchFamily="34" charset="0"/>
                <a:ea typeface="Courier New" pitchFamily="34" charset="-122"/>
                <a:cs typeface="Courier New" pitchFamily="34" charset="-120"/>
              </a:rPr>
              <a:t>'e6_bloom_enabled'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len(e[</a:t>
            </a:r>
            <a:r>
              <a:rPr lang="en-US" sz="1000" dirty="0">
                <a:solidFill>
                  <a:srgbClr val="9ECBFF"/>
                </a:solidFill>
                <a:latin typeface="Courier New" pitchFamily="34" charset="0"/>
                <a:ea typeface="Courier New" pitchFamily="34" charset="-122"/>
                <a:cs typeface="Courier New" pitchFamily="34" charset="-120"/>
              </a:rPr>
              <a:t>'matched_txids'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(e[</a:t>
            </a:r>
            <a:r>
              <a:rPr lang="en-US" sz="1000" dirty="0">
                <a:solidFill>
                  <a:srgbClr val="9ECBFF"/>
                </a:solidFill>
                <a:latin typeface="Courier New" pitchFamily="34" charset="0"/>
                <a:ea typeface="Courier New" pitchFamily="34" charset="-122"/>
                <a:cs typeface="Courier New" pitchFamily="34" charset="-120"/>
              </a:rPr>
              <a:t>'filter_bytes'</a:t>
            </a:r>
            <a:r>
              <a:rPr lang="en-US" sz="1000" dirty="0">
                <a:solidFill>
                  <a:srgbClr val="E6EDF3"/>
                </a:solidFill>
                <a:latin typeface="Courier New" pitchFamily="34" charset="0"/>
                <a:ea typeface="Courier New" pitchFamily="34" charset="-122"/>
                <a:cs typeface="Courier New" pitchFamily="34" charset="-120"/>
              </a:rPr>
              <a:t>], n, e[</a:t>
            </a:r>
            <a:r>
              <a:rPr lang="en-US" sz="1000" dirty="0">
                <a:solidFill>
                  <a:srgbClr val="9ECBFF"/>
                </a:solidFill>
                <a:latin typeface="Courier New" pitchFamily="34" charset="0"/>
                <a:ea typeface="Courier New" pitchFamily="34" charset="-122"/>
                <a:cs typeface="Courier New" pitchFamily="34" charset="-120"/>
              </a:rPr>
              <a:t>'block_txs'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(has, gone, got)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True, (7, 1, 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31.1 no longer offers Bloom filters unless asked.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peer that sends filterload anyway is disconnected.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the option on, a 7-byte filter matched one transaction of five.</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default node and enabled node</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Offers BLOOM by default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Peer sends filterload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disconnected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Option on: filter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Option on: matches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of 5 payments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default closed the door that leaked addresses.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answers filterload only when the operator turned the service on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49</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filter that told on the wallet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privacy tool can leak more than it hides</a:t>
            </a:r>
            <a:endParaRPr lang="en-US" sz="1300" dirty="0"/>
          </a:p>
        </p:txBody>
      </p:sp>
      <p:pic>
        <p:nvPicPr>
          <p:cNvPr id="6" name="Image 0" descr="../../03-materials/ch10/assets/photo_bloom_filter_diagram.png">    </p:cNvPr>
          <p:cNvPicPr>
            <a:picLocks noChangeAspect="1"/>
          </p:cNvPicPr>
          <p:nvPr/>
        </p:nvPicPr>
        <p:blipFill>
          <a:blip r:embed="rId1"/>
          <a:srcRect l="0" r="0" t="0" b="0"/>
          <a:stretch/>
        </p:blipFill>
        <p:spPr>
          <a:xfrm>
            <a:off x="457200" y="1280160"/>
            <a:ext cx="4023360" cy="1444752"/>
          </a:xfrm>
          <a:prstGeom prst="rect">
            <a:avLst/>
          </a:prstGeom>
        </p:spPr>
      </p:pic>
      <p:sp>
        <p:nvSpPr>
          <p:cNvPr id="7" name="Text 4"/>
          <p:cNvSpPr txBox="1"/>
          <p:nvPr/>
        </p:nvSpPr>
        <p:spPr>
          <a:xfrm>
            <a:off x="457200" y="2743200"/>
            <a:ext cx="4023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Bloom filter diagram - David Eppstein, public domain, Wikimedia Commons</a:t>
            </a:r>
            <a:endParaRPr lang="en-US" sz="900" dirty="0"/>
          </a:p>
        </p:txBody>
      </p:sp>
      <p:sp>
        <p:nvSpPr>
          <p:cNvPr id="8" name="Shape 5"/>
          <p:cNvSpPr/>
          <p:nvPr/>
        </p:nvSpPr>
        <p:spPr>
          <a:xfrm>
            <a:off x="4663440" y="1547622"/>
            <a:ext cx="128016" cy="128016"/>
          </a:xfrm>
          <a:prstGeom prst="diamond">
            <a:avLst/>
          </a:prstGeom>
          <a:solidFill>
            <a:srgbClr val="D97A14"/>
          </a:solidFill>
          <a:ln w="12700">
            <a:solidFill>
              <a:srgbClr val="D97A14"/>
            </a:solidFill>
            <a:prstDash val="solid"/>
          </a:ln>
        </p:spPr>
      </p:sp>
      <p:sp>
        <p:nvSpPr>
          <p:cNvPr id="9" name="Text 6"/>
          <p:cNvSpPr txBox="1"/>
          <p:nvPr/>
        </p:nvSpPr>
        <p:spPr>
          <a:xfrm>
            <a:off x="4937760" y="128016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BIP 37 was assigned to Mike Hearn and Matt Corallo on 24 October 2012: light clients send a Bloom filter of their addresses to a node.</a:t>
            </a:r>
            <a:endParaRPr lang="en-US" sz="1050" dirty="0"/>
          </a:p>
        </p:txBody>
      </p:sp>
      <p:sp>
        <p:nvSpPr>
          <p:cNvPr id="10" name="Shape 7"/>
          <p:cNvSpPr/>
          <p:nvPr/>
        </p:nvSpPr>
        <p:spPr>
          <a:xfrm>
            <a:off x="4663440" y="22105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937760" y="194310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WHY: In 2014 Arthur Gervais and colleagues at ETH Zurich showed that this leaks considerable information about the addresses of the user.</a:t>
            </a:r>
            <a:endParaRPr lang="en-US" sz="1050" dirty="0"/>
          </a:p>
        </p:txBody>
      </p:sp>
      <p:sp>
        <p:nvSpPr>
          <p:cNvPr id="12" name="Shape 9"/>
          <p:cNvSpPr/>
          <p:nvPr/>
        </p:nvSpPr>
        <p:spPr>
          <a:xfrm>
            <a:off x="4663440" y="28735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937760" y="260604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BIP 111 added the service bit NODE_BLOOM in 2015, and Bitcoin Core 0.19.0.1 turned the service off by default.</a:t>
            </a:r>
            <a:endParaRPr lang="en-US" sz="1050" dirty="0"/>
          </a:p>
        </p:txBody>
      </p:sp>
      <p:sp>
        <p:nvSpPr>
          <p:cNvPr id="14" name="Shape 11"/>
          <p:cNvSpPr/>
          <p:nvPr/>
        </p:nvSpPr>
        <p:spPr>
          <a:xfrm>
            <a:off x="4663440" y="353644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937760" y="326898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WHAT: In this chapter's run, a default node closed the connection of a peer that sent filterload.</a:t>
            </a:r>
            <a:endParaRPr lang="en-US" sz="10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Hearn and Matt Cora…</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2012-10-24</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Gervais: Bloom filter privacy (paper)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eprint.iacr.org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49</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Light clients: key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downloading multiple block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Filters are fetched in ranges, and filter headers chain them together.</a:t>
            </a:r>
            <a:endParaRPr lang="en-US" sz="1150" dirty="0"/>
          </a:p>
        </p:txBody>
      </p:sp>
      <p:sp>
        <p:nvSpPr>
          <p:cNvPr id="9" name="Text 7"/>
          <p:cNvSpPr txBox="1"/>
          <p:nvPr/>
        </p:nvSpPr>
        <p:spPr>
          <a:xfrm>
            <a:off x="640080"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buying a whole shelf of index cards in one trip.</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Reducing Bandwidth with Lossy Encoding</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Accepting some false positives makes the filter smaller.</a:t>
            </a:r>
            <a:endParaRPr lang="en-US" sz="1150" dirty="0"/>
          </a:p>
        </p:txBody>
      </p:sp>
      <p:sp>
        <p:nvSpPr>
          <p:cNvPr id="13" name="Text 11"/>
          <p:cNvSpPr txBox="1"/>
          <p:nvPr/>
        </p:nvSpPr>
        <p:spPr>
          <a:xfrm>
            <a:off x="3432048" y="209306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small blurry thumbnail instead of the full photo.</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lossless encoding</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Coding that restores the original exactly, as Golomb-Rice coding does.</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zip file that unpacks to the identical document.</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lossy encoding</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Coding that drops detail for size; the original cannot be rebuilt.</a:t>
            </a:r>
            <a:endParaRPr lang="en-US" sz="1150" dirty="0"/>
          </a:p>
        </p:txBody>
      </p:sp>
      <p:sp>
        <p:nvSpPr>
          <p:cNvPr id="21" name="Text 19"/>
          <p:cNvSpPr txBox="1"/>
          <p:nvPr/>
        </p:nvSpPr>
        <p:spPr>
          <a:xfrm>
            <a:off x="640080"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thumbnail from which the photo cannot be restored.</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Using Compact Block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client tests its scripts against each filter and fetches only matching blocks.</a:t>
            </a:r>
            <a:endParaRPr lang="en-US" sz="1150" dirty="0"/>
          </a:p>
        </p:txBody>
      </p:sp>
      <p:sp>
        <p:nvSpPr>
          <p:cNvPr id="25" name="Text 23"/>
          <p:cNvSpPr txBox="1"/>
          <p:nvPr/>
        </p:nvSpPr>
        <p:spPr>
          <a:xfrm>
            <a:off x="3432048" y="3908146"/>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checking the index, then borrowing only the books it names.</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Lightweight Clients and Privacy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Asking a node about your addresses tells that node about you.</a:t>
            </a:r>
            <a:endParaRPr lang="en-US" sz="1150" dirty="0"/>
          </a:p>
        </p:txBody>
      </p:sp>
      <p:sp>
        <p:nvSpPr>
          <p:cNvPr id="29" name="Text 27"/>
          <p:cNvSpPr txBox="1"/>
          <p:nvPr/>
        </p:nvSpPr>
        <p:spPr>
          <a:xfrm>
            <a:off x="6224016"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asking a clerk for one book in front of the whole queue.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49</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Golomb coding sends differences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trick behind compact block filters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 = L.gcs_book_example()</a:t>
            </a:r>
            <a:endParaRPr lang="en-US" sz="1000" dirty="0"/>
          </a:p>
        </p:txBody>
      </p:sp>
      <p:sp>
        <p:nvSpPr>
          <p:cNvPr id="8" name="Shape 6"/>
          <p:cNvSpPr/>
          <p:nvPr/>
        </p:nvSpPr>
        <p:spPr>
          <a:xfrm>
            <a:off x="457200" y="1957730"/>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03088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(g[</a:t>
            </a:r>
            <a:r>
              <a:rPr lang="en-US" sz="1000" dirty="0">
                <a:solidFill>
                  <a:srgbClr val="9ECBFF"/>
                </a:solidFill>
                <a:latin typeface="Courier New" pitchFamily="34" charset="0"/>
                <a:ea typeface="Courier New" pitchFamily="34" charset="-122"/>
                <a:cs typeface="Courier New" pitchFamily="34" charset="-120"/>
              </a:rPr>
              <a:t>'max_bits_original'</a:t>
            </a:r>
            <a:r>
              <a:rPr lang="en-US" sz="1000" dirty="0">
                <a:solidFill>
                  <a:srgbClr val="E6EDF3"/>
                </a:solidFill>
                <a:latin typeface="Courier New" pitchFamily="34" charset="0"/>
                <a:ea typeface="Courier New" pitchFamily="34" charset="-122"/>
                <a:cs typeface="Courier New" pitchFamily="34" charset="-120"/>
              </a:rPr>
              <a:t>], g[</a:t>
            </a:r>
            <a:r>
              <a:rPr lang="en-US" sz="1000" dirty="0">
                <a:solidFill>
                  <a:srgbClr val="9ECBFF"/>
                </a:solidFill>
                <a:latin typeface="Courier New" pitchFamily="34" charset="0"/>
                <a:ea typeface="Courier New" pitchFamily="34" charset="-122"/>
                <a:cs typeface="Courier New" pitchFamily="34" charset="-120"/>
              </a:rPr>
              <a:t>'max_bits_deltas'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t>
            </a:r>
            <a:r>
              <a:rPr lang="en-US" sz="1000" dirty="0">
                <a:solidFill>
                  <a:srgbClr val="9ECBFF"/>
                </a:solidFill>
                <a:latin typeface="Courier New" pitchFamily="34" charset="0"/>
                <a:ea typeface="Courier New" pitchFamily="34" charset="-122"/>
                <a:cs typeface="Courier New" pitchFamily="34" charset="-120"/>
              </a:rPr>
              <a:t>'deltas'</a:t>
            </a:r>
            <a:r>
              <a:rPr lang="en-US" sz="1000" dirty="0">
                <a:solidFill>
                  <a:srgbClr val="E6EDF3"/>
                </a:solidFill>
                <a:latin typeface="Courier New" pitchFamily="34" charset="0"/>
                <a:ea typeface="Courier New" pitchFamily="34" charset="-122"/>
                <a:cs typeface="Courier New" pitchFamily="34" charset="-120"/>
              </a:rPr>
              <a:t>], bits)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([379, 97, 177, 196, 51], (10, 8))</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Sort the numbers, send the first, then only the differences.</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707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Differences need fewer bits than the numbers themselves: 8 instead of 10.</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five numbers (orange) and their differences (slate)</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largest number needs 10 bits, the largest difference 8. Adding back restores the list: yes.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Sorted numbers differ by less than they are, so differences take fewer bits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Golomb-Rice coding is lossless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Unary quotient plus a few remainder bits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 = [</a:t>
            </a:r>
            <a:r>
              <a:rPr lang="en-US" sz="1000" dirty="0">
                <a:solidFill>
                  <a:srgbClr val="FFD28A"/>
                </a:solidFill>
                <a:latin typeface="Courier New" pitchFamily="34" charset="0"/>
                <a:ea typeface="Courier New" pitchFamily="34" charset="-122"/>
                <a:cs typeface="Courier New" pitchFamily="34" charset="-120"/>
              </a:rPr>
              <a:t>379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476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653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849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L.rice_roundtrip(v, </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r[</a:t>
            </a:r>
            <a:r>
              <a:rPr lang="en-US" sz="1000" dirty="0">
                <a:solidFill>
                  <a:srgbClr val="9ECBFF"/>
                </a:solidFill>
                <a:latin typeface="Courier New" pitchFamily="34" charset="0"/>
                <a:ea typeface="Courier New" pitchFamily="34" charset="-122"/>
                <a:cs typeface="Courier New" pitchFamily="34" charset="-120"/>
              </a:rPr>
              <a:t>'decoded'</a:t>
            </a:r>
            <a:r>
              <a:rPr lang="en-US" sz="1000" dirty="0">
                <a:solidFill>
                  <a:srgbClr val="E6EDF3"/>
                </a:solidFill>
                <a:latin typeface="Courier New" pitchFamily="34" charset="0"/>
                <a:ea typeface="Courier New" pitchFamily="34" charset="-122"/>
                <a:cs typeface="Courier New" pitchFamily="34" charset="-120"/>
              </a:rPr>
              <a:t>] == v</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r[</a:t>
            </a:r>
            <a:r>
              <a:rPr lang="en-US" sz="1000" dirty="0">
                <a:solidFill>
                  <a:srgbClr val="9ECBFF"/>
                </a:solidFill>
                <a:latin typeface="Courier New" pitchFamily="34" charset="0"/>
                <a:ea typeface="Courier New" pitchFamily="34" charset="-122"/>
                <a:cs typeface="Courier New" pitchFamily="34" charset="-120"/>
              </a:rPr>
              <a:t>'bits'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'fixed_bits'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44, 50, 6)</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difference is written as a unary quotient and p remainder bits.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Decoding returns the original list exactly, and the bits are fewer.</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bits for five numbers</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508760"/>
                <a:gridCol w="14630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Coding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Fixed width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50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Golomb-Rice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44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Coded set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Decoded equals input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Decoding returns the same five numbers, and the coded set is smaller than the fixed width.</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Decoding gives back the exact list, in fewer bits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49</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 filter rebuilt without Core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 158 checked by independent code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R[</a:t>
            </a:r>
            <a:r>
              <a:rPr lang="en-US" sz="1000" dirty="0">
                <a:solidFill>
                  <a:srgbClr val="9ECBFF"/>
                </a:solidFill>
                <a:latin typeface="Courier New" pitchFamily="34" charset="0"/>
                <a:ea typeface="Courier New" pitchFamily="34" charset="-122"/>
                <a:cs typeface="Courier New" pitchFamily="34" charset="-120"/>
              </a:rPr>
              <a:t>'e7_filter'</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(f[</a:t>
            </a:r>
            <a:r>
              <a:rPr lang="en-US" sz="1000" dirty="0">
                <a:solidFill>
                  <a:srgbClr val="9ECBFF"/>
                </a:solidFill>
                <a:latin typeface="Courier New" pitchFamily="34" charset="0"/>
                <a:ea typeface="Courier New" pitchFamily="34" charset="-122"/>
                <a:cs typeface="Courier New" pitchFamily="34" charset="-120"/>
              </a:rPr>
              <a:t>'my_filter_equal'</a:t>
            </a:r>
            <a:r>
              <a:rPr lang="en-US" sz="1000" dirty="0">
                <a:solidFill>
                  <a:srgbClr val="E6EDF3"/>
                </a:solidFill>
                <a:latin typeface="Courier New" pitchFamily="34" charset="0"/>
                <a:ea typeface="Courier New" pitchFamily="34" charset="-122"/>
                <a:cs typeface="Courier New" pitchFamily="34" charset="-120"/>
              </a:rPr>
              <a:t>], f[</a:t>
            </a:r>
            <a:r>
              <a:rPr lang="en-US" sz="1000" dirty="0">
                <a:solidFill>
                  <a:srgbClr val="9ECBFF"/>
                </a:solidFill>
                <a:latin typeface="Courier New" pitchFamily="34" charset="0"/>
                <a:ea typeface="Courier New" pitchFamily="34" charset="-122"/>
                <a:cs typeface="Courier New" pitchFamily="34" charset="-120"/>
              </a:rPr>
              <a:t>'my_header_equal'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a:t>
            </a:r>
            <a:r>
              <a:rPr lang="en-US" sz="1000" dirty="0">
                <a:solidFill>
                  <a:srgbClr val="9ECBFF"/>
                </a:solidFill>
                <a:latin typeface="Courier New" pitchFamily="34" charset="0"/>
                <a:ea typeface="Courier New" pitchFamily="34" charset="-122"/>
                <a:cs typeface="Courier New" pitchFamily="34" charset="-120"/>
              </a:rPr>
              <a:t>'n_elements'</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'filter_bytes'</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'bits_per_element'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per = tuple(f[x]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per, L.bip158_vectors())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(104, 275, 21.15), (10, 10))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filter of a regtest block, as Bitcoin Core built it.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independent code rebuilds the same filter and the same filter header.</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104 elements fit in 275 bytes; all ten BIP 158 test vectors also pass.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block filter and its checks</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Filter equals Core's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Filter header equals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Elements,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104, 275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Bits per element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21.15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BIP 158 vectors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 of 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About 21 bits per element, and our code agrees with Core.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Our own code produced the same filter, the same header and ten of ten vectors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49</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anonymous post turned the filter around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Reverse the question and the leak disappears</a:t>
            </a:r>
            <a:endParaRPr lang="en-US" sz="1300" dirty="0"/>
          </a:p>
        </p:txBody>
      </p:sp>
      <p:pic>
        <p:nvPicPr>
          <p:cNvPr id="6" name="Image 0" descr="../../03-materials/ch10/assets/photo_solomon_golomb.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Solomon W. Golomb - National Science Foundation, public domain,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9 May 2016 a developer writing as bfd posted Committed Bloom filters to the bitcoin-dev mailing list.</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Bloom filter makes the client reveal its addresses; the idea was to turn the question around.</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full node builds one small filter per block; the client downloads it and tests its own addresses privately.</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Olaoluwa Osuntokun and Alex Akselrod wrote BIP 157 and 158 with Golomb-coded sets, and our code reproduced all ten vectors.</a:t>
            </a:r>
            <a:endParaRPr lang="en-US" sz="1150" dirty="0"/>
          </a:p>
        </p:txBody>
      </p:sp>
      <p:sp>
        <p:nvSpPr>
          <p:cNvPr id="16" name="Text 13"/>
          <p:cNvSpPr txBox="1"/>
          <p:nvPr/>
        </p:nvSpPr>
        <p:spPr>
          <a:xfrm>
            <a:off x="3749040" y="3813048"/>
            <a:ext cx="4937760" cy="201168"/>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Stand-in picture: Solomon Golomb, whose coding the filter uses.</a:t>
            </a:r>
            <a:endParaRPr lang="en-US" sz="90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anonymous developer w…</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bitcoin-dev mailin…</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2016-05-09</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157: Client Side Block Filtering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49</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Light clients: key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privacy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Who sends, who asks and who owns a coin should not be learnable by watchers.</a:t>
            </a:r>
            <a:endParaRPr lang="en-US" sz="1250" dirty="0"/>
          </a:p>
        </p:txBody>
      </p:sp>
      <p:sp>
        <p:nvSpPr>
          <p:cNvPr id="9" name="Text 7"/>
          <p:cNvSpPr txBox="1"/>
          <p:nvPr/>
        </p:nvSpPr>
        <p:spPr>
          <a:xfrm>
            <a:off x="640080" y="2131466"/>
            <a:ext cx="2371344" cy="206654"/>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curtains on a window.</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BIP 157</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proposal for client-side block filtering over the peer-to-peer network.</a:t>
            </a:r>
            <a:endParaRPr lang="en-US" sz="1250" dirty="0"/>
          </a:p>
        </p:txBody>
      </p:sp>
      <p:sp>
        <p:nvSpPr>
          <p:cNvPr id="13" name="Text 11"/>
          <p:cNvSpPr txBox="1"/>
          <p:nvPr/>
        </p:nvSpPr>
        <p:spPr>
          <a:xfrm>
            <a:off x="3432048"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rule-book page for posting the daily index.</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BIP 158</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proposal that fixes the filter format, its parameters and its test vectors.</a:t>
            </a:r>
            <a:endParaRPr lang="en-US" sz="1250" dirty="0"/>
          </a:p>
        </p:txBody>
      </p:sp>
      <p:sp>
        <p:nvSpPr>
          <p:cNvPr id="17" name="Text 15"/>
          <p:cNvSpPr txBox="1"/>
          <p:nvPr/>
        </p:nvSpPr>
        <p:spPr>
          <a:xfrm>
            <a:off x="6224016" y="213146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rule-book page that fixes the size of the index card.</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Encrypted and Authenticated Connections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Peers can hide their traffic; version 2 encrypts but does not authenticate.</a:t>
            </a:r>
            <a:endParaRPr lang="en-US" sz="1250" dirty="0"/>
          </a:p>
        </p:txBody>
      </p:sp>
      <p:sp>
        <p:nvSpPr>
          <p:cNvPr id="21" name="Text 19"/>
          <p:cNvSpPr txBox="1"/>
          <p:nvPr/>
        </p:nvSpPr>
        <p:spPr>
          <a:xfrm>
            <a:off x="640080" y="3940150"/>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sealed envelope that still carries no signature.</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encryption</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Scrambling the traffic so that only the two peers can read it.</a:t>
            </a:r>
            <a:endParaRPr lang="en-US" sz="1250" dirty="0"/>
          </a:p>
        </p:txBody>
      </p:sp>
      <p:sp>
        <p:nvSpPr>
          <p:cNvPr id="25" name="Text 23"/>
          <p:cNvSpPr txBox="1"/>
          <p:nvPr/>
        </p:nvSpPr>
        <p:spPr>
          <a:xfrm>
            <a:off x="3432048"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sealed envelope instead of a postcard.</a:t>
            </a:r>
            <a:endParaRPr lang="en-US" sz="1100" dirty="0"/>
          </a:p>
        </p:txBody>
      </p:sp>
      <p:sp>
        <p:nvSpPr>
          <p:cNvPr id="26" name="Shape 24"/>
          <p:cNvSpPr/>
          <p:nvPr/>
        </p:nvSpPr>
        <p:spPr>
          <a:xfrm>
            <a:off x="6041136" y="2894990"/>
            <a:ext cx="2645664" cy="1486814"/>
          </a:xfrm>
          <a:prstGeom prst="roundRect">
            <a:avLst>
              <a:gd name="adj" fmla="val 4920"/>
            </a:avLst>
          </a:prstGeom>
          <a:solidFill>
            <a:srgbClr val="F2ECE1"/>
          </a:solidFill>
          <a:ln w="12700">
            <a:solidFill>
              <a:srgbClr val="DFD6C7"/>
            </a:solidFill>
            <a:prstDash val="solid"/>
          </a:ln>
        </p:spPr>
      </p:sp>
      <p:sp>
        <p:nvSpPr>
          <p:cNvPr id="27" name="Shape 25"/>
          <p:cNvSpPr/>
          <p:nvPr/>
        </p:nvSpPr>
        <p:spPr>
          <a:xfrm>
            <a:off x="6059424" y="3023006"/>
            <a:ext cx="64008" cy="1230782"/>
          </a:xfrm>
          <a:prstGeom prst="rect">
            <a:avLst/>
          </a:prstGeom>
          <a:solidFill>
            <a:srgbClr val="D97A14"/>
          </a:solidFill>
          <a:ln w="12700">
            <a:solidFill>
              <a:srgbClr val="D97A14"/>
            </a:solidFill>
            <a:prstDash val="solid"/>
          </a:ln>
        </p:spPr>
      </p:sp>
      <p:sp>
        <p:nvSpPr>
          <p:cNvPr id="28" name="Text 26"/>
          <p:cNvSpPr txBox="1"/>
          <p:nvPr/>
        </p:nvSpPr>
        <p:spPr>
          <a:xfrm>
            <a:off x="6224016"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Tor transport</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Reaching peers through Tor so that nobody learns the node's address.</a:t>
            </a:r>
            <a:endParaRPr lang="en-US" sz="1250" dirty="0"/>
          </a:p>
        </p:txBody>
      </p:sp>
      <p:sp>
        <p:nvSpPr>
          <p:cNvPr id="29" name="Text 27"/>
          <p:cNvSpPr txBox="1"/>
          <p:nvPr/>
        </p:nvSpPr>
        <p:spPr>
          <a:xfrm>
            <a:off x="6224016" y="3746297"/>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note passed through several friends, none knowing both ends.</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49</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Transport v1 shows its magic, v2 hides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an eavesdropper can see on the wire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'e8_transport'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v1, v2 = t[</a:t>
            </a:r>
            <a:r>
              <a:rPr lang="en-US" sz="1000" dirty="0">
                <a:solidFill>
                  <a:srgbClr val="9ECBFF"/>
                </a:solidFill>
                <a:latin typeface="Courier New" pitchFamily="34" charset="0"/>
                <a:ea typeface="Courier New" pitchFamily="34" charset="-122"/>
                <a:cs typeface="Courier New" pitchFamily="34" charset="-120"/>
              </a:rPr>
              <a:t>'v1'</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'v2'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a:t>
            </a:r>
            <a:r>
              <a:rPr lang="en-US" sz="1000" dirty="0">
                <a:solidFill>
                  <a:srgbClr val="9ECBFF"/>
                </a:solidFill>
                <a:latin typeface="Courier New" pitchFamily="34" charset="0"/>
                <a:ea typeface="Courier New" pitchFamily="34" charset="-122"/>
                <a:cs typeface="Courier New" pitchFamily="34" charset="-120"/>
              </a:rPr>
              <a:t>'contains_magic'</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'contains_version_command'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p1 = [v1[x]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 = [v2[x]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p:txBody>
      </p:sp>
      <p:sp>
        <p:nvSpPr>
          <p:cNvPr id="10" name="Shape 8"/>
          <p:cNvSpPr/>
          <p:nvPr/>
        </p:nvSpPr>
        <p:spPr>
          <a:xfrm>
            <a:off x="457200" y="3084271"/>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742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(p1, p2, v2[</a:t>
            </a:r>
            <a:r>
              <a:rPr lang="en-US" sz="1000" dirty="0">
                <a:solidFill>
                  <a:srgbClr val="9ECBFF"/>
                </a:solidFill>
                <a:latin typeface="Courier New" pitchFamily="34" charset="0"/>
                <a:ea typeface="Courier New" pitchFamily="34" charset="-122"/>
                <a:cs typeface="Courier New" pitchFamily="34" charset="-120"/>
              </a:rPr>
              <a:t>'entropy_first_4096'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[False, False], 7.953)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two nodes spoke the old transport once and the new one once.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Can an eavesdropper see the network magic or the word version?</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v2 stream looks like random bytes: near 8 bits of entropy per byte.</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an eavesdropper sees</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05840"/>
                <a:gridCol w="868680"/>
                <a:gridCol w="10972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Transport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Magic seen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'version' seen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v1 (old)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 (BIP 324)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 entropy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7.953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bits per byte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Random data would give 8 bits per byte; the v2 stream gives 7.953.</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Version 2 traffic looks like random bytes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49</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closed proposal to the default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Defaults decide how private a network is</a:t>
            </a:r>
            <a:endParaRPr lang="en-US" sz="1300" dirty="0"/>
          </a:p>
        </p:txBody>
      </p:sp>
      <p:pic>
        <p:nvPicPr>
          <p:cNvPr id="6" name="Image 0" descr="../../03-materials/ch10/assets/photo_enigma_machine.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Enigma machine - Rama, CC BY-SA 2.0 FR,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8 March 2019 BIP 324, the v2 encrypted transport, was assigned to Dhruv Mehta, Tim Ruffing, Jonas Schnelli and Pieter Wuille.</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Version 1 sends everything in the clear, so anyone on the path can read it and tell Bitcoin traffic from other traffic.</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Bitcoin Core 26.0 added v2 as an option and 27.0 made it the default; it encrypts but does not authenticate.</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In this chapter's run, the v2 stream showed neither the magic bytes nor the word version.</a:t>
            </a:r>
            <a:endParaRPr lang="en-US" sz="1150" dirty="0"/>
          </a:p>
        </p:txBody>
      </p:sp>
      <p:sp>
        <p:nvSpPr>
          <p:cNvPr id="16" name="Text 13"/>
          <p:cNvSpPr txBox="1"/>
          <p:nvPr/>
        </p:nvSpPr>
        <p:spPr>
          <a:xfrm>
            <a:off x="3749040" y="3813048"/>
            <a:ext cx="4937760" cy="201168"/>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Stand-in picture: an Enigma machine, not BIP 324.</a:t>
            </a:r>
            <a:endParaRPr lang="en-US" sz="90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Dhruv Mehta, Tim Ruffing…</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2019-03-08</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324: v2 P2P Encrypted Transport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49</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Networks a node can reach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IPv4, IPv6, Tor, I2P and CJDNS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nets = R[</a:t>
            </a:r>
            <a:r>
              <a:rPr lang="en-US" sz="1000" dirty="0">
                <a:solidFill>
                  <a:srgbClr val="9ECBFF"/>
                </a:solidFill>
                <a:latin typeface="Courier New" pitchFamily="34" charset="0"/>
                <a:ea typeface="Courier New" pitchFamily="34" charset="-122"/>
                <a:cs typeface="Courier New" pitchFamily="34" charset="-120"/>
              </a:rPr>
              <a:t>'networkinfo_A'</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'networks'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open_ = [x[</a:t>
            </a:r>
            <a:r>
              <a:rPr lang="en-US" sz="1000" dirty="0">
                <a:solidFill>
                  <a:srgbClr val="9ECBFF"/>
                </a:solidFill>
                <a:latin typeface="Courier New" pitchFamily="34" charset="0"/>
                <a:ea typeface="Courier New" pitchFamily="34" charset="-122"/>
                <a:cs typeface="Courier New" pitchFamily="34" charset="-120"/>
              </a:rPr>
              <a:t>'name'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nets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x[</a:t>
            </a:r>
            <a:r>
              <a:rPr lang="en-US" sz="1000" dirty="0">
                <a:solidFill>
                  <a:srgbClr val="9ECBFF"/>
                </a:solidFill>
                <a:latin typeface="Courier New" pitchFamily="34" charset="0"/>
                <a:ea typeface="Courier New" pitchFamily="34" charset="-122"/>
                <a:cs typeface="Courier New" pitchFamily="34" charset="-120"/>
              </a:rPr>
              <a:t>'reachable'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 = R[</a:t>
            </a:r>
            <a:r>
              <a:rPr lang="en-US" sz="1000" dirty="0">
                <a:solidFill>
                  <a:srgbClr val="9ECBFF"/>
                </a:solidFill>
                <a:latin typeface="Courier New" pitchFamily="34" charset="0"/>
                <a:ea typeface="Courier New" pitchFamily="34" charset="-122"/>
                <a:cs typeface="Courier New" pitchFamily="34" charset="-120"/>
              </a:rPr>
              <a:t>'e8_onion_node'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'networks'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tor = [x[</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o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x[</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(open_, tor)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(['ipv4', 'ipv6'], ['onion'])</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fresh node reaches the Internet over IPv4 and IPv6 only.</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second node was set to use Tor: only the onion network is reachable.</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reachable networks of two nodes</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97280"/>
                <a:gridCol w="914400"/>
                <a:gridCol w="960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Network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Fresh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Tor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ipv4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ipv6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i2p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cjdns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Tor node reaches the onion network only, so peers never see its address.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set to Tor reaches only the onion network</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49</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group of slides,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Nodes greet each other with version and verack, in a 24-byte frame, and announce their services.</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new node finds peers by DNS seeds and addr, and keeps eight full-relay and two block-relay-only links.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Headers come first; compact blocks send about a tenth of a block; each node keeps its own memory pool.</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light client checks a Merkle path; Bloom filters leaked addresses, so block filters turn the question around.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Version 2 encrypts peer traffic but does not authenticate it; Tor and I2P hide who is who.</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49</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Compact block relay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BIP 152 and its later improvements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Version 2 P2P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encrypted peer traffic and its rollout</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Bitnodes (live node census)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Count and map of reachable nodes, by country and client</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152: Compact Block Relay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Short transaction ids and the messages that carry them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324: v2 P2P Encrypted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encrypted handshake and packet format of peers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Heilman et al.: Eclipse Attacks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Talk page with the paper, slides and video  usenix.org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USENIX Security '15: Eclipse Attacks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conference talk behind the paper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Neutrino: Privacy Preserving Light Client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SF Bitcoin Developers talk on block filters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eclipse talk,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49</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Who is on the network and how nodes meet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blocks and payments travel and wait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light client verifies, and what filters leaked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encrypted transport hides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49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10</dc:title>
  <dc:subject>PptxGenJS Presentation</dc:subject>
  <dc:creator>Yusuf Altunel</dc:creator>
  <cp:lastModifiedBy>Yusuf Altunel</cp:lastModifiedBy>
  <cp:revision>1</cp:revision>
  <dcterms:created xsi:type="dcterms:W3CDTF">2026-10-25T16:48:00Z</dcterms:created>
  <dcterms:modified xsi:type="dcterms:W3CDTF">2026-10-25T16:48:00Z</dcterms:modified>
  <cp:version>2.2.0</cp:version>
</cp:coreProperties>
</file>