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notesMasterIdLst>
    <p:notesMasterId r:id="rId9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2, How Bitcoin Works (Antonopoulos and Harding, 2023), free under CC BY-SA 4.0. This deck follows the chapter's own concept taxonomy: 82 concepts in 5 branches, of which 82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Transaction, Network, Blockchain, Semantics, Practice. Say at the start that the order of the lecture is the order of the taxonomy, so that a student who opens the interactive page afterwards finds the same tree. Concepts are corpus-derived from the 3rd edition's chapter 2 through the Stage 1 research record; the explanations were rewritten for version 1.2.0 from the documents listed at the head of this module, each read in the session of 2026-10-04, with every quotation re-read from the saved copy of its source and every number, hash, address, encoding and size recomputed by a claim that the chapter builder executes; the supporting concepts (bits and bytes, hexadecimal notation, entropy, the nonce, encryption, serialization, byte order, the outpoint, the witness, the address, the exchange rate, the 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LO-2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competency questions the chapter's ontology was written to answer, so they are a fair statement of what a student should be able to answer at the end. Come back to them in the recap. A student who can answer all of them has the chapter; a student who can answer none of them has memorised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else in Bitcoin exists to carry transactions safely. The network propagates them, miners gather them into blocks and the blockchain records them, so a student who knows what a transaction contains, and how transactions refer to one another, has the vocabulary for the rest of the course. The book adds a point that is easy to miss: bitcoins do not exist physically or as digital data that could be emailed. What exists is a database on every full node that says who controls how many bitcoins, and a transaction is the data that convinces the nodes to update that database (Antonopoulos and Harding, 2023).
Two cautions apply from the start. A transaction does not move coins from one place to another: it changes who may spend certain outputs, because the book says there are no physical coins or even individual digital coins and that the coins are implied in transactions (Antonopoulos and Harding, 2023). And this chapter simplifies on purpose: it names the signature, the script and the identifier without opening them, so each is given a concept here and a full treatment in a later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a transaction correctly means knowing which part does which job. An input says what is being spent and who allows it, an output says what is created and who may spend it next, and the fee is whatever remains. Confusing these parts leads to the classic misunderstandings, such as believing that a payment is a single amount sent from one address to another.
The parts are met in every block explorer, which retrieves a transaction and shows what it spends and what it creates, and in every wallet that has to assemble them. The chapter's own illustration shows Alice's payment to Bob's store as one transaction whose input is an earlier output and whose two outputs are the payment and the change. The same transaction is printed byte by byte in the book's chapter on transactions, which lets this course check every figure in its description.
Concepts in this section: Double-entry ledger, Input, Output, Transaction fee, Transaction size, Fee rate, Unspent transaction output, Transaction identifier, Script, Serialization, Byte order, Outpoint,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gives a student a first mental model for something that has no physical form. Instead of thinking of coins travelling between wallets, one thinks of entries in a shared book, each entry saying which earlier entries it consumes and which new ones it creates. The same image explains why the blockchain is described as the authoritative journal of all transactions: a journal is the chronological book in which such entries are first written down (Antonopoulos and Harding, 2023).
The analogy is a teaching device and has limits. A bookkeeper's ledger names accounts and their owners, while a Bitcoin transaction names no person: it refers to earlier outputs and to conditions for spending the new ones. The transaction data also has no field for a running balance per owner. A balance is computed by a wallet, which adds up the unspent outputs it can spend.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are what turn separate transactions into a connected history. Because every input names the output it consumes, anyone can follow a payment backward through the chain of ownership, and anyone can see whether the same output is being spent twice. The proof of ownership in the input, a digital signature that can be independently validated by anyone, is what lets strangers accept a payment without knowing who the payer is (Antonopoulos and Harding, 2023).
An input cannot be partly spent, in the same way that a banknote cannot be torn in two: the whole of the referenced output is consumed, and any surplus must be sent back to the payer as change (Antonopoulos and Harding, 2023). The word input also invites a misreading. It does not mean money entering an account, but an earlier output being used up. And a figure is a simplification: when a detail matters, such as which output of the earlier transaction is meant, read it from the transaction itself.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are where ownership is created. The chapter explains that an output is created with a script saying, in effect, that it is paid to whoever can present a signature from the key corresponding to Bob's public address. Because only Bob's wallet holds that key, only Bob can later spend the output. The book calls this encumbering the output with a demand for a signature from Bob (Antonopoulos and Harding, 2023).
Outputs are all-or-nothing in the same way as inputs: a later transaction takes a whole output or leaves it alone. An output also never expires. It stays unspent, and is counted in every full node's database, until a valid transaction spends it, which is why the book warns that outputs of very small value can become uneconomical to spend and are a burden on the nodes that must keep track of them (Antonopoulos and Harding, 2023).
---
The fee is how a user asks the network to process a payment in a timely fashion. The chapter on fees explains that it is not a fee in the usual sense: it is not an amount set by the protocol or by any miner, but much more like a bid in an auction for the limited space in a block (Antonopoulos and Harding, 2023). It is one of two payments that reward a miner, the other being the newly created bitcoins of the block reward. Nakamoto's paper already described it: if the output value of a transaction is less than its input value, the difference is a fee added to the incentive of the block containing the transaction (Nakamoto, 2008).
Because the fee is implied, a wallet that mistakes the amounts can send an enormous fee without any warning from the format, since there is no field to check. Wallets should therefore make it hard to pay an excessive fee by accident, while still allowing it on purpose, as the chapter on fees advises (Antonopoulos and Harding, 2023). Fees also do not depend on the value being sent, but on how much space the transaction takes, which the concepts of size and fee rate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is what makes block space a scarce good. A block is limited to 4 million units of weight, so the number of transactions that fit depends on how large each one is, not on how much value it moves (Antonopoulos and Harding, 2023). A payment of a million bitcoins and one of a single satoshi may occupy the same room, and a miner who has to choose between them looks at the fee that each pays for that room, which is the idea behind the fee rate.
The three numbers answer different questions. The size in bytes is the length of the serialized data, the weight is what the block limit counts, and the virtual byte is the weight expressed in a familiar unit. Mixing them up is a common reason for fee figures that do not match between two tools. The factors themselves belong to a later chapter on transactions, and a student should treat the number 4 as a fixed part of today's rules, not a law of nature.
---
Block space is scarce, and the fee rate is the price at which it is sold. A transaction pays a single fee however large it is, but a larger transaction leaves room for fewer others in the block, so a miner who wants the most revenue from a block fills it with the transactions that pay the highest fee per unit of space. The chapter says accordingly that transactions are added to a new block prioritized by the highest fee rate first (Antonopoulos and Harding, 2023).
The units are a source of expensive mistakes. The book warns that a fee rate copied from a field with one denominator into a field with another can lead to paying a thousand times too much, and that switching the numerator could mean a hundred million times too much (Antonopoulos and Harding, 2023). A fee rate is also a market price, not a rule of the protocol, so what counts as a good rate changes with demand for block space; the figure of 34.97 describes one payment, not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explains how Bitcoin keeps track of ownership without accounts. A full node holds a copy of every confirmed transaction's unspent outputs, and a valid new transaction may spend only outputs that are in that set. Each time a new block arrives, the outputs that its transactions spend are removed from the database and the outputs they create are added, so the set of unspent outputs is the current state of the whole system, and a double-spend is simply an attempt to use an output that is already gone (Antonopoulos and Harding, 2023).
Two misreadings are common. An unspent output is not an account balance, and a wallet's total is the sum of many separate outputs, each of which is spent whole. And an unspent output is still tied to a condition: it counts as spendable only for the party that can satisfy its script. Wallets therefore track UTXOs for their own keys and ignore the rest.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make references possible. Because a txid summarizes the transaction it identifies, a reference to it cannot be redirected to different content, and anyone holding the transaction can recompute the name and confirm it. This is also what makes a chain of transactions auditable: every link is a txid plus a position, and both can be checked independently by any node.
A txid belongs to the transaction as it was built, and it is not proof that the transaction has been confirmed: a payment can have a txid and still wait in the mempool. The byte-order difference is a frequent source of confusion for programmers: pasting the stored form into a block explorer, or the displayed form into a program that expects the stored one, finds nothing, because the hash is the same and only its reading differs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Scripts are what make spending conditions flexible without making the rules of the network complicated. The first version of Bitcoin did not simply attach a public key to an output; it let payments go to an output script and let the spender answer with an input script, so that conditions such as needing two signatures out of two keys could be expressed (Antonopoulos and Harding, 2023). The book's chapter on keys states the idea in one sentence: bitcoins are received to an output script that acts like a public key, and spending is authorized by an input script that acts like a signature (Antonopoulos and Harding, 2023).
Script is deliberately limited. It has no loops and only conditional flow control, so it is not Turing complete, which guarantees predictable execution times; and it is stateless, so a script behaves the same way on every system (Antonopoulos and Harding, 2023). The book's arithmetic example is also a warning: an output with the script 3 OP_ADD 5 OP_EQUAL can be spent by anyone who knows that the number 2 satisfies it, because a script grants authority to whoever can satisfy it, not to a named person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exact in this chapter depends on the serialized form. The identifier of a transaction is a hash of its bytes, so the bytes must be defined to the last detail; the size that a fee pays for is the length of those bytes; and the signature commits to them. If two programs serialized the same transaction differently they would compute different identifiers and the network would not work. This is why the description of the format belongs to the consensus-critical part of Bitcoin and not to a matter of taste.
A serialized transaction is not readable by eye, and it is not encrypted either: it is simply a precise encoding, and anyone with the format can decode it. Two cautions follow. First, the identifier is computed from the serialization without the witness data, so the same payment has two byte-lengths and two hashes, which the concepts of the identifier and of the size explain. Second, the hexadecimal string is a printing of the bytes, not the bytes themselves, so a program must decode the text before hashing it.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uses both orders, and the mismatch is a standing source of confusion that the book itself warns about: hash digests are displayed to users in one byte order but are used internally in a different byte order (Antonopoulos and Harding, 2023). A student who does not know this will conclude that the identifier stored inside Alice's input is a different transaction from the one her wallet shows, and a programmer who does not know it will search a block explorer for a hash that exists and find nothing.
Three practical rules follow. Reverse bytes, never characters. Reverse only values that the convention requires, which in this chapter means transaction and block hashes, not the witness or the output scripts. And when a tool reports something that does not match, try the other order before concluding that the data is wrong, because the book's note about the two byte orders applies to almost every hash a reader will paste from one program into another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outpoint is the link that makes the whole structure of Bitcoin work. Because an input names one and only one earlier output, a node can look it up, learn the amount and the spending condition, and check whether it is still unspent; and because the identifier is a hash, the reference cannot be redirected to other content. The set of unspent outputs that a full node keeps is in effect a table indexed by outpoints, so the double-spend check is a lookup of one outpoint.
Two warnings. The index counts from zero, so the first output of a transaction is output 0 and the familiar off-by-one error here means spending the wrong output or none at all. And an outpoint is not an address and not an owner: it identifies a position in the ledger, and who may spend it is decided by the script in the output it names, which is why a chain of outpoints can be followed without learning anybody's identity.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separation matters for two reasons that this chapter has already met. The first is the identifier: because the witness is left out of the data that is hashed, the identifier of a transaction no longer changes when the proof changes, which removes a family of problems the book lists as circular dependence and third-party and second-party malleability (Antonopoulos and Harding, 2023). The second is size: the witness bytes are counted once in the weight while the rest are counted four times, which is why spending an output is cheaper than it would otherwise be and why the three size figures of a transaction differ.
Do not read the separation as hiding: the witness is public, it is sent to every node and it is committed to by the block, so nothing about it is secret. Note also that the word has two uses that the book keeps apart, the witness as the abstract name for authorizing data and the witness structure as the field that carries it, and that the course's later chapters on authorization open both. Finally, a transaction with no witness at all is serialized in the older format, so a program that assumes the two marker bytes are always present will misread such a transaction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later concept of the chapter is built from these tools. A transaction identifier is a hash, a block is identified by a hash, mining is a search for a hash with a special property, and an input is accepted only when it carries a signature that was made with the right private key. A reader who does not know what a hash or a signature guarantees cannot judge what the network can and cannot promise. The book's own chapter on keys says it will examine public keys, private keys, signatures and hash functions and then use all of them together to describe addresses (Antonopoulos and Harding, 2023).
Two warnings are in order. First, these tools are quite different in what they promise: a hash function provides no secrecy, a signature provides no secrecy either, and neither is the same thing as encryption. Second, a clever tool is only as safe as its use. The book warns that anything less than completely random when a private key is chosen can significantly reduce the security of the key and of the bitcoins it controls (Antonopoulos and Harding, 2023). Read each concept below with the question what exactly does this guarantee, and what does it leave open?
Concepts in this section: Hash function, Key pair, Public-key cryptography, Elliptic curve, Digital signature, Checksum, Bit and byte, Hexadecimal notation, Entropy, Nonce, Encryption.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these two properties a digest works as a commitment: it is a promise that, in practice, only one input produces it. This lets Bitcoin refer to large objects by a short name that nobody can redirect to something else. A hash is also the raw material of mining, since the network's lottery is a search for an input whose hash falls below a threshold, and nobody can find such an input except by trying one after another (Antonopoulos and Harding, 2023). Without hash functions Bitcoin would need a central party to say what a transaction or a block is.
A hash function is not encryption. It has no key and no way back, so you cannot recover the input from the digest, but if the possible inputs are few, anyone can simply hash all of them and compare. A digest also says nothing about who made the data: anyone can compute it. And the guarantee that two different inputs will not give the same digest is a statement about the effort needed to find such a pair, not an absolute impossibility, because a function with a fixed-length output must map many inputs to the same output; the book calls such a pair a collision and says finding one is computationally infeasible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pair separates two abilities that ordinary passwords combine. Anyone may be told the public key, and with it can receive funds or check a signature, but only the holder of the private key can produce a valid signature. The book says that control over the private key is the root of user control over all funds associated with the corresponding public key, and that revealing the private key to third parties is equivalent to giving them control over the bitcoins it secures (Antonopoulos and Harding, 2023). The same text adds that a lost private key cannot be recovered, and the funds it secured are lost forever.
The private key is a number, not a file or a word, and its secrecy depends entirely on how it was chosen. The book advises against writing one's own random number generator and recommends a cryptographically secure generator seeded with enough entropy, because a process that is less than completely random can significantly reduce the security of the key (Antonopoulos and Harding, 2023). The public key cannot be turned back into the private key by the known mathematics, but this is a statement about today's computers and algorithms, not a proof that it can never be done.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invention, two parties who wanted to protect a message needed to share a secret in advance, which does not scale to a network of strangers. Public-key cryptography removes that need. The book explains that in Bitcoin it is not used to encrypt transactions, because transactions are public. Its useful property is the ability to generate digital signatures: a private key can be applied to a transaction to produce a signature that only someone who knows the private key could have made, yet anyone with the public key and the transaction can verify it (Antonopoulos and Harding, 2023).
The security is conditional. It depends on the assumption that no efficient method of reversing the function is known, and on the keys having been chosen at random; the book says that the private key must stay secret at all times and be protected from accidental loss (Antonopoulos and Harding, 2023). The word public must not be misread: the public key may be shared, but the private key must never be. Note, too, that signing is not encrypting, so a Bitcoin transaction is readable by everyone, and its privacy rests on other things, such as the fact that addresses name no person.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on an elliptic curve can be added to each other by a geometric rule, and adding a point to itself repeatedly gives multiplication of a point by a whole number. This multiplication is easy to carry out but, when the numbers are large, practically impossible to undo: given the result, finding the number is the discrete logarithm problem. The book calls this a trap door function and says it is the basis for unforgeable and secure digital signatures that prove control over bitcoin funds (Antonopoulos and Harding, 2023). Bitcoin's choice of this particular curve and its constants is part of the protocol, so every implementation must use exactly the same ones.
The picture of a smooth curve in textbooks is misleading for Bitcoin. With a finite field the curve is a cloud of points in a very large grid, and the geometric rule of tangent lines and reflections is only an analogy for the algebra that is actually computed (Antonopoulos and Harding, 2023). Writing your own implementation of the mathematics is also dangerous: simple code like that in the examples of this course is not protected against timing attacks, and real wallets use carefully reviewed libraries.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says that a transaction contains proof of ownership for each amount being spent, in the form of a digital signature from the owner that can be independently validated by anyone (Antonopoulos and Harding, 2023). The later chapter on signatures lists three purposes: the signature proves that the controller of the private key has authorized the spending, the proof cannot be denied afterwards, and the authorized transaction cannot be changed by unauthenticated third parties (Antonopoulos and Harding, 2023). Together these replace the bank's signature card and the clerk's judgement with a calculation that thousands of independent nodes can repeat.
A signature is tied to what was signed. Bitcoin lets a signer choose, with a flag called SIGHASH, which part of the transaction the signature commits to, so a signature is not simply a stamp on the whole document (Antonopoulos and Harding, 2023). The signature also does not identify a person: it shows only that someone controlling the private key authorized this transaction. Finally, forging a signature without the private key is believed infeasible, not proven impossible, and a stolen private key lets a thief sign validly, with no way for the network to tell.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Addresses are typed, spoken, copied and photographed by people, and a single wrong character could send funds to an address that nobody controls. A checksum turns that silent loss into an immediate error message. The book says that it prevents a mistyped Bitcoin address from being accepted by the wallet software as a valid destination, an error that would otherwise result in loss of funds (Antonopoulos and Harding, 2023). Bech32 goes further: in an address of the expected length it is guaranteed to detect any error affecting four characters or fewer, and for an address typed with a few errors it can tell the user where the errors are (Antonopoulos and Harding, 2023).
A checksum detects accidents, not attacks. An adversary who changes the data can simply compute a new matching checksum, so a checksum protects against a mistyped character but not against a malicious substitution, for which one needs a signature. The guarantee of bech32 also holds only if the length is unchanged: the book reports that in the original bech32 design it was easy to add or remove letters q before a final p without invalidating the checksum, a weakness that the later bech32m variant was made to remove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cannot be read without them. The book says that the output of SHA256 is always 256 bits long whatever the size of the input, that an input refers to an earlier transaction by a 32-byte identifier, and that output indexes are 4-byte unsigned integers (Antonopoulos and Harding, 2023). These are the same kind of statement, and a reader who cannot move between the two units will think that a 256-bit hash and a 32-byte hash are different objects. Precise sizes also matter for a different reason: the room a transaction takes in a block is counted in bytes, and that is what its fee buys.
Watch the capital letter and the prefix. A lowercase b usually means bit and a capital B means byte, so 1 MB and 1 Mb differ by a factor of eight. Prefixes are also ambiguous: a kilobyte may mean 1,000 or 1,024 bytes depending on the author, which is one reason the book quotes the block limit as a weight of 4,000,000 rather than in megabytes (Antonopoulos and Harding, 2023). And a byte is not a character: text becomes bytes only after an encoding is chosen, which is why the standard for payment requests has to say that each octet of the UTF-8 sequence is percent-encoded (Schneider and Corallo, 2012).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value this chapter quotes is written in hexadecimal: the transaction identifier, the block hash, the private key, the address's underlying program, the compact form of the mining target. Without the notation these would have to be printed as enormous decimal numbers in which no part corresponds to a field. The notation is also what lets a reader check a length at a glance, since the book's remark that 64 hexadecimal characters display 32 bytes is just the statement that two digits make a byte (Antonopoulos and Harding, 2023).
Two traps are worth naming. The first is that hexadecimal is only a notation: the identifier of a transaction is 32 bytes of data, not 64 characters of text, and a program that hashes the printed form instead of the bytes gets a completely different answer. The second is the order in which the bytes are written down, which Bitcoin does differently in different places; the concept of byte order explains that trap in detail.
---
Every guarantee in this chapter that rests on a secret rests on entropy. A private key is only safe because an attacker would have to search an unimaginably large space, and that space is large only if the key was really chosen at random. The book makes the point sharply: it advises the reader not to write their own code to create a random number, to use a cryptographically secure pseudorandom number generator seeded with sufficient entropy, and it warns that any process that is less than completely random can significantly reduce the security of the private key and of the bitcoins it controls (Antonopoulos and Harding, 2023).
Entropy cannot be judged by looking at a value. A key full of apparently random digits may have been produced by a predictable generator, and the result will look exactly as unguessable as a real one. Nor does more entropy help anywhere else: the chapter's hashes, identifiers and addresses are public values, and adding randomness to them changes nothing. Entropy matters only for the values that must stay secret, which in this chapter means the private key behind the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nonce is what turns a fixed, deterministic function into something that can be searched. A hash function always gives the same output for the same input, so a miner who wants a different output must change the input, and the nonce is the field reserved for that purpose. In signing, the nonce serves the opposite purpose: it makes two signatures over the same message different, which is necessary for the mathematics of the signature scheme to stay secure. The book describes the signing step as first generating a private nonce, and warns that the extra complexity of handling it has in some cases resulted in software accidentally leaking private keys (Antonopoulos and Harding, 2023).
The two nonces must never be confused, because their rules are opposite. The mining nonce is public and may be anything; the signing nonce must be secret and must never be reused, since reusing one with the same key allows the private key to be recovered. A nonce is also not a password or a key: in mining it is simply the part of the input that the searcher is allowed to change, and in signing it is a one-time random value that is thrown away as soon as the signature exists.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decides what is private on a blockchain. The book states plainly that public-key cryptography in Bitcoin is not used to encrypt, that is, to make secret, the transactions, and that its useful property is instead the ability to generate digital signatures (Antonopoulos and Harding, 2023). Every transaction in this chapter, including Alice's, is therefore readable by anyone: the amounts, the conditions on the outputs and the signature itself are public. What a reader cannot do is forge a signature, and that is a guarantee about authorship, not about secrecy.
Do not expect encryption to give privacy on the blockchain, and do not expect signatures to give secrecy. The book's chapter on keys lists the private key's requirement as remaining secret at all times, which is a matter of storage and not of encrypting transactions (Antonopoulos and Harding, 2023). Note also that encrypting a payment would defeat the system's purpose: nodes must read a transaction in order to verify it, which is why the data is public and the privacy of a user rests on other things, such as the fact that an address names no person.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links are what turn individual transactions into a history, and the history is what lets any node decide whether a payment is genuine. If Alice's payment spends an output created by Joe's transaction, and that output has not been spent before, the payment is valid in this respect; if it has been spent, the payment is a double spend. The three concepts of the group show how the requirement is met in practice, and also how wallet design decisions leave traces that others can read.
Links are public, and public links can be followed by anybody. A chain of transactions is a record of where each output came from, so the choices that a wallet makes in building the links affect the privacy of its owner. Keep this in mind while reading the concepts: the same facts that make Bitcoin auditable also make it traceable.
Concepts in this section: Transaction chain, Making change, Coin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is the answer to the question of where bitcoins come from and where they have gone. Because each input names the output it consumes, anyone can follow a payment back through the chain of ownership, and the owner of an output can be changed only by a transaction that spends it. When Bob spends the output he received, he extends the chain; the chapter's last illustration shows Alice's transaction as part of a chain from Joe to Gopesh (Antonopoulos and Harding, 2023). The same structure underlies the idea of provenance, which the final concepts of this chapter take up.
The figure is a simplification, and the real transaction differs from it in a detail. In the figure Alice's input is labelled Tx1:0, which is the output of 100,000 satoshis, the first of the two outputs drawn for Tx1; but in the bytes of the real transaction the output index stored in the input is 1. The order of Tx2's outputs, by contrast, agrees with the figure: the change of 20,000 satoshis is at position 0 and Bob's 75,000 satoshis at position 1, which is why Tx3 spends Tx2:1 (Antonopoulos and Harding, 2023). Remember also that a chain of transactions links outputs, not people: it does not say who the owners are, only which outputs were spent to create which others.
---
Without change, every payment would have to match an available output exactly, or the surplus would be given to the miner as an enormous fee. The change output lets a wallet spend any output, whatever its size, and keep the remainder. It also explains why most payments have the same shape: one input and two outputs, one for the receiver and one for the sender (Antonopoulos and Harding, 2023). For the sender, the change output is simply a new output that can be spent in a later transaction.
The book hopes that payment and change look identical on the blockchain, since the change address is often a new address of the sender's wallet, for privacy reasons, and a third party could not then tell which output is the change (Antonopoulos and Harding, 2023). Alice's real transaction does not fully achieve that ideal: its two output scripts have different lengths, 34 and 22 bytes, so an observer can tell them apart. And the change is not extra money: it is an ordinary output that nobody can use unless the wallet keeps the key, so a wallet that loses the change key loses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has consequences that last. The book compares it with handling cash: if you always use the largest bill in your pocket you end up with a pocket full of loose change, and if you only use the loose change you will often be left with only big bills. People subconsciously find a balance between these extremes, and Bitcoin wallet developers strive to program this balance (Antonopoulos and Harding, 2023). A wallet that always picks small outputs builds large transactions that cost more in fees; one that always picks large outputs creates many small outputs that may later be too small to be worth spending.
The selection is visible to the outside world. Spending several outputs in one transaction shows that one party probably controls all of them, which weakens privacy. And every input costs space and therefore fee, so the cheapest set now is not always the best for later. Treat coin selection as a design decision with several competing aims, and remember that the book presents it as a balance, not as a single correct method.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Recognizing the forms helps a reader to interpret what a block explorer displays and to guess what the sender intended. A transaction with many inputs and one output is probably a tidy-up of small amounts, one with many outputs is probably a business paying many people, and one with one input and two outputs is probably an ordinary payment with change. The forms also show that nothing in the format limits a transaction to one payer and one payee.
A form is a description of a typical shape and not a rule of the protocol, which sees only a list of inputs and a list of outputs and checks the same conditions whatever the shape. The names used here are the conventions of the course and of the book, so another text may count the forms differently. A transaction can also combine the features, for example by consolidating many inputs while paying two recipients and returning change, in which case no single name fits. Finally, a form says nothing about who built the transaction or why: the shape is a hint about intention, never evidence of it, and reading too much into it is the mistake that the privacy remarks of this branch warn against.
Concepts in this section: Simple payment, Consolidation, Payment batching.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 is common because it is the natural result of how outputs behave. A person usually owns an output that is larger than the item to be bought, an output cannot be partly spent, and so the wallet writes one output for the seller and one back for the buyer. Understanding it explains why Alice's balance after paying Bob is not simply her earlier balance minus 75,000 satoshis in a single step: the old output disappears and a new, smaller one takes its place.
A simple payment is a description, not a promise. Some payments have a single input and a single output, the changeless transactions, and some have a second output that is not change, for instance a donation. The two-output pattern also invites a privacy question: when the outputs have different amounts, an observer may guess that the larger one is the change, or the smaller; the guess is only a guess.
---
Many small outputs are inconvenient. Each needs a separate input when it is spent, and every input adds to the size and therefore to the fee of a later transaction. A wallet or business that has received many small payments can combine them in one transaction, at a time when fees are low, and later pay with a single large output. Because the chapter on coin selection explains that wallets balance small and large outputs, the consolidation can be seen as the inverse of an ordinary payment.
Consolidation has costs that the picture of a single note hides. All the inputs are spent together, and so a watcher can conclude that they probably belong to the same owner, which is a loss of privacy. It must also be paid for now: spending many inputs makes a large transaction, and a large transaction pays a larger total fee than a small one at the same fee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business that pays many people would otherwise create a separate transaction for each, and every one of those transactions would carry its own overhead. A batch gathers the payments in one transaction. It is the counterpart of the consolidation: instead of many inputs flowing into one output, one flow of funds is spread to many outputs (Antonopoulos and Harding, 2023). A batch also makes the payer's own accounting simpler, as a single transaction records the whole payroll.
The recipients of a batch can see the other outputs and their amounts, because the transaction is public, so a payroll batch discloses the full list of salaries paid in one transaction to anyone who looks. A batch also depends on a single set of inputs and a single signature step, and a mistake in building it affects every recipient at once.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reader who does not know the units cannot read a transaction or a fee, because the same payment is described by three different numbers depending on the unit chosen. The prices in Bob's store are quoted in dollars and in bitcoin, while the figures in the diagram of the transaction chain are satoshis, because that is what the protocol itself uses (Antonopoulos and Harding, 2023). A mistake of the unit is therefore not a small error but a factor of one hundred million, and the chapter on fees warns that confusing the denominator or the numerator of a fee rate can mean overpaying by a thousand or by a hundred million times (Antonopoulos and Harding, 2023). Stating the unit beside every figure is the cheapest possible protection against that class of mistake.
Do not mix units in a calculation, and do not trust a number that arrives without one. Many defects and many costly payments have come from treating a figure in one unit as a figure in another, which is why this course states the unit next to every number it writes down. Two further cautions belong here. The names of the fractions are conventions and not protocol rules, so a wallet may offer units that another wallet has never heard of; and converting a decimal amount in bitcoin into satoshis with ordinary floating-point arithmetic can introduce a small error, which is one reason the protocol counts in whole satoshis in the first place.
Concepts in this section: Satoshi.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has a short history. When Bitcoin was first created, the smallest unit had no name and some developers called it the base unit; later many users began calling it a satoshi in honor of Bitcoin's creator, who published the whitepaper under the name Satoshi Nakamoto (Antonopoulos and Harding, 2023). The practical importance is that integer arithmetic is exact: the protocol counts whole satoshis and never needs fractions, so there are no rounding errors in the totals of a transaction.
The book states a convention that students often overlook: it uses the same pluralization rules as for dollars, so the text speaks of 10 bitcoins and 0.001 bitcoins, and of millibitcoins and satoshis in the same way (Antonopoulos and Harding, 2023). Another caution concerns display: wallets may show amounts in bitcoin or in satoshis, and a user who reads 100000 where 0.001 was expected has made a mistake of a factor of one hundred million in the other direction.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Typing a long address by hand is slow and error-prone, and an address typed wrongly can lose the payment. A payment request puts the address, the amount and a description into one object that a wallet can read in one step. The book notes that, unlike a QR code that simply contains a destination address, the invoice is a QR-encoded URI that contains a destination address, a payment amount and a description, so that the wallet application can prefill the information and show a human-readable description to the user (Antonopoulos and Harding, 2023).
The request itself is not a transaction. Nothing is sent to the network when a code is displayed or scanned, and the buyer can decline. The format is also only a convenience: a wallet must still ask the user to approve the payment, and the standard itself says that clients must not act on such a URI without getting the user's authorization (Schneider and Corallo, 2012).
Concepts in this section: Uniform resource identifier, QR code, Bitcoin improvement proposal, BIP21 URI, Bitcoin address, Exchange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format lets different programs cooperate without knowing about each other. A web page or a QR code can carry a link, the operating system can recognize the scheme, and the wallet that registered itself for it can open it. The standard says the purpose of the scheme is to enable users to easily make payments by simply clicking links on webpages or scanning QR codes, and recommends that graphical bitcoin clients register themselves as the handler for the bitcoin: scheme (Schneider and Corallo, 2012).
A URI is text, and text can be forged. A link on a web page can show one thing and contain another, and a malicious page can offer an address that is not the seller's. That is the reason for the rule that a wallet may not act on a URI without the user's authorization, and why the user should compare the address and amount shown by the wallet with what was expected (Schneider and Corallo, 2012).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removes the need to type or to copy a long, easily mistyped string, and works between two devices that are not connected to each other at all, just a screen and a camera. For merchants it is the cheapest possible point of sale: a display and a printed or on-screen code. The chapter relies on it when Bob's system creates a QR code that contains an invoice, which Alice scans with her smartphone (Antonopoulos and Harding, 2023).
A QR code is not secure in itself. What is displayed is whatever someone chose to print, and a printed code that is covered by another one would replace the address without any visible sign. Check the address and the amount that your wallet decodes before you approve the payment, and the book's own tip about the chapter's code is to try to scan it with your wallet to see the address and amount, but not to send money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has no company that decides how it changes. The BIP process gives the community a public and traceable way to propose changes and record the reasoning. BIP 1 states that the author of a BIP is responsible for building consensus within the community and documenting dissenting opinions, and that because BIPs are maintained as text files in a versioned repository, their revision history is the historical record of the feature proposal (Taaki, 2011). A BIP is not law: a standards track BIP matters only if the software and its users adopt it.
A proposal is not a decision. Many BIPs are never adopted, and a status such as proposed or draft says nothing about use. Status also changes: the BIP that the book cites for the invoice format, number 21, is no longer the current document, because it was replaced by a newer one that adds modern address types, and the book's reference is therefore a snapshot of 2023 (Corallo, 2024). Always check the status of the document you cite.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format lets a wallet fill in a payment from a single scan and show the payer what is being paid for. The standard says the amount, if given, must be written in decimal bitcoin, with a period as the decimal separator, that the label and message are texts, and that clients must not act on such a URI without getting the user's authorization (Schneider and Corallo, 2012). The separation of address from description also keeps personal information out of the payment: the standard's rationale is that a URI should not represent an exchange of personal information, but a one-time payment (Schneider and Corallo, 2012).
The invoice in the book is an illustration, not a record of the real payment. The amount 0.01577764 bitcoin is 1,577,764 satoshis, while the real transaction pays 75,000 satoshis to Bob's store, and the 22-byte output script of the real payment holds a different 20-byte program than the one encoded in the invoice's address. Do not conclude from the book's figures that the address in the URI received the payment. The book's own tip says to try scanning the code, but do not send money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address exists for the payer's convenience and safety. A payer does not need to know anything about scripts, keys or hashes; the wallet turns the address into the output script that encumbers the payment, and the checksum inside the address catches a mistyped character before any money moves. The book makes the consequence explicit: the checksum prevents a mistyped address from being accepted by the wallet software as a valid destination, an error that would otherwise result in loss of funds (Antonopoulos and Harding, 2023).
An address is not an account and not an identity. It holds no balance of its own, since a balance is the sum of the unspent outputs that a wallet can spend, and it names no person, which is why following a chain of transactions does not by itself reveal who the parties were. Addresses are also meant to be used once: the book explains that a change address is usually a new address of the sender's wallet for privacy reasons (Antonopoulos and Harding, 2023). Finally, the address in the book's invoice is an illustration: a check of the real transaction shows that its payment output encodes a different twenty-byte program, so the printed address did not receive the printed payment.
---
The rate is where Bitcoin meets the ordinary economy, and it explains a figure that otherwise looks arbitrary. The amount in the invoice, 0.01577764 bitcoin, is not a round number because it is the dollar price of the podcast episode converted at the rate of that moment. It also explains why a merchant who quotes in a local currency carries no currency risk on the listed price while a merchant who quotes in bitcoin does. The chapter earlier notes that people accept a money only if they expect to be able to spend it later, which is a statement about value over time (Antonopoulos and Harding, 2023).
A rate is a market price at an instant, and it is the one number in a payment request that goes stale. An invoice that was correct when it was displayed may be worth more or less a few minutes later, which is why merchants normally let a quoted bitcoin amount expire. The rate is also not part of Bitcoin: no rule of the protocol knows about dollars, and the figures printed in the book are a snapshot of 2023. Treat a rate as context for reading the chapter's amounts, never as a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is where the abstract parts of the first groups come together. A user sees only a destination, an amount and a fee; everything else, from the choice of inputs to the change, is a decision of the software. Understanding it explains why two wallets can build different transactions for the same payment, and why a wallet bug can lose money.
The wallet is trusted with decisions the user never sees, so the user must trust its code. That is why the book recommends a design in which wallets are open and reviewed, and why this course returns to wallets in a later chapter. The wallet cannot be trusted to know what has happened on the network if it is offline, either: a transaction built offline is only a candidate until it is sent.
Concepts in this section: Transaction construction,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that has been constructed contains, in the words of the book, everything necessary to confirm ownership of the funds and assign new owners, so it can be sent to the network by any route (Antonopoulos and Harding, 2023). This is a major reason why Bitcoin needs no trusted intermediary: the proof of authorization travels inside the transaction, and nodes do not need to know who built it or how it reached them.
Four cautions follow. A wallet that has no knowledge of the current state of the network may build a transaction whose inputs have already been spent. A fee that is chosen too low may make the payment wait, and one that is chosen far too high is paid to the miner without any warning from the format. The signature covers the transaction as built, so a wallet cannot adjust the amounts after signing. And, the book adds, a wallet running on a lightweight client has less information than one running on a full node (Antonopoulos and Harding, 2023).
---
The wallet is where all the complexity of the chapter is hidden from the user. The book says that Alice's wallet application contains all the logic for selecting inputs and generating outputs to build a transaction to her specification, and that she only needs to choose a destination, an amount and a transaction fee while the rest happens without her seeing the details (Antonopoulos and Harding, 2023). Everything a reader has met so far, coin selection, change, fees, scripts and signatures, is a decision that this program makes, which is why trusting a wallet is as consequential as trusting a bank used to be.
A wallet does not contain bitcoins. It contains keys and a view of the ledger, which is why a backup of the keys restores the funds and a copy of the balance does not. Two further cautions belong here. A wallet that is offline cannot know whether an output it believes it controls has already been spent, so a transaction built offline is only a candidate until the network accepts it. And the user cannot see what the wallet decided, so a defect in the software can overpay a fee or leak a change address without any warning; the book's chapter on fees asks wallets to make an excessive fee rate hard to pay by accident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matters because the network is what makes the system work without a company in the middle. There is no server that collects payments and no directory that decides who may take part, so a transaction reaches the miners only because independent computers pass it on, and each of them checks it first. That is also what makes the network robust: the chapter notes that it does not matter how or where a transaction is transmitted, since the transaction contains everything necessary for it to be processed (Antonopoulos and Harding, 2023). Any route will do, and no single point can block a payment.
Three cautions apply throughout the branch. Reaching the network is not the same as being recorded: the chapter is careful to say that a transaction does not become part of the blockchain until it is included in a block, which belongs to the next branch (Antonopoulos and Harding, 2023). Being received by many nodes is not a vote either, since each node decides for itself by the rules. And a peer is not a trusted party: everything that arrives from one is checked, which is exactly why a node can safely connect to strangers.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distinctions in this group decide whom a user has to trust. A program that verifies every rule for itself needs to trust nobody; a program that asks others for answers has to trust what it is told, at least in part. The chapter uses exactly this difference when it describes Bob's situation: his wallet can verify that Alice's transaction is well formed, but only if Bob is using his own full node can his wallet further verify that the transaction spends valid unspent outputs (Antonopoulos and Harding, 2023). The same difference runs through the rest of the course.
Resist two tidy pictures. The first is that these kinds are sharp: the book's network chapter explains that a full node may also carry routing, mining and wallet functions, and that some nodes keep a complete archival copy while others do not, so the roles overlap (Antonopoulos and Harding, 2023). The second is that more participants automatically means more security; what matters is how many independently verify the rules, which is why this group separates the counting of nodes from the question of what each of them actually checks.
Concepts in this section: Full node, Lightweight client, Peer and connection, Peer-to-peer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node is the reason the chapter can open by saying that the Bitcoin system does not require trust in third parties, and that each user can run software on their own computer to verify the correct operation of every aspect of the system (Antonopoulos and Harding, 2023). A user with a full node accepts a payment because their own program checked it; a user without one accepts it because somebody else said so. The book adds that running a full node gives the pure Bitcoin experience, independent verification of all transactions without the need to rely on, or trust, any other system (Antonopoulos and Harding, 2023).
A full node is not a miner and not a wallet, although one program may do all three. It also does not make a user anonymous or protect their keys, and it does not remove every trust: a user still trusts the software they downloaded, which is why the next chapter of the course is about verifying a release of Bitcoin Core. Finally, a node's view can be briefly out of date, since it learns of a new block only when a peer sends it; what it never does is accept a block or transaction that breaks a rule it enforces.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Lightweight clients exist because verification costs resources that a telephone does not have. The book says they are designed to run on space- and power-constrained devices such as smartphones, tablets and embedded systems (Antonopoulos and Harding, 2023). The trade is explicit: the client gets a usable wallet in a pocket and gives up the ability to check everything for itself, relying instead on peers to provide partial views of the relevant parts of the blockchain on demand (Antonopoulos and Harding, 2023). Knowing which of the two kinds a wallet is tells a user exactly how much of the chapter's guarantee applies to them.
A lightweight client cannot tell by itself whether a transaction obeys the rules; it can only see that it was committed to by work. The book's comparison is a tourist with a street map against a tourist asking strangers for directions (Antonopoulos and Harding, 2023). There is a privacy cost as well, since asking peers which transactions concern you tells them which transactions concern you, and the book devotes a section to that problem (Antonopoulos and Harding, 2023). The chapter's warning about block explorers is the same point in another form: looking something up may tell the operator what you are interested in (Antonopoulos and Harding, 2023).
---
Peers are how a node learns anything at all. There is no server to ask, so every unconfirmed transaction and every new block reaches a node from a peer, and everything the node has accepted is passed on to its peers in turn. The word also carries a claim about equality: because the participants are of the same kind, no one of them can be removed to stop the network, and the chapter can say that it does not matter how or where a transaction is transmitted (Antonopoulos and Harding, 2023). For an operator, each connection is also a small cost in memory and bandwidth.
A peer is not a trusted party, and this is the single most important thing to remember about the word. Everything a peer sends is checked against the rules by the receiving node, which is why connecting to unknown computers is safe for the data. The number of peers is also not a measure of correctness, and a node that is connected to many peers still accepts only what passes its own checks. Finally, peers see what you send them: the book's chapter on lightweight clients and privacy explains that what a program asks its peers for can reveal what it is interested in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Bitcoin the architecture is not a technical preference but a consequence of the goal. The book writes that Bitcoin is a peer-to-peer digital cash system by design, that the network architecture is both a reflection and a foundation of that characteristic, and that decentralization of control can only be achieved and maintained by a flat and decentralized consensus network (Antonopoulos and Harding, 2023). Nakamoto's paper is titled for the same idea and proposes a solution using a peer-to-peer network in which the participants timestamp transactions by hashing them into an ongoing chain of proof of work (Nakamoto, 2008). If there were a server, whoever ran it could decide what counts as a payment.
Peer-to-peer does not mean that every participant does the same amount of work, nor that there are no services built on top. The book notes that beside the base protocol there are others used for mining and for lightweight wallets, provided by gateway servers that bridge into the peer-to-peer network, and that various companies run nodes as network edge routers on which exchanges, wallets, explorers and payment processors are built (Antonopoulos and Harding, 2023). Those services are centralized even though the protocol beneath them is not, and a user who relies on one of them is relying on its operator.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 explains why a payment can be trusted within seconds even though it is not yet recorded. Each node that forwards the transaction has first verified it, so propagation is not mere copying: it is a wave of independent checks. That is also the reason the chapter can say that invalid data does not travel far, and the reason a merchant may make a judgement about an unconfirmed payment, as the security group of the next branch discusses.
Propagation proves nothing about permanence. A transaction that has reached every node is still unconfirmed, can still be replaced in some circumstances, and is recorded only when a miner includes it in a block that other nodes accept. Speed can also mislead: that a payment appeared in a wallet within two seconds says only that the data arrived, not that the money cannot be taken back, which is the subject of the confirmation concept in the next branch.
Concepts in this section: Transmitting the transaction, Gossiping, Transaction propagation, Memory pool, The recipient's own check, Block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indifference to the route is one of Bitcoin's quietly radical properties. A payment is not a request sent to an institution that may accept or refuse it; it is a self-contained document whose validity any recipient can check. The chapter draws out the practical consequences: Alice's wallet can send the transaction to any Bitcoin node over any type of connection, wired, wireless or mobile, and it can also send it to another program, such as a block explorer, that will relay it to a node (Antonopoulos and Harding, 2023). Her wallet does not have to be connected to Bob's wallet directly, and she does not have to use the internet connection offered by Bob, though both of those are possible as well.
Two things are not guaranteed by transmission. The first is arrival: a wallet that sends a transaction to a single node and gets no acknowledgement does not know that the network has it, which is why wallets usually send to several peers and watch for the transaction coming back to them. The second is acceptance: a node that finds the transaction invalid simply drops it, and the chapter's rule is that a node forwards a valid transaction it has not seen before (Antonopoulos and Harding, 2023). Relaying through a third party such as an explorer also tells that party who is paying whom, which is the privacy cost the chapter warns of.
---
Gossiping is how a network with no coordinator reaches everybody. Nobody holds a list of participants and nobody decides the route, yet the chapter can say that the transaction rapidly propagates out across the peer-to-peer network, reaching a large percentage of the nodes within a few seconds (Antonopoulos and Harding, 2023). The validity condition is what makes this safe rather than reckless: the book's mining chapter explains that every node verifies a transaction before forwarding it, so that only valid transactions are propagated while invalid ones are discarded at the first node that encounters them (Antonopoulos and Harding, 2023).
Gossiping does not guarantee that every node will hold a given transaction. A node may be offline, may have a full memory pool, or may apply its own relay policy, and the book's chapter on fees notes that nodes limit how many unconfirmed transactions they store (Antonopoulos and Harding, 2023). Nor does gossiping record anything: the data is in memory, not in the blockchain. And because what spreads is what a node has accepted, a transaction that one node's policy rejects may travel less widely without being invalid, so wide propagation is evidence of acceptance rather than proof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Propagation is the step that turns a private document into public knowledge, and it is what makes the double-spend check meaningful. If every node sees the transaction that spends an output, a second transaction spending the same output will be rejected by the nodes that already hold the first, so a fraudulent payment has to beat the honest one through the network. Propagation is also what the receiver relies on in the first seconds: before any block exists, the only evidence Bob has is that his own program and everybody else's have seen the payment and found it valid.
Propagation is not confirmation, and this is the misconception the chapter is most careful about: a transaction does not become part of the blockchain until it is included in a block by mining and that block has been validated by full nodes (Antonopoulos and Harding, 2023). A widely propagated transaction can still be dropped if it is never mined, and in some circumstances it can be replaced by another version paying a higher fee, which the book's chapter on fees describes (Antonopoulos and Harding, 2023). What propagation gives is visibility and a first, probabilistic assurance, nothing more.
---
The pool is the waiting room of the system, and it is where the market for block space happens. A miner builds a candidate block out of the pool, and the chapter says that transactions are added to the new block prioritized by the highest fee rate first and a few other criteria (Antonopoulos and Harding, 2023), so the pool is what the fee rate concept is about. For a user, the pool explains the state a payment is in during the first minutes: verified by everyone, recorded by nobody.
The memory pool is local, not global. The book is explicit that the memory pool and the orphan pool represent a single node's local perspective and might vary significantly from node to node depending on when the node was started or restarted, unlike the database of unspent outputs, which represents the emergent consensus of the network and will not usually vary (Antonopoulos and Harding, 2023). So there is no such thing as the mempool, only each node's own; a transaction in your node's pool may be missing from another's, and nothing in the pool is recorded until it is 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concept is where the chapter's opening promise becomes concrete for a particular person. Bob does not have to telephone a bank or trust Alice: his own program reads the transaction and recognises the payment. The three statements also form a ladder of assurance that the course returns to again and again. Recognising an output addressed to oneself requires nothing but one's own keys; checking that the data is well formed requires only the rules of the format; checking that the inputs exist and are unspent requires the whole ledger, which is what a full node has.
What the recipient's check cannot establish is that the payment is final. The transaction is unconfirmed at this point, so the assurance is about validity, not permanence, and the chapter moves straight on to mining for that reason. A lightweight wallet is also limited in a way its user may not notice: it will show the incoming payment, but it has not verified that the inputs were unspent, so it is trusting its peers for that part. And recognising an output as one's own is not the same as being able to spend it yet, since an output in an unconfirmed transaction can only be spent further once there is something to build on.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explorer is what makes this chapter checkable by a reader who has no node. All the data in the blockchain is public, but reading it from the network requires software and a copy of the chain; an explorer does that work and presents the result as a web page. For a course it is also the simplest instrument of the subject: a student can see a real input pointing at a real earlier output, and watch a transaction move from unconfirmed to one confirmation and then to more.
The chapter attaches a warning to the explorer and so should the reader. Searching information on a block explorer may disclose to its operator that you are interested in that information, allowing them to associate it with your address on the internet, your browser details, your past searches or other identifiable information; looking up the transactions in the book is harmless, but looking up your own may let the operator guess how many bitcoins you have received, spent and currently own (Antonopoulos and Harding, 2023). An explorer is also a third party: what it shows has not been verified by you, which is exactly the trust that running a full node removes.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answers the question that the first two leave open. A transaction that every node has seen and found valid is still only a proposal: nothing yet says that this payment, and not a competing one spending the same output, is the one that counts. The chapter's answer is computation. Bitcoin's system of counterfeit protection is based on computation: transactions are bundled into blocks whose headers must be formed in a very specific way, requiring an enormous amount of computation to get right but only a small amount to verify as correct (Antonopoulos and Harding, 2023). That asymmetry is what replaces the authority of a bank.
Two habits of language should be corrected early. First, a block is not added by anybody's decision: a miner publishes a candidate that satisfies the rules, and each node decides for itself whether to accept it, which the book calls independent validation (Antonopoulos and Harding, 2023). Second, nothing in Bitcoin is final in the absolute sense; the book writes that while the protocol always allows a chain to be undone by a longer chain, the probability of such an event decreases as time passes until it becomes infinitesimal (Antonopoulos and Harding, 2023). The security of this branch is probabilistic, and saying so precisely is part of understanding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 explains Bitcoin's answer to a problem that has no obvious solution: how a network of strangers can agree on an order of events without a referee. The chapter names the two purposes that mining serves. Miners can only receive honest income from creating blocks that follow all of Bitcoin's consensus rules, so they are normally incentivized to include only valid transactions, which allows users to make a trust-based assumption that any transaction in a block is valid; and mining currently creates new bitcoins in each block, almost like a central bank printing new money, in an amount that is limited and diminishes with time following a fixed issuance schedule (Antonopoulos and Harding, 2023).
Three warnings belong to the whole group. Mining does not verify transactions on behalf of the network: every full node verifies for itself, and mining decides only the order and the timing. The ten-minute figure is an average and not a schedule, which the security group takes up. And the figures of this group, the reward, the hash rate and the difficulty, change continuously; what is stable is the rule that produces them, so a learner should remember the rule and look up the number.
Concepts in this section: Miner, Candidate block, Proof of work, Block, Block header, Merkle tree, Difficulty and target, Hash rate, Consensus rules, Coinbase transaction, Block reward, Mining pool, Sudoku analogy, Soft fork and hard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Miners exist because somebody has to decide the order of transactions, and Bitcoin pays for that service instead of appointing anybody to it. The chapter describes the balance: mining uses electricity to solve a computational problem, a successful miner collects a reward in the form of new bitcoins and transaction fees, but the reward will only be collected if the miner has included only valid transactions, with the rules for consensus determining what is valid, and this delicate balance provides security for Bitcoin without a central authority (Antonopoulos and Harding, 2023).
A miner cannot cheat by writing itself a larger reward. The book puts the question directly and answers it: an inflated reward would make the block invalid in the eyes of everyone else, wasting the electricity spent on the proof of work, because the miner only gets to spend the reward if the block is accepted (Antonopoulos and Harding, 2023). Nor is a miner a judge of transactions: it chooses which valid transactions to include, usually by fee rate, but it cannot make an invalid one valid. And mining is not a vote of users: it counts computation, and the nodes that enforce the rules decide what they will accept.
---
The candidate block is where a miner's choices are made, and therefore where the market for block space is settled. The chapter says that transactions are added to the new block prioritized by the highest fee rate transactions first and a few other criteria, and that each miner starts the process of mining a new candidate block as soon as they receive the previous block from the network, knowing that some other miner won that iteration of the lottery (Antonopoulos and Harding, 2023). The candidate is also the lottery ticket in the chapter's own image: each miner can create their own ticket by creating a candidate block that includes the new transactions they want to mine plus some additional data fields (Antonopoulos and Harding, 2023).
A candidate block is not a block: it has no proof of work, so no node would accept it, and the miner may abandon it at any moment. It is also private until it is solved, which is why two miners can be working on candidates that contain the same transactions without any conflict. And the contents of a candidate are a choice, not a rule: a miner may legally build a block with no transactions at all except the coinbase, which is one of the problems the book describes on the test network, where fees have no value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what makes the record expensive to rewrite, and therefore what makes a confirmed payment reliable. The chapter puts the number on it: as of writing, the number of candidate blocks miners need to try before finding a winning combination is about 168 billion trillion, and that is also how many times the hash function needs to be run; yet once a winning combination has been found, anyone can verify the block is valid by running the hash function just once (Antonopoulos and Harding, 2023). Changing a recorded transaction would mean redoing that work and then outpacing everyone else, which is the argument the security group develops.
Proof of work proves effort, not honesty and not truth. A block with a perfect proof of work is still rejected if any of its transactions breaks a rule, as the consensus-rules concept explains. The proof is also probabilistic: the chapter's own wording is that the verification process is able to probabilistically prove the work was done, and a lucky miner may find a solution on its first attempt (Antonopoulos and Harding, 2023). Finally, the work is not a puzzle with a meaningful answer; the solution has no use outside the system, which is both the source of its security and the reason its energy cost is debated.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is what gives transactions an order and a time. Within a single chain of blocks the position of a transaction defines whether it is earlier or later than another, and a transaction is valid only if it spends outputs of transactions that appeared earlier, which the book says eliminates the problem of double spending (Antonopoulos and Harding, 2023). The block is also the unit in which block space is sold, so its limit is what makes fees necessary, and the unit in which security accumulates, since confirmations are counted in blocks.
Two points are easily confused. A block is not a fixed number of transactions: the limit is on size, counted as weight, so a block may hold one transaction or many thousands. And the hash that names a block is not stored inside it; the book notes that the block's hash is computed by each node as the block is received from the network, which is why every node can check the name for itself and nobody can rename a block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the chapter claims about the chain follows from this header. Because the header contains the hash of the parent block, any change to a parent requires the child's hash to change, which requires the grandchild to change, and so on; the book concludes that once a block has many generations following it, it cannot be changed without forcing a recalculation of all subsequent blocks, and that because such a recalculation would require enormous computation, the existence of a long chain of blocks makes the blockchain's deep history impractical to change, which is a key feature of Bitcoin's security (Antonopoulos and Harding, 2023). Because the header also contains the merkle root, it commits to every transaction without containing any of them.
Three cautions. The header's version field is no longer simply a version, as the book says its use has evolved over time, and the chapter on Bitcoin Core explains how it came to carry signals for upgrades (Antonopoulos and Harding, 2023). The timestamp is the approximate creation time, set by the miner within limits that the book states as two consensus rules, that no node accepts a block whose time is more than two hours in the future and none accepts a block whose time is not later than the median time of the last eleven blocks, which the book calls the median time past, so a block's time is not a reliable clock (Antonopoulos and Harding, 2023). And the nonce is only four bytes, so it is exhausted quickly; miners then change other fields, which the book calls the extra nonce solution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is what lets the eighty-byte header stand for a whole block. The book says that merkle trees are used in Bitcoin to summarize all the transactions in a block, producing an overall commitment to the entire set of transactions and permitting a very efficient process to verify whether a transaction is included in a block (Antonopoulos and Harding, 2023). It also gives the efficiency: with N elements, checking whether any one of them is in the tree takes about the base-two logarithm of N calculations, so proving that one transaction out of the roughly sixteen thousand in the largest possible block is present needs the transaction, the eighty-byte header and 448 bytes of path, which makes the largest possible proof almost ten thousand times smaller than the largest possible block (Antonopoulos and Harding, 2023).
The merkle root commits to the transactions but does not contain them, so a header alone does not let anyone read a block. A merkle path also proves only inclusion: it shows that a transaction is in a block, not that the transaction or the block obeys the rules, which is exactly the limit of simplified payment verification. And the chapter's own text never mentions merkle trees; the concept is brought in here because the chapter's claim that a small header commits to many transactions cannot otherwise be explained.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an adjustable target the system would not keep time. The book explains that blocks are generated every ten minutes on average, that this is Bitcoin's heartbeat and underpins the frequency of currency issuance and the speed of transaction settlement, and that it has to remain constant over decades while computer power and the number of miners change, so the difficulty of mining must be adjusted to account for those changes (Antonopoulos and Harding, 2023). The chapter touches the same idea when it says that over time, as the height of new blocks increases, so does the computation difficulty for the chain as a whole (Antonopoulos and Harding, 2023).
Three details are often got wrong. Retargeting is not performed by anybody: it occurs automatically and on every node independently, which is why all nodes agree on the result (Antonopoulos and Harding, 2023). The window has an off-by-one error that the book records, since the calculation uses the time of the previous 2,015 blocks rather than 2,016, biasing difficulty upward by about 0.05 per cent (Antonopoulos and Harding, 2023). And the target is independent of how many transactions a block holds or how much value they move, so the energy spent securing Bitcoin does not depend on how much Bitcoin is used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hash rate is how the cost of rewriting history is quantified, so it is the number behind every security claim in this branch. The book's note on block intervals makes the link: a malicious miner wanting to double spend a transaction would need to do an amount of work equal to ten minutes of the total network hash rate in order to create a chain with equal proof of work (Antonopoulos and Harding, 2023). A share of the hash rate is also what defines the attacks the book describes, which it calls hashrate attacks and which succeed with probability depending on that share (Antonopoulos and Harding, 2023).
A hash rate is an estimate, not a measurement: nobody counts the hashes of the world's miners, so the figure is inferred from the difficulty and the observed block times, which is why published values differ and fluctuate. It also measures only this one kind of computation, so comparing it with the speed of a general-purpose computer is meaningless. And a higher network hash rate does not make payments faster; the difficulty adjusts to keep the pace at ten minutes, so extra hash rate buys security, not speed.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are what makes a decentralized record possible at all. Because every node applies the same rules, no miner can profit from breaking them: the book explains that an invalid coinbase transaction would make the entire block invalid, so the block would be rejected and the transaction would never become part of the blockchain, and that the miners therefore have to construct a block based on the shared rules that all nodes follow and mine it with a correct solution, expending electricity that is wasted if they cheat (Antonopoulos and Harding, 2023). The chapter draws the consequence for users: because miners are incentivized to include only valid transactions, users may optionally make a trust-based assumption that any transaction in a block is a valid transaction (Antonopoulos and Harding, 2023).
Consensus rules are not the same as consensus, and the book warns against confusing the two: the rules are what nodes check, while consensus is the agreement that results (Antonopoulos and Harding, 2023). The rules also change, but only in careful ways: the book devotes a long section to how they are altered, distinguishing a soft fork, which tightens them compatibly, from a hard fork, which does not (Antonopoulos and Harding, 2023). And the rules are enforced by nodes, not by miners; a block with a perfect proof of work that breaks a rule is simply discarded.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transaction is where new bitcoins enter the world, so it is the only place in the system where money is created rather than moved. It is also what ties the miner's income to the validity of the whole block: the fees it claims are the differences between the inputs and outputs of the other transactions, so an error anywhere in the block makes the coinbase transaction wrong and the block invalid. The chapter's statement that a successful miner receives the reward after the block is added to the blockchain and the reward transaction becomes spendable refers to this transaction (Antonopoulos and Harding, 2023).
Three traps. The output of a coinbase transaction cannot be spent immediately: the book's verification checklist requires at least a hundred confirmations, the constant it calls COINBASE_MATURITY, and its blockchain chapter explains that after a hundred blocks there is so much stability that the reward can be spent (Antonopoulos and Harding, 2023). The term is also overloaded: the glossary warns that the coinbase, a field, is not to be confused with the coinbase transaction, and neither has anything to do with a company of a similar name (Antonopoulos and Harding, 2023). Finally, the miner cannot write any amount it likes, because every node recomputes the permitted total.
---
The reward is the engine of the whole system. It pays for the computation that secures the record, and because it diminishes on a schedule that nobody can change, it also defines Bitcoin's monetary policy. The book draws the conclusion: the finite and diminishing issuance creates a fixed monetary supply that resists inflation, and unlike a fiat currency, which can be printed in infinite numbers by a central bank, no individual party has the ability to inflate the supply (Antonopoulos and Harding, 2023). It also tells the miner's future: after the subsidy reaches zero, blocks will contain no new bitcoins and miners will be rewarded solely through transaction fees (Antonopoulos and Harding, 2023).
Any particular reward figure goes stale, so learn the rule and not the number; the book's own glossary still says the reward is currently 12.5 bitcoins, which was true two halvings earlier (Antonopoulos and Harding, 2023). Note also that the maximum is an upper limit rather than a promise: the book remarks that a miner may intentionally mine a block taking less than the full reward, and that such blocks have already been mined, so the total issued may end up lower (Antonopoulos and Harding, 2023). And the reward is not paid immediately in a usable form, because the coinbase output must mature for a hundred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Pools exist because mining alone has become a lottery with very long odds. The book says that in this highly competitive environment individual miners working alone do not stand a chance, that the likelihood of finding a block to offset electricity and hardware costs is so low that it represents a gamble, and that by participating in a pool miners get a smaller share of the overall reward but typically get rewarded every day, reducing uncertainty (Antonopoulos and Harding, 2023). Its example is concrete: a miner with a ten-thousandth of one per cent of the network's hash rate would find a block about once every twenty years alone, and in a pool holding one per cent of the rate would average more than one block a day and earn the same amount, only far more evenly (Antonopoulos and Harding, 2023).
Pools change who controls what. A pool member runs the hardware but the pool decides what goes into the candidate block, so hash rate concentrates in the hands of pool operators, and the book's section on hashrate attacks notes that a pool with a large share can attempt them while its participants might remain blissfully unaware (Antonopoulos and Harding, 2023). A share is also not a bitcoin: it is a unit of accounting inside the pool, worth nothing outside it. And a pool is a counterparty, so its members trust it to measure and to pay.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analogy is useful because it captures the one property that makes proof of work possible, the asymmetry between solving and checking, in an everyday object. A student who has filled in a sudoku knows from experience that finding the answer is laborious while checking a finished grid is quick, and that a larger grid is harder without being harder to check. Those are exactly the properties the chapter claims for the hash search: an enormous amount of computation to get right, only a small amount of computation to verify as correct (Antonopoulos and Harding, 2023).
The analogy must be labelled as one. A sudoku has a unique solution reached by reasoning, whereas a proof of work has very many possible solutions and no reasoning helps: the only method is trial, because the hash function's output cannot be steered. A sudoku also has no reward, no competition between solvers for the same grid and no chain of earlier grids, so the analogy says nothing about incentives, about confirmations or about why a long chain is hard to rewrite. Use it to understand the asymmetry and then put it down.
---
The distinction decides whether an upgrade can happen without splitting the network, so it is the practical reason Bitcoin can change at all. The book states the rule precisely: a soft fork is a forward-compatible change to the consensus rules that allows unupgraded clients to continue to operate in consensus with the new rules, and it adds the consequence that is not immediately obvious, that soft forks can only be used to constrain the consensus rules and not to expand them, because transactions and blocks created under the new rules must be valid under the old rules too but not the other way round (Antonopoulos and Harding, 2023).
Three cautions. The word fork here is not the accidental fork of the security group, which is two blocks at the same height, and the book remarks that in practice a soft fork is not a fork at all (Antonopoulos and Harding, 2023). A soft fork is compatible but not free: an unupgraded node keeps accepting blocks yet no longer verifies the new rule itself, so a user who wants the new protection must upgrade. And compatibility is a property of the rules, not of intentions: a change that was meant to be gentle is still a hard fork if any old node would reject a block that a new one accepts.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 matters because the honest answer to the question is probabilistic, and students are owed the honest answer. The chapter does not say that a confirmed payment cannot be reversed; it says that as the blocks pile on top of each other it becomes harder to reverse the transaction, thereby giving Bob more and more confidence that Alice's payment is secure (Antonopoulos and Harding, 2023). The reason is an argument about cost: the chapter shows that a miner conspiring with Alice would have to produce two blocks where an honest miner produces one, and that the high cost of doing so for a small additional payment is normally much less profitable than honest mining (Antonopoulos and Harding, 2023).
Guard against two opposite errors. One is to treat six confirmations as a magic number: the chapter calls it a convention, and the book's own advice for high-value items is to wait longer, mentioning twenty-four hours, which is about 144 confirmations (Antonopoulos and Harding, 2023). The other is to treat the system as fragile because nothing is absolute; the same arithmetic that denies certainty shows that the probability of reversal falls away very quickly, and the book's figure of a probability of about two in ten thousand after six confirmations against an attacker with a tenth of the hash rate is the concrete form of that (Nakamoto, 2008).
Concepts in this section: Confirmation, Probability of reversal, Best blockchain, Block height, Fork and alternative block, Double spend, Genesis block, Unconfirmed transaction, Accepting a small payment unconfirmed.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Confirmations are how the chapter turns a vague feeling of safety into a number that a merchant can act on. Each additional block multiplies the work an attacker would have to redo, because the attacker must not only replace the block containing the transaction but also outpace the honest chain that has grown in the meantime. The chapter spells the arithmetic out: after a second block is mined on top, Alice's transaction can only be changed if two alternative blocks are mined plus a new block on top of them, a total of three blocks, for Alice to take back the money she sent Bob (Antonopoulos and Harding, 2023).
A confirmation is not a guarantee and six is not a law. The chapter calls the six-block figure a convention, and the book's mining chapter describes a hashrate attack in which an attacker with enough power invalidates six or more blocks in a row, so that transactions considered immutable become invalid (Antonopoulos and Harding, 2023). In the other direction, the number of confirmations says nothing about whether the transaction was correct, only about how hard it now is to remove; a payment to the wrong address is just as irreversible as a payment to the right one.
---
Without a number, the advice to wait for confirmations is folklore. With one, it becomes engineering: a merchant can weigh the value of the goods against the chance of losing them and choose how long to wait. The paper's own conclusion is the one the chapter repeats in words, that the probability of a successful attack drops exponentially as blocks are added, and that the receiver therefore becomes safer by waiting (Nakamoto, 2008). The book's blockchain chapter puts the same thing as a picture of geological layers, in which the topsoil may blow away while the deeper strata have been undisturbed for ages (Antonopoulos and Harding, 2023).
These probabilities rest on assumptions, and the assumptions matter more than the digits. They assume the attacker has a minority of the hash rate, and the book's section on hashrate attacks shows that with a majority the arithmetic changes qualitatively, since success becomes almost certain given enough patience (Antonopoulos and Harding, 2023). They also describe only this one attack: they say nothing about a stolen key, a faulty wallet or a payment sent to the wrong place, which are far more common ways to lose money than a reorganization of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rule is what produces agreement without agreement being negotiated. Every node applies it to the blocks it has, so nodes that have seen the same blocks reach the same conclusion, and nodes that have seen different blocks converge as soon as the missing blocks arrive. The book says so directly: by selecting the greatest-cumulative-work valid chain, all nodes eventually achieve network-wide consensus, and temporary discrepancies between chains are resolved eventually as more work is added (Antonopoulos and Harding, 2023). It is also the rule that sets the price of rewriting history, since an attacker must produce more work than everyone else combined over the period in question.
Three corrections to common wording. The rule is most work, not longest chain: a chain of fewer blocks mined at a higher difficulty can carry more work, which is why the book speaks of cumulative proof of work. The rule applies only among valid chains, so a chain with more work that breaks a rule is not a candidate at all. And the choice is each node's own, made independently; there is no vote and no announcement, which is exactly why no authority is needed.
---
Heights are how people and programs talk about where something is in the record. A height is short, ordered and human-readable, where a block hash is thirty-two bytes and says nothing about position, so explorers accept a height as a search term and rules are written in terms of heights: the subsidy halves every 210,000 blocks, the difficulty is retargeted every 2,016 blocks, and a coinbase output matures after a hundred. The chapter's own picture of hundreds of thousands of blocks below the one containing Alice's transaction is a statement about height (Antonopoulos and Harding, 2023).
A height is not a unique identifier. The book is emphatic: although a single block always has a specific and invariant height, the reverse is not true, because two or more blocks might have the same height while competing for the same position in the chain (Antonopoulos and Harding, 2023). Only the block hash always names exactly one block. A height is therefore the right way to speak about the record and the wrong way to refer to a particular block when forks matter, which is the subject of the next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matters for two reasons, one benign and one not. The benign one is that forks happen by themselves, because the network takes time to carry a block to everybody, and a reader who does not expect them will be puzzled when a block briefly disappears from an explorer. The book says that forks are almost always resolved within one block, and that the ten-minute interval is a design compromise between fast confirmation times and the probability of a fork (Antonopoulos and Harding, 2023). The other reason is that a deliberate fork is exactly what a reversal needs, which is the argument the chapter makes about Alice and Bob.
The word fork is badly overloaded and the book warns about it repeatedly. The accidental fork of this concept is not the same as a soft fork or a hard fork, which are changes to the consensus rules, and neither is the same as a software fork of a source repository (Antonopoulos and Harding, 2023). Nor is a stale block the same as an orphan block, which the glossary defines as a block whose parent has not yet been processed by the local node (Antonopoulos and Harding, 2023). And an accidental fork is not an attack: it is the ordinary consequence of a network with delays.
---
This is the problem Bitcoin was invented to solve, and the chapter's opening sentences are about it: the system does not require trust in third parties, and software on a user's own computer can verify every aspect of its operation (Antonopoulos and Harding, 2023). Nakamoto's paper puts it at the centre, proposing a solution to the double-spending problem using a peer-to-peer network that timestamps transactions by hashing them into an ongoing chain of proof of work (Nakamoto, 2008). Digital data can be copied, so a purely digital coin can be offered to two people at once; only an agreed order of events can decide which offer counts.
A double spend of a confirmed transaction is not impossible, only expensive, and the book notes that it can only be done on the attacker's own transactions, for which the attacker can produce a valid signature (Antonopoulos and Harding, 2023). Replacement of an unconfirmed transaction is a different and much cheaper matter: the book's chapter on fees explains that an unconfirmed transaction can be replaced by one paying a higher fee rate, and warns the receiver of an unconfirmed transaction accordingly (Antonopoulos and Harding, 2023). And a double spend is not the same as a fork: a fork is two blocks, a double spend is two conflicting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genesis block is what makes the chain's security well founded rather than circular. Every other block is trusted because of the work piled on top of it, but the first block has nothing below it, so it is fixed in the software instead. The book explains the consequence: every node always starts with a blockchain of at least one block because the genesis block is statically encoded within Bitcoin Core so that it cannot be altered, every node always knows its hash and structure, the fixed time it was created and even the single transaction within, and thus every node has a secure root from which to build a trusted blockchain (Antonopoulos and Harding, 2023).
The genesis block is special in ways that break general rules, so it should not be used as an example of an ordinary block. Its previous-block field is all zeros because it has no parent; its reward was never spendable in the usual way; and its presence in the software means that a node does not verify it in the way it verifies every later block, which the book describes by saying that full nodes validate every block after the genesis block (Antonopoulos and Harding, 2023). Note also that the test networks have genesis blocks of their own, which is why the book shows a different first hash for each of them (Antonopoulos and Harding, 2023).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state is where most of the practical confusion about Bitcoin lives, because it looks like a completed payment and is not yet one. A merchant sees the money arrive in a few seconds and must decide whether to act. The chapter is careful about the two different intervals: within a few seconds Bob sees the transaction on the register, and approximately five minutes after the transaction was first transmitted a miner finds a solution for the block (Antonopoulos and Harding, 2023). Those two sentences describe propagation and confirmation, and treating them as the same thing is the error this concept exists to prevent.
Three cautions. An unconfirmed transaction can be replaced, not only ignored: the book's chapter on fees describes replacement by a version paying a higher fee rate and advises the receiver of an unconfirmed transaction accordingly (Antonopoulos and Harding, 2023). It can also simply never be mined, if its fee rate is too low for the current market, in which case it may eventually be dropped from the memory pools that hold it (Antonopoulos and Harding, 2023). And the number of nodes that have seen it is not a measure of safety, because propagation is not confirmation.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matters because it shows that the number of confirmations to require is an economic question, not a technical one. The book offers the comparison that makes it intuitive: it is similar to the practice of coffee shops that accept credit card payments without a signature for amounts below twenty-five dollars, because the risk of a chargeback is low while the cost of delaying the transaction to obtain a signature is comparatively larger (Antonopoulos and Harding, 2023). The same chapter draws the opposite conclusion for expensive goods, warning that selling a more expensive item runs the risk of a double-spend attack in which the buyer broadcasts a competing transaction that spends one of the same inputs and cancels the payment (Antonopoulos and Harding, 2023).
Do not read this practice as a claim that unconfirmed payments are safe. They can be replaced by a version paying a higher fee, as the book's chapter on fees explains, and they can be deliberately double spent by a buyer who is willing to try (Antonopoulos and Harding, 2023). Note also what is being accepted: a payment whose validity has been checked, so the risk is reversal and not forgery. And the threshold is nobody's recommendation; the twenty-five dollars in the comparison is about credit cards, not about Bitcoin, and each merchant must set its own.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 closes the circle of the chapter. It began with Alice spending an output that Joe had created and ends with Bob spending the output that Alice created, which shows that there is only one mechanism in Bitcoin and that every participant uses it in turn. The chapter says exactly this in its summary: it saw how transactions build a chain that moves value from owner to owner, and tracked Alice's transaction from the moment it was created in her wallet, through the network, to the miners who recorded it on the blockchain (Antonopoulos and Harding, 2023).
Being spendable is not the same as being spent, and being in the blockchain is not the same as being in a wallet's control: Bob can spend the output only because his wallet holds the key that the output's script demands. Note also the one exception to onward spending that this chapter has met, the coinbase output, which must wait a hundred blocks before it can be spent at all (Antonopoulos and Harding, 2023).
Concepts in this section: Spending onward, Simplified payment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is what makes the word money appropriate. A payment that could be received but not spent again would be a receipt, not a currency; because every received output can become an input, value circulates and the chain of ownership that the chapter opened with continues indefinitely. It is also the step that makes the whole history auditable, since each spending leaves a link that anyone can follow backward to the block in which the bitcoins were first created.
Two cautions. Spending onward needs the key, not just the record: the output is public, but only the holder of the key that satisfies its script can spend it, which is why losing a key loses the funds. And a changeless transaction like Bob's is only practical when the amount to be paid is roughly the amount available minus the fee, as the book says; otherwise the surplus would be handed to the miner (Antonopoulos and Harding, 2023).
---
The method is what makes a Bitcoin wallet possible on a telephone, and it is the clearest example in the course of a deliberate trade between cost and trust. What the client gives up is stated plainly by the book: lightweight clients cannot construct a full picture of all the unspent outputs available for spending because they do not know about all the transactions on the network, and they rely instead on peers to provide partial views of relevant parts of the blockchain on demand (Antonopoulos and Harding, 2023). What they keep is the ability to tell that work was done committing to their payment, which is the guarantee that this whole branch is about.
The limits of the method must be stated as clearly as its benefit. It proves inclusion and work, not validity: a lightweight client has not checked that the transaction's inputs existed and were unspent, so it is trusting the miners and its peers for that. It also leaks information, since asking peers about particular transactions reveals an interest in them, and the book devotes a section to lightweight clients and privacy for that reason (Antonopoulos and Harding, 2023). The honest summary is the chapter's own word, partially: the client verifies part of what a full node verifies, and knowing which part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matters for two reasons. The first is academic honesty about what the course is doing: every chapter of this material is turned into an ontology, and a student is entitled to see why the subject suits that treatment. The second is practical. Once a transaction chain is described in a standard vocabulary, questions about it can be asked in a standard query language and answered by a general tool, instead of by a program written for Bitcoin; and the same description can be joined to descriptions of other things, which is what makes a vocabulary worth standardizing.
Two things this branch does not claim. It does not claim that the Bitcoin software uses any of these standards; it does not, and the description here is a model of the chapter's content, built for teaching and for querying. And it does not claim that provenance in this sense identifies anybody: the agents of the model are key holders, and a key holder is not a person until some evidence outside Bitcoin connects them, which is the same caution the first branch gave about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 is the bridge between this chapter and the method of the course. Bitcoin's blockchain is unusual among records in that its provenance is complete and public: for any output one can follow the chain back to the block in which the bitcoins were created, which is exactly what the chapter says a full node does when it validates every transfer of the funds from the moment the bitcoins were first generated (Antonopoulos and Harding, 2023). A record with that property is the ideal case study for a vocabulary designed to express where things came from.
Keep the model and the thing modelled apart. The triples described here are written by this course, not by Bitcoin, and a different modeller could reasonably choose differently: an output might be modelled as an entity or as a state of an entity, and a transaction as one activity or as several. A model is a tool for answering particular questions, so it is judged by whether it answers them, not by whether it is the only possible description.
Concepts in this section: Ontology, Triple and graph, Provenance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course the ontology is the form in which each chapter is recorded, so that the material can be queried, checked and reused rather than only read. Three benefits follow. Terms are defined once and used consistently, which is why this chapter insists that every technical word it uses is itself a concept. Questions can be stated in advance as competency questions and the description tested against them. And because the vocabulary is standard, the result can be joined to other descriptions, as this branch does by borrowing the provenance vocabulary of the Web consortium.
An ontology is not a database and not a program. It says what kinds of things there are and how they relate, not how to store them efficiently or what to do with them, and a statement in an ontology is a claim about the world that may be wrong. Nor is one ontology ever the ontology of a subject: the same chapter could be modelled with different classes, and this one is organized around how a learner meets the material, which is a pedagogical choice and not a discovery.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Triples are chosen because they combine without planning. Two descriptions written by different people, about different things, can simply be put together, and anything they have in common joins up; nothing has to be merged, because there are no tables and no columns. This is why the provenance standard can be reused here: its predicates for derivation, generation and attribution can be applied to this chapter's outputs and transactions without changing anything in the standard.
Triples are a notation, not a guarantee of truth: a graph records what somebody asserted, so the question of who asserted it, which is itself a provenance question, is always worth asking. A graph is also not a hierarchy, although hierarchies can be expressed in it, and the absence of a triple means only that nothing was said, not that the opposite is true. Finally, the graph of this chapter is a description of the record and not the record: the blockchain itself is a sequence of bytes, and these triples are what this course says about it.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chain this way makes the course's theme visible in the chapter's own material. The chapter says that each input spends an earlier output, that anyone can follow a payment back through the chain of ownership, and that a full node validates every transfer from the moment the bitcoins were first generated in a block (Antonopoulos and Harding, 2023). Those are statements about derivation, and the provenance vocabulary exists to express exactly them, so Bitcoin's ledger becomes an example of a complete and public provenance record rather than a special case needing its own language.
The model has limits worth stating. Attribution is to a key holder, not to a named person, so the graph does not identify anybody; the chapter's own remark that the change address is often new, for privacy reasons, shows that even the grouping of outputs by owner is a guess (Antonopoulos and Harding, 2023). The activity has a time only once the transaction is in a block, and even then the timestamp is approximate. And derivation here is between whole outputs, not between amounts: an output derived from two inputs does not tell you which satoshi came from where, because the protocol does not record that.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matters because the central claim of the chapter, that a chain of hashes makes a record expensive to change, is far more convincing when a student breaks a chain with their own hands and watches every block after the change turn invalid. The pages also make the asymmetry of proof of work physical: mining a single demonstration block takes a perceptible moment, and verifying it is instant. For a course this is the cheapest possible laboratory, since the pages run in a browser and risk nothing.
A demonstration is not the system. The pages use a single hash, a difficulty of four leading zeros and a handful of blocks, where Bitcoin uses a double hash, a difficulty astronomically higher and hundreds of thousands of blocks; they have no network, no signatures, no scripts and no fees. Their value is that every simplification is a point of comparison: a student who can say what the page leaves out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 is included because the chapter's claims are of exactly the kind that a demonstration can settle. That a hash changes completely when one character of the input changes, that a block is valid only when its hash matches a template, that changing an old block invalidates every later one, and that different peers can hold different chains are all statements that can be seen rather than believed. The pages are also a shared reference: a class can be asked to do the same thing and compare results.
Treat the pages as illustrations of single ideas, not as a model of Bitcoin. Their hash is a single SHA-256 rather than the double hash Bitcoin uses, their blocks have no merkle root and no timestamp, their mining is a button rather than a competition, and the amounts in the coinbase page are written as plain numbers with no keys or signatures behind them. The group names these differences for each page so that a learner can translate in both directions.
Concepts in this section: Hash page, Block page, Blockchain page, Distributed page, Coinbase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is the right place to start because every later concept of the chapter rests on this one function. The two properties that the chapter attributes to it are both visible within a few keystrokes: that the same input always produces the same output, which the reader sees by typing a text, clearing it and typing it again, and that nobody can predict the output for a new input, which the reader sees by changing a single character and watching the whole digest change (Antonopoulos and Harding, 2023). The fixed length is equally visible, since the digest stays sixty-four characters long however much is typed.
Three differences from Bitcoin should be noted while using the page. It applies SHA-256 once, where Bitcoin's identifiers and proof of work apply it twice. It hashes text as typed, where Bitcoin hashes exact binary structures, so a reader cannot reproduce a real transaction identifier by pasting its hexadecimal form into the data box. And a digest on this page is only a digest: it is not a commitment to anything until something refers to it, which is what the next pages add.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is where proof of work stops being a phrase. The reader has already seen that a digest cannot be steered, so the only way to satisfy the condition is to try, and the page does the trying in front of them. The asymmetry that the chapter describes, an enormous amount of computation to get right and only a small amount to verify as correct, is experienced as the difference between the pause after pressing Mine and the instant recolouring of the box when the answer is in (Antonopoulos and Harding, 2023).
The differences from real mining are large and instructive. There is one miner and no competition, so no block is ever lost to a faster rival. The difficulty is fixed by the page instead of being retargeted every 2,016 blocks. The threshold is expressed as leading zeros rather than as a number below a target, which is a good approximation but not the real rule. And the nonce here is unbounded, whereas Bitcoin's is four bytes and must be supplemented by changing other fields.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demonstrates the single most important claim of the chapter's third branch. The book states it as a chain of consequences: any change to a parent block requires a child block's hash to change, which requires a change in the pointer of the grandchild, which in turn changes the grandchild, and so on, so that once a block has many generations following it, it cannot be changed without forcing a recalculation of all subsequent blocks (Antonopoulos and Harding, 2023). On the page this is not an argument but an observation: edit the data of block two and blocks two to five all turn invalid at once.
Note what the page cannot show. There is only one chain and one editor, so there is no competition and no best-chain rule, and nothing stops the reader from patiently remining all five blocks, which in Bitcoin would mean outpacing the entire network while it keeps extending the honest chain. The page also has no transactions, so the thing being protected is only a text; the coinbase page adds a ledger, and the distributed page adds the other participants.
---
The page adds the dimension that the chapter's second branch is about. A chain that only one person holds proves nothing about agreement, whereas three chains that agree show what consensus looks like in the simplest possible case. Tampering with one peer's block two makes that peer's chain disagree with the other two from block two onward, which is the picture behind the chapter's statement that full nodes choose the chain of valid blocks with the most total proof of work when several alternatives exist (Antonopoulos and Harding, 2023).
The page leaves out everything about how peers learn from one another: there are no messages, no propagation, no gossip and no rule for choosing between chains, so a reader must supply those from the second and third branches. Nor is there any notion of cumulative work, so the page cannot show why a longer or heavier chain wins; it can only show that disagreement is visible. Three peers are also a very small network, and the chapter's figure of about ten thousand listening nodes is a different order of magnitude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closes the circle of the chapter by putting payments inside the blocks whose security the earlier pages demonstrated. It shows the two things the mining group explains: that new money enters only through the coinbase line, and that everything else is a transfer from one party to another. It also makes tampering meaningful, because changing an amount in an early block now changes who owns what, and the cascade of invalid hashes is the reason that change cannot pass unnoticed.
That last experiment is the page's most useful limitation. There are no keys and no signatures, so anybody can move anybody's money, and there is no check that a sender has what they send, so a double spend is not rejected; Bitcoin prevents both with the scripts and signatures of the first branch and the verification checklist of the second. The amounts are plain numbers rather than outputs, so there are no unspent outputs, no change and no fees. And the coinbase amount here never halves, where Bitcoin's subsidy is cut in half every 210,000 blocks.
Source: Mastering Bitcoin, 3rd edition, chapter 2, How Bitcoin Works (Antonopoulos and Harding,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the competency questions: ask the room to answer one of them out loud before you move to the questions. A recap is the moment to name what was NOT covered as well: every concept on these slides is explained in the chapter's interactive page in more depth than a lecture can give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page carries the same three prompts, so a student who prepared can lead. Give each prompt three minutes and take two answers; do not let the first answer settle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 The reference also lets anyone see whether the same output is being spent twice.  (2) A - The chapter on fees says it is not a fee in the usual sense but much more like a bid for block space.  (3) A - Two programs that serialized the same transaction differently would compute different identifiers.
Every option here is a statement the chapter can judge: there is no filler option, so a student who guesses has to choose between four claims about Bitcoin and defend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(4) C - Reversal is on whole bytes, and Bitcoin displays hashes in one order and stores them in another.  (5) A - The tools differ sharply in what they promise, and none of them is encryption.  (6) B - The book says plainly that it is not used to make the transactions secret.
Every option here is a statement the chapter can judge: there is no filler option, so a student who guesses has to choose between four claims about Bitcoin and defend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(7) D - Hexadecimal lines up with byte boundaries, which decimal does not.  (8) D - The links turn individual transactions into a history that anyone can check.  (9) C - A transaction can combine the features, for example consolidating many inputs while paying two recipients.
Every option here is a statement the chapter can judge: there is no filler option, so a student who guesses has to choose between four claims about Bitcoin and defend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record, with the saved copy and the checksum of every source, is 03-materials/ch02/rdodi/sen0401_ch02_research_v1_2_0.ttl. Every quotation in the chapter is re-read from that saved copy by a check the chapter build executes, so a misquotation stops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chapter page once more: it holds the same taxonomy, the same worked examples in a playground the student can edit, and the question bank these questions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25880"/>
            <a:ext cx="228600" cy="0"/>
          </a:xfrm>
          <a:prstGeom prst="line">
            <a:avLst/>
          </a:prstGeom>
          <a:noFill/>
          <a:ln w="19050">
            <a:solidFill>
              <a:srgbClr val="F7931A"/>
            </a:solidFill>
            <a:prstDash val="solid"/>
          </a:ln>
        </p:spPr>
      </p:sp>
      <p:sp>
        <p:nvSpPr>
          <p:cNvPr id="4" name="Shape 2"/>
          <p:cNvSpPr/>
          <p:nvPr/>
        </p:nvSpPr>
        <p:spPr>
          <a:xfrm>
            <a:off x="1508760" y="96012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25880"/>
            <a:ext cx="228600" cy="0"/>
          </a:xfrm>
          <a:prstGeom prst="line">
            <a:avLst/>
          </a:prstGeom>
          <a:noFill/>
          <a:ln w="19050">
            <a:solidFill>
              <a:srgbClr val="F7931A"/>
            </a:solidFill>
            <a:prstDash val="solid"/>
          </a:ln>
        </p:spPr>
      </p:sp>
      <p:sp>
        <p:nvSpPr>
          <p:cNvPr id="6" name="Shape 4"/>
          <p:cNvSpPr/>
          <p:nvPr/>
        </p:nvSpPr>
        <p:spPr>
          <a:xfrm>
            <a:off x="2468880" y="96012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Chapter 2: How Bitcoin Works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F7931A"/>
                </a:solidFill>
                <a:latin typeface="Calibri" pitchFamily="34" charset="0"/>
                <a:ea typeface="Calibri" pitchFamily="34" charset="-122"/>
                <a:cs typeface="Calibri" pitchFamily="34" charset="-120"/>
              </a:rPr>
              <a:t>One real payment, followed from Alice's wallet to a block, with every figure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What this chapter covers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82 concepts, in 5 branches</a:t>
            </a:r>
            <a:endParaRPr lang="en-US" sz="1300" dirty="0"/>
          </a:p>
        </p:txBody>
      </p:sp>
      <p:sp>
        <p:nvSpPr>
          <p:cNvPr id="6" name="Text 4"/>
          <p:cNvSpPr txBox="1"/>
          <p:nvPr/>
        </p:nvSpPr>
        <p:spPr>
          <a:xfrm>
            <a:off x="457200" y="1280160"/>
            <a:ext cx="8229600" cy="904240"/>
          </a:xfrm>
          <a:prstGeom prst="rect">
            <a:avLst/>
          </a:prstGeom>
          <a:noFill/>
          <a:ln/>
        </p:spPr>
        <p:txBody>
          <a:bodyPr wrap="square" lIns="0" tIns="0" rIns="0" bIns="0" rtlCol="0" anchor="t"/>
          <a:lstStyle/>
          <a:p>
            <a:pPr algn="l" indent="0" marL="0">
              <a:buNone/>
            </a:pPr>
            <a:r>
              <a:rPr lang="en-US" sz="1400" dirty="0">
                <a:solidFill>
                  <a:srgbClr val="1F2933"/>
                </a:solidFill>
                <a:latin typeface="Calibri" pitchFamily="34" charset="0"/>
                <a:ea typeface="Calibri" pitchFamily="34" charset="-122"/>
                <a:cs typeface="Calibri" pitchFamily="34" charset="-120"/>
              </a:rPr>
              <a:t>This document explains chapter 2 of the 3rd edition concept by concept, adding the terms the chapter uses without defining them, and re-reads every quotation from its source and recomputes every number, hash and encoding from the bytes of the real transaction the chapter follows.</a:t>
            </a:r>
            <a:endParaRPr lang="en-US" sz="1400" dirty="0"/>
          </a:p>
        </p:txBody>
      </p:sp>
      <p:sp>
        <p:nvSpPr>
          <p:cNvPr id="7" name="Shape 5"/>
          <p:cNvSpPr/>
          <p:nvPr/>
        </p:nvSpPr>
        <p:spPr>
          <a:xfrm>
            <a:off x="457200" y="2294128"/>
            <a:ext cx="2645664" cy="1111504"/>
          </a:xfrm>
          <a:prstGeom prst="roundRect">
            <a:avLst>
              <a:gd name="adj" fmla="val 6581"/>
            </a:avLst>
          </a:prstGeom>
          <a:solidFill>
            <a:srgbClr val="F7931A"/>
          </a:solidFill>
          <a:ln w="12700">
            <a:solidFill>
              <a:srgbClr val="F7931A"/>
            </a:solidFill>
            <a:prstDash val="solid"/>
          </a:ln>
        </p:spPr>
      </p:sp>
      <p:sp>
        <p:nvSpPr>
          <p:cNvPr id="8" name="Text 6"/>
          <p:cNvSpPr txBox="1"/>
          <p:nvPr/>
        </p:nvSpPr>
        <p:spPr>
          <a:xfrm>
            <a:off x="548640" y="2348992"/>
            <a:ext cx="2462784" cy="1001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Transaction</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A transaction is the unit of action in Bitcoin: a message telling the network that the owner of certain bitcoins has authorized the transfer of that value to another owner.</a:t>
            </a:r>
            <a:endParaRPr lang="en-US" sz="1300" dirty="0"/>
          </a:p>
        </p:txBody>
      </p:sp>
      <p:sp>
        <p:nvSpPr>
          <p:cNvPr id="9" name="Shape 7"/>
          <p:cNvSpPr/>
          <p:nvPr/>
        </p:nvSpPr>
        <p:spPr>
          <a:xfrm>
            <a:off x="3249168" y="2294128"/>
            <a:ext cx="2645664" cy="1111504"/>
          </a:xfrm>
          <a:prstGeom prst="roundRect">
            <a:avLst>
              <a:gd name="adj" fmla="val 6581"/>
            </a:avLst>
          </a:prstGeom>
          <a:solidFill>
            <a:srgbClr val="F4F2EE"/>
          </a:solidFill>
          <a:ln w="12700">
            <a:solidFill>
              <a:srgbClr val="D9D4CC"/>
            </a:solidFill>
            <a:prstDash val="solid"/>
          </a:ln>
        </p:spPr>
      </p:sp>
      <p:sp>
        <p:nvSpPr>
          <p:cNvPr id="10" name="Text 8"/>
          <p:cNvSpPr txBox="1"/>
          <p:nvPr/>
        </p:nvSpPr>
        <p:spPr>
          <a:xfrm>
            <a:off x="3340608" y="2348992"/>
            <a:ext cx="2462784" cy="1001776"/>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Network</a:t>
            </a:r>
            <a:endParaRPr lang="en-US" sz="1300" dirty="0"/>
          </a:p>
          <a:p>
            <a:pPr algn="ctr" indent="0" marL="0">
              <a:buNone/>
            </a:pPr>
            <a:r>
              <a:rPr lang="en-US" sz="950" dirty="0">
                <a:solidFill>
                  <a:srgbClr val="5B6B7B"/>
                </a:solidFill>
                <a:latin typeface="Calibri" pitchFamily="34" charset="0"/>
                <a:ea typeface="Calibri" pitchFamily="34" charset="-122"/>
                <a:cs typeface="Calibri" pitchFamily="34" charset="-120"/>
              </a:rPr>
              <a:t>The Bitcoin network is the set of computers that run the Bitcoin protocol and exchange transactions and blocks with one another.</a:t>
            </a:r>
            <a:endParaRPr lang="en-US" sz="1300" dirty="0"/>
          </a:p>
        </p:txBody>
      </p:sp>
      <p:sp>
        <p:nvSpPr>
          <p:cNvPr id="11" name="Shape 9"/>
          <p:cNvSpPr/>
          <p:nvPr/>
        </p:nvSpPr>
        <p:spPr>
          <a:xfrm>
            <a:off x="6041136" y="2294128"/>
            <a:ext cx="2645664" cy="1111504"/>
          </a:xfrm>
          <a:prstGeom prst="roundRect">
            <a:avLst>
              <a:gd name="adj" fmla="val 6581"/>
            </a:avLst>
          </a:prstGeom>
          <a:solidFill>
            <a:srgbClr val="F7931A"/>
          </a:solidFill>
          <a:ln w="12700">
            <a:solidFill>
              <a:srgbClr val="F7931A"/>
            </a:solidFill>
            <a:prstDash val="solid"/>
          </a:ln>
        </p:spPr>
      </p:sp>
      <p:sp>
        <p:nvSpPr>
          <p:cNvPr id="12" name="Text 10"/>
          <p:cNvSpPr txBox="1"/>
          <p:nvPr/>
        </p:nvSpPr>
        <p:spPr>
          <a:xfrm>
            <a:off x="6132576" y="2348992"/>
            <a:ext cx="2462784" cy="1001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Blockchain</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The blockchain is the record in which Bitcoin's transactions are finally written down.</a:t>
            </a:r>
            <a:endParaRPr lang="en-US" sz="1300" dirty="0"/>
          </a:p>
        </p:txBody>
      </p:sp>
      <p:sp>
        <p:nvSpPr>
          <p:cNvPr id="13" name="Shape 11"/>
          <p:cNvSpPr/>
          <p:nvPr/>
        </p:nvSpPr>
        <p:spPr>
          <a:xfrm>
            <a:off x="457200" y="3533648"/>
            <a:ext cx="2645664" cy="1111504"/>
          </a:xfrm>
          <a:prstGeom prst="roundRect">
            <a:avLst>
              <a:gd name="adj" fmla="val 6581"/>
            </a:avLst>
          </a:prstGeom>
          <a:solidFill>
            <a:srgbClr val="F4F2EE"/>
          </a:solidFill>
          <a:ln w="12700">
            <a:solidFill>
              <a:srgbClr val="D9D4CC"/>
            </a:solidFill>
            <a:prstDash val="solid"/>
          </a:ln>
        </p:spPr>
      </p:sp>
      <p:sp>
        <p:nvSpPr>
          <p:cNvPr id="14" name="Text 12"/>
          <p:cNvSpPr txBox="1"/>
          <p:nvPr/>
        </p:nvSpPr>
        <p:spPr>
          <a:xfrm>
            <a:off x="548640" y="3588512"/>
            <a:ext cx="2462784" cy="1001776"/>
          </a:xfrm>
          <a:prstGeom prst="rect">
            <a:avLst/>
          </a:prstGeom>
          <a:noFill/>
          <a:ln/>
        </p:spPr>
        <p:txBody>
          <a:bodyPr wrap="square" lIns="0" tIns="0" rIns="0" bIns="0" rtlCol="0" anchor="ctr"/>
          <a:lstStyle/>
          <a:p>
            <a:pPr algn="ctr" indent="0" marL="0">
              <a:buNone/>
            </a:pPr>
            <a:r>
              <a:rPr lang="en-US" sz="1300" b="1" dirty="0">
                <a:solidFill>
                  <a:srgbClr val="1B1F24"/>
                </a:solidFill>
                <a:latin typeface="Calibri" pitchFamily="34" charset="0"/>
                <a:ea typeface="Calibri" pitchFamily="34" charset="-122"/>
                <a:cs typeface="Calibri" pitchFamily="34" charset="-120"/>
              </a:rPr>
              <a:t>Semantics</a:t>
            </a:r>
            <a:endParaRPr lang="en-US" sz="1300" dirty="0"/>
          </a:p>
          <a:p>
            <a:pPr algn="ctr" indent="0" marL="0">
              <a:buNone/>
            </a:pPr>
            <a:r>
              <a:rPr lang="en-US" sz="950" dirty="0">
                <a:solidFill>
                  <a:srgbClr val="5B6B7B"/>
                </a:solidFill>
                <a:latin typeface="Calibri" pitchFamily="34" charset="0"/>
                <a:ea typeface="Calibri" pitchFamily="34" charset="-122"/>
                <a:cs typeface="Calibri" pitchFamily="34" charset="-120"/>
              </a:rPr>
              <a:t>This branch reads the chapter with the eyes of the course rather than of the book.</a:t>
            </a:r>
            <a:endParaRPr lang="en-US" sz="1300" dirty="0"/>
          </a:p>
        </p:txBody>
      </p:sp>
      <p:sp>
        <p:nvSpPr>
          <p:cNvPr id="15" name="Shape 13"/>
          <p:cNvSpPr/>
          <p:nvPr/>
        </p:nvSpPr>
        <p:spPr>
          <a:xfrm>
            <a:off x="3249168" y="3533648"/>
            <a:ext cx="2645664" cy="1111504"/>
          </a:xfrm>
          <a:prstGeom prst="roundRect">
            <a:avLst>
              <a:gd name="adj" fmla="val 6581"/>
            </a:avLst>
          </a:prstGeom>
          <a:solidFill>
            <a:srgbClr val="F7931A"/>
          </a:solidFill>
          <a:ln w="12700">
            <a:solidFill>
              <a:srgbClr val="F7931A"/>
            </a:solidFill>
            <a:prstDash val="solid"/>
          </a:ln>
        </p:spPr>
      </p:sp>
      <p:sp>
        <p:nvSpPr>
          <p:cNvPr id="16" name="Text 14"/>
          <p:cNvSpPr txBox="1"/>
          <p:nvPr/>
        </p:nvSpPr>
        <p:spPr>
          <a:xfrm>
            <a:off x="3340608" y="3588512"/>
            <a:ext cx="2462784" cy="1001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a:p>
            <a:pPr algn="ctr" indent="0" marL="0">
              <a:buNone/>
            </a:pPr>
            <a:r>
              <a:rPr lang="en-US" sz="950" dirty="0">
                <a:solidFill>
                  <a:srgbClr val="FFFFFF"/>
                </a:solidFill>
                <a:latin typeface="Calibri" pitchFamily="34" charset="0"/>
                <a:ea typeface="Calibri" pitchFamily="34" charset="-122"/>
                <a:cs typeface="Calibri" pitchFamily="34" charset="-120"/>
              </a:rPr>
              <a:t>The last branch of this chapter is about trying things out.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course outcome, four chapter objectives</a:t>
            </a:r>
            <a:endParaRPr lang="en-US" sz="1300" dirty="0"/>
          </a:p>
        </p:txBody>
      </p:sp>
      <p:sp>
        <p:nvSpPr>
          <p:cNvPr id="6" name="Shape 4"/>
          <p:cNvSpPr/>
          <p:nvPr/>
        </p:nvSpPr>
        <p:spPr>
          <a:xfrm>
            <a:off x="457200" y="1280160"/>
            <a:ext cx="822960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LO-2</a:t>
            </a:r>
            <a:endParaRPr lang="en-US" sz="1600" dirty="0"/>
          </a:p>
        </p:txBody>
      </p:sp>
      <p:sp>
        <p:nvSpPr>
          <p:cNvPr id="8" name="Text 6"/>
          <p:cNvSpPr txBox="1"/>
          <p:nvPr/>
        </p:nvSpPr>
        <p:spPr>
          <a:xfrm>
            <a:off x="640080" y="178308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Trace one payment from a wallet to a confirmed block - construction, signing, propagation, the mempool, the fee, mining, the block and its confirmations - and say what each step guarantees and what it does not.</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679192"/>
          <a:ext cx="8229600" cy="914400"/>
        </p:xfrm>
        <a:graphic>
          <a:graphicData uri="http://schemas.openxmlformats.org/drawingml/2006/table">
            <a:tbl>
              <a:tblPr/>
              <a:tblGrid>
                <a:gridCol w="731520"/>
                <a:gridCol w="6035040"/>
                <a:gridCol w="14630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Code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should be able to do after this session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4747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Trace a payment's inputs, outputs, change and implied fee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Apply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4747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CO2</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Explain how a transaction travels from wallet to network to block</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Understand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4747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CO3</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Compute, as the whitepaper does, how confirmations reduce the chance of reversal</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Apply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47472">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CO4</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Describe a transaction chain as a provenance graph in W3C PROV terms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Understand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chapter's own competency questions</a:t>
            </a:r>
            <a:endParaRPr lang="en-US" sz="1300" dirty="0"/>
          </a:p>
        </p:txBody>
      </p:sp>
      <p:sp>
        <p:nvSpPr>
          <p:cNvPr id="6" name="Shape 4"/>
          <p:cNvSpPr/>
          <p:nvPr/>
        </p:nvSpPr>
        <p:spPr>
          <a:xfrm>
            <a:off x="457200" y="1316736"/>
            <a:ext cx="402336" cy="402336"/>
          </a:xfrm>
          <a:prstGeom prst="ellipse">
            <a:avLst/>
          </a:prstGeom>
          <a:solidFill>
            <a:srgbClr val="F7931A"/>
          </a:solidFill>
          <a:ln w="12700">
            <a:solidFill>
              <a:srgbClr val="F7931A"/>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parts does a Bitcoin transaction consist of, what does each part contribute, and what are the values of each part in the real transaction that chapter 2 follows?</a:t>
            </a:r>
            <a:endParaRPr lang="en-US" sz="1400" dirty="0"/>
          </a:p>
        </p:txBody>
      </p:sp>
      <p:sp>
        <p:nvSpPr>
          <p:cNvPr id="9" name="Shape 7"/>
          <p:cNvSpPr/>
          <p:nvPr/>
        </p:nvSpPr>
        <p:spPr>
          <a:xfrm>
            <a:off x="457200" y="1938528"/>
            <a:ext cx="402336" cy="402336"/>
          </a:xfrm>
          <a:prstGeom prst="ellipse">
            <a:avLst/>
          </a:prstGeom>
          <a:solidFill>
            <a:srgbClr val="F7931A"/>
          </a:solidFill>
          <a:ln w="12700">
            <a:solidFill>
              <a:srgbClr val="F7931A"/>
            </a:solidFill>
            <a:prstDash val="solid"/>
          </a:ln>
        </p:spPr>
      </p:sp>
      <p:sp>
        <p:nvSpPr>
          <p:cNvPr id="10" name="Text 8"/>
          <p:cNvSpPr txBox="1"/>
          <p:nvPr/>
        </p:nvSpPr>
        <p:spPr>
          <a:xfrm>
            <a:off x="457200"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01952"/>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mathematical tools does a transaction rely on - hashing, key pairs, the elliptic curve, signatures, checksums - and what exactly does each of them guarantee and not guarantee?</a:t>
            </a:r>
            <a:endParaRPr lang="en-US" sz="1400" dirty="0"/>
          </a:p>
        </p:txBody>
      </p:sp>
      <p:sp>
        <p:nvSpPr>
          <p:cNvPr id="12" name="Shape 10"/>
          <p:cNvSpPr/>
          <p:nvPr/>
        </p:nvSpPr>
        <p:spPr>
          <a:xfrm>
            <a:off x="457200" y="2560320"/>
            <a:ext cx="402336" cy="402336"/>
          </a:xfrm>
          <a:prstGeom prst="ellipse">
            <a:avLst/>
          </a:prstGeom>
          <a:solidFill>
            <a:srgbClr val="F7931A"/>
          </a:solidFill>
          <a:ln w="12700">
            <a:solidFill>
              <a:srgbClr val="F7931A"/>
            </a:solidFill>
            <a:prstDash val="solid"/>
          </a:ln>
        </p:spPr>
      </p:sp>
      <p:sp>
        <p:nvSpPr>
          <p:cNvPr id="13" name="Text 11"/>
          <p:cNvSpPr txBox="1"/>
          <p:nvPr/>
        </p:nvSpPr>
        <p:spPr>
          <a:xfrm>
            <a:off x="457200"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3744"/>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How does a payment begin: what does the invoice of the chapter contain, which document defines its format, and what is the status of that document today?</a:t>
            </a:r>
            <a:endParaRPr lang="en-US" sz="1400" dirty="0"/>
          </a:p>
        </p:txBody>
      </p:sp>
      <p:sp>
        <p:nvSpPr>
          <p:cNvPr id="15" name="Shape 13"/>
          <p:cNvSpPr/>
          <p:nvPr/>
        </p:nvSpPr>
        <p:spPr>
          <a:xfrm>
            <a:off x="457200" y="3182112"/>
            <a:ext cx="402336" cy="402336"/>
          </a:xfrm>
          <a:prstGeom prst="ellipse">
            <a:avLst/>
          </a:prstGeom>
          <a:solidFill>
            <a:srgbClr val="F7931A"/>
          </a:solidFill>
          <a:ln w="12700">
            <a:solidFill>
              <a:srgbClr val="F7931A"/>
            </a:solidFill>
            <a:prstDash val="solid"/>
          </a:ln>
        </p:spPr>
      </p:sp>
      <p:sp>
        <p:nvSpPr>
          <p:cNvPr id="16" name="Text 14"/>
          <p:cNvSpPr txBox="1"/>
          <p:nvPr/>
        </p:nvSpPr>
        <p:spPr>
          <a:xfrm>
            <a:off x="457200" y="31821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45536"/>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How does a signed transaction reach the miners, who takes part in that journey, and how much of a payment can each kind of participant verify for itself?</a:t>
            </a:r>
            <a:endParaRPr lang="en-US" sz="1400" dirty="0"/>
          </a:p>
        </p:txBody>
      </p:sp>
      <p:sp>
        <p:nvSpPr>
          <p:cNvPr id="18" name="Shape 16"/>
          <p:cNvSpPr/>
          <p:nvPr/>
        </p:nvSpPr>
        <p:spPr>
          <a:xfrm>
            <a:off x="457200" y="3803904"/>
            <a:ext cx="402336" cy="402336"/>
          </a:xfrm>
          <a:prstGeom prst="ellipse">
            <a:avLst/>
          </a:prstGeom>
          <a:solidFill>
            <a:srgbClr val="F7931A"/>
          </a:solidFill>
          <a:ln w="12700">
            <a:solidFill>
              <a:srgbClr val="F7931A"/>
            </a:solidFill>
            <a:prstDash val="solid"/>
          </a:ln>
        </p:spPr>
      </p:sp>
      <p:sp>
        <p:nvSpPr>
          <p:cNvPr id="19" name="Text 17"/>
          <p:cNvSpPr txBox="1"/>
          <p:nvPr/>
        </p:nvSpPr>
        <p:spPr>
          <a:xfrm>
            <a:off x="457200" y="3803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67328"/>
            <a:ext cx="7662672" cy="58521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How is a transaction recorded: how is a block built, what makes it valid, how is the miner paid, and how are the numbers of the reward, the target and the hash rate obtained?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Transaction</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A transaction is the unit of action in Bitcoin: a message telling the network that the owner of certain bitcoins has authorized the transfer of that value to another owner.</a:t>
            </a:r>
            <a:endParaRPr lang="en-US" sz="1500" dirty="0"/>
          </a:p>
        </p:txBody>
      </p:sp>
      <p:sp>
        <p:nvSpPr>
          <p:cNvPr id="5" name="Shape 3"/>
          <p:cNvSpPr/>
          <p:nvPr/>
        </p:nvSpPr>
        <p:spPr>
          <a:xfrm>
            <a:off x="457200" y="2788920"/>
            <a:ext cx="1947672" cy="621792"/>
          </a:xfrm>
          <a:prstGeom prst="roundRect">
            <a:avLst>
              <a:gd name="adj" fmla="val 11765"/>
            </a:avLst>
          </a:prstGeom>
          <a:solidFill>
            <a:srgbClr val="3A4250"/>
          </a:solidFill>
          <a:ln w="12700">
            <a:solidFill>
              <a:srgbClr val="F7931A"/>
            </a:solidFill>
            <a:prstDash val="solid"/>
          </a:ln>
        </p:spPr>
      </p:sp>
      <p:sp>
        <p:nvSpPr>
          <p:cNvPr id="6" name="Text 4"/>
          <p:cNvSpPr txBox="1"/>
          <p:nvPr/>
        </p:nvSpPr>
        <p:spPr>
          <a:xfrm>
            <a:off x="530352" y="2834640"/>
            <a:ext cx="1801368"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Transaction part</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13 concepts</a:t>
            </a:r>
            <a:endParaRPr lang="en-US" sz="1200" dirty="0"/>
          </a:p>
        </p:txBody>
      </p:sp>
      <p:sp>
        <p:nvSpPr>
          <p:cNvPr id="7" name="Shape 5"/>
          <p:cNvSpPr/>
          <p:nvPr/>
        </p:nvSpPr>
        <p:spPr>
          <a:xfrm>
            <a:off x="2551176" y="2788920"/>
            <a:ext cx="1947672" cy="621792"/>
          </a:xfrm>
          <a:prstGeom prst="roundRect">
            <a:avLst>
              <a:gd name="adj" fmla="val 11765"/>
            </a:avLst>
          </a:prstGeom>
          <a:solidFill>
            <a:srgbClr val="3A4250"/>
          </a:solidFill>
          <a:ln w="12700">
            <a:solidFill>
              <a:srgbClr val="F7931A"/>
            </a:solidFill>
            <a:prstDash val="solid"/>
          </a:ln>
        </p:spPr>
      </p:sp>
      <p:sp>
        <p:nvSpPr>
          <p:cNvPr id="8" name="Text 6"/>
          <p:cNvSpPr txBox="1"/>
          <p:nvPr/>
        </p:nvSpPr>
        <p:spPr>
          <a:xfrm>
            <a:off x="2624328" y="2834640"/>
            <a:ext cx="1801368"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Cryptographic foundations</a:t>
            </a:r>
            <a:pPr algn="ctr" indent="0" marL="0">
              <a:buNone/>
            </a:pPr>
            <a:endParaRPr lang="en-US" sz="1200" dirty="0"/>
          </a:p>
        </p:txBody>
      </p:sp>
      <p:sp>
        <p:nvSpPr>
          <p:cNvPr id="9" name="Shape 7"/>
          <p:cNvSpPr/>
          <p:nvPr/>
        </p:nvSpPr>
        <p:spPr>
          <a:xfrm>
            <a:off x="4645152" y="2788920"/>
            <a:ext cx="1947672" cy="621792"/>
          </a:xfrm>
          <a:prstGeom prst="roundRect">
            <a:avLst>
              <a:gd name="adj" fmla="val 11765"/>
            </a:avLst>
          </a:prstGeom>
          <a:solidFill>
            <a:srgbClr val="3A4250"/>
          </a:solidFill>
          <a:ln w="12700">
            <a:solidFill>
              <a:srgbClr val="F7931A"/>
            </a:solidFill>
            <a:prstDash val="solid"/>
          </a:ln>
        </p:spPr>
      </p:sp>
      <p:sp>
        <p:nvSpPr>
          <p:cNvPr id="10" name="Text 8"/>
          <p:cNvSpPr txBox="1"/>
          <p:nvPr/>
        </p:nvSpPr>
        <p:spPr>
          <a:xfrm>
            <a:off x="4718304" y="2834640"/>
            <a:ext cx="1801368"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Linkage</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3 concepts</a:t>
            </a:r>
            <a:endParaRPr lang="en-US" sz="1200" dirty="0"/>
          </a:p>
        </p:txBody>
      </p:sp>
      <p:sp>
        <p:nvSpPr>
          <p:cNvPr id="11" name="Shape 9"/>
          <p:cNvSpPr/>
          <p:nvPr/>
        </p:nvSpPr>
        <p:spPr>
          <a:xfrm>
            <a:off x="6739128" y="2788920"/>
            <a:ext cx="1947672" cy="621792"/>
          </a:xfrm>
          <a:prstGeom prst="roundRect">
            <a:avLst>
              <a:gd name="adj" fmla="val 11765"/>
            </a:avLst>
          </a:prstGeom>
          <a:solidFill>
            <a:srgbClr val="3A4250"/>
          </a:solidFill>
          <a:ln w="12700">
            <a:solidFill>
              <a:srgbClr val="F7931A"/>
            </a:solidFill>
            <a:prstDash val="solid"/>
          </a:ln>
        </p:spPr>
      </p:sp>
      <p:sp>
        <p:nvSpPr>
          <p:cNvPr id="12" name="Text 10"/>
          <p:cNvSpPr txBox="1"/>
          <p:nvPr/>
        </p:nvSpPr>
        <p:spPr>
          <a:xfrm>
            <a:off x="6812280" y="2834640"/>
            <a:ext cx="1801368"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Form</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3 concepts</a:t>
            </a:r>
            <a:endParaRPr lang="en-US" sz="1200" dirty="0"/>
          </a:p>
        </p:txBody>
      </p:sp>
      <p:sp>
        <p:nvSpPr>
          <p:cNvPr id="13" name="Shape 11"/>
          <p:cNvSpPr/>
          <p:nvPr/>
        </p:nvSpPr>
        <p:spPr>
          <a:xfrm>
            <a:off x="457200" y="3538728"/>
            <a:ext cx="1947672" cy="621792"/>
          </a:xfrm>
          <a:prstGeom prst="roundRect">
            <a:avLst>
              <a:gd name="adj" fmla="val 11765"/>
            </a:avLst>
          </a:prstGeom>
          <a:solidFill>
            <a:srgbClr val="3A4250"/>
          </a:solidFill>
          <a:ln w="12700">
            <a:solidFill>
              <a:srgbClr val="F7931A"/>
            </a:solidFill>
            <a:prstDash val="solid"/>
          </a:ln>
        </p:spPr>
      </p:sp>
      <p:sp>
        <p:nvSpPr>
          <p:cNvPr id="14" name="Text 12"/>
          <p:cNvSpPr txBox="1"/>
          <p:nvPr/>
        </p:nvSpPr>
        <p:spPr>
          <a:xfrm>
            <a:off x="530352" y="3584448"/>
            <a:ext cx="1801368"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Unit</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1 concepts</a:t>
            </a:r>
            <a:endParaRPr lang="en-US" sz="1200" dirty="0"/>
          </a:p>
        </p:txBody>
      </p:sp>
      <p:sp>
        <p:nvSpPr>
          <p:cNvPr id="15" name="Shape 13"/>
          <p:cNvSpPr/>
          <p:nvPr/>
        </p:nvSpPr>
        <p:spPr>
          <a:xfrm>
            <a:off x="2551176" y="3538728"/>
            <a:ext cx="1947672" cy="621792"/>
          </a:xfrm>
          <a:prstGeom prst="roundRect">
            <a:avLst>
              <a:gd name="adj" fmla="val 11765"/>
            </a:avLst>
          </a:prstGeom>
          <a:solidFill>
            <a:srgbClr val="3A4250"/>
          </a:solidFill>
          <a:ln w="12700">
            <a:solidFill>
              <a:srgbClr val="F7931A"/>
            </a:solidFill>
            <a:prstDash val="solid"/>
          </a:ln>
        </p:spPr>
      </p:sp>
      <p:sp>
        <p:nvSpPr>
          <p:cNvPr id="16" name="Text 14"/>
          <p:cNvSpPr txBox="1"/>
          <p:nvPr/>
        </p:nvSpPr>
        <p:spPr>
          <a:xfrm>
            <a:off x="2624328" y="3584448"/>
            <a:ext cx="1801368"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Payment request</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6 concepts</a:t>
            </a:r>
            <a:endParaRPr lang="en-US" sz="1200" dirty="0"/>
          </a:p>
        </p:txBody>
      </p:sp>
      <p:sp>
        <p:nvSpPr>
          <p:cNvPr id="17" name="Shape 15"/>
          <p:cNvSpPr/>
          <p:nvPr/>
        </p:nvSpPr>
        <p:spPr>
          <a:xfrm>
            <a:off x="4645152" y="3538728"/>
            <a:ext cx="1947672" cy="621792"/>
          </a:xfrm>
          <a:prstGeom prst="roundRect">
            <a:avLst>
              <a:gd name="adj" fmla="val 11765"/>
            </a:avLst>
          </a:prstGeom>
          <a:solidFill>
            <a:srgbClr val="3A4250"/>
          </a:solidFill>
          <a:ln w="12700">
            <a:solidFill>
              <a:srgbClr val="F7931A"/>
            </a:solidFill>
            <a:prstDash val="solid"/>
          </a:ln>
        </p:spPr>
      </p:sp>
      <p:sp>
        <p:nvSpPr>
          <p:cNvPr id="18" name="Text 16"/>
          <p:cNvSpPr txBox="1"/>
          <p:nvPr/>
        </p:nvSpPr>
        <p:spPr>
          <a:xfrm>
            <a:off x="4718304" y="3584448"/>
            <a:ext cx="1801368"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Construction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2 concepts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Transaction part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Transaction - 13 concepts</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transaction part is one of the pieces a transaction is assembled from.</a:t>
            </a:r>
            <a:endParaRPr lang="en-US" sz="1300" dirty="0"/>
          </a:p>
        </p:txBody>
      </p:sp>
      <p:sp>
        <p:nvSpPr>
          <p:cNvPr id="9" name="Shape 7"/>
          <p:cNvSpPr/>
          <p:nvPr/>
        </p:nvSpPr>
        <p:spPr>
          <a:xfrm>
            <a:off x="457200" y="2322830"/>
            <a:ext cx="1947672" cy="502666"/>
          </a:xfrm>
          <a:prstGeom prst="roundRect">
            <a:avLst>
              <a:gd name="adj" fmla="val 14553"/>
            </a:avLst>
          </a:prstGeom>
          <a:solidFill>
            <a:srgbClr val="F4F2EE"/>
          </a:solidFill>
          <a:ln w="12700">
            <a:solidFill>
              <a:srgbClr val="D9D4CC"/>
            </a:solidFill>
            <a:prstDash val="solid"/>
          </a:ln>
        </p:spPr>
      </p:sp>
      <p:sp>
        <p:nvSpPr>
          <p:cNvPr id="10" name="Text 8"/>
          <p:cNvSpPr txBox="1"/>
          <p:nvPr/>
        </p:nvSpPr>
        <p:spPr>
          <a:xfrm>
            <a:off x="548640" y="2377694"/>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Double-entry ledger</a:t>
            </a:r>
            <a:endParaRPr lang="en-US" sz="1150" dirty="0"/>
          </a:p>
        </p:txBody>
      </p:sp>
      <p:sp>
        <p:nvSpPr>
          <p:cNvPr id="11" name="Shape 9"/>
          <p:cNvSpPr/>
          <p:nvPr/>
        </p:nvSpPr>
        <p:spPr>
          <a:xfrm>
            <a:off x="2551176" y="2322830"/>
            <a:ext cx="1947672" cy="502666"/>
          </a:xfrm>
          <a:prstGeom prst="roundRect">
            <a:avLst>
              <a:gd name="adj" fmla="val 14553"/>
            </a:avLst>
          </a:prstGeom>
          <a:solidFill>
            <a:srgbClr val="F4F2EE"/>
          </a:solidFill>
          <a:ln w="12700">
            <a:solidFill>
              <a:srgbClr val="D9D4CC"/>
            </a:solidFill>
            <a:prstDash val="solid"/>
          </a:ln>
        </p:spPr>
      </p:sp>
      <p:sp>
        <p:nvSpPr>
          <p:cNvPr id="12" name="Text 10"/>
          <p:cNvSpPr txBox="1"/>
          <p:nvPr/>
        </p:nvSpPr>
        <p:spPr>
          <a:xfrm>
            <a:off x="2642616" y="2377694"/>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Input</a:t>
            </a:r>
            <a:endParaRPr lang="en-US" sz="1150" dirty="0"/>
          </a:p>
        </p:txBody>
      </p:sp>
      <p:sp>
        <p:nvSpPr>
          <p:cNvPr id="13" name="Shape 11"/>
          <p:cNvSpPr/>
          <p:nvPr/>
        </p:nvSpPr>
        <p:spPr>
          <a:xfrm>
            <a:off x="4645152" y="2322830"/>
            <a:ext cx="1947672" cy="502666"/>
          </a:xfrm>
          <a:prstGeom prst="roundRect">
            <a:avLst>
              <a:gd name="adj" fmla="val 14553"/>
            </a:avLst>
          </a:prstGeom>
          <a:solidFill>
            <a:srgbClr val="F4F2EE"/>
          </a:solidFill>
          <a:ln w="12700">
            <a:solidFill>
              <a:srgbClr val="D9D4CC"/>
            </a:solidFill>
            <a:prstDash val="solid"/>
          </a:ln>
        </p:spPr>
      </p:sp>
      <p:sp>
        <p:nvSpPr>
          <p:cNvPr id="14" name="Text 12"/>
          <p:cNvSpPr txBox="1"/>
          <p:nvPr/>
        </p:nvSpPr>
        <p:spPr>
          <a:xfrm>
            <a:off x="4736592" y="2377694"/>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Output</a:t>
            </a:r>
            <a:endParaRPr lang="en-US" sz="1150" dirty="0"/>
          </a:p>
        </p:txBody>
      </p:sp>
      <p:sp>
        <p:nvSpPr>
          <p:cNvPr id="15" name="Shape 13"/>
          <p:cNvSpPr/>
          <p:nvPr/>
        </p:nvSpPr>
        <p:spPr>
          <a:xfrm>
            <a:off x="6739128" y="2322830"/>
            <a:ext cx="1947672" cy="502666"/>
          </a:xfrm>
          <a:prstGeom prst="roundRect">
            <a:avLst>
              <a:gd name="adj" fmla="val 14553"/>
            </a:avLst>
          </a:prstGeom>
          <a:solidFill>
            <a:srgbClr val="F4F2EE"/>
          </a:solidFill>
          <a:ln w="12700">
            <a:solidFill>
              <a:srgbClr val="D9D4CC"/>
            </a:solidFill>
            <a:prstDash val="solid"/>
          </a:ln>
        </p:spPr>
      </p:sp>
      <p:sp>
        <p:nvSpPr>
          <p:cNvPr id="16" name="Text 14"/>
          <p:cNvSpPr txBox="1"/>
          <p:nvPr/>
        </p:nvSpPr>
        <p:spPr>
          <a:xfrm>
            <a:off x="6830568" y="2377694"/>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Transaction fee</a:t>
            </a:r>
            <a:endParaRPr lang="en-US" sz="1150" dirty="0"/>
          </a:p>
        </p:txBody>
      </p:sp>
      <p:sp>
        <p:nvSpPr>
          <p:cNvPr id="17" name="Shape 15"/>
          <p:cNvSpPr/>
          <p:nvPr/>
        </p:nvSpPr>
        <p:spPr>
          <a:xfrm>
            <a:off x="457200" y="2953512"/>
            <a:ext cx="1947672" cy="502666"/>
          </a:xfrm>
          <a:prstGeom prst="roundRect">
            <a:avLst>
              <a:gd name="adj" fmla="val 14553"/>
            </a:avLst>
          </a:prstGeom>
          <a:solidFill>
            <a:srgbClr val="F4F2EE"/>
          </a:solidFill>
          <a:ln w="12700">
            <a:solidFill>
              <a:srgbClr val="D9D4CC"/>
            </a:solidFill>
            <a:prstDash val="solid"/>
          </a:ln>
        </p:spPr>
      </p:sp>
      <p:sp>
        <p:nvSpPr>
          <p:cNvPr id="18" name="Text 16"/>
          <p:cNvSpPr txBox="1"/>
          <p:nvPr/>
        </p:nvSpPr>
        <p:spPr>
          <a:xfrm>
            <a:off x="548640" y="3008376"/>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Transaction size</a:t>
            </a:r>
            <a:endParaRPr lang="en-US" sz="1150" dirty="0"/>
          </a:p>
        </p:txBody>
      </p:sp>
      <p:sp>
        <p:nvSpPr>
          <p:cNvPr id="19" name="Shape 17"/>
          <p:cNvSpPr/>
          <p:nvPr/>
        </p:nvSpPr>
        <p:spPr>
          <a:xfrm>
            <a:off x="2551176" y="2953512"/>
            <a:ext cx="1947672" cy="502666"/>
          </a:xfrm>
          <a:prstGeom prst="roundRect">
            <a:avLst>
              <a:gd name="adj" fmla="val 14553"/>
            </a:avLst>
          </a:prstGeom>
          <a:solidFill>
            <a:srgbClr val="F4F2EE"/>
          </a:solidFill>
          <a:ln w="12700">
            <a:solidFill>
              <a:srgbClr val="D9D4CC"/>
            </a:solidFill>
            <a:prstDash val="solid"/>
          </a:ln>
        </p:spPr>
      </p:sp>
      <p:sp>
        <p:nvSpPr>
          <p:cNvPr id="20" name="Text 18"/>
          <p:cNvSpPr txBox="1"/>
          <p:nvPr/>
        </p:nvSpPr>
        <p:spPr>
          <a:xfrm>
            <a:off x="2642616" y="3008376"/>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Fee rate</a:t>
            </a:r>
            <a:endParaRPr lang="en-US" sz="1150" dirty="0"/>
          </a:p>
        </p:txBody>
      </p:sp>
      <p:sp>
        <p:nvSpPr>
          <p:cNvPr id="21" name="Shape 19"/>
          <p:cNvSpPr/>
          <p:nvPr/>
        </p:nvSpPr>
        <p:spPr>
          <a:xfrm>
            <a:off x="4645152" y="2953512"/>
            <a:ext cx="1947672" cy="502666"/>
          </a:xfrm>
          <a:prstGeom prst="roundRect">
            <a:avLst>
              <a:gd name="adj" fmla="val 14553"/>
            </a:avLst>
          </a:prstGeom>
          <a:solidFill>
            <a:srgbClr val="F4F2EE"/>
          </a:solidFill>
          <a:ln w="12700">
            <a:solidFill>
              <a:srgbClr val="D9D4CC"/>
            </a:solidFill>
            <a:prstDash val="solid"/>
          </a:ln>
        </p:spPr>
      </p:sp>
      <p:sp>
        <p:nvSpPr>
          <p:cNvPr id="22" name="Text 20"/>
          <p:cNvSpPr txBox="1"/>
          <p:nvPr/>
        </p:nvSpPr>
        <p:spPr>
          <a:xfrm>
            <a:off x="4736592" y="3008376"/>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Unspent transaction output</a:t>
            </a:r>
            <a:endParaRPr lang="en-US" sz="1150" dirty="0"/>
          </a:p>
        </p:txBody>
      </p:sp>
      <p:sp>
        <p:nvSpPr>
          <p:cNvPr id="23" name="Shape 21"/>
          <p:cNvSpPr/>
          <p:nvPr/>
        </p:nvSpPr>
        <p:spPr>
          <a:xfrm>
            <a:off x="6739128" y="2953512"/>
            <a:ext cx="1947672" cy="502666"/>
          </a:xfrm>
          <a:prstGeom prst="roundRect">
            <a:avLst>
              <a:gd name="adj" fmla="val 14553"/>
            </a:avLst>
          </a:prstGeom>
          <a:solidFill>
            <a:srgbClr val="F4F2EE"/>
          </a:solidFill>
          <a:ln w="12700">
            <a:solidFill>
              <a:srgbClr val="D9D4CC"/>
            </a:solidFill>
            <a:prstDash val="solid"/>
          </a:ln>
        </p:spPr>
      </p:sp>
      <p:sp>
        <p:nvSpPr>
          <p:cNvPr id="24" name="Text 22"/>
          <p:cNvSpPr txBox="1"/>
          <p:nvPr/>
        </p:nvSpPr>
        <p:spPr>
          <a:xfrm>
            <a:off x="6830568" y="3008376"/>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Transaction identifier</a:t>
            </a:r>
            <a:endParaRPr lang="en-US" sz="1150" dirty="0"/>
          </a:p>
        </p:txBody>
      </p:sp>
      <p:sp>
        <p:nvSpPr>
          <p:cNvPr id="25" name="Shape 23"/>
          <p:cNvSpPr/>
          <p:nvPr/>
        </p:nvSpPr>
        <p:spPr>
          <a:xfrm>
            <a:off x="457200" y="3584194"/>
            <a:ext cx="1947672" cy="502666"/>
          </a:xfrm>
          <a:prstGeom prst="roundRect">
            <a:avLst>
              <a:gd name="adj" fmla="val 14553"/>
            </a:avLst>
          </a:prstGeom>
          <a:solidFill>
            <a:srgbClr val="F4F2EE"/>
          </a:solidFill>
          <a:ln w="12700">
            <a:solidFill>
              <a:srgbClr val="D9D4CC"/>
            </a:solidFill>
            <a:prstDash val="solid"/>
          </a:ln>
        </p:spPr>
      </p:sp>
      <p:sp>
        <p:nvSpPr>
          <p:cNvPr id="26" name="Text 24"/>
          <p:cNvSpPr txBox="1"/>
          <p:nvPr/>
        </p:nvSpPr>
        <p:spPr>
          <a:xfrm>
            <a:off x="548640" y="3639058"/>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Script</a:t>
            </a:r>
            <a:endParaRPr lang="en-US" sz="1150" dirty="0"/>
          </a:p>
        </p:txBody>
      </p:sp>
      <p:sp>
        <p:nvSpPr>
          <p:cNvPr id="27" name="Shape 25"/>
          <p:cNvSpPr/>
          <p:nvPr/>
        </p:nvSpPr>
        <p:spPr>
          <a:xfrm>
            <a:off x="2551176" y="3584194"/>
            <a:ext cx="1947672" cy="502666"/>
          </a:xfrm>
          <a:prstGeom prst="roundRect">
            <a:avLst>
              <a:gd name="adj" fmla="val 14553"/>
            </a:avLst>
          </a:prstGeom>
          <a:solidFill>
            <a:srgbClr val="F4F2EE"/>
          </a:solidFill>
          <a:ln w="12700">
            <a:solidFill>
              <a:srgbClr val="D9D4CC"/>
            </a:solidFill>
            <a:prstDash val="solid"/>
          </a:ln>
        </p:spPr>
      </p:sp>
      <p:sp>
        <p:nvSpPr>
          <p:cNvPr id="28" name="Text 26"/>
          <p:cNvSpPr txBox="1"/>
          <p:nvPr/>
        </p:nvSpPr>
        <p:spPr>
          <a:xfrm>
            <a:off x="2642616" y="3639058"/>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Serialization</a:t>
            </a:r>
            <a:endParaRPr lang="en-US" sz="1150" dirty="0"/>
          </a:p>
        </p:txBody>
      </p:sp>
      <p:sp>
        <p:nvSpPr>
          <p:cNvPr id="29" name="Shape 27"/>
          <p:cNvSpPr/>
          <p:nvPr/>
        </p:nvSpPr>
        <p:spPr>
          <a:xfrm>
            <a:off x="4645152" y="3584194"/>
            <a:ext cx="1947672" cy="502666"/>
          </a:xfrm>
          <a:prstGeom prst="roundRect">
            <a:avLst>
              <a:gd name="adj" fmla="val 14553"/>
            </a:avLst>
          </a:prstGeom>
          <a:solidFill>
            <a:srgbClr val="F4F2EE"/>
          </a:solidFill>
          <a:ln w="12700">
            <a:solidFill>
              <a:srgbClr val="D9D4CC"/>
            </a:solidFill>
            <a:prstDash val="solid"/>
          </a:ln>
        </p:spPr>
      </p:sp>
      <p:sp>
        <p:nvSpPr>
          <p:cNvPr id="30" name="Text 28"/>
          <p:cNvSpPr txBox="1"/>
          <p:nvPr/>
        </p:nvSpPr>
        <p:spPr>
          <a:xfrm>
            <a:off x="4736592" y="3639058"/>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Byte order</a:t>
            </a:r>
            <a:endParaRPr lang="en-US" sz="1150" dirty="0"/>
          </a:p>
        </p:txBody>
      </p:sp>
      <p:sp>
        <p:nvSpPr>
          <p:cNvPr id="31" name="Shape 29"/>
          <p:cNvSpPr/>
          <p:nvPr/>
        </p:nvSpPr>
        <p:spPr>
          <a:xfrm>
            <a:off x="6739128" y="3584194"/>
            <a:ext cx="1947672" cy="502666"/>
          </a:xfrm>
          <a:prstGeom prst="roundRect">
            <a:avLst>
              <a:gd name="adj" fmla="val 14553"/>
            </a:avLst>
          </a:prstGeom>
          <a:solidFill>
            <a:srgbClr val="F4F2EE"/>
          </a:solidFill>
          <a:ln w="12700">
            <a:solidFill>
              <a:srgbClr val="D9D4CC"/>
            </a:solidFill>
            <a:prstDash val="solid"/>
          </a:ln>
        </p:spPr>
      </p:sp>
      <p:sp>
        <p:nvSpPr>
          <p:cNvPr id="32" name="Text 30"/>
          <p:cNvSpPr txBox="1"/>
          <p:nvPr/>
        </p:nvSpPr>
        <p:spPr>
          <a:xfrm>
            <a:off x="6830568" y="3639058"/>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Outpoint</a:t>
            </a:r>
            <a:endParaRPr lang="en-US" sz="1150" dirty="0"/>
          </a:p>
        </p:txBody>
      </p:sp>
      <p:sp>
        <p:nvSpPr>
          <p:cNvPr id="33" name="Shape 31"/>
          <p:cNvSpPr/>
          <p:nvPr/>
        </p:nvSpPr>
        <p:spPr>
          <a:xfrm>
            <a:off x="457200" y="4214876"/>
            <a:ext cx="1947672" cy="502666"/>
          </a:xfrm>
          <a:prstGeom prst="roundRect">
            <a:avLst>
              <a:gd name="adj" fmla="val 14553"/>
            </a:avLst>
          </a:prstGeom>
          <a:solidFill>
            <a:srgbClr val="F4F2EE"/>
          </a:solidFill>
          <a:ln w="12700">
            <a:solidFill>
              <a:srgbClr val="D9D4CC"/>
            </a:solidFill>
            <a:prstDash val="solid"/>
          </a:ln>
        </p:spPr>
      </p:sp>
      <p:sp>
        <p:nvSpPr>
          <p:cNvPr id="34" name="Text 32"/>
          <p:cNvSpPr txBox="1"/>
          <p:nvPr/>
        </p:nvSpPr>
        <p:spPr>
          <a:xfrm>
            <a:off x="548640" y="4269740"/>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Witness</a:t>
            </a:r>
            <a:endParaRPr lang="en-US" sz="1150" dirty="0"/>
          </a:p>
        </p:txBody>
      </p:sp>
      <p:sp>
        <p:nvSpPr>
          <p:cNvPr id="35" name="Text 3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concepts of this group are taken in the order in which a transaction is read: the double-entry ledger, which supplies the bookkeeping picture that holds the parts together, then the input, the output, the fee…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Double-entry ledger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inputs balance outputs plus fee</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ledger is a book of record in which each movement of value is written down as an entry, and double-entry bookkeeping is the practice of recording every movement from two sides: what leaves one account and what arrives in another. The chapter uses this picture directly.</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sum([75000, 20000, 5000]) == 100000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True</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4203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6090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4495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In an ordinary ledger the two sides of an entry balance exactly.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Input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earlier output being spent</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input is the part of a transaction that spends funds. It does not contain coins; it points to an earlier transaction's output, and it carries the proof that the person spending is entitled to do so.</a:t>
            </a:r>
            <a:endParaRPr lang="en-US" sz="1300" dirty="0"/>
          </a:p>
        </p:txBody>
      </p:sp>
      <p:sp>
        <p:nvSpPr>
          <p:cNvPr id="9" name="Shape 7"/>
          <p:cNvSpPr/>
          <p:nvPr/>
        </p:nvSpPr>
        <p:spPr>
          <a:xfrm>
            <a:off x="457200" y="2725674"/>
            <a:ext cx="8229600" cy="547624"/>
          </a:xfrm>
          <a:prstGeom prst="roundRect">
            <a:avLst>
              <a:gd name="adj" fmla="val 16698"/>
            </a:avLst>
          </a:prstGeom>
          <a:solidFill>
            <a:srgbClr val="15191E"/>
          </a:solidFill>
          <a:ln w="12700">
            <a:solidFill>
              <a:srgbClr val="15191E"/>
            </a:solidFill>
            <a:prstDash val="solid"/>
          </a:ln>
        </p:spPr>
      </p:sp>
      <p:sp>
        <p:nvSpPr>
          <p:cNvPr id="10" name="Text 8"/>
          <p:cNvSpPr txBox="1"/>
          <p:nvPr/>
        </p:nvSpPr>
        <p:spPr>
          <a:xfrm>
            <a:off x="640080" y="2844546"/>
            <a:ext cx="7863840" cy="30988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bytes.fromhex('eb3ae38f27191aa5f3850dc9cad00492b88b72404f9da135698679268041c54a')[::-1].hex()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'4ac541802679866935a19d4f40728bb89204d0cac90d85f3a51a19278fe33aeb'</a:t>
            </a:r>
            <a:endParaRPr lang="en-US" sz="1000" dirty="0"/>
          </a:p>
        </p:txBody>
      </p:sp>
      <p:sp>
        <p:nvSpPr>
          <p:cNvPr id="11" name="Text 9"/>
          <p:cNvSpPr txBox="1"/>
          <p:nvPr/>
        </p:nvSpPr>
        <p:spPr>
          <a:xfrm>
            <a:off x="457200" y="329158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1104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2991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1396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book's chapter on transactions calls the reference that an input contains an outpoint.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Output and Transaction fee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624584"/>
          </a:xfrm>
          <a:prstGeom prst="roundRect">
            <a:avLst>
              <a:gd name="adj" fmla="val 562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Output</a:t>
            </a:r>
            <a:endParaRPr lang="en-US" sz="1600" dirty="0"/>
          </a:p>
        </p:txBody>
      </p:sp>
      <p:sp>
        <p:nvSpPr>
          <p:cNvPr id="8" name="Text 6"/>
          <p:cNvSpPr txBox="1"/>
          <p:nvPr/>
        </p:nvSpPr>
        <p:spPr>
          <a:xfrm>
            <a:off x="64008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output is the part of a transaction that receives funds. It consists of an amount, counted in satoshis, and a script, the condition that must be satisfied to spend that amount later.</a:t>
            </a:r>
            <a:endParaRPr lang="en-US" sz="1200" dirty="0"/>
          </a:p>
        </p:txBody>
      </p:sp>
      <p:sp>
        <p:nvSpPr>
          <p:cNvPr id="9" name="Shape 7"/>
          <p:cNvSpPr/>
          <p:nvPr/>
        </p:nvSpPr>
        <p:spPr>
          <a:xfrm>
            <a:off x="457200" y="3014472"/>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3133344"/>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sum([75000, 20000])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95000</a:t>
            </a:r>
            <a:endParaRPr lang="en-US" sz="1050" dirty="0"/>
          </a:p>
        </p:txBody>
      </p:sp>
      <p:sp>
        <p:nvSpPr>
          <p:cNvPr id="11" name="Text 9"/>
          <p:cNvSpPr txBox="1"/>
          <p:nvPr/>
        </p:nvSpPr>
        <p:spPr>
          <a:xfrm>
            <a:off x="457200" y="359587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51910"/>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transaction can have several outputs, and they are numbered from zero in the order in which they appear, which is what the second half of an outpoint refers to.</a:t>
            </a:r>
            <a:endParaRPr lang="en-US" sz="1100" dirty="0"/>
          </a:p>
        </p:txBody>
      </p:sp>
      <p:sp>
        <p:nvSpPr>
          <p:cNvPr id="13" name="Shape 11"/>
          <p:cNvSpPr/>
          <p:nvPr/>
        </p:nvSpPr>
        <p:spPr>
          <a:xfrm>
            <a:off x="4709160" y="1280160"/>
            <a:ext cx="3977640" cy="1438656"/>
          </a:xfrm>
          <a:prstGeom prst="roundRect">
            <a:avLst>
              <a:gd name="adj" fmla="val 6356"/>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Transaction fee</a:t>
            </a:r>
            <a:endParaRPr lang="en-US" sz="1600" dirty="0"/>
          </a:p>
        </p:txBody>
      </p:sp>
      <p:sp>
        <p:nvSpPr>
          <p:cNvPr id="15" name="Text 13"/>
          <p:cNvSpPr txBox="1"/>
          <p:nvPr/>
        </p:nvSpPr>
        <p:spPr>
          <a:xfrm>
            <a:off x="489204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transaction fee is a small payment to the miner who includes a transaction in a block. It is never written in the transaction as a separate number.</a:t>
            </a:r>
            <a:endParaRPr lang="en-US" sz="1200" dirty="0"/>
          </a:p>
        </p:txBody>
      </p:sp>
      <p:sp>
        <p:nvSpPr>
          <p:cNvPr id="16" name="Shape 14"/>
          <p:cNvSpPr/>
          <p:nvPr/>
        </p:nvSpPr>
        <p:spPr>
          <a:xfrm>
            <a:off x="4709160" y="2828544"/>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2947416"/>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100000 - sum([75000, 20000])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5000</a:t>
            </a:r>
            <a:endParaRPr lang="en-US" sz="1050" dirty="0"/>
          </a:p>
        </p:txBody>
      </p:sp>
      <p:sp>
        <p:nvSpPr>
          <p:cNvPr id="18" name="Text 16"/>
          <p:cNvSpPr txBox="1"/>
          <p:nvPr/>
        </p:nvSpPr>
        <p:spPr>
          <a:xfrm>
            <a:off x="4709160" y="3409950"/>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665982"/>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For Alice's payment the arithmetic is simple. Her input is Tx1's output of 100000 satoshis, the two outputs total 95000 satoshis, and so 100000 - sum([75000, 20000]) evaluates to 5000: the fee is 5000 satoshis.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Transaction size and Fee rate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Transaction size</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size of a transaction is the room that it takes up in a block. Because every block can hold only a limited amount of transaction data, software needs a measure for it.</a:t>
            </a:r>
            <a:endParaRPr lang="en-US" sz="1200" dirty="0"/>
          </a:p>
        </p:txBody>
      </p:sp>
      <p:sp>
        <p:nvSpPr>
          <p:cNvPr id="9" name="Shape 7"/>
          <p:cNvSpPr/>
          <p:nvPr/>
        </p:nvSpPr>
        <p:spPr>
          <a:xfrm>
            <a:off x="457200" y="2828544"/>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2947416"/>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(569 + 3) // 4</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143</a:t>
            </a:r>
            <a:endParaRPr lang="en-US" sz="1050" dirty="0"/>
          </a:p>
        </p:txBody>
      </p:sp>
      <p:sp>
        <p:nvSpPr>
          <p:cNvPr id="11" name="Text 9"/>
          <p:cNvSpPr txBox="1"/>
          <p:nvPr/>
        </p:nvSpPr>
        <p:spPr>
          <a:xfrm>
            <a:off x="457200" y="3409950"/>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665982"/>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weight of a transaction is the sum of the weights of its fields, each field's serialized size in bytes being multiplied by a factor (Antonopoulos and Harding, 2023).</a:t>
            </a:r>
            <a:endParaRPr lang="en-US" sz="1100" dirty="0"/>
          </a:p>
        </p:txBody>
      </p:sp>
      <p:sp>
        <p:nvSpPr>
          <p:cNvPr id="13" name="Shape 11"/>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Fee rate</a:t>
            </a:r>
            <a:endParaRPr lang="en-US" sz="1600" dirty="0"/>
          </a:p>
        </p:txBody>
      </p:sp>
      <p:sp>
        <p:nvSpPr>
          <p:cNvPr id="15" name="Text 13"/>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fee rate is the fee a transaction pays for each unit of the space it takes in a block.</a:t>
            </a:r>
            <a:endParaRPr lang="en-US" sz="1200" dirty="0"/>
          </a:p>
        </p:txBody>
      </p:sp>
      <p:sp>
        <p:nvSpPr>
          <p:cNvPr id="16" name="Shape 14"/>
          <p:cNvSpPr/>
          <p:nvPr/>
        </p:nvSpPr>
        <p:spPr>
          <a:xfrm>
            <a:off x="4709160" y="2456688"/>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2575560"/>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round(5000 / 143, 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34.97</a:t>
            </a:r>
            <a:endParaRPr lang="en-US" sz="1050" dirty="0"/>
          </a:p>
        </p:txBody>
      </p:sp>
      <p:sp>
        <p:nvSpPr>
          <p:cNvPr id="18" name="Text 16"/>
          <p:cNvSpPr txBox="1"/>
          <p:nvPr/>
        </p:nvSpPr>
        <p:spPr>
          <a:xfrm>
            <a:off x="4709160" y="303809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294126"/>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calculation is a plain division. Alice's payment paid 5000 satoshis and takes up 143 virtual bytes, so its fee rate is 5000 / 143, which rounds to 34.97 satoshis per virtual byte.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Unspent transaction output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an output nobody has spent</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unspent transaction output, abbreviated UTXO, is a transaction output that has not yet been used as an input by any later transaction. The glossary defines it as an unspent transaction output that can be spent as an input in a new transaction (Antonopoulos and Harding, 2023). A wallet's bitcoins are, in this sense, nothing other than the unspent outputs it can unlock.</a:t>
            </a:r>
            <a:endParaRPr lang="en-US" sz="1300" dirty="0"/>
          </a:p>
        </p:txBody>
      </p:sp>
      <p:sp>
        <p:nvSpPr>
          <p:cNvPr id="9" name="Shape 7"/>
          <p:cNvSpPr/>
          <p:nvPr/>
        </p:nvSpPr>
        <p:spPr>
          <a:xfrm>
            <a:off x="457200" y="2927096"/>
            <a:ext cx="8229600" cy="547624"/>
          </a:xfrm>
          <a:prstGeom prst="roundRect">
            <a:avLst>
              <a:gd name="adj" fmla="val 16698"/>
            </a:avLst>
          </a:prstGeom>
          <a:solidFill>
            <a:srgbClr val="15191E"/>
          </a:solidFill>
          <a:ln w="12700">
            <a:solidFill>
              <a:srgbClr val="15191E"/>
            </a:solidFill>
            <a:prstDash val="solid"/>
          </a:ln>
        </p:spPr>
      </p:sp>
      <p:sp>
        <p:nvSpPr>
          <p:cNvPr id="10" name="Text 8"/>
          <p:cNvSpPr txBox="1"/>
          <p:nvPr/>
        </p:nvSpPr>
        <p:spPr>
          <a:xfrm>
            <a:off x="640080" y="3045968"/>
            <a:ext cx="7863840" cy="30988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[o for o, spent in {'Tx1:0': True, 'Tx2:0': False, 'Tx2:1': False}.items() if not spent]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['Tx2:0', 'Tx2:1']</a:t>
            </a:r>
            <a:endParaRPr lang="en-US" sz="10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12464"/>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3133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15384"/>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Mark each output with a flag that says whether it has been spent.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Transaction identifier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32-byte name for Alice's payment</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transaction identifier, or txid, is the 32-byte name of a transaction. It is derived from the transaction's own data by a hash function, so it is not assigned by anyone, and two different transactions cannot sensibly share one. In the chapter the txid is what an input uses to refer to the transaction in which funds were received (Antonopoulos and Harding, 2023).</a:t>
            </a:r>
            <a:endParaRPr lang="en-US" sz="1300" dirty="0"/>
          </a:p>
        </p:txBody>
      </p:sp>
      <p:sp>
        <p:nvSpPr>
          <p:cNvPr id="9" name="Shape 7"/>
          <p:cNvSpPr/>
          <p:nvPr/>
        </p:nvSpPr>
        <p:spPr>
          <a:xfrm>
            <a:off x="457200" y="2927096"/>
            <a:ext cx="8229600" cy="547624"/>
          </a:xfrm>
          <a:prstGeom prst="roundRect">
            <a:avLst>
              <a:gd name="adj" fmla="val 16698"/>
            </a:avLst>
          </a:prstGeom>
          <a:solidFill>
            <a:srgbClr val="15191E"/>
          </a:solidFill>
          <a:ln w="12700">
            <a:solidFill>
              <a:srgbClr val="15191E"/>
            </a:solidFill>
            <a:prstDash val="solid"/>
          </a:ln>
        </p:spPr>
      </p:sp>
      <p:sp>
        <p:nvSpPr>
          <p:cNvPr id="10" name="Text 8"/>
          <p:cNvSpPr txBox="1"/>
          <p:nvPr/>
        </p:nvSpPr>
        <p:spPr>
          <a:xfrm>
            <a:off x="640080" y="3045968"/>
            <a:ext cx="7863840" cy="30988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bytes.fromhex('eb3ae38f27191aa5f3850dc9cad00492b88b72404f9da135698679268041c54a')[::-1].hex()</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'4ac541802679866935a19d4f40728bb89204d0cac90d85f3a51a19278fe33aeb'</a:t>
            </a:r>
            <a:endParaRPr lang="en-US" sz="10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49040"/>
            <a:ext cx="822960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Bitcoin Core computes the identifier by hashing the serialized transaction without its proof data (Bitcoin Core, 2026); hashing means applying the double SHA-256 construction that the concept of the hash function shows, and the result is shown with its bytes reversed. Doing exactly that to the 194 bytes of Alice's real transaction reproduces the printed identifier.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Script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2 3 OP_ADD 5 OP_EQUAL</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script is a small program written in Bitcoin's own scripting language, called Script.</a:t>
            </a:r>
            <a:endParaRPr lang="en-US" sz="1300" dirty="0"/>
          </a:p>
        </p:txBody>
      </p:sp>
      <p:sp>
        <p:nvSpPr>
          <p:cNvPr id="9" name="Shape 7"/>
          <p:cNvSpPr/>
          <p:nvPr/>
        </p:nvSpPr>
        <p:spPr>
          <a:xfrm>
            <a:off x="457200" y="2322830"/>
            <a:ext cx="8229600" cy="795528"/>
          </a:xfrm>
          <a:prstGeom prst="roundRect">
            <a:avLst>
              <a:gd name="adj" fmla="val 11494"/>
            </a:avLst>
          </a:prstGeom>
          <a:solidFill>
            <a:srgbClr val="15191E"/>
          </a:solidFill>
          <a:ln w="12700">
            <a:solidFill>
              <a:srgbClr val="15191E"/>
            </a:solidFill>
            <a:prstDash val="solid"/>
          </a:ln>
        </p:spPr>
      </p:sp>
      <p:sp>
        <p:nvSpPr>
          <p:cNvPr id="10" name="Text 8"/>
          <p:cNvSpPr txBox="1"/>
          <p:nvPr/>
        </p:nvSpPr>
        <p:spPr>
          <a:xfrm>
            <a:off x="640080" y="2441702"/>
            <a:ext cx="7863840" cy="557784"/>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 = []</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[s.append(s.pop() + s.pop()) if t == 'OP_ADD' else s.append(s.pop() == s.pop()) if t == 'OP_EQUAL' else s.append(int(t)) for t in '2 3 OP_ADD 5 OP_EQUAL'.split()] and 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1" name="Text 9"/>
          <p:cNvSpPr txBox="1"/>
          <p:nvPr/>
        </p:nvSpPr>
        <p:spPr>
          <a:xfrm>
            <a:off x="457200" y="313664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56102"/>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47497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59022"/>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Script is a stack-based language: it reads items from left to right, pushes numbers onto a stack, and operators remove items from the stack, act on them and may push a result back. The book's first example is the script 2 3 OP_ADD 5 OP_EQUAL.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Serialization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194 bytes of Alice's payment</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Serialization is the writing of a structured object as a flat sequence of bytes, in an order and a format on which sender and receiver agree, so that the receiver can rebuild the same structure. A transaction in a wallet is a structure of inputs, outputs and amounts; a transaction on the network is a string of bytes.</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int.from_bytes(bytes.fromhex('204e000000000000'), 'little')</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20000</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4345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6232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4637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format is a sequence of fixed and variable fields.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Byte order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identifier read both ways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Byte order, also called endianness, is the direction in which the individual bytes of a multi-byte value are written down. Writing the most significant byte first is called big-endian and is what people do when they write ordinary numbers; writing the least significant byte first is called little-endian and is what most processors do internally.</a:t>
            </a:r>
            <a:endParaRPr lang="en-US" sz="1300" dirty="0"/>
          </a:p>
        </p:txBody>
      </p:sp>
      <p:sp>
        <p:nvSpPr>
          <p:cNvPr id="9" name="Shape 7"/>
          <p:cNvSpPr/>
          <p:nvPr/>
        </p:nvSpPr>
        <p:spPr>
          <a:xfrm>
            <a:off x="457200" y="2927096"/>
            <a:ext cx="8229600" cy="547624"/>
          </a:xfrm>
          <a:prstGeom prst="roundRect">
            <a:avLst>
              <a:gd name="adj" fmla="val 16698"/>
            </a:avLst>
          </a:prstGeom>
          <a:solidFill>
            <a:srgbClr val="15191E"/>
          </a:solidFill>
          <a:ln w="12700">
            <a:solidFill>
              <a:srgbClr val="15191E"/>
            </a:solidFill>
            <a:prstDash val="solid"/>
          </a:ln>
        </p:spPr>
      </p:sp>
      <p:sp>
        <p:nvSpPr>
          <p:cNvPr id="10" name="Text 8"/>
          <p:cNvSpPr txBox="1"/>
          <p:nvPr/>
        </p:nvSpPr>
        <p:spPr>
          <a:xfrm>
            <a:off x="640080" y="3045968"/>
            <a:ext cx="7863840" cy="30988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bytes.fromhex('4ac541802679866935a19d4f40728bb89204d0cac90d85f3a51a19278fe33aeb')[::-1].hex()[:16]</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'eb3ae38f27191aa5'</a:t>
            </a:r>
            <a:endParaRPr lang="en-US" sz="10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12464"/>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3133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15384"/>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Reversing a sequence of bytes converts between the two readings.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Outpoint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txid 4ac54180... index 1</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outpoint is the exact name of one transaction output: the identifier of the transaction that created it together with the position of that output within the transaction.</a:t>
            </a:r>
            <a:endParaRPr lang="en-US" sz="1300" dirty="0"/>
          </a:p>
        </p:txBody>
      </p:sp>
      <p:sp>
        <p:nvSpPr>
          <p:cNvPr id="9" name="Shape 7"/>
          <p:cNvSpPr/>
          <p:nvPr/>
        </p:nvSpPr>
        <p:spPr>
          <a:xfrm>
            <a:off x="457200" y="2524252"/>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643124"/>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txid, vout = '4ac541802679866935a19d4f40728bb89204d0cac90d85f3a51a19278fe33aeb', 1</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'%s:%d' % (txid[:8] + '...', vout)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'4ac54180...:1'</a:t>
            </a:r>
            <a:endParaRPr lang="en-US" sz="1100" dirty="0"/>
          </a:p>
        </p:txBody>
      </p:sp>
      <p:sp>
        <p:nvSpPr>
          <p:cNvPr id="11" name="Text 9"/>
          <p:cNvSpPr txBox="1"/>
          <p:nvPr/>
        </p:nvSpPr>
        <p:spPr>
          <a:xfrm>
            <a:off x="457200" y="329158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11042"/>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62991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13962"/>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outpoint is formed by putting the two parts together, as the small example does by joining an abbreviated identifier and the index with a colon.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Witness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69 of Alice's 194 bytes</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witness of an input is the data that proves the input may be spent.</a:t>
            </a:r>
            <a:endParaRPr lang="en-US" sz="1300" dirty="0"/>
          </a:p>
        </p:txBody>
      </p:sp>
      <p:sp>
        <p:nvSpPr>
          <p:cNvPr id="9" name="Shape 7"/>
          <p:cNvSpPr/>
          <p:nvPr/>
        </p:nvSpPr>
        <p:spPr>
          <a:xfrm>
            <a:off x="457200" y="2322830"/>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441702"/>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total, stripped = 194, 125</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(total - stripped, stripped * 3 + total)</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(69, 569)</a:t>
            </a:r>
            <a:endParaRPr lang="en-US" sz="1100" dirty="0"/>
          </a:p>
        </p:txBody>
      </p:sp>
      <p:sp>
        <p:nvSpPr>
          <p:cNvPr id="11" name="Text 9"/>
          <p:cNvSpPr txBox="1"/>
          <p:nvPr/>
        </p:nvSpPr>
        <p:spPr>
          <a:xfrm>
            <a:off x="457200" y="309016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0962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42849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1254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figures can be read out of the transaction.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Cryptographic foundations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Transaction - 11 concepts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transaction asks every computer on the network to believe something without trusting anyone: that the person spending certain bitcoins is entitled to spend them. Mathematics alone makes that possible, and this group collects the mathematical tools on which the rest of the chapter silently relies.</a:t>
            </a:r>
            <a:endParaRPr lang="en-US" sz="1300" dirty="0"/>
          </a:p>
        </p:txBody>
      </p:sp>
      <p:sp>
        <p:nvSpPr>
          <p:cNvPr id="9" name="Shape 7"/>
          <p:cNvSpPr/>
          <p:nvPr/>
        </p:nvSpPr>
        <p:spPr>
          <a:xfrm>
            <a:off x="457200" y="2927096"/>
            <a:ext cx="1947672" cy="334941"/>
          </a:xfrm>
          <a:prstGeom prst="roundRect">
            <a:avLst>
              <a:gd name="adj" fmla="val 21840"/>
            </a:avLst>
          </a:prstGeom>
          <a:solidFill>
            <a:srgbClr val="F4F2EE"/>
          </a:solidFill>
          <a:ln w="12700">
            <a:solidFill>
              <a:srgbClr val="D9D4CC"/>
            </a:solidFill>
            <a:prstDash val="solid"/>
          </a:ln>
        </p:spPr>
      </p:sp>
      <p:sp>
        <p:nvSpPr>
          <p:cNvPr id="10" name="Text 8"/>
          <p:cNvSpPr txBox="1"/>
          <p:nvPr/>
        </p:nvSpPr>
        <p:spPr>
          <a:xfrm>
            <a:off x="548640"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Hash function</a:t>
            </a:r>
            <a:endParaRPr lang="en-US" sz="1150" dirty="0"/>
          </a:p>
        </p:txBody>
      </p:sp>
      <p:sp>
        <p:nvSpPr>
          <p:cNvPr id="11" name="Shape 9"/>
          <p:cNvSpPr/>
          <p:nvPr/>
        </p:nvSpPr>
        <p:spPr>
          <a:xfrm>
            <a:off x="2551176" y="2927096"/>
            <a:ext cx="1947672" cy="334941"/>
          </a:xfrm>
          <a:prstGeom prst="roundRect">
            <a:avLst>
              <a:gd name="adj" fmla="val 21840"/>
            </a:avLst>
          </a:prstGeom>
          <a:solidFill>
            <a:srgbClr val="F4F2EE"/>
          </a:solidFill>
          <a:ln w="12700">
            <a:solidFill>
              <a:srgbClr val="D9D4CC"/>
            </a:solidFill>
            <a:prstDash val="solid"/>
          </a:ln>
        </p:spPr>
      </p:sp>
      <p:sp>
        <p:nvSpPr>
          <p:cNvPr id="12" name="Text 10"/>
          <p:cNvSpPr txBox="1"/>
          <p:nvPr/>
        </p:nvSpPr>
        <p:spPr>
          <a:xfrm>
            <a:off x="2642616"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Key pair</a:t>
            </a:r>
            <a:endParaRPr lang="en-US" sz="1150" dirty="0"/>
          </a:p>
        </p:txBody>
      </p:sp>
      <p:sp>
        <p:nvSpPr>
          <p:cNvPr id="13" name="Shape 11"/>
          <p:cNvSpPr/>
          <p:nvPr/>
        </p:nvSpPr>
        <p:spPr>
          <a:xfrm>
            <a:off x="4645152" y="2927096"/>
            <a:ext cx="1947672" cy="334941"/>
          </a:xfrm>
          <a:prstGeom prst="roundRect">
            <a:avLst>
              <a:gd name="adj" fmla="val 21840"/>
            </a:avLst>
          </a:prstGeom>
          <a:solidFill>
            <a:srgbClr val="F4F2EE"/>
          </a:solidFill>
          <a:ln w="12700">
            <a:solidFill>
              <a:srgbClr val="D9D4CC"/>
            </a:solidFill>
            <a:prstDash val="solid"/>
          </a:ln>
        </p:spPr>
      </p:sp>
      <p:sp>
        <p:nvSpPr>
          <p:cNvPr id="14" name="Text 12"/>
          <p:cNvSpPr txBox="1"/>
          <p:nvPr/>
        </p:nvSpPr>
        <p:spPr>
          <a:xfrm>
            <a:off x="4736592"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Public-key cryptography</a:t>
            </a:r>
            <a:endParaRPr lang="en-US" sz="1150" dirty="0"/>
          </a:p>
        </p:txBody>
      </p:sp>
      <p:sp>
        <p:nvSpPr>
          <p:cNvPr id="15" name="Shape 13"/>
          <p:cNvSpPr/>
          <p:nvPr/>
        </p:nvSpPr>
        <p:spPr>
          <a:xfrm>
            <a:off x="6739128" y="2927096"/>
            <a:ext cx="1947672" cy="334941"/>
          </a:xfrm>
          <a:prstGeom prst="roundRect">
            <a:avLst>
              <a:gd name="adj" fmla="val 21840"/>
            </a:avLst>
          </a:prstGeom>
          <a:solidFill>
            <a:srgbClr val="F4F2EE"/>
          </a:solidFill>
          <a:ln w="12700">
            <a:solidFill>
              <a:srgbClr val="D9D4CC"/>
            </a:solidFill>
            <a:prstDash val="solid"/>
          </a:ln>
        </p:spPr>
      </p:sp>
      <p:sp>
        <p:nvSpPr>
          <p:cNvPr id="16" name="Text 14"/>
          <p:cNvSpPr txBox="1"/>
          <p:nvPr/>
        </p:nvSpPr>
        <p:spPr>
          <a:xfrm>
            <a:off x="6830568" y="2981960"/>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Elliptic curve</a:t>
            </a:r>
            <a:endParaRPr lang="en-US" sz="1150" dirty="0"/>
          </a:p>
        </p:txBody>
      </p:sp>
      <p:sp>
        <p:nvSpPr>
          <p:cNvPr id="17" name="Shape 15"/>
          <p:cNvSpPr/>
          <p:nvPr/>
        </p:nvSpPr>
        <p:spPr>
          <a:xfrm>
            <a:off x="457200" y="3390053"/>
            <a:ext cx="1947672" cy="334941"/>
          </a:xfrm>
          <a:prstGeom prst="roundRect">
            <a:avLst>
              <a:gd name="adj" fmla="val 21840"/>
            </a:avLst>
          </a:prstGeom>
          <a:solidFill>
            <a:srgbClr val="F4F2EE"/>
          </a:solidFill>
          <a:ln w="12700">
            <a:solidFill>
              <a:srgbClr val="D9D4CC"/>
            </a:solidFill>
            <a:prstDash val="solid"/>
          </a:ln>
        </p:spPr>
      </p:sp>
      <p:sp>
        <p:nvSpPr>
          <p:cNvPr id="18" name="Text 16"/>
          <p:cNvSpPr txBox="1"/>
          <p:nvPr/>
        </p:nvSpPr>
        <p:spPr>
          <a:xfrm>
            <a:off x="548640"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Digital signature</a:t>
            </a:r>
            <a:endParaRPr lang="en-US" sz="1150" dirty="0"/>
          </a:p>
        </p:txBody>
      </p:sp>
      <p:sp>
        <p:nvSpPr>
          <p:cNvPr id="19" name="Shape 17"/>
          <p:cNvSpPr/>
          <p:nvPr/>
        </p:nvSpPr>
        <p:spPr>
          <a:xfrm>
            <a:off x="2551176" y="3390053"/>
            <a:ext cx="1947672" cy="334941"/>
          </a:xfrm>
          <a:prstGeom prst="roundRect">
            <a:avLst>
              <a:gd name="adj" fmla="val 21840"/>
            </a:avLst>
          </a:prstGeom>
          <a:solidFill>
            <a:srgbClr val="F4F2EE"/>
          </a:solidFill>
          <a:ln w="12700">
            <a:solidFill>
              <a:srgbClr val="D9D4CC"/>
            </a:solidFill>
            <a:prstDash val="solid"/>
          </a:ln>
        </p:spPr>
      </p:sp>
      <p:sp>
        <p:nvSpPr>
          <p:cNvPr id="20" name="Text 18"/>
          <p:cNvSpPr txBox="1"/>
          <p:nvPr/>
        </p:nvSpPr>
        <p:spPr>
          <a:xfrm>
            <a:off x="2642616"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Checksum</a:t>
            </a:r>
            <a:endParaRPr lang="en-US" sz="1150" dirty="0"/>
          </a:p>
        </p:txBody>
      </p:sp>
      <p:sp>
        <p:nvSpPr>
          <p:cNvPr id="21" name="Shape 19"/>
          <p:cNvSpPr/>
          <p:nvPr/>
        </p:nvSpPr>
        <p:spPr>
          <a:xfrm>
            <a:off x="4645152" y="3390053"/>
            <a:ext cx="1947672" cy="334941"/>
          </a:xfrm>
          <a:prstGeom prst="roundRect">
            <a:avLst>
              <a:gd name="adj" fmla="val 21840"/>
            </a:avLst>
          </a:prstGeom>
          <a:solidFill>
            <a:srgbClr val="F4F2EE"/>
          </a:solidFill>
          <a:ln w="12700">
            <a:solidFill>
              <a:srgbClr val="D9D4CC"/>
            </a:solidFill>
            <a:prstDash val="solid"/>
          </a:ln>
        </p:spPr>
      </p:sp>
      <p:sp>
        <p:nvSpPr>
          <p:cNvPr id="22" name="Text 20"/>
          <p:cNvSpPr txBox="1"/>
          <p:nvPr/>
        </p:nvSpPr>
        <p:spPr>
          <a:xfrm>
            <a:off x="4736592"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Bit and byte</a:t>
            </a:r>
            <a:endParaRPr lang="en-US" sz="1150" dirty="0"/>
          </a:p>
        </p:txBody>
      </p:sp>
      <p:sp>
        <p:nvSpPr>
          <p:cNvPr id="23" name="Shape 21"/>
          <p:cNvSpPr/>
          <p:nvPr/>
        </p:nvSpPr>
        <p:spPr>
          <a:xfrm>
            <a:off x="6739128" y="3390053"/>
            <a:ext cx="1947672" cy="334941"/>
          </a:xfrm>
          <a:prstGeom prst="roundRect">
            <a:avLst>
              <a:gd name="adj" fmla="val 21840"/>
            </a:avLst>
          </a:prstGeom>
          <a:solidFill>
            <a:srgbClr val="F4F2EE"/>
          </a:solidFill>
          <a:ln w="12700">
            <a:solidFill>
              <a:srgbClr val="D9D4CC"/>
            </a:solidFill>
            <a:prstDash val="solid"/>
          </a:ln>
        </p:spPr>
      </p:sp>
      <p:sp>
        <p:nvSpPr>
          <p:cNvPr id="24" name="Text 22"/>
          <p:cNvSpPr txBox="1"/>
          <p:nvPr/>
        </p:nvSpPr>
        <p:spPr>
          <a:xfrm>
            <a:off x="6830568" y="3444917"/>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Hexadecimal notation</a:t>
            </a:r>
            <a:endParaRPr lang="en-US" sz="1150" dirty="0"/>
          </a:p>
        </p:txBody>
      </p:sp>
      <p:sp>
        <p:nvSpPr>
          <p:cNvPr id="25" name="Shape 23"/>
          <p:cNvSpPr/>
          <p:nvPr/>
        </p:nvSpPr>
        <p:spPr>
          <a:xfrm>
            <a:off x="457200" y="3853011"/>
            <a:ext cx="1947672" cy="334941"/>
          </a:xfrm>
          <a:prstGeom prst="roundRect">
            <a:avLst>
              <a:gd name="adj" fmla="val 21840"/>
            </a:avLst>
          </a:prstGeom>
          <a:solidFill>
            <a:srgbClr val="F4F2EE"/>
          </a:solidFill>
          <a:ln w="12700">
            <a:solidFill>
              <a:srgbClr val="D9D4CC"/>
            </a:solidFill>
            <a:prstDash val="solid"/>
          </a:ln>
        </p:spPr>
      </p:sp>
      <p:sp>
        <p:nvSpPr>
          <p:cNvPr id="26" name="Text 24"/>
          <p:cNvSpPr txBox="1"/>
          <p:nvPr/>
        </p:nvSpPr>
        <p:spPr>
          <a:xfrm>
            <a:off x="548640" y="3907875"/>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Entropy</a:t>
            </a:r>
            <a:endParaRPr lang="en-US" sz="1150" dirty="0"/>
          </a:p>
        </p:txBody>
      </p:sp>
      <p:sp>
        <p:nvSpPr>
          <p:cNvPr id="27" name="Shape 25"/>
          <p:cNvSpPr/>
          <p:nvPr/>
        </p:nvSpPr>
        <p:spPr>
          <a:xfrm>
            <a:off x="2551176" y="3853011"/>
            <a:ext cx="1947672" cy="334941"/>
          </a:xfrm>
          <a:prstGeom prst="roundRect">
            <a:avLst>
              <a:gd name="adj" fmla="val 21840"/>
            </a:avLst>
          </a:prstGeom>
          <a:solidFill>
            <a:srgbClr val="F4F2EE"/>
          </a:solidFill>
          <a:ln w="12700">
            <a:solidFill>
              <a:srgbClr val="D9D4CC"/>
            </a:solidFill>
            <a:prstDash val="solid"/>
          </a:ln>
        </p:spPr>
      </p:sp>
      <p:sp>
        <p:nvSpPr>
          <p:cNvPr id="28" name="Text 26"/>
          <p:cNvSpPr txBox="1"/>
          <p:nvPr/>
        </p:nvSpPr>
        <p:spPr>
          <a:xfrm>
            <a:off x="2642616" y="3907875"/>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Nonce</a:t>
            </a:r>
            <a:endParaRPr lang="en-US" sz="1150" dirty="0"/>
          </a:p>
        </p:txBody>
      </p:sp>
      <p:sp>
        <p:nvSpPr>
          <p:cNvPr id="29" name="Shape 27"/>
          <p:cNvSpPr/>
          <p:nvPr/>
        </p:nvSpPr>
        <p:spPr>
          <a:xfrm>
            <a:off x="4645152" y="3853011"/>
            <a:ext cx="1947672" cy="334941"/>
          </a:xfrm>
          <a:prstGeom prst="roundRect">
            <a:avLst>
              <a:gd name="adj" fmla="val 21840"/>
            </a:avLst>
          </a:prstGeom>
          <a:solidFill>
            <a:srgbClr val="F4F2EE"/>
          </a:solidFill>
          <a:ln w="12700">
            <a:solidFill>
              <a:srgbClr val="D9D4CC"/>
            </a:solidFill>
            <a:prstDash val="solid"/>
          </a:ln>
        </p:spPr>
      </p:sp>
      <p:sp>
        <p:nvSpPr>
          <p:cNvPr id="30" name="Text 28"/>
          <p:cNvSpPr txBox="1"/>
          <p:nvPr/>
        </p:nvSpPr>
        <p:spPr>
          <a:xfrm>
            <a:off x="4736592" y="3907875"/>
            <a:ext cx="1764792" cy="225213"/>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Encryption</a:t>
            </a:r>
            <a:endParaRPr lang="en-US" sz="1150" dirty="0"/>
          </a:p>
        </p:txBody>
      </p:sp>
      <p:sp>
        <p:nvSpPr>
          <p:cNvPr id="31" name="Text 29"/>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concepts of the group are taken in the order in which a learner needs them. The hash function comes first because the others use it.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Hash function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fixed-size fingerprint of any data</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hash function is a procedure that takes data of any length, however long or short, scrambles it thoroughly and outputs a value of fixed length, which is called the hash or the digest of the data. The book describes it as a function that takes a potentially large amount of data, scrambles it, and outputs a fixed amount of data, and it points out two properties.</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hashlib.sha256(b'Hello, world!\n').hexdigest()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'd9014c4624844aa5bac314773d6b689ad467fa4e1d1a50a1b8a99d5a95f72ff5'</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4345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6232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4637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You can try it directly.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Key pair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secret number and the public value made from it</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key pair consists of two numbers that belong together: a private key and a public key. In Bitcoin the private key is a number, usually derived from a number picked at random, and the public key is calculated from it by a mathematical operation that is easy in one direction and impractical in the other.</a:t>
            </a:r>
            <a:endParaRPr lang="en-US" sz="1300" dirty="0"/>
          </a:p>
        </p:txBody>
      </p:sp>
      <p:sp>
        <p:nvSpPr>
          <p:cNvPr id="9" name="Shape 7"/>
          <p:cNvSpPr/>
          <p:nvPr/>
        </p:nvSpPr>
        <p:spPr>
          <a:xfrm>
            <a:off x="457200" y="2927096"/>
            <a:ext cx="8229600" cy="547624"/>
          </a:xfrm>
          <a:prstGeom prst="roundRect">
            <a:avLst>
              <a:gd name="adj" fmla="val 16698"/>
            </a:avLst>
          </a:prstGeom>
          <a:solidFill>
            <a:srgbClr val="15191E"/>
          </a:solidFill>
          <a:ln w="12700">
            <a:solidFill>
              <a:srgbClr val="15191E"/>
            </a:solidFill>
            <a:prstDash val="solid"/>
          </a:ln>
        </p:spPr>
      </p:sp>
      <p:sp>
        <p:nvSpPr>
          <p:cNvPr id="10" name="Text 8"/>
          <p:cNvSpPr txBox="1"/>
          <p:nvPr/>
        </p:nvSpPr>
        <p:spPr>
          <a:xfrm>
            <a:off x="640080" y="3045968"/>
            <a:ext cx="7863840" cy="30988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len(bytes.fromhex('1E99423A4ED27608A15A2616A2B0E9E52CED330AC530EDCC32C8FFC6A526AEDD')) * 8</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256</a:t>
            </a:r>
            <a:endParaRPr lang="en-US" sz="10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49040"/>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private key can be any number from 0 up to n minus 1, where n is a constant slightly smaller than 2 to the power 256, defined as the order of the elliptic curve that Bitcoin uses; to create one, software picks a random 256-bit number and checks that it is below n (Antonopoulos and Harding, 2023).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Public-key cryptography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easy forward, impractical backward</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Public-key cryptography, also called asymmetric cryptography, is a branch of cryptography in which each participant has two related keys instead of one shared secret. One key can be made public and the other must stay private.</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[k for k in range(1, 17) if pow(3, k, 17) == 11]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[7]</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4203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6090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4495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tiny example shows the idea of a one-way function.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Elliptic curve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curve y squared equals x cubed plus 7</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elliptic curve is the set of points whose two coordinates satisfy a certain cubic equation. Bitcoin uses one particular curve, defined in a standard called secp256k1, whose equation is the very simple y squared equals x cubed plus 7.</a:t>
            </a:r>
            <a:endParaRPr lang="en-US" sz="1300" dirty="0"/>
          </a:p>
        </p:txBody>
      </p:sp>
      <p:sp>
        <p:nvSpPr>
          <p:cNvPr id="9" name="Shape 7"/>
          <p:cNvSpPr/>
          <p:nvPr/>
        </p:nvSpPr>
        <p:spPr>
          <a:xfrm>
            <a:off x="457200" y="2725674"/>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2844546"/>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(0x483ada7726a3c4655da4fbfc0e1108a8fd17b448a68554199c47d08ffb10d4b8 ** 2 - 0x79be667ef9dcbbac55a06295ce870b07029bfcdb2dce28d959f2815b16f81798 ** 3 - 7) % (2 ** 256 - 2 ** 32 - 977)</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11" name="Text 9"/>
          <p:cNvSpPr txBox="1"/>
          <p:nvPr/>
        </p:nvSpPr>
        <p:spPr>
          <a:xfrm>
            <a:off x="457200" y="340004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61950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73837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12242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curve secp256k1 is fixed by the constants p, the generator point G and the order 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Digital 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proof made with the private key</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digital signature is a number, or a pair of numbers, calculated from a message and a private key, which anyone can check against the corresponding public key.</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len(bytes.fromhex(DIGITALSIGNATURE_D1))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65</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mechanism can be run with the textbook ECDSA formulas on the curve of the previous concept. Using the book's example private key, the program signs the message pay Bob 75000 and obtains two numbers r and s; checking them against the public key returns True.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Checksum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few bytes of hash that catch typing errors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checksum is a short piece of data calculated from a longer piece and attached to it, so that a recipient can recompute it and see whether the longer piece was damaged on the way.</a:t>
            </a:r>
            <a:endParaRPr lang="en-US" sz="1300" dirty="0"/>
          </a:p>
        </p:txBody>
      </p:sp>
      <p:sp>
        <p:nvSpPr>
          <p:cNvPr id="9" name="Shape 7"/>
          <p:cNvSpPr/>
          <p:nvPr/>
        </p:nvSpPr>
        <p:spPr>
          <a:xfrm>
            <a:off x="457200" y="2524252"/>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643124"/>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hashlib.sha256(hashlib.sha256(b'bitcoin').digest()).digest()[:4].hex()</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'f1ef1bf1'</a:t>
            </a:r>
            <a:endParaRPr lang="en-US" sz="1100" dirty="0"/>
          </a:p>
        </p:txBody>
      </p:sp>
      <p:sp>
        <p:nvSpPr>
          <p:cNvPr id="11" name="Text 9"/>
          <p:cNvSpPr txBox="1"/>
          <p:nvPr/>
        </p:nvSpPr>
        <p:spPr>
          <a:xfrm>
            <a:off x="457200" y="312115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40608"/>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45948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43528"/>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older method is easy to run. The checksum of the data is the first four bytes of the double-SHA256 hash of the data.</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Bit and byte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32 bytes are 256 bits</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bit is the smallest unit of digital information: a single binary digit that is either 0 or 1. A byte is a group of eight bits, and it is the unit in which computers normally measure the length of data. The two units describe the same thing at different granularities, so one length can always be converted into the other by multiplying or dividing by eight.</a:t>
            </a:r>
            <a:endParaRPr lang="en-US" sz="1300" dirty="0"/>
          </a:p>
        </p:txBody>
      </p:sp>
      <p:sp>
        <p:nvSpPr>
          <p:cNvPr id="9" name="Shape 7"/>
          <p:cNvSpPr/>
          <p:nvPr/>
        </p:nvSpPr>
        <p:spPr>
          <a:xfrm>
            <a:off x="457200" y="2927096"/>
            <a:ext cx="8229600" cy="547624"/>
          </a:xfrm>
          <a:prstGeom prst="roundRect">
            <a:avLst>
              <a:gd name="adj" fmla="val 16698"/>
            </a:avLst>
          </a:prstGeom>
          <a:solidFill>
            <a:srgbClr val="15191E"/>
          </a:solidFill>
          <a:ln w="12700">
            <a:solidFill>
              <a:srgbClr val="15191E"/>
            </a:solidFill>
            <a:prstDash val="solid"/>
          </a:ln>
        </p:spPr>
      </p:sp>
      <p:sp>
        <p:nvSpPr>
          <p:cNvPr id="10" name="Text 8"/>
          <p:cNvSpPr txBox="1"/>
          <p:nvPr/>
        </p:nvSpPr>
        <p:spPr>
          <a:xfrm>
            <a:off x="640080" y="3045968"/>
            <a:ext cx="7863840" cy="30988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len(bytes.fromhex('4a5e1e4baab89f3a32518a88c31bc87f618f76673e2cc77ab2127b7afdeda33b')) * 8</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256</a:t>
            </a:r>
            <a:endParaRPr lang="en-US" sz="10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12464"/>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3133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15384"/>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conversion is a multiplication by eight.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Hexadecimal notation and Entropy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Hexadecimal notation</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Hexadecimal notation writes numbers in base sixteen, using the ten digits 0 to 9 and then the letters a to f for the values ten to fifteen.</a:t>
            </a:r>
            <a:endParaRPr lang="en-US" sz="1200" dirty="0"/>
          </a:p>
        </p:txBody>
      </p:sp>
      <p:sp>
        <p:nvSpPr>
          <p:cNvPr id="9" name="Shape 7"/>
          <p:cNvSpPr/>
          <p:nvPr/>
        </p:nvSpPr>
        <p:spPr>
          <a:xfrm>
            <a:off x="457200" y="2828544"/>
            <a:ext cx="3977640" cy="725805"/>
          </a:xfrm>
          <a:prstGeom prst="roundRect">
            <a:avLst>
              <a:gd name="adj" fmla="val 12598"/>
            </a:avLst>
          </a:prstGeom>
          <a:solidFill>
            <a:srgbClr val="15191E"/>
          </a:solidFill>
          <a:ln w="12700">
            <a:solidFill>
              <a:srgbClr val="15191E"/>
            </a:solidFill>
            <a:prstDash val="solid"/>
          </a:ln>
        </p:spPr>
      </p:sp>
      <p:sp>
        <p:nvSpPr>
          <p:cNvPr id="10" name="Text 8"/>
          <p:cNvSpPr txBox="1"/>
          <p:nvPr/>
        </p:nvSpPr>
        <p:spPr>
          <a:xfrm>
            <a:off x="640080" y="2947416"/>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(int('ff', 16), int('1d00ffff', 16), len(hex(255)[2:]))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(255, 486604799, 2)</a:t>
            </a:r>
            <a:endParaRPr lang="en-US" sz="1050" dirty="0"/>
          </a:p>
        </p:txBody>
      </p:sp>
      <p:sp>
        <p:nvSpPr>
          <p:cNvPr id="11" name="Text 9"/>
          <p:cNvSpPr txBox="1"/>
          <p:nvPr/>
        </p:nvSpPr>
        <p:spPr>
          <a:xfrm>
            <a:off x="457200" y="3572637"/>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28669"/>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Converting is a matter of weighted digits. The two-digit value ff stands for fifteen sixteens plus fifteen, that is 255, the largest value a byte can hold; the four-byte value 1d00ffff read as one number is 486,604,799.</a:t>
            </a:r>
            <a:endParaRPr lang="en-US" sz="1100" dirty="0"/>
          </a:p>
        </p:txBody>
      </p:sp>
      <p:sp>
        <p:nvSpPr>
          <p:cNvPr id="13" name="Shape 11"/>
          <p:cNvSpPr/>
          <p:nvPr/>
        </p:nvSpPr>
        <p:spPr>
          <a:xfrm>
            <a:off x="4709160" y="1280160"/>
            <a:ext cx="3977640" cy="1252728"/>
          </a:xfrm>
          <a:prstGeom prst="roundRect">
            <a:avLst>
              <a:gd name="adj" fmla="val 729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Entropy</a:t>
            </a:r>
            <a:endParaRPr lang="en-US" sz="1600" dirty="0"/>
          </a:p>
        </p:txBody>
      </p:sp>
      <p:sp>
        <p:nvSpPr>
          <p:cNvPr id="15" name="Text 13"/>
          <p:cNvSpPr txBox="1"/>
          <p:nvPr/>
        </p:nvSpPr>
        <p:spPr>
          <a:xfrm>
            <a:off x="489204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Entropy, in the sense used in cryptography, is a measure of how unpredictable a value is to someone who does not know it.</a:t>
            </a:r>
            <a:endParaRPr lang="en-US" sz="1200" dirty="0"/>
          </a:p>
        </p:txBody>
      </p:sp>
      <p:sp>
        <p:nvSpPr>
          <p:cNvPr id="16" name="Shape 14"/>
          <p:cNvSpPr/>
          <p:nvPr/>
        </p:nvSpPr>
        <p:spPr>
          <a:xfrm>
            <a:off x="4709160" y="2642616"/>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2761488"/>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(2 ** 256).bit_length() - 1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256</a:t>
            </a:r>
            <a:endParaRPr lang="en-US" sz="1050" dirty="0"/>
          </a:p>
        </p:txBody>
      </p:sp>
      <p:sp>
        <p:nvSpPr>
          <p:cNvPr id="18" name="Text 16"/>
          <p:cNvSpPr txBox="1"/>
          <p:nvPr/>
        </p:nvSpPr>
        <p:spPr>
          <a:xfrm>
            <a:off x="4709160" y="3224022"/>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480054"/>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Counting entropy is counting possibilities.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Nonce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number used once to vary a result</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nonce is a value that is varied in order to change the output of a cryptographic function without changing the data that is really being protected. The word is a contraction of number used once.</a:t>
            </a:r>
            <a:endParaRPr lang="en-US" sz="1300" dirty="0"/>
          </a:p>
        </p:txBody>
      </p:sp>
      <p:sp>
        <p:nvSpPr>
          <p:cNvPr id="9" name="Shape 7"/>
          <p:cNvSpPr/>
          <p:nvPr/>
        </p:nvSpPr>
        <p:spPr>
          <a:xfrm>
            <a:off x="457200" y="2725674"/>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2844546"/>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next(n for n in range(1000) if hashlib.sha256(('Hello, world! %d\n' % n).encode()).hexdigest().startswith('0'))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a:t>
            </a:r>
            <a:endParaRPr lang="en-US" sz="900" dirty="0"/>
          </a:p>
        </p:txBody>
      </p:sp>
      <p:sp>
        <p:nvSpPr>
          <p:cNvPr id="11" name="Text 9"/>
          <p:cNvSpPr txBox="1"/>
          <p:nvPr/>
        </p:nvSpPr>
        <p:spPr>
          <a:xfrm>
            <a:off x="457200" y="340004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61950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73837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12242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book's own miniature example can be run.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Encryption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making data unreadable without a key</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Encryption is the transformation of data into a form that cannot be read without a key, together with the matching transformation that turns it back. Its purpose is secrecy.</a:t>
            </a:r>
            <a:endParaRPr lang="en-US" sz="1300" dirty="0"/>
          </a:p>
        </p:txBody>
      </p:sp>
      <p:sp>
        <p:nvSpPr>
          <p:cNvPr id="9" name="Shape 7"/>
          <p:cNvSpPr/>
          <p:nvPr/>
        </p:nvSpPr>
        <p:spPr>
          <a:xfrm>
            <a:off x="457200" y="2524252"/>
            <a:ext cx="8229600" cy="702564"/>
          </a:xfrm>
          <a:prstGeom prst="roundRect">
            <a:avLst>
              <a:gd name="adj" fmla="val 13015"/>
            </a:avLst>
          </a:prstGeom>
          <a:solidFill>
            <a:srgbClr val="15191E"/>
          </a:solidFill>
          <a:ln w="12700">
            <a:solidFill>
              <a:srgbClr val="15191E"/>
            </a:solidFill>
            <a:prstDash val="solid"/>
          </a:ln>
        </p:spPr>
      </p:sp>
      <p:sp>
        <p:nvSpPr>
          <p:cNvPr id="10" name="Text 8"/>
          <p:cNvSpPr txBox="1"/>
          <p:nvPr/>
        </p:nvSpPr>
        <p:spPr>
          <a:xfrm>
            <a:off x="640080" y="2643124"/>
            <a:ext cx="7863840" cy="46482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k, m = 0x5a, b'pay Bob'</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(bytes(c ^ k for c in m).hex(), bytes(c ^ k for c in bytes(c ^ k for c in m)).decode())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('2a3b237a183538', 'pay Bob')</a:t>
            </a:r>
            <a:endParaRPr lang="en-US" sz="1000" dirty="0"/>
          </a:p>
        </p:txBody>
      </p:sp>
      <p:sp>
        <p:nvSpPr>
          <p:cNvPr id="11" name="Text 9"/>
          <p:cNvSpPr txBox="1"/>
          <p:nvPr/>
        </p:nvSpPr>
        <p:spPr>
          <a:xfrm>
            <a:off x="457200" y="324510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46456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58343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96748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simplest possible illustration is a reversible operation with a key.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Linkage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Transaction - 3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single transaction is only the beginning of the story, because bitcoins are never created in a vacuum: each is spent from something that existed before and gives rise to something that will exist afterwards. This group deals with the links between transactions. It explains the chain that results when each transaction spends the outputs of an earlier one, the change that a spender receives back because an output cannot be partly spent, and the choice that a wallet makes among the outputs it could spend, which is called coin selection.</a:t>
            </a:r>
            <a:endParaRPr lang="en-US" sz="1300" dirty="0"/>
          </a:p>
        </p:txBody>
      </p:sp>
      <p:sp>
        <p:nvSpPr>
          <p:cNvPr id="9" name="Shape 7"/>
          <p:cNvSpPr/>
          <p:nvPr/>
        </p:nvSpPr>
        <p:spPr>
          <a:xfrm>
            <a:off x="457200" y="3329940"/>
            <a:ext cx="2645664" cy="858012"/>
          </a:xfrm>
          <a:prstGeom prst="roundRect">
            <a:avLst>
              <a:gd name="adj" fmla="val 8526"/>
            </a:avLst>
          </a:prstGeom>
          <a:solidFill>
            <a:srgbClr val="F4F2EE"/>
          </a:solidFill>
          <a:ln w="12700">
            <a:solidFill>
              <a:srgbClr val="D9D4CC"/>
            </a:solidFill>
            <a:prstDash val="solid"/>
          </a:ln>
        </p:spPr>
      </p:sp>
      <p:sp>
        <p:nvSpPr>
          <p:cNvPr id="10" name="Text 8"/>
          <p:cNvSpPr txBox="1"/>
          <p:nvPr/>
        </p:nvSpPr>
        <p:spPr>
          <a:xfrm>
            <a:off x="548640" y="3384804"/>
            <a:ext cx="2462784"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Transaction chain</a:t>
            </a:r>
            <a:endParaRPr lang="en-US" sz="1250" dirty="0"/>
          </a:p>
        </p:txBody>
      </p:sp>
      <p:sp>
        <p:nvSpPr>
          <p:cNvPr id="11" name="Shape 9"/>
          <p:cNvSpPr/>
          <p:nvPr/>
        </p:nvSpPr>
        <p:spPr>
          <a:xfrm>
            <a:off x="3249168" y="3329940"/>
            <a:ext cx="2645664" cy="858012"/>
          </a:xfrm>
          <a:prstGeom prst="roundRect">
            <a:avLst>
              <a:gd name="adj" fmla="val 8526"/>
            </a:avLst>
          </a:prstGeom>
          <a:solidFill>
            <a:srgbClr val="F4F2EE"/>
          </a:solidFill>
          <a:ln w="12700">
            <a:solidFill>
              <a:srgbClr val="D9D4CC"/>
            </a:solidFill>
            <a:prstDash val="solid"/>
          </a:ln>
        </p:spPr>
      </p:sp>
      <p:sp>
        <p:nvSpPr>
          <p:cNvPr id="12" name="Text 10"/>
          <p:cNvSpPr txBox="1"/>
          <p:nvPr/>
        </p:nvSpPr>
        <p:spPr>
          <a:xfrm>
            <a:off x="3340608" y="3384804"/>
            <a:ext cx="2462784"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Making change</a:t>
            </a:r>
            <a:endParaRPr lang="en-US" sz="1250" dirty="0"/>
          </a:p>
        </p:txBody>
      </p:sp>
      <p:sp>
        <p:nvSpPr>
          <p:cNvPr id="13" name="Shape 11"/>
          <p:cNvSpPr/>
          <p:nvPr/>
        </p:nvSpPr>
        <p:spPr>
          <a:xfrm>
            <a:off x="6041136" y="3329940"/>
            <a:ext cx="2645664" cy="858012"/>
          </a:xfrm>
          <a:prstGeom prst="roundRect">
            <a:avLst>
              <a:gd name="adj" fmla="val 8526"/>
            </a:avLst>
          </a:prstGeom>
          <a:solidFill>
            <a:srgbClr val="F4F2EE"/>
          </a:solidFill>
          <a:ln w="12700">
            <a:solidFill>
              <a:srgbClr val="D9D4CC"/>
            </a:solidFill>
            <a:prstDash val="solid"/>
          </a:ln>
        </p:spPr>
      </p:sp>
      <p:sp>
        <p:nvSpPr>
          <p:cNvPr id="14" name="Text 12"/>
          <p:cNvSpPr txBox="1"/>
          <p:nvPr/>
        </p:nvSpPr>
        <p:spPr>
          <a:xfrm>
            <a:off x="6132576" y="3384804"/>
            <a:ext cx="2462784"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Coin selection</a:t>
            </a:r>
            <a:endParaRPr lang="en-US" sz="1250" dirty="0"/>
          </a:p>
        </p:txBody>
      </p:sp>
      <p:sp>
        <p:nvSpPr>
          <p:cNvPr id="15" name="Text 1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is taken in the order of the story. The transaction chain explains what a link is and how Alice's payment is connected to the payment she received from Joe.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Transaction chain and Making change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Transaction chain</a:t>
            </a:r>
            <a:endParaRPr lang="en-US" sz="1600" dirty="0"/>
          </a:p>
        </p:txBody>
      </p:sp>
      <p:sp>
        <p:nvSpPr>
          <p:cNvPr id="8" name="Text 6"/>
          <p:cNvSpPr txBox="1"/>
          <p:nvPr/>
        </p:nvSpPr>
        <p:spPr>
          <a:xfrm>
            <a:off x="64008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transaction chain is the sequence of transactions that arises when each transaction spends outputs created by an earlier one.</a:t>
            </a:r>
            <a:endParaRPr lang="en-US" sz="1200" dirty="0"/>
          </a:p>
        </p:txBody>
      </p:sp>
      <p:sp>
        <p:nvSpPr>
          <p:cNvPr id="9" name="Shape 7"/>
          <p:cNvSpPr/>
          <p:nvPr/>
        </p:nvSpPr>
        <p:spPr>
          <a:xfrm>
            <a:off x="457200" y="2642616"/>
            <a:ext cx="3977640" cy="563118"/>
          </a:xfrm>
          <a:prstGeom prst="roundRect">
            <a:avLst>
              <a:gd name="adj" fmla="val 16238"/>
            </a:avLst>
          </a:prstGeom>
          <a:solidFill>
            <a:srgbClr val="15191E"/>
          </a:solidFill>
          <a:ln w="12700">
            <a:solidFill>
              <a:srgbClr val="15191E"/>
            </a:solidFill>
            <a:prstDash val="solid"/>
          </a:ln>
        </p:spPr>
      </p:sp>
      <p:sp>
        <p:nvSpPr>
          <p:cNvPr id="10" name="Text 8"/>
          <p:cNvSpPr txBox="1"/>
          <p:nvPr/>
        </p:nvSpPr>
        <p:spPr>
          <a:xfrm>
            <a:off x="640080" y="2761488"/>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[100000 - 75000 - 20000, 75000 - 67000]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[5000, 8000]</a:t>
            </a:r>
            <a:endParaRPr lang="en-US" sz="1050" dirty="0"/>
          </a:p>
        </p:txBody>
      </p:sp>
      <p:sp>
        <p:nvSpPr>
          <p:cNvPr id="11" name="Text 9"/>
          <p:cNvSpPr txBox="1"/>
          <p:nvPr/>
        </p:nvSpPr>
        <p:spPr>
          <a:xfrm>
            <a:off x="457200" y="3224022"/>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80054"/>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numbers in the book's illustration make the chain concrete. Tx1 sent 100,000 satoshis to an output locked by Alice's key.</a:t>
            </a:r>
            <a:endParaRPr lang="en-US" sz="1100" dirty="0"/>
          </a:p>
        </p:txBody>
      </p:sp>
      <p:sp>
        <p:nvSpPr>
          <p:cNvPr id="13" name="Shape 11"/>
          <p:cNvSpPr/>
          <p:nvPr/>
        </p:nvSpPr>
        <p:spPr>
          <a:xfrm>
            <a:off x="4709160" y="1280160"/>
            <a:ext cx="3977640" cy="1252728"/>
          </a:xfrm>
          <a:prstGeom prst="roundRect">
            <a:avLst>
              <a:gd name="adj" fmla="val 729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Making change</a:t>
            </a:r>
            <a:endParaRPr lang="en-US" sz="1600" dirty="0"/>
          </a:p>
        </p:txBody>
      </p:sp>
      <p:sp>
        <p:nvSpPr>
          <p:cNvPr id="15" name="Text 13"/>
          <p:cNvSpPr txBox="1"/>
          <p:nvPr/>
        </p:nvSpPr>
        <p:spPr>
          <a:xfrm>
            <a:off x="489204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Making change is the practice of adding to a transaction an output that returns the surplus to the person who is paying.</a:t>
            </a:r>
            <a:endParaRPr lang="en-US" sz="1200" dirty="0"/>
          </a:p>
        </p:txBody>
      </p:sp>
      <p:sp>
        <p:nvSpPr>
          <p:cNvPr id="16" name="Shape 14"/>
          <p:cNvSpPr/>
          <p:nvPr/>
        </p:nvSpPr>
        <p:spPr>
          <a:xfrm>
            <a:off x="4709160" y="2642616"/>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2761488"/>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20 - 5</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15</a:t>
            </a:r>
            <a:endParaRPr lang="en-US" sz="1050" dirty="0"/>
          </a:p>
        </p:txBody>
      </p:sp>
      <p:sp>
        <p:nvSpPr>
          <p:cNvPr id="18" name="Text 16"/>
          <p:cNvSpPr txBox="1"/>
          <p:nvPr/>
        </p:nvSpPr>
        <p:spPr>
          <a:xfrm>
            <a:off x="4709160" y="3224022"/>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480054"/>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wallet's arithmetic is a subtraction. With an input worth 100000 satoshis, a payment of 75000 and a fee of 5000, the change is 100000 - 75000 - 5000, which is 20000.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Coin selection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choosing which inputs to spend</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Coin selection is the process by which a wallet decides which of its unspent outputs to use as inputs in a payment. Different wallets use different strategies.</a:t>
            </a:r>
            <a:endParaRPr lang="en-US" sz="1300" dirty="0"/>
          </a:p>
        </p:txBody>
      </p:sp>
      <p:sp>
        <p:nvSpPr>
          <p:cNvPr id="9" name="Shape 7"/>
          <p:cNvSpPr/>
          <p:nvPr/>
        </p:nvSpPr>
        <p:spPr>
          <a:xfrm>
            <a:off x="457200" y="2524252"/>
            <a:ext cx="8229600" cy="857504"/>
          </a:xfrm>
          <a:prstGeom prst="roundRect">
            <a:avLst>
              <a:gd name="adj" fmla="val 10664"/>
            </a:avLst>
          </a:prstGeom>
          <a:solidFill>
            <a:srgbClr val="15191E"/>
          </a:solidFill>
          <a:ln w="12700">
            <a:solidFill>
              <a:srgbClr val="15191E"/>
            </a:solidFill>
            <a:prstDash val="solid"/>
          </a:ln>
        </p:spPr>
      </p:sp>
      <p:sp>
        <p:nvSpPr>
          <p:cNvPr id="10" name="Text 8"/>
          <p:cNvSpPr txBox="1"/>
          <p:nvPr/>
        </p:nvSpPr>
        <p:spPr>
          <a:xfrm>
            <a:off x="640080" y="2643124"/>
            <a:ext cx="7863840" cy="61976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vals, need = [60000, 30000, 25000], 80000</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next((vals[:i + 1], sum(vals[:i + 1]) - need) for i in range(len(vals)) if sum(vals[:i + 1]) &gt;= need)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([60000, 30000], 10000)</a:t>
            </a:r>
            <a:endParaRPr lang="en-US" sz="1000" dirty="0"/>
          </a:p>
        </p:txBody>
      </p:sp>
      <p:sp>
        <p:nvSpPr>
          <p:cNvPr id="11" name="Text 9"/>
          <p:cNvSpPr txBox="1"/>
          <p:nvPr/>
        </p:nvSpPr>
        <p:spPr>
          <a:xfrm>
            <a:off x="457200" y="340004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61950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73837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12242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simple strategy can be programmed in a few lines.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Form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Transaction - 3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Transactions come in a few typical shapes, which this group calls forms. A form is described by how many inputs and outputs a transaction has and by what it is used for. The chapter names three: the simple payment, with one input and two outputs; the consolidation, which spends several inputs into a single output; and payment batching, which pays several recipients with a single transaction (Antonopoulos and Harding, 2023).</a:t>
            </a:r>
            <a:endParaRPr lang="en-US" sz="1300" dirty="0"/>
          </a:p>
        </p:txBody>
      </p:sp>
      <p:sp>
        <p:nvSpPr>
          <p:cNvPr id="9" name="Shape 7"/>
          <p:cNvSpPr/>
          <p:nvPr/>
        </p:nvSpPr>
        <p:spPr>
          <a:xfrm>
            <a:off x="457200" y="3128518"/>
            <a:ext cx="2645664"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2462784"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Simple payment</a:t>
            </a:r>
            <a:endParaRPr lang="en-US" sz="1250" dirty="0"/>
          </a:p>
        </p:txBody>
      </p:sp>
      <p:sp>
        <p:nvSpPr>
          <p:cNvPr id="11" name="Shape 9"/>
          <p:cNvSpPr/>
          <p:nvPr/>
        </p:nvSpPr>
        <p:spPr>
          <a:xfrm>
            <a:off x="3249168" y="3128518"/>
            <a:ext cx="2645664"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3340608" y="3183382"/>
            <a:ext cx="2462784"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Consolidation</a:t>
            </a:r>
            <a:endParaRPr lang="en-US" sz="1250" dirty="0"/>
          </a:p>
        </p:txBody>
      </p:sp>
      <p:sp>
        <p:nvSpPr>
          <p:cNvPr id="13" name="Shape 11"/>
          <p:cNvSpPr/>
          <p:nvPr/>
        </p:nvSpPr>
        <p:spPr>
          <a:xfrm>
            <a:off x="6041136" y="3128518"/>
            <a:ext cx="2645664" cy="1059434"/>
          </a:xfrm>
          <a:prstGeom prst="roundRect">
            <a:avLst>
              <a:gd name="adj" fmla="val 6905"/>
            </a:avLst>
          </a:prstGeom>
          <a:solidFill>
            <a:srgbClr val="F4F2EE"/>
          </a:solidFill>
          <a:ln w="12700">
            <a:solidFill>
              <a:srgbClr val="D9D4CC"/>
            </a:solidFill>
            <a:prstDash val="solid"/>
          </a:ln>
        </p:spPr>
      </p:sp>
      <p:sp>
        <p:nvSpPr>
          <p:cNvPr id="14" name="Text 12"/>
          <p:cNvSpPr txBox="1"/>
          <p:nvPr/>
        </p:nvSpPr>
        <p:spPr>
          <a:xfrm>
            <a:off x="6132576" y="3183382"/>
            <a:ext cx="2462784"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Payment batching</a:t>
            </a:r>
            <a:endParaRPr lang="en-US" sz="1250" dirty="0"/>
          </a:p>
        </p:txBody>
      </p:sp>
      <p:sp>
        <p:nvSpPr>
          <p:cNvPr id="15" name="Text 1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is taken from the commonest to the least common.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Simple payment and Consolidation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Simple payment</a:t>
            </a:r>
            <a:endParaRPr lang="en-US" sz="1600" dirty="0"/>
          </a:p>
        </p:txBody>
      </p:sp>
      <p:sp>
        <p:nvSpPr>
          <p:cNvPr id="8" name="Text 6"/>
          <p:cNvSpPr txBox="1"/>
          <p:nvPr/>
        </p:nvSpPr>
        <p:spPr>
          <a:xfrm>
            <a:off x="64008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simple payment is the most common form of transaction.</a:t>
            </a:r>
            <a:endParaRPr lang="en-US" sz="1200" dirty="0"/>
          </a:p>
        </p:txBody>
      </p:sp>
      <p:sp>
        <p:nvSpPr>
          <p:cNvPr id="9" name="Shape 7"/>
          <p:cNvSpPr/>
          <p:nvPr/>
        </p:nvSpPr>
        <p:spPr>
          <a:xfrm>
            <a:off x="457200" y="2456688"/>
            <a:ext cx="3977640" cy="888492"/>
          </a:xfrm>
          <a:prstGeom prst="roundRect">
            <a:avLst>
              <a:gd name="adj" fmla="val 10292"/>
            </a:avLst>
          </a:prstGeom>
          <a:solidFill>
            <a:srgbClr val="15191E"/>
          </a:solidFill>
          <a:ln w="12700">
            <a:solidFill>
              <a:srgbClr val="15191E"/>
            </a:solidFill>
            <a:prstDash val="solid"/>
          </a:ln>
        </p:spPr>
      </p:sp>
      <p:sp>
        <p:nvSpPr>
          <p:cNvPr id="10" name="Text 8"/>
          <p:cNvSpPr txBox="1"/>
          <p:nvPr/>
        </p:nvSpPr>
        <p:spPr>
          <a:xfrm>
            <a:off x="640080" y="2575560"/>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ins, outs = [100000], [20000, 75000]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(len(ins), len(outs), sum(ins) - sum(outs))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(1, 2, 5000)</a:t>
            </a:r>
            <a:endParaRPr lang="en-US" sz="1050" dirty="0"/>
          </a:p>
        </p:txBody>
      </p:sp>
      <p:sp>
        <p:nvSpPr>
          <p:cNvPr id="11" name="Text 9"/>
          <p:cNvSpPr txBox="1"/>
          <p:nvPr/>
        </p:nvSpPr>
        <p:spPr>
          <a:xfrm>
            <a:off x="457200" y="336346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619500"/>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Counting is all that is needed. If the number of inputs is one and the number of outputs is two, and the amounts are 100000 for the input, 75000 and 20000 for the outputs, then the fee is the 5000 that remains.</a:t>
            </a:r>
            <a:endParaRPr lang="en-US" sz="1100" dirty="0"/>
          </a:p>
        </p:txBody>
      </p:sp>
      <p:sp>
        <p:nvSpPr>
          <p:cNvPr id="13" name="Shape 11"/>
          <p:cNvSpPr/>
          <p:nvPr/>
        </p:nvSpPr>
        <p:spPr>
          <a:xfrm>
            <a:off x="4709160" y="1280160"/>
            <a:ext cx="3977640" cy="1810512"/>
          </a:xfrm>
          <a:prstGeom prst="roundRect">
            <a:avLst>
              <a:gd name="adj" fmla="val 5051"/>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Consolidation</a:t>
            </a:r>
            <a:endParaRPr lang="en-US" sz="1600" dirty="0"/>
          </a:p>
        </p:txBody>
      </p:sp>
      <p:sp>
        <p:nvSpPr>
          <p:cNvPr id="15" name="Text 13"/>
          <p:cNvSpPr txBox="1"/>
          <p:nvPr/>
        </p:nvSpPr>
        <p:spPr>
          <a:xfrm>
            <a:off x="4892040" y="1783080"/>
            <a:ext cx="3611880" cy="117043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consolidation transaction spends several inputs into a single output. The book offers a picture from everyday money: it is the real-world equivalent of exchanging a pile of coins and currency notes for a single larger note (Antonopoulos and Harding, 2023).</a:t>
            </a:r>
            <a:endParaRPr lang="en-US" sz="1200" dirty="0"/>
          </a:p>
        </p:txBody>
      </p:sp>
      <p:sp>
        <p:nvSpPr>
          <p:cNvPr id="16" name="Shape 14"/>
          <p:cNvSpPr/>
          <p:nvPr/>
        </p:nvSpPr>
        <p:spPr>
          <a:xfrm>
            <a:off x="4709160" y="3200400"/>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3319272"/>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sum([30000, 25000, 20000]) - 1500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73500</a:t>
            </a:r>
            <a:endParaRPr lang="en-US" sz="1050" dirty="0"/>
          </a:p>
        </p:txBody>
      </p:sp>
      <p:sp>
        <p:nvSpPr>
          <p:cNvPr id="18" name="Text 16"/>
          <p:cNvSpPr txBox="1"/>
          <p:nvPr/>
        </p:nvSpPr>
        <p:spPr>
          <a:xfrm>
            <a:off x="4709160" y="3781806"/>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4037838"/>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arithmetic is unchanged: the single output is the sum of the inputs minus the fee.</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Payment batching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transaction, many recipients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Payment batching is the form in which one transaction pays to multiple outputs representing multiple recipients.</a:t>
            </a:r>
            <a:endParaRPr lang="en-US" sz="1300" dirty="0"/>
          </a:p>
        </p:txBody>
      </p:sp>
      <p:sp>
        <p:nvSpPr>
          <p:cNvPr id="9" name="Shape 7"/>
          <p:cNvSpPr/>
          <p:nvPr/>
        </p:nvSpPr>
        <p:spPr>
          <a:xfrm>
            <a:off x="457200" y="2524252"/>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643124"/>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pay = [60000, 55000, 50000, 32000]</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(sum(pay), 200000 - sum(pay) - 3000)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(197000, 0)</a:t>
            </a:r>
            <a:endParaRPr lang="en-US" sz="1100" dirty="0"/>
          </a:p>
        </p:txBody>
      </p:sp>
      <p:sp>
        <p:nvSpPr>
          <p:cNvPr id="11" name="Text 9"/>
          <p:cNvSpPr txBox="1"/>
          <p:nvPr/>
        </p:nvSpPr>
        <p:spPr>
          <a:xfrm>
            <a:off x="457200" y="329158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1104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2991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1396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arithmetic is again the same: the inputs equal the outputs plus the fee.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Unit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Transaction - 1 concepts</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unit is a standard quantity in which value is counted, and a currency usually has several of them: one for everyday prices, smaller ones for small change, and sometimes a very small one in which the accounts are actually kept.</a:t>
            </a:r>
            <a:endParaRPr lang="en-US" sz="1300" dirty="0"/>
          </a:p>
        </p:txBody>
      </p:sp>
      <p:sp>
        <p:nvSpPr>
          <p:cNvPr id="9" name="Shape 7"/>
          <p:cNvSpPr/>
          <p:nvPr/>
        </p:nvSpPr>
        <p:spPr>
          <a:xfrm>
            <a:off x="457200" y="2725674"/>
            <a:ext cx="8229600" cy="1462278"/>
          </a:xfrm>
          <a:prstGeom prst="roundRect">
            <a:avLst>
              <a:gd name="adj" fmla="val 5003"/>
            </a:avLst>
          </a:prstGeom>
          <a:solidFill>
            <a:srgbClr val="F4F2EE"/>
          </a:solidFill>
          <a:ln w="12700">
            <a:solidFill>
              <a:srgbClr val="D9D4CC"/>
            </a:solidFill>
            <a:prstDash val="solid"/>
          </a:ln>
        </p:spPr>
      </p:sp>
      <p:sp>
        <p:nvSpPr>
          <p:cNvPr id="10" name="Text 8"/>
          <p:cNvSpPr txBox="1"/>
          <p:nvPr/>
        </p:nvSpPr>
        <p:spPr>
          <a:xfrm>
            <a:off x="548640" y="2780538"/>
            <a:ext cx="8046720" cy="135255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Satoshi</a:t>
            </a:r>
            <a:endParaRPr lang="en-US" sz="1250" dirty="0"/>
          </a:p>
        </p:txBody>
      </p:sp>
      <p:sp>
        <p:nvSpPr>
          <p:cNvPr id="11" name="Text 9"/>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has a single concept, the satoshi, because every other unit is a plain multiple of it.</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Satoshi</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hundred-millionth of a bitcoin</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satoshi is the smallest unit of bitcoin that can be recorded in a transaction: one hundred-millionth of a bitcoin, or 0.00000001. The book says the Bitcoin network can transact in fractional values, from the millibitcoin, one thousandth of a bitcoin, down to 1/100,000,000th of a bitcoin, which is known as a satoshi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10**8 // 1000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4345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6232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4637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conversions are plain division and multiplication.</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Payment request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Transaction - 6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payment request is the message through which a seller tells a buyer what to pay, to whom and why. In the chapter the request is created automatically by Bob's e-commerce system as a QR code that holds an invoice, and Alice's wallet reads it so that she never has to type an address or an amount. This group explains the pieces: the address-bearing web link called a URI, the QR code that carries it, the improvement proposal that defines its format, and the invoice itself (Antonopoulos and Harding, 2023).</a:t>
            </a:r>
            <a:endParaRPr lang="en-US" sz="1300" dirty="0"/>
          </a:p>
        </p:txBody>
      </p:sp>
      <p:sp>
        <p:nvSpPr>
          <p:cNvPr id="9" name="Shape 7"/>
          <p:cNvSpPr/>
          <p:nvPr/>
        </p:nvSpPr>
        <p:spPr>
          <a:xfrm>
            <a:off x="457200" y="3329940"/>
            <a:ext cx="2645664" cy="364998"/>
          </a:xfrm>
          <a:prstGeom prst="roundRect">
            <a:avLst>
              <a:gd name="adj" fmla="val 20042"/>
            </a:avLst>
          </a:prstGeom>
          <a:solidFill>
            <a:srgbClr val="F4F2EE"/>
          </a:solidFill>
          <a:ln w="12700">
            <a:solidFill>
              <a:srgbClr val="D9D4CC"/>
            </a:solidFill>
            <a:prstDash val="solid"/>
          </a:ln>
        </p:spPr>
      </p:sp>
      <p:sp>
        <p:nvSpPr>
          <p:cNvPr id="10" name="Text 8"/>
          <p:cNvSpPr txBox="1"/>
          <p:nvPr/>
        </p:nvSpPr>
        <p:spPr>
          <a:xfrm>
            <a:off x="548640"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Uniform resource identifier</a:t>
            </a:r>
            <a:endParaRPr lang="en-US" sz="1250" dirty="0"/>
          </a:p>
        </p:txBody>
      </p:sp>
      <p:sp>
        <p:nvSpPr>
          <p:cNvPr id="11" name="Shape 9"/>
          <p:cNvSpPr/>
          <p:nvPr/>
        </p:nvSpPr>
        <p:spPr>
          <a:xfrm>
            <a:off x="3249168" y="3329940"/>
            <a:ext cx="2645664" cy="364998"/>
          </a:xfrm>
          <a:prstGeom prst="roundRect">
            <a:avLst>
              <a:gd name="adj" fmla="val 20042"/>
            </a:avLst>
          </a:prstGeom>
          <a:solidFill>
            <a:srgbClr val="F4F2EE"/>
          </a:solidFill>
          <a:ln w="12700">
            <a:solidFill>
              <a:srgbClr val="D9D4CC"/>
            </a:solidFill>
            <a:prstDash val="solid"/>
          </a:ln>
        </p:spPr>
      </p:sp>
      <p:sp>
        <p:nvSpPr>
          <p:cNvPr id="12" name="Text 10"/>
          <p:cNvSpPr txBox="1"/>
          <p:nvPr/>
        </p:nvSpPr>
        <p:spPr>
          <a:xfrm>
            <a:off x="3340608"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QR code</a:t>
            </a:r>
            <a:endParaRPr lang="en-US" sz="1250" dirty="0"/>
          </a:p>
        </p:txBody>
      </p:sp>
      <p:sp>
        <p:nvSpPr>
          <p:cNvPr id="13" name="Shape 11"/>
          <p:cNvSpPr/>
          <p:nvPr/>
        </p:nvSpPr>
        <p:spPr>
          <a:xfrm>
            <a:off x="6041136" y="3329940"/>
            <a:ext cx="2645664" cy="364998"/>
          </a:xfrm>
          <a:prstGeom prst="roundRect">
            <a:avLst>
              <a:gd name="adj" fmla="val 20042"/>
            </a:avLst>
          </a:prstGeom>
          <a:solidFill>
            <a:srgbClr val="F4F2EE"/>
          </a:solidFill>
          <a:ln w="12700">
            <a:solidFill>
              <a:srgbClr val="D9D4CC"/>
            </a:solidFill>
            <a:prstDash val="solid"/>
          </a:ln>
        </p:spPr>
      </p:sp>
      <p:sp>
        <p:nvSpPr>
          <p:cNvPr id="14" name="Text 12"/>
          <p:cNvSpPr txBox="1"/>
          <p:nvPr/>
        </p:nvSpPr>
        <p:spPr>
          <a:xfrm>
            <a:off x="6132576"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Bitcoin improvement proposal</a:t>
            </a:r>
            <a:endParaRPr lang="en-US" sz="1250" dirty="0"/>
          </a:p>
        </p:txBody>
      </p:sp>
      <p:sp>
        <p:nvSpPr>
          <p:cNvPr id="15" name="Shape 13"/>
          <p:cNvSpPr/>
          <p:nvPr/>
        </p:nvSpPr>
        <p:spPr>
          <a:xfrm>
            <a:off x="457200" y="3822954"/>
            <a:ext cx="2645664" cy="364998"/>
          </a:xfrm>
          <a:prstGeom prst="roundRect">
            <a:avLst>
              <a:gd name="adj" fmla="val 20042"/>
            </a:avLst>
          </a:prstGeom>
          <a:solidFill>
            <a:srgbClr val="F4F2EE"/>
          </a:solidFill>
          <a:ln w="12700">
            <a:solidFill>
              <a:srgbClr val="D9D4CC"/>
            </a:solidFill>
            <a:prstDash val="solid"/>
          </a:ln>
        </p:spPr>
      </p:sp>
      <p:sp>
        <p:nvSpPr>
          <p:cNvPr id="16" name="Text 14"/>
          <p:cNvSpPr txBox="1"/>
          <p:nvPr/>
        </p:nvSpPr>
        <p:spPr>
          <a:xfrm>
            <a:off x="548640" y="3877818"/>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BIP21 URI</a:t>
            </a:r>
            <a:endParaRPr lang="en-US" sz="1250" dirty="0"/>
          </a:p>
        </p:txBody>
      </p:sp>
      <p:sp>
        <p:nvSpPr>
          <p:cNvPr id="17" name="Shape 15"/>
          <p:cNvSpPr/>
          <p:nvPr/>
        </p:nvSpPr>
        <p:spPr>
          <a:xfrm>
            <a:off x="3249168" y="3822954"/>
            <a:ext cx="2645664" cy="364998"/>
          </a:xfrm>
          <a:prstGeom prst="roundRect">
            <a:avLst>
              <a:gd name="adj" fmla="val 20042"/>
            </a:avLst>
          </a:prstGeom>
          <a:solidFill>
            <a:srgbClr val="F4F2EE"/>
          </a:solidFill>
          <a:ln w="12700">
            <a:solidFill>
              <a:srgbClr val="D9D4CC"/>
            </a:solidFill>
            <a:prstDash val="solid"/>
          </a:ln>
        </p:spPr>
      </p:sp>
      <p:sp>
        <p:nvSpPr>
          <p:cNvPr id="18" name="Text 16"/>
          <p:cNvSpPr txBox="1"/>
          <p:nvPr/>
        </p:nvSpPr>
        <p:spPr>
          <a:xfrm>
            <a:off x="3340608" y="3877818"/>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Bitcoin address</a:t>
            </a:r>
            <a:endParaRPr lang="en-US" sz="1250" dirty="0"/>
          </a:p>
        </p:txBody>
      </p:sp>
      <p:sp>
        <p:nvSpPr>
          <p:cNvPr id="19" name="Shape 17"/>
          <p:cNvSpPr/>
          <p:nvPr/>
        </p:nvSpPr>
        <p:spPr>
          <a:xfrm>
            <a:off x="6041136" y="3822954"/>
            <a:ext cx="2645664" cy="364998"/>
          </a:xfrm>
          <a:prstGeom prst="roundRect">
            <a:avLst>
              <a:gd name="adj" fmla="val 20042"/>
            </a:avLst>
          </a:prstGeom>
          <a:solidFill>
            <a:srgbClr val="F4F2EE"/>
          </a:solidFill>
          <a:ln w="12700">
            <a:solidFill>
              <a:srgbClr val="D9D4CC"/>
            </a:solidFill>
            <a:prstDash val="solid"/>
          </a:ln>
        </p:spPr>
      </p:sp>
      <p:sp>
        <p:nvSpPr>
          <p:cNvPr id="20" name="Text 18"/>
          <p:cNvSpPr txBox="1"/>
          <p:nvPr/>
        </p:nvSpPr>
        <p:spPr>
          <a:xfrm>
            <a:off x="6132576" y="3877818"/>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Exchange rate</a:t>
            </a:r>
            <a:endParaRPr lang="en-US" sz="1250" dirty="0"/>
          </a:p>
        </p:txBody>
      </p:sp>
      <p:sp>
        <p:nvSpPr>
          <p:cNvPr id="21" name="Text 19"/>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begins with the URI, the general kind of web address that the request uses. The QR code is then described as the carrier.</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Uniform resource identifier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scheme, a path and a query</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uniform resource identifier, URI, is a string of characters that names or locates something according to a general format.</a:t>
            </a:r>
            <a:endParaRPr lang="en-US" sz="1300" dirty="0"/>
          </a:p>
        </p:txBody>
      </p:sp>
      <p:sp>
        <p:nvSpPr>
          <p:cNvPr id="9" name="Shape 7"/>
          <p:cNvSpPr/>
          <p:nvPr/>
        </p:nvSpPr>
        <p:spPr>
          <a:xfrm>
            <a:off x="457200" y="2524252"/>
            <a:ext cx="8229600" cy="702564"/>
          </a:xfrm>
          <a:prstGeom prst="roundRect">
            <a:avLst>
              <a:gd name="adj" fmla="val 13015"/>
            </a:avLst>
          </a:prstGeom>
          <a:solidFill>
            <a:srgbClr val="15191E"/>
          </a:solidFill>
          <a:ln w="12700">
            <a:solidFill>
              <a:srgbClr val="15191E"/>
            </a:solidFill>
            <a:prstDash val="solid"/>
          </a:ln>
        </p:spPr>
      </p:sp>
      <p:sp>
        <p:nvSpPr>
          <p:cNvPr id="10" name="Text 8"/>
          <p:cNvSpPr txBox="1"/>
          <p:nvPr/>
        </p:nvSpPr>
        <p:spPr>
          <a:xfrm>
            <a:off x="640080" y="2643124"/>
            <a:ext cx="7863840" cy="46482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u = urllib.parse.urlsplit('bitcoin:bc1qk2g6u8p4qm2s2lh3gts5cpt2mrv5skcuu7u3e4?amount=0.01577764')</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(u.scheme, u.path, u.query)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('bitcoin', 'bc1qk2g6u8p4qm2s2lh3gts5cpt2mrv5skcuu7u3e4', 'amount=0.01577764')</a:t>
            </a:r>
            <a:endParaRPr lang="en-US" sz="1000" dirty="0"/>
          </a:p>
        </p:txBody>
      </p:sp>
      <p:sp>
        <p:nvSpPr>
          <p:cNvPr id="11" name="Text 9"/>
          <p:cNvSpPr txBox="1"/>
          <p:nvPr/>
        </p:nvSpPr>
        <p:spPr>
          <a:xfrm>
            <a:off x="457200" y="324510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46456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58343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96748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Python's standard library splits a URI into its parts.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QR code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square of black and white dots</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QR code is a square pattern of black and white dots that serves as a form of barcode: a camera reads it and recovers the text it stores. The book's first chapter describes the code shown on the receive screen of Alice's wallet in this way (Antonopoulos and Harding, 2023).</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 = 'BC1QK2G6U8P4QM2S2LH3GTS5CPT2MRV5SKCUU7U3E4'</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 == a.upper(), a.isalnum(), len(a))</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(True, True, 42)</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12464"/>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3133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15384"/>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What a QR code stores is a string of characters, and the same text can be packed more or less densely.</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Bitcoin improvement proposal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BIP 21 proposes the bitcoin: URI scheme</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Bitcoin improvement proposal, abbreviated BIP, is a design document that provides information to the Bitcoin community or describes a new feature for Bitcoin or its processes or environment.</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hdr = '  BIP: 21\n  Title: URI Scheme\n  Status: Closed'</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dict(l.strip().split(': ', 1) for l in hdr.splitlines() if ': ' in l)['Status']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'Closed'</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12464"/>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3133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15384"/>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Each BIP begins with a header that gives its number, title, authors, status and type.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BIP21 URI</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invoice encoded in the store's QR code</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BIP21 URI is a Bitcoin payment request written as a web link in the format defined by BIP 21.</a:t>
            </a:r>
            <a:endParaRPr lang="en-US" sz="1300" dirty="0"/>
          </a:p>
        </p:txBody>
      </p:sp>
      <p:sp>
        <p:nvSpPr>
          <p:cNvPr id="9" name="Shape 7"/>
          <p:cNvSpPr/>
          <p:nvPr/>
        </p:nvSpPr>
        <p:spPr>
          <a:xfrm>
            <a:off x="457200" y="2322830"/>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2441702"/>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urllib.parse.parse_qs(urllib.parse.urlsplit('bitcoin:bc1qk2g6u8p4qm2s2lh3gts5cpt2mrv5skcuu7u3e4?amount=0.01577764&amp;label=Bob%27s%20Store').query)['label'][0]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"Bob's Store"</a:t>
            </a:r>
            <a:endParaRPr lang="en-US" sz="900" dirty="0"/>
          </a:p>
        </p:txBody>
      </p:sp>
      <p:sp>
        <p:nvSpPr>
          <p:cNvPr id="11" name="Text 9"/>
          <p:cNvSpPr txBox="1"/>
          <p:nvPr/>
        </p:nvSpPr>
        <p:spPr>
          <a:xfrm>
            <a:off x="457200" y="299720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216656"/>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33552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719576"/>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URI can be taken apart with the standard library. Splitting off the query and parsing it, then percent-decoding the label, returns Bob's Store, since %27 is the apostrophe and %20 a space.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Bitcoin address and Exchange rate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Bitcoin address</a:t>
            </a:r>
            <a:endParaRPr lang="en-US" sz="1600" dirty="0"/>
          </a:p>
        </p:txBody>
      </p:sp>
      <p:sp>
        <p:nvSpPr>
          <p:cNvPr id="8" name="Text 6"/>
          <p:cNvSpPr txBox="1"/>
          <p:nvPr/>
        </p:nvSpPr>
        <p:spPr>
          <a:xfrm>
            <a:off x="64008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Bitcoin address is a short string of letters and digits that stands for the condition under which a payment can later be spent.</a:t>
            </a:r>
            <a:endParaRPr lang="en-US" sz="1200" dirty="0"/>
          </a:p>
        </p:txBody>
      </p:sp>
      <p:sp>
        <p:nvSpPr>
          <p:cNvPr id="9" name="Shape 7"/>
          <p:cNvSpPr/>
          <p:nvPr/>
        </p:nvSpPr>
        <p:spPr>
          <a:xfrm>
            <a:off x="457200" y="2642616"/>
            <a:ext cx="3977640" cy="888492"/>
          </a:xfrm>
          <a:prstGeom prst="roundRect">
            <a:avLst>
              <a:gd name="adj" fmla="val 10292"/>
            </a:avLst>
          </a:prstGeom>
          <a:solidFill>
            <a:srgbClr val="15191E"/>
          </a:solidFill>
          <a:ln w="12700">
            <a:solidFill>
              <a:srgbClr val="15191E"/>
            </a:solidFill>
            <a:prstDash val="solid"/>
          </a:ln>
        </p:spPr>
      </p:sp>
      <p:sp>
        <p:nvSpPr>
          <p:cNvPr id="10" name="Text 8"/>
          <p:cNvSpPr txBox="1"/>
          <p:nvPr/>
        </p:nvSpPr>
        <p:spPr>
          <a:xfrm>
            <a:off x="640080" y="2761488"/>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a = 'bc1qk2g6u8p4qm2s2lh3gts5cpt2mrv5skcuu7u3e4'</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(a[:3], len(a), a.islower())</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('bc1', 42, True)</a:t>
            </a:r>
            <a:endParaRPr lang="en-US" sz="1050" dirty="0"/>
          </a:p>
        </p:txBody>
      </p:sp>
      <p:sp>
        <p:nvSpPr>
          <p:cNvPr id="11" name="Text 9"/>
          <p:cNvSpPr txBox="1"/>
          <p:nvPr/>
        </p:nvSpPr>
        <p:spPr>
          <a:xfrm>
            <a:off x="457200" y="3549396"/>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05428"/>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newer format is readable in three parts.</a:t>
            </a:r>
            <a:endParaRPr lang="en-US" sz="1100" dirty="0"/>
          </a:p>
        </p:txBody>
      </p:sp>
      <p:sp>
        <p:nvSpPr>
          <p:cNvPr id="13" name="Shape 11"/>
          <p:cNvSpPr/>
          <p:nvPr/>
        </p:nvSpPr>
        <p:spPr>
          <a:xfrm>
            <a:off x="4709160" y="1280160"/>
            <a:ext cx="3977640" cy="1624584"/>
          </a:xfrm>
          <a:prstGeom prst="roundRect">
            <a:avLst>
              <a:gd name="adj" fmla="val 562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Exchange rate</a:t>
            </a:r>
            <a:endParaRPr lang="en-US" sz="1600" dirty="0"/>
          </a:p>
        </p:txBody>
      </p:sp>
      <p:sp>
        <p:nvSpPr>
          <p:cNvPr id="15" name="Text 13"/>
          <p:cNvSpPr txBox="1"/>
          <p:nvPr/>
        </p:nvSpPr>
        <p:spPr>
          <a:xfrm>
            <a:off x="489204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An exchange rate is the price of one unit of a currency expressed in another currency. In this chapter it is the number that turns a price in United States dollars into an amount of bitcoin.</a:t>
            </a:r>
            <a:endParaRPr lang="en-US" sz="1200" dirty="0"/>
          </a:p>
        </p:txBody>
      </p:sp>
      <p:sp>
        <p:nvSpPr>
          <p:cNvPr id="16" name="Shape 14"/>
          <p:cNvSpPr/>
          <p:nvPr/>
        </p:nvSpPr>
        <p:spPr>
          <a:xfrm>
            <a:off x="4709160" y="3014472"/>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3133344"/>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round(25.0 / 1584.0, 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0.01578283</a:t>
            </a:r>
            <a:endParaRPr lang="en-US" sz="1050" dirty="0"/>
          </a:p>
        </p:txBody>
      </p:sp>
      <p:sp>
        <p:nvSpPr>
          <p:cNvPr id="18" name="Text 16"/>
          <p:cNvSpPr txBox="1"/>
          <p:nvPr/>
        </p:nvSpPr>
        <p:spPr>
          <a:xfrm>
            <a:off x="4709160" y="359587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851910"/>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arithmetic is a division.</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Construction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Transaction - 2 concepts</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Construction is the work of turning a decision to pay into a valid transaction. In the chapter this is done entirely by Alice's wallet application, which contains all the logic for selecting inputs and generating outputs to build a transaction to Alice's specification (Antonopoulos and Harding, 2023). This group describes what the wallet does, in the order in which it does it: find inputs that can pay, create outputs, add a fee and sign.</a:t>
            </a:r>
            <a:endParaRPr lang="en-US" sz="1300" dirty="0"/>
          </a:p>
        </p:txBody>
      </p:sp>
      <p:sp>
        <p:nvSpPr>
          <p:cNvPr id="9" name="Shape 7"/>
          <p:cNvSpPr/>
          <p:nvPr/>
        </p:nvSpPr>
        <p:spPr>
          <a:xfrm>
            <a:off x="457200" y="3128518"/>
            <a:ext cx="4041648" cy="1059434"/>
          </a:xfrm>
          <a:prstGeom prst="roundRect">
            <a:avLst>
              <a:gd name="adj" fmla="val 6905"/>
            </a:avLst>
          </a:prstGeom>
          <a:solidFill>
            <a:srgbClr val="F4F2EE"/>
          </a:solidFill>
          <a:ln w="12700">
            <a:solidFill>
              <a:srgbClr val="D9D4CC"/>
            </a:solidFill>
            <a:prstDash val="solid"/>
          </a:ln>
        </p:spPr>
      </p:sp>
      <p:sp>
        <p:nvSpPr>
          <p:cNvPr id="10" name="Text 8"/>
          <p:cNvSpPr txBox="1"/>
          <p:nvPr/>
        </p:nvSpPr>
        <p:spPr>
          <a:xfrm>
            <a:off x="548640" y="3183382"/>
            <a:ext cx="3858768"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Transaction construction</a:t>
            </a:r>
            <a:endParaRPr lang="en-US" sz="1250" dirty="0"/>
          </a:p>
        </p:txBody>
      </p:sp>
      <p:sp>
        <p:nvSpPr>
          <p:cNvPr id="11" name="Shape 9"/>
          <p:cNvSpPr/>
          <p:nvPr/>
        </p:nvSpPr>
        <p:spPr>
          <a:xfrm>
            <a:off x="4645152" y="3128518"/>
            <a:ext cx="4041648" cy="1059434"/>
          </a:xfrm>
          <a:prstGeom prst="roundRect">
            <a:avLst>
              <a:gd name="adj" fmla="val 6905"/>
            </a:avLst>
          </a:prstGeom>
          <a:solidFill>
            <a:srgbClr val="F4F2EE"/>
          </a:solidFill>
          <a:ln w="12700">
            <a:solidFill>
              <a:srgbClr val="D9D4CC"/>
            </a:solidFill>
            <a:prstDash val="solid"/>
          </a:ln>
        </p:spPr>
      </p:sp>
      <p:sp>
        <p:nvSpPr>
          <p:cNvPr id="12" name="Text 10"/>
          <p:cNvSpPr txBox="1"/>
          <p:nvPr/>
        </p:nvSpPr>
        <p:spPr>
          <a:xfrm>
            <a:off x="4736592" y="3183382"/>
            <a:ext cx="3858768" cy="949706"/>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Wallet</a:t>
            </a:r>
            <a:endParaRPr lang="en-US" sz="125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wallet starts from the outputs it controls, which it tracks.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Transaction construction and Wallet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Transaction construction</a:t>
            </a:r>
            <a:endParaRPr lang="en-US" sz="1600" dirty="0"/>
          </a:p>
        </p:txBody>
      </p:sp>
      <p:sp>
        <p:nvSpPr>
          <p:cNvPr id="8" name="Text 6"/>
          <p:cNvSpPr txBox="1"/>
          <p:nvPr/>
        </p:nvSpPr>
        <p:spPr>
          <a:xfrm>
            <a:off x="64008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Constructing a transaction means assembling its inputs and outputs and signing it.</a:t>
            </a:r>
            <a:endParaRPr lang="en-US" sz="1200" dirty="0"/>
          </a:p>
        </p:txBody>
      </p:sp>
      <p:sp>
        <p:nvSpPr>
          <p:cNvPr id="9" name="Shape 7"/>
          <p:cNvSpPr/>
          <p:nvPr/>
        </p:nvSpPr>
        <p:spPr>
          <a:xfrm>
            <a:off x="457200" y="2456688"/>
            <a:ext cx="3977640" cy="725805"/>
          </a:xfrm>
          <a:prstGeom prst="roundRect">
            <a:avLst>
              <a:gd name="adj" fmla="val 12598"/>
            </a:avLst>
          </a:prstGeom>
          <a:solidFill>
            <a:srgbClr val="15191E"/>
          </a:solidFill>
          <a:ln w="12700">
            <a:solidFill>
              <a:srgbClr val="15191E"/>
            </a:solidFill>
            <a:prstDash val="solid"/>
          </a:ln>
        </p:spPr>
      </p:sp>
      <p:sp>
        <p:nvSpPr>
          <p:cNvPr id="10" name="Text 8"/>
          <p:cNvSpPr txBox="1"/>
          <p:nvPr/>
        </p:nvSpPr>
        <p:spPr>
          <a:xfrm>
            <a:off x="640080" y="2575560"/>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utxo, pay, fee = 100000, 75000, 5000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[utxo - pay - fee, pay]</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[20000, 75000]</a:t>
            </a:r>
            <a:endParaRPr lang="en-US" sz="1050" dirty="0"/>
          </a:p>
        </p:txBody>
      </p:sp>
      <p:sp>
        <p:nvSpPr>
          <p:cNvPr id="11" name="Text 9"/>
          <p:cNvSpPr txBox="1"/>
          <p:nvPr/>
        </p:nvSpPr>
        <p:spPr>
          <a:xfrm>
            <a:off x="457200" y="3200781"/>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56813"/>
            <a:ext cx="3977640" cy="852170"/>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sums can be rehearsed. With an input of 100000 satoshis, a payment of 75000 and a fee of 5000, the change is 100000 - 75000 - 5000, which is 20000, and the two output amounts are 20000 and 75000, exactly the amounts of Alice's real transaction.</a:t>
            </a:r>
            <a:endParaRPr lang="en-US" sz="1100" dirty="0"/>
          </a:p>
        </p:txBody>
      </p:sp>
      <p:sp>
        <p:nvSpPr>
          <p:cNvPr id="13" name="Shape 11"/>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Wallet</a:t>
            </a:r>
            <a:endParaRPr lang="en-US" sz="1600" dirty="0"/>
          </a:p>
        </p:txBody>
      </p:sp>
      <p:sp>
        <p:nvSpPr>
          <p:cNvPr id="15" name="Text 13"/>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wallet is the software through which a person uses Bitcoin.</a:t>
            </a:r>
            <a:endParaRPr lang="en-US" sz="1200" dirty="0"/>
          </a:p>
        </p:txBody>
      </p:sp>
      <p:sp>
        <p:nvSpPr>
          <p:cNvPr id="16" name="Shape 14"/>
          <p:cNvSpPr/>
          <p:nvPr/>
        </p:nvSpPr>
        <p:spPr>
          <a:xfrm>
            <a:off x="4709160" y="2456688"/>
            <a:ext cx="3977640" cy="725805"/>
          </a:xfrm>
          <a:prstGeom prst="roundRect">
            <a:avLst>
              <a:gd name="adj" fmla="val 12598"/>
            </a:avLst>
          </a:prstGeom>
          <a:solidFill>
            <a:srgbClr val="15191E"/>
          </a:solidFill>
          <a:ln w="12700">
            <a:solidFill>
              <a:srgbClr val="15191E"/>
            </a:solidFill>
            <a:prstDash val="solid"/>
          </a:ln>
        </p:spPr>
      </p:sp>
      <p:sp>
        <p:nvSpPr>
          <p:cNvPr id="17" name="Text 15"/>
          <p:cNvSpPr txBox="1"/>
          <p:nvPr/>
        </p:nvSpPr>
        <p:spPr>
          <a:xfrm>
            <a:off x="4892040" y="2575560"/>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utxos, pay, fee = [100000], 75000, 5000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sum(utxos) - pay - fee</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20000</a:t>
            </a:r>
            <a:endParaRPr lang="en-US" sz="1050" dirty="0"/>
          </a:p>
        </p:txBody>
      </p:sp>
      <p:sp>
        <p:nvSpPr>
          <p:cNvPr id="18" name="Text 16"/>
          <p:cNvSpPr txBox="1"/>
          <p:nvPr/>
        </p:nvSpPr>
        <p:spPr>
          <a:xfrm>
            <a:off x="4709160" y="3200781"/>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456813"/>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arithmetic a wallet performs for a payment is the subtraction of this chapter.</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Network</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Bitcoin network is the set of computers that run the Bitcoin protocol and exchange transactions and blocks with one another. This second branch of the chapter follows Alice's transaction out of her wallet and across that network.</a:t>
            </a:r>
            <a:endParaRPr lang="en-US" sz="1500" dirty="0"/>
          </a:p>
        </p:txBody>
      </p:sp>
      <p:sp>
        <p:nvSpPr>
          <p:cNvPr id="5" name="Shape 3"/>
          <p:cNvSpPr/>
          <p:nvPr/>
        </p:nvSpPr>
        <p:spPr>
          <a:xfrm>
            <a:off x="457200" y="2788920"/>
            <a:ext cx="4041648"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 takes part</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4 concepts</a:t>
            </a:r>
            <a:endParaRPr lang="en-US" sz="1200" dirty="0"/>
          </a:p>
        </p:txBody>
      </p:sp>
      <p:sp>
        <p:nvSpPr>
          <p:cNvPr id="7" name="Shape 5"/>
          <p:cNvSpPr/>
          <p:nvPr/>
        </p:nvSpPr>
        <p:spPr>
          <a:xfrm>
            <a:off x="4645152" y="2788920"/>
            <a:ext cx="4041648"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4718304" y="2834640"/>
            <a:ext cx="3895344"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Propagation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6 concepts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Who takes part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Network - 4 concepts</a:t>
            </a:r>
            <a:endParaRPr lang="en-US" sz="1300" dirty="0"/>
          </a:p>
        </p:txBody>
      </p:sp>
      <p:sp>
        <p:nvSpPr>
          <p:cNvPr id="6" name="Shape 4"/>
          <p:cNvSpPr/>
          <p:nvPr/>
        </p:nvSpPr>
        <p:spPr>
          <a:xfrm>
            <a:off x="457200" y="1280160"/>
            <a:ext cx="8229600" cy="2104898"/>
          </a:xfrm>
          <a:prstGeom prst="roundRect">
            <a:avLst>
              <a:gd name="adj" fmla="val 434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46481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This group names the kinds of program that make up the network and says what each of them can and cannot check. The chapter introduces them in one passage: peers in the Bitcoin peer-to-peer network are programs that have both the software logic and the data necessary to fully verify the correctness of a new transaction, that the connections between peers are often drawn as the edges of a graph whose nodes are the peers themselves, and that for that reason Bitcoin peers are commonly called full verification nodes, or full nodes for short (Antonopoulos and Harding, 2023).</a:t>
            </a:r>
            <a:endParaRPr lang="en-US" sz="1300" dirty="0"/>
          </a:p>
        </p:txBody>
      </p:sp>
      <p:sp>
        <p:nvSpPr>
          <p:cNvPr id="9" name="Shape 7"/>
          <p:cNvSpPr/>
          <p:nvPr/>
        </p:nvSpPr>
        <p:spPr>
          <a:xfrm>
            <a:off x="457200" y="3531362"/>
            <a:ext cx="1947672" cy="656590"/>
          </a:xfrm>
          <a:prstGeom prst="roundRect">
            <a:avLst>
              <a:gd name="adj" fmla="val 11141"/>
            </a:avLst>
          </a:prstGeom>
          <a:solidFill>
            <a:srgbClr val="F4F2EE"/>
          </a:solidFill>
          <a:ln w="12700">
            <a:solidFill>
              <a:srgbClr val="D9D4CC"/>
            </a:solidFill>
            <a:prstDash val="solid"/>
          </a:ln>
        </p:spPr>
      </p:sp>
      <p:sp>
        <p:nvSpPr>
          <p:cNvPr id="10" name="Text 8"/>
          <p:cNvSpPr txBox="1"/>
          <p:nvPr/>
        </p:nvSpPr>
        <p:spPr>
          <a:xfrm>
            <a:off x="548640"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Full node</a:t>
            </a:r>
            <a:endParaRPr lang="en-US" sz="1250" dirty="0"/>
          </a:p>
        </p:txBody>
      </p:sp>
      <p:sp>
        <p:nvSpPr>
          <p:cNvPr id="11" name="Shape 9"/>
          <p:cNvSpPr/>
          <p:nvPr/>
        </p:nvSpPr>
        <p:spPr>
          <a:xfrm>
            <a:off x="2551176" y="3531362"/>
            <a:ext cx="1947672" cy="656590"/>
          </a:xfrm>
          <a:prstGeom prst="roundRect">
            <a:avLst>
              <a:gd name="adj" fmla="val 11141"/>
            </a:avLst>
          </a:prstGeom>
          <a:solidFill>
            <a:srgbClr val="F4F2EE"/>
          </a:solidFill>
          <a:ln w="12700">
            <a:solidFill>
              <a:srgbClr val="D9D4CC"/>
            </a:solidFill>
            <a:prstDash val="solid"/>
          </a:ln>
        </p:spPr>
      </p:sp>
      <p:sp>
        <p:nvSpPr>
          <p:cNvPr id="12" name="Text 10"/>
          <p:cNvSpPr txBox="1"/>
          <p:nvPr/>
        </p:nvSpPr>
        <p:spPr>
          <a:xfrm>
            <a:off x="2642616"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Lightweight client</a:t>
            </a:r>
            <a:endParaRPr lang="en-US" sz="1250" dirty="0"/>
          </a:p>
        </p:txBody>
      </p:sp>
      <p:sp>
        <p:nvSpPr>
          <p:cNvPr id="13" name="Shape 11"/>
          <p:cNvSpPr/>
          <p:nvPr/>
        </p:nvSpPr>
        <p:spPr>
          <a:xfrm>
            <a:off x="4645152" y="3531362"/>
            <a:ext cx="1947672" cy="656590"/>
          </a:xfrm>
          <a:prstGeom prst="roundRect">
            <a:avLst>
              <a:gd name="adj" fmla="val 11141"/>
            </a:avLst>
          </a:prstGeom>
          <a:solidFill>
            <a:srgbClr val="F4F2EE"/>
          </a:solidFill>
          <a:ln w="12700">
            <a:solidFill>
              <a:srgbClr val="D9D4CC"/>
            </a:solidFill>
            <a:prstDash val="solid"/>
          </a:ln>
        </p:spPr>
      </p:sp>
      <p:sp>
        <p:nvSpPr>
          <p:cNvPr id="14" name="Text 12"/>
          <p:cNvSpPr txBox="1"/>
          <p:nvPr/>
        </p:nvSpPr>
        <p:spPr>
          <a:xfrm>
            <a:off x="4736592"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Peer and connection</a:t>
            </a:r>
            <a:endParaRPr lang="en-US" sz="1250" dirty="0"/>
          </a:p>
        </p:txBody>
      </p:sp>
      <p:sp>
        <p:nvSpPr>
          <p:cNvPr id="15" name="Shape 13"/>
          <p:cNvSpPr/>
          <p:nvPr/>
        </p:nvSpPr>
        <p:spPr>
          <a:xfrm>
            <a:off x="6739128" y="3531362"/>
            <a:ext cx="1947672" cy="656590"/>
          </a:xfrm>
          <a:prstGeom prst="roundRect">
            <a:avLst>
              <a:gd name="adj" fmla="val 11141"/>
            </a:avLst>
          </a:prstGeom>
          <a:solidFill>
            <a:srgbClr val="F4F2EE"/>
          </a:solidFill>
          <a:ln w="12700">
            <a:solidFill>
              <a:srgbClr val="D9D4CC"/>
            </a:solidFill>
            <a:prstDash val="solid"/>
          </a:ln>
        </p:spPr>
      </p:sp>
      <p:sp>
        <p:nvSpPr>
          <p:cNvPr id="16" name="Text 14"/>
          <p:cNvSpPr txBox="1"/>
          <p:nvPr/>
        </p:nvSpPr>
        <p:spPr>
          <a:xfrm>
            <a:off x="6830568" y="3586226"/>
            <a:ext cx="1764792" cy="546862"/>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Peer-to-peer network</a:t>
            </a:r>
            <a:endParaRPr lang="en-US" sz="1250" dirty="0"/>
          </a:p>
        </p:txBody>
      </p:sp>
      <p:sp>
        <p:nvSpPr>
          <p:cNvPr id="17" name="Text 1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has four concepts, from the most capable to the most abstract. The full node verifies every rule and keeps the data needed to do so.</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Full node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program that verifies every rule</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full node, which the chapter calls a full verification node, is a program that has both the software logic and the data necessary to fully verify the correctness of a new transaction (Antonopoulos and Harding, 2023).</a:t>
            </a:r>
            <a:endParaRPr lang="en-US" sz="1300" dirty="0"/>
          </a:p>
        </p:txBody>
      </p:sp>
      <p:sp>
        <p:nvSpPr>
          <p:cNvPr id="9" name="Shape 7"/>
          <p:cNvSpPr/>
          <p:nvPr/>
        </p:nvSpPr>
        <p:spPr>
          <a:xfrm>
            <a:off x="457200" y="2725674"/>
            <a:ext cx="8229600" cy="795528"/>
          </a:xfrm>
          <a:prstGeom prst="roundRect">
            <a:avLst>
              <a:gd name="adj" fmla="val 11494"/>
            </a:avLst>
          </a:prstGeom>
          <a:solidFill>
            <a:srgbClr val="15191E"/>
          </a:solidFill>
          <a:ln w="12700">
            <a:solidFill>
              <a:srgbClr val="15191E"/>
            </a:solidFill>
            <a:prstDash val="solid"/>
          </a:ln>
        </p:spPr>
      </p:sp>
      <p:sp>
        <p:nvSpPr>
          <p:cNvPr id="10" name="Text 8"/>
          <p:cNvSpPr txBox="1"/>
          <p:nvPr/>
        </p:nvSpPr>
        <p:spPr>
          <a:xfrm>
            <a:off x="640080" y="2844546"/>
            <a:ext cx="7863840" cy="557784"/>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checks = {'syntax': True, 'inputs_nonempty': True, 'amounts_in_range': True, 'outputs_unspent': True, 'scripts_valid': True}</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all(checks.values()) and len(checks)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a:t>
            </a:r>
            <a:endParaRPr lang="en-US" sz="900" dirty="0"/>
          </a:p>
        </p:txBody>
      </p:sp>
      <p:sp>
        <p:nvSpPr>
          <p:cNvPr id="11" name="Text 9"/>
          <p:cNvSpPr txBox="1"/>
          <p:nvPr/>
        </p:nvSpPr>
        <p:spPr>
          <a:xfrm>
            <a:off x="457200" y="353949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58946"/>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7781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61866"/>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Verification is the running of a checklist.</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Lightweight client and Peer and connection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Lightweight client</a:t>
            </a:r>
            <a:endParaRPr lang="en-US" sz="1600" dirty="0"/>
          </a:p>
        </p:txBody>
      </p:sp>
      <p:sp>
        <p:nvSpPr>
          <p:cNvPr id="8" name="Text 6"/>
          <p:cNvSpPr txBox="1"/>
          <p:nvPr/>
        </p:nvSpPr>
        <p:spPr>
          <a:xfrm>
            <a:off x="64008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lightweight client is a Bitcoin program that does not verify everything.</a:t>
            </a:r>
            <a:endParaRPr lang="en-US" sz="1200" dirty="0"/>
          </a:p>
        </p:txBody>
      </p:sp>
      <p:sp>
        <p:nvSpPr>
          <p:cNvPr id="9" name="Shape 7"/>
          <p:cNvSpPr/>
          <p:nvPr/>
        </p:nvSpPr>
        <p:spPr>
          <a:xfrm>
            <a:off x="457200" y="2456688"/>
            <a:ext cx="3977640" cy="725805"/>
          </a:xfrm>
          <a:prstGeom prst="roundRect">
            <a:avLst>
              <a:gd name="adj" fmla="val 12598"/>
            </a:avLst>
          </a:prstGeom>
          <a:solidFill>
            <a:srgbClr val="15191E"/>
          </a:solidFill>
          <a:ln w="12700">
            <a:solidFill>
              <a:srgbClr val="15191E"/>
            </a:solidFill>
            <a:prstDash val="solid"/>
          </a:ln>
        </p:spPr>
      </p:sp>
      <p:sp>
        <p:nvSpPr>
          <p:cNvPr id="10" name="Text 8"/>
          <p:cNvSpPr txBox="1"/>
          <p:nvPr/>
        </p:nvSpPr>
        <p:spPr>
          <a:xfrm>
            <a:off x="640080" y="2575560"/>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headers, full = 80, 800000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round(full / headers)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10000</a:t>
            </a:r>
            <a:endParaRPr lang="en-US" sz="1050" dirty="0"/>
          </a:p>
        </p:txBody>
      </p:sp>
      <p:sp>
        <p:nvSpPr>
          <p:cNvPr id="11" name="Text 9"/>
          <p:cNvSpPr txBox="1"/>
          <p:nvPr/>
        </p:nvSpPr>
        <p:spPr>
          <a:xfrm>
            <a:off x="457200" y="3200781"/>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456813"/>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saving comes from the size of a header.</a:t>
            </a:r>
            <a:endParaRPr lang="en-US" sz="1100" dirty="0"/>
          </a:p>
        </p:txBody>
      </p:sp>
      <p:sp>
        <p:nvSpPr>
          <p:cNvPr id="13" name="Shape 11"/>
          <p:cNvSpPr/>
          <p:nvPr/>
        </p:nvSpPr>
        <p:spPr>
          <a:xfrm>
            <a:off x="4709160" y="1280160"/>
            <a:ext cx="3977640" cy="1252728"/>
          </a:xfrm>
          <a:prstGeom prst="roundRect">
            <a:avLst>
              <a:gd name="adj" fmla="val 729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Peer and connection</a:t>
            </a:r>
            <a:endParaRPr lang="en-US" sz="1600" dirty="0"/>
          </a:p>
        </p:txBody>
      </p:sp>
      <p:sp>
        <p:nvSpPr>
          <p:cNvPr id="15" name="Text 13"/>
          <p:cNvSpPr txBox="1"/>
          <p:nvPr/>
        </p:nvSpPr>
        <p:spPr>
          <a:xfrm>
            <a:off x="489204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peer is another participant of the network with which a node maintains a connection in order to exchange transactions and blocks.</a:t>
            </a:r>
            <a:endParaRPr lang="en-US" sz="1200" dirty="0"/>
          </a:p>
        </p:txBody>
      </p:sp>
      <p:sp>
        <p:nvSpPr>
          <p:cNvPr id="16" name="Shape 14"/>
          <p:cNvSpPr/>
          <p:nvPr/>
        </p:nvSpPr>
        <p:spPr>
          <a:xfrm>
            <a:off x="4709160" y="2642616"/>
            <a:ext cx="3977640" cy="725805"/>
          </a:xfrm>
          <a:prstGeom prst="roundRect">
            <a:avLst>
              <a:gd name="adj" fmla="val 12598"/>
            </a:avLst>
          </a:prstGeom>
          <a:solidFill>
            <a:srgbClr val="15191E"/>
          </a:solidFill>
          <a:ln w="12700">
            <a:solidFill>
              <a:srgbClr val="15191E"/>
            </a:solidFill>
            <a:prstDash val="solid"/>
          </a:ln>
        </p:spPr>
      </p:sp>
      <p:sp>
        <p:nvSpPr>
          <p:cNvPr id="17" name="Text 15"/>
          <p:cNvSpPr txBox="1"/>
          <p:nvPr/>
        </p:nvSpPr>
        <p:spPr>
          <a:xfrm>
            <a:off x="4892040" y="2761488"/>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peers = {'peer-a', 'peer-b', 'peer-c'}</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(len(peers), sorted(peers)[0])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 'peer-a')</a:t>
            </a:r>
            <a:endParaRPr lang="en-US" sz="1050" dirty="0"/>
          </a:p>
        </p:txBody>
      </p:sp>
      <p:sp>
        <p:nvSpPr>
          <p:cNvPr id="18" name="Text 16"/>
          <p:cNvSpPr txBox="1"/>
          <p:nvPr/>
        </p:nvSpPr>
        <p:spPr>
          <a:xfrm>
            <a:off x="4709160" y="3386709"/>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642741"/>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connection is a link between two nodes over which messages travel, and a node has several at once; the small example counts a set of three and names the first.</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Peer-to-peer network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mesh with no server</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peer-to-peer network, often abbreviated to P2P, is a network in which the participants are equals: each of them performs the same functions, each both provides and consumes services, and none of them is special.</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n = 5</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n * (n - 1) //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49040"/>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What makes the structure work is that every node keeps several connections, so that the whole is connected without any central point.</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Propagation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Network - 6 concepts</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Propagation is the spreading of a transaction or a block from the computer that first has it to the rest of the network. This group follows Alice's payment through that spreading, from the moment her wallet transmits it to the moment a reader can look it up from outside.</a:t>
            </a:r>
            <a:endParaRPr lang="en-US" sz="1300" dirty="0"/>
          </a:p>
        </p:txBody>
      </p:sp>
      <p:sp>
        <p:nvSpPr>
          <p:cNvPr id="9" name="Shape 7"/>
          <p:cNvSpPr/>
          <p:nvPr/>
        </p:nvSpPr>
        <p:spPr>
          <a:xfrm>
            <a:off x="457200" y="2725674"/>
            <a:ext cx="2645664" cy="667131"/>
          </a:xfrm>
          <a:prstGeom prst="roundRect">
            <a:avLst>
              <a:gd name="adj" fmla="val 10965"/>
            </a:avLst>
          </a:prstGeom>
          <a:solidFill>
            <a:srgbClr val="F4F2EE"/>
          </a:solidFill>
          <a:ln w="12700">
            <a:solidFill>
              <a:srgbClr val="D9D4CC"/>
            </a:solidFill>
            <a:prstDash val="solid"/>
          </a:ln>
        </p:spPr>
      </p:sp>
      <p:sp>
        <p:nvSpPr>
          <p:cNvPr id="10" name="Text 8"/>
          <p:cNvSpPr txBox="1"/>
          <p:nvPr/>
        </p:nvSpPr>
        <p:spPr>
          <a:xfrm>
            <a:off x="548640" y="2780538"/>
            <a:ext cx="2462784" cy="557403"/>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Transmitting the transaction</a:t>
            </a:r>
            <a:endParaRPr lang="en-US" sz="1250" dirty="0"/>
          </a:p>
        </p:txBody>
      </p:sp>
      <p:sp>
        <p:nvSpPr>
          <p:cNvPr id="11" name="Shape 9"/>
          <p:cNvSpPr/>
          <p:nvPr/>
        </p:nvSpPr>
        <p:spPr>
          <a:xfrm>
            <a:off x="3249168" y="2725674"/>
            <a:ext cx="2645664" cy="667131"/>
          </a:xfrm>
          <a:prstGeom prst="roundRect">
            <a:avLst>
              <a:gd name="adj" fmla="val 10965"/>
            </a:avLst>
          </a:prstGeom>
          <a:solidFill>
            <a:srgbClr val="F4F2EE"/>
          </a:solidFill>
          <a:ln w="12700">
            <a:solidFill>
              <a:srgbClr val="D9D4CC"/>
            </a:solidFill>
            <a:prstDash val="solid"/>
          </a:ln>
        </p:spPr>
      </p:sp>
      <p:sp>
        <p:nvSpPr>
          <p:cNvPr id="12" name="Text 10"/>
          <p:cNvSpPr txBox="1"/>
          <p:nvPr/>
        </p:nvSpPr>
        <p:spPr>
          <a:xfrm>
            <a:off x="3340608" y="2780538"/>
            <a:ext cx="2462784" cy="557403"/>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Gossiping</a:t>
            </a:r>
            <a:endParaRPr lang="en-US" sz="1250" dirty="0"/>
          </a:p>
        </p:txBody>
      </p:sp>
      <p:sp>
        <p:nvSpPr>
          <p:cNvPr id="13" name="Shape 11"/>
          <p:cNvSpPr/>
          <p:nvPr/>
        </p:nvSpPr>
        <p:spPr>
          <a:xfrm>
            <a:off x="6041136" y="2725674"/>
            <a:ext cx="2645664" cy="667131"/>
          </a:xfrm>
          <a:prstGeom prst="roundRect">
            <a:avLst>
              <a:gd name="adj" fmla="val 10965"/>
            </a:avLst>
          </a:prstGeom>
          <a:solidFill>
            <a:srgbClr val="F4F2EE"/>
          </a:solidFill>
          <a:ln w="12700">
            <a:solidFill>
              <a:srgbClr val="D9D4CC"/>
            </a:solidFill>
            <a:prstDash val="solid"/>
          </a:ln>
        </p:spPr>
      </p:sp>
      <p:sp>
        <p:nvSpPr>
          <p:cNvPr id="14" name="Text 12"/>
          <p:cNvSpPr txBox="1"/>
          <p:nvPr/>
        </p:nvSpPr>
        <p:spPr>
          <a:xfrm>
            <a:off x="6132576" y="2780538"/>
            <a:ext cx="2462784" cy="557403"/>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Transaction propagation</a:t>
            </a:r>
            <a:endParaRPr lang="en-US" sz="1250" dirty="0"/>
          </a:p>
        </p:txBody>
      </p:sp>
      <p:sp>
        <p:nvSpPr>
          <p:cNvPr id="15" name="Shape 13"/>
          <p:cNvSpPr/>
          <p:nvPr/>
        </p:nvSpPr>
        <p:spPr>
          <a:xfrm>
            <a:off x="457200" y="3520821"/>
            <a:ext cx="2645664" cy="667131"/>
          </a:xfrm>
          <a:prstGeom prst="roundRect">
            <a:avLst>
              <a:gd name="adj" fmla="val 10965"/>
            </a:avLst>
          </a:prstGeom>
          <a:solidFill>
            <a:srgbClr val="F4F2EE"/>
          </a:solidFill>
          <a:ln w="12700">
            <a:solidFill>
              <a:srgbClr val="D9D4CC"/>
            </a:solidFill>
            <a:prstDash val="solid"/>
          </a:ln>
        </p:spPr>
      </p:sp>
      <p:sp>
        <p:nvSpPr>
          <p:cNvPr id="16" name="Text 14"/>
          <p:cNvSpPr txBox="1"/>
          <p:nvPr/>
        </p:nvSpPr>
        <p:spPr>
          <a:xfrm>
            <a:off x="548640" y="3575685"/>
            <a:ext cx="2462784" cy="557403"/>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Memory pool</a:t>
            </a:r>
            <a:endParaRPr lang="en-US" sz="1250" dirty="0"/>
          </a:p>
        </p:txBody>
      </p:sp>
      <p:sp>
        <p:nvSpPr>
          <p:cNvPr id="17" name="Shape 15"/>
          <p:cNvSpPr/>
          <p:nvPr/>
        </p:nvSpPr>
        <p:spPr>
          <a:xfrm>
            <a:off x="3249168" y="3520821"/>
            <a:ext cx="2645664" cy="667131"/>
          </a:xfrm>
          <a:prstGeom prst="roundRect">
            <a:avLst>
              <a:gd name="adj" fmla="val 10965"/>
            </a:avLst>
          </a:prstGeom>
          <a:solidFill>
            <a:srgbClr val="F4F2EE"/>
          </a:solidFill>
          <a:ln w="12700">
            <a:solidFill>
              <a:srgbClr val="D9D4CC"/>
            </a:solidFill>
            <a:prstDash val="solid"/>
          </a:ln>
        </p:spPr>
      </p:sp>
      <p:sp>
        <p:nvSpPr>
          <p:cNvPr id="18" name="Text 16"/>
          <p:cNvSpPr txBox="1"/>
          <p:nvPr/>
        </p:nvSpPr>
        <p:spPr>
          <a:xfrm>
            <a:off x="3340608" y="3575685"/>
            <a:ext cx="2462784" cy="557403"/>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The recipient's own check</a:t>
            </a:r>
            <a:endParaRPr lang="en-US" sz="1250" dirty="0"/>
          </a:p>
        </p:txBody>
      </p:sp>
      <p:sp>
        <p:nvSpPr>
          <p:cNvPr id="19" name="Shape 17"/>
          <p:cNvSpPr/>
          <p:nvPr/>
        </p:nvSpPr>
        <p:spPr>
          <a:xfrm>
            <a:off x="6041136" y="3520821"/>
            <a:ext cx="2645664" cy="667131"/>
          </a:xfrm>
          <a:prstGeom prst="roundRect">
            <a:avLst>
              <a:gd name="adj" fmla="val 10965"/>
            </a:avLst>
          </a:prstGeom>
          <a:solidFill>
            <a:srgbClr val="F4F2EE"/>
          </a:solidFill>
          <a:ln w="12700">
            <a:solidFill>
              <a:srgbClr val="D9D4CC"/>
            </a:solidFill>
            <a:prstDash val="solid"/>
          </a:ln>
        </p:spPr>
      </p:sp>
      <p:sp>
        <p:nvSpPr>
          <p:cNvPr id="20" name="Text 18"/>
          <p:cNvSpPr txBox="1"/>
          <p:nvPr/>
        </p:nvSpPr>
        <p:spPr>
          <a:xfrm>
            <a:off x="6132576" y="3575685"/>
            <a:ext cx="2462784" cy="557403"/>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Block explorer</a:t>
            </a:r>
            <a:endParaRPr lang="en-US" sz="1250" dirty="0"/>
          </a:p>
        </p:txBody>
      </p:sp>
      <p:sp>
        <p:nvSpPr>
          <p:cNvPr id="21" name="Text 19"/>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is taken in the order of the journey. Transmission is the first hop out of the wallet.</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Transmitting the transaction and Gossiping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Transmitting the transaction</a:t>
            </a:r>
            <a:endParaRPr lang="en-US" sz="1600" dirty="0"/>
          </a:p>
        </p:txBody>
      </p:sp>
      <p:sp>
        <p:nvSpPr>
          <p:cNvPr id="8" name="Text 6"/>
          <p:cNvSpPr txBox="1"/>
          <p:nvPr/>
        </p:nvSpPr>
        <p:spPr>
          <a:xfrm>
            <a:off x="64008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Transmission is the step in which a finished, signed transaction leaves the wallet that built it and is handed to the network.</a:t>
            </a:r>
            <a:endParaRPr lang="en-US" sz="1200" dirty="0"/>
          </a:p>
        </p:txBody>
      </p:sp>
      <p:sp>
        <p:nvSpPr>
          <p:cNvPr id="9" name="Shape 7"/>
          <p:cNvSpPr/>
          <p:nvPr/>
        </p:nvSpPr>
        <p:spPr>
          <a:xfrm>
            <a:off x="457200" y="2642616"/>
            <a:ext cx="3977640" cy="888492"/>
          </a:xfrm>
          <a:prstGeom prst="roundRect">
            <a:avLst>
              <a:gd name="adj" fmla="val 10292"/>
            </a:avLst>
          </a:prstGeom>
          <a:solidFill>
            <a:srgbClr val="15191E"/>
          </a:solidFill>
          <a:ln w="12700">
            <a:solidFill>
              <a:srgbClr val="15191E"/>
            </a:solidFill>
            <a:prstDash val="solid"/>
          </a:ln>
        </p:spPr>
      </p:sp>
      <p:sp>
        <p:nvSpPr>
          <p:cNvPr id="10" name="Text 8"/>
          <p:cNvSpPr txBox="1"/>
          <p:nvPr/>
        </p:nvSpPr>
        <p:spPr>
          <a:xfrm>
            <a:off x="640080" y="2761488"/>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routes = {'wired', 'wifi', 'mobile', 'block explorer'}</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sorted(routes)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['block explorer', 'mobile', 'wifi', 'wired']</a:t>
            </a:r>
            <a:endParaRPr lang="en-US" sz="1050" dirty="0"/>
          </a:p>
        </p:txBody>
      </p:sp>
      <p:sp>
        <p:nvSpPr>
          <p:cNvPr id="11" name="Text 9"/>
          <p:cNvSpPr txBox="1"/>
          <p:nvPr/>
        </p:nvSpPr>
        <p:spPr>
          <a:xfrm>
            <a:off x="457200" y="3549396"/>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Gossiping</a:t>
            </a:r>
            <a:endParaRPr lang="en-US" sz="1600" dirty="0"/>
          </a:p>
        </p:txBody>
      </p:sp>
      <p:sp>
        <p:nvSpPr>
          <p:cNvPr id="14" name="Text 12"/>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Gossiping is the name the chapter gives to the way data spreads through the Bitcoin network.</a:t>
            </a:r>
            <a:endParaRPr lang="en-US" sz="1200" dirty="0"/>
          </a:p>
        </p:txBody>
      </p:sp>
      <p:sp>
        <p:nvSpPr>
          <p:cNvPr id="15" name="Shape 13"/>
          <p:cNvSpPr/>
          <p:nvPr/>
        </p:nvSpPr>
        <p:spPr>
          <a:xfrm>
            <a:off x="4709160" y="2456688"/>
            <a:ext cx="3977640" cy="725805"/>
          </a:xfrm>
          <a:prstGeom prst="roundRect">
            <a:avLst>
              <a:gd name="adj" fmla="val 12598"/>
            </a:avLst>
          </a:prstGeom>
          <a:solidFill>
            <a:srgbClr val="15191E"/>
          </a:solidFill>
          <a:ln w="12700">
            <a:solidFill>
              <a:srgbClr val="15191E"/>
            </a:solidFill>
            <a:prstDash val="solid"/>
          </a:ln>
        </p:spPr>
      </p:sp>
      <p:sp>
        <p:nvSpPr>
          <p:cNvPr id="16" name="Text 14"/>
          <p:cNvSpPr txBox="1"/>
          <p:nvPr/>
        </p:nvSpPr>
        <p:spPr>
          <a:xfrm>
            <a:off x="4892040" y="2575560"/>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peers, rounds = 8, 3</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peers ** rounds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512</a:t>
            </a:r>
            <a:endParaRPr lang="en-US" sz="1050" dirty="0"/>
          </a:p>
        </p:txBody>
      </p:sp>
      <p:sp>
        <p:nvSpPr>
          <p:cNvPr id="17" name="Text 15"/>
          <p:cNvSpPr txBox="1"/>
          <p:nvPr/>
        </p:nvSpPr>
        <p:spPr>
          <a:xfrm>
            <a:off x="4709160" y="3200781"/>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709160" y="3456813"/>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reach grows multiplicatively.</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Transaction propagation and Memory pool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Transaction propagation</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Transaction propagation is the spread of a signed transaction across the network until it has reached, in practice, everyone who cares, including the miners who may record it.</a:t>
            </a:r>
            <a:endParaRPr lang="en-US" sz="1200" dirty="0"/>
          </a:p>
        </p:txBody>
      </p:sp>
      <p:sp>
        <p:nvSpPr>
          <p:cNvPr id="9" name="Shape 7"/>
          <p:cNvSpPr/>
          <p:nvPr/>
        </p:nvSpPr>
        <p:spPr>
          <a:xfrm>
            <a:off x="457200" y="2828544"/>
            <a:ext cx="3977640" cy="725805"/>
          </a:xfrm>
          <a:prstGeom prst="roundRect">
            <a:avLst>
              <a:gd name="adj" fmla="val 12598"/>
            </a:avLst>
          </a:prstGeom>
          <a:solidFill>
            <a:srgbClr val="15191E"/>
          </a:solidFill>
          <a:ln w="12700">
            <a:solidFill>
              <a:srgbClr val="15191E"/>
            </a:solidFill>
            <a:prstDash val="solid"/>
          </a:ln>
        </p:spPr>
      </p:sp>
      <p:sp>
        <p:nvSpPr>
          <p:cNvPr id="10" name="Text 8"/>
          <p:cNvSpPr txBox="1"/>
          <p:nvPr/>
        </p:nvSpPr>
        <p:spPr>
          <a:xfrm>
            <a:off x="640080" y="2947416"/>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sec, nodes = 5, 10000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round(nodes / sec)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2000</a:t>
            </a:r>
            <a:endParaRPr lang="en-US" sz="1050" dirty="0"/>
          </a:p>
        </p:txBody>
      </p:sp>
      <p:sp>
        <p:nvSpPr>
          <p:cNvPr id="11" name="Text 9"/>
          <p:cNvSpPr txBox="1"/>
          <p:nvPr/>
        </p:nvSpPr>
        <p:spPr>
          <a:xfrm>
            <a:off x="457200" y="3572637"/>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28669"/>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rough arithmetic of the chapter's claim can be done.</a:t>
            </a:r>
            <a:endParaRPr lang="en-US" sz="1100" dirty="0"/>
          </a:p>
        </p:txBody>
      </p:sp>
      <p:sp>
        <p:nvSpPr>
          <p:cNvPr id="13" name="Shape 11"/>
          <p:cNvSpPr/>
          <p:nvPr/>
        </p:nvSpPr>
        <p:spPr>
          <a:xfrm>
            <a:off x="4709160" y="1280160"/>
            <a:ext cx="3977640" cy="1252728"/>
          </a:xfrm>
          <a:prstGeom prst="roundRect">
            <a:avLst>
              <a:gd name="adj" fmla="val 729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Memory pool</a:t>
            </a:r>
            <a:endParaRPr lang="en-US" sz="1600" dirty="0"/>
          </a:p>
        </p:txBody>
      </p:sp>
      <p:sp>
        <p:nvSpPr>
          <p:cNvPr id="15" name="Text 13"/>
          <p:cNvSpPr txBox="1"/>
          <p:nvPr/>
        </p:nvSpPr>
        <p:spPr>
          <a:xfrm>
            <a:off x="489204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memory pool, usually shortened to mempool, is the collection of transactions that a node has verified but that are not yet in any block.</a:t>
            </a:r>
            <a:endParaRPr lang="en-US" sz="1200" dirty="0"/>
          </a:p>
        </p:txBody>
      </p:sp>
      <p:sp>
        <p:nvSpPr>
          <p:cNvPr id="16" name="Shape 14"/>
          <p:cNvSpPr/>
          <p:nvPr/>
        </p:nvSpPr>
        <p:spPr>
          <a:xfrm>
            <a:off x="4709160" y="2642616"/>
            <a:ext cx="3977640" cy="888492"/>
          </a:xfrm>
          <a:prstGeom prst="roundRect">
            <a:avLst>
              <a:gd name="adj" fmla="val 10292"/>
            </a:avLst>
          </a:prstGeom>
          <a:solidFill>
            <a:srgbClr val="15191E"/>
          </a:solidFill>
          <a:ln w="12700">
            <a:solidFill>
              <a:srgbClr val="15191E"/>
            </a:solidFill>
            <a:prstDash val="solid"/>
          </a:ln>
        </p:spPr>
      </p:sp>
      <p:sp>
        <p:nvSpPr>
          <p:cNvPr id="17" name="Text 15"/>
          <p:cNvSpPr txBox="1"/>
          <p:nvPr/>
        </p:nvSpPr>
        <p:spPr>
          <a:xfrm>
            <a:off x="4892040" y="2761488"/>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pool, mined = ['txA', 'txB', 'txC'], {'txB'}</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[t for t in pool if t not in mined]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['txA', 'txC']</a:t>
            </a:r>
            <a:endParaRPr lang="en-US" sz="1050" dirty="0"/>
          </a:p>
        </p:txBody>
      </p:sp>
      <p:sp>
        <p:nvSpPr>
          <p:cNvPr id="18" name="Text 16"/>
          <p:cNvSpPr txBox="1"/>
          <p:nvPr/>
        </p:nvSpPr>
        <p:spPr>
          <a:xfrm>
            <a:off x="4709160" y="3549396"/>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805428"/>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Maintaining the pool is adding and removing.</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The recipient's own check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Bob's wallet recognising the payment</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recipient's own check is what happens in Bob's wallet when Alice's transaction arrives. The chapter devotes a short section to it, called Bob's view, and makes three statements.</a:t>
            </a:r>
            <a:endParaRPr lang="en-US" sz="1300" dirty="0"/>
          </a:p>
        </p:txBody>
      </p:sp>
      <p:sp>
        <p:nvSpPr>
          <p:cNvPr id="9" name="Shape 7"/>
          <p:cNvSpPr/>
          <p:nvPr/>
        </p:nvSpPr>
        <p:spPr>
          <a:xfrm>
            <a:off x="457200" y="2524252"/>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643124"/>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outs, mine = [(20000, 'alice'), (75000, 'bob')], 'bob'</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 for i, (amt, owner) in enumerate(outs) if owner == mine]</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a:t>
            </a:r>
            <a:endParaRPr lang="en-US" sz="1100" dirty="0"/>
          </a:p>
        </p:txBody>
      </p:sp>
      <p:sp>
        <p:nvSpPr>
          <p:cNvPr id="11" name="Text 9"/>
          <p:cNvSpPr txBox="1"/>
          <p:nvPr/>
        </p:nvSpPr>
        <p:spPr>
          <a:xfrm>
            <a:off x="457200" y="329158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1104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2991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1396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Recognition is a search through the outputs for one that the wallet's own keys can spend.</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 explorer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web page showing Alice's transaction</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block explorer is a web application that operates as a Bitcoin search engine: it allows you to search for addresses, transactions and blocks and to see the relationships and flows between them, in the chapter's own words (Antonopoulos and Harding, 2023).</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q = '466200308696215bbc949d5141a49a4138ecdfdfaa2a8029c1f9bcecd1f96177'</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'txid' if len(q) == 64 else 'address' if q.startswith('bc1') else 'height'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'txid'</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49040"/>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An explorer works out from the shape of the query what is being asked for, and the small example shows the idea: a query of sixty-four hexadecimal characters is a transaction or block hash, a string beginning with bc1 is an address of the newer format, and a plain number is a block height.</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Blockchain</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blockchain is the record in which Bitcoin's transactions are finally written down.</a:t>
            </a:r>
            <a:endParaRPr lang="en-US" sz="1500" dirty="0"/>
          </a:p>
        </p:txBody>
      </p:sp>
      <p:sp>
        <p:nvSpPr>
          <p:cNvPr id="5" name="Shape 3"/>
          <p:cNvSpPr/>
          <p:nvPr/>
        </p:nvSpPr>
        <p:spPr>
          <a:xfrm>
            <a:off x="457200" y="2788920"/>
            <a:ext cx="2645664"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Mining</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14 concepts</a:t>
            </a:r>
            <a:endParaRPr lang="en-US" sz="1200" dirty="0"/>
          </a:p>
        </p:txBody>
      </p:sp>
      <p:sp>
        <p:nvSpPr>
          <p:cNvPr id="7" name="Shape 5"/>
          <p:cNvSpPr/>
          <p:nvPr/>
        </p:nvSpPr>
        <p:spPr>
          <a:xfrm>
            <a:off x="3249168" y="2788920"/>
            <a:ext cx="2645664" cy="1371600"/>
          </a:xfrm>
          <a:prstGeom prst="roundRect">
            <a:avLst>
              <a:gd name="adj" fmla="val 5333"/>
            </a:avLst>
          </a:prstGeom>
          <a:solidFill>
            <a:srgbClr val="3A4250"/>
          </a:solidFill>
          <a:ln w="12700">
            <a:solidFill>
              <a:srgbClr val="F7931A"/>
            </a:solidFill>
            <a:prstDash val="solid"/>
          </a:ln>
        </p:spPr>
      </p:sp>
      <p:sp>
        <p:nvSpPr>
          <p:cNvPr id="8" name="Text 6"/>
          <p:cNvSpPr txBox="1"/>
          <p:nvPr/>
        </p:nvSpPr>
        <p:spPr>
          <a:xfrm>
            <a:off x="3322320"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Security</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9 concepts</a:t>
            </a:r>
            <a:endParaRPr lang="en-US" sz="1200" dirty="0"/>
          </a:p>
        </p:txBody>
      </p:sp>
      <p:sp>
        <p:nvSpPr>
          <p:cNvPr id="9" name="Shape 7"/>
          <p:cNvSpPr/>
          <p:nvPr/>
        </p:nvSpPr>
        <p:spPr>
          <a:xfrm>
            <a:off x="6041136" y="2788920"/>
            <a:ext cx="2645664" cy="1371600"/>
          </a:xfrm>
          <a:prstGeom prst="roundRect">
            <a:avLst>
              <a:gd name="adj" fmla="val 5333"/>
            </a:avLst>
          </a:prstGeom>
          <a:solidFill>
            <a:srgbClr val="3A4250"/>
          </a:solidFill>
          <a:ln w="12700">
            <a:solidFill>
              <a:srgbClr val="F7931A"/>
            </a:solidFill>
            <a:prstDash val="solid"/>
          </a:ln>
        </p:spPr>
      </p:sp>
      <p:sp>
        <p:nvSpPr>
          <p:cNvPr id="10" name="Text 8"/>
          <p:cNvSpPr txBox="1"/>
          <p:nvPr/>
        </p:nvSpPr>
        <p:spPr>
          <a:xfrm>
            <a:off x="6114288" y="2834640"/>
            <a:ext cx="2499360"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Spending the transaction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2 concepts</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Mining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Blockchain - 14 concepts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Mining is the process that turns a pool of unconfirmed transactions into the next block of the blockchain.</a:t>
            </a:r>
            <a:endParaRPr lang="en-US" sz="1300" dirty="0"/>
          </a:p>
        </p:txBody>
      </p:sp>
      <p:sp>
        <p:nvSpPr>
          <p:cNvPr id="9" name="Shape 7"/>
          <p:cNvSpPr/>
          <p:nvPr/>
        </p:nvSpPr>
        <p:spPr>
          <a:xfrm>
            <a:off x="457200" y="2524252"/>
            <a:ext cx="1947672" cy="324485"/>
          </a:xfrm>
          <a:prstGeom prst="roundRect">
            <a:avLst>
              <a:gd name="adj" fmla="val 22544"/>
            </a:avLst>
          </a:prstGeom>
          <a:solidFill>
            <a:srgbClr val="F4F2EE"/>
          </a:solidFill>
          <a:ln w="12700">
            <a:solidFill>
              <a:srgbClr val="D9D4CC"/>
            </a:solidFill>
            <a:prstDash val="solid"/>
          </a:ln>
        </p:spPr>
      </p:sp>
      <p:sp>
        <p:nvSpPr>
          <p:cNvPr id="10" name="Text 8"/>
          <p:cNvSpPr txBox="1"/>
          <p:nvPr/>
        </p:nvSpPr>
        <p:spPr>
          <a:xfrm>
            <a:off x="548640" y="2579116"/>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Miner</a:t>
            </a:r>
            <a:endParaRPr lang="en-US" sz="1150" dirty="0"/>
          </a:p>
        </p:txBody>
      </p:sp>
      <p:sp>
        <p:nvSpPr>
          <p:cNvPr id="11" name="Shape 9"/>
          <p:cNvSpPr/>
          <p:nvPr/>
        </p:nvSpPr>
        <p:spPr>
          <a:xfrm>
            <a:off x="2551176" y="2524252"/>
            <a:ext cx="1947672" cy="324485"/>
          </a:xfrm>
          <a:prstGeom prst="roundRect">
            <a:avLst>
              <a:gd name="adj" fmla="val 22544"/>
            </a:avLst>
          </a:prstGeom>
          <a:solidFill>
            <a:srgbClr val="F4F2EE"/>
          </a:solidFill>
          <a:ln w="12700">
            <a:solidFill>
              <a:srgbClr val="D9D4CC"/>
            </a:solidFill>
            <a:prstDash val="solid"/>
          </a:ln>
        </p:spPr>
      </p:sp>
      <p:sp>
        <p:nvSpPr>
          <p:cNvPr id="12" name="Text 10"/>
          <p:cNvSpPr txBox="1"/>
          <p:nvPr/>
        </p:nvSpPr>
        <p:spPr>
          <a:xfrm>
            <a:off x="2642616" y="2579116"/>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Candidate block</a:t>
            </a:r>
            <a:endParaRPr lang="en-US" sz="1150" dirty="0"/>
          </a:p>
        </p:txBody>
      </p:sp>
      <p:sp>
        <p:nvSpPr>
          <p:cNvPr id="13" name="Shape 11"/>
          <p:cNvSpPr/>
          <p:nvPr/>
        </p:nvSpPr>
        <p:spPr>
          <a:xfrm>
            <a:off x="4645152" y="2524252"/>
            <a:ext cx="1947672" cy="324485"/>
          </a:xfrm>
          <a:prstGeom prst="roundRect">
            <a:avLst>
              <a:gd name="adj" fmla="val 22544"/>
            </a:avLst>
          </a:prstGeom>
          <a:solidFill>
            <a:srgbClr val="F4F2EE"/>
          </a:solidFill>
          <a:ln w="12700">
            <a:solidFill>
              <a:srgbClr val="D9D4CC"/>
            </a:solidFill>
            <a:prstDash val="solid"/>
          </a:ln>
        </p:spPr>
      </p:sp>
      <p:sp>
        <p:nvSpPr>
          <p:cNvPr id="14" name="Text 12"/>
          <p:cNvSpPr txBox="1"/>
          <p:nvPr/>
        </p:nvSpPr>
        <p:spPr>
          <a:xfrm>
            <a:off x="4736592" y="2579116"/>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Proof of work</a:t>
            </a:r>
            <a:endParaRPr lang="en-US" sz="1150" dirty="0"/>
          </a:p>
        </p:txBody>
      </p:sp>
      <p:sp>
        <p:nvSpPr>
          <p:cNvPr id="15" name="Shape 13"/>
          <p:cNvSpPr/>
          <p:nvPr/>
        </p:nvSpPr>
        <p:spPr>
          <a:xfrm>
            <a:off x="6739128" y="2524252"/>
            <a:ext cx="1947672" cy="324485"/>
          </a:xfrm>
          <a:prstGeom prst="roundRect">
            <a:avLst>
              <a:gd name="adj" fmla="val 22544"/>
            </a:avLst>
          </a:prstGeom>
          <a:solidFill>
            <a:srgbClr val="F4F2EE"/>
          </a:solidFill>
          <a:ln w="12700">
            <a:solidFill>
              <a:srgbClr val="D9D4CC"/>
            </a:solidFill>
            <a:prstDash val="solid"/>
          </a:ln>
        </p:spPr>
      </p:sp>
      <p:sp>
        <p:nvSpPr>
          <p:cNvPr id="16" name="Text 14"/>
          <p:cNvSpPr txBox="1"/>
          <p:nvPr/>
        </p:nvSpPr>
        <p:spPr>
          <a:xfrm>
            <a:off x="6830568" y="2579116"/>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a:t>
            </a:r>
            <a:endParaRPr lang="en-US" sz="1150" dirty="0"/>
          </a:p>
        </p:txBody>
      </p:sp>
      <p:sp>
        <p:nvSpPr>
          <p:cNvPr id="17" name="Shape 15"/>
          <p:cNvSpPr/>
          <p:nvPr/>
        </p:nvSpPr>
        <p:spPr>
          <a:xfrm>
            <a:off x="457200" y="2976753"/>
            <a:ext cx="1947672" cy="324485"/>
          </a:xfrm>
          <a:prstGeom prst="roundRect">
            <a:avLst>
              <a:gd name="adj" fmla="val 22544"/>
            </a:avLst>
          </a:prstGeom>
          <a:solidFill>
            <a:srgbClr val="F4F2EE"/>
          </a:solidFill>
          <a:ln w="12700">
            <a:solidFill>
              <a:srgbClr val="D9D4CC"/>
            </a:solidFill>
            <a:prstDash val="solid"/>
          </a:ln>
        </p:spPr>
      </p:sp>
      <p:sp>
        <p:nvSpPr>
          <p:cNvPr id="18" name="Text 16"/>
          <p:cNvSpPr txBox="1"/>
          <p:nvPr/>
        </p:nvSpPr>
        <p:spPr>
          <a:xfrm>
            <a:off x="548640" y="3031617"/>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 header</a:t>
            </a:r>
            <a:endParaRPr lang="en-US" sz="1150" dirty="0"/>
          </a:p>
        </p:txBody>
      </p:sp>
      <p:sp>
        <p:nvSpPr>
          <p:cNvPr id="19" name="Shape 17"/>
          <p:cNvSpPr/>
          <p:nvPr/>
        </p:nvSpPr>
        <p:spPr>
          <a:xfrm>
            <a:off x="2551176" y="2976753"/>
            <a:ext cx="1947672" cy="324485"/>
          </a:xfrm>
          <a:prstGeom prst="roundRect">
            <a:avLst>
              <a:gd name="adj" fmla="val 22544"/>
            </a:avLst>
          </a:prstGeom>
          <a:solidFill>
            <a:srgbClr val="F4F2EE"/>
          </a:solidFill>
          <a:ln w="12700">
            <a:solidFill>
              <a:srgbClr val="D9D4CC"/>
            </a:solidFill>
            <a:prstDash val="solid"/>
          </a:ln>
        </p:spPr>
      </p:sp>
      <p:sp>
        <p:nvSpPr>
          <p:cNvPr id="20" name="Text 18"/>
          <p:cNvSpPr txBox="1"/>
          <p:nvPr/>
        </p:nvSpPr>
        <p:spPr>
          <a:xfrm>
            <a:off x="2642616" y="3031617"/>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Merkle tree</a:t>
            </a:r>
            <a:endParaRPr lang="en-US" sz="1150" dirty="0"/>
          </a:p>
        </p:txBody>
      </p:sp>
      <p:sp>
        <p:nvSpPr>
          <p:cNvPr id="21" name="Shape 19"/>
          <p:cNvSpPr/>
          <p:nvPr/>
        </p:nvSpPr>
        <p:spPr>
          <a:xfrm>
            <a:off x="4645152" y="2976753"/>
            <a:ext cx="1947672" cy="324485"/>
          </a:xfrm>
          <a:prstGeom prst="roundRect">
            <a:avLst>
              <a:gd name="adj" fmla="val 22544"/>
            </a:avLst>
          </a:prstGeom>
          <a:solidFill>
            <a:srgbClr val="F4F2EE"/>
          </a:solidFill>
          <a:ln w="12700">
            <a:solidFill>
              <a:srgbClr val="D9D4CC"/>
            </a:solidFill>
            <a:prstDash val="solid"/>
          </a:ln>
        </p:spPr>
      </p:sp>
      <p:sp>
        <p:nvSpPr>
          <p:cNvPr id="22" name="Text 20"/>
          <p:cNvSpPr txBox="1"/>
          <p:nvPr/>
        </p:nvSpPr>
        <p:spPr>
          <a:xfrm>
            <a:off x="4736592" y="3031617"/>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Difficulty and target</a:t>
            </a:r>
            <a:endParaRPr lang="en-US" sz="1150" dirty="0"/>
          </a:p>
        </p:txBody>
      </p:sp>
      <p:sp>
        <p:nvSpPr>
          <p:cNvPr id="23" name="Shape 21"/>
          <p:cNvSpPr/>
          <p:nvPr/>
        </p:nvSpPr>
        <p:spPr>
          <a:xfrm>
            <a:off x="6739128" y="2976753"/>
            <a:ext cx="1947672" cy="324485"/>
          </a:xfrm>
          <a:prstGeom prst="roundRect">
            <a:avLst>
              <a:gd name="adj" fmla="val 22544"/>
            </a:avLst>
          </a:prstGeom>
          <a:solidFill>
            <a:srgbClr val="F4F2EE"/>
          </a:solidFill>
          <a:ln w="12700">
            <a:solidFill>
              <a:srgbClr val="D9D4CC"/>
            </a:solidFill>
            <a:prstDash val="solid"/>
          </a:ln>
        </p:spPr>
      </p:sp>
      <p:sp>
        <p:nvSpPr>
          <p:cNvPr id="24" name="Text 22"/>
          <p:cNvSpPr txBox="1"/>
          <p:nvPr/>
        </p:nvSpPr>
        <p:spPr>
          <a:xfrm>
            <a:off x="6830568" y="3031617"/>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Hash rate</a:t>
            </a:r>
            <a:endParaRPr lang="en-US" sz="1150" dirty="0"/>
          </a:p>
        </p:txBody>
      </p:sp>
      <p:sp>
        <p:nvSpPr>
          <p:cNvPr id="25" name="Shape 23"/>
          <p:cNvSpPr/>
          <p:nvPr/>
        </p:nvSpPr>
        <p:spPr>
          <a:xfrm>
            <a:off x="457200" y="3429254"/>
            <a:ext cx="1947672" cy="324485"/>
          </a:xfrm>
          <a:prstGeom prst="roundRect">
            <a:avLst>
              <a:gd name="adj" fmla="val 22544"/>
            </a:avLst>
          </a:prstGeom>
          <a:solidFill>
            <a:srgbClr val="F4F2EE"/>
          </a:solidFill>
          <a:ln w="12700">
            <a:solidFill>
              <a:srgbClr val="D9D4CC"/>
            </a:solidFill>
            <a:prstDash val="solid"/>
          </a:ln>
        </p:spPr>
      </p:sp>
      <p:sp>
        <p:nvSpPr>
          <p:cNvPr id="26" name="Text 24"/>
          <p:cNvSpPr txBox="1"/>
          <p:nvPr/>
        </p:nvSpPr>
        <p:spPr>
          <a:xfrm>
            <a:off x="548640" y="3484118"/>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Consensus rules</a:t>
            </a:r>
            <a:endParaRPr lang="en-US" sz="1150" dirty="0"/>
          </a:p>
        </p:txBody>
      </p:sp>
      <p:sp>
        <p:nvSpPr>
          <p:cNvPr id="27" name="Shape 25"/>
          <p:cNvSpPr/>
          <p:nvPr/>
        </p:nvSpPr>
        <p:spPr>
          <a:xfrm>
            <a:off x="2551176" y="3429254"/>
            <a:ext cx="1947672" cy="324485"/>
          </a:xfrm>
          <a:prstGeom prst="roundRect">
            <a:avLst>
              <a:gd name="adj" fmla="val 22544"/>
            </a:avLst>
          </a:prstGeom>
          <a:solidFill>
            <a:srgbClr val="F4F2EE"/>
          </a:solidFill>
          <a:ln w="12700">
            <a:solidFill>
              <a:srgbClr val="D9D4CC"/>
            </a:solidFill>
            <a:prstDash val="solid"/>
          </a:ln>
        </p:spPr>
      </p:sp>
      <p:sp>
        <p:nvSpPr>
          <p:cNvPr id="28" name="Text 26"/>
          <p:cNvSpPr txBox="1"/>
          <p:nvPr/>
        </p:nvSpPr>
        <p:spPr>
          <a:xfrm>
            <a:off x="2642616" y="3484118"/>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Coinbase transaction</a:t>
            </a:r>
            <a:endParaRPr lang="en-US" sz="1150" dirty="0"/>
          </a:p>
        </p:txBody>
      </p:sp>
      <p:sp>
        <p:nvSpPr>
          <p:cNvPr id="29" name="Shape 27"/>
          <p:cNvSpPr/>
          <p:nvPr/>
        </p:nvSpPr>
        <p:spPr>
          <a:xfrm>
            <a:off x="4645152" y="3429254"/>
            <a:ext cx="1947672" cy="324485"/>
          </a:xfrm>
          <a:prstGeom prst="roundRect">
            <a:avLst>
              <a:gd name="adj" fmla="val 22544"/>
            </a:avLst>
          </a:prstGeom>
          <a:solidFill>
            <a:srgbClr val="F4F2EE"/>
          </a:solidFill>
          <a:ln w="12700">
            <a:solidFill>
              <a:srgbClr val="D9D4CC"/>
            </a:solidFill>
            <a:prstDash val="solid"/>
          </a:ln>
        </p:spPr>
      </p:sp>
      <p:sp>
        <p:nvSpPr>
          <p:cNvPr id="30" name="Text 28"/>
          <p:cNvSpPr txBox="1"/>
          <p:nvPr/>
        </p:nvSpPr>
        <p:spPr>
          <a:xfrm>
            <a:off x="4736592" y="3484118"/>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 reward</a:t>
            </a:r>
            <a:endParaRPr lang="en-US" sz="1150" dirty="0"/>
          </a:p>
        </p:txBody>
      </p:sp>
      <p:sp>
        <p:nvSpPr>
          <p:cNvPr id="31" name="Shape 29"/>
          <p:cNvSpPr/>
          <p:nvPr/>
        </p:nvSpPr>
        <p:spPr>
          <a:xfrm>
            <a:off x="6739128" y="3429254"/>
            <a:ext cx="1947672" cy="324485"/>
          </a:xfrm>
          <a:prstGeom prst="roundRect">
            <a:avLst>
              <a:gd name="adj" fmla="val 22544"/>
            </a:avLst>
          </a:prstGeom>
          <a:solidFill>
            <a:srgbClr val="F4F2EE"/>
          </a:solidFill>
          <a:ln w="12700">
            <a:solidFill>
              <a:srgbClr val="D9D4CC"/>
            </a:solidFill>
            <a:prstDash val="solid"/>
          </a:ln>
        </p:spPr>
      </p:sp>
      <p:sp>
        <p:nvSpPr>
          <p:cNvPr id="32" name="Text 30"/>
          <p:cNvSpPr txBox="1"/>
          <p:nvPr/>
        </p:nvSpPr>
        <p:spPr>
          <a:xfrm>
            <a:off x="6830568" y="3484118"/>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Mining pool</a:t>
            </a:r>
            <a:endParaRPr lang="en-US" sz="1150" dirty="0"/>
          </a:p>
        </p:txBody>
      </p:sp>
      <p:sp>
        <p:nvSpPr>
          <p:cNvPr id="33" name="Shape 31"/>
          <p:cNvSpPr/>
          <p:nvPr/>
        </p:nvSpPr>
        <p:spPr>
          <a:xfrm>
            <a:off x="457200" y="3881755"/>
            <a:ext cx="1947672" cy="324485"/>
          </a:xfrm>
          <a:prstGeom prst="roundRect">
            <a:avLst>
              <a:gd name="adj" fmla="val 22544"/>
            </a:avLst>
          </a:prstGeom>
          <a:solidFill>
            <a:srgbClr val="F4F2EE"/>
          </a:solidFill>
          <a:ln w="12700">
            <a:solidFill>
              <a:srgbClr val="D9D4CC"/>
            </a:solidFill>
            <a:prstDash val="solid"/>
          </a:ln>
        </p:spPr>
      </p:sp>
      <p:sp>
        <p:nvSpPr>
          <p:cNvPr id="34" name="Text 32"/>
          <p:cNvSpPr txBox="1"/>
          <p:nvPr/>
        </p:nvSpPr>
        <p:spPr>
          <a:xfrm>
            <a:off x="548640" y="3936619"/>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Sudoku analogy</a:t>
            </a:r>
            <a:endParaRPr lang="en-US" sz="1150" dirty="0"/>
          </a:p>
        </p:txBody>
      </p:sp>
      <p:sp>
        <p:nvSpPr>
          <p:cNvPr id="35" name="Shape 33"/>
          <p:cNvSpPr/>
          <p:nvPr/>
        </p:nvSpPr>
        <p:spPr>
          <a:xfrm>
            <a:off x="2551176" y="3881755"/>
            <a:ext cx="1947672" cy="324485"/>
          </a:xfrm>
          <a:prstGeom prst="roundRect">
            <a:avLst>
              <a:gd name="adj" fmla="val 22544"/>
            </a:avLst>
          </a:prstGeom>
          <a:solidFill>
            <a:srgbClr val="F4F2EE"/>
          </a:solidFill>
          <a:ln w="12700">
            <a:solidFill>
              <a:srgbClr val="D9D4CC"/>
            </a:solidFill>
            <a:prstDash val="solid"/>
          </a:ln>
        </p:spPr>
      </p:sp>
      <p:sp>
        <p:nvSpPr>
          <p:cNvPr id="36" name="Text 34"/>
          <p:cNvSpPr txBox="1"/>
          <p:nvPr/>
        </p:nvSpPr>
        <p:spPr>
          <a:xfrm>
            <a:off x="2642616" y="3936619"/>
            <a:ext cx="1764792" cy="214757"/>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Soft fork and hard fork</a:t>
            </a:r>
            <a:endParaRPr lang="en-US" sz="1150" dirty="0"/>
          </a:p>
        </p:txBody>
      </p:sp>
      <p:sp>
        <p:nvSpPr>
          <p:cNvPr id="37" name="Text 3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is taken in the order in which a block is built. The miner is the specialized node that does the work. The candidate block is what it assembles from its memory pool.</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Miner and Candidate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Miner</a:t>
            </a:r>
            <a:endParaRPr lang="en-US" sz="1600" dirty="0"/>
          </a:p>
        </p:txBody>
      </p:sp>
      <p:sp>
        <p:nvSpPr>
          <p:cNvPr id="8" name="Text 6"/>
          <p:cNvSpPr txBox="1"/>
          <p:nvPr/>
        </p:nvSpPr>
        <p:spPr>
          <a:xfrm>
            <a:off x="64008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miner is a participant that builds candidate blocks and searches for the proof of work that would make one of them valid.</a:t>
            </a:r>
            <a:endParaRPr lang="en-US" sz="1200" dirty="0"/>
          </a:p>
        </p:txBody>
      </p:sp>
      <p:sp>
        <p:nvSpPr>
          <p:cNvPr id="9" name="Shape 7"/>
          <p:cNvSpPr/>
          <p:nvPr/>
        </p:nvSpPr>
        <p:spPr>
          <a:xfrm>
            <a:off x="457200" y="2642616"/>
            <a:ext cx="3977640" cy="725805"/>
          </a:xfrm>
          <a:prstGeom prst="roundRect">
            <a:avLst>
              <a:gd name="adj" fmla="val 12598"/>
            </a:avLst>
          </a:prstGeom>
          <a:solidFill>
            <a:srgbClr val="15191E"/>
          </a:solidFill>
          <a:ln w="12700">
            <a:solidFill>
              <a:srgbClr val="15191E"/>
            </a:solidFill>
            <a:prstDash val="solid"/>
          </a:ln>
        </p:spPr>
      </p:sp>
      <p:sp>
        <p:nvSpPr>
          <p:cNvPr id="10" name="Text 8"/>
          <p:cNvSpPr txBox="1"/>
          <p:nvPr/>
        </p:nvSpPr>
        <p:spPr>
          <a:xfrm>
            <a:off x="640080" y="2761488"/>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subsidy, fees = 625000000, 183000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subsidy + fees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625183000</a:t>
            </a:r>
            <a:endParaRPr lang="en-US" sz="1050" dirty="0"/>
          </a:p>
        </p:txBody>
      </p:sp>
      <p:sp>
        <p:nvSpPr>
          <p:cNvPr id="11" name="Text 9"/>
          <p:cNvSpPr txBox="1"/>
          <p:nvPr/>
        </p:nvSpPr>
        <p:spPr>
          <a:xfrm>
            <a:off x="457200" y="3386709"/>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642741"/>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 miner's income is a sum of two parts.</a:t>
            </a:r>
            <a:endParaRPr lang="en-US" sz="1100" dirty="0"/>
          </a:p>
        </p:txBody>
      </p:sp>
      <p:sp>
        <p:nvSpPr>
          <p:cNvPr id="13" name="Shape 11"/>
          <p:cNvSpPr/>
          <p:nvPr/>
        </p:nvSpPr>
        <p:spPr>
          <a:xfrm>
            <a:off x="4709160" y="1280160"/>
            <a:ext cx="3977640" cy="1624584"/>
          </a:xfrm>
          <a:prstGeom prst="roundRect">
            <a:avLst>
              <a:gd name="adj" fmla="val 562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Candidate block</a:t>
            </a:r>
            <a:endParaRPr lang="en-US" sz="1600" dirty="0"/>
          </a:p>
        </p:txBody>
      </p:sp>
      <p:sp>
        <p:nvSpPr>
          <p:cNvPr id="15" name="Text 13"/>
          <p:cNvSpPr txBox="1"/>
          <p:nvPr/>
        </p:nvSpPr>
        <p:spPr>
          <a:xfrm>
            <a:off x="489204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candidate block is the block a miner is working on: the transactions it wants to include, a commitment to the previous block, and the other header fields, assembled but without a valid proof of work.</a:t>
            </a:r>
            <a:endParaRPr lang="en-US" sz="1200" dirty="0"/>
          </a:p>
        </p:txBody>
      </p:sp>
      <p:sp>
        <p:nvSpPr>
          <p:cNvPr id="16" name="Shape 14"/>
          <p:cNvSpPr/>
          <p:nvPr/>
        </p:nvSpPr>
        <p:spPr>
          <a:xfrm>
            <a:off x="4709160" y="3014472"/>
            <a:ext cx="3977640" cy="725805"/>
          </a:xfrm>
          <a:prstGeom prst="roundRect">
            <a:avLst>
              <a:gd name="adj" fmla="val 12598"/>
            </a:avLst>
          </a:prstGeom>
          <a:solidFill>
            <a:srgbClr val="15191E"/>
          </a:solidFill>
          <a:ln w="12700">
            <a:solidFill>
              <a:srgbClr val="15191E"/>
            </a:solidFill>
            <a:prstDash val="solid"/>
          </a:ln>
        </p:spPr>
      </p:sp>
      <p:sp>
        <p:nvSpPr>
          <p:cNvPr id="17" name="Text 15"/>
          <p:cNvSpPr txBox="1"/>
          <p:nvPr/>
        </p:nvSpPr>
        <p:spPr>
          <a:xfrm>
            <a:off x="4892040" y="3133344"/>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pool, limit = [120, 150, 200, 90, 400], 3</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(len(pool[:limit]), sum(pool[:limit]))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(3, 470)</a:t>
            </a:r>
            <a:endParaRPr lang="en-US" sz="1050" dirty="0"/>
          </a:p>
        </p:txBody>
      </p:sp>
      <p:sp>
        <p:nvSpPr>
          <p:cNvPr id="18" name="Text 16"/>
          <p:cNvSpPr txBox="1"/>
          <p:nvPr/>
        </p:nvSpPr>
        <p:spPr>
          <a:xfrm>
            <a:off x="4709160" y="3758565"/>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4014597"/>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Assembling a candidate is selection plus commitment.</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Proof of work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header hash below the target</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Proof of work is a piece of data that takes a great deal of computation to find and almost none to check.</a:t>
            </a:r>
            <a:endParaRPr lang="en-US" sz="1300" dirty="0"/>
          </a:p>
        </p:txBody>
      </p:sp>
      <p:sp>
        <p:nvSpPr>
          <p:cNvPr id="9" name="Shape 7"/>
          <p:cNvSpPr/>
          <p:nvPr/>
        </p:nvSpPr>
        <p:spPr>
          <a:xfrm>
            <a:off x="457200" y="2524252"/>
            <a:ext cx="8229600" cy="795528"/>
          </a:xfrm>
          <a:prstGeom prst="roundRect">
            <a:avLst>
              <a:gd name="adj" fmla="val 11494"/>
            </a:avLst>
          </a:prstGeom>
          <a:solidFill>
            <a:srgbClr val="15191E"/>
          </a:solidFill>
          <a:ln w="12700">
            <a:solidFill>
              <a:srgbClr val="15191E"/>
            </a:solidFill>
            <a:prstDash val="solid"/>
          </a:ln>
        </p:spPr>
      </p:sp>
      <p:sp>
        <p:nvSpPr>
          <p:cNvPr id="10" name="Text 8"/>
          <p:cNvSpPr txBox="1"/>
          <p:nvPr/>
        </p:nvSpPr>
        <p:spPr>
          <a:xfrm>
            <a:off x="640080" y="2643124"/>
            <a:ext cx="7863840" cy="557784"/>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h = hashlib.sha256</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next(n for n in range(200000) if h(('1' + str(n) + 'Alice pays Bob 75000').encode()).hexdigest().startswith('0000'))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6630</a:t>
            </a:r>
            <a:endParaRPr lang="en-US" sz="900" dirty="0"/>
          </a:p>
        </p:txBody>
      </p:sp>
      <p:sp>
        <p:nvSpPr>
          <p:cNvPr id="11" name="Text 9"/>
          <p:cNvSpPr txBox="1"/>
          <p:nvPr/>
        </p:nvSpPr>
        <p:spPr>
          <a:xfrm>
            <a:off x="457200" y="333806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57524"/>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7639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60444"/>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search is a loop with one changing field.</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header plus a list of transactions</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block is the unit in which transactions are added to the blockchain.</a:t>
            </a:r>
            <a:endParaRPr lang="en-US" sz="1300" dirty="0"/>
          </a:p>
        </p:txBody>
      </p:sp>
      <p:sp>
        <p:nvSpPr>
          <p:cNvPr id="9" name="Shape 7"/>
          <p:cNvSpPr/>
          <p:nvPr/>
        </p:nvSpPr>
        <p:spPr>
          <a:xfrm>
            <a:off x="457200" y="2322830"/>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441702"/>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header, body = 80, 4000000</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(header, body // header)</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(80, 50000)</a:t>
            </a:r>
            <a:endParaRPr lang="en-US" sz="1100" dirty="0"/>
          </a:p>
        </p:txBody>
      </p:sp>
      <p:sp>
        <p:nvSpPr>
          <p:cNvPr id="11" name="Text 9"/>
          <p:cNvSpPr txBox="1"/>
          <p:nvPr/>
        </p:nvSpPr>
        <p:spPr>
          <a:xfrm>
            <a:off x="457200" y="309016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09620"/>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42849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12540"/>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proportions are worth remembering.</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 header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eighty bytes of metadata</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block header is the small, fixed part of a block that carries its metadata and that mining actually works on.</a:t>
            </a:r>
            <a:endParaRPr lang="en-US" sz="1300" dirty="0"/>
          </a:p>
        </p:txBody>
      </p:sp>
      <p:sp>
        <p:nvSpPr>
          <p:cNvPr id="9" name="Shape 7"/>
          <p:cNvSpPr/>
          <p:nvPr/>
        </p:nvSpPr>
        <p:spPr>
          <a:xfrm>
            <a:off x="457200" y="2524252"/>
            <a:ext cx="8229600" cy="795528"/>
          </a:xfrm>
          <a:prstGeom prst="roundRect">
            <a:avLst>
              <a:gd name="adj" fmla="val 11494"/>
            </a:avLst>
          </a:prstGeom>
          <a:solidFill>
            <a:srgbClr val="15191E"/>
          </a:solidFill>
          <a:ln w="12700">
            <a:solidFill>
              <a:srgbClr val="15191E"/>
            </a:solidFill>
            <a:prstDash val="solid"/>
          </a:ln>
        </p:spPr>
      </p:sp>
      <p:sp>
        <p:nvSpPr>
          <p:cNvPr id="10" name="Text 8"/>
          <p:cNvSpPr txBox="1"/>
          <p:nvPr/>
        </p:nvSpPr>
        <p:spPr>
          <a:xfrm>
            <a:off x="640080" y="2643124"/>
            <a:ext cx="7863840" cy="557784"/>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d, s = lambda b: hashlib.sha256(hashlib.sha256(b).digest()).digest(), struct</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d(s.pack('&lt;I', 1) + bytes(32) + bytes.fromhex('4a5e1e4baab89f3a32518a88c31bc87f618f76673e2cc77ab2127b7afdeda33b')[::-1] + s.pack('&lt;III', 1231006505, 0x1d00ffff, 2083236893))[::-1].hex()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'000000000019d6689c085ae165831e934ff763ae46a2a6c172b3f1b60a8ce26f'</a:t>
            </a:r>
            <a:endParaRPr lang="en-US" sz="900" dirty="0"/>
          </a:p>
        </p:txBody>
      </p:sp>
      <p:sp>
        <p:nvSpPr>
          <p:cNvPr id="11" name="Text 9"/>
          <p:cNvSpPr txBox="1"/>
          <p:nvPr/>
        </p:nvSpPr>
        <p:spPr>
          <a:xfrm>
            <a:off x="457200" y="333806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57524"/>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67639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60444"/>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header can be assembled and hashed with the standard library, which is the executed example of this concept.</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Merkle tree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four transactions summarised in one hash</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merkle tree, also called a binary hash tree, is a structure for summarizing and verifying the integrity of large sets of data.</a:t>
            </a:r>
            <a:endParaRPr lang="en-US" sz="1300" dirty="0"/>
          </a:p>
        </p:txBody>
      </p:sp>
      <p:sp>
        <p:nvSpPr>
          <p:cNvPr id="9" name="Shape 7"/>
          <p:cNvSpPr/>
          <p:nvPr/>
        </p:nvSpPr>
        <p:spPr>
          <a:xfrm>
            <a:off x="457200" y="2524252"/>
            <a:ext cx="8229600" cy="919480"/>
          </a:xfrm>
          <a:prstGeom prst="roundRect">
            <a:avLst>
              <a:gd name="adj" fmla="val 9945"/>
            </a:avLst>
          </a:prstGeom>
          <a:solidFill>
            <a:srgbClr val="15191E"/>
          </a:solidFill>
          <a:ln w="12700">
            <a:solidFill>
              <a:srgbClr val="15191E"/>
            </a:solidFill>
            <a:prstDash val="solid"/>
          </a:ln>
        </p:spPr>
      </p:sp>
      <p:sp>
        <p:nvSpPr>
          <p:cNvPr id="10" name="Text 8"/>
          <p:cNvSpPr txBox="1"/>
          <p:nvPr/>
        </p:nvSpPr>
        <p:spPr>
          <a:xfrm>
            <a:off x="640080" y="2643124"/>
            <a:ext cx="7863840" cy="681736"/>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d = lambda b: hashlib.sha256(hashlib.sha256(b).digest()).digest()</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L = [d(x) for x in (b'A', b'B', b'C', b'D')]</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d(d(L[0] + L[1]) + d(L[2] + L[3])).hex()[:16]</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'59e82c45a3662f55'</a:t>
            </a:r>
            <a:endParaRPr lang="en-US" sz="1100" dirty="0"/>
          </a:p>
        </p:txBody>
      </p:sp>
      <p:sp>
        <p:nvSpPr>
          <p:cNvPr id="11" name="Text 9"/>
          <p:cNvSpPr txBox="1"/>
          <p:nvPr/>
        </p:nvSpPr>
        <p:spPr>
          <a:xfrm>
            <a:off x="457200" y="346202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681476"/>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0034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184396"/>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construction is a few lines of code, and the executed example performs it.</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Difficulty and target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compact target 1d00ffff</a:t>
            </a:r>
            <a:endParaRPr lang="en-US" sz="1300" dirty="0"/>
          </a:p>
        </p:txBody>
      </p:sp>
      <p:sp>
        <p:nvSpPr>
          <p:cNvPr id="6" name="Shape 4"/>
          <p:cNvSpPr/>
          <p:nvPr/>
        </p:nvSpPr>
        <p:spPr>
          <a:xfrm>
            <a:off x="457200" y="1280160"/>
            <a:ext cx="8229600" cy="1702054"/>
          </a:xfrm>
          <a:prstGeom prst="roundRect">
            <a:avLst>
              <a:gd name="adj" fmla="val 5372"/>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1061974"/>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target is the number that a block header's hash must be below for the block to be valid, and the difficulty is the inverse way of describing the same thing: the book's glossary calls difficulty a network-wide setting that controls how much computation is required to produce a proof of work, and the difficulty target a difficulty at which all the computation in the network will find blocks approximately every ten minutes (Antonopoulos and Harding, 2023).</a:t>
            </a:r>
            <a:endParaRPr lang="en-US" sz="1300" dirty="0"/>
          </a:p>
        </p:txBody>
      </p:sp>
      <p:sp>
        <p:nvSpPr>
          <p:cNvPr id="9" name="Shape 7"/>
          <p:cNvSpPr/>
          <p:nvPr/>
        </p:nvSpPr>
        <p:spPr>
          <a:xfrm>
            <a:off x="457200" y="3128518"/>
            <a:ext cx="8229600" cy="857504"/>
          </a:xfrm>
          <a:prstGeom prst="roundRect">
            <a:avLst>
              <a:gd name="adj" fmla="val 10664"/>
            </a:avLst>
          </a:prstGeom>
          <a:solidFill>
            <a:srgbClr val="15191E"/>
          </a:solidFill>
          <a:ln w="12700">
            <a:solidFill>
              <a:srgbClr val="15191E"/>
            </a:solidFill>
            <a:prstDash val="solid"/>
          </a:ln>
        </p:spPr>
      </p:sp>
      <p:sp>
        <p:nvSpPr>
          <p:cNvPr id="10" name="Text 8"/>
          <p:cNvSpPr txBox="1"/>
          <p:nvPr/>
        </p:nvSpPr>
        <p:spPr>
          <a:xfrm>
            <a:off x="640080" y="3247390"/>
            <a:ext cx="7863840" cy="619760"/>
          </a:xfrm>
          <a:prstGeom prst="rect">
            <a:avLst/>
          </a:prstGeom>
          <a:noFill/>
          <a:ln/>
        </p:spPr>
        <p:txBody>
          <a:bodyPr wrap="square" lIns="0" tIns="0" rIns="0" bIns="0" rtlCol="0" anchor="t"/>
          <a:lstStyle/>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bits = 0x1d00ffff</a:t>
            </a:r>
            <a:endParaRPr lang="en-US" sz="1000" dirty="0"/>
          </a:p>
          <a:p>
            <a:pPr indent="0" marL="0">
              <a:buNone/>
            </a:pPr>
            <a:r>
              <a:rPr lang="en-US" sz="1000" b="1" dirty="0">
                <a:solidFill>
                  <a:srgbClr val="F7931A"/>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(bits &gt;&gt; 24, bits &amp; 0xffffff, (bits &amp; 0xffffff) * 2 ** (8 * ((bits &gt;&gt; 24) - 3)) == 0xffff * 2 ** 208)</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(29, 65535, True)</a:t>
            </a:r>
            <a:endParaRPr lang="en-US" sz="1000" dirty="0"/>
          </a:p>
        </p:txBody>
      </p:sp>
      <p:sp>
        <p:nvSpPr>
          <p:cNvPr id="11" name="Text 9"/>
          <p:cNvSpPr txBox="1"/>
          <p:nvPr/>
        </p:nvSpPr>
        <p:spPr>
          <a:xfrm>
            <a:off x="457200" y="400431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4260342"/>
            <a:ext cx="822960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compact form packs an exponent and a coefficient into four bytes.</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Hash rate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hashes per second across the network</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hash rate is the speed at which hash computations are performed, counted in hashes per second. It is the natural measure of mining effort, because mining is nothing but repeated hashing, and it is used both for a single machine and for the network as a whole.</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attempts, seconds = 168 * 10 ** 9 * 10 ** 12, 600</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attempts // seconds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280000000000000000000</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12464"/>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3133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15384"/>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network's rate follows from the chapter's own number by one division.</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Consensus rules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checks every block must pass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consensus rules are the rules by which a full node decides whether a block and the transactions in it are acceptable.</a:t>
            </a:r>
            <a:endParaRPr lang="en-US" sz="1300" dirty="0"/>
          </a:p>
        </p:txBody>
      </p:sp>
      <p:sp>
        <p:nvSpPr>
          <p:cNvPr id="9" name="Shape 7"/>
          <p:cNvSpPr/>
          <p:nvPr/>
        </p:nvSpPr>
        <p:spPr>
          <a:xfrm>
            <a:off x="457200" y="2524252"/>
            <a:ext cx="8229600" cy="795528"/>
          </a:xfrm>
          <a:prstGeom prst="roundRect">
            <a:avLst>
              <a:gd name="adj" fmla="val 11494"/>
            </a:avLst>
          </a:prstGeom>
          <a:solidFill>
            <a:srgbClr val="15191E"/>
          </a:solidFill>
          <a:ln w="12700">
            <a:solidFill>
              <a:srgbClr val="15191E"/>
            </a:solidFill>
            <a:prstDash val="solid"/>
          </a:ln>
        </p:spPr>
      </p:sp>
      <p:sp>
        <p:nvSpPr>
          <p:cNvPr id="10" name="Text 8"/>
          <p:cNvSpPr txBox="1"/>
          <p:nvPr/>
        </p:nvSpPr>
        <p:spPr>
          <a:xfrm>
            <a:off x="640080" y="2643124"/>
            <a:ext cx="7863840" cy="557784"/>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rules = {'pow_below_target': True, 'first_tx_is_coinbase': True, 'weight_within_limits': True, 'timestamp_in_range': True, 'all_txs_valid': True}</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(sum(rules.values()), all(rules.values()))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 True)</a:t>
            </a:r>
            <a:endParaRPr lang="en-US" sz="900" dirty="0"/>
          </a:p>
        </p:txBody>
      </p:sp>
      <p:sp>
        <p:nvSpPr>
          <p:cNvPr id="11" name="Text 9"/>
          <p:cNvSpPr txBox="1"/>
          <p:nvPr/>
        </p:nvSpPr>
        <p:spPr>
          <a:xfrm>
            <a:off x="457200" y="333806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594100"/>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Validation is the conjunction of independent checks, which the small example renders as a set of five that must all hold; the count is how many were applied and the verdict is whether every one passed. The order matters in practice, since cheap checks come first, but logically a block is valid only if nothing fails.</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Coinbase transaction and Block reward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252728"/>
          </a:xfrm>
          <a:prstGeom prst="roundRect">
            <a:avLst>
              <a:gd name="adj" fmla="val 7299"/>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Coinbase transaction</a:t>
            </a:r>
            <a:endParaRPr lang="en-US" sz="1600" dirty="0"/>
          </a:p>
        </p:txBody>
      </p:sp>
      <p:sp>
        <p:nvSpPr>
          <p:cNvPr id="8" name="Text 6"/>
          <p:cNvSpPr txBox="1"/>
          <p:nvPr/>
        </p:nvSpPr>
        <p:spPr>
          <a:xfrm>
            <a:off x="64008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coinbase transaction is the special first transaction of every block, by which the miner pays itself.</a:t>
            </a:r>
            <a:endParaRPr lang="en-US" sz="1200" dirty="0"/>
          </a:p>
        </p:txBody>
      </p:sp>
      <p:sp>
        <p:nvSpPr>
          <p:cNvPr id="9" name="Shape 7"/>
          <p:cNvSpPr/>
          <p:nvPr/>
        </p:nvSpPr>
        <p:spPr>
          <a:xfrm>
            <a:off x="457200" y="2642616"/>
            <a:ext cx="3977640" cy="888492"/>
          </a:xfrm>
          <a:prstGeom prst="roundRect">
            <a:avLst>
              <a:gd name="adj" fmla="val 10292"/>
            </a:avLst>
          </a:prstGeom>
          <a:solidFill>
            <a:srgbClr val="15191E"/>
          </a:solidFill>
          <a:ln w="12700">
            <a:solidFill>
              <a:srgbClr val="15191E"/>
            </a:solidFill>
            <a:prstDash val="solid"/>
          </a:ln>
        </p:spPr>
      </p:sp>
      <p:sp>
        <p:nvSpPr>
          <p:cNvPr id="10" name="Text 8"/>
          <p:cNvSpPr txBox="1"/>
          <p:nvPr/>
        </p:nvSpPr>
        <p:spPr>
          <a:xfrm>
            <a:off x="640080" y="2761488"/>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inputs_spent, subsidy, fees = 0, 625000000, 183000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(inputs_spent, subsidy + fees)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(0, 625183000)</a:t>
            </a:r>
            <a:endParaRPr lang="en-US" sz="1050" dirty="0"/>
          </a:p>
        </p:txBody>
      </p:sp>
      <p:sp>
        <p:nvSpPr>
          <p:cNvPr id="11" name="Text 9"/>
          <p:cNvSpPr txBox="1"/>
          <p:nvPr/>
        </p:nvSpPr>
        <p:spPr>
          <a:xfrm>
            <a:off x="457200" y="3549396"/>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709160" y="1280160"/>
            <a:ext cx="3977640" cy="1438656"/>
          </a:xfrm>
          <a:prstGeom prst="roundRect">
            <a:avLst>
              <a:gd name="adj" fmla="val 6356"/>
            </a:avLst>
          </a:prstGeom>
          <a:solidFill>
            <a:srgbClr val="F4F2EE"/>
          </a:solidFill>
          <a:ln w="12700">
            <a:solidFill>
              <a:srgbClr val="F4F2EE"/>
            </a:solidFill>
            <a:prstDash val="solid"/>
          </a:ln>
        </p:spPr>
      </p:sp>
      <p:sp>
        <p:nvSpPr>
          <p:cNvPr id="13" name="Text 11"/>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Block reward</a:t>
            </a:r>
            <a:endParaRPr lang="en-US" sz="1600" dirty="0"/>
          </a:p>
        </p:txBody>
      </p:sp>
      <p:sp>
        <p:nvSpPr>
          <p:cNvPr id="14" name="Text 12"/>
          <p:cNvSpPr txBox="1"/>
          <p:nvPr/>
        </p:nvSpPr>
        <p:spPr>
          <a:xfrm>
            <a:off x="489204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block reward is what a miner earns for a block: the newly created bitcoins, which the book calls the subsidy, together with the transaction fees of everything in the block.</a:t>
            </a:r>
            <a:endParaRPr lang="en-US" sz="1200" dirty="0"/>
          </a:p>
        </p:txBody>
      </p:sp>
      <p:sp>
        <p:nvSpPr>
          <p:cNvPr id="15" name="Shape 13"/>
          <p:cNvSpPr/>
          <p:nvPr/>
        </p:nvSpPr>
        <p:spPr>
          <a:xfrm>
            <a:off x="4709160" y="2828544"/>
            <a:ext cx="3977640" cy="563118"/>
          </a:xfrm>
          <a:prstGeom prst="roundRect">
            <a:avLst>
              <a:gd name="adj" fmla="val 16238"/>
            </a:avLst>
          </a:prstGeom>
          <a:solidFill>
            <a:srgbClr val="15191E"/>
          </a:solidFill>
          <a:ln w="12700">
            <a:solidFill>
              <a:srgbClr val="15191E"/>
            </a:solidFill>
            <a:prstDash val="solid"/>
          </a:ln>
        </p:spPr>
      </p:sp>
      <p:sp>
        <p:nvSpPr>
          <p:cNvPr id="16" name="Text 14"/>
          <p:cNvSpPr txBox="1"/>
          <p:nvPr/>
        </p:nvSpPr>
        <p:spPr>
          <a:xfrm>
            <a:off x="4892040" y="2947416"/>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(50 * 10 ** 8) &gt;&gt; 3</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625000000</a:t>
            </a:r>
            <a:endParaRPr lang="en-US" sz="1050" dirty="0"/>
          </a:p>
        </p:txBody>
      </p:sp>
      <p:sp>
        <p:nvSpPr>
          <p:cNvPr id="17" name="Text 15"/>
          <p:cNvSpPr txBox="1"/>
          <p:nvPr/>
        </p:nvSpPr>
        <p:spPr>
          <a:xfrm>
            <a:off x="4709160" y="3409950"/>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709160" y="3665982"/>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rule is a halving, which in whole numbers is a right shift.</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Mining pool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many small miners sharing one reward</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mining pool is an arrangement in which many miners search for the same block together and share whatever is found.</a:t>
            </a:r>
            <a:endParaRPr lang="en-US" sz="1300" dirty="0"/>
          </a:p>
        </p:txBody>
      </p:sp>
      <p:sp>
        <p:nvSpPr>
          <p:cNvPr id="9" name="Shape 7"/>
          <p:cNvSpPr/>
          <p:nvPr/>
        </p:nvSpPr>
        <p:spPr>
          <a:xfrm>
            <a:off x="457200" y="2524252"/>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643124"/>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shares, reward = {'a': 50, 'b': 30, 'c': 20}, 625000000</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{m: reward * s // sum(shares.values()) for m, s in shares.items()}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 312500000, 'b': 187500000, 'c': 125000000}</a:t>
            </a:r>
            <a:endParaRPr lang="en-US" sz="1100" dirty="0"/>
          </a:p>
        </p:txBody>
      </p:sp>
      <p:sp>
        <p:nvSpPr>
          <p:cNvPr id="11" name="Text 9"/>
          <p:cNvSpPr txBox="1"/>
          <p:nvPr/>
        </p:nvSpPr>
        <p:spPr>
          <a:xfrm>
            <a:off x="457200" y="329158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1104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62991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1396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pool measures contributions with Bitcoin's own proof of work at an easier setting.</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Sudoku analogy and Soft fork and hard fork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Sudoku analogy</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sudoku analogy is a teaching picture, taken from the owner's course notes for this chapter, in which mining is described as a giant competitive game of sudoku.</a:t>
            </a:r>
            <a:endParaRPr lang="en-US" sz="1200" dirty="0"/>
          </a:p>
        </p:txBody>
      </p:sp>
      <p:sp>
        <p:nvSpPr>
          <p:cNvPr id="9" name="Shape 7"/>
          <p:cNvSpPr/>
          <p:nvPr/>
        </p:nvSpPr>
        <p:spPr>
          <a:xfrm>
            <a:off x="457200" y="2828544"/>
            <a:ext cx="3977640" cy="888492"/>
          </a:xfrm>
          <a:prstGeom prst="roundRect">
            <a:avLst>
              <a:gd name="adj" fmla="val 10292"/>
            </a:avLst>
          </a:prstGeom>
          <a:solidFill>
            <a:srgbClr val="15191E"/>
          </a:solidFill>
          <a:ln w="12700">
            <a:solidFill>
              <a:srgbClr val="15191E"/>
            </a:solidFill>
            <a:prstDash val="solid"/>
          </a:ln>
        </p:spPr>
      </p:sp>
      <p:sp>
        <p:nvSpPr>
          <p:cNvPr id="10" name="Text 8"/>
          <p:cNvSpPr txBox="1"/>
          <p:nvPr/>
        </p:nvSpPr>
        <p:spPr>
          <a:xfrm>
            <a:off x="640080" y="2947416"/>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cells, bitcoin_attempts = 81, 168 * 10 ** 9 * 10 ** 12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(cells, bitcoin_attempts &gt; cells)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(81, True)</a:t>
            </a:r>
            <a:endParaRPr lang="en-US" sz="1050" dirty="0"/>
          </a:p>
        </p:txBody>
      </p:sp>
      <p:sp>
        <p:nvSpPr>
          <p:cNvPr id="11" name="Text 9"/>
          <p:cNvSpPr txBox="1"/>
          <p:nvPr/>
        </p:nvSpPr>
        <p:spPr>
          <a:xfrm>
            <a:off x="457200" y="373532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991356"/>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comparison can be made quantitative, which is also where it breaks down.</a:t>
            </a:r>
            <a:endParaRPr lang="en-US" sz="1100" dirty="0"/>
          </a:p>
        </p:txBody>
      </p:sp>
      <p:sp>
        <p:nvSpPr>
          <p:cNvPr id="13" name="Shape 11"/>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Soft fork and hard fork</a:t>
            </a:r>
            <a:endParaRPr lang="en-US" sz="1600" dirty="0"/>
          </a:p>
        </p:txBody>
      </p:sp>
      <p:sp>
        <p:nvSpPr>
          <p:cNvPr id="15" name="Text 13"/>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rule change is an alteration of the consensus rules, and it comes in two kinds.</a:t>
            </a:r>
            <a:endParaRPr lang="en-US" sz="1200" dirty="0"/>
          </a:p>
        </p:txBody>
      </p:sp>
      <p:sp>
        <p:nvSpPr>
          <p:cNvPr id="16" name="Shape 14"/>
          <p:cNvSpPr/>
          <p:nvPr/>
        </p:nvSpPr>
        <p:spPr>
          <a:xfrm>
            <a:off x="4709160" y="2456688"/>
            <a:ext cx="3977640" cy="1051179"/>
          </a:xfrm>
          <a:prstGeom prst="roundRect">
            <a:avLst>
              <a:gd name="adj" fmla="val 8699"/>
            </a:avLst>
          </a:prstGeom>
          <a:solidFill>
            <a:srgbClr val="15191E"/>
          </a:solidFill>
          <a:ln w="12700">
            <a:solidFill>
              <a:srgbClr val="15191E"/>
            </a:solidFill>
            <a:prstDash val="solid"/>
          </a:ln>
        </p:spPr>
      </p:sp>
      <p:sp>
        <p:nvSpPr>
          <p:cNvPr id="17" name="Text 15"/>
          <p:cNvSpPr txBox="1"/>
          <p:nvPr/>
        </p:nvSpPr>
        <p:spPr>
          <a:xfrm>
            <a:off x="4892040" y="2575560"/>
            <a:ext cx="3611880" cy="813435"/>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old_valid, new_valid = {'a', 'b', 'c'}, {'a', 'b'}</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'soft fork' if new_valid &lt;= old_valid else 'hard fork'</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'soft fork'</a:t>
            </a:r>
            <a:endParaRPr lang="en-US" sz="1050" dirty="0"/>
          </a:p>
        </p:txBody>
      </p:sp>
      <p:sp>
        <p:nvSpPr>
          <p:cNvPr id="18" name="Text 16"/>
          <p:cNvSpPr txBox="1"/>
          <p:nvPr/>
        </p:nvSpPr>
        <p:spPr>
          <a:xfrm>
            <a:off x="4709160" y="3526155"/>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782187"/>
            <a:ext cx="397764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test is a comparison of what each version of the rules accepts.</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Security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Blockchain - 9 concepts</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Security, in this chapter, means the confidence that a payment already recorded will stay recorded. This group collects the concepts that make that confidence precise.</a:t>
            </a:r>
            <a:endParaRPr lang="en-US" sz="1300" dirty="0"/>
          </a:p>
        </p:txBody>
      </p:sp>
      <p:sp>
        <p:nvSpPr>
          <p:cNvPr id="9" name="Shape 7"/>
          <p:cNvSpPr/>
          <p:nvPr/>
        </p:nvSpPr>
        <p:spPr>
          <a:xfrm>
            <a:off x="457200" y="2524252"/>
            <a:ext cx="1947672" cy="502666"/>
          </a:xfrm>
          <a:prstGeom prst="roundRect">
            <a:avLst>
              <a:gd name="adj" fmla="val 14553"/>
            </a:avLst>
          </a:prstGeom>
          <a:solidFill>
            <a:srgbClr val="F4F2EE"/>
          </a:solidFill>
          <a:ln w="12700">
            <a:solidFill>
              <a:srgbClr val="D9D4CC"/>
            </a:solidFill>
            <a:prstDash val="solid"/>
          </a:ln>
        </p:spPr>
      </p:sp>
      <p:sp>
        <p:nvSpPr>
          <p:cNvPr id="10" name="Text 8"/>
          <p:cNvSpPr txBox="1"/>
          <p:nvPr/>
        </p:nvSpPr>
        <p:spPr>
          <a:xfrm>
            <a:off x="548640" y="2579116"/>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Confirmation</a:t>
            </a:r>
            <a:endParaRPr lang="en-US" sz="1150" dirty="0"/>
          </a:p>
        </p:txBody>
      </p:sp>
      <p:sp>
        <p:nvSpPr>
          <p:cNvPr id="11" name="Shape 9"/>
          <p:cNvSpPr/>
          <p:nvPr/>
        </p:nvSpPr>
        <p:spPr>
          <a:xfrm>
            <a:off x="2551176" y="2524252"/>
            <a:ext cx="1947672" cy="502666"/>
          </a:xfrm>
          <a:prstGeom prst="roundRect">
            <a:avLst>
              <a:gd name="adj" fmla="val 14553"/>
            </a:avLst>
          </a:prstGeom>
          <a:solidFill>
            <a:srgbClr val="F4F2EE"/>
          </a:solidFill>
          <a:ln w="12700">
            <a:solidFill>
              <a:srgbClr val="D9D4CC"/>
            </a:solidFill>
            <a:prstDash val="solid"/>
          </a:ln>
        </p:spPr>
      </p:sp>
      <p:sp>
        <p:nvSpPr>
          <p:cNvPr id="12" name="Text 10"/>
          <p:cNvSpPr txBox="1"/>
          <p:nvPr/>
        </p:nvSpPr>
        <p:spPr>
          <a:xfrm>
            <a:off x="2642616" y="2579116"/>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Probability of reversal</a:t>
            </a:r>
            <a:endParaRPr lang="en-US" sz="1150" dirty="0"/>
          </a:p>
        </p:txBody>
      </p:sp>
      <p:sp>
        <p:nvSpPr>
          <p:cNvPr id="13" name="Shape 11"/>
          <p:cNvSpPr/>
          <p:nvPr/>
        </p:nvSpPr>
        <p:spPr>
          <a:xfrm>
            <a:off x="4645152" y="2524252"/>
            <a:ext cx="1947672" cy="502666"/>
          </a:xfrm>
          <a:prstGeom prst="roundRect">
            <a:avLst>
              <a:gd name="adj" fmla="val 14553"/>
            </a:avLst>
          </a:prstGeom>
          <a:solidFill>
            <a:srgbClr val="F4F2EE"/>
          </a:solidFill>
          <a:ln w="12700">
            <a:solidFill>
              <a:srgbClr val="D9D4CC"/>
            </a:solidFill>
            <a:prstDash val="solid"/>
          </a:ln>
        </p:spPr>
      </p:sp>
      <p:sp>
        <p:nvSpPr>
          <p:cNvPr id="14" name="Text 12"/>
          <p:cNvSpPr txBox="1"/>
          <p:nvPr/>
        </p:nvSpPr>
        <p:spPr>
          <a:xfrm>
            <a:off x="4736592" y="2579116"/>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Best blockchain</a:t>
            </a:r>
            <a:endParaRPr lang="en-US" sz="1150" dirty="0"/>
          </a:p>
        </p:txBody>
      </p:sp>
      <p:sp>
        <p:nvSpPr>
          <p:cNvPr id="15" name="Shape 13"/>
          <p:cNvSpPr/>
          <p:nvPr/>
        </p:nvSpPr>
        <p:spPr>
          <a:xfrm>
            <a:off x="6739128" y="2524252"/>
            <a:ext cx="1947672" cy="502666"/>
          </a:xfrm>
          <a:prstGeom prst="roundRect">
            <a:avLst>
              <a:gd name="adj" fmla="val 14553"/>
            </a:avLst>
          </a:prstGeom>
          <a:solidFill>
            <a:srgbClr val="F4F2EE"/>
          </a:solidFill>
          <a:ln w="12700">
            <a:solidFill>
              <a:srgbClr val="D9D4CC"/>
            </a:solidFill>
            <a:prstDash val="solid"/>
          </a:ln>
        </p:spPr>
      </p:sp>
      <p:sp>
        <p:nvSpPr>
          <p:cNvPr id="16" name="Text 14"/>
          <p:cNvSpPr txBox="1"/>
          <p:nvPr/>
        </p:nvSpPr>
        <p:spPr>
          <a:xfrm>
            <a:off x="6830568" y="2579116"/>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Block height</a:t>
            </a:r>
            <a:endParaRPr lang="en-US" sz="1150" dirty="0"/>
          </a:p>
        </p:txBody>
      </p:sp>
      <p:sp>
        <p:nvSpPr>
          <p:cNvPr id="17" name="Shape 15"/>
          <p:cNvSpPr/>
          <p:nvPr/>
        </p:nvSpPr>
        <p:spPr>
          <a:xfrm>
            <a:off x="457200" y="3154934"/>
            <a:ext cx="1947672" cy="502666"/>
          </a:xfrm>
          <a:prstGeom prst="roundRect">
            <a:avLst>
              <a:gd name="adj" fmla="val 14553"/>
            </a:avLst>
          </a:prstGeom>
          <a:solidFill>
            <a:srgbClr val="F4F2EE"/>
          </a:solidFill>
          <a:ln w="12700">
            <a:solidFill>
              <a:srgbClr val="D9D4CC"/>
            </a:solidFill>
            <a:prstDash val="solid"/>
          </a:ln>
        </p:spPr>
      </p:sp>
      <p:sp>
        <p:nvSpPr>
          <p:cNvPr id="18" name="Text 16"/>
          <p:cNvSpPr txBox="1"/>
          <p:nvPr/>
        </p:nvSpPr>
        <p:spPr>
          <a:xfrm>
            <a:off x="548640" y="3209798"/>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Fork and alternative block</a:t>
            </a:r>
            <a:endParaRPr lang="en-US" sz="1150" dirty="0"/>
          </a:p>
        </p:txBody>
      </p:sp>
      <p:sp>
        <p:nvSpPr>
          <p:cNvPr id="19" name="Shape 17"/>
          <p:cNvSpPr/>
          <p:nvPr/>
        </p:nvSpPr>
        <p:spPr>
          <a:xfrm>
            <a:off x="2551176" y="3154934"/>
            <a:ext cx="1947672" cy="502666"/>
          </a:xfrm>
          <a:prstGeom prst="roundRect">
            <a:avLst>
              <a:gd name="adj" fmla="val 14553"/>
            </a:avLst>
          </a:prstGeom>
          <a:solidFill>
            <a:srgbClr val="F4F2EE"/>
          </a:solidFill>
          <a:ln w="12700">
            <a:solidFill>
              <a:srgbClr val="D9D4CC"/>
            </a:solidFill>
            <a:prstDash val="solid"/>
          </a:ln>
        </p:spPr>
      </p:sp>
      <p:sp>
        <p:nvSpPr>
          <p:cNvPr id="20" name="Text 18"/>
          <p:cNvSpPr txBox="1"/>
          <p:nvPr/>
        </p:nvSpPr>
        <p:spPr>
          <a:xfrm>
            <a:off x="2642616" y="3209798"/>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Double spend</a:t>
            </a:r>
            <a:endParaRPr lang="en-US" sz="1150" dirty="0"/>
          </a:p>
        </p:txBody>
      </p:sp>
      <p:sp>
        <p:nvSpPr>
          <p:cNvPr id="21" name="Shape 19"/>
          <p:cNvSpPr/>
          <p:nvPr/>
        </p:nvSpPr>
        <p:spPr>
          <a:xfrm>
            <a:off x="4645152" y="3154934"/>
            <a:ext cx="1947672" cy="502666"/>
          </a:xfrm>
          <a:prstGeom prst="roundRect">
            <a:avLst>
              <a:gd name="adj" fmla="val 14553"/>
            </a:avLst>
          </a:prstGeom>
          <a:solidFill>
            <a:srgbClr val="F4F2EE"/>
          </a:solidFill>
          <a:ln w="12700">
            <a:solidFill>
              <a:srgbClr val="D9D4CC"/>
            </a:solidFill>
            <a:prstDash val="solid"/>
          </a:ln>
        </p:spPr>
      </p:sp>
      <p:sp>
        <p:nvSpPr>
          <p:cNvPr id="22" name="Text 20"/>
          <p:cNvSpPr txBox="1"/>
          <p:nvPr/>
        </p:nvSpPr>
        <p:spPr>
          <a:xfrm>
            <a:off x="4736592" y="3209798"/>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Genesis block</a:t>
            </a:r>
            <a:endParaRPr lang="en-US" sz="1150" dirty="0"/>
          </a:p>
        </p:txBody>
      </p:sp>
      <p:sp>
        <p:nvSpPr>
          <p:cNvPr id="23" name="Shape 21"/>
          <p:cNvSpPr/>
          <p:nvPr/>
        </p:nvSpPr>
        <p:spPr>
          <a:xfrm>
            <a:off x="6739128" y="3154934"/>
            <a:ext cx="1947672" cy="502666"/>
          </a:xfrm>
          <a:prstGeom prst="roundRect">
            <a:avLst>
              <a:gd name="adj" fmla="val 14553"/>
            </a:avLst>
          </a:prstGeom>
          <a:solidFill>
            <a:srgbClr val="F4F2EE"/>
          </a:solidFill>
          <a:ln w="12700">
            <a:solidFill>
              <a:srgbClr val="D9D4CC"/>
            </a:solidFill>
            <a:prstDash val="solid"/>
          </a:ln>
        </p:spPr>
      </p:sp>
      <p:sp>
        <p:nvSpPr>
          <p:cNvPr id="24" name="Text 22"/>
          <p:cNvSpPr txBox="1"/>
          <p:nvPr/>
        </p:nvSpPr>
        <p:spPr>
          <a:xfrm>
            <a:off x="6830568" y="3209798"/>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Unconfirmed transaction</a:t>
            </a:r>
            <a:endParaRPr lang="en-US" sz="1150" dirty="0"/>
          </a:p>
        </p:txBody>
      </p:sp>
      <p:sp>
        <p:nvSpPr>
          <p:cNvPr id="25" name="Shape 23"/>
          <p:cNvSpPr/>
          <p:nvPr/>
        </p:nvSpPr>
        <p:spPr>
          <a:xfrm>
            <a:off x="457200" y="3785616"/>
            <a:ext cx="1947672" cy="502666"/>
          </a:xfrm>
          <a:prstGeom prst="roundRect">
            <a:avLst>
              <a:gd name="adj" fmla="val 14553"/>
            </a:avLst>
          </a:prstGeom>
          <a:solidFill>
            <a:srgbClr val="F4F2EE"/>
          </a:solidFill>
          <a:ln w="12700">
            <a:solidFill>
              <a:srgbClr val="D9D4CC"/>
            </a:solidFill>
            <a:prstDash val="solid"/>
          </a:ln>
        </p:spPr>
      </p:sp>
      <p:sp>
        <p:nvSpPr>
          <p:cNvPr id="26" name="Text 24"/>
          <p:cNvSpPr txBox="1"/>
          <p:nvPr/>
        </p:nvSpPr>
        <p:spPr>
          <a:xfrm>
            <a:off x="548640" y="3840480"/>
            <a:ext cx="1764792" cy="392938"/>
          </a:xfrm>
          <a:prstGeom prst="rect">
            <a:avLst/>
          </a:prstGeom>
          <a:noFill/>
          <a:ln/>
        </p:spPr>
        <p:txBody>
          <a:bodyPr wrap="square" lIns="0" tIns="0" rIns="0" bIns="0" rtlCol="0" anchor="ctr"/>
          <a:lstStyle/>
          <a:p>
            <a:pPr algn="ctr" indent="0" marL="0">
              <a:buNone/>
            </a:pPr>
            <a:r>
              <a:rPr lang="en-US" sz="1150" b="1" dirty="0">
                <a:solidFill>
                  <a:srgbClr val="1B1F24"/>
                </a:solidFill>
                <a:latin typeface="Calibri" pitchFamily="34" charset="0"/>
                <a:ea typeface="Calibri" pitchFamily="34" charset="-122"/>
                <a:cs typeface="Calibri" pitchFamily="34" charset="-120"/>
              </a:rPr>
              <a:t>Accepting a small payment unconfirmed</a:t>
            </a:r>
            <a:endParaRPr lang="en-US" sz="1150" dirty="0"/>
          </a:p>
        </p:txBody>
      </p:sp>
      <p:sp>
        <p:nvSpPr>
          <p:cNvPr id="27" name="Text 25"/>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is read from the unit upward.</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Confirmation and Probability of reversal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Confirmation</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confirmation is a block that commits to a transaction, counted once for the block that contains it and once more for each block built on top.</a:t>
            </a:r>
            <a:endParaRPr lang="en-US" sz="1200" dirty="0"/>
          </a:p>
        </p:txBody>
      </p:sp>
      <p:sp>
        <p:nvSpPr>
          <p:cNvPr id="9" name="Shape 7"/>
          <p:cNvSpPr/>
          <p:nvPr/>
        </p:nvSpPr>
        <p:spPr>
          <a:xfrm>
            <a:off x="457200" y="2828544"/>
            <a:ext cx="3977640" cy="725805"/>
          </a:xfrm>
          <a:prstGeom prst="roundRect">
            <a:avLst>
              <a:gd name="adj" fmla="val 12598"/>
            </a:avLst>
          </a:prstGeom>
          <a:solidFill>
            <a:srgbClr val="15191E"/>
          </a:solidFill>
          <a:ln w="12700">
            <a:solidFill>
              <a:srgbClr val="15191E"/>
            </a:solidFill>
            <a:prstDash val="solid"/>
          </a:ln>
        </p:spPr>
      </p:sp>
      <p:sp>
        <p:nvSpPr>
          <p:cNvPr id="10" name="Text 8"/>
          <p:cNvSpPr txBox="1"/>
          <p:nvPr/>
        </p:nvSpPr>
        <p:spPr>
          <a:xfrm>
            <a:off x="640080" y="2947416"/>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depth = 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depth + 1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a:t>
            </a:r>
            <a:endParaRPr lang="en-US" sz="1050" dirty="0"/>
          </a:p>
        </p:txBody>
      </p:sp>
      <p:sp>
        <p:nvSpPr>
          <p:cNvPr id="11" name="Text 9"/>
          <p:cNvSpPr txBox="1"/>
          <p:nvPr/>
        </p:nvSpPr>
        <p:spPr>
          <a:xfrm>
            <a:off x="457200" y="3572637"/>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828669"/>
            <a:ext cx="3977640" cy="681736"/>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counting is addition, and the small example performs it: a transaction whose block has two blocks on top has three confirmations. The reason each one matters is the chain of header hashes.</a:t>
            </a:r>
            <a:endParaRPr lang="en-US" sz="1100" dirty="0"/>
          </a:p>
        </p:txBody>
      </p:sp>
      <p:sp>
        <p:nvSpPr>
          <p:cNvPr id="13" name="Shape 11"/>
          <p:cNvSpPr/>
          <p:nvPr/>
        </p:nvSpPr>
        <p:spPr>
          <a:xfrm>
            <a:off x="4709160" y="1280160"/>
            <a:ext cx="3977640" cy="1624584"/>
          </a:xfrm>
          <a:prstGeom prst="roundRect">
            <a:avLst>
              <a:gd name="adj" fmla="val 562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Probability of reversal</a:t>
            </a:r>
            <a:endParaRPr lang="en-US" sz="1600" dirty="0"/>
          </a:p>
        </p:txBody>
      </p:sp>
      <p:sp>
        <p:nvSpPr>
          <p:cNvPr id="15" name="Text 13"/>
          <p:cNvSpPr txBox="1"/>
          <p:nvPr/>
        </p:nvSpPr>
        <p:spPr>
          <a:xfrm>
            <a:off x="4892040" y="1783080"/>
            <a:ext cx="3611880" cy="984504"/>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probability of reversal is the chance that a transaction already in the blockchain is removed, because somebody builds a competing chain that excludes it and that other nodes come to prefer.</a:t>
            </a:r>
            <a:endParaRPr lang="en-US" sz="1200" dirty="0"/>
          </a:p>
        </p:txBody>
      </p:sp>
      <p:sp>
        <p:nvSpPr>
          <p:cNvPr id="16" name="Shape 14"/>
          <p:cNvSpPr/>
          <p:nvPr/>
        </p:nvSpPr>
        <p:spPr>
          <a:xfrm>
            <a:off x="4709160" y="3014472"/>
            <a:ext cx="3977640" cy="563118"/>
          </a:xfrm>
          <a:prstGeom prst="roundRect">
            <a:avLst>
              <a:gd name="adj" fmla="val 16238"/>
            </a:avLst>
          </a:prstGeom>
          <a:solidFill>
            <a:srgbClr val="15191E"/>
          </a:solidFill>
          <a:ln w="12700">
            <a:solidFill>
              <a:srgbClr val="15191E"/>
            </a:solidFill>
            <a:prstDash val="solid"/>
          </a:ln>
        </p:spPr>
      </p:sp>
      <p:sp>
        <p:nvSpPr>
          <p:cNvPr id="17" name="Text 15"/>
          <p:cNvSpPr txBox="1"/>
          <p:nvPr/>
        </p:nvSpPr>
        <p:spPr>
          <a:xfrm>
            <a:off x="4892040" y="3133344"/>
            <a:ext cx="3611880" cy="325374"/>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round((0.1 / 0.9) ** 6, 9)</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1.882e-06</a:t>
            </a:r>
            <a:endParaRPr lang="en-US" sz="1050" dirty="0"/>
          </a:p>
        </p:txBody>
      </p:sp>
      <p:sp>
        <p:nvSpPr>
          <p:cNvPr id="18" name="Text 16"/>
          <p:cNvSpPr txBox="1"/>
          <p:nvPr/>
        </p:nvSpPr>
        <p:spPr>
          <a:xfrm>
            <a:off x="4709160" y="359587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851910"/>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Two calculations are worth doing.</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Best blockchain and Block height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Best blockchain</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best blockchain is the valid chain of blocks that carries the most cumulative proof of work, and it is the chain that a node treats as the record.</a:t>
            </a:r>
            <a:endParaRPr lang="en-US" sz="1200" dirty="0"/>
          </a:p>
        </p:txBody>
      </p:sp>
      <p:sp>
        <p:nvSpPr>
          <p:cNvPr id="9" name="Shape 7"/>
          <p:cNvSpPr/>
          <p:nvPr/>
        </p:nvSpPr>
        <p:spPr>
          <a:xfrm>
            <a:off x="457200" y="2828544"/>
            <a:ext cx="3977640" cy="888492"/>
          </a:xfrm>
          <a:prstGeom prst="roundRect">
            <a:avLst>
              <a:gd name="adj" fmla="val 10292"/>
            </a:avLst>
          </a:prstGeom>
          <a:solidFill>
            <a:srgbClr val="15191E"/>
          </a:solidFill>
          <a:ln w="12700">
            <a:solidFill>
              <a:srgbClr val="15191E"/>
            </a:solidFill>
            <a:prstDash val="solid"/>
          </a:ln>
        </p:spPr>
      </p:sp>
      <p:sp>
        <p:nvSpPr>
          <p:cNvPr id="10" name="Text 8"/>
          <p:cNvSpPr txBox="1"/>
          <p:nvPr/>
        </p:nvSpPr>
        <p:spPr>
          <a:xfrm>
            <a:off x="640080" y="2947416"/>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chains = {'A': [100, 100, 100], 'B': [100, 100, 120]}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max(chains, key=lambda c: sum(chains[c]))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'B'</a:t>
            </a:r>
            <a:endParaRPr lang="en-US" sz="1050" dirty="0"/>
          </a:p>
        </p:txBody>
      </p:sp>
      <p:sp>
        <p:nvSpPr>
          <p:cNvPr id="11" name="Text 9"/>
          <p:cNvSpPr txBox="1"/>
          <p:nvPr/>
        </p:nvSpPr>
        <p:spPr>
          <a:xfrm>
            <a:off x="457200" y="373532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991356"/>
            <a:ext cx="397764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Choosing is comparing two sums. The small example models two chains by the work in each of their blocks and picks the one whose total is larger, which is chain B.</a:t>
            </a:r>
            <a:endParaRPr lang="en-US" sz="1100" dirty="0"/>
          </a:p>
        </p:txBody>
      </p:sp>
      <p:sp>
        <p:nvSpPr>
          <p:cNvPr id="13" name="Shape 11"/>
          <p:cNvSpPr/>
          <p:nvPr/>
        </p:nvSpPr>
        <p:spPr>
          <a:xfrm>
            <a:off x="4709160" y="1280160"/>
            <a:ext cx="3977640" cy="1252728"/>
          </a:xfrm>
          <a:prstGeom prst="roundRect">
            <a:avLst>
              <a:gd name="adj" fmla="val 7299"/>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Block height</a:t>
            </a:r>
            <a:endParaRPr lang="en-US" sz="1600" dirty="0"/>
          </a:p>
        </p:txBody>
      </p:sp>
      <p:sp>
        <p:nvSpPr>
          <p:cNvPr id="15" name="Text 13"/>
          <p:cNvSpPr txBox="1"/>
          <p:nvPr/>
        </p:nvSpPr>
        <p:spPr>
          <a:xfrm>
            <a:off x="4892040" y="1783080"/>
            <a:ext cx="361188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height of a block is its position in the chain, counted as the number of blocks below it.</a:t>
            </a:r>
            <a:endParaRPr lang="en-US" sz="1200" dirty="0"/>
          </a:p>
        </p:txBody>
      </p:sp>
      <p:sp>
        <p:nvSpPr>
          <p:cNvPr id="16" name="Shape 14"/>
          <p:cNvSpPr/>
          <p:nvPr/>
        </p:nvSpPr>
        <p:spPr>
          <a:xfrm>
            <a:off x="4709160" y="2642616"/>
            <a:ext cx="3977640" cy="725805"/>
          </a:xfrm>
          <a:prstGeom prst="roundRect">
            <a:avLst>
              <a:gd name="adj" fmla="val 12598"/>
            </a:avLst>
          </a:prstGeom>
          <a:solidFill>
            <a:srgbClr val="15191E"/>
          </a:solidFill>
          <a:ln w="12700">
            <a:solidFill>
              <a:srgbClr val="15191E"/>
            </a:solidFill>
            <a:prstDash val="solid"/>
          </a:ln>
        </p:spPr>
      </p:sp>
      <p:sp>
        <p:nvSpPr>
          <p:cNvPr id="17" name="Text 15"/>
          <p:cNvSpPr txBox="1"/>
          <p:nvPr/>
        </p:nvSpPr>
        <p:spPr>
          <a:xfrm>
            <a:off x="4892040" y="2761488"/>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genesis, added = 0, 800000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genesis + added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800000</a:t>
            </a:r>
            <a:endParaRPr lang="en-US" sz="1050" dirty="0"/>
          </a:p>
        </p:txBody>
      </p:sp>
      <p:sp>
        <p:nvSpPr>
          <p:cNvPr id="18" name="Text 16"/>
          <p:cNvSpPr txBox="1"/>
          <p:nvPr/>
        </p:nvSpPr>
        <p:spPr>
          <a:xfrm>
            <a:off x="4709160" y="3386709"/>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Fork and alternative block and Double spend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Fork and alternative block</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fork, in the sense used here, is the temporary situation in which two or more valid blocks claim the same height, so that the chain briefly has two tips.</a:t>
            </a:r>
            <a:endParaRPr lang="en-US" sz="1200" dirty="0"/>
          </a:p>
        </p:txBody>
      </p:sp>
      <p:sp>
        <p:nvSpPr>
          <p:cNvPr id="9" name="Shape 7"/>
          <p:cNvSpPr/>
          <p:nvPr/>
        </p:nvSpPr>
        <p:spPr>
          <a:xfrm>
            <a:off x="457200" y="2828544"/>
            <a:ext cx="3977640" cy="888492"/>
          </a:xfrm>
          <a:prstGeom prst="roundRect">
            <a:avLst>
              <a:gd name="adj" fmla="val 10292"/>
            </a:avLst>
          </a:prstGeom>
          <a:solidFill>
            <a:srgbClr val="15191E"/>
          </a:solidFill>
          <a:ln w="12700">
            <a:solidFill>
              <a:srgbClr val="15191E"/>
            </a:solidFill>
            <a:prstDash val="solid"/>
          </a:ln>
        </p:spPr>
      </p:sp>
      <p:sp>
        <p:nvSpPr>
          <p:cNvPr id="10" name="Text 8"/>
          <p:cNvSpPr txBox="1"/>
          <p:nvPr/>
        </p:nvSpPr>
        <p:spPr>
          <a:xfrm>
            <a:off x="640080" y="2947416"/>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a, b = 5, 5</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('fork' if a == b else 'extends', max(a, b) + 1)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('fork', 6)</a:t>
            </a:r>
            <a:endParaRPr lang="en-US" sz="1050" dirty="0"/>
          </a:p>
        </p:txBody>
      </p:sp>
      <p:sp>
        <p:nvSpPr>
          <p:cNvPr id="11" name="Text 9"/>
          <p:cNvSpPr txBox="1"/>
          <p:nvPr/>
        </p:nvSpPr>
        <p:spPr>
          <a:xfrm>
            <a:off x="457200" y="3735324"/>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709160" y="1280160"/>
            <a:ext cx="397764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Double spend</a:t>
            </a:r>
            <a:endParaRPr lang="en-US" sz="1600" dirty="0"/>
          </a:p>
        </p:txBody>
      </p:sp>
      <p:sp>
        <p:nvSpPr>
          <p:cNvPr id="14" name="Text 12"/>
          <p:cNvSpPr txBox="1"/>
          <p:nvPr/>
        </p:nvSpPr>
        <p:spPr>
          <a:xfrm>
            <a:off x="489204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 double spend is the attempt to spend the same money twice.</a:t>
            </a:r>
            <a:endParaRPr lang="en-US" sz="1200" dirty="0"/>
          </a:p>
        </p:txBody>
      </p:sp>
      <p:sp>
        <p:nvSpPr>
          <p:cNvPr id="15" name="Shape 13"/>
          <p:cNvSpPr/>
          <p:nvPr/>
        </p:nvSpPr>
        <p:spPr>
          <a:xfrm>
            <a:off x="4709160" y="2456688"/>
            <a:ext cx="3977640" cy="1051179"/>
          </a:xfrm>
          <a:prstGeom prst="roundRect">
            <a:avLst>
              <a:gd name="adj" fmla="val 8699"/>
            </a:avLst>
          </a:prstGeom>
          <a:solidFill>
            <a:srgbClr val="15191E"/>
          </a:solidFill>
          <a:ln w="12700">
            <a:solidFill>
              <a:srgbClr val="15191E"/>
            </a:solidFill>
            <a:prstDash val="solid"/>
          </a:ln>
        </p:spPr>
      </p:sp>
      <p:sp>
        <p:nvSpPr>
          <p:cNvPr id="16" name="Text 14"/>
          <p:cNvSpPr txBox="1"/>
          <p:nvPr/>
        </p:nvSpPr>
        <p:spPr>
          <a:xfrm>
            <a:off x="4892040" y="2575560"/>
            <a:ext cx="3611880" cy="813435"/>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spent, tx = {'4ac54180:1'}, {'input': '4ac54180:1'}</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'reject' if tx['input'] in spent else 'accept'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'reject'</a:t>
            </a:r>
            <a:endParaRPr lang="en-US" sz="1050" dirty="0"/>
          </a:p>
        </p:txBody>
      </p:sp>
      <p:sp>
        <p:nvSpPr>
          <p:cNvPr id="17" name="Text 15"/>
          <p:cNvSpPr txBox="1"/>
          <p:nvPr/>
        </p:nvSpPr>
        <p:spPr>
          <a:xfrm>
            <a:off x="4709160" y="3526155"/>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8" name="Text 16"/>
          <p:cNvSpPr txBox="1"/>
          <p:nvPr/>
        </p:nvSpPr>
        <p:spPr>
          <a:xfrm>
            <a:off x="4709160" y="3782187"/>
            <a:ext cx="3977640" cy="852170"/>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check itself is a membership test, which the small example performs: if the outpoint named by a new transaction's input is already in the set of spent outputs, the transaction is rejected. Doing this reliably is what the whole branch is for.</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Genesis block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block number 0, mined in January 2009</a:t>
            </a:r>
            <a:endParaRPr lang="en-US" sz="1300" dirty="0"/>
          </a:p>
        </p:txBody>
      </p:sp>
      <p:sp>
        <p:nvSpPr>
          <p:cNvPr id="6" name="Shape 4"/>
          <p:cNvSpPr/>
          <p:nvPr/>
        </p:nvSpPr>
        <p:spPr>
          <a:xfrm>
            <a:off x="457200" y="1280160"/>
            <a:ext cx="8229600" cy="1500632"/>
          </a:xfrm>
          <a:prstGeom prst="roundRect">
            <a:avLst>
              <a:gd name="adj" fmla="val 6093"/>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860552"/>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genesis block is the first block of the blockchain, the one with no parent. The chapter introduces it at the bottom of the stack, saying that below the block containing Alice's transaction are hundreds of thousands of blocks linked to each other in a chain all the way back to block number zero, known as the genesis block (Antonopoulos and Harding, 2023).</a:t>
            </a:r>
            <a:endParaRPr lang="en-US" sz="1300" dirty="0"/>
          </a:p>
        </p:txBody>
      </p:sp>
      <p:sp>
        <p:nvSpPr>
          <p:cNvPr id="9" name="Shape 7"/>
          <p:cNvSpPr/>
          <p:nvPr/>
        </p:nvSpPr>
        <p:spPr>
          <a:xfrm>
            <a:off x="457200" y="2927096"/>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3045968"/>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datetime.datetime.fromtimestamp(1231006505, datetime.timezone.utc).date().isoformat()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'2009-01-03'</a:t>
            </a:r>
            <a:endParaRPr lang="en-US" sz="1100" dirty="0"/>
          </a:p>
        </p:txBody>
      </p:sp>
      <p:sp>
        <p:nvSpPr>
          <p:cNvPr id="11" name="Text 9"/>
          <p:cNvSpPr txBox="1"/>
          <p:nvPr/>
        </p:nvSpPr>
        <p:spPr>
          <a:xfrm>
            <a:off x="457200" y="3523996"/>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43452"/>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62324"/>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46372"/>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Every claim about the block can be recomputed from its fields.</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Unconfirmed 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payment seen by everyone and recorded by nobody</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unconfirmed transaction is one that has been verified and propagated but is in no block.</a:t>
            </a:r>
            <a:endParaRPr lang="en-US" sz="1300" dirty="0"/>
          </a:p>
        </p:txBody>
      </p:sp>
      <p:sp>
        <p:nvSpPr>
          <p:cNvPr id="9" name="Shape 7"/>
          <p:cNvSpPr/>
          <p:nvPr/>
        </p:nvSpPr>
        <p:spPr>
          <a:xfrm>
            <a:off x="457200" y="2322830"/>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441702"/>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avg, blocks = 10, 6</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avg * blocks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60</a:t>
            </a:r>
            <a:endParaRPr lang="en-US" sz="1100" dirty="0"/>
          </a:p>
        </p:txBody>
      </p:sp>
      <p:sp>
        <p:nvSpPr>
          <p:cNvPr id="11" name="Text 9"/>
          <p:cNvSpPr txBox="1"/>
          <p:nvPr/>
        </p:nvSpPr>
        <p:spPr>
          <a:xfrm>
            <a:off x="457200" y="309016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09620"/>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42849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12540"/>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arithmetic behind that figure is a multiplication: six blocks at an average of ten minutes each is sixty minutes, as the expression above gives. The important word is average.</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Accepting a small payment unconfirmed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selling a coffee without waiting</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Accepting a small payment unconfirmed is the practice of treating a transaction as paid as soon as it has propagated, without waiting for a block. It is not a rule of Bitcoin but a judgement about risk.</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value, threshold = 5, 25</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'accept now' if value &lt; threshold else 'wait for confirmations'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'accept now'</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49040"/>
            <a:ext cx="8229600" cy="340868"/>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decision is a comparison, which the small example renders: a value below the threshold is accepted at once, a value at or above it waits.</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Spending the 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Blockchain - 2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This last group of the branch follows what happens after Alice's payment has been recorded: Bob spends it. The chapter gives the step a section of its own and begins it by saying that now that Alice's transaction has been embedded in the blockchain as part of a block, it is visible to all Bitcoin applications, and each full node can independently verify the transaction as valid and spendable (Antonopoulos and Harding, 2023). The group has two concepts, the onward spending itself and the weaker verification that a lightweight client can perform.</a:t>
            </a:r>
            <a:endParaRPr lang="en-US" sz="1300" dirty="0"/>
          </a:p>
        </p:txBody>
      </p:sp>
      <p:sp>
        <p:nvSpPr>
          <p:cNvPr id="9" name="Shape 7"/>
          <p:cNvSpPr/>
          <p:nvPr/>
        </p:nvSpPr>
        <p:spPr>
          <a:xfrm>
            <a:off x="457200" y="3329940"/>
            <a:ext cx="4041648" cy="858012"/>
          </a:xfrm>
          <a:prstGeom prst="roundRect">
            <a:avLst>
              <a:gd name="adj" fmla="val 8526"/>
            </a:avLst>
          </a:prstGeom>
          <a:solidFill>
            <a:srgbClr val="F4F2EE"/>
          </a:solidFill>
          <a:ln w="12700">
            <a:solidFill>
              <a:srgbClr val="D9D4CC"/>
            </a:solidFill>
            <a:prstDash val="solid"/>
          </a:ln>
        </p:spPr>
      </p:sp>
      <p:sp>
        <p:nvSpPr>
          <p:cNvPr id="10" name="Text 8"/>
          <p:cNvSpPr txBox="1"/>
          <p:nvPr/>
        </p:nvSpPr>
        <p:spPr>
          <a:xfrm>
            <a:off x="548640" y="3384804"/>
            <a:ext cx="3858768"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Spending onward</a:t>
            </a:r>
            <a:endParaRPr lang="en-US" sz="1250" dirty="0"/>
          </a:p>
        </p:txBody>
      </p:sp>
      <p:sp>
        <p:nvSpPr>
          <p:cNvPr id="11" name="Shape 9"/>
          <p:cNvSpPr/>
          <p:nvPr/>
        </p:nvSpPr>
        <p:spPr>
          <a:xfrm>
            <a:off x="4645152" y="3329940"/>
            <a:ext cx="4041648" cy="858012"/>
          </a:xfrm>
          <a:prstGeom prst="roundRect">
            <a:avLst>
              <a:gd name="adj" fmla="val 8526"/>
            </a:avLst>
          </a:prstGeom>
          <a:solidFill>
            <a:srgbClr val="F4F2EE"/>
          </a:solidFill>
          <a:ln w="12700">
            <a:solidFill>
              <a:srgbClr val="D9D4CC"/>
            </a:solidFill>
            <a:prstDash val="solid"/>
          </a:ln>
        </p:spPr>
      </p:sp>
      <p:sp>
        <p:nvSpPr>
          <p:cNvPr id="12" name="Text 10"/>
          <p:cNvSpPr txBox="1"/>
          <p:nvPr/>
        </p:nvSpPr>
        <p:spPr>
          <a:xfrm>
            <a:off x="4736592" y="3384804"/>
            <a:ext cx="3858768" cy="748284"/>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Simplified payment verification</a:t>
            </a:r>
            <a:endParaRPr lang="en-US" sz="1250" dirty="0"/>
          </a:p>
        </p:txBody>
      </p:sp>
      <p:sp>
        <p:nvSpPr>
          <p:cNvPr id="13" name="Text 11"/>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first concept follows Bob, who can now pay a contractor or a supplier by transferring value from Alice's podcast payment to these new owners, and who in doing so extends the chain of transactions; the chapter's…</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1B1F24"/>
                </a:solidFill>
                <a:latin typeface="Cambria" pitchFamily="34" charset="0"/>
                <a:ea typeface="Cambria" pitchFamily="34" charset="-122"/>
                <a:cs typeface="Cambria" pitchFamily="34" charset="-120"/>
              </a:rPr>
              <a:t>Spending onward and Simplified payment verification</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066800"/>
          </a:xfrm>
          <a:prstGeom prst="roundRect">
            <a:avLst>
              <a:gd name="adj" fmla="val 8571"/>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Spending onward</a:t>
            </a:r>
            <a:endParaRPr lang="en-US" sz="1600" dirty="0"/>
          </a:p>
        </p:txBody>
      </p:sp>
      <p:sp>
        <p:nvSpPr>
          <p:cNvPr id="8" name="Text 6"/>
          <p:cNvSpPr txBox="1"/>
          <p:nvPr/>
        </p:nvSpPr>
        <p:spPr>
          <a:xfrm>
            <a:off x="640080" y="1783080"/>
            <a:ext cx="361188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Spending onward is the use of a received output as the input of a new transaction.</a:t>
            </a:r>
            <a:endParaRPr lang="en-US" sz="1200" dirty="0"/>
          </a:p>
        </p:txBody>
      </p:sp>
      <p:sp>
        <p:nvSpPr>
          <p:cNvPr id="9" name="Shape 7"/>
          <p:cNvSpPr/>
          <p:nvPr/>
        </p:nvSpPr>
        <p:spPr>
          <a:xfrm>
            <a:off x="457200" y="2456688"/>
            <a:ext cx="3977640" cy="888492"/>
          </a:xfrm>
          <a:prstGeom prst="roundRect">
            <a:avLst>
              <a:gd name="adj" fmla="val 10292"/>
            </a:avLst>
          </a:prstGeom>
          <a:solidFill>
            <a:srgbClr val="15191E"/>
          </a:solidFill>
          <a:ln w="12700">
            <a:solidFill>
              <a:srgbClr val="15191E"/>
            </a:solidFill>
            <a:prstDash val="solid"/>
          </a:ln>
        </p:spPr>
      </p:sp>
      <p:sp>
        <p:nvSpPr>
          <p:cNvPr id="10" name="Text 8"/>
          <p:cNvSpPr txBox="1"/>
          <p:nvPr/>
        </p:nvSpPr>
        <p:spPr>
          <a:xfrm>
            <a:off x="640080" y="2575560"/>
            <a:ext cx="3611880" cy="6507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received, paid = 75000, 67000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(received - paid, received - paid == 8000)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(8000, True)</a:t>
            </a:r>
            <a:endParaRPr lang="en-US" sz="1050" dirty="0"/>
          </a:p>
        </p:txBody>
      </p:sp>
      <p:sp>
        <p:nvSpPr>
          <p:cNvPr id="11" name="Text 9"/>
          <p:cNvSpPr txBox="1"/>
          <p:nvPr/>
        </p:nvSpPr>
        <p:spPr>
          <a:xfrm>
            <a:off x="457200" y="3363468"/>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619500"/>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arithmetic is the same subtraction as before.</a:t>
            </a:r>
            <a:endParaRPr lang="en-US" sz="1100" dirty="0"/>
          </a:p>
        </p:txBody>
      </p:sp>
      <p:sp>
        <p:nvSpPr>
          <p:cNvPr id="13" name="Shape 11"/>
          <p:cNvSpPr/>
          <p:nvPr/>
        </p:nvSpPr>
        <p:spPr>
          <a:xfrm>
            <a:off x="4709160" y="1280160"/>
            <a:ext cx="3977640" cy="1438656"/>
          </a:xfrm>
          <a:prstGeom prst="roundRect">
            <a:avLst>
              <a:gd name="adj" fmla="val 6356"/>
            </a:avLst>
          </a:prstGeom>
          <a:solidFill>
            <a:srgbClr val="F4F2EE"/>
          </a:solidFill>
          <a:ln w="12700">
            <a:solidFill>
              <a:srgbClr val="F4F2EE"/>
            </a:solidFill>
            <a:prstDash val="solid"/>
          </a:ln>
        </p:spPr>
      </p:sp>
      <p:sp>
        <p:nvSpPr>
          <p:cNvPr id="14" name="Text 12"/>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Simplified payment verification</a:t>
            </a:r>
            <a:endParaRPr lang="en-US" sz="1600" dirty="0"/>
          </a:p>
        </p:txBody>
      </p:sp>
      <p:sp>
        <p:nvSpPr>
          <p:cNvPr id="15" name="Text 13"/>
          <p:cNvSpPr txBox="1"/>
          <p:nvPr/>
        </p:nvSpPr>
        <p:spPr>
          <a:xfrm>
            <a:off x="489204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Simplified payment verification is the method by which a program that does not hold the whole blockchain can still gain assurance about a payment.</a:t>
            </a:r>
            <a:endParaRPr lang="en-US" sz="1200" dirty="0"/>
          </a:p>
        </p:txBody>
      </p:sp>
      <p:sp>
        <p:nvSpPr>
          <p:cNvPr id="16" name="Shape 14"/>
          <p:cNvSpPr/>
          <p:nvPr/>
        </p:nvSpPr>
        <p:spPr>
          <a:xfrm>
            <a:off x="4709160" y="2828544"/>
            <a:ext cx="3977640" cy="725805"/>
          </a:xfrm>
          <a:prstGeom prst="roundRect">
            <a:avLst>
              <a:gd name="adj" fmla="val 12598"/>
            </a:avLst>
          </a:prstGeom>
          <a:solidFill>
            <a:srgbClr val="15191E"/>
          </a:solidFill>
          <a:ln w="12700">
            <a:solidFill>
              <a:srgbClr val="15191E"/>
            </a:solidFill>
            <a:prstDash val="solid"/>
          </a:ln>
        </p:spPr>
      </p:sp>
      <p:sp>
        <p:nvSpPr>
          <p:cNvPr id="17" name="Text 15"/>
          <p:cNvSpPr txBox="1"/>
          <p:nvPr/>
        </p:nvSpPr>
        <p:spPr>
          <a:xfrm>
            <a:off x="4892040" y="2947416"/>
            <a:ext cx="3611880" cy="48806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n = 16000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math.ceil(math.log2(n)) * 32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448</a:t>
            </a:r>
            <a:endParaRPr lang="en-US" sz="1050" dirty="0"/>
          </a:p>
        </p:txBody>
      </p:sp>
      <p:sp>
        <p:nvSpPr>
          <p:cNvPr id="18" name="Text 16"/>
          <p:cNvSpPr txBox="1"/>
          <p:nvPr/>
        </p:nvSpPr>
        <p:spPr>
          <a:xfrm>
            <a:off x="4709160" y="3572637"/>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709160" y="3828669"/>
            <a:ext cx="3977640" cy="170434"/>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efficiency comes from the shape of the merkle tree.</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Semantics</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This branch reads the chapter with the eyes of the course rather than of the book.</a:t>
            </a:r>
            <a:endParaRPr lang="en-US" sz="1500" dirty="0"/>
          </a:p>
        </p:txBody>
      </p:sp>
      <p:sp>
        <p:nvSpPr>
          <p:cNvPr id="5" name="Shape 3"/>
          <p:cNvSpPr/>
          <p:nvPr/>
        </p:nvSpPr>
        <p:spPr>
          <a:xfrm>
            <a:off x="457200" y="2788920"/>
            <a:ext cx="8229600"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8083296"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Provenance model</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3 concepts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Provenance model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Semantics - 3 concepts</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provenance model is a description of where things came from: which things existed, which processes made or changed them, and who was responsible. This group introduces the vocabulary in which such a description is written and then applies it to the chapter.</a:t>
            </a:r>
            <a:endParaRPr lang="en-US" sz="1300" dirty="0"/>
          </a:p>
        </p:txBody>
      </p:sp>
      <p:sp>
        <p:nvSpPr>
          <p:cNvPr id="9" name="Shape 7"/>
          <p:cNvSpPr/>
          <p:nvPr/>
        </p:nvSpPr>
        <p:spPr>
          <a:xfrm>
            <a:off x="457200" y="2725674"/>
            <a:ext cx="2645664" cy="1462278"/>
          </a:xfrm>
          <a:prstGeom prst="roundRect">
            <a:avLst>
              <a:gd name="adj" fmla="val 5003"/>
            </a:avLst>
          </a:prstGeom>
          <a:solidFill>
            <a:srgbClr val="F4F2EE"/>
          </a:solidFill>
          <a:ln w="12700">
            <a:solidFill>
              <a:srgbClr val="D9D4CC"/>
            </a:solidFill>
            <a:prstDash val="solid"/>
          </a:ln>
        </p:spPr>
      </p:sp>
      <p:sp>
        <p:nvSpPr>
          <p:cNvPr id="10" name="Text 8"/>
          <p:cNvSpPr txBox="1"/>
          <p:nvPr/>
        </p:nvSpPr>
        <p:spPr>
          <a:xfrm>
            <a:off x="548640" y="2780538"/>
            <a:ext cx="2462784" cy="135255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Ontology</a:t>
            </a:r>
            <a:endParaRPr lang="en-US" sz="1250" dirty="0"/>
          </a:p>
        </p:txBody>
      </p:sp>
      <p:sp>
        <p:nvSpPr>
          <p:cNvPr id="11" name="Shape 9"/>
          <p:cNvSpPr/>
          <p:nvPr/>
        </p:nvSpPr>
        <p:spPr>
          <a:xfrm>
            <a:off x="3249168" y="2725674"/>
            <a:ext cx="2645664" cy="1462278"/>
          </a:xfrm>
          <a:prstGeom prst="roundRect">
            <a:avLst>
              <a:gd name="adj" fmla="val 5003"/>
            </a:avLst>
          </a:prstGeom>
          <a:solidFill>
            <a:srgbClr val="F4F2EE"/>
          </a:solidFill>
          <a:ln w="12700">
            <a:solidFill>
              <a:srgbClr val="D9D4CC"/>
            </a:solidFill>
            <a:prstDash val="solid"/>
          </a:ln>
        </p:spPr>
      </p:sp>
      <p:sp>
        <p:nvSpPr>
          <p:cNvPr id="12" name="Text 10"/>
          <p:cNvSpPr txBox="1"/>
          <p:nvPr/>
        </p:nvSpPr>
        <p:spPr>
          <a:xfrm>
            <a:off x="3340608" y="2780538"/>
            <a:ext cx="2462784" cy="135255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Triple and graph</a:t>
            </a:r>
            <a:endParaRPr lang="en-US" sz="1250" dirty="0"/>
          </a:p>
        </p:txBody>
      </p:sp>
      <p:sp>
        <p:nvSpPr>
          <p:cNvPr id="13" name="Shape 11"/>
          <p:cNvSpPr/>
          <p:nvPr/>
        </p:nvSpPr>
        <p:spPr>
          <a:xfrm>
            <a:off x="6041136" y="2725674"/>
            <a:ext cx="2645664" cy="1462278"/>
          </a:xfrm>
          <a:prstGeom prst="roundRect">
            <a:avLst>
              <a:gd name="adj" fmla="val 5003"/>
            </a:avLst>
          </a:prstGeom>
          <a:solidFill>
            <a:srgbClr val="F4F2EE"/>
          </a:solidFill>
          <a:ln w="12700">
            <a:solidFill>
              <a:srgbClr val="D9D4CC"/>
            </a:solidFill>
            <a:prstDash val="solid"/>
          </a:ln>
        </p:spPr>
      </p:sp>
      <p:sp>
        <p:nvSpPr>
          <p:cNvPr id="14" name="Text 12"/>
          <p:cNvSpPr txBox="1"/>
          <p:nvPr/>
        </p:nvSpPr>
        <p:spPr>
          <a:xfrm>
            <a:off x="6132576" y="2780538"/>
            <a:ext cx="2462784" cy="135255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Provenance graph</a:t>
            </a:r>
            <a:endParaRPr lang="en-US" sz="1250" dirty="0"/>
          </a:p>
        </p:txBody>
      </p:sp>
      <p:sp>
        <p:nvSpPr>
          <p:cNvPr id="15" name="Text 13"/>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group begins with the ontology in general, since a reader must know what kind of thing is being built before seeing one.</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Ontology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concept list of this chapter</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ontology, in computing, is an explicit description of the concepts of some area of knowledge and of the relations among them, written in a form that a machine can process.</a:t>
            </a:r>
            <a:endParaRPr lang="en-US" sz="1300" dirty="0"/>
          </a:p>
        </p:txBody>
      </p:sp>
      <p:sp>
        <p:nvSpPr>
          <p:cNvPr id="9" name="Shape 7"/>
          <p:cNvSpPr/>
          <p:nvPr/>
        </p:nvSpPr>
        <p:spPr>
          <a:xfrm>
            <a:off x="457200" y="2524252"/>
            <a:ext cx="8229600" cy="795528"/>
          </a:xfrm>
          <a:prstGeom prst="roundRect">
            <a:avLst>
              <a:gd name="adj" fmla="val 11494"/>
            </a:avLst>
          </a:prstGeom>
          <a:solidFill>
            <a:srgbClr val="15191E"/>
          </a:solidFill>
          <a:ln w="12700">
            <a:solidFill>
              <a:srgbClr val="15191E"/>
            </a:solidFill>
            <a:prstDash val="solid"/>
          </a:ln>
        </p:spPr>
      </p:sp>
      <p:sp>
        <p:nvSpPr>
          <p:cNvPr id="10" name="Text 8"/>
          <p:cNvSpPr txBox="1"/>
          <p:nvPr/>
        </p:nvSpPr>
        <p:spPr>
          <a:xfrm>
            <a:off x="640080" y="2643124"/>
            <a:ext cx="7863840" cy="557784"/>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classes, parents = ['Transaction', 'Input', 'Output', 'Network'], {'Transaction': None, 'Input': 'Transaction', 'Output': 'Transaction', 'Network': None}</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(len(classes), sum(1 for c in classes if parents.get(c) is None))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(4, 2)</a:t>
            </a:r>
            <a:endParaRPr lang="en-US" sz="900" dirty="0"/>
          </a:p>
        </p:txBody>
      </p:sp>
      <p:sp>
        <p:nvSpPr>
          <p:cNvPr id="11" name="Text 9"/>
          <p:cNvSpPr txBox="1"/>
          <p:nvPr/>
        </p:nvSpPr>
        <p:spPr>
          <a:xfrm>
            <a:off x="457200" y="333806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557524"/>
            <a:ext cx="8229600" cy="1066800"/>
          </a:xfrm>
          <a:prstGeom prst="roundRect">
            <a:avLst>
              <a:gd name="adj" fmla="val 8571"/>
            </a:avLst>
          </a:prstGeom>
          <a:solidFill>
            <a:srgbClr val="F4F2EE"/>
          </a:solidFill>
          <a:ln w="12700">
            <a:solidFill>
              <a:srgbClr val="F4F2EE"/>
            </a:solidFill>
            <a:prstDash val="solid"/>
          </a:ln>
        </p:spPr>
      </p:sp>
      <p:sp>
        <p:nvSpPr>
          <p:cNvPr id="13" name="Text 11"/>
          <p:cNvSpPr txBox="1"/>
          <p:nvPr/>
        </p:nvSpPr>
        <p:spPr>
          <a:xfrm>
            <a:off x="640080" y="3676396"/>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060444"/>
            <a:ext cx="7863840" cy="42672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smallest useful description is a list of classes with their parents, which is what the example computes: four classes of which two have no parent, and therefore two roots and a hierarchy below them.</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Triple and graph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Alice's transaction used Joe's output</a:t>
            </a:r>
            <a:endParaRPr lang="en-US" sz="1300" dirty="0"/>
          </a:p>
        </p:txBody>
      </p:sp>
      <p:sp>
        <p:nvSpPr>
          <p:cNvPr id="6" name="Shape 4"/>
          <p:cNvSpPr/>
          <p:nvPr/>
        </p:nvSpPr>
        <p:spPr>
          <a:xfrm>
            <a:off x="457200" y="1280160"/>
            <a:ext cx="8229600" cy="1097788"/>
          </a:xfrm>
          <a:prstGeom prst="roundRect">
            <a:avLst>
              <a:gd name="adj" fmla="val 8329"/>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45770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triple is the unit in which these descriptions are written: a subject, a predicate and an object, read as a single sentence.</a:t>
            </a:r>
            <a:endParaRPr lang="en-US" sz="1300" dirty="0"/>
          </a:p>
        </p:txBody>
      </p:sp>
      <p:sp>
        <p:nvSpPr>
          <p:cNvPr id="9" name="Shape 7"/>
          <p:cNvSpPr/>
          <p:nvPr/>
        </p:nvSpPr>
        <p:spPr>
          <a:xfrm>
            <a:off x="457200" y="2524252"/>
            <a:ext cx="8229600" cy="656082"/>
          </a:xfrm>
          <a:prstGeom prst="roundRect">
            <a:avLst>
              <a:gd name="adj" fmla="val 13937"/>
            </a:avLst>
          </a:prstGeom>
          <a:solidFill>
            <a:srgbClr val="15191E"/>
          </a:solidFill>
          <a:ln w="12700">
            <a:solidFill>
              <a:srgbClr val="15191E"/>
            </a:solidFill>
            <a:prstDash val="solid"/>
          </a:ln>
        </p:spPr>
      </p:sp>
      <p:sp>
        <p:nvSpPr>
          <p:cNvPr id="10" name="Text 8"/>
          <p:cNvSpPr txBox="1"/>
          <p:nvPr/>
        </p:nvSpPr>
        <p:spPr>
          <a:xfrm>
            <a:off x="640080" y="2643124"/>
            <a:ext cx="7863840" cy="418338"/>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triples = [('Tx2', 'used', 'Tx1:0'), ('Tx2:1', 'wasGeneratedBy', 'Tx2'), ('Tx2', 'wasAttributedTo', 'Alice')]</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(len(triples), len({s for s, p, o in triples} | {o for s, p, o in triples}))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(3, 4)</a:t>
            </a:r>
            <a:endParaRPr lang="en-US" sz="900" dirty="0"/>
          </a:p>
        </p:txBody>
      </p:sp>
      <p:sp>
        <p:nvSpPr>
          <p:cNvPr id="11" name="Text 9"/>
          <p:cNvSpPr txBox="1"/>
          <p:nvPr/>
        </p:nvSpPr>
        <p:spPr>
          <a:xfrm>
            <a:off x="457200" y="3198622"/>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418078"/>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536950"/>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920998"/>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Counting a small graph shows how a description grows.</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Provenance graph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the chain from Joe to Gopesh as a graph</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provenance graph of this chapter is the transaction chain written in the vocabulary of the provenance standard. The standard's three starting-point classes fit the chapter's parts closely.</a:t>
            </a:r>
            <a:endParaRPr lang="en-US" sz="1300" dirty="0"/>
          </a:p>
        </p:txBody>
      </p:sp>
      <p:sp>
        <p:nvSpPr>
          <p:cNvPr id="9" name="Shape 7"/>
          <p:cNvSpPr/>
          <p:nvPr/>
        </p:nvSpPr>
        <p:spPr>
          <a:xfrm>
            <a:off x="457200" y="2725674"/>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844546"/>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chain = ['Tx1:0', 'Tx2:1', 'Tx3:0']</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[(b, 'wasDerivedFrom', a) for a, b in zip(chain, chain[1:])]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[('Tx2:1', 'wasDerivedFrom', 'Tx1:0'), ('Tx3:0', 'wasDerivedFrom', 'Tx2:1')]</a:t>
            </a:r>
            <a:endParaRPr lang="en-US" sz="1100" dirty="0"/>
          </a:p>
        </p:txBody>
      </p:sp>
      <p:sp>
        <p:nvSpPr>
          <p:cNvPr id="11" name="Text 9"/>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749040"/>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translation is mechanical, which is what the executed example shows: a chain of outputs becomes a list of derivation triples, each saying that one output was derived from the one before, so the chain Tx1:0, Tx2:1, Tx3:0 yields two statements.</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457200" y="960120"/>
            <a:ext cx="128016" cy="1417320"/>
          </a:xfrm>
          <a:prstGeom prst="rect">
            <a:avLst/>
          </a:prstGeom>
          <a:solidFill>
            <a:srgbClr val="F7931A"/>
          </a:solidFill>
          <a:ln w="12700">
            <a:solidFill>
              <a:srgbClr val="F7931A"/>
            </a:solidFill>
            <a:prstDash val="solid"/>
          </a:ln>
        </p:spPr>
      </p:sp>
      <p:sp>
        <p:nvSpPr>
          <p:cNvPr id="3" name="Text 1"/>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Practice</a:t>
            </a:r>
            <a:endParaRPr lang="en-US" sz="3200" dirty="0"/>
          </a:p>
        </p:txBody>
      </p:sp>
      <p:sp>
        <p:nvSpPr>
          <p:cNvPr id="4" name="Text 2"/>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C9D1DA"/>
                </a:solidFill>
                <a:latin typeface="Calibri" pitchFamily="34" charset="0"/>
                <a:ea typeface="Calibri" pitchFamily="34" charset="-122"/>
                <a:cs typeface="Calibri" pitchFamily="34" charset="-120"/>
              </a:rPr>
              <a:t>The last branch of this chapter is about trying things out.</a:t>
            </a:r>
            <a:endParaRPr lang="en-US" sz="1500" dirty="0"/>
          </a:p>
        </p:txBody>
      </p:sp>
      <p:sp>
        <p:nvSpPr>
          <p:cNvPr id="5" name="Shape 3"/>
          <p:cNvSpPr/>
          <p:nvPr/>
        </p:nvSpPr>
        <p:spPr>
          <a:xfrm>
            <a:off x="457200" y="2788920"/>
            <a:ext cx="8229600" cy="1371600"/>
          </a:xfrm>
          <a:prstGeom prst="roundRect">
            <a:avLst>
              <a:gd name="adj" fmla="val 5333"/>
            </a:avLst>
          </a:prstGeom>
          <a:solidFill>
            <a:srgbClr val="3A4250"/>
          </a:solidFill>
          <a:ln w="12700">
            <a:solidFill>
              <a:srgbClr val="F7931A"/>
            </a:solidFill>
            <a:prstDash val="solid"/>
          </a:ln>
        </p:spPr>
      </p:sp>
      <p:sp>
        <p:nvSpPr>
          <p:cNvPr id="6" name="Text 4"/>
          <p:cNvSpPr txBox="1"/>
          <p:nvPr/>
        </p:nvSpPr>
        <p:spPr>
          <a:xfrm>
            <a:off x="530352" y="2834640"/>
            <a:ext cx="8083296" cy="12801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Interactive demonstration</a:t>
            </a:r>
            <a:endParaRPr lang="en-US" sz="1200" dirty="0"/>
          </a:p>
          <a:p>
            <a:pPr algn="ctr" indent="0" marL="0">
              <a:buNone/>
            </a:pPr>
            <a:r>
              <a:rPr lang="en-US" sz="950" dirty="0">
                <a:solidFill>
                  <a:srgbClr val="C9D1DA"/>
                </a:solidFill>
                <a:latin typeface="Calibri" pitchFamily="34" charset="0"/>
                <a:ea typeface="Calibri" pitchFamily="34" charset="-122"/>
                <a:cs typeface="Calibri" pitchFamily="34" charset="-120"/>
              </a:rPr>
              <a:t>5 concepts</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Interactive demonstration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Practice - 5 concepts</a:t>
            </a:r>
            <a:endParaRPr lang="en-US" sz="1300" dirty="0"/>
          </a:p>
        </p:txBody>
      </p:sp>
      <p:sp>
        <p:nvSpPr>
          <p:cNvPr id="6" name="Shape 4"/>
          <p:cNvSpPr/>
          <p:nvPr/>
        </p:nvSpPr>
        <p:spPr>
          <a:xfrm>
            <a:off x="457200" y="1280160"/>
            <a:ext cx="8229600" cy="1903476"/>
          </a:xfrm>
          <a:prstGeom prst="roundRect">
            <a:avLst>
              <a:gd name="adj" fmla="val 4804"/>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this section covers</a:t>
            </a:r>
            <a:endParaRPr lang="en-US" sz="1600" dirty="0"/>
          </a:p>
        </p:txBody>
      </p:sp>
      <p:sp>
        <p:nvSpPr>
          <p:cNvPr id="8" name="Text 6"/>
          <p:cNvSpPr txBox="1"/>
          <p:nvPr/>
        </p:nvSpPr>
        <p:spPr>
          <a:xfrm>
            <a:off x="640080" y="1783080"/>
            <a:ext cx="7863840" cy="126339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interactive demonstration, in the sense of this group, is a web page that implements a small part of the chapter's mechanics and lets a reader change the inputs and watch the outputs. The group describes the five pages of the Blockchain Demo, whose navigation names them Hash, Block, Blockchain, Distributed and Coinbase, in that order, each page building on the one before (Brownworth, n.d.). The owner's course notes for this chapter give the address of the first of them as the application with which to experience the subject (Altunel, 2021).</a:t>
            </a:r>
            <a:endParaRPr lang="en-US" sz="1300" dirty="0"/>
          </a:p>
        </p:txBody>
      </p:sp>
      <p:sp>
        <p:nvSpPr>
          <p:cNvPr id="9" name="Shape 7"/>
          <p:cNvSpPr/>
          <p:nvPr/>
        </p:nvSpPr>
        <p:spPr>
          <a:xfrm>
            <a:off x="457200" y="3329940"/>
            <a:ext cx="2645664" cy="364998"/>
          </a:xfrm>
          <a:prstGeom prst="roundRect">
            <a:avLst>
              <a:gd name="adj" fmla="val 20042"/>
            </a:avLst>
          </a:prstGeom>
          <a:solidFill>
            <a:srgbClr val="F4F2EE"/>
          </a:solidFill>
          <a:ln w="12700">
            <a:solidFill>
              <a:srgbClr val="D9D4CC"/>
            </a:solidFill>
            <a:prstDash val="solid"/>
          </a:ln>
        </p:spPr>
      </p:sp>
      <p:sp>
        <p:nvSpPr>
          <p:cNvPr id="10" name="Text 8"/>
          <p:cNvSpPr txBox="1"/>
          <p:nvPr/>
        </p:nvSpPr>
        <p:spPr>
          <a:xfrm>
            <a:off x="548640"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Hash page</a:t>
            </a:r>
            <a:endParaRPr lang="en-US" sz="1250" dirty="0"/>
          </a:p>
        </p:txBody>
      </p:sp>
      <p:sp>
        <p:nvSpPr>
          <p:cNvPr id="11" name="Shape 9"/>
          <p:cNvSpPr/>
          <p:nvPr/>
        </p:nvSpPr>
        <p:spPr>
          <a:xfrm>
            <a:off x="3249168" y="3329940"/>
            <a:ext cx="2645664" cy="364998"/>
          </a:xfrm>
          <a:prstGeom prst="roundRect">
            <a:avLst>
              <a:gd name="adj" fmla="val 20042"/>
            </a:avLst>
          </a:prstGeom>
          <a:solidFill>
            <a:srgbClr val="F4F2EE"/>
          </a:solidFill>
          <a:ln w="12700">
            <a:solidFill>
              <a:srgbClr val="D9D4CC"/>
            </a:solidFill>
            <a:prstDash val="solid"/>
          </a:ln>
        </p:spPr>
      </p:sp>
      <p:sp>
        <p:nvSpPr>
          <p:cNvPr id="12" name="Text 10"/>
          <p:cNvSpPr txBox="1"/>
          <p:nvPr/>
        </p:nvSpPr>
        <p:spPr>
          <a:xfrm>
            <a:off x="3340608"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Block page</a:t>
            </a:r>
            <a:endParaRPr lang="en-US" sz="1250" dirty="0"/>
          </a:p>
        </p:txBody>
      </p:sp>
      <p:sp>
        <p:nvSpPr>
          <p:cNvPr id="13" name="Shape 11"/>
          <p:cNvSpPr/>
          <p:nvPr/>
        </p:nvSpPr>
        <p:spPr>
          <a:xfrm>
            <a:off x="6041136" y="3329940"/>
            <a:ext cx="2645664" cy="364998"/>
          </a:xfrm>
          <a:prstGeom prst="roundRect">
            <a:avLst>
              <a:gd name="adj" fmla="val 20042"/>
            </a:avLst>
          </a:prstGeom>
          <a:solidFill>
            <a:srgbClr val="F4F2EE"/>
          </a:solidFill>
          <a:ln w="12700">
            <a:solidFill>
              <a:srgbClr val="D9D4CC"/>
            </a:solidFill>
            <a:prstDash val="solid"/>
          </a:ln>
        </p:spPr>
      </p:sp>
      <p:sp>
        <p:nvSpPr>
          <p:cNvPr id="14" name="Text 12"/>
          <p:cNvSpPr txBox="1"/>
          <p:nvPr/>
        </p:nvSpPr>
        <p:spPr>
          <a:xfrm>
            <a:off x="6132576" y="3384804"/>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Blockchain page</a:t>
            </a:r>
            <a:endParaRPr lang="en-US" sz="1250" dirty="0"/>
          </a:p>
        </p:txBody>
      </p:sp>
      <p:sp>
        <p:nvSpPr>
          <p:cNvPr id="15" name="Shape 13"/>
          <p:cNvSpPr/>
          <p:nvPr/>
        </p:nvSpPr>
        <p:spPr>
          <a:xfrm>
            <a:off x="457200" y="3822954"/>
            <a:ext cx="2645664" cy="364998"/>
          </a:xfrm>
          <a:prstGeom prst="roundRect">
            <a:avLst>
              <a:gd name="adj" fmla="val 20042"/>
            </a:avLst>
          </a:prstGeom>
          <a:solidFill>
            <a:srgbClr val="F4F2EE"/>
          </a:solidFill>
          <a:ln w="12700">
            <a:solidFill>
              <a:srgbClr val="D9D4CC"/>
            </a:solidFill>
            <a:prstDash val="solid"/>
          </a:ln>
        </p:spPr>
      </p:sp>
      <p:sp>
        <p:nvSpPr>
          <p:cNvPr id="16" name="Text 14"/>
          <p:cNvSpPr txBox="1"/>
          <p:nvPr/>
        </p:nvSpPr>
        <p:spPr>
          <a:xfrm>
            <a:off x="548640" y="3877818"/>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Distributed page</a:t>
            </a:r>
            <a:endParaRPr lang="en-US" sz="1250" dirty="0"/>
          </a:p>
        </p:txBody>
      </p:sp>
      <p:sp>
        <p:nvSpPr>
          <p:cNvPr id="17" name="Shape 15"/>
          <p:cNvSpPr/>
          <p:nvPr/>
        </p:nvSpPr>
        <p:spPr>
          <a:xfrm>
            <a:off x="3249168" y="3822954"/>
            <a:ext cx="2645664" cy="364998"/>
          </a:xfrm>
          <a:prstGeom prst="roundRect">
            <a:avLst>
              <a:gd name="adj" fmla="val 20042"/>
            </a:avLst>
          </a:prstGeom>
          <a:solidFill>
            <a:srgbClr val="F4F2EE"/>
          </a:solidFill>
          <a:ln w="12700">
            <a:solidFill>
              <a:srgbClr val="D9D4CC"/>
            </a:solidFill>
            <a:prstDash val="solid"/>
          </a:ln>
        </p:spPr>
      </p:sp>
      <p:sp>
        <p:nvSpPr>
          <p:cNvPr id="18" name="Text 16"/>
          <p:cNvSpPr txBox="1"/>
          <p:nvPr/>
        </p:nvSpPr>
        <p:spPr>
          <a:xfrm>
            <a:off x="3340608" y="3877818"/>
            <a:ext cx="2462784" cy="255270"/>
          </a:xfrm>
          <a:prstGeom prst="rect">
            <a:avLst/>
          </a:prstGeom>
          <a:noFill/>
          <a:ln/>
        </p:spPr>
        <p:txBody>
          <a:bodyPr wrap="square" lIns="0" tIns="0" rIns="0" bIns="0" rtlCol="0" anchor="ctr"/>
          <a:lstStyle/>
          <a:p>
            <a:pPr algn="ctr" indent="0" marL="0">
              <a:buNone/>
            </a:pPr>
            <a:r>
              <a:rPr lang="en-US" sz="1250" b="1" dirty="0">
                <a:solidFill>
                  <a:srgbClr val="1B1F24"/>
                </a:solidFill>
                <a:latin typeface="Calibri" pitchFamily="34" charset="0"/>
                <a:ea typeface="Calibri" pitchFamily="34" charset="-122"/>
                <a:cs typeface="Calibri" pitchFamily="34" charset="-120"/>
              </a:rPr>
              <a:t>Coinbase page</a:t>
            </a:r>
            <a:endParaRPr lang="en-US" sz="1250" dirty="0"/>
          </a:p>
        </p:txBody>
      </p:sp>
      <p:sp>
        <p:nvSpPr>
          <p:cNvPr id="19" name="Text 17"/>
          <p:cNvSpPr txBox="1"/>
          <p:nvPr/>
        </p:nvSpPr>
        <p:spPr>
          <a:xfrm>
            <a:off x="457200" y="4242816"/>
            <a:ext cx="8229600" cy="402336"/>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The pages work the same way throughout. Each block is a box with fields, the contents of the box are hashed as you type, and the box turns from red to green when its hash satisfies the difficulty.</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Hash page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digest that changes as you type</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hash page is the first and simplest page of the demonstration. Its content is two fields, labelled Data and Hash, under the heading SHA256 Hash, and the page recomputes the digest of whatever is in the data field as the reader types (Brownworth, n.d.).</a:t>
            </a:r>
            <a:endParaRPr lang="en-US" sz="1300" dirty="0"/>
          </a:p>
        </p:txBody>
      </p:sp>
      <p:sp>
        <p:nvSpPr>
          <p:cNvPr id="9" name="Shape 7"/>
          <p:cNvSpPr/>
          <p:nvPr/>
        </p:nvSpPr>
        <p:spPr>
          <a:xfrm>
            <a:off x="457200" y="2725674"/>
            <a:ext cx="8229600" cy="578612"/>
          </a:xfrm>
          <a:prstGeom prst="roundRect">
            <a:avLst>
              <a:gd name="adj" fmla="val 15803"/>
            </a:avLst>
          </a:prstGeom>
          <a:solidFill>
            <a:srgbClr val="15191E"/>
          </a:solidFill>
          <a:ln w="12700">
            <a:solidFill>
              <a:srgbClr val="15191E"/>
            </a:solidFill>
            <a:prstDash val="solid"/>
          </a:ln>
        </p:spPr>
      </p:sp>
      <p:sp>
        <p:nvSpPr>
          <p:cNvPr id="10" name="Text 8"/>
          <p:cNvSpPr txBox="1"/>
          <p:nvPr/>
        </p:nvSpPr>
        <p:spPr>
          <a:xfrm>
            <a:off x="640080" y="2844546"/>
            <a:ext cx="7863840" cy="340868"/>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hashlib.sha256(b'Alice pays Bob 75000').hexdigest()[:16]</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'320a22eeeb9c0391'</a:t>
            </a:r>
            <a:endParaRPr lang="en-US" sz="1100" dirty="0"/>
          </a:p>
        </p:txBody>
      </p:sp>
      <p:sp>
        <p:nvSpPr>
          <p:cNvPr id="11" name="Text 9"/>
          <p:cNvSpPr txBox="1"/>
          <p:nvPr/>
        </p:nvSpPr>
        <p:spPr>
          <a:xfrm>
            <a:off x="457200" y="332257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Text 10"/>
          <p:cNvSpPr txBox="1"/>
          <p:nvPr/>
        </p:nvSpPr>
        <p:spPr>
          <a:xfrm>
            <a:off x="457200" y="3578606"/>
            <a:ext cx="8229600" cy="511302"/>
          </a:xfrm>
          <a:prstGeom prst="rect">
            <a:avLst/>
          </a:prstGeom>
          <a:noFill/>
          <a:ln/>
        </p:spPr>
        <p:txBody>
          <a:bodyPr wrap="square" lIns="0" tIns="0" rIns="0" bIns="0" rtlCol="0" anchor="t"/>
          <a:lstStyle/>
          <a:p>
            <a:pPr algn="l" indent="0" marL="0">
              <a:buNone/>
            </a:pPr>
            <a:r>
              <a:rPr lang="en-US" sz="1100" i="1" dirty="0">
                <a:solidFill>
                  <a:srgbClr val="5B6B7B"/>
                </a:solidFill>
                <a:latin typeface="Calibri" pitchFamily="34" charset="0"/>
                <a:ea typeface="Calibri" pitchFamily="34" charset="-122"/>
                <a:cs typeface="Calibri" pitchFamily="34" charset="-120"/>
              </a:rPr>
              <a:t>The page computes, for a text, the same value that the standard library computes: the digest of the sentence Alice pays Bob 75000 begins 320a22eeeb9c0391, which is the executed example of this concept and can be compared with what the page shows for the same input.</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Block page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nonce searched until four zeros appear</a:t>
            </a:r>
            <a:endParaRPr lang="en-US" sz="1300" dirty="0"/>
          </a:p>
        </p:txBody>
      </p:sp>
      <p:sp>
        <p:nvSpPr>
          <p:cNvPr id="6" name="Shape 4"/>
          <p:cNvSpPr/>
          <p:nvPr/>
        </p:nvSpPr>
        <p:spPr>
          <a:xfrm>
            <a:off x="457200" y="1280160"/>
            <a:ext cx="8229600" cy="1299210"/>
          </a:xfrm>
          <a:prstGeom prst="roundRect">
            <a:avLst>
              <a:gd name="adj" fmla="val 7038"/>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65913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block page puts the hash of the previous page inside a box that has to satisfy a condition. Its fields are a block number, a nonce, a data field and the hash, with a Mine button beside them (Brownworth, n.d.).</a:t>
            </a:r>
            <a:endParaRPr lang="en-US" sz="1300" dirty="0"/>
          </a:p>
        </p:txBody>
      </p:sp>
      <p:sp>
        <p:nvSpPr>
          <p:cNvPr id="9" name="Shape 7"/>
          <p:cNvSpPr/>
          <p:nvPr/>
        </p:nvSpPr>
        <p:spPr>
          <a:xfrm>
            <a:off x="457200" y="2725674"/>
            <a:ext cx="8229600" cy="795528"/>
          </a:xfrm>
          <a:prstGeom prst="roundRect">
            <a:avLst>
              <a:gd name="adj" fmla="val 11494"/>
            </a:avLst>
          </a:prstGeom>
          <a:solidFill>
            <a:srgbClr val="15191E"/>
          </a:solidFill>
          <a:ln w="12700">
            <a:solidFill>
              <a:srgbClr val="15191E"/>
            </a:solidFill>
            <a:prstDash val="solid"/>
          </a:ln>
        </p:spPr>
      </p:sp>
      <p:sp>
        <p:nvSpPr>
          <p:cNvPr id="10" name="Text 8"/>
          <p:cNvSpPr txBox="1"/>
          <p:nvPr/>
        </p:nvSpPr>
        <p:spPr>
          <a:xfrm>
            <a:off x="640080" y="2844546"/>
            <a:ext cx="7863840" cy="557784"/>
          </a:xfrm>
          <a:prstGeom prst="rect">
            <a:avLst/>
          </a:prstGeom>
          <a:noFill/>
          <a:ln/>
        </p:spPr>
        <p:txBody>
          <a:bodyPr wrap="square" lIns="0" tIns="0" rIns="0" bIns="0" rtlCol="0" anchor="t"/>
          <a:lstStyle/>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h = hashlib.sha256</a:t>
            </a:r>
            <a:endParaRPr lang="en-US" sz="900" dirty="0"/>
          </a:p>
          <a:p>
            <a:pPr indent="0" marL="0">
              <a:buNone/>
            </a:pPr>
            <a:r>
              <a:rPr lang="en-US" sz="900" b="1" dirty="0">
                <a:solidFill>
                  <a:srgbClr val="F7931A"/>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next(n for n in range(500000) if h(('1' + str(n) + 'Alice pays Bob 75000').encode()).hexdigest().startswith('0000'))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6630</a:t>
            </a:r>
            <a:endParaRPr lang="en-US" sz="900" dirty="0"/>
          </a:p>
        </p:txBody>
      </p:sp>
      <p:sp>
        <p:nvSpPr>
          <p:cNvPr id="11" name="Text 9"/>
          <p:cNvSpPr txBox="1"/>
          <p:nvPr/>
        </p:nvSpPr>
        <p:spPr>
          <a:xfrm>
            <a:off x="457200" y="3539490"/>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758946"/>
            <a:ext cx="8229600" cy="880872"/>
          </a:xfrm>
          <a:prstGeom prst="roundRect">
            <a:avLst>
              <a:gd name="adj" fmla="val 10381"/>
            </a:avLst>
          </a:prstGeom>
          <a:solidFill>
            <a:srgbClr val="F4F2EE"/>
          </a:solidFill>
          <a:ln w="12700">
            <a:solidFill>
              <a:srgbClr val="F4F2EE"/>
            </a:solidFill>
            <a:prstDash val="solid"/>
          </a:ln>
        </p:spPr>
      </p:sp>
      <p:sp>
        <p:nvSpPr>
          <p:cNvPr id="13" name="Text 11"/>
          <p:cNvSpPr txBox="1"/>
          <p:nvPr/>
        </p:nvSpPr>
        <p:spPr>
          <a:xfrm>
            <a:off x="640080" y="3877818"/>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4261866"/>
            <a:ext cx="7863840" cy="240792"/>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page's rule can be reproduced exactly.</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1B1F24"/>
                </a:solidFill>
                <a:latin typeface="Cambria" pitchFamily="34" charset="0"/>
                <a:ea typeface="Cambria" pitchFamily="34" charset="-122"/>
                <a:cs typeface="Cambria" pitchFamily="34" charset="-120"/>
              </a:rPr>
              <a:t>Blockchain page and Distributed page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Two concepts of this section</a:t>
            </a:r>
            <a:endParaRPr lang="en-US" sz="1300" dirty="0"/>
          </a:p>
        </p:txBody>
      </p:sp>
      <p:sp>
        <p:nvSpPr>
          <p:cNvPr id="6" name="Shape 4"/>
          <p:cNvSpPr/>
          <p:nvPr/>
        </p:nvSpPr>
        <p:spPr>
          <a:xfrm>
            <a:off x="457200" y="1280160"/>
            <a:ext cx="3977640" cy="1438656"/>
          </a:xfrm>
          <a:prstGeom prst="roundRect">
            <a:avLst>
              <a:gd name="adj" fmla="val 6356"/>
            </a:avLst>
          </a:prstGeom>
          <a:solidFill>
            <a:srgbClr val="F4F2EE"/>
          </a:solidFill>
          <a:ln w="12700">
            <a:solidFill>
              <a:srgbClr val="F4F2EE"/>
            </a:solidFill>
            <a:prstDash val="solid"/>
          </a:ln>
        </p:spPr>
      </p:sp>
      <p:sp>
        <p:nvSpPr>
          <p:cNvPr id="7" name="Text 5"/>
          <p:cNvSpPr txBox="1"/>
          <p:nvPr/>
        </p:nvSpPr>
        <p:spPr>
          <a:xfrm>
            <a:off x="640080" y="1399032"/>
            <a:ext cx="361188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Blockchain page</a:t>
            </a:r>
            <a:endParaRPr lang="en-US" sz="1600" dirty="0"/>
          </a:p>
        </p:txBody>
      </p:sp>
      <p:sp>
        <p:nvSpPr>
          <p:cNvPr id="8" name="Text 6"/>
          <p:cNvSpPr txBox="1"/>
          <p:nvPr/>
        </p:nvSpPr>
        <p:spPr>
          <a:xfrm>
            <a:off x="64008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blockchain page shows five blocks in a column, each with the fields of the block page and one more, labelled Prev, which holds the hash of the block before it (Brownworth, n.d.).</a:t>
            </a:r>
            <a:endParaRPr lang="en-US" sz="1200" dirty="0"/>
          </a:p>
        </p:txBody>
      </p:sp>
      <p:sp>
        <p:nvSpPr>
          <p:cNvPr id="9" name="Shape 7"/>
          <p:cNvSpPr/>
          <p:nvPr/>
        </p:nvSpPr>
        <p:spPr>
          <a:xfrm>
            <a:off x="457200" y="2828544"/>
            <a:ext cx="3977640" cy="1051179"/>
          </a:xfrm>
          <a:prstGeom prst="roundRect">
            <a:avLst>
              <a:gd name="adj" fmla="val 8699"/>
            </a:avLst>
          </a:prstGeom>
          <a:solidFill>
            <a:srgbClr val="15191E"/>
          </a:solidFill>
          <a:ln w="12700">
            <a:solidFill>
              <a:srgbClr val="15191E"/>
            </a:solidFill>
            <a:prstDash val="solid"/>
          </a:ln>
        </p:spPr>
      </p:sp>
      <p:sp>
        <p:nvSpPr>
          <p:cNvPr id="10" name="Text 8"/>
          <p:cNvSpPr txBox="1"/>
          <p:nvPr/>
        </p:nvSpPr>
        <p:spPr>
          <a:xfrm>
            <a:off x="640080" y="2947416"/>
            <a:ext cx="3611880" cy="813435"/>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chain, edited = ['b1', 'b2', 'b3', 'b4', 'b5'], 1</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 for i in range(len(chain)) if i &gt;= edited]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2, 3, 4]</a:t>
            </a:r>
            <a:endParaRPr lang="en-US" sz="1050" dirty="0"/>
          </a:p>
        </p:txBody>
      </p:sp>
      <p:sp>
        <p:nvSpPr>
          <p:cNvPr id="11" name="Text 9"/>
          <p:cNvSpPr txBox="1"/>
          <p:nvPr/>
        </p:nvSpPr>
        <p:spPr>
          <a:xfrm>
            <a:off x="457200" y="3898011"/>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709160" y="1280160"/>
            <a:ext cx="3977640" cy="1438656"/>
          </a:xfrm>
          <a:prstGeom prst="roundRect">
            <a:avLst>
              <a:gd name="adj" fmla="val 6356"/>
            </a:avLst>
          </a:prstGeom>
          <a:solidFill>
            <a:srgbClr val="F4F2EE"/>
          </a:solidFill>
          <a:ln w="12700">
            <a:solidFill>
              <a:srgbClr val="F4F2EE"/>
            </a:solidFill>
            <a:prstDash val="solid"/>
          </a:ln>
        </p:spPr>
      </p:sp>
      <p:sp>
        <p:nvSpPr>
          <p:cNvPr id="13" name="Text 11"/>
          <p:cNvSpPr txBox="1"/>
          <p:nvPr/>
        </p:nvSpPr>
        <p:spPr>
          <a:xfrm>
            <a:off x="4892040" y="1399032"/>
            <a:ext cx="361188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Distributed page</a:t>
            </a:r>
            <a:endParaRPr lang="en-US" sz="1600" dirty="0"/>
          </a:p>
        </p:txBody>
      </p:sp>
      <p:sp>
        <p:nvSpPr>
          <p:cNvPr id="14" name="Text 12"/>
          <p:cNvSpPr txBox="1"/>
          <p:nvPr/>
        </p:nvSpPr>
        <p:spPr>
          <a:xfrm>
            <a:off x="4892040" y="1783080"/>
            <a:ext cx="3611880" cy="798576"/>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The distributed page repeats the five-block chain of the previous page once for each of three peers, labelled Peer A, Peer B and Peer C (Brownworth, n.d.).</a:t>
            </a:r>
            <a:endParaRPr lang="en-US" sz="1200" dirty="0"/>
          </a:p>
        </p:txBody>
      </p:sp>
      <p:sp>
        <p:nvSpPr>
          <p:cNvPr id="15" name="Shape 13"/>
          <p:cNvSpPr/>
          <p:nvPr/>
        </p:nvSpPr>
        <p:spPr>
          <a:xfrm>
            <a:off x="4709160" y="2828544"/>
            <a:ext cx="3977640" cy="1051179"/>
          </a:xfrm>
          <a:prstGeom prst="roundRect">
            <a:avLst>
              <a:gd name="adj" fmla="val 8699"/>
            </a:avLst>
          </a:prstGeom>
          <a:solidFill>
            <a:srgbClr val="15191E"/>
          </a:solidFill>
          <a:ln w="12700">
            <a:solidFill>
              <a:srgbClr val="15191E"/>
            </a:solidFill>
            <a:prstDash val="solid"/>
          </a:ln>
        </p:spPr>
      </p:sp>
      <p:sp>
        <p:nvSpPr>
          <p:cNvPr id="16" name="Text 14"/>
          <p:cNvSpPr txBox="1"/>
          <p:nvPr/>
        </p:nvSpPr>
        <p:spPr>
          <a:xfrm>
            <a:off x="4892040" y="2947416"/>
            <a:ext cx="3611880" cy="813435"/>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peers = {'A': 'h5', 'B': 'h5', 'C': 'h5x'}</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(len(peers), len(set(peers.values())) ==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 False)</a:t>
            </a:r>
            <a:endParaRPr lang="en-US" sz="1050" dirty="0"/>
          </a:p>
        </p:txBody>
      </p:sp>
      <p:sp>
        <p:nvSpPr>
          <p:cNvPr id="17" name="Text 15"/>
          <p:cNvSpPr txBox="1"/>
          <p:nvPr/>
        </p:nvSpPr>
        <p:spPr>
          <a:xfrm>
            <a:off x="4709160" y="3898011"/>
            <a:ext cx="397764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Coinbase page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 block reward and transactions in each block</a:t>
            </a:r>
            <a:endParaRPr lang="en-US" sz="1300" dirty="0"/>
          </a:p>
        </p:txBody>
      </p:sp>
      <p:sp>
        <p:nvSpPr>
          <p:cNvPr id="6" name="Shape 4"/>
          <p:cNvSpPr/>
          <p:nvPr/>
        </p:nvSpPr>
        <p:spPr>
          <a:xfrm>
            <a:off x="457200" y="1280160"/>
            <a:ext cx="8229600" cy="896366"/>
          </a:xfrm>
          <a:prstGeom prst="roundRect">
            <a:avLst>
              <a:gd name="adj" fmla="val 10201"/>
            </a:avLst>
          </a:prstGeom>
          <a:solidFill>
            <a:srgbClr val="F4F2EE"/>
          </a:solidFill>
          <a:ln w="12700">
            <a:solidFill>
              <a:srgbClr val="F4F2EE"/>
            </a:solidFill>
            <a:prstDash val="solid"/>
          </a:ln>
        </p:spPr>
      </p:sp>
      <p:sp>
        <p:nvSpPr>
          <p:cNvPr id="7" name="Text 5"/>
          <p:cNvSpPr txBox="1"/>
          <p:nvPr/>
        </p:nvSpPr>
        <p:spPr>
          <a:xfrm>
            <a:off x="640080" y="1399032"/>
            <a:ext cx="7863840" cy="347472"/>
          </a:xfrm>
          <a:prstGeom prst="rect">
            <a:avLst/>
          </a:prstGeom>
          <a:noFill/>
          <a:ln/>
        </p:spPr>
        <p:txBody>
          <a:bodyPr wrap="square" lIns="0" tIns="0" rIns="0" bIns="0" rtlCol="0" anchor="ctr"/>
          <a:lstStyle/>
          <a:p>
            <a:pPr indent="0" marL="0">
              <a:buNone/>
            </a:pPr>
            <a:r>
              <a:rPr lang="en-US" sz="1600" b="1" dirty="0">
                <a:solidFill>
                  <a:srgbClr val="F7931A"/>
                </a:solidFill>
                <a:latin typeface="Cambria" pitchFamily="34" charset="0"/>
                <a:ea typeface="Cambria" pitchFamily="34" charset="-122"/>
                <a:cs typeface="Cambria" pitchFamily="34" charset="-120"/>
              </a:rPr>
              <a:t>What it is</a:t>
            </a:r>
            <a:endParaRPr lang="en-US" sz="1600" dirty="0"/>
          </a:p>
        </p:txBody>
      </p:sp>
      <p:sp>
        <p:nvSpPr>
          <p:cNvPr id="8" name="Text 6"/>
          <p:cNvSpPr txBox="1"/>
          <p:nvPr/>
        </p:nvSpPr>
        <p:spPr>
          <a:xfrm>
            <a:off x="640080" y="1783080"/>
            <a:ext cx="7863840" cy="256286"/>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coinbase page is the last of the demonstration and the one closest to Bitcoin.</a:t>
            </a:r>
            <a:endParaRPr lang="en-US" sz="1300" dirty="0"/>
          </a:p>
        </p:txBody>
      </p:sp>
      <p:sp>
        <p:nvSpPr>
          <p:cNvPr id="9" name="Shape 7"/>
          <p:cNvSpPr/>
          <p:nvPr/>
        </p:nvSpPr>
        <p:spPr>
          <a:xfrm>
            <a:off x="457200" y="2322830"/>
            <a:ext cx="8229600" cy="749046"/>
          </a:xfrm>
          <a:prstGeom prst="roundRect">
            <a:avLst>
              <a:gd name="adj" fmla="val 12208"/>
            </a:avLst>
          </a:prstGeom>
          <a:solidFill>
            <a:srgbClr val="15191E"/>
          </a:solidFill>
          <a:ln w="12700">
            <a:solidFill>
              <a:srgbClr val="15191E"/>
            </a:solidFill>
            <a:prstDash val="solid"/>
          </a:ln>
        </p:spPr>
      </p:sp>
      <p:sp>
        <p:nvSpPr>
          <p:cNvPr id="10" name="Text 8"/>
          <p:cNvSpPr txBox="1"/>
          <p:nvPr/>
        </p:nvSpPr>
        <p:spPr>
          <a:xfrm>
            <a:off x="640080" y="2441702"/>
            <a:ext cx="7863840" cy="511302"/>
          </a:xfrm>
          <a:prstGeom prst="rect">
            <a:avLst/>
          </a:prstGeom>
          <a:noFill/>
          <a:ln/>
        </p:spPr>
        <p:txBody>
          <a:bodyPr wrap="square" lIns="0" tIns="0" rIns="0" bIns="0" rtlCol="0" anchor="t"/>
          <a:lstStyle/>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coinbase, txs = 100, [('A', 'B', 30), ('A', 'C', 20)]</a:t>
            </a:r>
            <a:endParaRPr lang="en-US" sz="1100" dirty="0"/>
          </a:p>
          <a:p>
            <a:pPr indent="0" marL="0">
              <a:buNone/>
            </a:pPr>
            <a:r>
              <a:rPr lang="en-US" sz="1100" b="1" dirty="0">
                <a:solidFill>
                  <a:srgbClr val="F7931A"/>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coinbase - sum(amount for _, _, amount in txs)</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50</a:t>
            </a:r>
            <a:endParaRPr lang="en-US" sz="1100" dirty="0"/>
          </a:p>
        </p:txBody>
      </p:sp>
      <p:sp>
        <p:nvSpPr>
          <p:cNvPr id="11" name="Text 9"/>
          <p:cNvSpPr txBox="1"/>
          <p:nvPr/>
        </p:nvSpPr>
        <p:spPr>
          <a:xfrm>
            <a:off x="457200" y="3090164"/>
            <a:ext cx="8229600" cy="219456"/>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Shape 10"/>
          <p:cNvSpPr/>
          <p:nvPr/>
        </p:nvSpPr>
        <p:spPr>
          <a:xfrm>
            <a:off x="457200" y="3309620"/>
            <a:ext cx="8229600" cy="1252728"/>
          </a:xfrm>
          <a:prstGeom prst="roundRect">
            <a:avLst>
              <a:gd name="adj" fmla="val 7299"/>
            </a:avLst>
          </a:prstGeom>
          <a:solidFill>
            <a:srgbClr val="F4F2EE"/>
          </a:solidFill>
          <a:ln w="12700">
            <a:solidFill>
              <a:srgbClr val="F4F2EE"/>
            </a:solidFill>
            <a:prstDash val="solid"/>
          </a:ln>
        </p:spPr>
      </p:sp>
      <p:sp>
        <p:nvSpPr>
          <p:cNvPr id="13" name="Text 11"/>
          <p:cNvSpPr txBox="1"/>
          <p:nvPr/>
        </p:nvSpPr>
        <p:spPr>
          <a:xfrm>
            <a:off x="640080" y="3428492"/>
            <a:ext cx="7863840" cy="347472"/>
          </a:xfrm>
          <a:prstGeom prst="rect">
            <a:avLst/>
          </a:prstGeom>
          <a:noFill/>
          <a:ln/>
        </p:spPr>
        <p:txBody>
          <a:bodyPr wrap="square" lIns="0" tIns="0" rIns="0" bIns="0" rtlCol="0" anchor="ctr"/>
          <a:lstStyle/>
          <a:p>
            <a:pPr indent="0" marL="0">
              <a:buNone/>
            </a:pPr>
            <a:r>
              <a:rPr lang="en-US" sz="1600" b="1" dirty="0">
                <a:solidFill>
                  <a:srgbClr val="3A4250"/>
                </a:solidFill>
                <a:latin typeface="Cambria" pitchFamily="34" charset="0"/>
                <a:ea typeface="Cambria" pitchFamily="34" charset="-122"/>
                <a:cs typeface="Cambria" pitchFamily="34" charset="-120"/>
              </a:rPr>
              <a:t>How it works</a:t>
            </a:r>
            <a:endParaRPr lang="en-US" sz="1600" dirty="0"/>
          </a:p>
        </p:txBody>
      </p:sp>
      <p:sp>
        <p:nvSpPr>
          <p:cNvPr id="14" name="Text 12"/>
          <p:cNvSpPr txBox="1"/>
          <p:nvPr/>
        </p:nvSpPr>
        <p:spPr>
          <a:xfrm>
            <a:off x="640080" y="3812540"/>
            <a:ext cx="7863840" cy="612648"/>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Balances on the page are read by adding and subtracting along the chain, which the small example does for one block: a coinbase of one hundred paid to a first party, who then sends thirty to a second and twenty to a third, leaves that party with fifty.</a:t>
            </a:r>
            <a:endParaRPr lang="en-US"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Recap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One sentence for each branch of the chapter</a:t>
            </a:r>
            <a:endParaRPr lang="en-US" sz="13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64922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Branch</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to take away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Transaction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Everything else in Bitcoin exists to carry transactions safely.</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Network</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branch matters because the network is what makes the system work without a company in the middle.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Blockchain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branch answers the question that the first two leave open.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Semantics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branch matters for two reasons.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Practice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branch matters because the central claim of the chapter, that a chain of hashes makes a record expensive to change, is far more convincing when a student breaks a chain with their own hands and watches every block after the change turn invalid.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Discussion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Assess what you have so far</a:t>
            </a:r>
            <a:endParaRPr lang="en-US" sz="1300" dirty="0"/>
          </a:p>
        </p:txBody>
      </p:sp>
      <p:sp>
        <p:nvSpPr>
          <p:cNvPr id="6" name="Shape 4"/>
          <p:cNvSpPr/>
          <p:nvPr/>
        </p:nvSpPr>
        <p:spPr>
          <a:xfrm>
            <a:off x="457200" y="1280160"/>
            <a:ext cx="2645664" cy="2834640"/>
          </a:xfrm>
          <a:prstGeom prst="roundRect">
            <a:avLst>
              <a:gd name="adj" fmla="val 2765"/>
            </a:avLst>
          </a:prstGeom>
          <a:solidFill>
            <a:srgbClr val="F4F2EE"/>
          </a:solidFill>
          <a:ln w="12700">
            <a:solidFill>
              <a:srgbClr val="D9D4CC"/>
            </a:solidFill>
            <a:prstDash val="solid"/>
          </a:ln>
        </p:spPr>
      </p:sp>
      <p:sp>
        <p:nvSpPr>
          <p:cNvPr id="7" name="Text 5"/>
          <p:cNvSpPr txBox="1"/>
          <p:nvPr/>
        </p:nvSpPr>
        <p:spPr>
          <a:xfrm>
            <a:off x="548640" y="1335024"/>
            <a:ext cx="2462784" cy="2724912"/>
          </a:xfrm>
          <a:prstGeom prst="rect">
            <a:avLst/>
          </a:prstGeom>
          <a:noFill/>
          <a:ln/>
        </p:spPr>
        <p:txBody>
          <a:bodyPr wrap="square" lIns="0" tIns="0" rIns="0" bIns="0" rtlCol="0" anchor="ctr"/>
          <a:lstStyle/>
          <a:p>
            <a:pPr algn="ctr" indent="0" marL="0">
              <a:buNone/>
            </a:pPr>
            <a:r>
              <a:rPr lang="en-US" sz="1500" b="1" dirty="0">
                <a:solidFill>
                  <a:srgbClr val="1B1F24"/>
                </a:solidFill>
                <a:latin typeface="Calibri" pitchFamily="34" charset="0"/>
                <a:ea typeface="Calibri" pitchFamily="34" charset="-122"/>
                <a:cs typeface="Calibri" pitchFamily="34" charset="-120"/>
              </a:rPr>
              <a:t>Noticeable issues</a:t>
            </a:r>
            <a:endParaRPr lang="en-US" sz="1500" dirty="0"/>
          </a:p>
          <a:p>
            <a:pPr algn="ctr" indent="0" marL="0">
              <a:buNone/>
            </a:pPr>
            <a:r>
              <a:rPr lang="en-US" sz="1200" dirty="0">
                <a:solidFill>
                  <a:srgbClr val="5B6B7B"/>
                </a:solidFill>
                <a:latin typeface="Calibri" pitchFamily="34" charset="0"/>
                <a:ea typeface="Calibri" pitchFamily="34" charset="-122"/>
                <a:cs typeface="Calibri" pitchFamily="34" charset="-120"/>
              </a:rPr>
              <a:t>What stood out in this chapter, and what surprised you?</a:t>
            </a:r>
            <a:endParaRPr lang="en-US" sz="1500" dirty="0"/>
          </a:p>
        </p:txBody>
      </p:sp>
      <p:sp>
        <p:nvSpPr>
          <p:cNvPr id="8" name="Shape 6"/>
          <p:cNvSpPr/>
          <p:nvPr/>
        </p:nvSpPr>
        <p:spPr>
          <a:xfrm>
            <a:off x="3249168" y="1280160"/>
            <a:ext cx="2645664" cy="2834640"/>
          </a:xfrm>
          <a:prstGeom prst="roundRect">
            <a:avLst>
              <a:gd name="adj" fmla="val 2765"/>
            </a:avLst>
          </a:prstGeom>
          <a:solidFill>
            <a:srgbClr val="F7931A"/>
          </a:solidFill>
          <a:ln w="12700">
            <a:solidFill>
              <a:srgbClr val="F7931A"/>
            </a:solidFill>
            <a:prstDash val="solid"/>
          </a:ln>
        </p:spPr>
      </p:sp>
      <p:sp>
        <p:nvSpPr>
          <p:cNvPr id="9" name="Text 7"/>
          <p:cNvSpPr txBox="1"/>
          <p:nvPr/>
        </p:nvSpPr>
        <p:spPr>
          <a:xfrm>
            <a:off x="3340608" y="1335024"/>
            <a:ext cx="2462784" cy="2724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Interesting details</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What is the most interesting point? Do you find Bitcoin inspiring, and why?</a:t>
            </a:r>
            <a:endParaRPr lang="en-US" sz="1500" dirty="0"/>
          </a:p>
        </p:txBody>
      </p:sp>
      <p:sp>
        <p:nvSpPr>
          <p:cNvPr id="10" name="Shape 8"/>
          <p:cNvSpPr/>
          <p:nvPr/>
        </p:nvSpPr>
        <p:spPr>
          <a:xfrm>
            <a:off x="6041136" y="1280160"/>
            <a:ext cx="2645664" cy="2834640"/>
          </a:xfrm>
          <a:prstGeom prst="roundRect">
            <a:avLst>
              <a:gd name="adj" fmla="val 2765"/>
            </a:avLst>
          </a:prstGeom>
          <a:solidFill>
            <a:srgbClr val="F4F2EE"/>
          </a:solidFill>
          <a:ln w="12700">
            <a:solidFill>
              <a:srgbClr val="D9D4CC"/>
            </a:solidFill>
            <a:prstDash val="solid"/>
          </a:ln>
        </p:spPr>
      </p:sp>
      <p:sp>
        <p:nvSpPr>
          <p:cNvPr id="11" name="Text 9"/>
          <p:cNvSpPr txBox="1"/>
          <p:nvPr/>
        </p:nvSpPr>
        <p:spPr>
          <a:xfrm>
            <a:off x="6132576" y="1335024"/>
            <a:ext cx="2462784" cy="2724912"/>
          </a:xfrm>
          <a:prstGeom prst="rect">
            <a:avLst/>
          </a:prstGeom>
          <a:noFill/>
          <a:ln/>
        </p:spPr>
        <p:txBody>
          <a:bodyPr wrap="square" lIns="0" tIns="0" rIns="0" bIns="0" rtlCol="0" anchor="ctr"/>
          <a:lstStyle/>
          <a:p>
            <a:pPr algn="ctr" indent="0" marL="0">
              <a:buNone/>
            </a:pPr>
            <a:r>
              <a:rPr lang="en-US" sz="1500" b="1" dirty="0">
                <a:solidFill>
                  <a:srgbClr val="1B1F24"/>
                </a:solidFill>
                <a:latin typeface="Calibri" pitchFamily="34" charset="0"/>
                <a:ea typeface="Calibri" pitchFamily="34" charset="-122"/>
                <a:cs typeface="Calibri" pitchFamily="34" charset="-120"/>
              </a:rPr>
              <a:t>Unclarified issues</a:t>
            </a:r>
            <a:endParaRPr lang="en-US" sz="1500" dirty="0"/>
          </a:p>
          <a:p>
            <a:pPr algn="ctr" indent="0" marL="0">
              <a:buNone/>
            </a:pPr>
            <a:r>
              <a:rPr lang="en-US" sz="1200" dirty="0">
                <a:solidFill>
                  <a:srgbClr val="5B6B7B"/>
                </a:solidFill>
                <a:latin typeface="Calibri" pitchFamily="34" charset="0"/>
                <a:ea typeface="Calibri" pitchFamily="34" charset="-122"/>
                <a:cs typeface="Calibri" pitchFamily="34" charset="-120"/>
              </a:rPr>
              <a:t>Which points need further explanation? Select one critical issue from the chapter and explain it.</a:t>
            </a:r>
            <a:endParaRPr lang="en-US" sz="15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the chapter's own question bank</a:t>
            </a:r>
            <a:endParaRPr lang="en-US" sz="1300" dirty="0"/>
          </a:p>
        </p:txBody>
      </p:sp>
      <p:sp>
        <p:nvSpPr>
          <p:cNvPr id="6" name="Shape 4"/>
          <p:cNvSpPr/>
          <p:nvPr/>
        </p:nvSpPr>
        <p:spPr>
          <a:xfrm>
            <a:off x="457200" y="1280160"/>
            <a:ext cx="8229600" cy="1024128"/>
          </a:xfrm>
          <a:prstGeom prst="roundRect">
            <a:avLst>
              <a:gd name="adj" fmla="val 7143"/>
            </a:avLst>
          </a:prstGeom>
          <a:solidFill>
            <a:srgbClr val="F4F2EE"/>
          </a:solidFill>
          <a:ln w="12700">
            <a:solidFill>
              <a:srgbClr val="D9D4CC"/>
            </a:solidFill>
            <a:prstDash val="solid"/>
          </a:ln>
        </p:spPr>
      </p:sp>
      <p:sp>
        <p:nvSpPr>
          <p:cNvPr id="7" name="Text 5"/>
          <p:cNvSpPr txBox="1"/>
          <p:nvPr/>
        </p:nvSpPr>
        <p:spPr>
          <a:xfrm>
            <a:off x="621792" y="134416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do inputs turn separate transactions into a connected history?</a:t>
            </a:r>
            <a:endParaRPr lang="en-US" sz="1250" dirty="0"/>
          </a:p>
        </p:txBody>
      </p:sp>
      <p:sp>
        <p:nvSpPr>
          <p:cNvPr id="8" name="Text 6"/>
          <p:cNvSpPr txBox="1"/>
          <p:nvPr/>
        </p:nvSpPr>
        <p:spPr>
          <a:xfrm>
            <a:off x="621792" y="164592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Because every input names the earlier output it consumes, so a payment can be followed backward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Because every input carries the date on which the earlier transaction was confirmed</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Because inputs are numbered consecutively across the whole blockchain</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Because an input repeats the amount of the output it spends, so the chain can be summed</a:t>
            </a:r>
            <a:endParaRPr lang="en-US" sz="1100" dirty="0"/>
          </a:p>
        </p:txBody>
      </p:sp>
      <p:sp>
        <p:nvSpPr>
          <p:cNvPr id="9" name="Shape 7"/>
          <p:cNvSpPr/>
          <p:nvPr/>
        </p:nvSpPr>
        <p:spPr>
          <a:xfrm>
            <a:off x="457200" y="2377440"/>
            <a:ext cx="8229600" cy="1024128"/>
          </a:xfrm>
          <a:prstGeom prst="roundRect">
            <a:avLst>
              <a:gd name="adj" fmla="val 7143"/>
            </a:avLst>
          </a:prstGeom>
          <a:solidFill>
            <a:srgbClr val="F4F2EE"/>
          </a:solidFill>
          <a:ln w="12700">
            <a:solidFill>
              <a:srgbClr val="D9D4CC"/>
            </a:solidFill>
            <a:prstDash val="solid"/>
          </a:ln>
        </p:spPr>
      </p:sp>
      <p:sp>
        <p:nvSpPr>
          <p:cNvPr id="10" name="Text 8"/>
          <p:cNvSpPr txBox="1"/>
          <p:nvPr/>
        </p:nvSpPr>
        <p:spPr>
          <a:xfrm>
            <a:off x="621792" y="244144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is a transaction fee more like a bid in an auction than a price?</a:t>
            </a:r>
            <a:endParaRPr lang="en-US" sz="1250" dirty="0"/>
          </a:p>
        </p:txBody>
      </p:sp>
      <p:sp>
        <p:nvSpPr>
          <p:cNvPr id="11" name="Text 9"/>
          <p:cNvSpPr txBox="1"/>
          <p:nvPr/>
        </p:nvSpPr>
        <p:spPr>
          <a:xfrm>
            <a:off x="621792" y="274320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Because the good being bought is the limited space in a block, not a service with a fixed price</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Because miners publish a price list and users accept or reject it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Because the fee is set by the protocol and rises with the amount being sent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Because the fee is returned to the sender if the transaction is not mined</a:t>
            </a:r>
            <a:endParaRPr lang="en-US" sz="1100" dirty="0"/>
          </a:p>
        </p:txBody>
      </p:sp>
      <p:sp>
        <p:nvSpPr>
          <p:cNvPr id="12" name="Shape 10"/>
          <p:cNvSpPr/>
          <p:nvPr/>
        </p:nvSpPr>
        <p:spPr>
          <a:xfrm>
            <a:off x="457200" y="3474720"/>
            <a:ext cx="8229600" cy="1024128"/>
          </a:xfrm>
          <a:prstGeom prst="roundRect">
            <a:avLst>
              <a:gd name="adj" fmla="val 7143"/>
            </a:avLst>
          </a:prstGeom>
          <a:solidFill>
            <a:srgbClr val="F4F2EE"/>
          </a:solidFill>
          <a:ln w="12700">
            <a:solidFill>
              <a:srgbClr val="D9D4CC"/>
            </a:solidFill>
            <a:prstDash val="solid"/>
          </a:ln>
        </p:spPr>
      </p:sp>
      <p:sp>
        <p:nvSpPr>
          <p:cNvPr id="13" name="Text 11"/>
          <p:cNvSpPr txBox="1"/>
          <p:nvPr/>
        </p:nvSpPr>
        <p:spPr>
          <a:xfrm>
            <a:off x="621792" y="353872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must the serialized form of a transaction be defined to the last detail?</a:t>
            </a:r>
            <a:endParaRPr lang="en-US" sz="1250" dirty="0"/>
          </a:p>
        </p:txBody>
      </p:sp>
      <p:sp>
        <p:nvSpPr>
          <p:cNvPr id="14" name="Text 12"/>
          <p:cNvSpPr txBox="1"/>
          <p:nvPr/>
        </p:nvSpPr>
        <p:spPr>
          <a:xfrm>
            <a:off x="621792" y="384048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Because the identifier is a hash of those bytes and the signature commits to them</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Because wallets display the serialized form to the user before signing</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Because the serialized form is what a block explorer indexes by address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Because the fee is computed from the number of fields rather than from the amounts</a:t>
            </a:r>
            <a:endParaRPr lang="en-US" sz="11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the chapter's own question bank</a:t>
            </a:r>
            <a:endParaRPr lang="en-US" sz="1300" dirty="0"/>
          </a:p>
        </p:txBody>
      </p:sp>
      <p:sp>
        <p:nvSpPr>
          <p:cNvPr id="6" name="Shape 4"/>
          <p:cNvSpPr/>
          <p:nvPr/>
        </p:nvSpPr>
        <p:spPr>
          <a:xfrm>
            <a:off x="457200" y="1280160"/>
            <a:ext cx="8229600" cy="1024128"/>
          </a:xfrm>
          <a:prstGeom prst="roundRect">
            <a:avLst>
              <a:gd name="adj" fmla="val 7143"/>
            </a:avLst>
          </a:prstGeom>
          <a:solidFill>
            <a:srgbClr val="F4F2EE"/>
          </a:solidFill>
          <a:ln w="12700">
            <a:solidFill>
              <a:srgbClr val="D9D4CC"/>
            </a:solidFill>
            <a:prstDash val="solid"/>
          </a:ln>
        </p:spPr>
      </p:sp>
      <p:sp>
        <p:nvSpPr>
          <p:cNvPr id="7" name="Text 5"/>
          <p:cNvSpPr txBox="1"/>
          <p:nvPr/>
        </p:nvSpPr>
        <p:spPr>
          <a:xfrm>
            <a:off x="621792" y="134416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is the practical rule when a hash does not match between two tools?</a:t>
            </a:r>
            <a:endParaRPr lang="en-US" sz="1250" dirty="0"/>
          </a:p>
        </p:txBody>
      </p:sp>
      <p:sp>
        <p:nvSpPr>
          <p:cNvPr id="8" name="Text 6"/>
          <p:cNvSpPr txBox="1"/>
          <p:nvPr/>
        </p:nvSpPr>
        <p:spPr>
          <a:xfrm>
            <a:off x="621792" y="164592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Reverse the hexadecimal characters of the string</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Recompute the hash with a single pass of SHA-256</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Try the other byte order before concluding that the data is wrong</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Add the missing leading zeros until the length is 64</a:t>
            </a:r>
            <a:endParaRPr lang="en-US" sz="1100" dirty="0"/>
          </a:p>
        </p:txBody>
      </p:sp>
      <p:sp>
        <p:nvSpPr>
          <p:cNvPr id="9" name="Shape 7"/>
          <p:cNvSpPr/>
          <p:nvPr/>
        </p:nvSpPr>
        <p:spPr>
          <a:xfrm>
            <a:off x="457200" y="2377440"/>
            <a:ext cx="8229600" cy="1024128"/>
          </a:xfrm>
          <a:prstGeom prst="roundRect">
            <a:avLst>
              <a:gd name="adj" fmla="val 7143"/>
            </a:avLst>
          </a:prstGeom>
          <a:solidFill>
            <a:srgbClr val="F4F2EE"/>
          </a:solidFill>
          <a:ln w="12700">
            <a:solidFill>
              <a:srgbClr val="D9D4CC"/>
            </a:solidFill>
            <a:prstDash val="solid"/>
          </a:ln>
        </p:spPr>
      </p:sp>
      <p:sp>
        <p:nvSpPr>
          <p:cNvPr id="10" name="Text 8"/>
          <p:cNvSpPr txBox="1"/>
          <p:nvPr/>
        </p:nvSpPr>
        <p:spPr>
          <a:xfrm>
            <a:off x="621792" y="244144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question should a learner keep in mind while reading this group of concepts?</a:t>
            </a:r>
            <a:endParaRPr lang="en-US" sz="1250" dirty="0"/>
          </a:p>
        </p:txBody>
      </p:sp>
      <p:sp>
        <p:nvSpPr>
          <p:cNvPr id="11" name="Text 9"/>
          <p:cNvSpPr txBox="1"/>
          <p:nvPr/>
        </p:nvSpPr>
        <p:spPr>
          <a:xfrm>
            <a:off x="621792" y="274320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What exactly does this tool guarantee, and what does it leave open</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Which of these tools makes a transaction secret from other users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Which of these tools is fastest to compute on a telephone</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Which of these tools the protocol allows a user to replace</a:t>
            </a:r>
            <a:endParaRPr lang="en-US" sz="1100" dirty="0"/>
          </a:p>
        </p:txBody>
      </p:sp>
      <p:sp>
        <p:nvSpPr>
          <p:cNvPr id="12" name="Shape 10"/>
          <p:cNvSpPr/>
          <p:nvPr/>
        </p:nvSpPr>
        <p:spPr>
          <a:xfrm>
            <a:off x="457200" y="3474720"/>
            <a:ext cx="8229600" cy="1024128"/>
          </a:xfrm>
          <a:prstGeom prst="roundRect">
            <a:avLst>
              <a:gd name="adj" fmla="val 7143"/>
            </a:avLst>
          </a:prstGeom>
          <a:solidFill>
            <a:srgbClr val="F4F2EE"/>
          </a:solidFill>
          <a:ln w="12700">
            <a:solidFill>
              <a:srgbClr val="D9D4CC"/>
            </a:solidFill>
            <a:prstDash val="solid"/>
          </a:ln>
        </p:spPr>
      </p:sp>
      <p:sp>
        <p:nvSpPr>
          <p:cNvPr id="13" name="Text 11"/>
          <p:cNvSpPr txBox="1"/>
          <p:nvPr/>
        </p:nvSpPr>
        <p:spPr>
          <a:xfrm>
            <a:off x="621792" y="353872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is public-key cryptography used for in Bitcoin?</a:t>
            </a:r>
            <a:endParaRPr lang="en-US" sz="1250" dirty="0"/>
          </a:p>
        </p:txBody>
      </p:sp>
      <p:sp>
        <p:nvSpPr>
          <p:cNvPr id="14" name="Text 12"/>
          <p:cNvSpPr txBox="1"/>
          <p:nvPr/>
        </p:nvSpPr>
        <p:spPr>
          <a:xfrm>
            <a:off x="621792" y="384048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To encrypt each payment so that only the receiver can read it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To generate digital signatures, not to encrypt transactions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To compress the blockchain so that nodes need less disk space</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To agree a shared secret between the payer's and the payee's wallets</a:t>
            </a:r>
            <a:endParaRPr lang="en-US" sz="1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Check yourself, continued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From the chapter's own question bank</a:t>
            </a:r>
            <a:endParaRPr lang="en-US" sz="1300" dirty="0"/>
          </a:p>
        </p:txBody>
      </p:sp>
      <p:sp>
        <p:nvSpPr>
          <p:cNvPr id="6" name="Shape 4"/>
          <p:cNvSpPr/>
          <p:nvPr/>
        </p:nvSpPr>
        <p:spPr>
          <a:xfrm>
            <a:off x="457200" y="1280160"/>
            <a:ext cx="8229600" cy="1024128"/>
          </a:xfrm>
          <a:prstGeom prst="roundRect">
            <a:avLst>
              <a:gd name="adj" fmla="val 7143"/>
            </a:avLst>
          </a:prstGeom>
          <a:solidFill>
            <a:srgbClr val="F4F2EE"/>
          </a:solidFill>
          <a:ln w="12700">
            <a:solidFill>
              <a:srgbClr val="D9D4CC"/>
            </a:solidFill>
            <a:prstDash val="solid"/>
          </a:ln>
        </p:spPr>
      </p:sp>
      <p:sp>
        <p:nvSpPr>
          <p:cNvPr id="7" name="Text 5"/>
          <p:cNvSpPr txBox="1"/>
          <p:nvPr/>
        </p:nvSpPr>
        <p:spPr>
          <a:xfrm>
            <a:off x="621792" y="134416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Why is hexadecimal the usual way to print binary data for human eyes?</a:t>
            </a:r>
            <a:endParaRPr lang="en-US" sz="1250" dirty="0"/>
          </a:p>
        </p:txBody>
      </p:sp>
      <p:sp>
        <p:nvSpPr>
          <p:cNvPr id="8" name="Text 6"/>
          <p:cNvSpPr txBox="1"/>
          <p:nvPr/>
        </p:nvSpPr>
        <p:spPr>
          <a:xfrm>
            <a:off x="621792" y="164592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Because it uses fewer characters than any other notation</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Because it can represent negative numbers without a sign</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Because decimal cannot express values above 255</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Because one digit stands for four bits, so two digits are exactly one byte</a:t>
            </a:r>
            <a:endParaRPr lang="en-US" sz="1100" dirty="0"/>
          </a:p>
        </p:txBody>
      </p:sp>
      <p:sp>
        <p:nvSpPr>
          <p:cNvPr id="9" name="Shape 7"/>
          <p:cNvSpPr/>
          <p:nvPr/>
        </p:nvSpPr>
        <p:spPr>
          <a:xfrm>
            <a:off x="457200" y="2377440"/>
            <a:ext cx="8229600" cy="1024128"/>
          </a:xfrm>
          <a:prstGeom prst="roundRect">
            <a:avLst>
              <a:gd name="adj" fmla="val 7143"/>
            </a:avLst>
          </a:prstGeom>
          <a:solidFill>
            <a:srgbClr val="F4F2EE"/>
          </a:solidFill>
          <a:ln w="12700">
            <a:solidFill>
              <a:srgbClr val="D9D4CC"/>
            </a:solidFill>
            <a:prstDash val="solid"/>
          </a:ln>
        </p:spPr>
      </p:sp>
      <p:sp>
        <p:nvSpPr>
          <p:cNvPr id="10" name="Text 8"/>
          <p:cNvSpPr txBox="1"/>
          <p:nvPr/>
        </p:nvSpPr>
        <p:spPr>
          <a:xfrm>
            <a:off x="621792" y="244144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What do the links between transactions make possible for any node?</a:t>
            </a:r>
            <a:endParaRPr lang="en-US" sz="1250" dirty="0"/>
          </a:p>
        </p:txBody>
      </p:sp>
      <p:sp>
        <p:nvSpPr>
          <p:cNvPr id="11" name="Text 9"/>
          <p:cNvSpPr txBox="1"/>
          <p:nvPr/>
        </p:nvSpPr>
        <p:spPr>
          <a:xfrm>
            <a:off x="621792" y="274320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Computing the exchange rate at the time of each payment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Finding the name of the person who created each transaction</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Recovering a private key from a chain of earlier signatures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Deciding whether an output being spent exists and has not been spent before</a:t>
            </a:r>
            <a:endParaRPr lang="en-US" sz="1100" dirty="0"/>
          </a:p>
        </p:txBody>
      </p:sp>
      <p:sp>
        <p:nvSpPr>
          <p:cNvPr id="12" name="Shape 10"/>
          <p:cNvSpPr/>
          <p:nvPr/>
        </p:nvSpPr>
        <p:spPr>
          <a:xfrm>
            <a:off x="457200" y="3474720"/>
            <a:ext cx="8229600" cy="1024128"/>
          </a:xfrm>
          <a:prstGeom prst="roundRect">
            <a:avLst>
              <a:gd name="adj" fmla="val 7143"/>
            </a:avLst>
          </a:prstGeom>
          <a:solidFill>
            <a:srgbClr val="F4F2EE"/>
          </a:solidFill>
          <a:ln w="12700">
            <a:solidFill>
              <a:srgbClr val="D9D4CC"/>
            </a:solidFill>
            <a:prstDash val="solid"/>
          </a:ln>
        </p:spPr>
      </p:sp>
      <p:sp>
        <p:nvSpPr>
          <p:cNvPr id="13" name="Text 11"/>
          <p:cNvSpPr txBox="1"/>
          <p:nvPr/>
        </p:nvSpPr>
        <p:spPr>
          <a:xfrm>
            <a:off x="621792" y="3538728"/>
            <a:ext cx="7900416" cy="310896"/>
          </a:xfrm>
          <a:prstGeom prst="rect">
            <a:avLst/>
          </a:prstGeom>
          <a:noFill/>
          <a:ln/>
        </p:spPr>
        <p:txBody>
          <a:bodyPr wrap="square" lIns="0" tIns="0" rIns="0" bIns="0" rtlCol="0" anchor="ctr"/>
          <a:lstStyle/>
          <a:p>
            <a:pPr indent="0" marL="0">
              <a:buNone/>
            </a:pPr>
            <a:r>
              <a:rPr lang="en-US" sz="1250" b="1" dirty="0">
                <a:solidFill>
                  <a:srgbClr val="1B1F24"/>
                </a:solidFill>
                <a:latin typeface="Calibri" pitchFamily="34" charset="0"/>
                <a:ea typeface="Calibri" pitchFamily="34" charset="-122"/>
                <a:cs typeface="Calibri" pitchFamily="34" charset="-120"/>
              </a:rPr>
              <a:t>In what sense is a transaction form not a rule of the protocol?</a:t>
            </a:r>
            <a:endParaRPr lang="en-US" sz="1250" dirty="0"/>
          </a:p>
        </p:txBody>
      </p:sp>
      <p:sp>
        <p:nvSpPr>
          <p:cNvPr id="14" name="Text 12"/>
          <p:cNvSpPr txBox="1"/>
          <p:nvPr/>
        </p:nvSpPr>
        <p:spPr>
          <a:xfrm>
            <a:off x="621792" y="3840480"/>
            <a:ext cx="7900416" cy="603504"/>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  The forms are enforced by miners but not by full nodes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B)  The forms apply only to transactions with a change output</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C)  The protocol sees only inputs and outputs; the forms are names for typical shapes</a:t>
            </a:r>
            <a:endParaRPr lang="en-US" sz="1100" dirty="0"/>
          </a:p>
          <a:p>
            <a:pPr indent="0" marL="0">
              <a:buNone/>
            </a:pPr>
            <a:r>
              <a:rPr lang="en-US" sz="1100" dirty="0">
                <a:solidFill>
                  <a:srgbClr val="1F2933"/>
                </a:solidFill>
                <a:latin typeface="Calibri" pitchFamily="34" charset="0"/>
                <a:ea typeface="Calibri" pitchFamily="34" charset="-122"/>
                <a:cs typeface="Calibri" pitchFamily="34" charset="-120"/>
              </a:rPr>
              <a:t>D)  The forms were rules in the first version of Bitcoin and were later removed</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1B1F24"/>
                </a:solidFill>
                <a:latin typeface="Cambria" pitchFamily="34" charset="0"/>
                <a:ea typeface="Cambria" pitchFamily="34" charset="-122"/>
                <a:cs typeface="Cambria" pitchFamily="34" charset="-120"/>
              </a:rPr>
              <a:t>Sources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5B6B7B"/>
                </a:solidFill>
                <a:latin typeface="Calibri" pitchFamily="34" charset="0"/>
                <a:ea typeface="Calibri" pitchFamily="34" charset="-122"/>
                <a:cs typeface="Calibri" pitchFamily="34" charset="-120"/>
              </a:rPr>
              <a:t>Every citation on these slides, as the chapter's research record defines it</a:t>
            </a:r>
            <a:endParaRPr lang="en-US" sz="1300" dirty="0"/>
          </a:p>
        </p:txBody>
      </p:sp>
      <p:sp>
        <p:nvSpPr>
          <p:cNvPr id="6" name="Text 4"/>
          <p:cNvSpPr txBox="1"/>
          <p:nvPr/>
        </p:nvSpPr>
        <p:spPr>
          <a:xfrm>
            <a:off x="457200" y="1280160"/>
            <a:ext cx="8229600" cy="301752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Antonopoulos and Harding, 2023 — Mastering Bitcoin, 3rd edition - Chapter 1, Introduction</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Nakamoto, 2008 — Bitcoin: A Peer-to-Peer Electronic Cash System</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Wuille and Maxwell, 2017 — BIP 173: Base32 address format for native v0-16 witness outputs, Bech32</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Lebo et al., 2013 — PROV-O: The PROV Ontology, W3C Recommendation, 30 April 2013</a:t>
            </a:r>
            <a:endParaRPr lang="en-US" sz="1100" dirty="0"/>
          </a:p>
        </p:txBody>
      </p:sp>
      <p:sp>
        <p:nvSpPr>
          <p:cNvPr id="7" name="Text 5"/>
          <p:cNvSpPr txBox="1"/>
          <p:nvPr/>
        </p:nvSpPr>
        <p:spPr>
          <a:xfrm>
            <a:off x="457200" y="4498848"/>
            <a:ext cx="8229600" cy="274320"/>
          </a:xfrm>
          <a:prstGeom prst="rect">
            <a:avLst/>
          </a:prstGeom>
          <a:noFill/>
          <a:ln/>
        </p:spPr>
        <p:txBody>
          <a:bodyPr wrap="square" lIns="0" tIns="0" rIns="0" bIns="0" rtlCol="0" anchor="t"/>
          <a:lstStyle/>
          <a:p>
            <a:pPr algn="l" indent="0" marL="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508760"/>
            <a:ext cx="8046720" cy="8686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Next week: Chapter 3 - Bitcoin Core, the reference implementation</a:t>
            </a:r>
            <a:endParaRPr lang="en-US" sz="2800" dirty="0"/>
          </a:p>
        </p:txBody>
      </p:sp>
      <p:sp>
        <p:nvSpPr>
          <p:cNvPr id="3" name="Text 1"/>
          <p:cNvSpPr txBox="1"/>
          <p:nvPr/>
        </p:nvSpPr>
        <p:spPr>
          <a:xfrm>
            <a:off x="548640" y="2468880"/>
            <a:ext cx="8046720" cy="731520"/>
          </a:xfrm>
          <a:prstGeom prst="rect">
            <a:avLst/>
          </a:prstGeom>
          <a:noFill/>
          <a:ln/>
        </p:spPr>
        <p:txBody>
          <a:bodyPr wrap="square" lIns="0" tIns="0" rIns="0" bIns="0" rtlCol="0" anchor="t"/>
          <a:lstStyle/>
          <a:p>
            <a:pPr indent="0" marL="0">
              <a:buNone/>
            </a:pPr>
            <a:r>
              <a:rPr lang="en-US" sz="1600" dirty="0">
                <a:solidFill>
                  <a:srgbClr val="F7931A"/>
                </a:solidFill>
                <a:latin typeface="Calibri" pitchFamily="34" charset="0"/>
                <a:ea typeface="Calibri" pitchFamily="34" charset="-122"/>
                <a:cs typeface="Calibri" pitchFamily="34" charset="-120"/>
              </a:rPr>
              <a:t>Before then: work through the chapter 2 page, and follow the transaction in its Code Lab.</a:t>
            </a:r>
            <a:endParaRPr lang="en-US" sz="16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1DA"/>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94</Slides>
  <Notes>94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94</vt:i4>
      </vt:variant>
    </vt:vector>
  </HeadingPairs>
  <TitlesOfParts>
    <vt:vector size="9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2: How Bitcoin Works</dc:title>
  <dc:subject>PptxGenJS Presentation</dc:subject>
  <dc:creator>Yusuf Altunel</dc:creator>
  <cp:lastModifiedBy>Yusuf Altunel</cp:lastModifiedBy>
  <cp:revision>1</cp:revision>
  <dcterms:created xsi:type="dcterms:W3CDTF">2026-10-04T18:40:37Z</dcterms:created>
  <dcterms:modified xsi:type="dcterms:W3CDTF">2026-10-04T18:40:37Z</dcterms:modified>
  <cp:version>1.2.0</cp:version>
</cp:coreProperties>
</file>