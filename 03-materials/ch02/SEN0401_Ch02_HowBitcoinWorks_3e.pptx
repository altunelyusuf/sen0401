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Mastering Bitcoin, 3rd edition, chapter 2 (Antonopoulos and Harding, 2023), free under CC BY-SA 4.0. Every computed figure was executed under Python 3.14.4; claims beyond the book are in 03-materials/ch02/rdodi.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Mastering Bitcoin, 3rd edition, chapter 2 (Antonopoulos and Harding, 2023), sections How Bitcoin Works and Bitcoin Overview.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Mastering Bitcoin, 3rd edition, chapter 2 (Antonopoulos and Harding, 2023), section Buying from an Online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Mastering Bitcoin, 3rd edition, chapter 2 (Antonopoulos and Harding, 2023), section Transaction Inputs and Outputs. The amounts are an illustration; the computation was executed under Python 3.14.4.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Mastering Bitcoin, 3rd edition, chapter 2 (Antonopoulos and Harding, 2023), sections Transaction Chains and Making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Mastering Bitcoin, 3rd edition, chapter 2 (Antonopoulos and Harding, 2023), sections Coin Selection and Common Transaction Forms.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Mastering Bitcoin, 3rd edition, chapter 2 (Antonopoulos and Harding, 2023), sections Constructing a Transaction, Getting the Right Inputs, Creating the Outputs, Adding the Transaction to the Blockchain.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Mastering Bitcoin, 3rd edition, chapter 2 (Antonopoulos and Harding, 2023), section Bitcoin Mining.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Nakamoto (2008), section 11, Calculations: for q=0.1 the paper lists P=0.2045873 at z=1 and P=0.0002428 at z=6. The table on this slide was computed under Python 3.14.4.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Mastering Bitcoin, 3rd edition, chapter 2 (Antonopoulos and Harding, 2023), section Spending the Transaction.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Mastering Bitcoin, 3rd edition, chapter 2 (Antonopoulos and Harding, 2023), Block Explorer Privacy Warning in section Bitcoin Overview.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PROV-O: The PROV Ontology, W3C Recommendation, 30 April 2013. The mapping is a teaching suggestion within the term theme.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nowhere - it is inputs minus outputs; 15; when a miner includes it in a block that full nodes validate; about 0.0002428; an activity.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verified source list in 03-materials/ch02/rdodi/sen0401_ch02_research_v1_0_0.ttl.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 of the 3rd edition is Bitcoin 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0584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3A4250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80160" y="1371600"/>
            <a:ext cx="228600" cy="0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08760" y="100584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3A4250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40280" y="1371600"/>
            <a:ext cx="228600" cy="0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468880" y="100584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F7931A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68880" y="1005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₿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574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Chapter 2: How Bitcoin Works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7889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payment, followed from Alice’s wallet to the blockchain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052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SEN0401 Special Topics in Software Engineering: Block Chain · Fall 2026 · Yusuf Altunel, PhD · İstanbul Kültür University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384048"/>
          </a:xfrm>
          <a:prstGeom prst="roundRect">
            <a:avLst>
              <a:gd name="adj" fmla="val 19048"/>
            </a:avLst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₿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25603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parts, no trusted third party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78638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user can verify every rule with their own software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4F2EE"/>
          </a:solidFill>
          <a:ln w="12700">
            <a:solidFill>
              <a:srgbClr val="F4F2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463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42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Wallets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856232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with wallets holding keys, which sign transactions.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68980" y="132588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4F2EE"/>
          </a:solidFill>
          <a:ln w="12700">
            <a:solidFill>
              <a:srgbClr val="F4F2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51860" y="1463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Transactions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451860" y="1856232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Propagated across the network from wallet to wallet and on to miners.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080760" y="132588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4F2EE"/>
          </a:solidFill>
          <a:ln w="12700">
            <a:solidFill>
              <a:srgbClr val="F4F2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63640" y="1463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42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Miners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1856232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Produce, through competitive computation, the blockchain: the authoritative journal of all transactions.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384048"/>
          </a:xfrm>
          <a:prstGeom prst="roundRect">
            <a:avLst>
              <a:gd name="adj" fmla="val 19048"/>
            </a:avLst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₿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25603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Buying from an online store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78638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pays Bob’s Store by scanning a QR code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3840480" cy="1463040"/>
          </a:xfrm>
          <a:prstGeom prst="roundRect">
            <a:avLst>
              <a:gd name="adj" fmla="val 6250"/>
            </a:avLst>
          </a:prstGeom>
          <a:solidFill>
            <a:srgbClr val="15191E"/>
          </a:solidFill>
          <a:ln w="12700">
            <a:solidFill>
              <a:srgbClr val="15191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435608"/>
            <a:ext cx="34747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F793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10**8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100000000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F793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10**8 // 1000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100000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2549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under Python 3.14.4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0" y="1325880"/>
            <a:ext cx="4114800" cy="2651760"/>
          </a:xfrm>
          <a:prstGeom prst="roundRect">
            <a:avLst>
              <a:gd name="adj" fmla="val 3448"/>
            </a:avLst>
          </a:prstGeom>
          <a:solidFill>
            <a:srgbClr val="F4F2EE"/>
          </a:solidFill>
          <a:ln w="12700">
            <a:solidFill>
              <a:srgbClr val="F4F2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54880" y="14630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bitcoin to satoshis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1856232"/>
            <a:ext cx="3749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bitcoin divides into 100,000,000 satoshis; a millibitcoin is a thousandth. Within seconds of Alice sending, Bob sees the payment on the register.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0632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Satoshis per bitcoin, and per millibitcoin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384048"/>
          </a:xfrm>
          <a:prstGeom prst="roundRect">
            <a:avLst>
              <a:gd name="adj" fmla="val 19048"/>
            </a:avLst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₿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25603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transaction is a ledger line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78638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spend, outputs receive, and the difference is the fee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4846320" cy="1600200"/>
          </a:xfrm>
          <a:prstGeom prst="roundRect">
            <a:avLst>
              <a:gd name="adj" fmla="val 5714"/>
            </a:avLst>
          </a:prstGeom>
          <a:solidFill>
            <a:srgbClr val="15191E"/>
          </a:solidFill>
          <a:ln w="12700">
            <a:solidFill>
              <a:srgbClr val="15191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435608"/>
            <a:ext cx="448056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793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inputs = [15_000_000]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793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outputs = [10_000_000, 4_990_000]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793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sum(inputs) - sum(outputs)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10000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96265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under Python 3.14.4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577840" y="1325880"/>
            <a:ext cx="3108960" cy="2651760"/>
          </a:xfrm>
          <a:prstGeom prst="roundRect">
            <a:avLst>
              <a:gd name="adj" fmla="val 3448"/>
            </a:avLst>
          </a:prstGeom>
          <a:solidFill>
            <a:srgbClr val="F4F2EE"/>
          </a:solidFill>
          <a:ln w="12700">
            <a:solidFill>
              <a:srgbClr val="F4F2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60720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implied fee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760720" y="1856232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minus outputs, in satoshis. Nobody writes the fee down: the miner who includes the transaction collects the difference.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00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Toy amounts in satoshis — not a real transaction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384048"/>
          </a:xfrm>
          <a:prstGeom prst="roundRect">
            <a:avLst>
              <a:gd name="adj" fmla="val 19048"/>
            </a:avLst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₿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25603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Transaction chains and change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78638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payment spends earlier outputs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4F2EE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371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Joe → Alice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834640" y="1783080"/>
            <a:ext cx="457200" cy="0"/>
          </a:xfrm>
          <a:prstGeom prst="line">
            <a:avLst/>
          </a:prstGeom>
          <a:noFill/>
          <a:ln w="31750">
            <a:solidFill>
              <a:srgbClr val="F7931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91840" y="137160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7931A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91840" y="1371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Alice → Bob’s Store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669280" y="1783080"/>
            <a:ext cx="457200" cy="0"/>
          </a:xfrm>
          <a:prstGeom prst="line">
            <a:avLst/>
          </a:prstGeom>
          <a:noFill/>
          <a:ln w="31750">
            <a:solidFill>
              <a:srgbClr val="F7931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126480" y="137160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4F2EE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26480" y="1371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Bob → …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2926080" cy="1005840"/>
          </a:xfrm>
          <a:prstGeom prst="roundRect">
            <a:avLst>
              <a:gd name="adj" fmla="val 9091"/>
            </a:avLst>
          </a:prstGeom>
          <a:solidFill>
            <a:srgbClr val="15191E"/>
          </a:solidFill>
          <a:ln w="12700">
            <a:solidFill>
              <a:srgbClr val="15191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761488"/>
            <a:ext cx="2560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793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20 - 5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9417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under Python 3.14.4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57600" y="2560320"/>
            <a:ext cx="5029200" cy="1737360"/>
          </a:xfrm>
          <a:prstGeom prst="roundRect">
            <a:avLst>
              <a:gd name="adj" fmla="val 5263"/>
            </a:avLst>
          </a:prstGeom>
          <a:solidFill>
            <a:srgbClr val="F4F2EE"/>
          </a:solidFill>
          <a:ln w="12700">
            <a:solidFill>
              <a:srgbClr val="F4F2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40480" y="2697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42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Making change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3090672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 5 bitcoins with a 20-bitcoin input sends 15 back as change, not counting the fee — usually to a new address, so outsiders cannot tell change from payment.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384048"/>
          </a:xfrm>
          <a:prstGeom prst="roundRect">
            <a:avLst>
              <a:gd name="adj" fmla="val 19048"/>
            </a:avLst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₿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25603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Coin selection and common forms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78638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 choose inputs much as people choose cash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F4F2EE"/>
          </a:solidFill>
          <a:ln w="12700">
            <a:solidFill>
              <a:srgbClr val="F4F2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463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42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Coin selection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856232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small inputs, or one large one? Always using the largest note leaves a pocket of change; wallets aim for a balance.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68980" y="132588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F4F2EE"/>
          </a:solidFill>
          <a:ln w="12700">
            <a:solidFill>
              <a:srgbClr val="F4F2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51860" y="1463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Simple payment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451860" y="1856232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form: one input, two outputs — the payment and the change.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080760" y="132588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F4F2EE"/>
          </a:solidFill>
          <a:ln w="12700">
            <a:solidFill>
              <a:srgbClr val="F4F2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63640" y="1463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42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Consolidation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1856232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inputs spent into one output, like exchanging a pile of coins for a single note.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384048"/>
          </a:xfrm>
          <a:prstGeom prst="roundRect">
            <a:avLst>
              <a:gd name="adj" fmla="val 19048"/>
            </a:avLst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₿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25603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wallet to network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78638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Constructing and propagating a transaction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502920" cy="50292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3716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inputs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057400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wallet finds unspent outputs it controls.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560320" y="1371600"/>
            <a:ext cx="502920" cy="50292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6032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154680" y="13716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outputs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057400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Payment, change, and the fee as the difference.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502920" cy="50292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634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257800" y="13716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Transmit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057400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and sent to the network.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766560" y="1371600"/>
            <a:ext cx="502920" cy="50292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665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360920" y="13716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Propagate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057400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Relayed node to node until miners hold it.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384048"/>
          </a:xfrm>
          <a:prstGeom prst="roundRect">
            <a:avLst>
              <a:gd name="adj" fmla="val 19048"/>
            </a:avLst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₿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25603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78638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produce, easy to check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3977640" cy="2651760"/>
          </a:xfrm>
          <a:prstGeom prst="roundRect">
            <a:avLst>
              <a:gd name="adj" fmla="val 3448"/>
            </a:avLst>
          </a:prstGeom>
          <a:solidFill>
            <a:srgbClr val="F4F2EE"/>
          </a:solidFill>
          <a:ln w="12700">
            <a:solidFill>
              <a:srgbClr val="F4F2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4630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856232"/>
            <a:ext cx="3611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are bundled into blocks whose small header takes an enormous amount of computation to form correctly, and little to verify.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09160" y="1325880"/>
            <a:ext cx="3977640" cy="2651760"/>
          </a:xfrm>
          <a:prstGeom prst="roundRect">
            <a:avLst>
              <a:gd name="adj" fmla="val 3448"/>
            </a:avLst>
          </a:prstGeom>
          <a:solidFill>
            <a:srgbClr val="F4F2EE"/>
          </a:solidFill>
          <a:ln w="12700">
            <a:solidFill>
              <a:srgbClr val="F4F2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92040" y="14630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42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miners stay honest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1856232"/>
            <a:ext cx="3611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earn only from blocks that follow every consensus rule. Mining also issues new bitcoin on a fixed, diminishing schedule.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384048"/>
          </a:xfrm>
          <a:prstGeom prst="roundRect">
            <a:avLst>
              <a:gd name="adj" fmla="val 19048"/>
            </a:avLst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₿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25603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Confirmations, quantified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78638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whitepaper’s own procedure, reproduced in Python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5120640" cy="2240280"/>
          </a:xfrm>
          <a:prstGeom prst="roundRect">
            <a:avLst>
              <a:gd name="adj" fmla="val 4082"/>
            </a:avLst>
          </a:prstGeom>
          <a:solidFill>
            <a:srgbClr val="15191E"/>
          </a:solidFill>
          <a:ln w="12700">
            <a:solidFill>
              <a:srgbClr val="15191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389888"/>
            <a:ext cx="4754880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793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math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793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q, p = 0.1, 0.9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793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 lambda z: 1 - sum(math.exp(-z*q/p) * (z*q/p)**k / math.factorial(k) * (1 - (q/p)**(z-k)) for k in range(z+1))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793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round(P(1), 7)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0.2045873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793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round(P(6), 7)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0.0002428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557016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under Python 3.14.4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28346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82880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Attacker succeeds (10% hash power)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0.2045873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0.0509779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0.0131722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0.0002428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0.0000012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the table in Nakamoto (2008), section 11, to seven decimals.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384048"/>
          </a:xfrm>
          <a:prstGeom prst="roundRect">
            <a:avLst>
              <a:gd name="adj" fmla="val 19048"/>
            </a:avLst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₿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25603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six confirmations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78638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block on top makes reversal harder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3977640" cy="2651760"/>
          </a:xfrm>
          <a:prstGeom prst="roundRect">
            <a:avLst>
              <a:gd name="adj" fmla="val 3448"/>
            </a:avLst>
          </a:prstGeom>
          <a:solidFill>
            <a:srgbClr val="F4F2EE"/>
          </a:solidFill>
          <a:ln w="12700">
            <a:solidFill>
              <a:srgbClr val="F4F2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4630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42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Stacking blocks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856232"/>
            <a:ext cx="3611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block mined on top is one more confirmation. To take back a payment with two confirmations, three blocks would have to be mined.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09160" y="1325880"/>
            <a:ext cx="3977640" cy="2651760"/>
          </a:xfrm>
          <a:prstGeom prst="roundRect">
            <a:avLst>
              <a:gd name="adj" fmla="val 3448"/>
            </a:avLst>
          </a:prstGeom>
          <a:solidFill>
            <a:srgbClr val="F4F2EE"/>
          </a:solidFill>
          <a:ln w="12700">
            <a:solidFill>
              <a:srgbClr val="F4F2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92040" y="14630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 to the genesis block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1856232"/>
            <a:ext cx="3611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block links back to block number 0. By convention, more than six confirmations is considered very hard to change.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384048"/>
          </a:xfrm>
          <a:prstGeom prst="roundRect">
            <a:avLst>
              <a:gd name="adj" fmla="val 19048"/>
            </a:avLst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₿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25603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Looking it up: block explorers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78638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— and not private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3977640" cy="2651760"/>
          </a:xfrm>
          <a:prstGeom prst="roundRect">
            <a:avLst>
              <a:gd name="adj" fmla="val 3448"/>
            </a:avLst>
          </a:prstGeom>
          <a:solidFill>
            <a:srgbClr val="F4F2EE"/>
          </a:solidFill>
          <a:ln w="12700">
            <a:solidFill>
              <a:srgbClr val="F4F2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4630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42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they do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856232"/>
            <a:ext cx="3611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by address, transaction, block number or block hash — Blockstream Explorer, Mempool.Space, BlockCypher.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09160" y="1325880"/>
            <a:ext cx="3977640" cy="2651760"/>
          </a:xfrm>
          <a:prstGeom prst="roundRect">
            <a:avLst>
              <a:gd name="adj" fmla="val 3448"/>
            </a:avLst>
          </a:prstGeom>
          <a:solidFill>
            <a:srgbClr val="F4F2EE"/>
          </a:solidFill>
          <a:ln w="12700">
            <a:solidFill>
              <a:srgbClr val="F4F2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92040" y="14630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Privacy warning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1856232"/>
            <a:ext cx="3611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may link your searches to your IP address and browser. Looking up your own transactions can reveal what you own.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384048"/>
          </a:xfrm>
          <a:prstGeom prst="roundRect">
            <a:avLst>
              <a:gd name="adj" fmla="val 19048"/>
            </a:avLst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₿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25603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theme: a chain of spends is provenance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78638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W3C PROV-O fits the transaction chain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F4F2EE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37160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output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268980" y="137160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F7931A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68980" y="137160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Activity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transaction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080760" y="137160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F4F2EE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80760" y="137160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key holder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743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output wasDerivedFrom earlier outputs, wasGeneratedBy a transaction, and the transaction wasAssociatedWith the signer — PROV-O’s own terms.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project idea: publish a transaction chain as PROV-O RDF and query its history with SPARQL.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384048"/>
          </a:xfrm>
          <a:prstGeom prst="roundRect">
            <a:avLst>
              <a:gd name="adj" fmla="val 19048"/>
            </a:avLst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₿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25603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yourself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78638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before you open the interactive page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16736"/>
            <a:ext cx="420624" cy="420624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316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280160"/>
            <a:ext cx="7589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the transaction fee written in a transaction?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420624" cy="420624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920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1883664"/>
            <a:ext cx="7589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 5 from a 20 input, what is the change?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523744"/>
            <a:ext cx="420624" cy="420624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5237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487168"/>
            <a:ext cx="7589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does a transaction join the blockchain?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127248"/>
            <a:ext cx="420624" cy="420624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127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090672"/>
            <a:ext cx="7589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likely is a 10% attacker to reverse six confirmations?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3730752"/>
            <a:ext cx="420624" cy="420624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730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3694176"/>
            <a:ext cx="7589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PROV-O term fits a Bitcoin transaction?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384048"/>
          </a:xfrm>
          <a:prstGeom prst="roundRect">
            <a:avLst>
              <a:gd name="adj" fmla="val 19048"/>
            </a:avLst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₿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25603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78638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beyond the book is recorded in the chapter’s research record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80160"/>
            <a:ext cx="8229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Antonopoulos, A. M., Harding, D. A. (2023). Mastering Bitcoin, 3rd ed., ch. 2. O’Reilly. CC BY-SA 4.0. github.com/bitcoinbook/bitcoinbook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Nakamoto, S. (2008). Bitcoin: A Peer-to-Peer Electronic Cash System, section 11. bitcoin.org/bitcoin.pdf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Core (2026). Releases. bitcoincore.org/en/releases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W3C (2013). PROV-O: The PROV Ontology. W3C Recommendation. w3.org/TR/prov-o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adapt Mastering Bitcoin, 3rd edition, under CC BY-SA 4.0; this deck is shared under the same licence.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54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week: Chapter 3 — Bitcoin Core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23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then: work through the chapter 2 page, and change the attacker’s hash power in its playground.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D1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SEN0401 Chapter 2 - How Bitcoin Works</dc:title>
  <dc:subject>PptxGenJS Presentation</dc:subject>
  <dc:creator>Yusuf Altunel</dc:creator>
  <cp:lastModifiedBy>Yusuf Altunel</cp:lastModifiedBy>
  <cp:revision>1</cp:revision>
  <dcterms:created xsi:type="dcterms:W3CDTF">2026-09-25T00:31:50Z</dcterms:created>
  <dcterms:modified xsi:type="dcterms:W3CDTF">2026-09-25T00:31:50Z</dcterms:modified>
</cp:coreProperties>
</file>