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satoshis</c:v>
                </c:pt>
              </c:strCache>
            </c:strRef>
          </c:tx>
          <c:spPr>
            <a:solidFill>
              <a:srgbClr val="D97A14"/>
            </a:solidFill>
          </c:spPr>
          <c:dPt>
            <c:idx val="0"/>
            <c:spPr>
              <a:solidFill>
                <a:srgbClr val="2F6D62"/>
              </a:solidFill>
            </c:spPr>
          </c:dPt>
          <c:dPt>
            <c:idx val="1"/>
            <c:spPr>
              <a:solidFill>
                <a:srgbClr val="D97A14"/>
              </a:solidFill>
            </c:spPr>
          </c:dPt>
          <c:dPt>
            <c:idx val="2"/>
            <c:spPr>
              <a:solidFill>
                <a:srgbClr val="F2A860"/>
              </a:solidFill>
            </c:spPr>
          </c:dPt>
          <c:dPt>
            <c:idx val="3"/>
            <c:spPr>
              <a:solidFill>
                <a:srgbClr val="6E655C"/>
              </a:solidFill>
            </c:spPr>
          </c:dPt>
          <c:cat>
            <c:strRef>
              <c:f>Sheet1!$A$2:$A$5</c:f>
              <c:strCache>
                <c:ptCount val="4"/>
                <c:pt idx="0">
                  <c:v>Input</c:v>
                </c:pt>
                <c:pt idx="1">
                  <c:v>To Bob</c:v>
                </c:pt>
                <c:pt idx="2">
                  <c:v>Change</c:v>
                </c:pt>
                <c:pt idx="3">
                  <c:v>Fee</c:v>
                </c:pt>
              </c:strCache>
            </c:strRef>
          </c:cat>
          <c:val>
            <c:numRef>
              <c:f>Sheet1!$B$2:$B$5</c:f>
              <c:numCache>
                <c:formatCode>General</c:formatCode>
                <c:ptCount val="4"/>
                <c:pt idx="0">
                  <c:v>100000.0</c:v>
                </c:pt>
                <c:pt idx="1">
                  <c:v>75000.0</c:v>
                </c:pt>
                <c:pt idx="2">
                  <c:v>20000.0</c:v>
                </c:pt>
                <c:pt idx="3">
                  <c:v>5000.0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satoshis</c:v>
                </c:pt>
              </c:strCache>
            </c:strRef>
          </c:tx>
          <c:spPr>
            <a:solidFill>
              <a:srgbClr val="D97A14"/>
            </a:solidFill>
          </c:spPr>
          <c:dPt>
            <c:idx val="0"/>
            <c:spPr>
              <a:solidFill>
                <a:srgbClr val="2F6D62"/>
              </a:solidFill>
            </c:spPr>
          </c:dPt>
          <c:dPt>
            <c:idx val="1"/>
            <c:spPr>
              <a:solidFill>
                <a:srgbClr val="D97A14"/>
              </a:solidFill>
            </c:spPr>
          </c:dPt>
          <c:dPt>
            <c:idx val="2"/>
            <c:spPr>
              <a:solidFill>
                <a:srgbClr val="F2A860"/>
              </a:solidFill>
            </c:spPr>
          </c:dPt>
          <c:cat>
            <c:strRef>
              <c:f>Sheet1!$A$2:$A$4</c:f>
              <c:strCache>
                <c:ptCount val="3"/>
                <c:pt idx="0">
                  <c:v>Payment</c:v>
                </c:pt>
                <c:pt idx="1">
                  <c:v>Coins picked</c:v>
                </c:pt>
                <c:pt idx="2">
                  <c:v>Change back</c:v>
                </c:pt>
              </c:strCache>
            </c:strRef>
          </c:cat>
          <c:val>
            <c:numRef>
              <c:f>Sheet1!$B$2:$B$4</c:f>
              <c:numCache>
                <c:formatCode>General</c:formatCode>
                <c:ptCount val="3"/>
                <c:pt idx="0">
                  <c:v>80000.0</c:v>
                </c:pt>
                <c:pt idx="1">
                  <c:v>90000.0</c:v>
                </c:pt>
                <c:pt idx="2">
                  <c:v>10000.0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change</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6E655C"/>
              </a:solidFill>
            </c:spPr>
          </c:dPt>
          <c:cat>
            <c:strRef>
              <c:f>Sheet1!$A$2:$A$5</c:f>
              <c:strCache>
                <c:ptCount val="4"/>
                <c:pt idx="0">
                  <c:v>10 sat/vB</c:v>
                </c:pt>
                <c:pt idx="1">
                  <c:v>20 sat/vB</c:v>
                </c:pt>
                <c:pt idx="2">
                  <c:v>35 sat/vB</c:v>
                </c:pt>
                <c:pt idx="3">
                  <c:v>100 sat/vB</c:v>
                </c:pt>
              </c:strCache>
            </c:strRef>
          </c:cat>
          <c:val>
            <c:numRef>
              <c:f>Sheet1!$B$2:$B$5</c:f>
              <c:numCache>
                <c:formatCode>General</c:formatCode>
                <c:ptCount val="4"/>
                <c:pt idx="0">
                  <c:v>23570.0</c:v>
                </c:pt>
                <c:pt idx="1">
                  <c:v>22140.0</c:v>
                </c:pt>
                <c:pt idx="2">
                  <c:v>19995.0</c:v>
                </c:pt>
                <c:pt idx="3">
                  <c:v>10700.0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tries</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2F6D62"/>
              </a:solidFill>
            </c:spPr>
          </c:dPt>
          <c:cat>
            <c:strRef>
              <c:f>Sheet1!$A$2:$A$5</c:f>
              <c:strCache>
                <c:ptCount val="4"/>
                <c:pt idx="0">
                  <c:v>1 zero</c:v>
                </c:pt>
                <c:pt idx="1">
                  <c:v>2 zeros</c:v>
                </c:pt>
                <c:pt idx="2">
                  <c:v>3 zeros</c:v>
                </c:pt>
                <c:pt idx="3">
                  <c:v>4 zeros</c:v>
                </c:pt>
              </c:strCache>
            </c:strRef>
          </c:cat>
          <c:val>
            <c:numRef>
              <c:f>Sheet1!$B$2:$B$5</c:f>
              <c:numCache>
                <c:formatCode>General</c:formatCode>
                <c:ptCount val="4"/>
                <c:pt idx="0">
                  <c:v>33.0</c:v>
                </c:pt>
                <c:pt idx="1">
                  <c:v>302.0</c:v>
                </c:pt>
                <c:pt idx="2">
                  <c:v>10182.0</c:v>
                </c:pt>
                <c:pt idx="3">
                  <c:v>32977.0</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logBase val="10"/>
          <c:min val="1.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attacker 10%</c:v>
                </c:pt>
              </c:strCache>
            </c:strRef>
          </c:tx>
          <c:spPr>
            <a:ln w="28575">
              <a:solidFill>
                <a:srgbClr val="D97A14"/>
              </a:solidFill>
            </a:ln>
          </c:spPr>
          <c:marker>
            <c:spPr>
              <a:solidFill>
                <a:srgbClr val="D97A14"/>
              </a:solidFill>
              <a:ln>
                <a:solidFill>
                  <a:srgbClr val="D97A14"/>
                </a:solidFill>
              </a:ln>
            </c:spPr>
          </c:marker>
          <c:cat>
            <c:strRef>
              <c:f>Sheet1!$A$2:$A$8</c:f>
              <c:strCache>
                <c:ptCount val="7"/>
                <c:pt idx="0">
                  <c:v>0</c:v>
                </c:pt>
                <c:pt idx="1">
                  <c:v>1</c:v>
                </c:pt>
                <c:pt idx="2">
                  <c:v>2</c:v>
                </c:pt>
                <c:pt idx="3">
                  <c:v>3</c:v>
                </c:pt>
                <c:pt idx="4">
                  <c:v>4</c:v>
                </c:pt>
                <c:pt idx="5">
                  <c:v>5</c:v>
                </c:pt>
                <c:pt idx="6">
                  <c:v>6</c:v>
                </c:pt>
              </c:strCache>
            </c:strRef>
          </c:cat>
          <c:val>
            <c:numRef>
              <c:f>Sheet1!$B$2:$B$8</c:f>
              <c:numCache>
                <c:formatCode>General</c:formatCode>
                <c:ptCount val="7"/>
                <c:pt idx="0">
                  <c:v>1.0</c:v>
                </c:pt>
                <c:pt idx="1">
                  <c:v>0.2045873</c:v>
                </c:pt>
                <c:pt idx="2">
                  <c:v>0.0509779</c:v>
                </c:pt>
                <c:pt idx="3">
                  <c:v>0.0131722</c:v>
                </c:pt>
                <c:pt idx="4">
                  <c:v>0.0034552</c:v>
                </c:pt>
                <c:pt idx="5">
                  <c:v>0.0009137</c:v>
                </c:pt>
                <c:pt idx="6">
                  <c:v>0.0002428</c:v>
                </c:pt>
              </c:numCache>
            </c:numRef>
          </c:val>
          <c:smooth val="0"/>
        </c:ser>
        <c:ser>
          <c:idx val="1"/>
          <c:order val="1"/>
          <c:tx>
            <c:strRef>
              <c:f>Sheet1!$C$1</c:f>
              <c:strCache>
                <c:ptCount val="1"/>
                <c:pt idx="0">
                  <c:v>attacker 30%</c:v>
                </c:pt>
              </c:strCache>
            </c:strRef>
          </c:tx>
          <c:spPr>
            <a:ln w="28575">
              <a:solidFill>
                <a:srgbClr val="2F6D62"/>
              </a:solidFill>
            </a:ln>
          </c:spPr>
          <c:marker>
            <c:spPr>
              <a:solidFill>
                <a:srgbClr val="2F6D62"/>
              </a:solidFill>
              <a:ln>
                <a:solidFill>
                  <a:srgbClr val="2F6D62"/>
                </a:solidFill>
              </a:ln>
            </c:spPr>
          </c:marker>
          <c:cat>
            <c:strRef>
              <c:f>Sheet1!$A$2:$A$8</c:f>
              <c:strCache>
                <c:ptCount val="7"/>
                <c:pt idx="0">
                  <c:v>0</c:v>
                </c:pt>
                <c:pt idx="1">
                  <c:v>1</c:v>
                </c:pt>
                <c:pt idx="2">
                  <c:v>2</c:v>
                </c:pt>
                <c:pt idx="3">
                  <c:v>3</c:v>
                </c:pt>
                <c:pt idx="4">
                  <c:v>4</c:v>
                </c:pt>
                <c:pt idx="5">
                  <c:v>5</c:v>
                </c:pt>
                <c:pt idx="6">
                  <c:v>6</c:v>
                </c:pt>
              </c:strCache>
            </c:strRef>
          </c:cat>
          <c:val>
            <c:numRef>
              <c:f>Sheet1!$C$2:$C$8</c:f>
              <c:numCache>
                <c:formatCode>General</c:formatCode>
                <c:ptCount val="7"/>
                <c:pt idx="0">
                  <c:v>1.0</c:v>
                </c:pt>
                <c:pt idx="1">
                  <c:v>0.6277491</c:v>
                </c:pt>
                <c:pt idx="2">
                  <c:v>0.4457171</c:v>
                </c:pt>
                <c:pt idx="3">
                  <c:v>0.3245841</c:v>
                </c:pt>
                <c:pt idx="4">
                  <c:v>0.2391269</c:v>
                </c:pt>
                <c:pt idx="5">
                  <c:v>0.1773523</c:v>
                </c:pt>
                <c:pt idx="6">
                  <c:v>0.1321112</c:v>
                </c:pt>
              </c:numCache>
            </c:numRef>
          </c:val>
          <c:smooth val="0"/>
        </c:ser>
        <c:dLbls>
          <c:numFmt formatCode="0.0000" sourceLinked="0"/>
          <c:txPr>
            <a:bodyPr/>
            <a:lstStyle/>
            <a:p>
              <a:pPr>
                <a:defRPr sz="8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6E655C"/>
            </a:solidFill>
          </a:ln>
        </c:spPr>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DFD6C7"/>
              </a:solidFill>
            </a:ln>
          </c:spPr>
        </c:majorGridlines>
        <c:numFmt formatCode="0.0000" sourceLinked="0"/>
        <c:majorTickMark val="out"/>
        <c:minorTickMark val="none"/>
        <c:tickLblPos val="nextTo"/>
        <c:spPr>
          <a:ln>
            <a:noFill/>
          </a:ln>
        </c:spPr>
        <c:txPr>
          <a:bodyPr/>
          <a:lstStyle/>
          <a:p>
            <a:pPr>
              <a:defRPr sz="800"/>
            </a:pPr>
          </a:p>
        </c:tx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2B2622"/>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reward</c:v>
                </c:pt>
              </c:strCache>
            </c:strRef>
          </c:tx>
          <c:spPr>
            <a:solidFill>
              <a:srgbClr val="D97A14"/>
            </a:solidFill>
          </c:spPr>
          <c:dPt>
            <c:idx val="0"/>
            <c:spPr>
              <a:solidFill>
                <a:srgbClr val="D97A14"/>
              </a:solidFill>
            </c:spPr>
          </c:dPt>
          <c:dPt>
            <c:idx val="1"/>
            <c:spPr>
              <a:solidFill>
                <a:srgbClr val="D97A14"/>
              </a:solidFill>
            </c:spPr>
          </c:dPt>
          <c:dPt>
            <c:idx val="2"/>
            <c:spPr>
              <a:solidFill>
                <a:srgbClr val="D97A14"/>
              </a:solidFill>
            </c:spPr>
          </c:dPt>
          <c:dPt>
            <c:idx val="3"/>
            <c:spPr>
              <a:solidFill>
                <a:srgbClr val="D97A14"/>
              </a:solidFill>
            </c:spPr>
          </c:dPt>
          <c:dPt>
            <c:idx val="4"/>
            <c:spPr>
              <a:solidFill>
                <a:srgbClr val="D97A14"/>
              </a:solidFill>
            </c:spPr>
          </c:dPt>
          <c:dPt>
            <c:idx val="5"/>
            <c:spPr>
              <a:solidFill>
                <a:srgbClr val="6E655C"/>
              </a:solidFill>
            </c:spPr>
          </c:dPt>
          <c:cat>
            <c:strRef>
              <c:f>Sheet1!$A$2:$A$7</c:f>
              <c:strCache>
                <c:ptCount val="6"/>
                <c:pt idx="0">
                  <c:v>2009</c:v>
                </c:pt>
                <c:pt idx="1">
                  <c:v>2012</c:v>
                </c:pt>
                <c:pt idx="2">
                  <c:v>2016</c:v>
                </c:pt>
                <c:pt idx="3">
                  <c:v>2020</c:v>
                </c:pt>
                <c:pt idx="4">
                  <c:v>2024</c:v>
                </c:pt>
                <c:pt idx="5">
                  <c:v>2028</c:v>
                </c:pt>
              </c:strCache>
            </c:strRef>
          </c:cat>
          <c:val>
            <c:numRef>
              <c:f>Sheet1!$B$2:$B$7</c:f>
              <c:numCache>
                <c:formatCode>General</c:formatCode>
                <c:ptCount val="6"/>
                <c:pt idx="0">
                  <c:v>50.0</c:v>
                </c:pt>
                <c:pt idx="1">
                  <c:v>25.0</c:v>
                </c:pt>
                <c:pt idx="2">
                  <c:v>12.5</c:v>
                </c:pt>
                <c:pt idx="3">
                  <c:v>6.25</c:v>
                </c:pt>
                <c:pt idx="4">
                  <c:v>3.125</c:v>
                </c:pt>
                <c:pt idx="5">
                  <c:v>1.5625</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6E655C"/>
            </a:solidFill>
          </a:ln>
        </c:spPr>
        <c:txPr>
          <a:bodyPr/>
          <a:lstStyle/>
          <a:p>
            <a:pPr>
              <a:defRPr sz="9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numFmt formatCode="0.####" sourceLinked="0"/>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9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asked what Bitcoin is. Chapter 2 follows one payment, Alice paying Bob's Store, from the invoice to the blockchain. Every number in this deck was computed with the chapter's own Python library.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has six parts that follow one payment from the invoice to the spending. Three true stories and fourteen code examples are spread across them, and every example has a picture of its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questions are the chapter's own, rewritten so that each has an answer on a slide. We return to them in the summary. A reader who can answer all six has understood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carry one payment. Alice reads an invoice, a transaction is formed, coins are chosen, the wallet builds and signs it, a miner puts it in a block, and Bob can spend it. The parts of this deck follow the same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starts where Alice does: with an invoice from an online store. We meet the whole system first, then the smallest unit of money and the link that carries the invoice.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share the work. Users hold wallets that sign payments, nodes check the rules and pass transactions on, and miners bundle waiting transactions into blocks that everyone copies. Nobody owns the record.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Alice needs bitcoin before she can pay Bob. In 2010 there was almost nowhere to buy it, so Gavin Andresen gave five coins to every visitor of his website. Thousands of people got their first bitcoin this way.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Bitcoin counts in satoshis, one hundred-millionth of a bitcoin. Decimals are only for people. Converting with whole numbers keeps every digit, which floating point would 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 21 defines the bitcoin link that wallets and QR codes use. We split it into its parts with the standard library. The wallet then knows whom to pay, how much, and what to call the payee.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opens the payment itself. A transaction is a ledger entry: it spends earlier outputs and creates new ones, and the difference is the fee.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transaction is double-entry bookkeeping: the inputs on the left, the outputs on the right, and the difference is the fee. An input spends an earlier output; an output locks an amount to a new owner.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transaction balances like a ledger. The inputs add up to 100,000 satoshis and the outputs to 95,000. The difference of 5,000 is written nowhere; it is implied, and the miner collects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identifier of Alice's earlier transaction is a 32-byte hash. Inside a transaction it is stored one way, and block explorers print it the other way round. Reversing the bytes converts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Alice's transaction weighs 569 units, which is 143 virtual bytes. Her fee of 5,000 satoshis divided by 143 gives about 35 satoshis per virtual byte. Blocks have limited room, so miners pick the best rates first.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2-3 shows three linked transactions. Each input names an earlier output, so the coins can be traced back; an output that nobody has spent yet is a coin that still exists.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transaction in the chain spends an earlier output and creates new ones. Collecting what was spent leaves the unspent outputs. Wallets and nodes keep exactly this set, because only these coins can be spent.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asks how a wallet chooses what to spend. Coins are spent whole, so the choice decides the change, and the same rule produces payments, consolidations and batches.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wallet cannot cut a coin in two. It takes whole coins until the payment is covered, then sends the surplus back to itself as change. Real wallets use smarter rules, but this is the idea.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forms cover most transactions. A payment spends a coin and returns change. A consolidation merges many small coins into one, and batching pays many people at once. In every case inputs minus outputs is the fee.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builds Alice's transaction step by step. The wallet finds inputs, writes the outputs, leaves a fee and signs, and the fee rate decides how much change comes back.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wallet builds Alice's transaction in five steps. It finds the inputs, writes the outputs, leaves the fee, signs every input and broadcasts the result to a node, which passes it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wallet builds the outputs it chooses a fee rate. The fee is the rate times the size. The change output is what is left after paying Bob and the fee, so a higher rate means smaller change.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follows the signed transaction to a block. Miners search for a lucky number, the block is added, and every block on top makes the payment harder to reverse.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Alice's transaction sits in block 277,316. A block's height counts from the genesis block, and its depth counts the blocks on top. Each block on top is one more confirmation, and a block explorer shows all of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miner changes a number, the nonce, and hashes again until the result starts with enough zeros. Nobody can shortcut the search, but anyone can check the answer with one hash. The network sets how many zeros are needed.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genesis block was mined on 3 January 2009. Its header packs a version, the previous block, a summary of the transactions, a time, a difficulty and a nonce. Hashing it twice gives the famous name that starts with ten zeros.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white paper reached its readers on 31 October 2008. Its section 11 does something rare for a systems paper: it computes the attacker's odds. The next slide reruns that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 of the white paper computes how likely an attacker is to catch up. We reran the formula and obtained the paper's table to seven places. The chance drops fast with every block, which is why six confirmations became a habit.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closes the loop. Bob can spend his new output, and every node checks the same rules, so that a block which breaks one is refused.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block reward is a consensus rule. Every node computes it the same way and refuses a block that claims more. Halving every 210,000 blocks, about four years, is what limits the total number of bitcoin.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15 August 2010 block 74,638 created about 184 billion bitcoin out of an overflow. Every node checks every rule, and this one rule was missing. Within hours the software was fixed and the honest chain, without the forged coins, won.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August 2010 a block paid out two huge outputs. Their sum overflowed a 64-bit integer, so the software thought the outputs were small. A new rule was shipped within hours, and the honest chain, without the forged coins, won.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answers one of the six opening questions in a line. If you can say each answer in your own words, using the everyday pictures of this chapter, you have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links are all open and free. Start with the chapter source and the white paper, try the block explorer on a real payment, and use the MIT course for the wider story of blockchain and money.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whole path of one payment. Chapter 3 opens the software that checks every rule, Bitcoin Core, and shows how to run it yourself. Bring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hyperlink" Target="https://bitcointalk.org/index.php?topic=183.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8.jpg"/><Relationship Id="rId4" Type="http://schemas.openxmlformats.org/officeDocument/2006/relationships/hyperlink" Target="https://bitcoin.org/bitcoin.pdf"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chart" Target="../charts/char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chart" Target="../charts/char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hyperlink" Target="https://en.bitcoin.it/wiki/Value_overflow_inciden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raw.githubusercontent.com/bitcoinbook/bitcoinbook/third_edition_print1/ch02_overview.adoc" TargetMode="External"/><Relationship Id="rId4" Type="http://schemas.openxmlformats.org/officeDocument/2006/relationships/hyperlink" Target="https://developer.bitcoin.org/devguide/transactions.html" TargetMode="External"/><Relationship Id="rId5" Type="http://schemas.openxmlformats.org/officeDocument/2006/relationships/hyperlink" Target="https://bitcoin.org/bitcoin.pdf" TargetMode="External"/><Relationship Id="rId6" Type="http://schemas.openxmlformats.org/officeDocument/2006/relationships/hyperlink" Target="https://bips.dev/21/" TargetMode="External"/><Relationship Id="rId7" Type="http://schemas.openxmlformats.org/officeDocument/2006/relationships/hyperlink" Target="https://bitcoincore.org/en/releases/" TargetMode="External"/><Relationship Id="rId8" Type="http://schemas.openxmlformats.org/officeDocument/2006/relationships/hyperlink" Target="https://mempool.space/" TargetMode="External"/><Relationship Id="rId9" Type="http://schemas.openxmlformats.org/officeDocument/2006/relationships/hyperlink" Target="https://andersbrownworth.com/blockchain/hash" TargetMode="External"/><Relationship Id="rId10" Type="http://schemas.openxmlformats.org/officeDocument/2006/relationships/hyperlink" Target="https://ocw.mit.edu/courses/15-s12-blockchain-and-money-fall-2018/" TargetMode="External"/><Relationship Id="rId11" Type="http://schemas.openxmlformats.org/officeDocument/2006/relationships/hyperlink" Target="https://bitcoinops.org/en/topics/" TargetMode="External"/><Relationship Id="rId12" Type="http://schemas.openxmlformats.org/officeDocument/2006/relationships/hyperlink" Target="https://bitcoin.stackexchange.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Oval 1"/>
          <p:cNvSpPr/>
          <p:nvPr/>
        </p:nvSpPr>
        <p:spPr>
          <a:xfrm>
            <a:off x="548640" y="685800"/>
            <a:ext cx="685800" cy="685800"/>
          </a:xfrm>
          <a:prstGeom prst="ellipse">
            <a:avLst/>
          </a:prstGeom>
          <a:no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2B2622"/>
                </a:solidFill>
                <a:latin typeface="Calibri"/>
              </a:rPr>
              <a:t/>
            </a:r>
          </a:p>
        </p:txBody>
      </p:sp>
      <p:cxnSp>
        <p:nvCxnSpPr>
          <p:cNvPr id="3" name="Connector 2"/>
          <p:cNvCxnSpPr/>
          <p:nvPr/>
        </p:nvCxnSpPr>
        <p:spPr>
          <a:xfrm>
            <a:off x="1234440" y="1024128"/>
            <a:ext cx="18288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417319" y="685800"/>
            <a:ext cx="685800" cy="685800"/>
          </a:xfrm>
          <a:prstGeom prst="ellipse">
            <a:avLst/>
          </a:prstGeom>
          <a:no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2B2622"/>
                </a:solidFill>
                <a:latin typeface="Calibri"/>
              </a:rPr>
              <a:t/>
            </a:r>
          </a:p>
        </p:txBody>
      </p:sp>
      <p:cxnSp>
        <p:nvCxnSpPr>
          <p:cNvPr id="5" name="Connector 4"/>
          <p:cNvCxnSpPr/>
          <p:nvPr/>
        </p:nvCxnSpPr>
        <p:spPr>
          <a:xfrm>
            <a:off x="2103120" y="1024128"/>
            <a:ext cx="182880"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2286000" y="685800"/>
            <a:ext cx="685800" cy="685800"/>
          </a:xfrm>
          <a:prstGeom prst="ellipse">
            <a:avLst/>
          </a:prstGeom>
          <a:solidFill>
            <a:srgbClr val="D97A14"/>
          </a:solidFill>
          <a:ln w="12700">
            <a:solidFill>
              <a:srgbClr val="D97A1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600" b="1" i="0">
                <a:solidFill>
                  <a:srgbClr val="FFFFFF"/>
                </a:solidFill>
                <a:latin typeface="Calibri"/>
              </a:rPr>
              <a:t>₿</a:t>
            </a:r>
          </a:p>
        </p:txBody>
      </p:sp>
      <p:sp>
        <p:nvSpPr>
          <p:cNvPr id="7" name="TextBox 6"/>
          <p:cNvSpPr txBox="1"/>
          <p:nvPr/>
        </p:nvSpPr>
        <p:spPr>
          <a:xfrm>
            <a:off x="548640" y="1737360"/>
            <a:ext cx="4572000" cy="1097280"/>
          </a:xfrm>
          <a:prstGeom prst="rect">
            <a:avLst/>
          </a:prstGeom>
          <a:noFill/>
        </p:spPr>
        <p:txBody>
          <a:bodyPr wrap="square" lIns="0" rIns="0" tIns="0" bIns="0" anchor="ctr">
            <a:spAutoFit/>
          </a:bodyPr>
          <a:lstStyle/>
          <a:p>
            <a:pPr algn="l"/>
            <a:r>
              <a:rPr sz="3000" b="0" i="0">
                <a:solidFill>
                  <a:srgbClr val="2B2622"/>
                </a:solidFill>
                <a:latin typeface="Cambria"/>
              </a:rPr>
              <a:t>Chapter 2: How Bitcoin Works</a:t>
            </a:r>
          </a:p>
        </p:txBody>
      </p:sp>
      <p:sp>
        <p:nvSpPr>
          <p:cNvPr id="8" name="TextBox 7"/>
          <p:cNvSpPr txBox="1"/>
          <p:nvPr/>
        </p:nvSpPr>
        <p:spPr>
          <a:xfrm>
            <a:off x="548640" y="2926080"/>
            <a:ext cx="4572000" cy="640080"/>
          </a:xfrm>
          <a:prstGeom prst="rect">
            <a:avLst/>
          </a:prstGeom>
          <a:noFill/>
        </p:spPr>
        <p:txBody>
          <a:bodyPr wrap="square" lIns="0" rIns="0" tIns="0" bIns="0" anchor="t">
            <a:spAutoFit/>
          </a:bodyPr>
          <a:lstStyle/>
          <a:p>
            <a:pPr algn="l"/>
            <a:r>
              <a:rPr sz="1500" b="0" i="1">
                <a:solidFill>
                  <a:srgbClr val="6E655C"/>
                </a:solidFill>
                <a:latin typeface="Calibri"/>
              </a:rPr>
              <a:t>One payment, followed from the shop's invoice to the blockchain</a:t>
            </a:r>
          </a:p>
        </p:txBody>
      </p:sp>
      <p:sp>
        <p:nvSpPr>
          <p:cNvPr id="9" name="TextBox 8"/>
          <p:cNvSpPr txBox="1"/>
          <p:nvPr/>
        </p:nvSpPr>
        <p:spPr>
          <a:xfrm>
            <a:off x="548640" y="3840480"/>
            <a:ext cx="8046720" cy="274320"/>
          </a:xfrm>
          <a:prstGeom prst="rect">
            <a:avLst/>
          </a:prstGeom>
          <a:noFill/>
        </p:spPr>
        <p:txBody>
          <a:bodyPr wrap="square" lIns="0" rIns="0" tIns="0" bIns="0" anchor="t">
            <a:spAutoFit/>
          </a:bodyPr>
          <a:lstStyle/>
          <a:p>
            <a:pPr algn="l"/>
            <a:r>
              <a:rPr sz="1100" b="0" i="0">
                <a:solidFill>
                  <a:srgbClr val="6E655C"/>
                </a:solidFill>
                <a:latin typeface="Calibri"/>
              </a:rPr>
              <a:t>Python 3.14.6; every result is computed by the chapter library; no Bitcoin Core node was run.</a:t>
            </a:r>
          </a:p>
        </p:txBody>
      </p:sp>
      <p:sp>
        <p:nvSpPr>
          <p:cNvPr id="10" name="TextBox 9"/>
          <p:cNvSpPr txBox="1"/>
          <p:nvPr/>
        </p:nvSpPr>
        <p:spPr>
          <a:xfrm>
            <a:off x="548640" y="4224528"/>
            <a:ext cx="7315200" cy="411480"/>
          </a:xfrm>
          <a:prstGeom prst="rect">
            <a:avLst/>
          </a:prstGeom>
          <a:noFill/>
        </p:spPr>
        <p:txBody>
          <a:bodyPr wrap="square" lIns="0" rIns="0" tIns="0" bIns="0" anchor="t">
            <a:spAutoFit/>
          </a:bodyPr>
          <a:lstStyle/>
          <a:p>
            <a:pPr algn="l"/>
            <a:r>
              <a:rPr sz="1100" b="0" i="0">
                <a:solidFill>
                  <a:srgbClr val="6E655C"/>
                </a:solidFill>
                <a:latin typeface="Calibri"/>
              </a:rPr>
              <a:t>SEN0401 Special Topics in Software Engineering: Block Chain · Fall 2026 · Yusuf Altunel, PhD · İstanbul Kültür University</a:t>
            </a:r>
          </a:p>
        </p:txBody>
      </p:sp>
      <p:pic>
        <p:nvPicPr>
          <p:cNvPr id="11" name="Picture 10" descr="Screen of the Bitcoin-Qt wallet, version 0.5.2, with balance and recent transactions"/>
          <p:cNvPicPr>
            <a:picLocks noChangeAspect="1"/>
          </p:cNvPicPr>
          <p:nvPr/>
        </p:nvPicPr>
        <p:blipFill>
          <a:blip r:embed="rId3"/>
          <a:stretch>
            <a:fillRect/>
          </a:stretch>
        </p:blipFill>
        <p:spPr>
          <a:xfrm>
            <a:off x="5351811" y="640080"/>
            <a:ext cx="3332417" cy="2039112"/>
          </a:xfrm>
          <a:prstGeom prst="rect">
            <a:avLst/>
          </a:prstGeom>
        </p:spPr>
      </p:pic>
      <p:sp>
        <p:nvSpPr>
          <p:cNvPr id="12" name="TextBox 11"/>
          <p:cNvSpPr txBox="1"/>
          <p:nvPr/>
        </p:nvSpPr>
        <p:spPr>
          <a:xfrm>
            <a:off x="5349240" y="2743200"/>
            <a:ext cx="3337560" cy="457200"/>
          </a:xfrm>
          <a:prstGeom prst="rect">
            <a:avLst/>
          </a:prstGeom>
          <a:noFill/>
        </p:spPr>
        <p:txBody>
          <a:bodyPr wrap="square" lIns="0" rIns="0" tIns="0" bIns="0" anchor="t">
            <a:spAutoFit/>
          </a:bodyPr>
          <a:lstStyle/>
          <a:p>
            <a:pPr algn="l"/>
            <a:r>
              <a:rPr sz="900" b="0" i="0">
                <a:solidFill>
                  <a:srgbClr val="6E655C"/>
                </a:solidFill>
                <a:latin typeface="Calibri"/>
              </a:rPr>
              <a:t>Bitcoin-Qt 0.5.2, a wallet of 2012 - the Bitcoin developers, MIT licence, Wikimedia Commons</a:t>
            </a:r>
          </a:p>
        </p:txBody>
      </p:sp>
      <p:sp>
        <p:nvSpPr>
          <p:cNvPr id="13" name="TextBox 12"/>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 /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Today's route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Six parts around one payment; every range is a slide you can jump to</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Six parts, three true stories, fourteen examples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 / 35</a:t>
            </a:r>
          </a:p>
        </p:txBody>
      </p:sp>
      <p:sp>
        <p:nvSpPr>
          <p:cNvPr id="8" name="Rounded Rectangle 7"/>
          <p:cNvSpPr/>
          <p:nvPr/>
        </p:nvSpPr>
        <p:spPr>
          <a:xfrm>
            <a:off x="45720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1. Questions and the chapter map</a:t>
            </a:r>
          </a:p>
          <a:p>
            <a:pPr algn="l"/>
            <a:r>
              <a:rPr sz="1050" b="0" i="0">
                <a:solidFill>
                  <a:srgbClr val="6E655C"/>
                </a:solidFill>
                <a:latin typeface="Calibri"/>
              </a:rPr>
              <a:t>(slides 3-4)</a:t>
            </a:r>
          </a:p>
        </p:txBody>
      </p:sp>
      <p:sp>
        <p:nvSpPr>
          <p:cNvPr id="9" name="Rounded Rectangle 8"/>
          <p:cNvSpPr/>
          <p:nvPr/>
        </p:nvSpPr>
        <p:spPr>
          <a:xfrm>
            <a:off x="242316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2. Buying from an Online Store</a:t>
            </a:r>
          </a:p>
          <a:p>
            <a:pPr algn="l"/>
            <a:r>
              <a:rPr sz="1050" b="0" i="0">
                <a:solidFill>
                  <a:srgbClr val="6E655C"/>
                </a:solidFill>
                <a:latin typeface="Calibri"/>
              </a:rPr>
              <a:t>(slides 5-9)</a:t>
            </a:r>
          </a:p>
        </p:txBody>
      </p:sp>
      <p:sp>
        <p:nvSpPr>
          <p:cNvPr id="10" name="Rounded Rectangle 9"/>
          <p:cNvSpPr/>
          <p:nvPr/>
        </p:nvSpPr>
        <p:spPr>
          <a:xfrm>
            <a:off x="4389120" y="1280160"/>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3. Bitcoin Transactions</a:t>
            </a:r>
          </a:p>
          <a:p>
            <a:pPr algn="l"/>
            <a:r>
              <a:rPr sz="1050" b="0" i="0">
                <a:solidFill>
                  <a:srgbClr val="6E655C"/>
                </a:solidFill>
                <a:latin typeface="Calibri"/>
              </a:rPr>
              <a:t>(slides 10-16)</a:t>
            </a:r>
          </a:p>
        </p:txBody>
      </p:sp>
      <p:sp>
        <p:nvSpPr>
          <p:cNvPr id="11" name="Rounded Rectangle 10"/>
          <p:cNvSpPr/>
          <p:nvPr/>
        </p:nvSpPr>
        <p:spPr>
          <a:xfrm>
            <a:off x="45720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4. Coin Selection</a:t>
            </a:r>
          </a:p>
          <a:p>
            <a:pPr algn="l"/>
            <a:r>
              <a:rPr sz="1050" b="0" i="0">
                <a:solidFill>
                  <a:srgbClr val="6E655C"/>
                </a:solidFill>
                <a:latin typeface="Calibri"/>
              </a:rPr>
              <a:t>(slides 17-19)</a:t>
            </a:r>
          </a:p>
        </p:txBody>
      </p:sp>
      <p:sp>
        <p:nvSpPr>
          <p:cNvPr id="12" name="Rounded Rectangle 11"/>
          <p:cNvSpPr/>
          <p:nvPr/>
        </p:nvSpPr>
        <p:spPr>
          <a:xfrm>
            <a:off x="242316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5. Constructing a Transaction</a:t>
            </a:r>
          </a:p>
          <a:p>
            <a:pPr algn="l"/>
            <a:r>
              <a:rPr sz="1050" b="0" i="0">
                <a:solidFill>
                  <a:srgbClr val="6E655C"/>
                </a:solidFill>
                <a:latin typeface="Calibri"/>
              </a:rPr>
              <a:t>(slides 20-22)</a:t>
            </a:r>
          </a:p>
        </p:txBody>
      </p:sp>
      <p:sp>
        <p:nvSpPr>
          <p:cNvPr id="13" name="Rounded Rectangle 12"/>
          <p:cNvSpPr/>
          <p:nvPr/>
        </p:nvSpPr>
        <p:spPr>
          <a:xfrm>
            <a:off x="4389120" y="2304288"/>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6. Adding the Transaction to the Blockchain</a:t>
            </a:r>
          </a:p>
          <a:p>
            <a:pPr algn="l"/>
            <a:r>
              <a:rPr sz="1050" b="0" i="0">
                <a:solidFill>
                  <a:srgbClr val="6E655C"/>
                </a:solidFill>
                <a:latin typeface="Calibri"/>
              </a:rPr>
              <a:t>(slides 23-28)</a:t>
            </a:r>
          </a:p>
        </p:txBody>
      </p:sp>
      <p:sp>
        <p:nvSpPr>
          <p:cNvPr id="14" name="Rounded Rectangle 13"/>
          <p:cNvSpPr/>
          <p:nvPr/>
        </p:nvSpPr>
        <p:spPr>
          <a:xfrm>
            <a:off x="457200" y="3328416"/>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7. Spending the Transaction</a:t>
            </a:r>
          </a:p>
          <a:p>
            <a:pPr algn="l"/>
            <a:r>
              <a:rPr sz="1050" b="0" i="0">
                <a:solidFill>
                  <a:srgbClr val="6E655C"/>
                </a:solidFill>
                <a:latin typeface="Calibri"/>
              </a:rPr>
              <a:t>(slides 29-32)</a:t>
            </a:r>
          </a:p>
        </p:txBody>
      </p:sp>
      <p:sp>
        <p:nvSpPr>
          <p:cNvPr id="15" name="Rounded Rectangle 14"/>
          <p:cNvSpPr/>
          <p:nvPr/>
        </p:nvSpPr>
        <p:spPr>
          <a:xfrm>
            <a:off x="2423160" y="3328416"/>
            <a:ext cx="1828800" cy="91440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50" b="1" i="0">
                <a:solidFill>
                  <a:srgbClr val="2B2622"/>
                </a:solidFill>
                <a:latin typeface="Cambria"/>
              </a:rPr>
              <a:t>8. Summary, resources, closing</a:t>
            </a:r>
          </a:p>
          <a:p>
            <a:pPr algn="l"/>
            <a:r>
              <a:rPr sz="1050" b="0" i="0">
                <a:solidFill>
                  <a:srgbClr val="6E655C"/>
                </a:solidFill>
                <a:latin typeface="Calibri"/>
              </a:rPr>
              <a:t>(slides 33-35)</a:t>
            </a:r>
          </a:p>
        </p:txBody>
      </p:sp>
      <p:sp>
        <p:nvSpPr>
          <p:cNvPr id="16" name="Rounded Rectangle 15"/>
          <p:cNvSpPr/>
          <p:nvPr/>
        </p:nvSpPr>
        <p:spPr>
          <a:xfrm>
            <a:off x="6355080" y="1280160"/>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7" name="TextBox 16"/>
          <p:cNvSpPr txBox="1"/>
          <p:nvPr/>
        </p:nvSpPr>
        <p:spPr>
          <a:xfrm>
            <a:off x="6492240" y="1325880"/>
            <a:ext cx="2057400" cy="384048"/>
          </a:xfrm>
          <a:prstGeom prst="rect">
            <a:avLst/>
          </a:prstGeom>
          <a:noFill/>
        </p:spPr>
        <p:txBody>
          <a:bodyPr wrap="square" lIns="0" rIns="0" tIns="0" bIns="0" anchor="ctr">
            <a:spAutoFit/>
          </a:bodyPr>
          <a:lstStyle/>
          <a:p>
            <a:pPr algn="l"/>
            <a:r>
              <a:rPr sz="2200" b="0" i="0">
                <a:solidFill>
                  <a:srgbClr val="D97A14"/>
                </a:solidFill>
                <a:latin typeface="Cambria"/>
              </a:rPr>
              <a:t>35</a:t>
            </a:r>
          </a:p>
        </p:txBody>
      </p:sp>
      <p:sp>
        <p:nvSpPr>
          <p:cNvPr id="18" name="TextBox 17"/>
          <p:cNvSpPr txBox="1"/>
          <p:nvPr/>
        </p:nvSpPr>
        <p:spPr>
          <a:xfrm>
            <a:off x="6492240" y="1737360"/>
            <a:ext cx="2057400" cy="411480"/>
          </a:xfrm>
          <a:prstGeom prst="rect">
            <a:avLst/>
          </a:prstGeom>
          <a:noFill/>
        </p:spPr>
        <p:txBody>
          <a:bodyPr wrap="square" lIns="0" rIns="0" tIns="0" bIns="0" anchor="t">
            <a:spAutoFit/>
          </a:bodyPr>
          <a:lstStyle/>
          <a:p>
            <a:pPr algn="l"/>
            <a:r>
              <a:rPr sz="1050" b="0" i="0">
                <a:solidFill>
                  <a:srgbClr val="6E655C"/>
                </a:solidFill>
                <a:latin typeface="Calibri"/>
              </a:rPr>
              <a:t>slides, numbered bottom-right</a:t>
            </a:r>
          </a:p>
        </p:txBody>
      </p:sp>
      <p:sp>
        <p:nvSpPr>
          <p:cNvPr id="19" name="Rounded Rectangle 18"/>
          <p:cNvSpPr/>
          <p:nvPr/>
        </p:nvSpPr>
        <p:spPr>
          <a:xfrm>
            <a:off x="6355080" y="2304288"/>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20" name="TextBox 19"/>
          <p:cNvSpPr txBox="1"/>
          <p:nvPr/>
        </p:nvSpPr>
        <p:spPr>
          <a:xfrm>
            <a:off x="6492240" y="2350008"/>
            <a:ext cx="2057400" cy="384048"/>
          </a:xfrm>
          <a:prstGeom prst="rect">
            <a:avLst/>
          </a:prstGeom>
          <a:noFill/>
        </p:spPr>
        <p:txBody>
          <a:bodyPr wrap="square" lIns="0" rIns="0" tIns="0" bIns="0" anchor="ctr">
            <a:spAutoFit/>
          </a:bodyPr>
          <a:lstStyle/>
          <a:p>
            <a:pPr algn="l"/>
            <a:r>
              <a:rPr sz="2200" b="0" i="0">
                <a:solidFill>
                  <a:srgbClr val="D97A14"/>
                </a:solidFill>
                <a:latin typeface="Cambria"/>
              </a:rPr>
              <a:t>3</a:t>
            </a:r>
          </a:p>
        </p:txBody>
      </p:sp>
      <p:sp>
        <p:nvSpPr>
          <p:cNvPr id="21" name="TextBox 20"/>
          <p:cNvSpPr txBox="1"/>
          <p:nvPr/>
        </p:nvSpPr>
        <p:spPr>
          <a:xfrm>
            <a:off x="6492240" y="2761488"/>
            <a:ext cx="2057400" cy="411480"/>
          </a:xfrm>
          <a:prstGeom prst="rect">
            <a:avLst/>
          </a:prstGeom>
          <a:noFill/>
        </p:spPr>
        <p:txBody>
          <a:bodyPr wrap="square" lIns="0" rIns="0" tIns="0" bIns="0" anchor="t">
            <a:spAutoFit/>
          </a:bodyPr>
          <a:lstStyle/>
          <a:p>
            <a:pPr algn="l"/>
            <a:r>
              <a:rPr sz="1050" b="0" i="0">
                <a:solidFill>
                  <a:srgbClr val="6E655C"/>
                </a:solidFill>
                <a:latin typeface="Calibri"/>
              </a:rPr>
              <a:t>true stories, each told by 5N1K</a:t>
            </a:r>
          </a:p>
        </p:txBody>
      </p:sp>
      <p:sp>
        <p:nvSpPr>
          <p:cNvPr id="22" name="Rounded Rectangle 21"/>
          <p:cNvSpPr/>
          <p:nvPr/>
        </p:nvSpPr>
        <p:spPr>
          <a:xfrm>
            <a:off x="6355080" y="3328416"/>
            <a:ext cx="2331720" cy="914400"/>
          </a:xfrm>
          <a:prstGeom prst="roundRect">
            <a:avLst>
              <a:gd name="adj" fmla="val 12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23" name="TextBox 22"/>
          <p:cNvSpPr txBox="1"/>
          <p:nvPr/>
        </p:nvSpPr>
        <p:spPr>
          <a:xfrm>
            <a:off x="6492240" y="3374136"/>
            <a:ext cx="2057400" cy="384048"/>
          </a:xfrm>
          <a:prstGeom prst="rect">
            <a:avLst/>
          </a:prstGeom>
          <a:noFill/>
        </p:spPr>
        <p:txBody>
          <a:bodyPr wrap="square" lIns="0" rIns="0" tIns="0" bIns="0" anchor="ctr">
            <a:spAutoFit/>
          </a:bodyPr>
          <a:lstStyle/>
          <a:p>
            <a:pPr algn="l"/>
            <a:r>
              <a:rPr sz="2200" b="0" i="0">
                <a:solidFill>
                  <a:srgbClr val="D97A14"/>
                </a:solidFill>
                <a:latin typeface="Cambria"/>
              </a:rPr>
              <a:t>14</a:t>
            </a:r>
          </a:p>
        </p:txBody>
      </p:sp>
      <p:sp>
        <p:nvSpPr>
          <p:cNvPr id="24" name="TextBox 23"/>
          <p:cNvSpPr txBox="1"/>
          <p:nvPr/>
        </p:nvSpPr>
        <p:spPr>
          <a:xfrm>
            <a:off x="6492240" y="3785616"/>
            <a:ext cx="2057400" cy="411480"/>
          </a:xfrm>
          <a:prstGeom prst="rect">
            <a:avLst/>
          </a:prstGeom>
          <a:noFill/>
        </p:spPr>
        <p:txBody>
          <a:bodyPr wrap="square" lIns="0" rIns="0" tIns="0" bIns="0" anchor="t">
            <a:spAutoFit/>
          </a:bodyPr>
          <a:lstStyle/>
          <a:p>
            <a:pPr algn="l"/>
            <a:r>
              <a:rPr sz="1050" b="0" i="0">
                <a:solidFill>
                  <a:srgbClr val="6E655C"/>
                </a:solidFill>
                <a:latin typeface="Calibri"/>
              </a:rPr>
              <a:t>code examples, each with a picture of its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questions this chapter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Each has an answer on a slide; we return to them in the summary</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 / 35</a:t>
            </a:r>
          </a:p>
        </p:txBody>
      </p:sp>
      <p:sp>
        <p:nvSpPr>
          <p:cNvPr id="6" name="Oval 5"/>
          <p:cNvSpPr/>
          <p:nvPr/>
        </p:nvSpPr>
        <p:spPr>
          <a:xfrm>
            <a:off x="457200" y="128016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1</a:t>
            </a:r>
          </a:p>
        </p:txBody>
      </p:sp>
      <p:sp>
        <p:nvSpPr>
          <p:cNvPr id="7" name="TextBox 6"/>
          <p:cNvSpPr txBox="1"/>
          <p:nvPr/>
        </p:nvSpPr>
        <p:spPr>
          <a:xfrm>
            <a:off x="1024128" y="1280160"/>
            <a:ext cx="7662672" cy="402336"/>
          </a:xfrm>
          <a:prstGeom prst="rect">
            <a:avLst/>
          </a:prstGeom>
          <a:noFill/>
        </p:spPr>
        <p:txBody>
          <a:bodyPr wrap="square" lIns="0" rIns="0" tIns="0" bIns="0" anchor="ctr">
            <a:spAutoFit/>
          </a:bodyPr>
          <a:lstStyle/>
          <a:p>
            <a:pPr algn="l"/>
            <a:r>
              <a:rPr sz="1300" b="0" i="0">
                <a:solidFill>
                  <a:srgbClr val="2B2622"/>
                </a:solidFill>
                <a:latin typeface="Calibri"/>
              </a:rPr>
              <a:t>What do Alice's payment and Bob's invoice contain?</a:t>
            </a:r>
          </a:p>
        </p:txBody>
      </p:sp>
      <p:sp>
        <p:nvSpPr>
          <p:cNvPr id="8" name="Oval 7"/>
          <p:cNvSpPr/>
          <p:nvPr/>
        </p:nvSpPr>
        <p:spPr>
          <a:xfrm>
            <a:off x="457200" y="1810512"/>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2</a:t>
            </a:r>
          </a:p>
        </p:txBody>
      </p:sp>
      <p:sp>
        <p:nvSpPr>
          <p:cNvPr id="9" name="TextBox 8"/>
          <p:cNvSpPr txBox="1"/>
          <p:nvPr/>
        </p:nvSpPr>
        <p:spPr>
          <a:xfrm>
            <a:off x="1024128" y="1810512"/>
            <a:ext cx="7662672" cy="402336"/>
          </a:xfrm>
          <a:prstGeom prst="rect">
            <a:avLst/>
          </a:prstGeom>
          <a:noFill/>
        </p:spPr>
        <p:txBody>
          <a:bodyPr wrap="square" lIns="0" rIns="0" tIns="0" bIns="0" anchor="ctr">
            <a:spAutoFit/>
          </a:bodyPr>
          <a:lstStyle/>
          <a:p>
            <a:pPr algn="l"/>
            <a:r>
              <a:rPr sz="1300" b="0" i="0">
                <a:solidFill>
                  <a:srgbClr val="2B2622"/>
                </a:solidFill>
                <a:latin typeface="Calibri"/>
              </a:rPr>
              <a:t>Why must inputs equal outputs plus a fee, and where does change come from?</a:t>
            </a:r>
          </a:p>
        </p:txBody>
      </p:sp>
      <p:sp>
        <p:nvSpPr>
          <p:cNvPr id="10" name="Oval 9"/>
          <p:cNvSpPr/>
          <p:nvPr/>
        </p:nvSpPr>
        <p:spPr>
          <a:xfrm>
            <a:off x="457200" y="2340863"/>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3</a:t>
            </a:r>
          </a:p>
        </p:txBody>
      </p:sp>
      <p:sp>
        <p:nvSpPr>
          <p:cNvPr id="11" name="TextBox 10"/>
          <p:cNvSpPr txBox="1"/>
          <p:nvPr/>
        </p:nvSpPr>
        <p:spPr>
          <a:xfrm>
            <a:off x="1024128" y="2340863"/>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does a wallet choose coins and build the outputs?</a:t>
            </a:r>
          </a:p>
        </p:txBody>
      </p:sp>
      <p:sp>
        <p:nvSpPr>
          <p:cNvPr id="12" name="Oval 11"/>
          <p:cNvSpPr/>
          <p:nvPr/>
        </p:nvSpPr>
        <p:spPr>
          <a:xfrm>
            <a:off x="457200" y="2871215"/>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4</a:t>
            </a:r>
          </a:p>
        </p:txBody>
      </p:sp>
      <p:sp>
        <p:nvSpPr>
          <p:cNvPr id="13" name="TextBox 12"/>
          <p:cNvSpPr txBox="1"/>
          <p:nvPr/>
        </p:nvSpPr>
        <p:spPr>
          <a:xfrm>
            <a:off x="1024128" y="2871215"/>
            <a:ext cx="7662672" cy="402336"/>
          </a:xfrm>
          <a:prstGeom prst="rect">
            <a:avLst/>
          </a:prstGeom>
          <a:noFill/>
        </p:spPr>
        <p:txBody>
          <a:bodyPr wrap="square" lIns="0" rIns="0" tIns="0" bIns="0" anchor="ctr">
            <a:spAutoFit/>
          </a:bodyPr>
          <a:lstStyle/>
          <a:p>
            <a:pPr algn="l"/>
            <a:r>
              <a:rPr sz="1300" b="0" i="0">
                <a:solidFill>
                  <a:srgbClr val="2B2622"/>
                </a:solidFill>
                <a:latin typeface="Calibri"/>
              </a:rPr>
              <a:t>How does a payment travel to a miner and into a block?</a:t>
            </a:r>
          </a:p>
        </p:txBody>
      </p:sp>
      <p:sp>
        <p:nvSpPr>
          <p:cNvPr id="14" name="Oval 13"/>
          <p:cNvSpPr/>
          <p:nvPr/>
        </p:nvSpPr>
        <p:spPr>
          <a:xfrm>
            <a:off x="457200" y="3401568"/>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5</a:t>
            </a:r>
          </a:p>
        </p:txBody>
      </p:sp>
      <p:sp>
        <p:nvSpPr>
          <p:cNvPr id="15" name="TextBox 14"/>
          <p:cNvSpPr txBox="1"/>
          <p:nvPr/>
        </p:nvSpPr>
        <p:spPr>
          <a:xfrm>
            <a:off x="1024128" y="3401568"/>
            <a:ext cx="7662672" cy="402336"/>
          </a:xfrm>
          <a:prstGeom prst="rect">
            <a:avLst/>
          </a:prstGeom>
          <a:noFill/>
        </p:spPr>
        <p:txBody>
          <a:bodyPr wrap="square" lIns="0" rIns="0" tIns="0" bIns="0" anchor="ctr">
            <a:spAutoFit/>
          </a:bodyPr>
          <a:lstStyle/>
          <a:p>
            <a:pPr algn="l"/>
            <a:r>
              <a:rPr sz="1300" b="0" i="0">
                <a:solidFill>
                  <a:srgbClr val="2B2622"/>
                </a:solidFill>
                <a:latin typeface="Calibri"/>
              </a:rPr>
              <a:t>What makes a payment harder to reverse with each confirmation?</a:t>
            </a:r>
          </a:p>
        </p:txBody>
      </p:sp>
      <p:sp>
        <p:nvSpPr>
          <p:cNvPr id="16" name="Oval 15"/>
          <p:cNvSpPr/>
          <p:nvPr/>
        </p:nvSpPr>
        <p:spPr>
          <a:xfrm>
            <a:off x="457200" y="3931920"/>
            <a:ext cx="402336" cy="402336"/>
          </a:xfrm>
          <a:prstGeom prst="ellipse">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FFFFFF"/>
                </a:solidFill>
                <a:latin typeface="Cambria"/>
              </a:rPr>
              <a:t>6</a:t>
            </a:r>
          </a:p>
        </p:txBody>
      </p:sp>
      <p:sp>
        <p:nvSpPr>
          <p:cNvPr id="17" name="TextBox 16"/>
          <p:cNvSpPr txBox="1"/>
          <p:nvPr/>
        </p:nvSpPr>
        <p:spPr>
          <a:xfrm>
            <a:off x="1024128" y="3931920"/>
            <a:ext cx="7662672" cy="402336"/>
          </a:xfrm>
          <a:prstGeom prst="rect">
            <a:avLst/>
          </a:prstGeom>
          <a:noFill/>
        </p:spPr>
        <p:txBody>
          <a:bodyPr wrap="square" lIns="0" rIns="0" tIns="0" bIns="0" anchor="ctr">
            <a:spAutoFit/>
          </a:bodyPr>
          <a:lstStyle/>
          <a:p>
            <a:pPr algn="l"/>
            <a:r>
              <a:rPr sz="1300" b="0" i="0">
                <a:solidFill>
                  <a:srgbClr val="2B2622"/>
                </a:solidFill>
                <a:latin typeface="Calibri"/>
              </a:rPr>
              <a:t>Which rules does every node check, and what if a block breaks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chapter in one picture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One payment, six steps; the parts of the deck follow them</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Six steps, one payment: from invoice to a spendable coin</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4 / 35</a:t>
            </a:r>
          </a:p>
        </p:txBody>
      </p:sp>
      <p:sp>
        <p:nvSpPr>
          <p:cNvPr id="8" name="Rounded Rectangle 7"/>
          <p:cNvSpPr/>
          <p:nvPr/>
        </p:nvSpPr>
        <p:spPr>
          <a:xfrm>
            <a:off x="457200"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1 Invoice</a:t>
            </a:r>
          </a:p>
        </p:txBody>
      </p:sp>
      <p:sp>
        <p:nvSpPr>
          <p:cNvPr id="9" name="TextBox 8"/>
          <p:cNvSpPr txBox="1"/>
          <p:nvPr/>
        </p:nvSpPr>
        <p:spPr>
          <a:xfrm>
            <a:off x="457200"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Alice learns what to pay.</a:t>
            </a:r>
          </a:p>
        </p:txBody>
      </p:sp>
      <p:cxnSp>
        <p:nvCxnSpPr>
          <p:cNvPr id="10" name="Connector 9"/>
          <p:cNvCxnSpPr/>
          <p:nvPr/>
        </p:nvCxnSpPr>
        <p:spPr>
          <a:xfrm>
            <a:off x="1728216" y="1783080"/>
            <a:ext cx="11338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850745"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2 Transaction</a:t>
            </a:r>
          </a:p>
        </p:txBody>
      </p:sp>
      <p:sp>
        <p:nvSpPr>
          <p:cNvPr id="12" name="TextBox 11"/>
          <p:cNvSpPr txBox="1"/>
          <p:nvPr/>
        </p:nvSpPr>
        <p:spPr>
          <a:xfrm>
            <a:off x="1850745"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Inputs, outputs and a fee.</a:t>
            </a:r>
          </a:p>
        </p:txBody>
      </p:sp>
      <p:cxnSp>
        <p:nvCxnSpPr>
          <p:cNvPr id="13" name="Connector 12"/>
          <p:cNvCxnSpPr/>
          <p:nvPr/>
        </p:nvCxnSpPr>
        <p:spPr>
          <a:xfrm>
            <a:off x="3121761" y="1783080"/>
            <a:ext cx="113386"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44291"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3 Coins</a:t>
            </a:r>
          </a:p>
        </p:txBody>
      </p:sp>
      <p:sp>
        <p:nvSpPr>
          <p:cNvPr id="15" name="TextBox 14"/>
          <p:cNvSpPr txBox="1"/>
          <p:nvPr/>
        </p:nvSpPr>
        <p:spPr>
          <a:xfrm>
            <a:off x="3244291"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Pick them; change returns.</a:t>
            </a:r>
          </a:p>
        </p:txBody>
      </p:sp>
      <p:cxnSp>
        <p:nvCxnSpPr>
          <p:cNvPr id="16" name="Connector 15"/>
          <p:cNvCxnSpPr/>
          <p:nvPr/>
        </p:nvCxnSpPr>
        <p:spPr>
          <a:xfrm>
            <a:off x="4515307" y="1783080"/>
            <a:ext cx="11338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37836"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4 Build</a:t>
            </a:r>
          </a:p>
        </p:txBody>
      </p:sp>
      <p:sp>
        <p:nvSpPr>
          <p:cNvPr id="18" name="TextBox 17"/>
          <p:cNvSpPr txBox="1"/>
          <p:nvPr/>
        </p:nvSpPr>
        <p:spPr>
          <a:xfrm>
            <a:off x="4637836"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Price and sign the payment.</a:t>
            </a:r>
          </a:p>
        </p:txBody>
      </p:sp>
      <p:cxnSp>
        <p:nvCxnSpPr>
          <p:cNvPr id="19" name="Connector 18"/>
          <p:cNvCxnSpPr/>
          <p:nvPr/>
        </p:nvCxnSpPr>
        <p:spPr>
          <a:xfrm>
            <a:off x="5908852" y="1783080"/>
            <a:ext cx="113386"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031382" y="1554480"/>
            <a:ext cx="1261872"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5 Block</a:t>
            </a:r>
          </a:p>
        </p:txBody>
      </p:sp>
      <p:sp>
        <p:nvSpPr>
          <p:cNvPr id="21" name="TextBox 20"/>
          <p:cNvSpPr txBox="1"/>
          <p:nvPr/>
        </p:nvSpPr>
        <p:spPr>
          <a:xfrm>
            <a:off x="6031382"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Miners add it; confirmations grow.</a:t>
            </a:r>
          </a:p>
        </p:txBody>
      </p:sp>
      <p:cxnSp>
        <p:nvCxnSpPr>
          <p:cNvPr id="22" name="Connector 21"/>
          <p:cNvCxnSpPr/>
          <p:nvPr/>
        </p:nvCxnSpPr>
        <p:spPr>
          <a:xfrm>
            <a:off x="7302398" y="1783080"/>
            <a:ext cx="11338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24927" y="1554480"/>
            <a:ext cx="1261872" cy="457200"/>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mbria"/>
              </a:rPr>
              <a:t>6 Spend</a:t>
            </a:r>
          </a:p>
        </p:txBody>
      </p:sp>
      <p:sp>
        <p:nvSpPr>
          <p:cNvPr id="24" name="TextBox 23"/>
          <p:cNvSpPr txBox="1"/>
          <p:nvPr/>
        </p:nvSpPr>
        <p:spPr>
          <a:xfrm>
            <a:off x="7424927" y="2194560"/>
            <a:ext cx="1261872" cy="822960"/>
          </a:xfrm>
          <a:prstGeom prst="rect">
            <a:avLst/>
          </a:prstGeom>
          <a:noFill/>
        </p:spPr>
        <p:txBody>
          <a:bodyPr wrap="square" lIns="0" rIns="0" tIns="0" bIns="0" anchor="t">
            <a:spAutoFit/>
          </a:bodyPr>
          <a:lstStyle/>
          <a:p>
            <a:pPr algn="l"/>
            <a:r>
              <a:rPr sz="1100" b="0" i="0">
                <a:solidFill>
                  <a:srgbClr val="2B2622"/>
                </a:solidFill>
                <a:latin typeface="Calibri"/>
              </a:rPr>
              <a:t>Every node checks the rules.</a:t>
            </a:r>
          </a:p>
        </p:txBody>
      </p:sp>
      <p:sp>
        <p:nvSpPr>
          <p:cNvPr id="25" name="Rounded Rectangle 24"/>
          <p:cNvSpPr/>
          <p:nvPr/>
        </p:nvSpPr>
        <p:spPr>
          <a:xfrm>
            <a:off x="457200" y="3291840"/>
            <a:ext cx="8229600" cy="822960"/>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r>
              <a:rPr sz="1400" b="0" i="0">
                <a:solidFill>
                  <a:srgbClr val="6E655C"/>
                </a:solidFill>
                <a:latin typeface="Calibri"/>
              </a:rPr>
              <a:t>Fourteen code examples run along this path. Each prints its result under the listing and shows it as a picture beside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Buying from an Online Store</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Alice pays Bob's Store: one real payment, followed all the way</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How Bitcoin Works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One payment is followed from the shop's invoice to the blockchain.</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tracking a parcel from the shop to your door.</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Bitcoin Overview</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Users, wallets, nodes and miners share one record that nobody owns.</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town where every shop keeps an identical ledger.</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satoshi</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smallest unit: one hundred-millionth of a bitcoin.</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cent, only a million times smaller.</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341120"/>
                <a:gridCol w="1341120"/>
                <a:gridCol w="1341120"/>
                <a:gridCol w="1341120"/>
                <a:gridCol w="1341120"/>
                <a:gridCol w="1341120"/>
              </a:tblGrid>
              <a:tr h="365760">
                <a:tc>
                  <a:txBody>
                    <a:bodyPr/>
                    <a:lstStyle/>
                    <a:p>
                      <a:pPr algn="ctr"/>
                      <a:r>
                        <a:rPr sz="1000" b="1">
                          <a:solidFill>
                            <a:srgbClr val="FFFFFF"/>
                          </a:solidFill>
                          <a:latin typeface="Calibri"/>
                        </a:rPr>
                        <a:t>Store</a:t>
                      </a:r>
                    </a:p>
                  </a:txBody>
                  <a:tcPr marL="54864" marR="54864" marT="27432" marB="27432" anchor="ctr">
                    <a:solidFill>
                      <a:srgbClr val="D97A14"/>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Coin selection</a:t>
                      </a:r>
                    </a:p>
                  </a:txBody>
                  <a:tcPr marL="54864" marR="54864" marT="27432" marB="27432" anchor="ctr">
                    <a:solidFill>
                      <a:srgbClr val="F2ECE1"/>
                    </a:solidFill>
                  </a:tcPr>
                </a:tc>
                <a:tc>
                  <a:txBody>
                    <a:bodyPr/>
                    <a:lstStyle/>
                    <a:p>
                      <a:pPr algn="ctr"/>
                      <a:r>
                        <a:rPr sz="1000" b="0">
                          <a:solidFill>
                            <a:srgbClr val="6E655C"/>
                          </a:solidFill>
                          <a:latin typeface="Calibri"/>
                        </a:rPr>
                        <a:t>Construction</a:t>
                      </a:r>
                    </a:p>
                  </a:txBody>
                  <a:tcPr marL="54864" marR="54864" marT="27432" marB="27432" anchor="ctr">
                    <a:solidFill>
                      <a:srgbClr val="F2ECE1"/>
                    </a:solidFill>
                  </a:tcPr>
                </a:tc>
                <a:tc>
                  <a:txBody>
                    <a:bodyPr/>
                    <a:lstStyle/>
                    <a:p>
                      <a:pPr algn="ctr"/>
                      <a:r>
                        <a:rPr sz="1000" b="0">
                          <a:solidFill>
                            <a:srgbClr val="6E655C"/>
                          </a:solidFill>
                          <a:latin typeface="Calibri"/>
                        </a:rPr>
                        <a:t>Blockchain</a:t>
                      </a:r>
                    </a:p>
                  </a:txBody>
                  <a:tcPr marL="54864" marR="54864" marT="27432" marB="27432" anchor="ctr">
                    <a:solidFill>
                      <a:srgbClr val="F2ECE1"/>
                    </a:solidFill>
                  </a:tcPr>
                </a:tc>
                <a:tc>
                  <a:txBody>
                    <a:bodyPr/>
                    <a:lstStyle/>
                    <a:p>
                      <a:pPr algn="ctr"/>
                      <a:r>
                        <a:rPr sz="1000" b="0">
                          <a:solidFill>
                            <a:srgbClr val="6E655C"/>
                          </a:solidFill>
                          <a:latin typeface="Calibri"/>
                        </a:rPr>
                        <a:t>Spending</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5 /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Four roles, one network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Who does what when Alice pays Bob</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No single owner: wallets sign, nodes check, miners bundle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6 / 35</a:t>
            </a:r>
          </a:p>
        </p:txBody>
      </p:sp>
      <p:pic>
        <p:nvPicPr>
          <p:cNvPr id="8" name="Picture 7" descr="Diagram of users, wallets, nodes and miners passing payments and blocks"/>
          <p:cNvPicPr>
            <a:picLocks noChangeAspect="1"/>
          </p:cNvPicPr>
          <p:nvPr/>
        </p:nvPicPr>
        <p:blipFill>
          <a:blip r:embed="rId3"/>
          <a:stretch>
            <a:fillRect/>
          </a:stretch>
        </p:blipFill>
        <p:spPr>
          <a:xfrm>
            <a:off x="459086" y="1280160"/>
            <a:ext cx="4202466" cy="2551176"/>
          </a:xfrm>
          <a:prstGeom prst="rect">
            <a:avLst/>
          </a:prstGeom>
        </p:spPr>
      </p:pic>
      <p:sp>
        <p:nvSpPr>
          <p:cNvPr id="9" name="TextBox 8"/>
          <p:cNvSpPr txBox="1"/>
          <p:nvPr/>
        </p:nvSpPr>
        <p:spPr>
          <a:xfrm>
            <a:off x="457200" y="3931920"/>
            <a:ext cx="4206240" cy="365760"/>
          </a:xfrm>
          <a:prstGeom prst="rect">
            <a:avLst/>
          </a:prstGeom>
          <a:noFill/>
        </p:spPr>
        <p:txBody>
          <a:bodyPr wrap="square" lIns="0" rIns="0" tIns="0" bIns="0" anchor="t">
            <a:spAutoFit/>
          </a:bodyPr>
          <a:lstStyle/>
          <a:p>
            <a:pPr algn="l"/>
            <a:r>
              <a:rPr sz="900" b="0" i="0">
                <a:solidFill>
                  <a:srgbClr val="6E655C"/>
                </a:solidFill>
                <a:latin typeface="Calibri"/>
              </a:rPr>
              <a:t>Users, wallets, nodes and miners - from the course's 2025 deck</a:t>
            </a:r>
          </a:p>
        </p:txBody>
      </p:sp>
      <p:sp>
        <p:nvSpPr>
          <p:cNvPr id="10" name="Rounded Rectangle 9"/>
          <p:cNvSpPr/>
          <p:nvPr/>
        </p:nvSpPr>
        <p:spPr>
          <a:xfrm>
            <a:off x="4937760" y="1280160"/>
            <a:ext cx="3749039"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Users and wallets</a:t>
            </a:r>
          </a:p>
          <a:p>
            <a:pPr algn="l"/>
            <a:r>
              <a:rPr sz="1100" b="0" i="0">
                <a:solidFill>
                  <a:srgbClr val="2B2622"/>
                </a:solidFill>
                <a:latin typeface="Calibri"/>
              </a:rPr>
              <a:t>A wallet holds keys and signs payments for its user.</a:t>
            </a:r>
          </a:p>
        </p:txBody>
      </p:sp>
      <p:sp>
        <p:nvSpPr>
          <p:cNvPr id="11" name="Rounded Rectangle 10"/>
          <p:cNvSpPr/>
          <p:nvPr/>
        </p:nvSpPr>
        <p:spPr>
          <a:xfrm>
            <a:off x="4937760" y="2066543"/>
            <a:ext cx="3749039"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Nodes</a:t>
            </a:r>
          </a:p>
          <a:p>
            <a:pPr algn="l"/>
            <a:r>
              <a:rPr sz="1100" b="0" i="0">
                <a:solidFill>
                  <a:srgbClr val="2B2622"/>
                </a:solidFill>
                <a:latin typeface="Calibri"/>
              </a:rPr>
              <a:t>Check every rule and pass valid transactions on.</a:t>
            </a:r>
          </a:p>
        </p:txBody>
      </p:sp>
      <p:sp>
        <p:nvSpPr>
          <p:cNvPr id="12" name="Rounded Rectangle 11"/>
          <p:cNvSpPr/>
          <p:nvPr/>
        </p:nvSpPr>
        <p:spPr>
          <a:xfrm>
            <a:off x="4937760" y="2852928"/>
            <a:ext cx="3749039"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Miners</a:t>
            </a:r>
          </a:p>
          <a:p>
            <a:pPr algn="l"/>
            <a:r>
              <a:rPr sz="1100" b="0" i="0">
                <a:solidFill>
                  <a:srgbClr val="2B2622"/>
                </a:solidFill>
                <a:latin typeface="Calibri"/>
              </a:rPr>
              <a:t>Bundle waiting transactions into the next block.</a:t>
            </a:r>
          </a:p>
        </p:txBody>
      </p:sp>
      <p:sp>
        <p:nvSpPr>
          <p:cNvPr id="13" name="Rounded Rectangle 12"/>
          <p:cNvSpPr/>
          <p:nvPr/>
        </p:nvSpPr>
        <p:spPr>
          <a:xfrm>
            <a:off x="4937760" y="3639312"/>
            <a:ext cx="3749039"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The blockchain</a:t>
            </a:r>
          </a:p>
          <a:p>
            <a:pPr algn="l"/>
            <a:r>
              <a:rPr sz="1100" b="0" i="0">
                <a:solidFill>
                  <a:srgbClr val="2B2622"/>
                </a:solidFill>
                <a:latin typeface="Calibri"/>
              </a:rPr>
              <a:t>The shared record of blocks that every node keeps.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Five free bitcoins for every visitor</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11 June 2010 · how a first coin reached its owner</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7 / 35</a:t>
            </a:r>
          </a:p>
        </p:txBody>
      </p:sp>
      <p:pic>
        <p:nvPicPr>
          <p:cNvPr id="6" name="Picture 5" descr="Gavin Andresen speaking at Web Summit 2014"/>
          <p:cNvPicPr>
            <a:picLocks noChangeAspect="1"/>
          </p:cNvPicPr>
          <p:nvPr/>
        </p:nvPicPr>
        <p:blipFill>
          <a:blip r:embed="rId3"/>
          <a:srcRect t="9126" b="36505"/>
          <a:stretch>
            <a:fillRect/>
          </a:stretch>
        </p:blipFill>
        <p:spPr>
          <a:xfrm>
            <a:off x="457200" y="1234440"/>
            <a:ext cx="274320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Gavin Andresen, Web Summit 2014 - Stephen McCarthy, CC BY 2.0, Wikimedia Commons</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Gavin Andresen, a software developer who later led the Bitcoin software after Satoshi Nakamoto left.</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A website that gave five bitcoins to every visitor who solved a CAPTCHA.</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2010-06-11</a:t>
            </a:r>
            <a:r>
              <a:rPr sz="1050" b="0" i="0">
                <a:solidFill>
                  <a:srgbClr val="2B2622"/>
                </a:solidFill>
                <a:latin typeface="Calibri"/>
              </a:rPr>
              <a:t> (11 June 2010)</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A website announced on the bitcointalk forum; Andresen worked from Massachusetts.</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Almost nowhere sold bitcoin in 2010, so he gave coins away to seed the first users.</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He stocked the site with 1,100 of his own bitcoins and paid five to each request.</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Get 5 free bitcoins (bitcointalk thread)</a:t>
            </a:r>
            <a:r>
              <a:rPr sz="1050" b="0" i="0">
                <a:solidFill>
                  <a:srgbClr val="6E655C"/>
                </a:solidFill>
                <a:latin typeface="Calibri"/>
              </a:rPr>
              <a:t> - bitcointalk.org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Satoshis are whole numbers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Converting the invoice amount without decimals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Inside the network every amount is a whole number of satoshis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8 / 35</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btc = </a:t>
            </a:r>
            <a:r>
              <a:rPr sz="1000" b="0" i="0">
                <a:solidFill>
                  <a:srgbClr val="9ECBFF"/>
                </a:solidFill>
                <a:latin typeface="Courier New"/>
              </a:rPr>
              <a:t>'0.01577764'</a:t>
            </a:r>
          </a:p>
        </p:txBody>
      </p:sp>
      <p:sp>
        <p:nvSpPr>
          <p:cNvPr id="11" name="TextBox 10"/>
          <p:cNvSpPr txBox="1"/>
          <p:nvPr/>
        </p:nvSpPr>
        <p:spPr>
          <a:xfrm>
            <a:off x="603504" y="209397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sats = T.to_sats(btc)</a:t>
            </a:r>
          </a:p>
          <a:p>
            <a:pPr algn="l"/>
            <a:r>
              <a:rPr sz="1000" b="1" i="0">
                <a:solidFill>
                  <a:srgbClr val="F2A860"/>
                </a:solidFill>
                <a:latin typeface="Courier New"/>
              </a:rPr>
              <a:t>&gt;&gt;&gt; </a:t>
            </a:r>
            <a:r>
              <a:rPr sz="1000" b="0" i="0">
                <a:solidFill>
                  <a:srgbClr val="E6EDF3"/>
                </a:solidFill>
                <a:latin typeface="Courier New"/>
              </a:rPr>
              <a:t>back = T.to_btc(sats)</a:t>
            </a:r>
          </a:p>
          <a:p>
            <a:pPr algn="l"/>
            <a:r>
              <a:rPr sz="1000" b="1" i="0">
                <a:solidFill>
                  <a:srgbClr val="F2A860"/>
                </a:solidFill>
                <a:latin typeface="Courier New"/>
              </a:rPr>
              <a:t>&gt;&gt;&gt; </a:t>
            </a:r>
            <a:r>
              <a:rPr sz="1000" b="0" i="0">
                <a:solidFill>
                  <a:srgbClr val="E6EDF3"/>
                </a:solidFill>
                <a:latin typeface="Courier New"/>
              </a:rPr>
              <a:t>(sats, back)</a:t>
            </a:r>
          </a:p>
          <a:p>
            <a:pPr algn="l"/>
            <a:r>
              <a:rPr sz="1000" b="0" i="0">
                <a:solidFill>
                  <a:srgbClr val="7EE787"/>
                </a:solidFill>
                <a:latin typeface="Courier New"/>
              </a:rPr>
              <a:t>(1577764, '0.01577764')</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invoice amount, written the way people write it.</a:t>
            </a:r>
          </a:p>
        </p:txBody>
      </p:sp>
      <p:sp>
        <p:nvSpPr>
          <p:cNvPr id="13" name="TextBox 12"/>
          <p:cNvSpPr txBox="1"/>
          <p:nvPr/>
        </p:nvSpPr>
        <p:spPr>
          <a:xfrm>
            <a:off x="457200" y="2868168"/>
            <a:ext cx="5212080" cy="204216"/>
          </a:xfrm>
          <a:prstGeom prst="rect">
            <a:avLst/>
          </a:prstGeom>
          <a:noFill/>
        </p:spPr>
        <p:txBody>
          <a:bodyPr wrap="square" lIns="0" rIns="0" tIns="0" bIns="0" anchor="t">
            <a:spAutoFit/>
          </a:bodyPr>
          <a:lstStyle/>
          <a:p>
            <a:pPr algn="l"/>
            <a:r>
              <a:rPr sz="1100" b="0" i="0">
                <a:solidFill>
                  <a:srgbClr val="2B2622"/>
                </a:solidFill>
                <a:latin typeface="Calibri"/>
              </a:rPr>
              <a:t>Whole numbers in, whole satoshis out, and the same text comes back.</a:t>
            </a:r>
          </a:p>
        </p:txBody>
      </p:sp>
      <p:sp>
        <p:nvSpPr>
          <p:cNvPr id="14" name="TextBox 13"/>
          <p:cNvSpPr txBox="1"/>
          <p:nvPr/>
        </p:nvSpPr>
        <p:spPr>
          <a:xfrm>
            <a:off x="457200" y="31455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pic>
        <p:nvPicPr>
          <p:cNvPr id="15" name="Picture 14" descr="Table of satoshis and bitcoin from one satoshi to one bitcoin"/>
          <p:cNvPicPr>
            <a:picLocks noChangeAspect="1"/>
          </p:cNvPicPr>
          <p:nvPr/>
        </p:nvPicPr>
        <p:blipFill>
          <a:blip r:embed="rId3"/>
          <a:stretch>
            <a:fillRect/>
          </a:stretch>
        </p:blipFill>
        <p:spPr>
          <a:xfrm>
            <a:off x="459956" y="3429000"/>
            <a:ext cx="1640406" cy="1088136"/>
          </a:xfrm>
          <a:prstGeom prst="rect">
            <a:avLst/>
          </a:prstGeom>
        </p:spPr>
      </p:pic>
      <p:sp>
        <p:nvSpPr>
          <p:cNvPr id="16" name="TextBox 15"/>
          <p:cNvSpPr txBox="1"/>
          <p:nvPr/>
        </p:nvSpPr>
        <p:spPr>
          <a:xfrm>
            <a:off x="2240280" y="3611880"/>
            <a:ext cx="3429000" cy="457200"/>
          </a:xfrm>
          <a:prstGeom prst="rect">
            <a:avLst/>
          </a:prstGeom>
          <a:noFill/>
        </p:spPr>
        <p:txBody>
          <a:bodyPr wrap="square" lIns="0" rIns="0" tIns="0" bIns="0" anchor="t">
            <a:spAutoFit/>
          </a:bodyPr>
          <a:lstStyle/>
          <a:p>
            <a:pPr algn="l"/>
            <a:r>
              <a:rPr sz="900" b="0" i="0">
                <a:solidFill>
                  <a:srgbClr val="6E655C"/>
                </a:solidFill>
                <a:latin typeface="Calibri"/>
              </a:rPr>
              <a:t>The satoshi table of the course's 2025 deck: from one satoshi to one bitcoin</a:t>
            </a:r>
          </a:p>
        </p:txBody>
      </p:sp>
      <p:sp>
        <p:nvSpPr>
          <p:cNvPr id="17" name="TextBox 16"/>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one amount, written two ways</a:t>
            </a:r>
          </a:p>
        </p:txBody>
      </p:sp>
      <p:graphicFrame>
        <p:nvGraphicFramePr>
          <p:cNvPr id="18" name="Table 17"/>
          <p:cNvGraphicFramePr>
            <a:graphicFrameLocks noGrp="1"/>
          </p:cNvGraphicFramePr>
          <p:nvPr/>
        </p:nvGraphicFramePr>
        <p:xfrm>
          <a:off x="5852160" y="1691640"/>
          <a:ext cx="2834640" cy="1243584"/>
        </p:xfrm>
        <a:graphic>
          <a:graphicData uri="http://schemas.openxmlformats.org/drawingml/2006/table">
            <a:tbl>
              <a:tblPr firstRow="1" bandRow="1">
                <a:tableStyleId>{5C22544A-7EE6-4342-B048-85BDC9FD1C3A}</a:tableStyleId>
              </a:tblPr>
              <a:tblGrid>
                <a:gridCol w="1417320"/>
                <a:gridCol w="1417320"/>
              </a:tblGrid>
              <a:tr h="310896">
                <a:tc>
                  <a:txBody>
                    <a:bodyPr/>
                    <a:lstStyle/>
                    <a:p>
                      <a:pPr algn="l"/>
                      <a:r>
                        <a:rPr sz="1000" b="1">
                          <a:solidFill>
                            <a:srgbClr val="FFFFFF"/>
                          </a:solidFill>
                          <a:latin typeface="Calibri"/>
                        </a:rPr>
                        <a:t>Written as</a:t>
                      </a:r>
                    </a:p>
                  </a:txBody>
                  <a:tcPr marL="54864" marR="54864" marT="27432" marB="27432" anchor="ctr">
                    <a:solidFill>
                      <a:srgbClr val="2F6D62"/>
                    </a:solidFill>
                  </a:tcPr>
                </a:tc>
                <a:tc>
                  <a:txBody>
                    <a:bodyPr/>
                    <a:lstStyle/>
                    <a:p>
                      <a:pPr algn="l"/>
                      <a:r>
                        <a:rPr sz="1000" b="1">
                          <a:solidFill>
                            <a:srgbClr val="FFFFFF"/>
                          </a:solidFill>
                          <a:latin typeface="Calibri"/>
                        </a:rPr>
                        <a:t>Whole satoshis</a:t>
                      </a:r>
                    </a:p>
                  </a:txBody>
                  <a:tcPr marL="54864" marR="54864" marT="27432" marB="27432" anchor="ctr">
                    <a:solidFill>
                      <a:srgbClr val="2F6D62"/>
                    </a:solidFill>
                  </a:tcPr>
                </a:tc>
              </a:tr>
              <a:tr h="310896">
                <a:tc>
                  <a:txBody>
                    <a:bodyPr/>
                    <a:lstStyle/>
                    <a:p>
                      <a:pPr algn="l"/>
                      <a:r>
                        <a:rPr sz="1000" b="0">
                          <a:solidFill>
                            <a:srgbClr val="2B2622"/>
                          </a:solidFill>
                          <a:latin typeface="Calibri"/>
                        </a:rPr>
                        <a:t>1 bitcoin</a:t>
                      </a:r>
                    </a:p>
                  </a:txBody>
                  <a:tcPr marL="54864" marR="54864" marT="27432" marB="27432" anchor="ctr">
                    <a:solidFill>
                      <a:srgbClr val="FFFFFF"/>
                    </a:solidFill>
                  </a:tcPr>
                </a:tc>
                <a:tc>
                  <a:txBody>
                    <a:bodyPr/>
                    <a:lstStyle/>
                    <a:p>
                      <a:pPr algn="l"/>
                      <a:r>
                        <a:rPr sz="1000" b="0">
                          <a:solidFill>
                            <a:srgbClr val="2B2622"/>
                          </a:solidFill>
                          <a:latin typeface="Calibri"/>
                        </a:rPr>
                        <a:t>100,000,000</a:t>
                      </a:r>
                    </a:p>
                  </a:txBody>
                  <a:tcPr marL="54864" marR="54864" marT="27432" marB="27432" anchor="ctr">
                    <a:solidFill>
                      <a:srgbClr val="FFFFFF"/>
                    </a:solidFill>
                  </a:tcPr>
                </a:tc>
              </a:tr>
              <a:tr h="310896">
                <a:tc>
                  <a:txBody>
                    <a:bodyPr/>
                    <a:lstStyle/>
                    <a:p>
                      <a:pPr algn="l"/>
                      <a:r>
                        <a:rPr sz="1000" b="0">
                          <a:solidFill>
                            <a:srgbClr val="2B2622"/>
                          </a:solidFill>
                          <a:latin typeface="Calibri"/>
                        </a:rPr>
                        <a:t>0.01577764</a:t>
                      </a:r>
                    </a:p>
                  </a:txBody>
                  <a:tcPr marL="54864" marR="54864" marT="27432" marB="27432" anchor="ctr">
                    <a:solidFill>
                      <a:srgbClr val="F2ECE1"/>
                    </a:solidFill>
                  </a:tcPr>
                </a:tc>
                <a:tc>
                  <a:txBody>
                    <a:bodyPr/>
                    <a:lstStyle/>
                    <a:p>
                      <a:pPr algn="l"/>
                      <a:r>
                        <a:rPr sz="1000" b="0">
                          <a:solidFill>
                            <a:srgbClr val="2B2622"/>
                          </a:solidFill>
                          <a:latin typeface="Calibri"/>
                        </a:rPr>
                        <a:t>1,577,764</a:t>
                      </a:r>
                    </a:p>
                  </a:txBody>
                  <a:tcPr marL="54864" marR="54864" marT="27432" marB="27432" anchor="ctr">
                    <a:solidFill>
                      <a:srgbClr val="F2ECE1"/>
                    </a:solidFill>
                  </a:tcPr>
                </a:tc>
              </a:tr>
              <a:tr h="310896">
                <a:tc>
                  <a:txBody>
                    <a:bodyPr/>
                    <a:lstStyle/>
                    <a:p>
                      <a:pPr algn="l"/>
                      <a:r>
                        <a:rPr sz="1000" b="0">
                          <a:solidFill>
                            <a:srgbClr val="2B2622"/>
                          </a:solidFill>
                          <a:latin typeface="Calibri"/>
                        </a:rPr>
                        <a:t>0.00075</a:t>
                      </a:r>
                    </a:p>
                  </a:txBody>
                  <a:tcPr marL="54864" marR="54864" marT="27432" marB="27432" anchor="ctr">
                    <a:solidFill>
                      <a:srgbClr val="FFFFFF"/>
                    </a:solidFill>
                  </a:tcPr>
                </a:tc>
                <a:tc>
                  <a:txBody>
                    <a:bodyPr/>
                    <a:lstStyle/>
                    <a:p>
                      <a:pPr algn="l"/>
                      <a:r>
                        <a:rPr sz="1000" b="0">
                          <a:solidFill>
                            <a:srgbClr val="2B2622"/>
                          </a:solidFill>
                          <a:latin typeface="Calibri"/>
                        </a:rPr>
                        <a:t>75,000</a:t>
                      </a:r>
                    </a:p>
                  </a:txBody>
                  <a:tcPr marL="54864" marR="54864" marT="27432" marB="27432" anchor="ctr">
                    <a:solidFill>
                      <a:srgbClr val="FFFFFF"/>
                    </a:solidFill>
                  </a:tcPr>
                </a:tc>
              </a:tr>
            </a:tbl>
          </a:graphicData>
        </a:graphic>
      </p:graphicFrame>
      <p:sp>
        <p:nvSpPr>
          <p:cNvPr id="19" name="TextBox 18"/>
          <p:cNvSpPr txBox="1"/>
          <p:nvPr/>
        </p:nvSpPr>
        <p:spPr>
          <a:xfrm>
            <a:off x="5852160" y="3044952"/>
            <a:ext cx="2834640" cy="640080"/>
          </a:xfrm>
          <a:prstGeom prst="rect">
            <a:avLst/>
          </a:prstGeom>
          <a:noFill/>
        </p:spPr>
        <p:txBody>
          <a:bodyPr wrap="square" lIns="0" rIns="0" tIns="0" bIns="0" anchor="t">
            <a:spAutoFit/>
          </a:bodyPr>
          <a:lstStyle/>
          <a:p>
            <a:pPr algn="l"/>
            <a:r>
              <a:rPr sz="1100" b="0" i="0">
                <a:solidFill>
                  <a:srgbClr val="2B2622"/>
                </a:solidFill>
                <a:latin typeface="Calibri"/>
              </a:rPr>
              <a:t>No decimals are needed inside Bitcoin; the amount is a whole number of satoshis.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Reading Bob's invoice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payment link is a small, readable address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One link carries the address, the amount and the label</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9 / 35</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u = urllib.parse.urlsplit(T.INVOICE)</a:t>
            </a:r>
          </a:p>
          <a:p>
            <a:pPr algn="l"/>
            <a:r>
              <a:rPr sz="1000" b="1" i="0">
                <a:solidFill>
                  <a:srgbClr val="F2A860"/>
                </a:solidFill>
                <a:latin typeface="Courier New"/>
              </a:rPr>
              <a:t>&gt;&gt;&gt; </a:t>
            </a:r>
            <a:r>
              <a:rPr sz="1000" b="0" i="0">
                <a:solidFill>
                  <a:srgbClr val="E6EDF3"/>
                </a:solidFill>
                <a:latin typeface="Courier New"/>
              </a:rPr>
              <a:t>q = urllib.parse.parse_qs(u.query)</a:t>
            </a:r>
          </a:p>
        </p:txBody>
      </p:sp>
      <p:sp>
        <p:nvSpPr>
          <p:cNvPr id="11" name="TextBox 10"/>
          <p:cNvSpPr txBox="1"/>
          <p:nvPr/>
        </p:nvSpPr>
        <p:spPr>
          <a:xfrm>
            <a:off x="603504" y="224637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[u.scheme, q[</a:t>
            </a:r>
            <a:r>
              <a:rPr sz="1000" b="0" i="0">
                <a:solidFill>
                  <a:srgbClr val="9ECBFF"/>
                </a:solidFill>
                <a:latin typeface="Courier New"/>
              </a:rPr>
              <a:t>'amount'</a:t>
            </a:r>
            <a:r>
              <a:rPr sz="1000" b="0" i="0">
                <a:solidFill>
                  <a:srgbClr val="E6EDF3"/>
                </a:solidFill>
                <a:latin typeface="Courier New"/>
              </a:rPr>
              <a:t>][</a:t>
            </a:r>
            <a:r>
              <a:rPr sz="1000" b="0" i="0">
                <a:solidFill>
                  <a:srgbClr val="FFD28A"/>
                </a:solidFill>
                <a:latin typeface="Courier New"/>
              </a:rPr>
              <a:t>0</a:t>
            </a:r>
            <a:r>
              <a:rPr sz="1000" b="0" i="0">
                <a:solidFill>
                  <a:srgbClr val="E6EDF3"/>
                </a:solidFill>
                <a:latin typeface="Courier New"/>
              </a:rPr>
              <a:t>], q[</a:t>
            </a:r>
            <a:r>
              <a:rPr sz="1000" b="0" i="0">
                <a:solidFill>
                  <a:srgbClr val="9ECBFF"/>
                </a:solidFill>
                <a:latin typeface="Courier New"/>
              </a:rPr>
              <a:t>'label'</a:t>
            </a:r>
            <a:r>
              <a:rPr sz="1000" b="0" i="0">
                <a:solidFill>
                  <a:srgbClr val="E6EDF3"/>
                </a:solidFill>
                <a:latin typeface="Courier New"/>
              </a:rPr>
              <a:t>][</a:t>
            </a:r>
            <a:r>
              <a:rPr sz="1000" b="0" i="0">
                <a:solidFill>
                  <a:srgbClr val="FFD28A"/>
                </a:solidFill>
                <a:latin typeface="Courier New"/>
              </a:rPr>
              <a:t>0</a:t>
            </a:r>
            <a:r>
              <a:rPr sz="1000" b="0" i="0">
                <a:solidFill>
                  <a:srgbClr val="E6EDF3"/>
                </a:solidFill>
                <a:latin typeface="Courier New"/>
              </a:rPr>
              <a:t>]]</a:t>
            </a:r>
          </a:p>
          <a:p>
            <a:pPr algn="l"/>
            <a:r>
              <a:rPr sz="1000" b="0" i="0">
                <a:solidFill>
                  <a:srgbClr val="7EE787"/>
                </a:solidFill>
                <a:latin typeface="Courier New"/>
              </a:rPr>
              <a:t>['bitcoin', '0.01577764', "Bob's Store"]</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Split the link into the part before the question mark and the query.</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scheme tells a wallet to open; the query holds the amount and the label.</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parts of the invoice link</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822960"/>
                <a:gridCol w="2011680"/>
              </a:tblGrid>
              <a:tr h="310896">
                <a:tc>
                  <a:txBody>
                    <a:bodyPr/>
                    <a:lstStyle/>
                    <a:p>
                      <a:pPr algn="l"/>
                      <a:r>
                        <a:rPr sz="1000" b="1">
                          <a:solidFill>
                            <a:srgbClr val="FFFFFF"/>
                          </a:solidFill>
                          <a:latin typeface="Calibri"/>
                        </a:rPr>
                        <a:t>Part</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310896">
                <a:tc>
                  <a:txBody>
                    <a:bodyPr/>
                    <a:lstStyle/>
                    <a:p>
                      <a:pPr algn="l"/>
                      <a:r>
                        <a:rPr sz="1000" b="0">
                          <a:solidFill>
                            <a:srgbClr val="2B2622"/>
                          </a:solidFill>
                          <a:latin typeface="Calibri"/>
                        </a:rPr>
                        <a:t>scheme</a:t>
                      </a:r>
                    </a:p>
                  </a:txBody>
                  <a:tcPr marL="54864" marR="54864" marT="27432" marB="27432" anchor="ctr">
                    <a:solidFill>
                      <a:srgbClr val="FFFFFF"/>
                    </a:solidFill>
                  </a:tcPr>
                </a:tc>
                <a:tc>
                  <a:txBody>
                    <a:bodyPr/>
                    <a:lstStyle/>
                    <a:p>
                      <a:pPr algn="l"/>
                      <a:r>
                        <a:rPr sz="1000" b="0">
                          <a:solidFill>
                            <a:srgbClr val="2B2622"/>
                          </a:solidFill>
                          <a:latin typeface="Calibri"/>
                        </a:rPr>
                        <a:t>bitcoin</a:t>
                      </a:r>
                    </a:p>
                  </a:txBody>
                  <a:tcPr marL="54864" marR="54864" marT="27432" marB="27432" anchor="ctr">
                    <a:solidFill>
                      <a:srgbClr val="FFFFFF"/>
                    </a:solidFill>
                  </a:tcPr>
                </a:tc>
              </a:tr>
              <a:tr h="310896">
                <a:tc>
                  <a:txBody>
                    <a:bodyPr/>
                    <a:lstStyle/>
                    <a:p>
                      <a:pPr algn="l"/>
                      <a:r>
                        <a:rPr sz="1000" b="0">
                          <a:solidFill>
                            <a:srgbClr val="2B2622"/>
                          </a:solidFill>
                          <a:latin typeface="Calibri"/>
                        </a:rPr>
                        <a:t>address</a:t>
                      </a:r>
                    </a:p>
                  </a:txBody>
                  <a:tcPr marL="54864" marR="54864" marT="27432" marB="27432" anchor="ctr">
                    <a:solidFill>
                      <a:srgbClr val="F2ECE1"/>
                    </a:solidFill>
                  </a:tcPr>
                </a:tc>
                <a:tc>
                  <a:txBody>
                    <a:bodyPr/>
                    <a:lstStyle/>
                    <a:p>
                      <a:pPr algn="l"/>
                      <a:r>
                        <a:rPr sz="1000" b="0">
                          <a:solidFill>
                            <a:srgbClr val="2B2622"/>
                          </a:solidFill>
                          <a:latin typeface="Calibri"/>
                        </a:rPr>
                        <a:t>bc1qk2g6u8p4...</a:t>
                      </a:r>
                    </a:p>
                  </a:txBody>
                  <a:tcPr marL="54864" marR="54864" marT="27432" marB="27432" anchor="ctr">
                    <a:solidFill>
                      <a:srgbClr val="F2ECE1"/>
                    </a:solidFill>
                  </a:tcPr>
                </a:tc>
              </a:tr>
              <a:tr h="310896">
                <a:tc>
                  <a:txBody>
                    <a:bodyPr/>
                    <a:lstStyle/>
                    <a:p>
                      <a:pPr algn="l"/>
                      <a:r>
                        <a:rPr sz="1000" b="0">
                          <a:solidFill>
                            <a:srgbClr val="2B2622"/>
                          </a:solidFill>
                          <a:latin typeface="Calibri"/>
                        </a:rPr>
                        <a:t>amount</a:t>
                      </a:r>
                    </a:p>
                  </a:txBody>
                  <a:tcPr marL="54864" marR="54864" marT="27432" marB="27432" anchor="ctr">
                    <a:solidFill>
                      <a:srgbClr val="FFFFFF"/>
                    </a:solidFill>
                  </a:tcPr>
                </a:tc>
                <a:tc>
                  <a:txBody>
                    <a:bodyPr/>
                    <a:lstStyle/>
                    <a:p>
                      <a:pPr algn="l"/>
                      <a:r>
                        <a:rPr sz="1000" b="0">
                          <a:solidFill>
                            <a:srgbClr val="2B2622"/>
                          </a:solidFill>
                          <a:latin typeface="Calibri"/>
                        </a:rPr>
                        <a:t>0.01577764 bitcoin</a:t>
                      </a:r>
                    </a:p>
                  </a:txBody>
                  <a:tcPr marL="54864" marR="54864" marT="27432" marB="27432" anchor="ctr">
                    <a:solidFill>
                      <a:srgbClr val="FFFFFF"/>
                    </a:solidFill>
                  </a:tcPr>
                </a:tc>
              </a:tr>
              <a:tr h="310896">
                <a:tc>
                  <a:txBody>
                    <a:bodyPr/>
                    <a:lstStyle/>
                    <a:p>
                      <a:pPr algn="l"/>
                      <a:r>
                        <a:rPr sz="1000" b="0">
                          <a:solidFill>
                            <a:srgbClr val="2B2622"/>
                          </a:solidFill>
                          <a:latin typeface="Calibri"/>
                        </a:rPr>
                        <a:t>label</a:t>
                      </a:r>
                    </a:p>
                  </a:txBody>
                  <a:tcPr marL="54864" marR="54864" marT="27432" marB="27432" anchor="ctr">
                    <a:solidFill>
                      <a:srgbClr val="F2ECE1"/>
                    </a:solidFill>
                  </a:tcPr>
                </a:tc>
                <a:tc>
                  <a:txBody>
                    <a:bodyPr/>
                    <a:lstStyle/>
                    <a:p>
                      <a:pPr algn="l"/>
                      <a:r>
                        <a:rPr sz="1000" b="0">
                          <a:solidFill>
                            <a:srgbClr val="2B2622"/>
                          </a:solidFill>
                          <a:latin typeface="Calibri"/>
                        </a:rPr>
                        <a:t>Bob's Store</a:t>
                      </a:r>
                    </a:p>
                  </a:txBody>
                  <a:tcPr marL="54864" marR="54864" marT="27432" marB="27432" anchor="ctr">
                    <a:solidFill>
                      <a:srgbClr val="F2ECE1"/>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wallet reads these four parts and fills in the payment for Alice.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Bitcoin Transactions</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Inputs, outputs, chains and change</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Transaction Inputs and Outputs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Inputs spend earlier outputs; outputs lock new amounts to new owners.</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handing over banknotes and receiving new ones.</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Transaction Chains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Each input points to an earlier output, back to where the coins began.</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trail of signed receipts, each naming the one before.</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Making Change</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Part of a spent coin returns to you as a new output.</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paying with a 20 note for a 15 item and getting 5 back.</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341120"/>
                <a:gridCol w="1341120"/>
                <a:gridCol w="1341120"/>
                <a:gridCol w="1341120"/>
                <a:gridCol w="1341120"/>
                <a:gridCol w="1341120"/>
              </a:tblGrid>
              <a:tr h="365760">
                <a:tc>
                  <a:txBody>
                    <a:bodyPr/>
                    <a:lstStyle/>
                    <a:p>
                      <a:pPr algn="ctr"/>
                      <a:r>
                        <a:rPr sz="1000" b="0">
                          <a:solidFill>
                            <a:srgbClr val="6E655C"/>
                          </a:solidFill>
                          <a:latin typeface="Calibri"/>
                        </a:rPr>
                        <a:t>Store</a:t>
                      </a:r>
                    </a:p>
                  </a:txBody>
                  <a:tcPr marL="54864" marR="54864" marT="27432" marB="27432" anchor="ctr">
                    <a:solidFill>
                      <a:srgbClr val="F2ECE1"/>
                    </a:solidFill>
                  </a:tcPr>
                </a:tc>
                <a:tc>
                  <a:txBody>
                    <a:bodyPr/>
                    <a:lstStyle/>
                    <a:p>
                      <a:pPr algn="ctr"/>
                      <a:r>
                        <a:rPr sz="1000" b="1">
                          <a:solidFill>
                            <a:srgbClr val="FFFFFF"/>
                          </a:solidFill>
                          <a:latin typeface="Calibri"/>
                        </a:rPr>
                        <a:t>Transactions</a:t>
                      </a:r>
                    </a:p>
                  </a:txBody>
                  <a:tcPr marL="54864" marR="54864" marT="27432" marB="27432" anchor="ctr">
                    <a:solidFill>
                      <a:srgbClr val="D97A14"/>
                    </a:solidFill>
                  </a:tcPr>
                </a:tc>
                <a:tc>
                  <a:txBody>
                    <a:bodyPr/>
                    <a:lstStyle/>
                    <a:p>
                      <a:pPr algn="ctr"/>
                      <a:r>
                        <a:rPr sz="1000" b="0">
                          <a:solidFill>
                            <a:srgbClr val="6E655C"/>
                          </a:solidFill>
                          <a:latin typeface="Calibri"/>
                        </a:rPr>
                        <a:t>Coin selection</a:t>
                      </a:r>
                    </a:p>
                  </a:txBody>
                  <a:tcPr marL="54864" marR="54864" marT="27432" marB="27432" anchor="ctr">
                    <a:solidFill>
                      <a:srgbClr val="F2ECE1"/>
                    </a:solidFill>
                  </a:tcPr>
                </a:tc>
                <a:tc>
                  <a:txBody>
                    <a:bodyPr/>
                    <a:lstStyle/>
                    <a:p>
                      <a:pPr algn="ctr"/>
                      <a:r>
                        <a:rPr sz="1000" b="0">
                          <a:solidFill>
                            <a:srgbClr val="6E655C"/>
                          </a:solidFill>
                          <a:latin typeface="Calibri"/>
                        </a:rPr>
                        <a:t>Construction</a:t>
                      </a:r>
                    </a:p>
                  </a:txBody>
                  <a:tcPr marL="54864" marR="54864" marT="27432" marB="27432" anchor="ctr">
                    <a:solidFill>
                      <a:srgbClr val="F2ECE1"/>
                    </a:solidFill>
                  </a:tcPr>
                </a:tc>
                <a:tc>
                  <a:txBody>
                    <a:bodyPr/>
                    <a:lstStyle/>
                    <a:p>
                      <a:pPr algn="ctr"/>
                      <a:r>
                        <a:rPr sz="1000" b="0">
                          <a:solidFill>
                            <a:srgbClr val="6E655C"/>
                          </a:solidFill>
                          <a:latin typeface="Calibri"/>
                        </a:rPr>
                        <a:t>Blockchain</a:t>
                      </a:r>
                    </a:p>
                  </a:txBody>
                  <a:tcPr marL="54864" marR="54864" marT="27432" marB="27432" anchor="ctr">
                    <a:solidFill>
                      <a:srgbClr val="F2ECE1"/>
                    </a:solidFill>
                  </a:tcPr>
                </a:tc>
                <a:tc>
                  <a:txBody>
                    <a:bodyPr/>
                    <a:lstStyle/>
                    <a:p>
                      <a:pPr algn="ctr"/>
                      <a:r>
                        <a:rPr sz="1000" b="0">
                          <a:solidFill>
                            <a:srgbClr val="6E655C"/>
                          </a:solidFill>
                          <a:latin typeface="Calibri"/>
                        </a:rPr>
                        <a:t>Spending</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10 / 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Inputs and outputs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ledger of figure 2-2, and the two words it is made of</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An input spends an earlier output; an output creates a new one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11 / 35</a:t>
            </a:r>
          </a:p>
        </p:txBody>
      </p:sp>
      <p:pic>
        <p:nvPicPr>
          <p:cNvPr id="8" name="Picture 7" descr="Figure 2-2: a transaction as double-entry bookkeeping"/>
          <p:cNvPicPr>
            <a:picLocks noChangeAspect="1"/>
          </p:cNvPicPr>
          <p:nvPr/>
        </p:nvPicPr>
        <p:blipFill>
          <a:blip r:embed="rId3"/>
          <a:stretch>
            <a:fillRect/>
          </a:stretch>
        </p:blipFill>
        <p:spPr>
          <a:xfrm>
            <a:off x="457200" y="1280369"/>
            <a:ext cx="4023360" cy="2788500"/>
          </a:xfrm>
          <a:prstGeom prst="rect">
            <a:avLst/>
          </a:prstGeom>
        </p:spPr>
      </p:pic>
      <p:sp>
        <p:nvSpPr>
          <p:cNvPr id="9" name="TextBox 8"/>
          <p:cNvSpPr txBox="1"/>
          <p:nvPr/>
        </p:nvSpPr>
        <p:spPr>
          <a:xfrm>
            <a:off x="457200" y="4114800"/>
            <a:ext cx="4023360" cy="365760"/>
          </a:xfrm>
          <a:prstGeom prst="rect">
            <a:avLst/>
          </a:prstGeom>
          <a:noFill/>
        </p:spPr>
        <p:txBody>
          <a:bodyPr wrap="square" lIns="0" rIns="0" tIns="0" bIns="0" anchor="t">
            <a:spAutoFit/>
          </a:bodyPr>
          <a:lstStyle/>
          <a:p>
            <a:pPr algn="l"/>
            <a:r>
              <a:rPr sz="850" b="0" i="0">
                <a:solidFill>
                  <a:srgbClr val="6E655C"/>
                </a:solidFill>
                <a:latin typeface="Calibri"/>
              </a:rPr>
              <a:t>Figure 2-2, Mastering Bitcoin 3rd edition, Antonopoulos and Harding, CC BY-SA 4.0</a:t>
            </a:r>
          </a:p>
        </p:txBody>
      </p:sp>
      <p:sp>
        <p:nvSpPr>
          <p:cNvPr id="10" name="Rounded Rectangle 9"/>
          <p:cNvSpPr/>
          <p:nvPr/>
        </p:nvSpPr>
        <p:spPr>
          <a:xfrm>
            <a:off x="4709160" y="1280160"/>
            <a:ext cx="3977639" cy="1417320"/>
          </a:xfrm>
          <a:prstGeom prst="roundRect">
            <a:avLst>
              <a:gd name="adj" fmla="val 6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754880" y="1389888"/>
            <a:ext cx="64008" cy="1197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12" name="TextBox 11"/>
          <p:cNvSpPr txBox="1"/>
          <p:nvPr/>
        </p:nvSpPr>
        <p:spPr>
          <a:xfrm>
            <a:off x="4956048" y="1371600"/>
            <a:ext cx="3611880" cy="777240"/>
          </a:xfrm>
          <a:prstGeom prst="rect">
            <a:avLst/>
          </a:prstGeom>
          <a:noFill/>
        </p:spPr>
        <p:txBody>
          <a:bodyPr wrap="square" lIns="0" rIns="0" tIns="0" bIns="0" anchor="t">
            <a:spAutoFit/>
          </a:bodyPr>
          <a:lstStyle/>
          <a:p>
            <a:pPr algn="l"/>
            <a:r>
              <a:rPr sz="1400" b="1" i="0">
                <a:solidFill>
                  <a:srgbClr val="2B2622"/>
                </a:solidFill>
                <a:latin typeface="Cambria"/>
              </a:rPr>
              <a:t>input</a:t>
            </a:r>
          </a:p>
          <a:p>
            <a:pPr algn="l"/>
            <a:r>
              <a:rPr sz="1150" b="0" i="0">
                <a:solidFill>
                  <a:srgbClr val="2B2622"/>
                </a:solidFill>
                <a:latin typeface="Calibri"/>
              </a:rPr>
              <a:t>A reference to an earlier output being spent, with a signature that proves ownership.</a:t>
            </a:r>
          </a:p>
        </p:txBody>
      </p:sp>
      <p:sp>
        <p:nvSpPr>
          <p:cNvPr id="13" name="TextBox 12"/>
          <p:cNvSpPr txBox="1"/>
          <p:nvPr/>
        </p:nvSpPr>
        <p:spPr>
          <a:xfrm>
            <a:off x="4956048" y="2194560"/>
            <a:ext cx="3611880" cy="411480"/>
          </a:xfrm>
          <a:prstGeom prst="rect">
            <a:avLst/>
          </a:prstGeom>
          <a:noFill/>
        </p:spPr>
        <p:txBody>
          <a:bodyPr wrap="square" lIns="0" rIns="0" tIns="0" bIns="0" anchor="t">
            <a:spAutoFit/>
          </a:bodyPr>
          <a:lstStyle/>
          <a:p>
            <a:pPr algn="l"/>
            <a:r>
              <a:rPr sz="1150" b="0" i="1">
                <a:solidFill>
                  <a:srgbClr val="D97A14"/>
                </a:solidFill>
                <a:latin typeface="Calibri"/>
              </a:rPr>
              <a:t>Think of a banknote you hand over to the cashier.</a:t>
            </a:r>
          </a:p>
        </p:txBody>
      </p:sp>
      <p:sp>
        <p:nvSpPr>
          <p:cNvPr id="14" name="Rounded Rectangle 13"/>
          <p:cNvSpPr/>
          <p:nvPr/>
        </p:nvSpPr>
        <p:spPr>
          <a:xfrm>
            <a:off x="4709160" y="2834639"/>
            <a:ext cx="3977639" cy="1417320"/>
          </a:xfrm>
          <a:prstGeom prst="roundRect">
            <a:avLst>
              <a:gd name="adj" fmla="val 6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4754880" y="2944368"/>
            <a:ext cx="64008" cy="1197864"/>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16" name="TextBox 15"/>
          <p:cNvSpPr txBox="1"/>
          <p:nvPr/>
        </p:nvSpPr>
        <p:spPr>
          <a:xfrm>
            <a:off x="4956048" y="2926079"/>
            <a:ext cx="3611880" cy="777240"/>
          </a:xfrm>
          <a:prstGeom prst="rect">
            <a:avLst/>
          </a:prstGeom>
          <a:noFill/>
        </p:spPr>
        <p:txBody>
          <a:bodyPr wrap="square" lIns="0" rIns="0" tIns="0" bIns="0" anchor="t">
            <a:spAutoFit/>
          </a:bodyPr>
          <a:lstStyle/>
          <a:p>
            <a:pPr algn="l"/>
            <a:r>
              <a:rPr sz="1400" b="1" i="0">
                <a:solidFill>
                  <a:srgbClr val="2B2622"/>
                </a:solidFill>
                <a:latin typeface="Cambria"/>
              </a:rPr>
              <a:t>output</a:t>
            </a:r>
          </a:p>
          <a:p>
            <a:pPr algn="l"/>
            <a:r>
              <a:rPr sz="1150" b="0" i="0">
                <a:solidFill>
                  <a:srgbClr val="2B2622"/>
                </a:solidFill>
                <a:latin typeface="Calibri"/>
              </a:rPr>
              <a:t>An amount of bitcoin locked to a new owner until it is spent.</a:t>
            </a:r>
          </a:p>
        </p:txBody>
      </p:sp>
      <p:sp>
        <p:nvSpPr>
          <p:cNvPr id="17" name="TextBox 16"/>
          <p:cNvSpPr txBox="1"/>
          <p:nvPr/>
        </p:nvSpPr>
        <p:spPr>
          <a:xfrm>
            <a:off x="4956048" y="3749039"/>
            <a:ext cx="3611880" cy="411480"/>
          </a:xfrm>
          <a:prstGeom prst="rect">
            <a:avLst/>
          </a:prstGeom>
          <a:noFill/>
        </p:spPr>
        <p:txBody>
          <a:bodyPr wrap="square" lIns="0" rIns="0" tIns="0" bIns="0" anchor="t">
            <a:spAutoFit/>
          </a:bodyPr>
          <a:lstStyle/>
          <a:p>
            <a:pPr algn="l"/>
            <a:r>
              <a:rPr sz="1150" b="0" i="1">
                <a:solidFill>
                  <a:srgbClr val="D97A14"/>
                </a:solidFill>
                <a:latin typeface="Calibri"/>
              </a:rPr>
              <a:t>Think of a banknote you receive in return.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Inputs equal outputs plus the fee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Alice's payment as double-entry bookkeeping</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Whatever the outputs do not claim becomes the miner's fee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12 / 35</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ins, outs = T.ALICE_IN, T.ALICE_OUT</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fee = sum(ins) - sum(outs)</a:t>
            </a:r>
          </a:p>
          <a:p>
            <a:pPr algn="l"/>
            <a:r>
              <a:rPr sz="1000" b="1" i="0">
                <a:solidFill>
                  <a:srgbClr val="F2A860"/>
                </a:solidFill>
                <a:latin typeface="Courier New"/>
              </a:rPr>
              <a:t>&gt;&gt;&gt; </a:t>
            </a:r>
            <a:r>
              <a:rPr sz="1000" b="0" i="0">
                <a:solidFill>
                  <a:srgbClr val="E6EDF3"/>
                </a:solidFill>
                <a:latin typeface="Courier New"/>
              </a:rPr>
              <a:t>(sum(ins), sum(outs), fee)</a:t>
            </a:r>
          </a:p>
          <a:p>
            <a:pPr algn="l"/>
            <a:r>
              <a:rPr sz="1000" b="0" i="0">
                <a:solidFill>
                  <a:srgbClr val="7EE787"/>
                </a:solidFill>
                <a:latin typeface="Courier New"/>
              </a:rPr>
              <a:t>(100000, 95000, 5000)</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Alice's one input and her two outputs, in satoshis.</a:t>
            </a:r>
          </a:p>
        </p:txBody>
      </p:sp>
      <p:sp>
        <p:nvSpPr>
          <p:cNvPr id="13" name="TextBox 12"/>
          <p:cNvSpPr txBox="1"/>
          <p:nvPr/>
        </p:nvSpPr>
        <p:spPr>
          <a:xfrm>
            <a:off x="457200" y="2715768"/>
            <a:ext cx="5212080" cy="204216"/>
          </a:xfrm>
          <a:prstGeom prst="rect">
            <a:avLst/>
          </a:prstGeom>
          <a:noFill/>
        </p:spPr>
        <p:txBody>
          <a:bodyPr wrap="square" lIns="0" rIns="0" tIns="0" bIns="0" anchor="t">
            <a:spAutoFit/>
          </a:bodyPr>
          <a:lstStyle/>
          <a:p>
            <a:pPr algn="l"/>
            <a:r>
              <a:rPr sz="1100" b="0" i="0">
                <a:solidFill>
                  <a:srgbClr val="2B2622"/>
                </a:solidFill>
                <a:latin typeface="Calibri"/>
              </a:rPr>
              <a:t>Inputs minus outputs is the fee; nobody writes it down anywhere.</a:t>
            </a:r>
          </a:p>
        </p:txBody>
      </p:sp>
      <p:sp>
        <p:nvSpPr>
          <p:cNvPr id="14" name="TextBox 13"/>
          <p:cNvSpPr txBox="1"/>
          <p:nvPr/>
        </p:nvSpPr>
        <p:spPr>
          <a:xfrm>
            <a:off x="457200" y="29931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where Alice's 100,000 satoshis go</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40080"/>
          </a:xfrm>
          <a:prstGeom prst="rect">
            <a:avLst/>
          </a:prstGeom>
          <a:noFill/>
        </p:spPr>
        <p:txBody>
          <a:bodyPr wrap="square" lIns="0" rIns="0" tIns="0" bIns="0" anchor="t">
            <a:spAutoFit/>
          </a:bodyPr>
          <a:lstStyle/>
          <a:p>
            <a:pPr algn="l"/>
            <a:r>
              <a:rPr sz="1100" b="0" i="0">
                <a:solidFill>
                  <a:srgbClr val="2B2622"/>
                </a:solidFill>
                <a:latin typeface="Calibri"/>
              </a:rPr>
              <a:t>100,000 in = 95,000 out + 5,000 fee: the ledger balances.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txid is shown backwards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same 32 bytes in two orders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Explorers show the identifier in reverse byte order</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13 / 35</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raw = bytes.fromhex(T.PREV_RAW)</a:t>
            </a:r>
          </a:p>
        </p:txBody>
      </p:sp>
      <p:sp>
        <p:nvSpPr>
          <p:cNvPr id="11" name="TextBox 10"/>
          <p:cNvSpPr txBox="1"/>
          <p:nvPr/>
        </p:nvSpPr>
        <p:spPr>
          <a:xfrm>
            <a:off x="603504" y="226161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shown = raw[::-</a:t>
            </a:r>
            <a:r>
              <a:rPr sz="1000" b="0" i="0">
                <a:solidFill>
                  <a:srgbClr val="FFD28A"/>
                </a:solidFill>
                <a:latin typeface="Courier New"/>
              </a:rPr>
              <a:t>1</a:t>
            </a:r>
            <a:r>
              <a:rPr sz="1000" b="0" i="0">
                <a:solidFill>
                  <a:srgbClr val="E6EDF3"/>
                </a:solidFill>
                <a:latin typeface="Courier New"/>
              </a:rPr>
              <a:t>].hex()</a:t>
            </a:r>
          </a:p>
          <a:p>
            <a:pPr algn="l"/>
            <a:r>
              <a:rPr sz="1000" b="1" i="0">
                <a:solidFill>
                  <a:srgbClr val="F2A860"/>
                </a:solidFill>
                <a:latin typeface="Courier New"/>
              </a:rPr>
              <a:t>&gt;&gt;&gt; </a:t>
            </a:r>
            <a:r>
              <a:rPr sz="1000" b="0" i="0">
                <a:solidFill>
                  <a:srgbClr val="E6EDF3"/>
                </a:solidFill>
                <a:latin typeface="Courier New"/>
              </a:rPr>
              <a:t>(raw.hex()[:</a:t>
            </a:r>
            <a:r>
              <a:rPr sz="1000" b="0" i="0">
                <a:solidFill>
                  <a:srgbClr val="FFD28A"/>
                </a:solidFill>
                <a:latin typeface="Courier New"/>
              </a:rPr>
              <a:t>8</a:t>
            </a:r>
            <a:r>
              <a:rPr sz="1000" b="0" i="0">
                <a:solidFill>
                  <a:srgbClr val="E6EDF3"/>
                </a:solidFill>
                <a:latin typeface="Courier New"/>
              </a:rPr>
              <a:t>], shown[:</a:t>
            </a:r>
            <a:r>
              <a:rPr sz="1000" b="0" i="0">
                <a:solidFill>
                  <a:srgbClr val="FFD28A"/>
                </a:solidFill>
                <a:latin typeface="Courier New"/>
              </a:rPr>
              <a:t>8</a:t>
            </a:r>
            <a:r>
              <a:rPr sz="1000" b="0" i="0">
                <a:solidFill>
                  <a:srgbClr val="E6EDF3"/>
                </a:solidFill>
                <a:latin typeface="Courier New"/>
              </a:rPr>
              <a:t>])</a:t>
            </a:r>
          </a:p>
          <a:p>
            <a:pPr algn="l"/>
            <a:r>
              <a:rPr sz="1000" b="0" i="0">
                <a:solidFill>
                  <a:srgbClr val="7EE787"/>
                </a:solidFill>
                <a:latin typeface="Courier New"/>
              </a:rPr>
              <a:t>('eb3ae38f', '4ac54180')</a:t>
            </a:r>
          </a:p>
        </p:txBody>
      </p:sp>
      <p:sp>
        <p:nvSpPr>
          <p:cNvPr id="12" name="TextBox 11"/>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The 32 bytes of the earlier transaction's identifier, as an input stores them.</a:t>
            </a:r>
          </a:p>
        </p:txBody>
      </p:sp>
      <p:sp>
        <p:nvSpPr>
          <p:cNvPr id="13" name="TextBox 12"/>
          <p:cNvSpPr txBox="1"/>
          <p:nvPr/>
        </p:nvSpPr>
        <p:spPr>
          <a:xfrm>
            <a:off x="457200" y="2883408"/>
            <a:ext cx="5212080" cy="204216"/>
          </a:xfrm>
          <a:prstGeom prst="rect">
            <a:avLst/>
          </a:prstGeom>
          <a:noFill/>
        </p:spPr>
        <p:txBody>
          <a:bodyPr wrap="square" lIns="0" rIns="0" tIns="0" bIns="0" anchor="t">
            <a:spAutoFit/>
          </a:bodyPr>
          <a:lstStyle/>
          <a:p>
            <a:pPr algn="l"/>
            <a:r>
              <a:rPr sz="1100" b="0" i="0">
                <a:solidFill>
                  <a:srgbClr val="2B2622"/>
                </a:solidFill>
                <a:latin typeface="Calibri"/>
              </a:rPr>
              <a:t>Reverse the bytes to get the order in which block explorers display it.</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same identifier, two byte orders</a:t>
            </a:r>
          </a:p>
        </p:txBody>
      </p:sp>
      <p:graphicFrame>
        <p:nvGraphicFramePr>
          <p:cNvPr id="16" name="Table 15"/>
          <p:cNvGraphicFramePr>
            <a:graphicFrameLocks noGrp="1"/>
          </p:cNvGraphicFramePr>
          <p:nvPr/>
        </p:nvGraphicFramePr>
        <p:xfrm>
          <a:off x="5852160" y="1691640"/>
          <a:ext cx="2834640" cy="932688"/>
        </p:xfrm>
        <a:graphic>
          <a:graphicData uri="http://schemas.openxmlformats.org/drawingml/2006/table">
            <a:tbl>
              <a:tblPr firstRow="1" bandRow="1">
                <a:tableStyleId>{5C22544A-7EE6-4342-B048-85BDC9FD1C3A}</a:tableStyleId>
              </a:tblPr>
              <a:tblGrid>
                <a:gridCol w="1188720"/>
                <a:gridCol w="822960"/>
                <a:gridCol w="822960"/>
              </a:tblGrid>
              <a:tr h="310896">
                <a:tc>
                  <a:txBody>
                    <a:bodyPr/>
                    <a:lstStyle/>
                    <a:p>
                      <a:pPr algn="l"/>
                      <a:r>
                        <a:rPr sz="1000" b="1">
                          <a:solidFill>
                            <a:srgbClr val="FFFFFF"/>
                          </a:solidFill>
                          <a:latin typeface="Calibri"/>
                        </a:rPr>
                        <a:t>Order</a:t>
                      </a:r>
                    </a:p>
                  </a:txBody>
                  <a:tcPr marL="54864" marR="54864" marT="27432" marB="27432" anchor="ctr">
                    <a:solidFill>
                      <a:srgbClr val="2F6D62"/>
                    </a:solidFill>
                  </a:tcPr>
                </a:tc>
                <a:tc>
                  <a:txBody>
                    <a:bodyPr/>
                    <a:lstStyle/>
                    <a:p>
                      <a:pPr algn="l"/>
                      <a:r>
                        <a:rPr sz="1000" b="1">
                          <a:solidFill>
                            <a:srgbClr val="FFFFFF"/>
                          </a:solidFill>
                          <a:latin typeface="Calibri"/>
                        </a:rPr>
                        <a:t>First 8</a:t>
                      </a:r>
                    </a:p>
                  </a:txBody>
                  <a:tcPr marL="54864" marR="54864" marT="27432" marB="27432" anchor="ctr">
                    <a:solidFill>
                      <a:srgbClr val="2F6D62"/>
                    </a:solidFill>
                  </a:tcPr>
                </a:tc>
                <a:tc>
                  <a:txBody>
                    <a:bodyPr/>
                    <a:lstStyle/>
                    <a:p>
                      <a:pPr algn="l"/>
                      <a:r>
                        <a:rPr sz="1000" b="1">
                          <a:solidFill>
                            <a:srgbClr val="FFFFFF"/>
                          </a:solidFill>
                          <a:latin typeface="Calibri"/>
                        </a:rPr>
                        <a:t>Last 8</a:t>
                      </a:r>
                    </a:p>
                  </a:txBody>
                  <a:tcPr marL="54864" marR="54864" marT="27432" marB="27432" anchor="ctr">
                    <a:solidFill>
                      <a:srgbClr val="2F6D62"/>
                    </a:solidFill>
                  </a:tcPr>
                </a:tc>
              </a:tr>
              <a:tr h="310896">
                <a:tc>
                  <a:txBody>
                    <a:bodyPr/>
                    <a:lstStyle/>
                    <a:p>
                      <a:pPr algn="l"/>
                      <a:r>
                        <a:rPr sz="1000" b="0">
                          <a:solidFill>
                            <a:srgbClr val="2B2622"/>
                          </a:solidFill>
                          <a:latin typeface="Calibri"/>
                        </a:rPr>
                        <a:t>Stored</a:t>
                      </a:r>
                    </a:p>
                  </a:txBody>
                  <a:tcPr marL="54864" marR="54864" marT="27432" marB="27432" anchor="ctr">
                    <a:solidFill>
                      <a:srgbClr val="FFFFFF"/>
                    </a:solidFill>
                  </a:tcPr>
                </a:tc>
                <a:tc>
                  <a:txBody>
                    <a:bodyPr/>
                    <a:lstStyle/>
                    <a:p>
                      <a:pPr algn="l"/>
                      <a:r>
                        <a:rPr sz="1000" b="0">
                          <a:solidFill>
                            <a:srgbClr val="2B2622"/>
                          </a:solidFill>
                          <a:latin typeface="Calibri"/>
                        </a:rPr>
                        <a:t>eb3ae38f</a:t>
                      </a:r>
                    </a:p>
                  </a:txBody>
                  <a:tcPr marL="54864" marR="54864" marT="27432" marB="27432" anchor="ctr">
                    <a:solidFill>
                      <a:srgbClr val="FFFFFF"/>
                    </a:solidFill>
                  </a:tcPr>
                </a:tc>
                <a:tc>
                  <a:txBody>
                    <a:bodyPr/>
                    <a:lstStyle/>
                    <a:p>
                      <a:pPr algn="l"/>
                      <a:r>
                        <a:rPr sz="1000" b="0">
                          <a:solidFill>
                            <a:srgbClr val="2B2622"/>
                          </a:solidFill>
                          <a:latin typeface="Calibri"/>
                        </a:rPr>
                        <a:t>8041c54a</a:t>
                      </a:r>
                    </a:p>
                  </a:txBody>
                  <a:tcPr marL="54864" marR="54864" marT="27432" marB="27432" anchor="ctr">
                    <a:solidFill>
                      <a:srgbClr val="FFFFFF"/>
                    </a:solidFill>
                  </a:tcPr>
                </a:tc>
              </a:tr>
              <a:tr h="310896">
                <a:tc>
                  <a:txBody>
                    <a:bodyPr/>
                    <a:lstStyle/>
                    <a:p>
                      <a:pPr algn="l"/>
                      <a:r>
                        <a:rPr sz="1000" b="0">
                          <a:solidFill>
                            <a:srgbClr val="2B2622"/>
                          </a:solidFill>
                          <a:latin typeface="Calibri"/>
                        </a:rPr>
                        <a:t>Shown</a:t>
                      </a:r>
                    </a:p>
                  </a:txBody>
                  <a:tcPr marL="54864" marR="54864" marT="27432" marB="27432" anchor="ctr">
                    <a:solidFill>
                      <a:srgbClr val="F2ECE1"/>
                    </a:solidFill>
                  </a:tcPr>
                </a:tc>
                <a:tc>
                  <a:txBody>
                    <a:bodyPr/>
                    <a:lstStyle/>
                    <a:p>
                      <a:pPr algn="l"/>
                      <a:r>
                        <a:rPr sz="1000" b="0">
                          <a:solidFill>
                            <a:srgbClr val="2B2622"/>
                          </a:solidFill>
                          <a:latin typeface="Calibri"/>
                        </a:rPr>
                        <a:t>4ac54180</a:t>
                      </a:r>
                    </a:p>
                  </a:txBody>
                  <a:tcPr marL="54864" marR="54864" marT="27432" marB="27432" anchor="ctr">
                    <a:solidFill>
                      <a:srgbClr val="F2ECE1"/>
                    </a:solidFill>
                  </a:tcPr>
                </a:tc>
                <a:tc>
                  <a:txBody>
                    <a:bodyPr/>
                    <a:lstStyle/>
                    <a:p>
                      <a:pPr algn="l"/>
                      <a:r>
                        <a:rPr sz="1000" b="0">
                          <a:solidFill>
                            <a:srgbClr val="2B2622"/>
                          </a:solidFill>
                          <a:latin typeface="Calibri"/>
                        </a:rPr>
                        <a:t>8fe33aeb</a:t>
                      </a:r>
                    </a:p>
                  </a:txBody>
                  <a:tcPr marL="54864" marR="54864" marT="27432" marB="27432" anchor="ctr">
                    <a:solidFill>
                      <a:srgbClr val="F2ECE1"/>
                    </a:solidFill>
                  </a:tcPr>
                </a:tc>
              </a:tr>
            </a:tbl>
          </a:graphicData>
        </a:graphic>
      </p:graphicFrame>
      <p:sp>
        <p:nvSpPr>
          <p:cNvPr id="17" name="TextBox 16"/>
          <p:cNvSpPr txBox="1"/>
          <p:nvPr/>
        </p:nvSpPr>
        <p:spPr>
          <a:xfrm>
            <a:off x="5852160" y="2734056"/>
            <a:ext cx="2834640" cy="640080"/>
          </a:xfrm>
          <a:prstGeom prst="rect">
            <a:avLst/>
          </a:prstGeom>
          <a:noFill/>
        </p:spPr>
        <p:txBody>
          <a:bodyPr wrap="square" lIns="0" rIns="0" tIns="0" bIns="0" anchor="t">
            <a:spAutoFit/>
          </a:bodyPr>
          <a:lstStyle/>
          <a:p>
            <a:pPr algn="l"/>
            <a:r>
              <a:rPr sz="1100" b="0" i="0">
                <a:solidFill>
                  <a:srgbClr val="2B2622"/>
                </a:solidFill>
                <a:latin typeface="Calibri"/>
              </a:rPr>
              <a:t>The same 32 bytes, read in opposite directions.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Size in virtual bytes and the fee rate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How a miner compares transactions</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Miners rank transactions by fee per virtual byte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14 / 35</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8107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weight = </a:t>
            </a:r>
            <a:r>
              <a:rPr sz="1000" b="0" i="0">
                <a:solidFill>
                  <a:srgbClr val="FFD28A"/>
                </a:solidFill>
                <a:latin typeface="Courier New"/>
              </a:rPr>
              <a:t>569</a:t>
            </a:r>
          </a:p>
        </p:txBody>
      </p:sp>
      <p:sp>
        <p:nvSpPr>
          <p:cNvPr id="11" name="TextBox 10"/>
          <p:cNvSpPr txBox="1"/>
          <p:nvPr/>
        </p:nvSpPr>
        <p:spPr>
          <a:xfrm>
            <a:off x="603504" y="2093976"/>
            <a:ext cx="4937760" cy="6278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vbytes = -(-weight // </a:t>
            </a:r>
            <a:r>
              <a:rPr sz="1000" b="0" i="0">
                <a:solidFill>
                  <a:srgbClr val="FFD28A"/>
                </a:solidFill>
                <a:latin typeface="Courier New"/>
              </a:rPr>
              <a:t>4</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rate = round(</a:t>
            </a:r>
            <a:r>
              <a:rPr sz="1000" b="0" i="0">
                <a:solidFill>
                  <a:srgbClr val="FFD28A"/>
                </a:solidFill>
                <a:latin typeface="Courier New"/>
              </a:rPr>
              <a:t>5000</a:t>
            </a:r>
            <a:r>
              <a:rPr sz="1000" b="0" i="0">
                <a:solidFill>
                  <a:srgbClr val="E6EDF3"/>
                </a:solidFill>
                <a:latin typeface="Courier New"/>
              </a:rPr>
              <a:t> / vbytes, </a:t>
            </a:r>
            <a:r>
              <a:rPr sz="1000" b="0" i="0">
                <a:solidFill>
                  <a:srgbClr val="FFD28A"/>
                </a:solidFill>
                <a:latin typeface="Courier New"/>
              </a:rPr>
              <a:t>2</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(vbytes, rate)</a:t>
            </a:r>
          </a:p>
          <a:p>
            <a:pPr algn="l"/>
            <a:r>
              <a:rPr sz="1000" b="0" i="0">
                <a:solidFill>
                  <a:srgbClr val="7EE787"/>
                </a:solidFill>
                <a:latin typeface="Courier New"/>
              </a:rPr>
              <a:t>(143, 34.97)</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Alice's transaction weighs 569 weight units, as Bitcoin Core reports.</a:t>
            </a:r>
          </a:p>
        </p:txBody>
      </p:sp>
      <p:sp>
        <p:nvSpPr>
          <p:cNvPr id="13" name="TextBox 12"/>
          <p:cNvSpPr txBox="1"/>
          <p:nvPr/>
        </p:nvSpPr>
        <p:spPr>
          <a:xfrm>
            <a:off x="457200" y="2868168"/>
            <a:ext cx="5212080" cy="371855"/>
          </a:xfrm>
          <a:prstGeom prst="rect">
            <a:avLst/>
          </a:prstGeom>
          <a:noFill/>
        </p:spPr>
        <p:txBody>
          <a:bodyPr wrap="square" lIns="0" rIns="0" tIns="0" bIns="0" anchor="t">
            <a:spAutoFit/>
          </a:bodyPr>
          <a:lstStyle/>
          <a:p>
            <a:pPr algn="l"/>
            <a:r>
              <a:rPr sz="1100" b="0" i="0">
                <a:solidFill>
                  <a:srgbClr val="2B2622"/>
                </a:solidFill>
                <a:latin typeface="Calibri"/>
              </a:rPr>
              <a:t>Four units make a virtual byte, rounded up; fee divided by size is the rate.</a:t>
            </a:r>
          </a:p>
        </p:txBody>
      </p:sp>
      <p:sp>
        <p:nvSpPr>
          <p:cNvPr id="14" name="TextBox 13"/>
          <p:cNvSpPr txBox="1"/>
          <p:nvPr/>
        </p:nvSpPr>
        <p:spPr>
          <a:xfrm>
            <a:off x="457200" y="33131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weight, size, fee and rate</a:t>
            </a:r>
          </a:p>
        </p:txBody>
      </p:sp>
      <p:graphicFrame>
        <p:nvGraphicFramePr>
          <p:cNvPr id="16" name="Table 15"/>
          <p:cNvGraphicFramePr>
            <a:graphicFrameLocks noGrp="1"/>
          </p:cNvGraphicFramePr>
          <p:nvPr/>
        </p:nvGraphicFramePr>
        <p:xfrm>
          <a:off x="5852160" y="1691640"/>
          <a:ext cx="2834640" cy="1554480"/>
        </p:xfrm>
        <a:graphic>
          <a:graphicData uri="http://schemas.openxmlformats.org/drawingml/2006/table">
            <a:tbl>
              <a:tblPr firstRow="1" bandRow="1">
                <a:tableStyleId>{5C22544A-7EE6-4342-B048-85BDC9FD1C3A}</a:tableStyleId>
              </a:tblPr>
              <a:tblGrid>
                <a:gridCol w="1234440"/>
                <a:gridCol w="1600200"/>
              </a:tblGrid>
              <a:tr h="310896">
                <a:tc>
                  <a:txBody>
                    <a:bodyPr/>
                    <a:lstStyle/>
                    <a:p>
                      <a:pPr algn="l"/>
                      <a:r>
                        <a:rPr sz="1000" b="1">
                          <a:solidFill>
                            <a:srgbClr val="FFFFFF"/>
                          </a:solidFill>
                          <a:latin typeface="Calibri"/>
                        </a:rPr>
                        <a:t>Measure</a:t>
                      </a:r>
                    </a:p>
                  </a:txBody>
                  <a:tcPr marL="54864" marR="54864" marT="27432" marB="27432" anchor="ctr">
                    <a:solidFill>
                      <a:srgbClr val="2F6D62"/>
                    </a:solidFill>
                  </a:tcPr>
                </a:tc>
                <a:tc>
                  <a:txBody>
                    <a:bodyPr/>
                    <a:lstStyle/>
                    <a:p>
                      <a:pPr algn="l"/>
                      <a:r>
                        <a:rPr sz="1000" b="1">
                          <a:solidFill>
                            <a:srgbClr val="FFFFFF"/>
                          </a:solidFill>
                          <a:latin typeface="Calibri"/>
                        </a:rPr>
                        <a:t>Value</a:t>
                      </a:r>
                    </a:p>
                  </a:txBody>
                  <a:tcPr marL="54864" marR="54864" marT="27432" marB="27432" anchor="ctr">
                    <a:solidFill>
                      <a:srgbClr val="2F6D62"/>
                    </a:solidFill>
                  </a:tcPr>
                </a:tc>
              </a:tr>
              <a:tr h="310896">
                <a:tc>
                  <a:txBody>
                    <a:bodyPr/>
                    <a:lstStyle/>
                    <a:p>
                      <a:pPr algn="l"/>
                      <a:r>
                        <a:rPr sz="1000" b="0">
                          <a:solidFill>
                            <a:srgbClr val="2B2622"/>
                          </a:solidFill>
                          <a:latin typeface="Calibri"/>
                        </a:rPr>
                        <a:t>Weight</a:t>
                      </a:r>
                    </a:p>
                  </a:txBody>
                  <a:tcPr marL="54864" marR="54864" marT="27432" marB="27432" anchor="ctr">
                    <a:solidFill>
                      <a:srgbClr val="FFFFFF"/>
                    </a:solidFill>
                  </a:tcPr>
                </a:tc>
                <a:tc>
                  <a:txBody>
                    <a:bodyPr/>
                    <a:lstStyle/>
                    <a:p>
                      <a:pPr algn="l"/>
                      <a:r>
                        <a:rPr sz="1000" b="0">
                          <a:solidFill>
                            <a:srgbClr val="2B2622"/>
                          </a:solidFill>
                          <a:latin typeface="Calibri"/>
                        </a:rPr>
                        <a:t>569 units</a:t>
                      </a:r>
                    </a:p>
                  </a:txBody>
                  <a:tcPr marL="54864" marR="54864" marT="27432" marB="27432" anchor="ctr">
                    <a:solidFill>
                      <a:srgbClr val="FFFFFF"/>
                    </a:solidFill>
                  </a:tcPr>
                </a:tc>
              </a:tr>
              <a:tr h="310896">
                <a:tc>
                  <a:txBody>
                    <a:bodyPr/>
                    <a:lstStyle/>
                    <a:p>
                      <a:pPr algn="l"/>
                      <a:r>
                        <a:rPr sz="1000" b="0">
                          <a:solidFill>
                            <a:srgbClr val="2B2622"/>
                          </a:solidFill>
                          <a:latin typeface="Calibri"/>
                        </a:rPr>
                        <a:t>Size</a:t>
                      </a:r>
                    </a:p>
                  </a:txBody>
                  <a:tcPr marL="54864" marR="54864" marT="27432" marB="27432" anchor="ctr">
                    <a:solidFill>
                      <a:srgbClr val="F2ECE1"/>
                    </a:solidFill>
                  </a:tcPr>
                </a:tc>
                <a:tc>
                  <a:txBody>
                    <a:bodyPr/>
                    <a:lstStyle/>
                    <a:p>
                      <a:pPr algn="l"/>
                      <a:r>
                        <a:rPr sz="1000" b="0">
                          <a:solidFill>
                            <a:srgbClr val="2B2622"/>
                          </a:solidFill>
                          <a:latin typeface="Calibri"/>
                        </a:rPr>
                        <a:t>143 virtual bytes</a:t>
                      </a:r>
                    </a:p>
                  </a:txBody>
                  <a:tcPr marL="54864" marR="54864" marT="27432" marB="27432" anchor="ctr">
                    <a:solidFill>
                      <a:srgbClr val="F2ECE1"/>
                    </a:solidFill>
                  </a:tcPr>
                </a:tc>
              </a:tr>
              <a:tr h="310896">
                <a:tc>
                  <a:txBody>
                    <a:bodyPr/>
                    <a:lstStyle/>
                    <a:p>
                      <a:pPr algn="l"/>
                      <a:r>
                        <a:rPr sz="1000" b="0">
                          <a:solidFill>
                            <a:srgbClr val="2B2622"/>
                          </a:solidFill>
                          <a:latin typeface="Calibri"/>
                        </a:rPr>
                        <a:t>Fee</a:t>
                      </a:r>
                    </a:p>
                  </a:txBody>
                  <a:tcPr marL="54864" marR="54864" marT="27432" marB="27432" anchor="ctr">
                    <a:solidFill>
                      <a:srgbClr val="FFFFFF"/>
                    </a:solidFill>
                  </a:tcPr>
                </a:tc>
                <a:tc>
                  <a:txBody>
                    <a:bodyPr/>
                    <a:lstStyle/>
                    <a:p>
                      <a:pPr algn="l"/>
                      <a:r>
                        <a:rPr sz="1000" b="0">
                          <a:solidFill>
                            <a:srgbClr val="2B2622"/>
                          </a:solidFill>
                          <a:latin typeface="Calibri"/>
                        </a:rPr>
                        <a:t>5,000 satoshis</a:t>
                      </a:r>
                    </a:p>
                  </a:txBody>
                  <a:tcPr marL="54864" marR="54864" marT="27432" marB="27432" anchor="ctr">
                    <a:solidFill>
                      <a:srgbClr val="FFFFFF"/>
                    </a:solidFill>
                  </a:tcPr>
                </a:tc>
              </a:tr>
              <a:tr h="310896">
                <a:tc>
                  <a:txBody>
                    <a:bodyPr/>
                    <a:lstStyle/>
                    <a:p>
                      <a:pPr algn="l"/>
                      <a:r>
                        <a:rPr sz="1000" b="0">
                          <a:solidFill>
                            <a:srgbClr val="2B2622"/>
                          </a:solidFill>
                          <a:latin typeface="Calibri"/>
                        </a:rPr>
                        <a:t>Fee rate</a:t>
                      </a:r>
                    </a:p>
                  </a:txBody>
                  <a:tcPr marL="54864" marR="54864" marT="27432" marB="27432" anchor="ctr">
                    <a:solidFill>
                      <a:srgbClr val="F2ECE1"/>
                    </a:solidFill>
                  </a:tcPr>
                </a:tc>
                <a:tc>
                  <a:txBody>
                    <a:bodyPr/>
                    <a:lstStyle/>
                    <a:p>
                      <a:pPr algn="l"/>
                      <a:r>
                        <a:rPr sz="1000" b="0">
                          <a:solidFill>
                            <a:srgbClr val="2B2622"/>
                          </a:solidFill>
                          <a:latin typeface="Calibri"/>
                        </a:rPr>
                        <a:t>34.97 sat/vB</a:t>
                      </a:r>
                    </a:p>
                  </a:txBody>
                  <a:tcPr marL="54864" marR="54864" marT="27432" marB="27432" anchor="ctr">
                    <a:solidFill>
                      <a:srgbClr val="F2ECE1"/>
                    </a:solidFill>
                  </a:tcPr>
                </a:tc>
              </a:tr>
            </a:tbl>
          </a:graphicData>
        </a:graphic>
      </p:graphicFrame>
      <p:sp>
        <p:nvSpPr>
          <p:cNvPr id="17" name="TextBox 16"/>
          <p:cNvSpPr txBox="1"/>
          <p:nvPr/>
        </p:nvSpPr>
        <p:spPr>
          <a:xfrm>
            <a:off x="5852160" y="3355848"/>
            <a:ext cx="2834640" cy="640080"/>
          </a:xfrm>
          <a:prstGeom prst="rect">
            <a:avLst/>
          </a:prstGeom>
          <a:noFill/>
        </p:spPr>
        <p:txBody>
          <a:bodyPr wrap="square" lIns="0" rIns="0" tIns="0" bIns="0" anchor="t">
            <a:spAutoFit/>
          </a:bodyPr>
          <a:lstStyle/>
          <a:p>
            <a:pPr algn="l"/>
            <a:r>
              <a:rPr sz="1100" b="0" i="0">
                <a:solidFill>
                  <a:srgbClr val="2B2622"/>
                </a:solidFill>
                <a:latin typeface="Calibri"/>
              </a:rPr>
              <a:t>569 / 4 = 142.25, rounded up to 143.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A chain of transactions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Outputs become inputs, and the chain leads back in time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Follow the arrows backwards to find where a coin came from</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15 / 35</a:t>
            </a:r>
          </a:p>
        </p:txBody>
      </p:sp>
      <p:pic>
        <p:nvPicPr>
          <p:cNvPr id="8" name="Picture 7" descr="Figure 2-3: Tx1, Tx2 and Tx3 linked by arrows from inputs to outputs"/>
          <p:cNvPicPr>
            <a:picLocks noChangeAspect="1"/>
          </p:cNvPicPr>
          <p:nvPr/>
        </p:nvPicPr>
        <p:blipFill>
          <a:blip r:embed="rId3"/>
          <a:stretch>
            <a:fillRect/>
          </a:stretch>
        </p:blipFill>
        <p:spPr>
          <a:xfrm>
            <a:off x="1012356" y="1234440"/>
            <a:ext cx="7119287" cy="2350008"/>
          </a:xfrm>
          <a:prstGeom prst="rect">
            <a:avLst/>
          </a:prstGeom>
        </p:spPr>
      </p:pic>
      <p:sp>
        <p:nvSpPr>
          <p:cNvPr id="9" name="TextBox 8"/>
          <p:cNvSpPr txBox="1"/>
          <p:nvPr/>
        </p:nvSpPr>
        <p:spPr>
          <a:xfrm>
            <a:off x="1005840" y="3611880"/>
            <a:ext cx="7132320" cy="201168"/>
          </a:xfrm>
          <a:prstGeom prst="rect">
            <a:avLst/>
          </a:prstGeom>
          <a:noFill/>
        </p:spPr>
        <p:txBody>
          <a:bodyPr wrap="square" lIns="0" rIns="0" tIns="0" bIns="0" anchor="t">
            <a:spAutoFit/>
          </a:bodyPr>
          <a:lstStyle/>
          <a:p>
            <a:pPr algn="l"/>
            <a:r>
              <a:rPr sz="850" b="0" i="0">
                <a:solidFill>
                  <a:srgbClr val="6E655C"/>
                </a:solidFill>
                <a:latin typeface="Calibri"/>
              </a:rPr>
              <a:t>Figure 2-3, Mastering Bitcoin 3rd edition, Antonopoulos and Harding, CC BY-SA 4.0</a:t>
            </a:r>
          </a:p>
        </p:txBody>
      </p:sp>
      <p:sp>
        <p:nvSpPr>
          <p:cNvPr id="10" name="Rounded Rectangle 9"/>
          <p:cNvSpPr/>
          <p:nvPr/>
        </p:nvSpPr>
        <p:spPr>
          <a:xfrm>
            <a:off x="457200" y="3931920"/>
            <a:ext cx="2651760" cy="566928"/>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0" i="0">
                <a:solidFill>
                  <a:srgbClr val="2B2622"/>
                </a:solidFill>
                <a:latin typeface="Calibri"/>
              </a:rPr>
              <a:t>Each input names an earlier output, such as Tx1:0.</a:t>
            </a:r>
          </a:p>
        </p:txBody>
      </p:sp>
      <p:sp>
        <p:nvSpPr>
          <p:cNvPr id="11" name="Rounded Rectangle 10"/>
          <p:cNvSpPr/>
          <p:nvPr/>
        </p:nvSpPr>
        <p:spPr>
          <a:xfrm>
            <a:off x="3291840" y="3931920"/>
            <a:ext cx="2651760" cy="566928"/>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0" i="0">
                <a:solidFill>
                  <a:srgbClr val="2B2622"/>
                </a:solidFill>
                <a:latin typeface="Calibri"/>
              </a:rPr>
              <a:t>A spent output can never be spent a second time.</a:t>
            </a:r>
          </a:p>
        </p:txBody>
      </p:sp>
      <p:sp>
        <p:nvSpPr>
          <p:cNvPr id="12" name="Rounded Rectangle 11"/>
          <p:cNvSpPr/>
          <p:nvPr/>
        </p:nvSpPr>
        <p:spPr>
          <a:xfrm>
            <a:off x="6126480" y="3931920"/>
            <a:ext cx="2651760" cy="566928"/>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l"/>
            <a:r>
              <a:rPr sz="1100" b="0" i="0">
                <a:solidFill>
                  <a:srgbClr val="2B2622"/>
                </a:solidFill>
                <a:latin typeface="Calibri"/>
              </a:rPr>
              <a:t>Outputs nobody has spent are the coins in a wallet.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Which outputs are still unspent</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Walking the chain of figure 2-3</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Unspent outputs are the coins that exist right now</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16 / 35</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Rounded Rectangle 9"/>
          <p:cNvSpPr/>
          <p:nvPr/>
        </p:nvSpPr>
        <p:spPr>
          <a:xfrm>
            <a:off x="457200" y="2877312"/>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1" name="TextBox 10"/>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 = T.CHAIN</a:t>
            </a:r>
          </a:p>
          <a:p>
            <a:pPr algn="l"/>
            <a:r>
              <a:rPr sz="1000" b="1" i="0">
                <a:solidFill>
                  <a:srgbClr val="F2A860"/>
                </a:solidFill>
                <a:latin typeface="Courier New"/>
              </a:rPr>
              <a:t>&gt;&gt;&gt; </a:t>
            </a:r>
            <a:r>
              <a:rPr sz="1000" b="0" i="0">
                <a:solidFill>
                  <a:srgbClr val="E6EDF3"/>
                </a:solidFill>
                <a:latin typeface="Courier New"/>
              </a:rPr>
              <a:t>used = {i </a:t>
            </a:r>
            <a:r>
              <a:rPr sz="1000" b="1" i="0">
                <a:solidFill>
                  <a:srgbClr val="F2A860"/>
                </a:solidFill>
                <a:latin typeface="Courier New"/>
              </a:rPr>
              <a:t>for</a:t>
            </a:r>
            <a:r>
              <a:rPr sz="1000" b="0" i="0">
                <a:solidFill>
                  <a:srgbClr val="E6EDF3"/>
                </a:solidFill>
                <a:latin typeface="Courier New"/>
              </a:rPr>
              <a:t> a, b </a:t>
            </a:r>
            <a:r>
              <a:rPr sz="1000" b="1" i="0">
                <a:solidFill>
                  <a:srgbClr val="F2A860"/>
                </a:solidFill>
                <a:latin typeface="Courier New"/>
              </a:rPr>
              <a:t>in</a:t>
            </a:r>
            <a:r>
              <a:rPr sz="1000" b="0" i="0">
                <a:solidFill>
                  <a:srgbClr val="E6EDF3"/>
                </a:solidFill>
                <a:latin typeface="Courier New"/>
              </a:rPr>
              <a:t> C.values() </a:t>
            </a:r>
            <a:r>
              <a:rPr sz="1000" b="1" i="0">
                <a:solidFill>
                  <a:srgbClr val="F2A860"/>
                </a:solidFill>
                <a:latin typeface="Courier New"/>
              </a:rPr>
              <a:t>for</a:t>
            </a:r>
            <a:r>
              <a:rPr sz="1000" b="0" i="0">
                <a:solidFill>
                  <a:srgbClr val="E6EDF3"/>
                </a:solidFill>
                <a:latin typeface="Courier New"/>
              </a:rPr>
              <a:t> i </a:t>
            </a:r>
            <a:r>
              <a:rPr sz="1000" b="1" i="0">
                <a:solidFill>
                  <a:srgbClr val="F2A860"/>
                </a:solidFill>
                <a:latin typeface="Courier New"/>
              </a:rPr>
              <a:t>in</a:t>
            </a:r>
            <a:r>
              <a:rPr sz="1000" b="0" i="0">
                <a:solidFill>
                  <a:srgbClr val="E6EDF3"/>
                </a:solidFill>
                <a:latin typeface="Courier New"/>
              </a:rPr>
              <a:t> a}</a:t>
            </a:r>
          </a:p>
        </p:txBody>
      </p:sp>
      <p:sp>
        <p:nvSpPr>
          <p:cNvPr id="12" name="TextBox 11"/>
          <p:cNvSpPr txBox="1"/>
          <p:nvPr/>
        </p:nvSpPr>
        <p:spPr>
          <a:xfrm>
            <a:off x="603504" y="2246376"/>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val = {o: v </a:t>
            </a:r>
            <a:r>
              <a:rPr sz="1000" b="1" i="0">
                <a:solidFill>
                  <a:srgbClr val="F2A860"/>
                </a:solidFill>
                <a:latin typeface="Courier New"/>
              </a:rPr>
              <a:t>for</a:t>
            </a:r>
            <a:r>
              <a:rPr sz="1000" b="0" i="0">
                <a:solidFill>
                  <a:srgbClr val="E6EDF3"/>
                </a:solidFill>
                <a:latin typeface="Courier New"/>
              </a:rPr>
              <a:t> _, b </a:t>
            </a:r>
            <a:r>
              <a:rPr sz="1000" b="1" i="0">
                <a:solidFill>
                  <a:srgbClr val="F2A860"/>
                </a:solidFill>
                <a:latin typeface="Courier New"/>
              </a:rPr>
              <a:t>in</a:t>
            </a:r>
            <a:r>
              <a:rPr sz="1000" b="0" i="0">
                <a:solidFill>
                  <a:srgbClr val="E6EDF3"/>
                </a:solidFill>
                <a:latin typeface="Courier New"/>
              </a:rPr>
              <a:t> C.values() </a:t>
            </a:r>
            <a:r>
              <a:rPr sz="1000" b="1" i="0">
                <a:solidFill>
                  <a:srgbClr val="F2A860"/>
                </a:solidFill>
                <a:latin typeface="Courier New"/>
              </a:rPr>
              <a:t>for</a:t>
            </a:r>
            <a:r>
              <a:rPr sz="1000" b="0" i="0">
                <a:solidFill>
                  <a:srgbClr val="E6EDF3"/>
                </a:solidFill>
                <a:latin typeface="Courier New"/>
              </a:rPr>
              <a:t> o, v </a:t>
            </a:r>
            <a:r>
              <a:rPr sz="1000" b="1" i="0">
                <a:solidFill>
                  <a:srgbClr val="F2A860"/>
                </a:solidFill>
                <a:latin typeface="Courier New"/>
              </a:rPr>
              <a:t>in</a:t>
            </a:r>
            <a:r>
              <a:rPr sz="1000" b="0" i="0">
                <a:solidFill>
                  <a:srgbClr val="E6EDF3"/>
                </a:solidFill>
                <a:latin typeface="Courier New"/>
              </a:rPr>
              <a:t> b.items()}</a:t>
            </a:r>
          </a:p>
        </p:txBody>
      </p:sp>
      <p:sp>
        <p:nvSpPr>
          <p:cNvPr id="13" name="TextBox 12"/>
          <p:cNvSpPr txBox="1"/>
          <p:nvPr/>
        </p:nvSpPr>
        <p:spPr>
          <a:xfrm>
            <a:off x="603504" y="2968752"/>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free = [o </a:t>
            </a:r>
            <a:r>
              <a:rPr sz="1000" b="1" i="0">
                <a:solidFill>
                  <a:srgbClr val="F2A860"/>
                </a:solidFill>
                <a:latin typeface="Courier New"/>
              </a:rPr>
              <a:t>for</a:t>
            </a:r>
            <a:r>
              <a:rPr sz="1000" b="0" i="0">
                <a:solidFill>
                  <a:srgbClr val="E6EDF3"/>
                </a:solidFill>
                <a:latin typeface="Courier New"/>
              </a:rPr>
              <a:t> o </a:t>
            </a:r>
            <a:r>
              <a:rPr sz="1000" b="1" i="0">
                <a:solidFill>
                  <a:srgbClr val="F2A860"/>
                </a:solidFill>
                <a:latin typeface="Courier New"/>
              </a:rPr>
              <a:t>in</a:t>
            </a:r>
            <a:r>
              <a:rPr sz="1000" b="0" i="0">
                <a:solidFill>
                  <a:srgbClr val="E6EDF3"/>
                </a:solidFill>
                <a:latin typeface="Courier New"/>
              </a:rPr>
              <a:t> val </a:t>
            </a:r>
            <a:r>
              <a:rPr sz="1000" b="1" i="0">
                <a:solidFill>
                  <a:srgbClr val="F2A860"/>
                </a:solidFill>
                <a:latin typeface="Courier New"/>
              </a:rPr>
              <a:t>if</a:t>
            </a:r>
            <a:r>
              <a:rPr sz="1000" b="0" i="0">
                <a:solidFill>
                  <a:srgbClr val="E6EDF3"/>
                </a:solidFill>
                <a:latin typeface="Courier New"/>
              </a:rPr>
              <a:t> o </a:t>
            </a:r>
            <a:r>
              <a:rPr sz="1000" b="1" i="0">
                <a:solidFill>
                  <a:srgbClr val="F2A860"/>
                </a:solidFill>
                <a:latin typeface="Courier New"/>
              </a:rPr>
              <a:t>not</a:t>
            </a:r>
            <a:r>
              <a:rPr sz="1000" b="0" i="0">
                <a:solidFill>
                  <a:srgbClr val="E6EDF3"/>
                </a:solidFill>
                <a:latin typeface="Courier New"/>
              </a:rPr>
              <a:t> </a:t>
            </a:r>
            <a:r>
              <a:rPr sz="1000" b="1" i="0">
                <a:solidFill>
                  <a:srgbClr val="F2A860"/>
                </a:solidFill>
                <a:latin typeface="Courier New"/>
              </a:rPr>
              <a:t>in</a:t>
            </a:r>
            <a:r>
              <a:rPr sz="1000" b="0" i="0">
                <a:solidFill>
                  <a:srgbClr val="E6EDF3"/>
                </a:solidFill>
                <a:latin typeface="Courier New"/>
              </a:rPr>
              <a:t> used]</a:t>
            </a:r>
          </a:p>
          <a:p>
            <a:pPr algn="l"/>
            <a:r>
              <a:rPr sz="1000" b="1" i="0">
                <a:solidFill>
                  <a:srgbClr val="F2A860"/>
                </a:solidFill>
                <a:latin typeface="Courier New"/>
              </a:rPr>
              <a:t>&gt;&gt;&gt; </a:t>
            </a:r>
            <a:r>
              <a:rPr sz="1000" b="0" i="0">
                <a:solidFill>
                  <a:srgbClr val="E6EDF3"/>
                </a:solidFill>
                <a:latin typeface="Courier New"/>
              </a:rPr>
              <a:t>free</a:t>
            </a:r>
          </a:p>
          <a:p>
            <a:pPr algn="l"/>
            <a:r>
              <a:rPr sz="1000" b="0" i="0">
                <a:solidFill>
                  <a:srgbClr val="7EE787"/>
                </a:solidFill>
                <a:latin typeface="Courier New"/>
              </a:rPr>
              <a:t>['Tx1:1', 'Tx2:0', 'Tx3:0']</a:t>
            </a:r>
          </a:p>
        </p:txBody>
      </p:sp>
      <p:sp>
        <p:nvSpPr>
          <p:cNvPr id="14" name="TextBox 13"/>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The chain of figure 2-3, and the set of outputs that some input spends.</a:t>
            </a:r>
          </a:p>
        </p:txBody>
      </p:sp>
      <p:sp>
        <p:nvSpPr>
          <p:cNvPr id="15" name="TextBox 14"/>
          <p:cNvSpPr txBox="1"/>
          <p:nvPr/>
        </p:nvSpPr>
        <p:spPr>
          <a:xfrm>
            <a:off x="457200" y="2563368"/>
            <a:ext cx="5212080" cy="204216"/>
          </a:xfrm>
          <a:prstGeom prst="rect">
            <a:avLst/>
          </a:prstGeom>
          <a:noFill/>
        </p:spPr>
        <p:txBody>
          <a:bodyPr wrap="square" lIns="0" rIns="0" tIns="0" bIns="0" anchor="t">
            <a:spAutoFit/>
          </a:bodyPr>
          <a:lstStyle/>
          <a:p>
            <a:pPr algn="l"/>
            <a:r>
              <a:rPr sz="1100" b="0" i="0">
                <a:solidFill>
                  <a:srgbClr val="2B2622"/>
                </a:solidFill>
                <a:latin typeface="Calibri"/>
              </a:rPr>
              <a:t>Every output of the chain with its value in satoshis.</a:t>
            </a:r>
          </a:p>
        </p:txBody>
      </p:sp>
      <p:sp>
        <p:nvSpPr>
          <p:cNvPr id="16" name="TextBox 15"/>
          <p:cNvSpPr txBox="1"/>
          <p:nvPr/>
        </p:nvSpPr>
        <p:spPr>
          <a:xfrm>
            <a:off x="457200" y="3590544"/>
            <a:ext cx="5212080" cy="204216"/>
          </a:xfrm>
          <a:prstGeom prst="rect">
            <a:avLst/>
          </a:prstGeom>
          <a:noFill/>
        </p:spPr>
        <p:txBody>
          <a:bodyPr wrap="square" lIns="0" rIns="0" tIns="0" bIns="0" anchor="t">
            <a:spAutoFit/>
          </a:bodyPr>
          <a:lstStyle/>
          <a:p>
            <a:pPr algn="l"/>
            <a:r>
              <a:rPr sz="1100" b="0" i="0">
                <a:solidFill>
                  <a:srgbClr val="2B2622"/>
                </a:solidFill>
                <a:latin typeface="Calibri"/>
              </a:rPr>
              <a:t>Outputs that nobody has spent are the coins that still exist.</a:t>
            </a:r>
          </a:p>
        </p:txBody>
      </p:sp>
      <p:sp>
        <p:nvSpPr>
          <p:cNvPr id="17" name="TextBox 16"/>
          <p:cNvSpPr txBox="1"/>
          <p:nvPr/>
        </p:nvSpPr>
        <p:spPr>
          <a:xfrm>
            <a:off x="457200" y="3867911"/>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8" name="TextBox 17"/>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five outputs of the chain</a:t>
            </a:r>
          </a:p>
        </p:txBody>
      </p:sp>
      <p:graphicFrame>
        <p:nvGraphicFramePr>
          <p:cNvPr id="19" name="Table 18"/>
          <p:cNvGraphicFramePr>
            <a:graphicFrameLocks noGrp="1"/>
          </p:cNvGraphicFramePr>
          <p:nvPr/>
        </p:nvGraphicFramePr>
        <p:xfrm>
          <a:off x="5852160" y="1691640"/>
          <a:ext cx="2834640" cy="1645920"/>
        </p:xfrm>
        <a:graphic>
          <a:graphicData uri="http://schemas.openxmlformats.org/drawingml/2006/table">
            <a:tbl>
              <a:tblPr firstRow="1" bandRow="1">
                <a:tableStyleId>{5C22544A-7EE6-4342-B048-85BDC9FD1C3A}</a:tableStyleId>
              </a:tblPr>
              <a:tblGrid>
                <a:gridCol w="868680"/>
                <a:gridCol w="960120"/>
                <a:gridCol w="1005840"/>
              </a:tblGrid>
              <a:tr h="274320">
                <a:tc>
                  <a:txBody>
                    <a:bodyPr/>
                    <a:lstStyle/>
                    <a:p>
                      <a:pPr algn="l"/>
                      <a:r>
                        <a:rPr sz="1000" b="1">
                          <a:solidFill>
                            <a:srgbClr val="FFFFFF"/>
                          </a:solidFill>
                          <a:latin typeface="Calibri"/>
                        </a:rPr>
                        <a:t>Output</a:t>
                      </a:r>
                    </a:p>
                  </a:txBody>
                  <a:tcPr marL="54864" marR="54864" marT="27432" marB="27432" anchor="ctr">
                    <a:solidFill>
                      <a:srgbClr val="2F6D62"/>
                    </a:solidFill>
                  </a:tcPr>
                </a:tc>
                <a:tc>
                  <a:txBody>
                    <a:bodyPr/>
                    <a:lstStyle/>
                    <a:p>
                      <a:pPr algn="l"/>
                      <a:r>
                        <a:rPr sz="1000" b="1">
                          <a:solidFill>
                            <a:srgbClr val="FFFFFF"/>
                          </a:solidFill>
                          <a:latin typeface="Calibri"/>
                        </a:rPr>
                        <a:t>Satoshis</a:t>
                      </a:r>
                    </a:p>
                  </a:txBody>
                  <a:tcPr marL="54864" marR="54864" marT="27432" marB="27432" anchor="ctr">
                    <a:solidFill>
                      <a:srgbClr val="2F6D62"/>
                    </a:solidFill>
                  </a:tcPr>
                </a:tc>
                <a:tc>
                  <a:txBody>
                    <a:bodyPr/>
                    <a:lstStyle/>
                    <a:p>
                      <a:pPr algn="l"/>
                      <a:r>
                        <a:rPr sz="1000" b="1">
                          <a:solidFill>
                            <a:srgbClr val="FFFFFF"/>
                          </a:solidFill>
                          <a:latin typeface="Calibri"/>
                        </a:rPr>
                        <a:t>State</a:t>
                      </a:r>
                    </a:p>
                  </a:txBody>
                  <a:tcPr marL="54864" marR="54864" marT="27432" marB="27432" anchor="ctr">
                    <a:solidFill>
                      <a:srgbClr val="2F6D62"/>
                    </a:solidFill>
                  </a:tcPr>
                </a:tc>
              </a:tr>
              <a:tr h="274320">
                <a:tc>
                  <a:txBody>
                    <a:bodyPr/>
                    <a:lstStyle/>
                    <a:p>
                      <a:pPr algn="l"/>
                      <a:r>
                        <a:rPr sz="1000" b="0">
                          <a:solidFill>
                            <a:srgbClr val="2B2622"/>
                          </a:solidFill>
                          <a:latin typeface="Calibri"/>
                        </a:rPr>
                        <a:t>Tx1:0</a:t>
                      </a:r>
                    </a:p>
                  </a:txBody>
                  <a:tcPr marL="54864" marR="54864" marT="27432" marB="27432" anchor="ctr">
                    <a:solidFill>
                      <a:srgbClr val="FFFFFF"/>
                    </a:solidFill>
                  </a:tcPr>
                </a:tc>
                <a:tc>
                  <a:txBody>
                    <a:bodyPr/>
                    <a:lstStyle/>
                    <a:p>
                      <a:pPr algn="l"/>
                      <a:r>
                        <a:rPr sz="1000" b="0">
                          <a:solidFill>
                            <a:srgbClr val="2B2622"/>
                          </a:solidFill>
                          <a:latin typeface="Calibri"/>
                        </a:rPr>
                        <a:t>100,000</a:t>
                      </a:r>
                    </a:p>
                  </a:txBody>
                  <a:tcPr marL="54864" marR="54864" marT="27432" marB="27432" anchor="ctr">
                    <a:solidFill>
                      <a:srgbClr val="FFFFFF"/>
                    </a:solidFill>
                  </a:tcPr>
                </a:tc>
                <a:tc>
                  <a:txBody>
                    <a:bodyPr/>
                    <a:lstStyle/>
                    <a:p>
                      <a:pPr algn="l"/>
                      <a:r>
                        <a:rPr sz="1000" b="0">
                          <a:solidFill>
                            <a:srgbClr val="2B2622"/>
                          </a:solidFill>
                          <a:latin typeface="Calibri"/>
                        </a:rPr>
                        <a:t>spent</a:t>
                      </a:r>
                    </a:p>
                  </a:txBody>
                  <a:tcPr marL="54864" marR="54864" marT="27432" marB="27432" anchor="ctr">
                    <a:solidFill>
                      <a:srgbClr val="FFFFFF"/>
                    </a:solidFill>
                  </a:tcPr>
                </a:tc>
              </a:tr>
              <a:tr h="274320">
                <a:tc>
                  <a:txBody>
                    <a:bodyPr/>
                    <a:lstStyle/>
                    <a:p>
                      <a:pPr algn="l"/>
                      <a:r>
                        <a:rPr sz="1000" b="0">
                          <a:solidFill>
                            <a:srgbClr val="2B2622"/>
                          </a:solidFill>
                          <a:latin typeface="Calibri"/>
                        </a:rPr>
                        <a:t>Tx1:1</a:t>
                      </a:r>
                    </a:p>
                  </a:txBody>
                  <a:tcPr marL="54864" marR="54864" marT="27432" marB="27432" anchor="ctr">
                    <a:solidFill>
                      <a:srgbClr val="EFE6D6"/>
                    </a:solidFill>
                  </a:tcPr>
                </a:tc>
                <a:tc>
                  <a:txBody>
                    <a:bodyPr/>
                    <a:lstStyle/>
                    <a:p>
                      <a:pPr algn="l"/>
                      <a:r>
                        <a:rPr sz="1000" b="0">
                          <a:solidFill>
                            <a:srgbClr val="2B2622"/>
                          </a:solidFill>
                          <a:latin typeface="Calibri"/>
                        </a:rPr>
                        <a:t>500,000</a:t>
                      </a:r>
                    </a:p>
                  </a:txBody>
                  <a:tcPr marL="54864" marR="54864" marT="27432" marB="27432" anchor="ctr">
                    <a:solidFill>
                      <a:srgbClr val="EFE6D6"/>
                    </a:solidFill>
                  </a:tcPr>
                </a:tc>
                <a:tc>
                  <a:txBody>
                    <a:bodyPr/>
                    <a:lstStyle/>
                    <a:p>
                      <a:pPr algn="l"/>
                      <a:r>
                        <a:rPr sz="1000" b="0">
                          <a:solidFill>
                            <a:srgbClr val="2B2622"/>
                          </a:solidFill>
                          <a:latin typeface="Calibri"/>
                        </a:rPr>
                        <a:t>unspent</a:t>
                      </a:r>
                    </a:p>
                  </a:txBody>
                  <a:tcPr marL="54864" marR="54864" marT="27432" marB="27432" anchor="ctr">
                    <a:solidFill>
                      <a:srgbClr val="EFE6D6"/>
                    </a:solidFill>
                  </a:tcPr>
                </a:tc>
              </a:tr>
              <a:tr h="274320">
                <a:tc>
                  <a:txBody>
                    <a:bodyPr/>
                    <a:lstStyle/>
                    <a:p>
                      <a:pPr algn="l"/>
                      <a:r>
                        <a:rPr sz="1000" b="0">
                          <a:solidFill>
                            <a:srgbClr val="2B2622"/>
                          </a:solidFill>
                          <a:latin typeface="Calibri"/>
                        </a:rPr>
                        <a:t>Tx2:0</a:t>
                      </a:r>
                    </a:p>
                  </a:txBody>
                  <a:tcPr marL="54864" marR="54864" marT="27432" marB="27432" anchor="ctr">
                    <a:solidFill>
                      <a:srgbClr val="EFE6D6"/>
                    </a:solidFill>
                  </a:tcPr>
                </a:tc>
                <a:tc>
                  <a:txBody>
                    <a:bodyPr/>
                    <a:lstStyle/>
                    <a:p>
                      <a:pPr algn="l"/>
                      <a:r>
                        <a:rPr sz="1000" b="0">
                          <a:solidFill>
                            <a:srgbClr val="2B2622"/>
                          </a:solidFill>
                          <a:latin typeface="Calibri"/>
                        </a:rPr>
                        <a:t>20,000</a:t>
                      </a:r>
                    </a:p>
                  </a:txBody>
                  <a:tcPr marL="54864" marR="54864" marT="27432" marB="27432" anchor="ctr">
                    <a:solidFill>
                      <a:srgbClr val="EFE6D6"/>
                    </a:solidFill>
                  </a:tcPr>
                </a:tc>
                <a:tc>
                  <a:txBody>
                    <a:bodyPr/>
                    <a:lstStyle/>
                    <a:p>
                      <a:pPr algn="l"/>
                      <a:r>
                        <a:rPr sz="1000" b="0">
                          <a:solidFill>
                            <a:srgbClr val="2B2622"/>
                          </a:solidFill>
                          <a:latin typeface="Calibri"/>
                        </a:rPr>
                        <a:t>unspent</a:t>
                      </a:r>
                    </a:p>
                  </a:txBody>
                  <a:tcPr marL="54864" marR="54864" marT="27432" marB="27432" anchor="ctr">
                    <a:solidFill>
                      <a:srgbClr val="EFE6D6"/>
                    </a:solidFill>
                  </a:tcPr>
                </a:tc>
              </a:tr>
              <a:tr h="274320">
                <a:tc>
                  <a:txBody>
                    <a:bodyPr/>
                    <a:lstStyle/>
                    <a:p>
                      <a:pPr algn="l"/>
                      <a:r>
                        <a:rPr sz="1000" b="0">
                          <a:solidFill>
                            <a:srgbClr val="2B2622"/>
                          </a:solidFill>
                          <a:latin typeface="Calibri"/>
                        </a:rPr>
                        <a:t>Tx2:1</a:t>
                      </a:r>
                    </a:p>
                  </a:txBody>
                  <a:tcPr marL="54864" marR="54864" marT="27432" marB="27432" anchor="ctr">
                    <a:solidFill>
                      <a:srgbClr val="F2ECE1"/>
                    </a:solidFill>
                  </a:tcPr>
                </a:tc>
                <a:tc>
                  <a:txBody>
                    <a:bodyPr/>
                    <a:lstStyle/>
                    <a:p>
                      <a:pPr algn="l"/>
                      <a:r>
                        <a:rPr sz="1000" b="0">
                          <a:solidFill>
                            <a:srgbClr val="2B2622"/>
                          </a:solidFill>
                          <a:latin typeface="Calibri"/>
                        </a:rPr>
                        <a:t>75,000</a:t>
                      </a:r>
                    </a:p>
                  </a:txBody>
                  <a:tcPr marL="54864" marR="54864" marT="27432" marB="27432" anchor="ctr">
                    <a:solidFill>
                      <a:srgbClr val="F2ECE1"/>
                    </a:solidFill>
                  </a:tcPr>
                </a:tc>
                <a:tc>
                  <a:txBody>
                    <a:bodyPr/>
                    <a:lstStyle/>
                    <a:p>
                      <a:pPr algn="l"/>
                      <a:r>
                        <a:rPr sz="1000" b="0">
                          <a:solidFill>
                            <a:srgbClr val="2B2622"/>
                          </a:solidFill>
                          <a:latin typeface="Calibri"/>
                        </a:rPr>
                        <a:t>spent</a:t>
                      </a:r>
                    </a:p>
                  </a:txBody>
                  <a:tcPr marL="54864" marR="54864" marT="27432" marB="27432" anchor="ctr">
                    <a:solidFill>
                      <a:srgbClr val="F2ECE1"/>
                    </a:solidFill>
                  </a:tcPr>
                </a:tc>
              </a:tr>
              <a:tr h="274320">
                <a:tc>
                  <a:txBody>
                    <a:bodyPr/>
                    <a:lstStyle/>
                    <a:p>
                      <a:pPr algn="l"/>
                      <a:r>
                        <a:rPr sz="1000" b="0">
                          <a:solidFill>
                            <a:srgbClr val="2B2622"/>
                          </a:solidFill>
                          <a:latin typeface="Calibri"/>
                        </a:rPr>
                        <a:t>Tx3:0</a:t>
                      </a:r>
                    </a:p>
                  </a:txBody>
                  <a:tcPr marL="54864" marR="54864" marT="27432" marB="27432" anchor="ctr">
                    <a:solidFill>
                      <a:srgbClr val="EFE6D6"/>
                    </a:solidFill>
                  </a:tcPr>
                </a:tc>
                <a:tc>
                  <a:txBody>
                    <a:bodyPr/>
                    <a:lstStyle/>
                    <a:p>
                      <a:pPr algn="l"/>
                      <a:r>
                        <a:rPr sz="1000" b="0">
                          <a:solidFill>
                            <a:srgbClr val="2B2622"/>
                          </a:solidFill>
                          <a:latin typeface="Calibri"/>
                        </a:rPr>
                        <a:t>67,000</a:t>
                      </a:r>
                    </a:p>
                  </a:txBody>
                  <a:tcPr marL="54864" marR="54864" marT="27432" marB="27432" anchor="ctr">
                    <a:solidFill>
                      <a:srgbClr val="EFE6D6"/>
                    </a:solidFill>
                  </a:tcPr>
                </a:tc>
                <a:tc>
                  <a:txBody>
                    <a:bodyPr/>
                    <a:lstStyle/>
                    <a:p>
                      <a:pPr algn="l"/>
                      <a:r>
                        <a:rPr sz="1000" b="0">
                          <a:solidFill>
                            <a:srgbClr val="2B2622"/>
                          </a:solidFill>
                          <a:latin typeface="Calibri"/>
                        </a:rPr>
                        <a:t>unspent</a:t>
                      </a:r>
                    </a:p>
                  </a:txBody>
                  <a:tcPr marL="54864" marR="54864" marT="27432" marB="27432" anchor="ctr">
                    <a:solidFill>
                      <a:srgbClr val="EFE6D6"/>
                    </a:solidFill>
                  </a:tcPr>
                </a:tc>
              </a:tr>
            </a:tbl>
          </a:graphicData>
        </a:graphic>
      </p:graphicFrame>
      <p:sp>
        <p:nvSpPr>
          <p:cNvPr id="20" name="TextBox 19"/>
          <p:cNvSpPr txBox="1"/>
          <p:nvPr/>
        </p:nvSpPr>
        <p:spPr>
          <a:xfrm>
            <a:off x="5852160" y="3447288"/>
            <a:ext cx="2834640" cy="640080"/>
          </a:xfrm>
          <a:prstGeom prst="rect">
            <a:avLst/>
          </a:prstGeom>
          <a:noFill/>
        </p:spPr>
        <p:txBody>
          <a:bodyPr wrap="square" lIns="0" rIns="0" tIns="0" bIns="0" anchor="t">
            <a:spAutoFit/>
          </a:bodyPr>
          <a:lstStyle/>
          <a:p>
            <a:pPr algn="l"/>
            <a:r>
              <a:rPr sz="1100" b="0" i="0">
                <a:solidFill>
                  <a:srgbClr val="2B2622"/>
                </a:solidFill>
                <a:latin typeface="Calibri"/>
              </a:rPr>
              <a:t>Fees: Tx2 paid 5,000, Tx3 paid 8,000 satoshis.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Coin Selection</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Which coins to spend, and what shape the payment takes</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Common Transaction Forms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Payment, consolidation and batching are shapes of inputs and outputs.</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single cheque, a deposit of coins and a payroll run.</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consolidation transaction</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Many small inputs are merged into one output.</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swapping a jar of small coins for one banknote.</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change address</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A fresh address of your own that receives the change.</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a new envelope addressed to yourself.</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341120"/>
                <a:gridCol w="1341120"/>
                <a:gridCol w="1341120"/>
                <a:gridCol w="1341120"/>
                <a:gridCol w="1341120"/>
                <a:gridCol w="1341120"/>
              </a:tblGrid>
              <a:tr h="365760">
                <a:tc>
                  <a:txBody>
                    <a:bodyPr/>
                    <a:lstStyle/>
                    <a:p>
                      <a:pPr algn="ctr"/>
                      <a:r>
                        <a:rPr sz="1000" b="0">
                          <a:solidFill>
                            <a:srgbClr val="6E655C"/>
                          </a:solidFill>
                          <a:latin typeface="Calibri"/>
                        </a:rPr>
                        <a:t>Store</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1">
                          <a:solidFill>
                            <a:srgbClr val="FFFFFF"/>
                          </a:solidFill>
                          <a:latin typeface="Calibri"/>
                        </a:rPr>
                        <a:t>Coin selection</a:t>
                      </a:r>
                    </a:p>
                  </a:txBody>
                  <a:tcPr marL="54864" marR="54864" marT="27432" marB="27432" anchor="ctr">
                    <a:solidFill>
                      <a:srgbClr val="D97A14"/>
                    </a:solidFill>
                  </a:tcPr>
                </a:tc>
                <a:tc>
                  <a:txBody>
                    <a:bodyPr/>
                    <a:lstStyle/>
                    <a:p>
                      <a:pPr algn="ctr"/>
                      <a:r>
                        <a:rPr sz="1000" b="0">
                          <a:solidFill>
                            <a:srgbClr val="6E655C"/>
                          </a:solidFill>
                          <a:latin typeface="Calibri"/>
                        </a:rPr>
                        <a:t>Construction</a:t>
                      </a:r>
                    </a:p>
                  </a:txBody>
                  <a:tcPr marL="54864" marR="54864" marT="27432" marB="27432" anchor="ctr">
                    <a:solidFill>
                      <a:srgbClr val="F2ECE1"/>
                    </a:solidFill>
                  </a:tcPr>
                </a:tc>
                <a:tc>
                  <a:txBody>
                    <a:bodyPr/>
                    <a:lstStyle/>
                    <a:p>
                      <a:pPr algn="ctr"/>
                      <a:r>
                        <a:rPr sz="1000" b="0">
                          <a:solidFill>
                            <a:srgbClr val="6E655C"/>
                          </a:solidFill>
                          <a:latin typeface="Calibri"/>
                        </a:rPr>
                        <a:t>Blockchain</a:t>
                      </a:r>
                    </a:p>
                  </a:txBody>
                  <a:tcPr marL="54864" marR="54864" marT="27432" marB="27432" anchor="ctr">
                    <a:solidFill>
                      <a:srgbClr val="F2ECE1"/>
                    </a:solidFill>
                  </a:tcPr>
                </a:tc>
                <a:tc>
                  <a:txBody>
                    <a:bodyPr/>
                    <a:lstStyle/>
                    <a:p>
                      <a:pPr algn="ctr"/>
                      <a:r>
                        <a:rPr sz="1000" b="0">
                          <a:solidFill>
                            <a:srgbClr val="6E655C"/>
                          </a:solidFill>
                          <a:latin typeface="Calibri"/>
                        </a:rPr>
                        <a:t>Spending</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17 / 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Coin selection: pick, pay, change back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A wallet chooses coins to cover a payment</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Coins are taken whole, so the surplus returns as change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18 / 35</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vals, need = [</a:t>
            </a:r>
            <a:r>
              <a:rPr sz="1000" b="0" i="0">
                <a:solidFill>
                  <a:srgbClr val="FFD28A"/>
                </a:solidFill>
                <a:latin typeface="Courier New"/>
              </a:rPr>
              <a:t>60000</a:t>
            </a:r>
            <a:r>
              <a:rPr sz="1000" b="0" i="0">
                <a:solidFill>
                  <a:srgbClr val="E6EDF3"/>
                </a:solidFill>
                <a:latin typeface="Courier New"/>
              </a:rPr>
              <a:t>, </a:t>
            </a:r>
            <a:r>
              <a:rPr sz="1000" b="0" i="0">
                <a:solidFill>
                  <a:srgbClr val="FFD28A"/>
                </a:solidFill>
                <a:latin typeface="Courier New"/>
              </a:rPr>
              <a:t>30000</a:t>
            </a:r>
            <a:r>
              <a:rPr sz="1000" b="0" i="0">
                <a:solidFill>
                  <a:srgbClr val="E6EDF3"/>
                </a:solidFill>
                <a:latin typeface="Courier New"/>
              </a:rPr>
              <a:t>, </a:t>
            </a:r>
            <a:r>
              <a:rPr sz="1000" b="0" i="0">
                <a:solidFill>
                  <a:srgbClr val="FFD28A"/>
                </a:solidFill>
                <a:latin typeface="Courier New"/>
              </a:rPr>
              <a:t>25000</a:t>
            </a:r>
            <a:r>
              <a:rPr sz="1000" b="0" i="0">
                <a:solidFill>
                  <a:srgbClr val="E6EDF3"/>
                </a:solidFill>
                <a:latin typeface="Courier New"/>
              </a:rPr>
              <a:t>], </a:t>
            </a:r>
            <a:r>
              <a:rPr sz="1000" b="0" i="0">
                <a:solidFill>
                  <a:srgbClr val="FFD28A"/>
                </a:solidFill>
                <a:latin typeface="Courier New"/>
              </a:rPr>
              <a:t>80000</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pick, change = T.select(vals, need)</a:t>
            </a:r>
          </a:p>
          <a:p>
            <a:pPr algn="l"/>
            <a:r>
              <a:rPr sz="1000" b="1" i="0">
                <a:solidFill>
                  <a:srgbClr val="F2A860"/>
                </a:solidFill>
                <a:latin typeface="Courier New"/>
              </a:rPr>
              <a:t>&gt;&gt;&gt; </a:t>
            </a:r>
            <a:r>
              <a:rPr sz="1000" b="0" i="0">
                <a:solidFill>
                  <a:srgbClr val="E6EDF3"/>
                </a:solidFill>
                <a:latin typeface="Courier New"/>
              </a:rPr>
              <a:t>(pick, change)</a:t>
            </a:r>
          </a:p>
          <a:p>
            <a:pPr algn="l"/>
            <a:r>
              <a:rPr sz="1000" b="0" i="0">
                <a:solidFill>
                  <a:srgbClr val="7EE787"/>
                </a:solidFill>
                <a:latin typeface="Courier New"/>
              </a:rPr>
              <a:t>([60000, 30000], 10000)</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Three coins in the wallet, and a payment of 80,000 satoshis to make.</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Take whole coins in order until they cover the payment; the surplus is change.</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payment, coins picked, change</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40080"/>
          </a:xfrm>
          <a:prstGeom prst="rect">
            <a:avLst/>
          </a:prstGeom>
          <a:noFill/>
        </p:spPr>
        <p:txBody>
          <a:bodyPr wrap="square" lIns="0" rIns="0" tIns="0" bIns="0" anchor="t">
            <a:spAutoFit/>
          </a:bodyPr>
          <a:lstStyle/>
          <a:p>
            <a:pPr algn="l"/>
            <a:r>
              <a:rPr sz="1100" b="0" i="0">
                <a:solidFill>
                  <a:srgbClr val="2B2622"/>
                </a:solidFill>
                <a:latin typeface="Calibri"/>
              </a:rPr>
              <a:t>Coins 60,000 + 30,000 are taken, 80,000 is paid, 10,000 goes back.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Three common shapes of a transaction</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Counting inputs, outputs and the fee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same ledger rule fits every shape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19 / 35</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F = T.FORMS</a:t>
            </a:r>
          </a:p>
          <a:p>
            <a:pPr algn="l"/>
            <a:r>
              <a:rPr sz="1000" b="1" i="0">
                <a:solidFill>
                  <a:srgbClr val="F2A860"/>
                </a:solidFill>
                <a:latin typeface="Courier New"/>
              </a:rPr>
              <a:t>&gt;&gt;&gt; </a:t>
            </a:r>
            <a:r>
              <a:rPr sz="1000" b="0" i="0">
                <a:solidFill>
                  <a:srgbClr val="E6EDF3"/>
                </a:solidFill>
                <a:latin typeface="Courier New"/>
              </a:rPr>
              <a:t>shape = {k: (len(a), len(b)) </a:t>
            </a:r>
            <a:r>
              <a:rPr sz="1000" b="1" i="0">
                <a:solidFill>
                  <a:srgbClr val="F2A860"/>
                </a:solidFill>
                <a:latin typeface="Courier New"/>
              </a:rPr>
              <a:t>for</a:t>
            </a:r>
            <a:r>
              <a:rPr sz="1000" b="0" i="0">
                <a:solidFill>
                  <a:srgbClr val="E6EDF3"/>
                </a:solidFill>
                <a:latin typeface="Courier New"/>
              </a:rPr>
              <a:t> k, (a, b) </a:t>
            </a:r>
            <a:r>
              <a:rPr sz="1000" b="1" i="0">
                <a:solidFill>
                  <a:srgbClr val="F2A860"/>
                </a:solidFill>
                <a:latin typeface="Courier New"/>
              </a:rPr>
              <a:t>in</a:t>
            </a:r>
            <a:r>
              <a:rPr sz="1000" b="0" i="0">
                <a:solidFill>
                  <a:srgbClr val="E6EDF3"/>
                </a:solidFill>
                <a:latin typeface="Courier New"/>
              </a:rPr>
              <a:t> F.items()}</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fee = {k: sum(a) - sum(b) </a:t>
            </a:r>
            <a:r>
              <a:rPr sz="1000" b="1" i="0">
                <a:solidFill>
                  <a:srgbClr val="F2A860"/>
                </a:solidFill>
                <a:latin typeface="Courier New"/>
              </a:rPr>
              <a:t>for</a:t>
            </a:r>
            <a:r>
              <a:rPr sz="1000" b="0" i="0">
                <a:solidFill>
                  <a:srgbClr val="E6EDF3"/>
                </a:solidFill>
                <a:latin typeface="Courier New"/>
              </a:rPr>
              <a:t> k, (a, b) </a:t>
            </a:r>
            <a:r>
              <a:rPr sz="1000" b="1" i="0">
                <a:solidFill>
                  <a:srgbClr val="F2A860"/>
                </a:solidFill>
                <a:latin typeface="Courier New"/>
              </a:rPr>
              <a:t>in</a:t>
            </a:r>
            <a:r>
              <a:rPr sz="1000" b="0" i="0">
                <a:solidFill>
                  <a:srgbClr val="E6EDF3"/>
                </a:solidFill>
                <a:latin typeface="Courier New"/>
              </a:rPr>
              <a:t> F.items()}</a:t>
            </a:r>
          </a:p>
          <a:p>
            <a:pPr algn="l"/>
            <a:r>
              <a:rPr sz="1000" b="1" i="0">
                <a:solidFill>
                  <a:srgbClr val="F2A860"/>
                </a:solidFill>
                <a:latin typeface="Courier New"/>
              </a:rPr>
              <a:t>&gt;&gt;&gt; </a:t>
            </a:r>
            <a:r>
              <a:rPr sz="1000" b="0" i="0">
                <a:solidFill>
                  <a:srgbClr val="E6EDF3"/>
                </a:solidFill>
                <a:latin typeface="Courier New"/>
              </a:rPr>
              <a:t>fee</a:t>
            </a:r>
          </a:p>
          <a:p>
            <a:pPr algn="l"/>
            <a:r>
              <a:rPr sz="1000" b="0" i="0">
                <a:solidFill>
                  <a:srgbClr val="7EE787"/>
                </a:solidFill>
                <a:latin typeface="Courier New"/>
              </a:rPr>
              <a:t>{'payment': 5000, 'consolidation': 1500, 'batching': 3000}</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Three forms, each a list of input values and a list of output values.</a:t>
            </a:r>
          </a:p>
        </p:txBody>
      </p:sp>
      <p:sp>
        <p:nvSpPr>
          <p:cNvPr id="13" name="TextBox 12"/>
          <p:cNvSpPr txBox="1"/>
          <p:nvPr/>
        </p:nvSpPr>
        <p:spPr>
          <a:xfrm>
            <a:off x="457200" y="2868168"/>
            <a:ext cx="5212080" cy="204216"/>
          </a:xfrm>
          <a:prstGeom prst="rect">
            <a:avLst/>
          </a:prstGeom>
          <a:noFill/>
        </p:spPr>
        <p:txBody>
          <a:bodyPr wrap="square" lIns="0" rIns="0" tIns="0" bIns="0" anchor="t">
            <a:spAutoFit/>
          </a:bodyPr>
          <a:lstStyle/>
          <a:p>
            <a:pPr algn="l"/>
            <a:r>
              <a:rPr sz="1100" b="0" i="0">
                <a:solidFill>
                  <a:srgbClr val="2B2622"/>
                </a:solidFill>
                <a:latin typeface="Calibri"/>
              </a:rPr>
              <a:t>The fee of each shape is again inputs minus outputs.</a:t>
            </a:r>
          </a:p>
        </p:txBody>
      </p:sp>
      <p:sp>
        <p:nvSpPr>
          <p:cNvPr id="14" name="TextBox 13"/>
          <p:cNvSpPr txBox="1"/>
          <p:nvPr/>
        </p:nvSpPr>
        <p:spPr>
          <a:xfrm>
            <a:off x="457200" y="31455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inputs, outputs and fee of each shape</a:t>
            </a:r>
          </a:p>
        </p:txBody>
      </p:sp>
      <p:graphicFrame>
        <p:nvGraphicFramePr>
          <p:cNvPr id="16" name="Table 15"/>
          <p:cNvGraphicFramePr>
            <a:graphicFrameLocks noGrp="1"/>
          </p:cNvGraphicFramePr>
          <p:nvPr/>
        </p:nvGraphicFramePr>
        <p:xfrm>
          <a:off x="5852160" y="1691640"/>
          <a:ext cx="2834640" cy="1316736"/>
        </p:xfrm>
        <a:graphic>
          <a:graphicData uri="http://schemas.openxmlformats.org/drawingml/2006/table">
            <a:tbl>
              <a:tblPr firstRow="1" bandRow="1">
                <a:tableStyleId>{5C22544A-7EE6-4342-B048-85BDC9FD1C3A}</a:tableStyleId>
              </a:tblPr>
              <a:tblGrid>
                <a:gridCol w="1280160"/>
                <a:gridCol w="411480"/>
                <a:gridCol w="457200"/>
                <a:gridCol w="685800"/>
              </a:tblGrid>
              <a:tr h="329184">
                <a:tc>
                  <a:txBody>
                    <a:bodyPr/>
                    <a:lstStyle/>
                    <a:p>
                      <a:pPr algn="l"/>
                      <a:r>
                        <a:rPr sz="1000" b="1">
                          <a:solidFill>
                            <a:srgbClr val="FFFFFF"/>
                          </a:solidFill>
                          <a:latin typeface="Calibri"/>
                        </a:rPr>
                        <a:t>Form</a:t>
                      </a:r>
                    </a:p>
                  </a:txBody>
                  <a:tcPr marL="54864" marR="54864" marT="27432" marB="27432" anchor="ctr">
                    <a:solidFill>
                      <a:srgbClr val="2F6D62"/>
                    </a:solidFill>
                  </a:tcPr>
                </a:tc>
                <a:tc>
                  <a:txBody>
                    <a:bodyPr/>
                    <a:lstStyle/>
                    <a:p>
                      <a:pPr algn="ctr"/>
                      <a:r>
                        <a:rPr sz="1000" b="1">
                          <a:solidFill>
                            <a:srgbClr val="FFFFFF"/>
                          </a:solidFill>
                          <a:latin typeface="Calibri"/>
                        </a:rPr>
                        <a:t>In</a:t>
                      </a:r>
                    </a:p>
                  </a:txBody>
                  <a:tcPr marL="54864" marR="54864" marT="27432" marB="27432" anchor="ctr">
                    <a:solidFill>
                      <a:srgbClr val="2F6D62"/>
                    </a:solidFill>
                  </a:tcPr>
                </a:tc>
                <a:tc>
                  <a:txBody>
                    <a:bodyPr/>
                    <a:lstStyle/>
                    <a:p>
                      <a:pPr algn="ctr"/>
                      <a:r>
                        <a:rPr sz="1000" b="1">
                          <a:solidFill>
                            <a:srgbClr val="FFFFFF"/>
                          </a:solidFill>
                          <a:latin typeface="Calibri"/>
                        </a:rPr>
                        <a:t>Out</a:t>
                      </a:r>
                    </a:p>
                  </a:txBody>
                  <a:tcPr marL="54864" marR="54864" marT="27432" marB="27432" anchor="ctr">
                    <a:solidFill>
                      <a:srgbClr val="2F6D62"/>
                    </a:solidFill>
                  </a:tcPr>
                </a:tc>
                <a:tc>
                  <a:txBody>
                    <a:bodyPr/>
                    <a:lstStyle/>
                    <a:p>
                      <a:pPr algn="r"/>
                      <a:r>
                        <a:rPr sz="1000" b="1">
                          <a:solidFill>
                            <a:srgbClr val="FFFFFF"/>
                          </a:solidFill>
                          <a:latin typeface="Calibri"/>
                        </a:rPr>
                        <a:t>Fee</a:t>
                      </a:r>
                    </a:p>
                  </a:txBody>
                  <a:tcPr marL="54864" marR="54864" marT="27432" marB="27432" anchor="ctr">
                    <a:solidFill>
                      <a:srgbClr val="2F6D62"/>
                    </a:solidFill>
                  </a:tcPr>
                </a:tc>
              </a:tr>
              <a:tr h="329184">
                <a:tc>
                  <a:txBody>
                    <a:bodyPr/>
                    <a:lstStyle/>
                    <a:p>
                      <a:pPr algn="l"/>
                      <a:r>
                        <a:rPr sz="1000" b="0">
                          <a:solidFill>
                            <a:srgbClr val="2B2622"/>
                          </a:solidFill>
                          <a:latin typeface="Calibri"/>
                        </a:rPr>
                        <a:t>Payment</a:t>
                      </a:r>
                    </a:p>
                  </a:txBody>
                  <a:tcPr marL="54864" marR="54864" marT="27432" marB="27432" anchor="ctr">
                    <a:solidFill>
                      <a:srgbClr val="FFFFFF"/>
                    </a:solidFill>
                  </a:tcPr>
                </a:tc>
                <a:tc>
                  <a:txBody>
                    <a:bodyPr/>
                    <a:lstStyle/>
                    <a:p>
                      <a:pPr algn="ctr"/>
                      <a:r>
                        <a:rPr sz="1000" b="0">
                          <a:solidFill>
                            <a:srgbClr val="2B2622"/>
                          </a:solidFill>
                          <a:latin typeface="Calibri"/>
                        </a:rPr>
                        <a:t>1</a:t>
                      </a:r>
                    </a:p>
                  </a:txBody>
                  <a:tcPr marL="54864" marR="54864" marT="27432" marB="27432" anchor="ctr">
                    <a:solidFill>
                      <a:srgbClr val="FFFFFF"/>
                    </a:solidFill>
                  </a:tcPr>
                </a:tc>
                <a:tc>
                  <a:txBody>
                    <a:bodyPr/>
                    <a:lstStyle/>
                    <a:p>
                      <a:pPr algn="ctr"/>
                      <a:r>
                        <a:rPr sz="1000" b="0">
                          <a:solidFill>
                            <a:srgbClr val="2B2622"/>
                          </a:solidFill>
                          <a:latin typeface="Calibri"/>
                        </a:rPr>
                        <a:t>2</a:t>
                      </a:r>
                    </a:p>
                  </a:txBody>
                  <a:tcPr marL="54864" marR="54864" marT="27432" marB="27432" anchor="ctr">
                    <a:solidFill>
                      <a:srgbClr val="FFFFFF"/>
                    </a:solidFill>
                  </a:tcPr>
                </a:tc>
                <a:tc>
                  <a:txBody>
                    <a:bodyPr/>
                    <a:lstStyle/>
                    <a:p>
                      <a:pPr algn="r"/>
                      <a:r>
                        <a:rPr sz="1000" b="0">
                          <a:solidFill>
                            <a:srgbClr val="2B2622"/>
                          </a:solidFill>
                          <a:latin typeface="Calibri"/>
                        </a:rPr>
                        <a:t>5,000</a:t>
                      </a:r>
                    </a:p>
                  </a:txBody>
                  <a:tcPr marL="54864" marR="54864" marT="27432" marB="27432" anchor="ctr">
                    <a:solidFill>
                      <a:srgbClr val="FFFFFF"/>
                    </a:solidFill>
                  </a:tcPr>
                </a:tc>
              </a:tr>
              <a:tr h="329184">
                <a:tc>
                  <a:txBody>
                    <a:bodyPr/>
                    <a:lstStyle/>
                    <a:p>
                      <a:pPr algn="l"/>
                      <a:r>
                        <a:rPr sz="1000" b="0">
                          <a:solidFill>
                            <a:srgbClr val="2B2622"/>
                          </a:solidFill>
                          <a:latin typeface="Calibri"/>
                        </a:rPr>
                        <a:t>Consolidation</a:t>
                      </a:r>
                    </a:p>
                  </a:txBody>
                  <a:tcPr marL="54864" marR="54864" marT="27432" marB="27432" anchor="ctr">
                    <a:solidFill>
                      <a:srgbClr val="F2ECE1"/>
                    </a:solidFill>
                  </a:tcPr>
                </a:tc>
                <a:tc>
                  <a:txBody>
                    <a:bodyPr/>
                    <a:lstStyle/>
                    <a:p>
                      <a:pPr algn="ctr"/>
                      <a:r>
                        <a:rPr sz="1000" b="0">
                          <a:solidFill>
                            <a:srgbClr val="2B2622"/>
                          </a:solidFill>
                          <a:latin typeface="Calibri"/>
                        </a:rPr>
                        <a:t>3</a:t>
                      </a:r>
                    </a:p>
                  </a:txBody>
                  <a:tcPr marL="54864" marR="54864" marT="27432" marB="27432" anchor="ctr">
                    <a:solidFill>
                      <a:srgbClr val="F2ECE1"/>
                    </a:solidFill>
                  </a:tcPr>
                </a:tc>
                <a:tc>
                  <a:txBody>
                    <a:bodyPr/>
                    <a:lstStyle/>
                    <a:p>
                      <a:pPr algn="ctr"/>
                      <a:r>
                        <a:rPr sz="1000" b="0">
                          <a:solidFill>
                            <a:srgbClr val="2B2622"/>
                          </a:solidFill>
                          <a:latin typeface="Calibri"/>
                        </a:rPr>
                        <a:t>1</a:t>
                      </a:r>
                    </a:p>
                  </a:txBody>
                  <a:tcPr marL="54864" marR="54864" marT="27432" marB="27432" anchor="ctr">
                    <a:solidFill>
                      <a:srgbClr val="F2ECE1"/>
                    </a:solidFill>
                  </a:tcPr>
                </a:tc>
                <a:tc>
                  <a:txBody>
                    <a:bodyPr/>
                    <a:lstStyle/>
                    <a:p>
                      <a:pPr algn="r"/>
                      <a:r>
                        <a:rPr sz="1000" b="0">
                          <a:solidFill>
                            <a:srgbClr val="2B2622"/>
                          </a:solidFill>
                          <a:latin typeface="Calibri"/>
                        </a:rPr>
                        <a:t>1,500</a:t>
                      </a:r>
                    </a:p>
                  </a:txBody>
                  <a:tcPr marL="54864" marR="54864" marT="27432" marB="27432" anchor="ctr">
                    <a:solidFill>
                      <a:srgbClr val="F2ECE1"/>
                    </a:solidFill>
                  </a:tcPr>
                </a:tc>
              </a:tr>
              <a:tr h="329184">
                <a:tc>
                  <a:txBody>
                    <a:bodyPr/>
                    <a:lstStyle/>
                    <a:p>
                      <a:pPr algn="l"/>
                      <a:r>
                        <a:rPr sz="1000" b="0">
                          <a:solidFill>
                            <a:srgbClr val="2B2622"/>
                          </a:solidFill>
                          <a:latin typeface="Calibri"/>
                        </a:rPr>
                        <a:t>Batching</a:t>
                      </a:r>
                    </a:p>
                  </a:txBody>
                  <a:tcPr marL="54864" marR="54864" marT="27432" marB="27432" anchor="ctr">
                    <a:solidFill>
                      <a:srgbClr val="FFFFFF"/>
                    </a:solidFill>
                  </a:tcPr>
                </a:tc>
                <a:tc>
                  <a:txBody>
                    <a:bodyPr/>
                    <a:lstStyle/>
                    <a:p>
                      <a:pPr algn="ctr"/>
                      <a:r>
                        <a:rPr sz="1000" b="0">
                          <a:solidFill>
                            <a:srgbClr val="2B2622"/>
                          </a:solidFill>
                          <a:latin typeface="Calibri"/>
                        </a:rPr>
                        <a:t>1</a:t>
                      </a:r>
                    </a:p>
                  </a:txBody>
                  <a:tcPr marL="54864" marR="54864" marT="27432" marB="27432" anchor="ctr">
                    <a:solidFill>
                      <a:srgbClr val="FFFFFF"/>
                    </a:solidFill>
                  </a:tcPr>
                </a:tc>
                <a:tc>
                  <a:txBody>
                    <a:bodyPr/>
                    <a:lstStyle/>
                    <a:p>
                      <a:pPr algn="ctr"/>
                      <a:r>
                        <a:rPr sz="1000" b="0">
                          <a:solidFill>
                            <a:srgbClr val="2B2622"/>
                          </a:solidFill>
                          <a:latin typeface="Calibri"/>
                        </a:rPr>
                        <a:t>4</a:t>
                      </a:r>
                    </a:p>
                  </a:txBody>
                  <a:tcPr marL="54864" marR="54864" marT="27432" marB="27432" anchor="ctr">
                    <a:solidFill>
                      <a:srgbClr val="FFFFFF"/>
                    </a:solidFill>
                  </a:tcPr>
                </a:tc>
                <a:tc>
                  <a:txBody>
                    <a:bodyPr/>
                    <a:lstStyle/>
                    <a:p>
                      <a:pPr algn="r"/>
                      <a:r>
                        <a:rPr sz="1000" b="0">
                          <a:solidFill>
                            <a:srgbClr val="2B2622"/>
                          </a:solidFill>
                          <a:latin typeface="Calibri"/>
                        </a:rPr>
                        <a:t>3,000</a:t>
                      </a:r>
                    </a:p>
                  </a:txBody>
                  <a:tcPr marL="54864" marR="54864" marT="27432" marB="27432" anchor="ctr">
                    <a:solidFill>
                      <a:srgbClr val="FFFFFF"/>
                    </a:solidFill>
                  </a:tcPr>
                </a:tc>
              </a:tr>
            </a:tbl>
          </a:graphicData>
        </a:graphic>
      </p:graphicFrame>
      <p:sp>
        <p:nvSpPr>
          <p:cNvPr id="17" name="TextBox 16"/>
          <p:cNvSpPr txBox="1"/>
          <p:nvPr/>
        </p:nvSpPr>
        <p:spPr>
          <a:xfrm>
            <a:off x="5852160" y="3118104"/>
            <a:ext cx="2834640" cy="640080"/>
          </a:xfrm>
          <a:prstGeom prst="rect">
            <a:avLst/>
          </a:prstGeom>
          <a:noFill/>
        </p:spPr>
        <p:txBody>
          <a:bodyPr wrap="square" lIns="0" rIns="0" tIns="0" bIns="0" anchor="t">
            <a:spAutoFit/>
          </a:bodyPr>
          <a:lstStyle/>
          <a:p>
            <a:pPr algn="l"/>
            <a:r>
              <a:rPr sz="1100" b="0" i="0">
                <a:solidFill>
                  <a:srgbClr val="2B2622"/>
                </a:solidFill>
                <a:latin typeface="Calibri"/>
              </a:rPr>
              <a:t>Consolidation merges coins; batching pays many people at once.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Constructing a Transaction</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The wallet assembles, prices and signs the payment</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Getting the Right Inputs</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Find unspent outputs that together cover the payment and the fee.</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counting coins onto the counter before paying.</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Creating the Outputs</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Write down who receives how much, and where the change goes.</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filling in the payee and the amount on a cheque.</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transaction fee</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Inputs minus outputs: the difference that the miner keeps.</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the postage stamp that pays the post office.</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341120"/>
                <a:gridCol w="1341120"/>
                <a:gridCol w="1341120"/>
                <a:gridCol w="1341120"/>
                <a:gridCol w="1341120"/>
                <a:gridCol w="1341120"/>
              </a:tblGrid>
              <a:tr h="365760">
                <a:tc>
                  <a:txBody>
                    <a:bodyPr/>
                    <a:lstStyle/>
                    <a:p>
                      <a:pPr algn="ctr"/>
                      <a:r>
                        <a:rPr sz="1000" b="0">
                          <a:solidFill>
                            <a:srgbClr val="6E655C"/>
                          </a:solidFill>
                          <a:latin typeface="Calibri"/>
                        </a:rPr>
                        <a:t>Store</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Coin selection</a:t>
                      </a:r>
                    </a:p>
                  </a:txBody>
                  <a:tcPr marL="54864" marR="54864" marT="27432" marB="27432" anchor="ctr">
                    <a:solidFill>
                      <a:srgbClr val="F2ECE1"/>
                    </a:solidFill>
                  </a:tcPr>
                </a:tc>
                <a:tc>
                  <a:txBody>
                    <a:bodyPr/>
                    <a:lstStyle/>
                    <a:p>
                      <a:pPr algn="ctr"/>
                      <a:r>
                        <a:rPr sz="1000" b="1">
                          <a:solidFill>
                            <a:srgbClr val="FFFFFF"/>
                          </a:solidFill>
                          <a:latin typeface="Calibri"/>
                        </a:rPr>
                        <a:t>Construction</a:t>
                      </a:r>
                    </a:p>
                  </a:txBody>
                  <a:tcPr marL="54864" marR="54864" marT="27432" marB="27432" anchor="ctr">
                    <a:solidFill>
                      <a:srgbClr val="D97A14"/>
                    </a:solidFill>
                  </a:tcPr>
                </a:tc>
                <a:tc>
                  <a:txBody>
                    <a:bodyPr/>
                    <a:lstStyle/>
                    <a:p>
                      <a:pPr algn="ctr"/>
                      <a:r>
                        <a:rPr sz="1000" b="0">
                          <a:solidFill>
                            <a:srgbClr val="6E655C"/>
                          </a:solidFill>
                          <a:latin typeface="Calibri"/>
                        </a:rPr>
                        <a:t>Blockchain</a:t>
                      </a:r>
                    </a:p>
                  </a:txBody>
                  <a:tcPr marL="54864" marR="54864" marT="27432" marB="27432" anchor="ctr">
                    <a:solidFill>
                      <a:srgbClr val="F2ECE1"/>
                    </a:solidFill>
                  </a:tcPr>
                </a:tc>
                <a:tc>
                  <a:txBody>
                    <a:bodyPr/>
                    <a:lstStyle/>
                    <a:p>
                      <a:pPr algn="ctr"/>
                      <a:r>
                        <a:rPr sz="1000" b="0">
                          <a:solidFill>
                            <a:srgbClr val="6E655C"/>
                          </a:solidFill>
                          <a:latin typeface="Calibri"/>
                        </a:rPr>
                        <a:t>Spending</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20 / 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From coins to a signed transaction</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five steps a wallet takes for Alice's payment</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wallet only decides inputs, outputs and fee; the rules do the rest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21 / 35</a:t>
            </a:r>
          </a:p>
        </p:txBody>
      </p:sp>
      <p:sp>
        <p:nvSpPr>
          <p:cNvPr id="8" name="Rounded Rectangle 7"/>
          <p:cNvSpPr/>
          <p:nvPr/>
        </p:nvSpPr>
        <p:spPr>
          <a:xfrm>
            <a:off x="365760" y="1371600"/>
            <a:ext cx="1499616"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Cambria"/>
              </a:rPr>
              <a:t>1 Inputs</a:t>
            </a:r>
          </a:p>
        </p:txBody>
      </p:sp>
      <p:sp>
        <p:nvSpPr>
          <p:cNvPr id="9" name="TextBox 8"/>
          <p:cNvSpPr txBox="1"/>
          <p:nvPr/>
        </p:nvSpPr>
        <p:spPr>
          <a:xfrm>
            <a:off x="365760" y="1965960"/>
            <a:ext cx="1499616" cy="914400"/>
          </a:xfrm>
          <a:prstGeom prst="rect">
            <a:avLst/>
          </a:prstGeom>
          <a:noFill/>
        </p:spPr>
        <p:txBody>
          <a:bodyPr wrap="square" lIns="0" rIns="0" tIns="0" bIns="0" anchor="t">
            <a:spAutoFit/>
          </a:bodyPr>
          <a:lstStyle/>
          <a:p>
            <a:pPr algn="l"/>
            <a:r>
              <a:rPr sz="1150" b="0" i="0">
                <a:solidFill>
                  <a:srgbClr val="2B2622"/>
                </a:solidFill>
                <a:latin typeface="Calibri"/>
              </a:rPr>
              <a:t>Find unspent outputs that cover payment and fee.</a:t>
            </a:r>
          </a:p>
        </p:txBody>
      </p:sp>
      <p:sp>
        <p:nvSpPr>
          <p:cNvPr id="10" name="Rounded Rectangle 9"/>
          <p:cNvSpPr/>
          <p:nvPr/>
        </p:nvSpPr>
        <p:spPr>
          <a:xfrm>
            <a:off x="365760" y="3017520"/>
            <a:ext cx="1499616"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50" b="1" i="0">
                <a:solidFill>
                  <a:srgbClr val="D97A14"/>
                </a:solidFill>
                <a:latin typeface="Calibri"/>
              </a:rPr>
              <a:t>Tx1:0 = 100,000</a:t>
            </a:r>
          </a:p>
        </p:txBody>
      </p:sp>
      <p:cxnSp>
        <p:nvCxnSpPr>
          <p:cNvPr id="11" name="Connector 10"/>
          <p:cNvCxnSpPr/>
          <p:nvPr/>
        </p:nvCxnSpPr>
        <p:spPr>
          <a:xfrm>
            <a:off x="1883664" y="1600200"/>
            <a:ext cx="192024"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93976" y="1371600"/>
            <a:ext cx="1499616"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Cambria"/>
              </a:rPr>
              <a:t>2 Outputs</a:t>
            </a:r>
          </a:p>
        </p:txBody>
      </p:sp>
      <p:sp>
        <p:nvSpPr>
          <p:cNvPr id="13" name="TextBox 12"/>
          <p:cNvSpPr txBox="1"/>
          <p:nvPr/>
        </p:nvSpPr>
        <p:spPr>
          <a:xfrm>
            <a:off x="2093976" y="1965960"/>
            <a:ext cx="1499616" cy="914400"/>
          </a:xfrm>
          <a:prstGeom prst="rect">
            <a:avLst/>
          </a:prstGeom>
          <a:noFill/>
        </p:spPr>
        <p:txBody>
          <a:bodyPr wrap="square" lIns="0" rIns="0" tIns="0" bIns="0" anchor="t">
            <a:spAutoFit/>
          </a:bodyPr>
          <a:lstStyle/>
          <a:p>
            <a:pPr algn="l"/>
            <a:r>
              <a:rPr sz="1150" b="0" i="0">
                <a:solidFill>
                  <a:srgbClr val="2B2622"/>
                </a:solidFill>
                <a:latin typeface="Calibri"/>
              </a:rPr>
              <a:t>One output for Bob's Store, one for the change.</a:t>
            </a:r>
          </a:p>
        </p:txBody>
      </p:sp>
      <p:sp>
        <p:nvSpPr>
          <p:cNvPr id="14" name="Rounded Rectangle 13"/>
          <p:cNvSpPr/>
          <p:nvPr/>
        </p:nvSpPr>
        <p:spPr>
          <a:xfrm>
            <a:off x="2093976" y="3017520"/>
            <a:ext cx="1499616"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50" b="1" i="0">
                <a:solidFill>
                  <a:srgbClr val="D97A14"/>
                </a:solidFill>
                <a:latin typeface="Calibri"/>
              </a:rPr>
              <a:t>75,000 and 20,000</a:t>
            </a:r>
          </a:p>
        </p:txBody>
      </p:sp>
      <p:cxnSp>
        <p:nvCxnSpPr>
          <p:cNvPr id="15" name="Connector 14"/>
          <p:cNvCxnSpPr/>
          <p:nvPr/>
        </p:nvCxnSpPr>
        <p:spPr>
          <a:xfrm>
            <a:off x="3611879" y="1600200"/>
            <a:ext cx="19202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822191" y="1371600"/>
            <a:ext cx="1499616"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Cambria"/>
              </a:rPr>
              <a:t>3 Fee</a:t>
            </a:r>
          </a:p>
        </p:txBody>
      </p:sp>
      <p:sp>
        <p:nvSpPr>
          <p:cNvPr id="17" name="TextBox 16"/>
          <p:cNvSpPr txBox="1"/>
          <p:nvPr/>
        </p:nvSpPr>
        <p:spPr>
          <a:xfrm>
            <a:off x="3822191" y="1965960"/>
            <a:ext cx="1499616" cy="914400"/>
          </a:xfrm>
          <a:prstGeom prst="rect">
            <a:avLst/>
          </a:prstGeom>
          <a:noFill/>
        </p:spPr>
        <p:txBody>
          <a:bodyPr wrap="square" lIns="0" rIns="0" tIns="0" bIns="0" anchor="t">
            <a:spAutoFit/>
          </a:bodyPr>
          <a:lstStyle/>
          <a:p>
            <a:pPr algn="l"/>
            <a:r>
              <a:rPr sz="1150" b="0" i="0">
                <a:solidFill>
                  <a:srgbClr val="2B2622"/>
                </a:solidFill>
                <a:latin typeface="Calibri"/>
              </a:rPr>
              <a:t>Leave the difference for the miner.</a:t>
            </a:r>
          </a:p>
        </p:txBody>
      </p:sp>
      <p:sp>
        <p:nvSpPr>
          <p:cNvPr id="18" name="Rounded Rectangle 17"/>
          <p:cNvSpPr/>
          <p:nvPr/>
        </p:nvSpPr>
        <p:spPr>
          <a:xfrm>
            <a:off x="3822191" y="3017520"/>
            <a:ext cx="1499616"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50" b="1" i="0">
                <a:solidFill>
                  <a:srgbClr val="D97A14"/>
                </a:solidFill>
                <a:latin typeface="Calibri"/>
              </a:rPr>
              <a:t>100,000 - 95,000 = 5,000</a:t>
            </a:r>
          </a:p>
        </p:txBody>
      </p:sp>
      <p:cxnSp>
        <p:nvCxnSpPr>
          <p:cNvPr id="19" name="Connector 18"/>
          <p:cNvCxnSpPr/>
          <p:nvPr/>
        </p:nvCxnSpPr>
        <p:spPr>
          <a:xfrm>
            <a:off x="5340095" y="1600200"/>
            <a:ext cx="192025"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550408" y="1371600"/>
            <a:ext cx="1499616" cy="457200"/>
          </a:xfrm>
          <a:prstGeom prst="roundRect">
            <a:avLst>
              <a:gd name="adj" fmla="val 2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Cambria"/>
              </a:rPr>
              <a:t>4 Sign</a:t>
            </a:r>
          </a:p>
        </p:txBody>
      </p:sp>
      <p:sp>
        <p:nvSpPr>
          <p:cNvPr id="21" name="TextBox 20"/>
          <p:cNvSpPr txBox="1"/>
          <p:nvPr/>
        </p:nvSpPr>
        <p:spPr>
          <a:xfrm>
            <a:off x="5550408" y="1965960"/>
            <a:ext cx="1499616" cy="914400"/>
          </a:xfrm>
          <a:prstGeom prst="rect">
            <a:avLst/>
          </a:prstGeom>
          <a:noFill/>
        </p:spPr>
        <p:txBody>
          <a:bodyPr wrap="square" lIns="0" rIns="0" tIns="0" bIns="0" anchor="t">
            <a:spAutoFit/>
          </a:bodyPr>
          <a:lstStyle/>
          <a:p>
            <a:pPr algn="l"/>
            <a:r>
              <a:rPr sz="1150" b="0" i="0">
                <a:solidFill>
                  <a:srgbClr val="2B2622"/>
                </a:solidFill>
                <a:latin typeface="Calibri"/>
              </a:rPr>
              <a:t>Prove ownership of every input.</a:t>
            </a:r>
          </a:p>
        </p:txBody>
      </p:sp>
      <p:sp>
        <p:nvSpPr>
          <p:cNvPr id="22" name="Rounded Rectangle 21"/>
          <p:cNvSpPr/>
          <p:nvPr/>
        </p:nvSpPr>
        <p:spPr>
          <a:xfrm>
            <a:off x="5550408" y="3017520"/>
            <a:ext cx="1499616"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50" b="1" i="0">
                <a:solidFill>
                  <a:srgbClr val="D97A14"/>
                </a:solidFill>
                <a:latin typeface="Calibri"/>
              </a:rPr>
              <a:t>one signature per input</a:t>
            </a:r>
          </a:p>
        </p:txBody>
      </p:sp>
      <p:cxnSp>
        <p:nvCxnSpPr>
          <p:cNvPr id="23" name="Connector 22"/>
          <p:cNvCxnSpPr/>
          <p:nvPr/>
        </p:nvCxnSpPr>
        <p:spPr>
          <a:xfrm>
            <a:off x="7068312" y="1600200"/>
            <a:ext cx="192024" cy="0"/>
          </a:xfrm>
          <a:prstGeom prst="line">
            <a:avLst/>
          </a:prstGeom>
          <a:ln w="22225">
            <a:solidFill>
              <a:srgbClr val="D97A14"/>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278624" y="1371600"/>
            <a:ext cx="1499616" cy="457200"/>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Cambria"/>
              </a:rPr>
              <a:t>5 Send</a:t>
            </a:r>
          </a:p>
        </p:txBody>
      </p:sp>
      <p:sp>
        <p:nvSpPr>
          <p:cNvPr id="25" name="TextBox 24"/>
          <p:cNvSpPr txBox="1"/>
          <p:nvPr/>
        </p:nvSpPr>
        <p:spPr>
          <a:xfrm>
            <a:off x="7278624" y="1965960"/>
            <a:ext cx="1499616" cy="914400"/>
          </a:xfrm>
          <a:prstGeom prst="rect">
            <a:avLst/>
          </a:prstGeom>
          <a:noFill/>
        </p:spPr>
        <p:txBody>
          <a:bodyPr wrap="square" lIns="0" rIns="0" tIns="0" bIns="0" anchor="t">
            <a:spAutoFit/>
          </a:bodyPr>
          <a:lstStyle/>
          <a:p>
            <a:pPr algn="l"/>
            <a:r>
              <a:rPr sz="1150" b="0" i="0">
                <a:solidFill>
                  <a:srgbClr val="2B2622"/>
                </a:solidFill>
                <a:latin typeface="Calibri"/>
              </a:rPr>
              <a:t>Pass the transaction to a node.</a:t>
            </a:r>
          </a:p>
        </p:txBody>
      </p:sp>
      <p:sp>
        <p:nvSpPr>
          <p:cNvPr id="26" name="Rounded Rectangle 25"/>
          <p:cNvSpPr/>
          <p:nvPr/>
        </p:nvSpPr>
        <p:spPr>
          <a:xfrm>
            <a:off x="7278624" y="3017520"/>
            <a:ext cx="1499616" cy="566928"/>
          </a:xfrm>
          <a:prstGeom prst="roundRect">
            <a:avLst>
              <a:gd name="adj" fmla="val 15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r>
              <a:rPr sz="1050" b="1" i="0">
                <a:solidFill>
                  <a:srgbClr val="D97A14"/>
                </a:solidFill>
                <a:latin typeface="Calibri"/>
              </a:rPr>
              <a:t>the node relays it on</a:t>
            </a:r>
          </a:p>
        </p:txBody>
      </p:sp>
      <p:sp>
        <p:nvSpPr>
          <p:cNvPr id="27" name="TextBox 26"/>
          <p:cNvSpPr txBox="1"/>
          <p:nvPr/>
        </p:nvSpPr>
        <p:spPr>
          <a:xfrm>
            <a:off x="457200" y="3840480"/>
            <a:ext cx="8229600" cy="548640"/>
          </a:xfrm>
          <a:prstGeom prst="rect">
            <a:avLst/>
          </a:prstGeom>
          <a:noFill/>
        </p:spPr>
        <p:txBody>
          <a:bodyPr wrap="square" lIns="0" rIns="0" tIns="0" bIns="0" anchor="t">
            <a:spAutoFit/>
          </a:bodyPr>
          <a:lstStyle/>
          <a:p>
            <a:pPr algn="l"/>
            <a:r>
              <a:rPr sz="1200" b="0" i="0">
                <a:solidFill>
                  <a:srgbClr val="6E655C"/>
                </a:solidFill>
                <a:latin typeface="Calibri"/>
              </a:rPr>
              <a:t>Steps 1 to 3 are the arithmetic of the ledger; step 4 is the signature, treated in chapter 8; step 5 hands the transaction to the network.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A higher fee rate leaves less change</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Pricing the payment before signing</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The wallet decides the fee; the change is what remains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22 / 35</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vb = </a:t>
            </a:r>
            <a:r>
              <a:rPr sz="1000" b="0" i="0">
                <a:solidFill>
                  <a:srgbClr val="FFD28A"/>
                </a:solidFill>
                <a:latin typeface="Courier New"/>
              </a:rPr>
              <a:t>143</a:t>
            </a:r>
          </a:p>
          <a:p>
            <a:pPr algn="l"/>
            <a:r>
              <a:rPr sz="1000" b="1" i="0">
                <a:solidFill>
                  <a:srgbClr val="F2A860"/>
                </a:solidFill>
                <a:latin typeface="Courier New"/>
              </a:rPr>
              <a:t>&gt;&gt;&gt; </a:t>
            </a:r>
            <a:r>
              <a:rPr sz="1000" b="0" i="0">
                <a:solidFill>
                  <a:srgbClr val="E6EDF3"/>
                </a:solidFill>
                <a:latin typeface="Courier New"/>
              </a:rPr>
              <a:t>rates = [</a:t>
            </a:r>
            <a:r>
              <a:rPr sz="1000" b="0" i="0">
                <a:solidFill>
                  <a:srgbClr val="FFD28A"/>
                </a:solidFill>
                <a:latin typeface="Courier New"/>
              </a:rPr>
              <a:t>10</a:t>
            </a:r>
            <a:r>
              <a:rPr sz="1000" b="0" i="0">
                <a:solidFill>
                  <a:srgbClr val="E6EDF3"/>
                </a:solidFill>
                <a:latin typeface="Courier New"/>
              </a:rPr>
              <a:t>, </a:t>
            </a:r>
            <a:r>
              <a:rPr sz="1000" b="0" i="0">
                <a:solidFill>
                  <a:srgbClr val="FFD28A"/>
                </a:solidFill>
                <a:latin typeface="Courier New"/>
              </a:rPr>
              <a:t>20</a:t>
            </a:r>
            <a:r>
              <a:rPr sz="1000" b="0" i="0">
                <a:solidFill>
                  <a:srgbClr val="E6EDF3"/>
                </a:solidFill>
                <a:latin typeface="Courier New"/>
              </a:rPr>
              <a:t>, </a:t>
            </a:r>
            <a:r>
              <a:rPr sz="1000" b="0" i="0">
                <a:solidFill>
                  <a:srgbClr val="FFD28A"/>
                </a:solidFill>
                <a:latin typeface="Courier New"/>
              </a:rPr>
              <a:t>35</a:t>
            </a:r>
            <a:r>
              <a:rPr sz="1000" b="0" i="0">
                <a:solidFill>
                  <a:srgbClr val="E6EDF3"/>
                </a:solidFill>
                <a:latin typeface="Courier New"/>
              </a:rPr>
              <a:t>, </a:t>
            </a:r>
            <a:r>
              <a:rPr sz="1000" b="0" i="0">
                <a:solidFill>
                  <a:srgbClr val="FFD28A"/>
                </a:solidFill>
                <a:latin typeface="Courier New"/>
              </a:rPr>
              <a:t>100</a:t>
            </a:r>
            <a:r>
              <a:rPr sz="1000" b="0" i="0">
                <a:solidFill>
                  <a:srgbClr val="E6EDF3"/>
                </a:solidFill>
                <a:latin typeface="Courier New"/>
              </a:rPr>
              <a:t>]</a:t>
            </a:r>
          </a:p>
        </p:txBody>
      </p:sp>
      <p:sp>
        <p:nvSpPr>
          <p:cNvPr id="11" name="TextBox 10"/>
          <p:cNvSpPr txBox="1"/>
          <p:nvPr/>
        </p:nvSpPr>
        <p:spPr>
          <a:xfrm>
            <a:off x="603504" y="241401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change = [</a:t>
            </a:r>
            <a:r>
              <a:rPr sz="1000" b="0" i="0">
                <a:solidFill>
                  <a:srgbClr val="FFD28A"/>
                </a:solidFill>
                <a:latin typeface="Courier New"/>
              </a:rPr>
              <a:t>100000</a:t>
            </a:r>
            <a:r>
              <a:rPr sz="1000" b="0" i="0">
                <a:solidFill>
                  <a:srgbClr val="E6EDF3"/>
                </a:solidFill>
                <a:latin typeface="Courier New"/>
              </a:rPr>
              <a:t> - </a:t>
            </a:r>
            <a:r>
              <a:rPr sz="1000" b="0" i="0">
                <a:solidFill>
                  <a:srgbClr val="FFD28A"/>
                </a:solidFill>
                <a:latin typeface="Courier New"/>
              </a:rPr>
              <a:t>75000</a:t>
            </a:r>
            <a:r>
              <a:rPr sz="1000" b="0" i="0">
                <a:solidFill>
                  <a:srgbClr val="E6EDF3"/>
                </a:solidFill>
                <a:latin typeface="Courier New"/>
              </a:rPr>
              <a:t> - r * vb </a:t>
            </a:r>
            <a:r>
              <a:rPr sz="1000" b="1" i="0">
                <a:solidFill>
                  <a:srgbClr val="F2A860"/>
                </a:solidFill>
                <a:latin typeface="Courier New"/>
              </a:rPr>
              <a:t>for</a:t>
            </a:r>
            <a:r>
              <a:rPr sz="1000" b="0" i="0">
                <a:solidFill>
                  <a:srgbClr val="E6EDF3"/>
                </a:solidFill>
                <a:latin typeface="Courier New"/>
              </a:rPr>
              <a:t> r </a:t>
            </a:r>
            <a:r>
              <a:rPr sz="1000" b="1" i="0">
                <a:solidFill>
                  <a:srgbClr val="F2A860"/>
                </a:solidFill>
                <a:latin typeface="Courier New"/>
              </a:rPr>
              <a:t>in</a:t>
            </a:r>
            <a:r>
              <a:rPr sz="1000" b="0" i="0">
                <a:solidFill>
                  <a:srgbClr val="E6EDF3"/>
                </a:solidFill>
                <a:latin typeface="Courier New"/>
              </a:rPr>
              <a:t> rates]</a:t>
            </a:r>
          </a:p>
          <a:p>
            <a:pPr algn="l"/>
            <a:r>
              <a:rPr sz="1000" b="1" i="0">
                <a:solidFill>
                  <a:srgbClr val="F2A860"/>
                </a:solidFill>
                <a:latin typeface="Courier New"/>
              </a:rPr>
              <a:t>&gt;&gt;&gt; </a:t>
            </a:r>
            <a:r>
              <a:rPr sz="1000" b="0" i="0">
                <a:solidFill>
                  <a:srgbClr val="E6EDF3"/>
                </a:solidFill>
                <a:latin typeface="Courier New"/>
              </a:rPr>
              <a:t>change</a:t>
            </a:r>
          </a:p>
          <a:p>
            <a:pPr algn="l"/>
            <a:r>
              <a:rPr sz="1000" b="0" i="0">
                <a:solidFill>
                  <a:srgbClr val="7EE787"/>
                </a:solidFill>
                <a:latin typeface="Courier New"/>
              </a:rPr>
              <a:t>[23570, 22140, 19995, 10700]</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The size of Alice's transaction, and four fee rates in satoshis per virtual byte.</a:t>
            </a:r>
          </a:p>
        </p:txBody>
      </p:sp>
      <p:sp>
        <p:nvSpPr>
          <p:cNvPr id="13" name="TextBox 12"/>
          <p:cNvSpPr txBox="1"/>
          <p:nvPr/>
        </p:nvSpPr>
        <p:spPr>
          <a:xfrm>
            <a:off x="457200" y="3035808"/>
            <a:ext cx="5212080" cy="204216"/>
          </a:xfrm>
          <a:prstGeom prst="rect">
            <a:avLst/>
          </a:prstGeom>
          <a:noFill/>
        </p:spPr>
        <p:txBody>
          <a:bodyPr wrap="square" lIns="0" rIns="0" tIns="0" bIns="0" anchor="t">
            <a:spAutoFit/>
          </a:bodyPr>
          <a:lstStyle/>
          <a:p>
            <a:pPr algn="l"/>
            <a:r>
              <a:rPr sz="1100" b="0" i="0">
                <a:solidFill>
                  <a:srgbClr val="2B2622"/>
                </a:solidFill>
                <a:latin typeface="Calibri"/>
              </a:rPr>
              <a:t>Coin minus payment minus fee: what is left comes back as change.</a:t>
            </a:r>
          </a:p>
        </p:txBody>
      </p:sp>
      <p:sp>
        <p:nvSpPr>
          <p:cNvPr id="14" name="TextBox 13"/>
          <p:cNvSpPr txBox="1"/>
          <p:nvPr/>
        </p:nvSpPr>
        <p:spPr>
          <a:xfrm>
            <a:off x="457200" y="33131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change left at four fee rates</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40080"/>
          </a:xfrm>
          <a:prstGeom prst="rect">
            <a:avLst/>
          </a:prstGeom>
          <a:noFill/>
        </p:spPr>
        <p:txBody>
          <a:bodyPr wrap="square" lIns="0" rIns="0" tIns="0" bIns="0" anchor="t">
            <a:spAutoFit/>
          </a:bodyPr>
          <a:lstStyle/>
          <a:p>
            <a:pPr algn="l"/>
            <a:r>
              <a:rPr sz="1100" b="0" i="0">
                <a:solidFill>
                  <a:srgbClr val="2B2622"/>
                </a:solidFill>
                <a:latin typeface="Calibri"/>
              </a:rPr>
              <a:t>At 100 sat/vB the fee takes 14,300; only 10,700 returns as change.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600" b="0" i="0">
                <a:solidFill>
                  <a:srgbClr val="2B2622"/>
                </a:solidFill>
                <a:latin typeface="Cambria"/>
              </a:rPr>
              <a:t>Adding the Transaction to the Blockchain</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From a node's inbox to a block that others build on</a:t>
            </a:r>
          </a:p>
        </p:txBody>
      </p:sp>
      <p:sp>
        <p:nvSpPr>
          <p:cNvPr id="4" name="Rounded Rectangle 3"/>
          <p:cNvSpPr/>
          <p:nvPr/>
        </p:nvSpPr>
        <p:spPr>
          <a:xfrm>
            <a:off x="5486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Bitcoin Mining</a:t>
            </a:r>
          </a:p>
        </p:txBody>
      </p:sp>
      <p:sp>
        <p:nvSpPr>
          <p:cNvPr id="5" name="TextBox 4"/>
          <p:cNvSpPr txBox="1"/>
          <p:nvPr/>
        </p:nvSpPr>
        <p:spPr>
          <a:xfrm>
            <a:off x="5486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Miners search for a number that makes a block of transactions valid.</a:t>
            </a:r>
          </a:p>
        </p:txBody>
      </p:sp>
      <p:sp>
        <p:nvSpPr>
          <p:cNvPr id="6" name="TextBox 5"/>
          <p:cNvSpPr txBox="1"/>
          <p:nvPr/>
        </p:nvSpPr>
        <p:spPr>
          <a:xfrm>
            <a:off x="5486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rolling dice until a very rare number turns up.</a:t>
            </a:r>
          </a:p>
        </p:txBody>
      </p:sp>
      <p:sp>
        <p:nvSpPr>
          <p:cNvPr id="7" name="Rounded Rectangle 6"/>
          <p:cNvSpPr/>
          <p:nvPr/>
        </p:nvSpPr>
        <p:spPr>
          <a:xfrm>
            <a:off x="32918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confirmation</a:t>
            </a:r>
          </a:p>
        </p:txBody>
      </p:sp>
      <p:sp>
        <p:nvSpPr>
          <p:cNvPr id="8" name="TextBox 7"/>
          <p:cNvSpPr txBox="1"/>
          <p:nvPr/>
        </p:nvSpPr>
        <p:spPr>
          <a:xfrm>
            <a:off x="32918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Every block built on top makes the payment harder to reverse.</a:t>
            </a:r>
          </a:p>
        </p:txBody>
      </p:sp>
      <p:sp>
        <p:nvSpPr>
          <p:cNvPr id="9" name="TextBox 8"/>
          <p:cNvSpPr txBox="1"/>
          <p:nvPr/>
        </p:nvSpPr>
        <p:spPr>
          <a:xfrm>
            <a:off x="32918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more witnesses signing a contract.</a:t>
            </a:r>
          </a:p>
        </p:txBody>
      </p:sp>
      <p:sp>
        <p:nvSpPr>
          <p:cNvPr id="10" name="Rounded Rectangle 9"/>
          <p:cNvSpPr/>
          <p:nvPr/>
        </p:nvSpPr>
        <p:spPr>
          <a:xfrm>
            <a:off x="6035040" y="1783080"/>
            <a:ext cx="25603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genesis block</a:t>
            </a:r>
          </a:p>
        </p:txBody>
      </p:sp>
      <p:sp>
        <p:nvSpPr>
          <p:cNvPr id="11" name="TextBox 10"/>
          <p:cNvSpPr txBox="1"/>
          <p:nvPr/>
        </p:nvSpPr>
        <p:spPr>
          <a:xfrm>
            <a:off x="6035040" y="2267712"/>
            <a:ext cx="2560320" cy="731520"/>
          </a:xfrm>
          <a:prstGeom prst="rect">
            <a:avLst/>
          </a:prstGeom>
          <a:noFill/>
        </p:spPr>
        <p:txBody>
          <a:bodyPr wrap="square" lIns="0" rIns="0" tIns="0" bIns="0" anchor="t">
            <a:spAutoFit/>
          </a:bodyPr>
          <a:lstStyle/>
          <a:p>
            <a:pPr algn="l"/>
            <a:r>
              <a:rPr sz="1150" b="0" i="0">
                <a:solidFill>
                  <a:srgbClr val="2B2622"/>
                </a:solidFill>
                <a:latin typeface="Calibri"/>
              </a:rPr>
              <a:t>The first block of the chain, fixed in the software of every node.</a:t>
            </a:r>
          </a:p>
        </p:txBody>
      </p:sp>
      <p:sp>
        <p:nvSpPr>
          <p:cNvPr id="12" name="TextBox 11"/>
          <p:cNvSpPr txBox="1"/>
          <p:nvPr/>
        </p:nvSpPr>
        <p:spPr>
          <a:xfrm>
            <a:off x="6035040" y="3054096"/>
            <a:ext cx="2560320" cy="566928"/>
          </a:xfrm>
          <a:prstGeom prst="rect">
            <a:avLst/>
          </a:prstGeom>
          <a:noFill/>
        </p:spPr>
        <p:txBody>
          <a:bodyPr wrap="square" lIns="0" rIns="0" tIns="0" bIns="0" anchor="t">
            <a:spAutoFit/>
          </a:bodyPr>
          <a:lstStyle/>
          <a:p>
            <a:pPr algn="l"/>
            <a:r>
              <a:rPr sz="1150" b="0" i="1">
                <a:solidFill>
                  <a:srgbClr val="D97A14"/>
                </a:solidFill>
                <a:latin typeface="Calibri"/>
              </a:rPr>
              <a:t>Think of page one of a ledger, printed into the binding.</a:t>
            </a:r>
          </a:p>
        </p:txBody>
      </p:sp>
      <p:graphicFrame>
        <p:nvGraphicFramePr>
          <p:cNvPr id="13" name="Table 12"/>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341120"/>
                <a:gridCol w="1341120"/>
                <a:gridCol w="1341120"/>
                <a:gridCol w="1341120"/>
                <a:gridCol w="1341120"/>
                <a:gridCol w="1341120"/>
              </a:tblGrid>
              <a:tr h="365760">
                <a:tc>
                  <a:txBody>
                    <a:bodyPr/>
                    <a:lstStyle/>
                    <a:p>
                      <a:pPr algn="ctr"/>
                      <a:r>
                        <a:rPr sz="1000" b="0">
                          <a:solidFill>
                            <a:srgbClr val="6E655C"/>
                          </a:solidFill>
                          <a:latin typeface="Calibri"/>
                        </a:rPr>
                        <a:t>Store</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Coin selection</a:t>
                      </a:r>
                    </a:p>
                  </a:txBody>
                  <a:tcPr marL="54864" marR="54864" marT="27432" marB="27432" anchor="ctr">
                    <a:solidFill>
                      <a:srgbClr val="F2ECE1"/>
                    </a:solidFill>
                  </a:tcPr>
                </a:tc>
                <a:tc>
                  <a:txBody>
                    <a:bodyPr/>
                    <a:lstStyle/>
                    <a:p>
                      <a:pPr algn="ctr"/>
                      <a:r>
                        <a:rPr sz="1000" b="0">
                          <a:solidFill>
                            <a:srgbClr val="6E655C"/>
                          </a:solidFill>
                          <a:latin typeface="Calibri"/>
                        </a:rPr>
                        <a:t>Construction</a:t>
                      </a:r>
                    </a:p>
                  </a:txBody>
                  <a:tcPr marL="54864" marR="54864" marT="27432" marB="27432" anchor="ctr">
                    <a:solidFill>
                      <a:srgbClr val="F2ECE1"/>
                    </a:solidFill>
                  </a:tcPr>
                </a:tc>
                <a:tc>
                  <a:txBody>
                    <a:bodyPr/>
                    <a:lstStyle/>
                    <a:p>
                      <a:pPr algn="ctr"/>
                      <a:r>
                        <a:rPr sz="1000" b="1">
                          <a:solidFill>
                            <a:srgbClr val="FFFFFF"/>
                          </a:solidFill>
                          <a:latin typeface="Calibri"/>
                        </a:rPr>
                        <a:t>Blockchain</a:t>
                      </a:r>
                    </a:p>
                  </a:txBody>
                  <a:tcPr marL="54864" marR="54864" marT="27432" marB="27432" anchor="ctr">
                    <a:solidFill>
                      <a:srgbClr val="D97A14"/>
                    </a:solidFill>
                  </a:tcPr>
                </a:tc>
                <a:tc>
                  <a:txBody>
                    <a:bodyPr/>
                    <a:lstStyle/>
                    <a:p>
                      <a:pPr algn="ctr"/>
                      <a:r>
                        <a:rPr sz="1000" b="0">
                          <a:solidFill>
                            <a:srgbClr val="6E655C"/>
                          </a:solidFill>
                          <a:latin typeface="Calibri"/>
                        </a:rPr>
                        <a:t>Spending</a:t>
                      </a:r>
                    </a:p>
                  </a:txBody>
                  <a:tcPr marL="54864" marR="54864" marT="27432" marB="27432" anchor="ctr">
                    <a:solidFill>
                      <a:srgbClr val="F2ECE1"/>
                    </a:solidFill>
                  </a:tcPr>
                </a:tc>
              </a:tr>
            </a:tbl>
          </a:graphicData>
        </a:graphic>
      </p:graphicFrame>
      <p:sp>
        <p:nvSpPr>
          <p:cNvPr id="14" name="TextBox 13"/>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23 /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Height, depth and confirmations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Where Alice's transaction sits in the chain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More blocks on top means a payment that is harder to reverse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24 / 35</a:t>
            </a:r>
          </a:p>
        </p:txBody>
      </p:sp>
      <p:pic>
        <p:nvPicPr>
          <p:cNvPr id="8" name="Picture 7" descr="Figure 2-7: Alice's transaction in block 277316 with blocks on top"/>
          <p:cNvPicPr>
            <a:picLocks noChangeAspect="1"/>
          </p:cNvPicPr>
          <p:nvPr/>
        </p:nvPicPr>
        <p:blipFill>
          <a:blip r:embed="rId3"/>
          <a:stretch>
            <a:fillRect/>
          </a:stretch>
        </p:blipFill>
        <p:spPr>
          <a:xfrm>
            <a:off x="457200" y="1281510"/>
            <a:ext cx="2395728" cy="2923378"/>
          </a:xfrm>
          <a:prstGeom prst="rect">
            <a:avLst/>
          </a:prstGeom>
        </p:spPr>
      </p:pic>
      <p:sp>
        <p:nvSpPr>
          <p:cNvPr id="9" name="TextBox 8"/>
          <p:cNvSpPr txBox="1"/>
          <p:nvPr/>
        </p:nvSpPr>
        <p:spPr>
          <a:xfrm>
            <a:off x="457200" y="4251960"/>
            <a:ext cx="2560320" cy="310896"/>
          </a:xfrm>
          <a:prstGeom prst="rect">
            <a:avLst/>
          </a:prstGeom>
          <a:noFill/>
        </p:spPr>
        <p:txBody>
          <a:bodyPr wrap="square" lIns="0" rIns="0" tIns="0" bIns="0" anchor="t">
            <a:spAutoFit/>
          </a:bodyPr>
          <a:lstStyle/>
          <a:p>
            <a:pPr algn="l"/>
            <a:r>
              <a:rPr sz="800" b="0" i="0">
                <a:solidFill>
                  <a:srgbClr val="6E655C"/>
                </a:solidFill>
                <a:latin typeface="Calibri"/>
              </a:rPr>
              <a:t>Figure 2-7, Mastering Bitcoin 3rd edition, CC BY-SA 4.0</a:t>
            </a:r>
          </a:p>
        </p:txBody>
      </p:sp>
      <p:sp>
        <p:nvSpPr>
          <p:cNvPr id="10" name="Rounded Rectangle 9"/>
          <p:cNvSpPr/>
          <p:nvPr/>
        </p:nvSpPr>
        <p:spPr>
          <a:xfrm>
            <a:off x="3200400" y="1280160"/>
            <a:ext cx="5486400"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Block height</a:t>
            </a:r>
          </a:p>
          <a:p>
            <a:pPr algn="l"/>
            <a:r>
              <a:rPr sz="1100" b="0" i="0">
                <a:solidFill>
                  <a:srgbClr val="2B2622"/>
                </a:solidFill>
                <a:latin typeface="Calibri"/>
              </a:rPr>
              <a:t>The position of a block, counted from the genesis block. Alice's block is 277,316.</a:t>
            </a:r>
          </a:p>
        </p:txBody>
      </p:sp>
      <p:sp>
        <p:nvSpPr>
          <p:cNvPr id="11" name="Rounded Rectangle 10"/>
          <p:cNvSpPr/>
          <p:nvPr/>
        </p:nvSpPr>
        <p:spPr>
          <a:xfrm>
            <a:off x="3200400" y="2066543"/>
            <a:ext cx="5486400"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Block depth</a:t>
            </a:r>
          </a:p>
          <a:p>
            <a:pPr algn="l"/>
            <a:r>
              <a:rPr sz="1100" b="0" i="0">
                <a:solidFill>
                  <a:srgbClr val="2B2622"/>
                </a:solidFill>
                <a:latin typeface="Calibri"/>
              </a:rPr>
              <a:t>How many blocks lie on top of a block.</a:t>
            </a:r>
          </a:p>
        </p:txBody>
      </p:sp>
      <p:sp>
        <p:nvSpPr>
          <p:cNvPr id="12" name="Rounded Rectangle 11"/>
          <p:cNvSpPr/>
          <p:nvPr/>
        </p:nvSpPr>
        <p:spPr>
          <a:xfrm>
            <a:off x="3200400" y="2852928"/>
            <a:ext cx="5486400"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Confirmation</a:t>
            </a:r>
          </a:p>
          <a:p>
            <a:pPr algn="l"/>
            <a:r>
              <a:rPr sz="1100" b="0" i="0">
                <a:solidFill>
                  <a:srgbClr val="2B2622"/>
                </a:solidFill>
                <a:latin typeface="Calibri"/>
              </a:rPr>
              <a:t>Alice's block is the first confirmation; each block on top adds one more.</a:t>
            </a:r>
          </a:p>
        </p:txBody>
      </p:sp>
      <p:sp>
        <p:nvSpPr>
          <p:cNvPr id="13" name="Rounded Rectangle 12"/>
          <p:cNvSpPr/>
          <p:nvPr/>
        </p:nvSpPr>
        <p:spPr>
          <a:xfrm>
            <a:off x="3200400" y="3639312"/>
            <a:ext cx="5486400" cy="694944"/>
          </a:xfrm>
          <a:prstGeom prst="roundRect">
            <a:avLst>
              <a:gd name="adj" fmla="val 10000"/>
            </a:avLst>
          </a:prstGeom>
          <a:solidFill>
            <a:srgbClr val="F2ECE1"/>
          </a:solidFill>
          <a:ln w="12700">
            <a:solidFill>
              <a:srgbClr val="DFD6C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r>
              <a:rPr sz="1250" b="1" i="0">
                <a:solidFill>
                  <a:srgbClr val="2B2622"/>
                </a:solidFill>
                <a:latin typeface="Cambria"/>
              </a:rPr>
              <a:t>Block explorer</a:t>
            </a:r>
          </a:p>
          <a:p>
            <a:pPr algn="l"/>
            <a:r>
              <a:rPr sz="1100" b="0" i="0">
                <a:solidFill>
                  <a:srgbClr val="2B2622"/>
                </a:solidFill>
                <a:latin typeface="Calibri"/>
              </a:rPr>
              <a:t>Paste a transaction id into an explorer to see its block, depth and fee.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One more zero, many more tries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Mining as a search for a lucky number</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Mining is a search; more zeros means more work</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25 / 35</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data = </a:t>
            </a:r>
            <a:r>
              <a:rPr sz="1000" b="0" i="0">
                <a:solidFill>
                  <a:srgbClr val="9ECBFF"/>
                </a:solidFill>
                <a:latin typeface="Courier New"/>
              </a:rPr>
              <a:t>'Hello, world! '</a:t>
            </a:r>
          </a:p>
          <a:p>
            <a:pPr algn="l"/>
            <a:r>
              <a:rPr sz="1000" b="1" i="0">
                <a:solidFill>
                  <a:srgbClr val="F2A860"/>
                </a:solidFill>
                <a:latin typeface="Courier New"/>
              </a:rPr>
              <a:t>&gt;&gt;&gt; </a:t>
            </a:r>
            <a:r>
              <a:rPr sz="1000" b="0" i="0">
                <a:solidFill>
                  <a:srgbClr val="E6EDF3"/>
                </a:solidFill>
                <a:latin typeface="Courier New"/>
              </a:rPr>
              <a:t>ok = </a:t>
            </a:r>
            <a:r>
              <a:rPr sz="1000" b="1" i="0">
                <a:solidFill>
                  <a:srgbClr val="F2A860"/>
                </a:solidFill>
                <a:latin typeface="Courier New"/>
              </a:rPr>
              <a:t>lambda</a:t>
            </a:r>
            <a:r>
              <a:rPr sz="1000" b="0" i="0">
                <a:solidFill>
                  <a:srgbClr val="E6EDF3"/>
                </a:solidFill>
                <a:latin typeface="Courier New"/>
              </a:rPr>
              <a:t> n, z: T.sha(data + str(n)).startswith(</a:t>
            </a:r>
            <a:r>
              <a:rPr sz="1000" b="0" i="0">
                <a:solidFill>
                  <a:srgbClr val="9ECBFF"/>
                </a:solidFill>
                <a:latin typeface="Courier New"/>
              </a:rPr>
              <a:t>'0'</a:t>
            </a:r>
            <a:r>
              <a:rPr sz="1000" b="0" i="0">
                <a:solidFill>
                  <a:srgbClr val="E6EDF3"/>
                </a:solidFill>
                <a:latin typeface="Courier New"/>
              </a:rPr>
              <a:t> * z)</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find = </a:t>
            </a:r>
            <a:r>
              <a:rPr sz="1000" b="1" i="0">
                <a:solidFill>
                  <a:srgbClr val="F2A860"/>
                </a:solidFill>
                <a:latin typeface="Courier New"/>
              </a:rPr>
              <a:t>lambda</a:t>
            </a:r>
            <a:r>
              <a:rPr sz="1000" b="0" i="0">
                <a:solidFill>
                  <a:srgbClr val="E6EDF3"/>
                </a:solidFill>
                <a:latin typeface="Courier New"/>
              </a:rPr>
              <a:t> z: next(n </a:t>
            </a:r>
            <a:r>
              <a:rPr sz="1000" b="1" i="0">
                <a:solidFill>
                  <a:srgbClr val="F2A860"/>
                </a:solidFill>
                <a:latin typeface="Courier New"/>
              </a:rPr>
              <a:t>for</a:t>
            </a:r>
            <a:r>
              <a:rPr sz="1000" b="0" i="0">
                <a:solidFill>
                  <a:srgbClr val="E6EDF3"/>
                </a:solidFill>
                <a:latin typeface="Courier New"/>
              </a:rPr>
              <a:t> n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10</a:t>
            </a:r>
            <a:r>
              <a:rPr sz="1000" b="0" i="0">
                <a:solidFill>
                  <a:srgbClr val="E6EDF3"/>
                </a:solidFill>
                <a:latin typeface="Courier New"/>
              </a:rPr>
              <a:t>**</a:t>
            </a:r>
            <a:r>
              <a:rPr sz="1000" b="0" i="0">
                <a:solidFill>
                  <a:srgbClr val="FFD28A"/>
                </a:solidFill>
                <a:latin typeface="Courier New"/>
              </a:rPr>
              <a:t>7</a:t>
            </a:r>
            <a:r>
              <a:rPr sz="1000" b="0" i="0">
                <a:solidFill>
                  <a:srgbClr val="E6EDF3"/>
                </a:solidFill>
                <a:latin typeface="Courier New"/>
              </a:rPr>
              <a:t>) </a:t>
            </a:r>
            <a:r>
              <a:rPr sz="1000" b="1" i="0">
                <a:solidFill>
                  <a:srgbClr val="F2A860"/>
                </a:solidFill>
                <a:latin typeface="Courier New"/>
              </a:rPr>
              <a:t>if</a:t>
            </a:r>
            <a:r>
              <a:rPr sz="1000" b="0" i="0">
                <a:solidFill>
                  <a:srgbClr val="E6EDF3"/>
                </a:solidFill>
                <a:latin typeface="Courier New"/>
              </a:rPr>
              <a:t> ok(n, z))</a:t>
            </a:r>
          </a:p>
          <a:p>
            <a:pPr algn="l"/>
            <a:r>
              <a:rPr sz="1000" b="1" i="0">
                <a:solidFill>
                  <a:srgbClr val="F2A860"/>
                </a:solidFill>
                <a:latin typeface="Courier New"/>
              </a:rPr>
              <a:t>&gt;&gt;&gt; </a:t>
            </a:r>
            <a:r>
              <a:rPr sz="1000" b="0" i="0">
                <a:solidFill>
                  <a:srgbClr val="E6EDF3"/>
                </a:solidFill>
                <a:latin typeface="Courier New"/>
              </a:rPr>
              <a:t>[find(z) </a:t>
            </a:r>
            <a:r>
              <a:rPr sz="1000" b="1" i="0">
                <a:solidFill>
                  <a:srgbClr val="F2A860"/>
                </a:solidFill>
                <a:latin typeface="Courier New"/>
              </a:rPr>
              <a:t>for</a:t>
            </a:r>
            <a:r>
              <a:rPr sz="1000" b="0" i="0">
                <a:solidFill>
                  <a:srgbClr val="E6EDF3"/>
                </a:solidFill>
                <a:latin typeface="Courier New"/>
              </a:rPr>
              <a:t> z </a:t>
            </a:r>
            <a:r>
              <a:rPr sz="1000" b="1" i="0">
                <a:solidFill>
                  <a:srgbClr val="F2A860"/>
                </a:solidFill>
                <a:latin typeface="Courier New"/>
              </a:rPr>
              <a:t>in</a:t>
            </a:r>
            <a:r>
              <a:rPr sz="1000" b="0" i="0">
                <a:solidFill>
                  <a:srgbClr val="E6EDF3"/>
                </a:solidFill>
                <a:latin typeface="Courier New"/>
              </a:rPr>
              <a:t> (</a:t>
            </a:r>
            <a:r>
              <a:rPr sz="1000" b="0" i="0">
                <a:solidFill>
                  <a:srgbClr val="FFD28A"/>
                </a:solidFill>
                <a:latin typeface="Courier New"/>
              </a:rPr>
              <a:t>1</a:t>
            </a:r>
            <a:r>
              <a:rPr sz="1000" b="0" i="0">
                <a:solidFill>
                  <a:srgbClr val="E6EDF3"/>
                </a:solidFill>
                <a:latin typeface="Courier New"/>
              </a:rPr>
              <a:t>, </a:t>
            </a:r>
            <a:r>
              <a:rPr sz="1000" b="0" i="0">
                <a:solidFill>
                  <a:srgbClr val="FFD28A"/>
                </a:solidFill>
                <a:latin typeface="Courier New"/>
              </a:rPr>
              <a:t>2</a:t>
            </a:r>
            <a:r>
              <a:rPr sz="1000" b="0" i="0">
                <a:solidFill>
                  <a:srgbClr val="E6EDF3"/>
                </a:solidFill>
                <a:latin typeface="Courier New"/>
              </a:rPr>
              <a:t>, </a:t>
            </a:r>
            <a:r>
              <a:rPr sz="1000" b="0" i="0">
                <a:solidFill>
                  <a:srgbClr val="FFD28A"/>
                </a:solidFill>
                <a:latin typeface="Courier New"/>
              </a:rPr>
              <a:t>3</a:t>
            </a:r>
            <a:r>
              <a:rPr sz="1000" b="0" i="0">
                <a:solidFill>
                  <a:srgbClr val="E6EDF3"/>
                </a:solidFill>
                <a:latin typeface="Courier New"/>
              </a:rPr>
              <a:t>, </a:t>
            </a:r>
            <a:r>
              <a:rPr sz="1000" b="0" i="0">
                <a:solidFill>
                  <a:srgbClr val="FFD28A"/>
                </a:solidFill>
                <a:latin typeface="Courier New"/>
              </a:rPr>
              <a:t>4</a:t>
            </a:r>
            <a:r>
              <a:rPr sz="1000" b="0" i="0">
                <a:solidFill>
                  <a:srgbClr val="E6EDF3"/>
                </a:solidFill>
                <a:latin typeface="Courier New"/>
              </a:rPr>
              <a:t>)]</a:t>
            </a:r>
          </a:p>
          <a:p>
            <a:pPr algn="l"/>
            <a:r>
              <a:rPr sz="1000" b="0" i="0">
                <a:solidFill>
                  <a:srgbClr val="7EE787"/>
                </a:solidFill>
                <a:latin typeface="Courier New"/>
              </a:rPr>
              <a:t>[33, 302, 10182, 32977]</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A text, and a test: does the hash of text plus counter start with z zeros?</a:t>
            </a:r>
          </a:p>
        </p:txBody>
      </p:sp>
      <p:sp>
        <p:nvSpPr>
          <p:cNvPr id="13" name="TextBox 12"/>
          <p:cNvSpPr txBox="1"/>
          <p:nvPr/>
        </p:nvSpPr>
        <p:spPr>
          <a:xfrm>
            <a:off x="457200" y="2868168"/>
            <a:ext cx="5212080" cy="204216"/>
          </a:xfrm>
          <a:prstGeom prst="rect">
            <a:avLst/>
          </a:prstGeom>
          <a:noFill/>
        </p:spPr>
        <p:txBody>
          <a:bodyPr wrap="square" lIns="0" rIns="0" tIns="0" bIns="0" anchor="t">
            <a:spAutoFit/>
          </a:bodyPr>
          <a:lstStyle/>
          <a:p>
            <a:pPr algn="l"/>
            <a:r>
              <a:rPr sz="1100" b="0" i="0">
                <a:solidFill>
                  <a:srgbClr val="2B2622"/>
                </a:solidFill>
                <a:latin typeface="Calibri"/>
              </a:rPr>
              <a:t>Count up from zero until the test passes, for one to four zeros.</a:t>
            </a:r>
          </a:p>
        </p:txBody>
      </p:sp>
      <p:sp>
        <p:nvSpPr>
          <p:cNvPr id="14" name="TextBox 13"/>
          <p:cNvSpPr txBox="1"/>
          <p:nvPr/>
        </p:nvSpPr>
        <p:spPr>
          <a:xfrm>
            <a:off x="457200" y="31455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tries needed for 1 to 4 zeros (log scale)</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40080"/>
          </a:xfrm>
          <a:prstGeom prst="rect">
            <a:avLst/>
          </a:prstGeom>
          <a:noFill/>
        </p:spPr>
        <p:txBody>
          <a:bodyPr wrap="square" lIns="0" rIns="0" tIns="0" bIns="0" anchor="t">
            <a:spAutoFit/>
          </a:bodyPr>
          <a:lstStyle/>
          <a:p>
            <a:pPr algn="l"/>
            <a:r>
              <a:rPr sz="1100" b="0" i="0">
                <a:solidFill>
                  <a:srgbClr val="2B2622"/>
                </a:solidFill>
                <a:latin typeface="Calibri"/>
              </a:rPr>
              <a:t>Each extra zero needs about 16 times more tries on average.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The first block header is 80 bytes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Hashing the genesis block's header</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A block's name is the hash of its 80-byte header</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26 / 35</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0025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hdr = T.genesis_header()</a:t>
            </a:r>
          </a:p>
        </p:txBody>
      </p:sp>
      <p:sp>
        <p:nvSpPr>
          <p:cNvPr id="11" name="TextBox 10"/>
          <p:cNvSpPr txBox="1"/>
          <p:nvPr/>
        </p:nvSpPr>
        <p:spPr>
          <a:xfrm>
            <a:off x="603504" y="20939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h = T.block_hash(hdr)</a:t>
            </a:r>
          </a:p>
          <a:p>
            <a:pPr algn="l"/>
            <a:r>
              <a:rPr sz="1000" b="1" i="0">
                <a:solidFill>
                  <a:srgbClr val="F2A860"/>
                </a:solidFill>
                <a:latin typeface="Courier New"/>
              </a:rPr>
              <a:t>&gt;&gt;&gt; </a:t>
            </a:r>
            <a:r>
              <a:rPr sz="1000" b="0" i="0">
                <a:solidFill>
                  <a:srgbClr val="E6EDF3"/>
                </a:solidFill>
                <a:latin typeface="Courier New"/>
              </a:rPr>
              <a:t>(len(hdr), h[:</a:t>
            </a:r>
            <a:r>
              <a:rPr sz="1000" b="0" i="0">
                <a:solidFill>
                  <a:srgbClr val="FFD28A"/>
                </a:solidFill>
                <a:latin typeface="Courier New"/>
              </a:rPr>
              <a:t>20</a:t>
            </a:r>
            <a:r>
              <a:rPr sz="1000" b="0" i="0">
                <a:solidFill>
                  <a:srgbClr val="E6EDF3"/>
                </a:solidFill>
                <a:latin typeface="Courier New"/>
              </a:rPr>
              <a:t>])</a:t>
            </a:r>
          </a:p>
          <a:p>
            <a:pPr algn="l"/>
            <a:r>
              <a:rPr sz="1000" b="0" i="0">
                <a:solidFill>
                  <a:srgbClr val="7EE787"/>
                </a:solidFill>
                <a:latin typeface="Courier New"/>
              </a:rPr>
              <a:t>(80, '000000000019d6689c08')</a:t>
            </a:r>
          </a:p>
        </p:txBody>
      </p:sp>
      <p:sp>
        <p:nvSpPr>
          <p:cNvPr id="12" name="TextBox 11"/>
          <p:cNvSpPr txBox="1"/>
          <p:nvPr/>
        </p:nvSpPr>
        <p:spPr>
          <a:xfrm>
            <a:off x="457200" y="1688591"/>
            <a:ext cx="5212080" cy="204216"/>
          </a:xfrm>
          <a:prstGeom prst="rect">
            <a:avLst/>
          </a:prstGeom>
          <a:noFill/>
        </p:spPr>
        <p:txBody>
          <a:bodyPr wrap="square" lIns="0" rIns="0" tIns="0" bIns="0" anchor="t">
            <a:spAutoFit/>
          </a:bodyPr>
          <a:lstStyle/>
          <a:p>
            <a:pPr algn="l"/>
            <a:r>
              <a:rPr sz="1100" b="0" i="0">
                <a:solidFill>
                  <a:srgbClr val="2B2622"/>
                </a:solidFill>
                <a:latin typeface="Calibri"/>
              </a:rPr>
              <a:t>Pack the six fields of Bitcoin's first block header into 80 bytes.</a:t>
            </a:r>
          </a:p>
        </p:txBody>
      </p:sp>
      <p:sp>
        <p:nvSpPr>
          <p:cNvPr id="13" name="TextBox 12"/>
          <p:cNvSpPr txBox="1"/>
          <p:nvPr/>
        </p:nvSpPr>
        <p:spPr>
          <a:xfrm>
            <a:off x="457200" y="2715768"/>
            <a:ext cx="5212080" cy="371855"/>
          </a:xfrm>
          <a:prstGeom prst="rect">
            <a:avLst/>
          </a:prstGeom>
          <a:noFill/>
        </p:spPr>
        <p:txBody>
          <a:bodyPr wrap="square" lIns="0" rIns="0" tIns="0" bIns="0" anchor="t">
            <a:spAutoFit/>
          </a:bodyPr>
          <a:lstStyle/>
          <a:p>
            <a:pPr algn="l"/>
            <a:r>
              <a:rPr sz="1100" b="0" i="0">
                <a:solidFill>
                  <a:srgbClr val="2B2622"/>
                </a:solidFill>
                <a:latin typeface="Calibri"/>
              </a:rPr>
              <a:t>Hash twice and reverse the bytes: the name of the first block starts with ten zeros.</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six fields of the header</a:t>
            </a:r>
          </a:p>
        </p:txBody>
      </p:sp>
      <p:graphicFrame>
        <p:nvGraphicFramePr>
          <p:cNvPr id="16" name="Table 15"/>
          <p:cNvGraphicFramePr>
            <a:graphicFrameLocks noGrp="1"/>
          </p:cNvGraphicFramePr>
          <p:nvPr/>
        </p:nvGraphicFramePr>
        <p:xfrm>
          <a:off x="5852160" y="1691640"/>
          <a:ext cx="2834640" cy="1728216"/>
        </p:xfrm>
        <a:graphic>
          <a:graphicData uri="http://schemas.openxmlformats.org/drawingml/2006/table">
            <a:tbl>
              <a:tblPr firstRow="1" bandRow="1">
                <a:tableStyleId>{5C22544A-7EE6-4342-B048-85BDC9FD1C3A}</a:tableStyleId>
              </a:tblPr>
              <a:tblGrid>
                <a:gridCol w="1051560"/>
                <a:gridCol w="502920"/>
                <a:gridCol w="1280160"/>
              </a:tblGrid>
              <a:tr h="246888">
                <a:tc>
                  <a:txBody>
                    <a:bodyPr/>
                    <a:lstStyle/>
                    <a:p>
                      <a:pPr algn="l"/>
                      <a:r>
                        <a:rPr sz="950" b="1">
                          <a:solidFill>
                            <a:srgbClr val="FFFFFF"/>
                          </a:solidFill>
                          <a:latin typeface="Calibri"/>
                        </a:rPr>
                        <a:t>Field</a:t>
                      </a:r>
                    </a:p>
                  </a:txBody>
                  <a:tcPr marL="54864" marR="54864" marT="27432" marB="27432" anchor="ctr">
                    <a:solidFill>
                      <a:srgbClr val="2F6D62"/>
                    </a:solidFill>
                  </a:tcPr>
                </a:tc>
                <a:tc>
                  <a:txBody>
                    <a:bodyPr/>
                    <a:lstStyle/>
                    <a:p>
                      <a:pPr algn="ctr"/>
                      <a:r>
                        <a:rPr sz="950" b="1">
                          <a:solidFill>
                            <a:srgbClr val="FFFFFF"/>
                          </a:solidFill>
                          <a:latin typeface="Calibri"/>
                        </a:rPr>
                        <a:t>Bytes</a:t>
                      </a:r>
                    </a:p>
                  </a:txBody>
                  <a:tcPr marL="54864" marR="54864" marT="27432" marB="27432" anchor="ctr">
                    <a:solidFill>
                      <a:srgbClr val="2F6D62"/>
                    </a:solidFill>
                  </a:tcPr>
                </a:tc>
                <a:tc>
                  <a:txBody>
                    <a:bodyPr/>
                    <a:lstStyle/>
                    <a:p>
                      <a:pPr algn="l"/>
                      <a:r>
                        <a:rPr sz="950" b="1">
                          <a:solidFill>
                            <a:srgbClr val="FFFFFF"/>
                          </a:solidFill>
                          <a:latin typeface="Calibri"/>
                        </a:rPr>
                        <a:t>Value</a:t>
                      </a:r>
                    </a:p>
                  </a:txBody>
                  <a:tcPr marL="54864" marR="54864" marT="27432" marB="27432" anchor="ctr">
                    <a:solidFill>
                      <a:srgbClr val="2F6D62"/>
                    </a:solidFill>
                  </a:tcPr>
                </a:tc>
              </a:tr>
              <a:tr h="246888">
                <a:tc>
                  <a:txBody>
                    <a:bodyPr/>
                    <a:lstStyle/>
                    <a:p>
                      <a:pPr algn="l"/>
                      <a:r>
                        <a:rPr sz="950" b="0">
                          <a:solidFill>
                            <a:srgbClr val="2B2622"/>
                          </a:solidFill>
                          <a:latin typeface="Calibri"/>
                        </a:rPr>
                        <a:t>Version</a:t>
                      </a:r>
                    </a:p>
                  </a:txBody>
                  <a:tcPr marL="54864" marR="54864" marT="27432" marB="27432" anchor="ctr">
                    <a:solidFill>
                      <a:srgbClr val="FFFFFF"/>
                    </a:solidFill>
                  </a:tcPr>
                </a:tc>
                <a:tc>
                  <a:txBody>
                    <a:bodyPr/>
                    <a:lstStyle/>
                    <a:p>
                      <a:pPr algn="ctr"/>
                      <a:r>
                        <a:rPr sz="950" b="0">
                          <a:solidFill>
                            <a:srgbClr val="2B2622"/>
                          </a:solidFill>
                          <a:latin typeface="Calibri"/>
                        </a:rPr>
                        <a:t>4</a:t>
                      </a:r>
                    </a:p>
                  </a:txBody>
                  <a:tcPr marL="54864" marR="54864" marT="27432" marB="27432" anchor="ctr">
                    <a:solidFill>
                      <a:srgbClr val="FFFFFF"/>
                    </a:solidFill>
                  </a:tcPr>
                </a:tc>
                <a:tc>
                  <a:txBody>
                    <a:bodyPr/>
                    <a:lstStyle/>
                    <a:p>
                      <a:pPr algn="l"/>
                      <a:r>
                        <a:rPr sz="950" b="0">
                          <a:solidFill>
                            <a:srgbClr val="2B2622"/>
                          </a:solidFill>
                          <a:latin typeface="Calibri"/>
                        </a:rPr>
                        <a:t>1</a:t>
                      </a:r>
                    </a:p>
                  </a:txBody>
                  <a:tcPr marL="54864" marR="54864" marT="27432" marB="27432" anchor="ctr">
                    <a:solidFill>
                      <a:srgbClr val="FFFFFF"/>
                    </a:solidFill>
                  </a:tcPr>
                </a:tc>
              </a:tr>
              <a:tr h="246888">
                <a:tc>
                  <a:txBody>
                    <a:bodyPr/>
                    <a:lstStyle/>
                    <a:p>
                      <a:pPr algn="l"/>
                      <a:r>
                        <a:rPr sz="950" b="0">
                          <a:solidFill>
                            <a:srgbClr val="2B2622"/>
                          </a:solidFill>
                          <a:latin typeface="Calibri"/>
                        </a:rPr>
                        <a:t>Previous block</a:t>
                      </a:r>
                    </a:p>
                  </a:txBody>
                  <a:tcPr marL="54864" marR="54864" marT="27432" marB="27432" anchor="ctr">
                    <a:solidFill>
                      <a:srgbClr val="F2ECE1"/>
                    </a:solidFill>
                  </a:tcPr>
                </a:tc>
                <a:tc>
                  <a:txBody>
                    <a:bodyPr/>
                    <a:lstStyle/>
                    <a:p>
                      <a:pPr algn="ctr"/>
                      <a:r>
                        <a:rPr sz="950" b="0">
                          <a:solidFill>
                            <a:srgbClr val="2B2622"/>
                          </a:solidFill>
                          <a:latin typeface="Calibri"/>
                        </a:rPr>
                        <a:t>32</a:t>
                      </a:r>
                    </a:p>
                  </a:txBody>
                  <a:tcPr marL="54864" marR="54864" marT="27432" marB="27432" anchor="ctr">
                    <a:solidFill>
                      <a:srgbClr val="F2ECE1"/>
                    </a:solidFill>
                  </a:tcPr>
                </a:tc>
                <a:tc>
                  <a:txBody>
                    <a:bodyPr/>
                    <a:lstStyle/>
                    <a:p>
                      <a:pPr algn="l"/>
                      <a:r>
                        <a:rPr sz="950" b="0">
                          <a:solidFill>
                            <a:srgbClr val="2B2622"/>
                          </a:solidFill>
                          <a:latin typeface="Calibri"/>
                        </a:rPr>
                        <a:t>all zeros</a:t>
                      </a:r>
                    </a:p>
                  </a:txBody>
                  <a:tcPr marL="54864" marR="54864" marT="27432" marB="27432" anchor="ctr">
                    <a:solidFill>
                      <a:srgbClr val="F2ECE1"/>
                    </a:solidFill>
                  </a:tcPr>
                </a:tc>
              </a:tr>
              <a:tr h="246888">
                <a:tc>
                  <a:txBody>
                    <a:bodyPr/>
                    <a:lstStyle/>
                    <a:p>
                      <a:pPr algn="l"/>
                      <a:r>
                        <a:rPr sz="950" b="0">
                          <a:solidFill>
                            <a:srgbClr val="2B2622"/>
                          </a:solidFill>
                          <a:latin typeface="Calibri"/>
                        </a:rPr>
                        <a:t>Merkle root</a:t>
                      </a:r>
                    </a:p>
                  </a:txBody>
                  <a:tcPr marL="54864" marR="54864" marT="27432" marB="27432" anchor="ctr">
                    <a:solidFill>
                      <a:srgbClr val="FFFFFF"/>
                    </a:solidFill>
                  </a:tcPr>
                </a:tc>
                <a:tc>
                  <a:txBody>
                    <a:bodyPr/>
                    <a:lstStyle/>
                    <a:p>
                      <a:pPr algn="ctr"/>
                      <a:r>
                        <a:rPr sz="950" b="0">
                          <a:solidFill>
                            <a:srgbClr val="2B2622"/>
                          </a:solidFill>
                          <a:latin typeface="Calibri"/>
                        </a:rPr>
                        <a:t>32</a:t>
                      </a:r>
                    </a:p>
                  </a:txBody>
                  <a:tcPr marL="54864" marR="54864" marT="27432" marB="27432" anchor="ctr">
                    <a:solidFill>
                      <a:srgbClr val="FFFFFF"/>
                    </a:solidFill>
                  </a:tcPr>
                </a:tc>
                <a:tc>
                  <a:txBody>
                    <a:bodyPr/>
                    <a:lstStyle/>
                    <a:p>
                      <a:pPr algn="l"/>
                      <a:r>
                        <a:rPr sz="950" b="0">
                          <a:solidFill>
                            <a:srgbClr val="2B2622"/>
                          </a:solidFill>
                          <a:latin typeface="Calibri"/>
                        </a:rPr>
                        <a:t>4a5e1e4b...</a:t>
                      </a:r>
                    </a:p>
                  </a:txBody>
                  <a:tcPr marL="54864" marR="54864" marT="27432" marB="27432" anchor="ctr">
                    <a:solidFill>
                      <a:srgbClr val="FFFFFF"/>
                    </a:solidFill>
                  </a:tcPr>
                </a:tc>
              </a:tr>
              <a:tr h="246888">
                <a:tc>
                  <a:txBody>
                    <a:bodyPr/>
                    <a:lstStyle/>
                    <a:p>
                      <a:pPr algn="l"/>
                      <a:r>
                        <a:rPr sz="950" b="0">
                          <a:solidFill>
                            <a:srgbClr val="2B2622"/>
                          </a:solidFill>
                          <a:latin typeface="Calibri"/>
                        </a:rPr>
                        <a:t>Time</a:t>
                      </a:r>
                    </a:p>
                  </a:txBody>
                  <a:tcPr marL="54864" marR="54864" marT="27432" marB="27432" anchor="ctr">
                    <a:solidFill>
                      <a:srgbClr val="F2ECE1"/>
                    </a:solidFill>
                  </a:tcPr>
                </a:tc>
                <a:tc>
                  <a:txBody>
                    <a:bodyPr/>
                    <a:lstStyle/>
                    <a:p>
                      <a:pPr algn="ctr"/>
                      <a:r>
                        <a:rPr sz="950" b="0">
                          <a:solidFill>
                            <a:srgbClr val="2B2622"/>
                          </a:solidFill>
                          <a:latin typeface="Calibri"/>
                        </a:rPr>
                        <a:t>4</a:t>
                      </a:r>
                    </a:p>
                  </a:txBody>
                  <a:tcPr marL="54864" marR="54864" marT="27432" marB="27432" anchor="ctr">
                    <a:solidFill>
                      <a:srgbClr val="F2ECE1"/>
                    </a:solidFill>
                  </a:tcPr>
                </a:tc>
                <a:tc>
                  <a:txBody>
                    <a:bodyPr/>
                    <a:lstStyle/>
                    <a:p>
                      <a:pPr algn="l"/>
                      <a:r>
                        <a:rPr sz="950" b="0">
                          <a:solidFill>
                            <a:srgbClr val="2B2622"/>
                          </a:solidFill>
                          <a:latin typeface="Calibri"/>
                        </a:rPr>
                        <a:t>1231006505</a:t>
                      </a:r>
                    </a:p>
                  </a:txBody>
                  <a:tcPr marL="54864" marR="54864" marT="27432" marB="27432" anchor="ctr">
                    <a:solidFill>
                      <a:srgbClr val="F2ECE1"/>
                    </a:solidFill>
                  </a:tcPr>
                </a:tc>
              </a:tr>
              <a:tr h="246888">
                <a:tc>
                  <a:txBody>
                    <a:bodyPr/>
                    <a:lstStyle/>
                    <a:p>
                      <a:pPr algn="l"/>
                      <a:r>
                        <a:rPr sz="950" b="0">
                          <a:solidFill>
                            <a:srgbClr val="2B2622"/>
                          </a:solidFill>
                          <a:latin typeface="Calibri"/>
                        </a:rPr>
                        <a:t>Bits</a:t>
                      </a:r>
                    </a:p>
                  </a:txBody>
                  <a:tcPr marL="54864" marR="54864" marT="27432" marB="27432" anchor="ctr">
                    <a:solidFill>
                      <a:srgbClr val="FFFFFF"/>
                    </a:solidFill>
                  </a:tcPr>
                </a:tc>
                <a:tc>
                  <a:txBody>
                    <a:bodyPr/>
                    <a:lstStyle/>
                    <a:p>
                      <a:pPr algn="ctr"/>
                      <a:r>
                        <a:rPr sz="950" b="0">
                          <a:solidFill>
                            <a:srgbClr val="2B2622"/>
                          </a:solidFill>
                          <a:latin typeface="Calibri"/>
                        </a:rPr>
                        <a:t>4</a:t>
                      </a:r>
                    </a:p>
                  </a:txBody>
                  <a:tcPr marL="54864" marR="54864" marT="27432" marB="27432" anchor="ctr">
                    <a:solidFill>
                      <a:srgbClr val="FFFFFF"/>
                    </a:solidFill>
                  </a:tcPr>
                </a:tc>
                <a:tc>
                  <a:txBody>
                    <a:bodyPr/>
                    <a:lstStyle/>
                    <a:p>
                      <a:pPr algn="l"/>
                      <a:r>
                        <a:rPr sz="950" b="0">
                          <a:solidFill>
                            <a:srgbClr val="2B2622"/>
                          </a:solidFill>
                          <a:latin typeface="Calibri"/>
                        </a:rPr>
                        <a:t>1d00ffff</a:t>
                      </a:r>
                    </a:p>
                  </a:txBody>
                  <a:tcPr marL="54864" marR="54864" marT="27432" marB="27432" anchor="ctr">
                    <a:solidFill>
                      <a:srgbClr val="FFFFFF"/>
                    </a:solidFill>
                  </a:tcPr>
                </a:tc>
              </a:tr>
              <a:tr h="246888">
                <a:tc>
                  <a:txBody>
                    <a:bodyPr/>
                    <a:lstStyle/>
                    <a:p>
                      <a:pPr algn="l"/>
                      <a:r>
                        <a:rPr sz="950" b="0">
                          <a:solidFill>
                            <a:srgbClr val="2B2622"/>
                          </a:solidFill>
                          <a:latin typeface="Calibri"/>
                        </a:rPr>
                        <a:t>Nonce</a:t>
                      </a:r>
                    </a:p>
                  </a:txBody>
                  <a:tcPr marL="54864" marR="54864" marT="27432" marB="27432" anchor="ctr">
                    <a:solidFill>
                      <a:srgbClr val="F2ECE1"/>
                    </a:solidFill>
                  </a:tcPr>
                </a:tc>
                <a:tc>
                  <a:txBody>
                    <a:bodyPr/>
                    <a:lstStyle/>
                    <a:p>
                      <a:pPr algn="ctr"/>
                      <a:r>
                        <a:rPr sz="950" b="0">
                          <a:solidFill>
                            <a:srgbClr val="2B2622"/>
                          </a:solidFill>
                          <a:latin typeface="Calibri"/>
                        </a:rPr>
                        <a:t>4</a:t>
                      </a:r>
                    </a:p>
                  </a:txBody>
                  <a:tcPr marL="54864" marR="54864" marT="27432" marB="27432" anchor="ctr">
                    <a:solidFill>
                      <a:srgbClr val="F2ECE1"/>
                    </a:solidFill>
                  </a:tcPr>
                </a:tc>
                <a:tc>
                  <a:txBody>
                    <a:bodyPr/>
                    <a:lstStyle/>
                    <a:p>
                      <a:pPr algn="l"/>
                      <a:r>
                        <a:rPr sz="950" b="0">
                          <a:solidFill>
                            <a:srgbClr val="2B2622"/>
                          </a:solidFill>
                          <a:latin typeface="Calibri"/>
                        </a:rPr>
                        <a:t>2083236893</a:t>
                      </a:r>
                    </a:p>
                  </a:txBody>
                  <a:tcPr marL="54864" marR="54864" marT="27432" marB="27432" anchor="ctr">
                    <a:solidFill>
                      <a:srgbClr val="F2ECE1"/>
                    </a:solidFill>
                  </a:tcPr>
                </a:tc>
              </a:tr>
            </a:tbl>
          </a:graphicData>
        </a:graphic>
      </p:graphicFrame>
      <p:sp>
        <p:nvSpPr>
          <p:cNvPr id="17" name="TextBox 16"/>
          <p:cNvSpPr txBox="1"/>
          <p:nvPr/>
        </p:nvSpPr>
        <p:spPr>
          <a:xfrm>
            <a:off x="5852160" y="3529584"/>
            <a:ext cx="2834640" cy="640080"/>
          </a:xfrm>
          <a:prstGeom prst="rect">
            <a:avLst/>
          </a:prstGeom>
          <a:noFill/>
        </p:spPr>
        <p:txBody>
          <a:bodyPr wrap="square" lIns="0" rIns="0" tIns="0" bIns="0" anchor="t">
            <a:spAutoFit/>
          </a:bodyPr>
          <a:lstStyle/>
          <a:p>
            <a:pPr algn="l"/>
            <a:r>
              <a:rPr sz="1100" b="0" i="0">
                <a:solidFill>
                  <a:srgbClr val="2B2622"/>
                </a:solidFill>
                <a:latin typeface="Calibri"/>
              </a:rPr>
              <a:t>Hashed twice: 000000000019d668...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Nine pages, one table of probabilities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31 October 2008 · section 11 of the white paper</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27 / 35</a:t>
            </a:r>
          </a:p>
        </p:txBody>
      </p:sp>
      <p:pic>
        <p:nvPicPr>
          <p:cNvPr id="6" name="Picture 5" descr="Bronze bust of Satoshi Nakamoto in Budapest"/>
          <p:cNvPicPr>
            <a:picLocks noChangeAspect="1"/>
          </p:cNvPicPr>
          <p:nvPr/>
        </p:nvPicPr>
        <p:blipFill>
          <a:blip r:embed="rId3"/>
          <a:srcRect t="11629" b="27133"/>
          <a:stretch>
            <a:fillRect/>
          </a:stretch>
        </p:blipFill>
        <p:spPr>
          <a:xfrm>
            <a:off x="457200" y="1234440"/>
            <a:ext cx="274320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Satoshi bust, Budapest - Fekist, CC BY-SA 4.0, Wikimedia Commons</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Satoshi Nakamoto, the pseudonymous author, writing to a cryptography mailing list.</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A nine-page paper whose section 11 tabulates an attacker's chance of catching up.</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2008-10-31</a:t>
            </a:r>
            <a:r>
              <a:rPr sz="1050" b="0" i="0">
                <a:solidFill>
                  <a:srgbClr val="2B2622"/>
                </a:solidFill>
                <a:latin typeface="Calibri"/>
              </a:rPr>
              <a:t> (31 October 2008)</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The metzdowd.com cryptography mailing list; the PDF now sits on bitcoin.org.</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To show with numbers that waiting for confirmations makes a double spend unlikely.</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A random walk models the race of an honest chain against a secret one; the next slide reruns it.</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Bitcoin white paper (PDF)</a:t>
            </a:r>
            <a:r>
              <a:rPr sz="1050" b="0" i="0">
                <a:solidFill>
                  <a:srgbClr val="6E655C"/>
                </a:solidFill>
                <a:latin typeface="Calibri"/>
              </a:rPr>
              <a:t> - bitcoin.org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Nakamoto's catch-up table, recomputed</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Section 11 of the white paper, run again</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Every confirmation makes a reversal much less likely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28 / 35</a:t>
            </a:r>
          </a:p>
        </p:txBody>
      </p:sp>
      <p:sp>
        <p:nvSpPr>
          <p:cNvPr id="8" name="Rounded Rectangle 7"/>
          <p:cNvSpPr/>
          <p:nvPr/>
        </p:nvSpPr>
        <p:spPr>
          <a:xfrm>
            <a:off x="457200" y="1280160"/>
            <a:ext cx="5212080" cy="3535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70175"/>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170687"/>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q10 = [round(T.catch_up(</a:t>
            </a:r>
            <a:r>
              <a:rPr sz="1000" b="0" i="0">
                <a:solidFill>
                  <a:srgbClr val="FFD28A"/>
                </a:solidFill>
                <a:latin typeface="Courier New"/>
              </a:rPr>
              <a:t>0.1</a:t>
            </a:r>
            <a:r>
              <a:rPr sz="1000" b="0" i="0">
                <a:solidFill>
                  <a:srgbClr val="E6EDF3"/>
                </a:solidFill>
                <a:latin typeface="Courier New"/>
              </a:rPr>
              <a:t>, z), </a:t>
            </a:r>
            <a:r>
              <a:rPr sz="1000" b="0" i="0">
                <a:solidFill>
                  <a:srgbClr val="FFD28A"/>
                </a:solidFill>
                <a:latin typeface="Courier New"/>
              </a:rPr>
              <a:t>7</a:t>
            </a:r>
            <a:r>
              <a:rPr sz="1000" b="0" i="0">
                <a:solidFill>
                  <a:srgbClr val="E6EDF3"/>
                </a:solidFill>
                <a:latin typeface="Courier New"/>
              </a:rPr>
              <a:t>) </a:t>
            </a:r>
            <a:r>
              <a:rPr sz="1000" b="1" i="0">
                <a:solidFill>
                  <a:srgbClr val="F2A860"/>
                </a:solidFill>
                <a:latin typeface="Courier New"/>
              </a:rPr>
              <a:t>for</a:t>
            </a:r>
            <a:r>
              <a:rPr sz="1000" b="0" i="0">
                <a:solidFill>
                  <a:srgbClr val="E6EDF3"/>
                </a:solidFill>
                <a:latin typeface="Courier New"/>
              </a:rPr>
              <a:t> z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7</a:t>
            </a:r>
            <a:r>
              <a:rPr sz="1000" b="0" i="0">
                <a:solidFill>
                  <a:srgbClr val="E6EDF3"/>
                </a:solidFill>
                <a:latin typeface="Courier New"/>
              </a:rPr>
              <a:t>)]</a:t>
            </a:r>
          </a:p>
        </p:txBody>
      </p:sp>
      <p:sp>
        <p:nvSpPr>
          <p:cNvPr id="11" name="TextBox 10"/>
          <p:cNvSpPr txBox="1"/>
          <p:nvPr/>
        </p:nvSpPr>
        <p:spPr>
          <a:xfrm>
            <a:off x="603504" y="226161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q30 = [round(T.catch_up(</a:t>
            </a:r>
            <a:r>
              <a:rPr sz="1000" b="0" i="0">
                <a:solidFill>
                  <a:srgbClr val="FFD28A"/>
                </a:solidFill>
                <a:latin typeface="Courier New"/>
              </a:rPr>
              <a:t>0.3</a:t>
            </a:r>
            <a:r>
              <a:rPr sz="1000" b="0" i="0">
                <a:solidFill>
                  <a:srgbClr val="E6EDF3"/>
                </a:solidFill>
                <a:latin typeface="Courier New"/>
              </a:rPr>
              <a:t>, z), </a:t>
            </a:r>
            <a:r>
              <a:rPr sz="1000" b="0" i="0">
                <a:solidFill>
                  <a:srgbClr val="FFD28A"/>
                </a:solidFill>
                <a:latin typeface="Courier New"/>
              </a:rPr>
              <a:t>7</a:t>
            </a:r>
            <a:r>
              <a:rPr sz="1000" b="0" i="0">
                <a:solidFill>
                  <a:srgbClr val="E6EDF3"/>
                </a:solidFill>
                <a:latin typeface="Courier New"/>
              </a:rPr>
              <a:t>) </a:t>
            </a:r>
            <a:r>
              <a:rPr sz="1000" b="1" i="0">
                <a:solidFill>
                  <a:srgbClr val="F2A860"/>
                </a:solidFill>
                <a:latin typeface="Courier New"/>
              </a:rPr>
              <a:t>for</a:t>
            </a:r>
            <a:r>
              <a:rPr sz="1000" b="0" i="0">
                <a:solidFill>
                  <a:srgbClr val="E6EDF3"/>
                </a:solidFill>
                <a:latin typeface="Courier New"/>
              </a:rPr>
              <a:t> z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7</a:t>
            </a:r>
            <a:r>
              <a:rPr sz="1000" b="0" i="0">
                <a:solidFill>
                  <a:srgbClr val="E6EDF3"/>
                </a:solidFill>
                <a:latin typeface="Courier New"/>
              </a:rPr>
              <a:t>)]</a:t>
            </a:r>
          </a:p>
          <a:p>
            <a:pPr algn="l"/>
            <a:r>
              <a:rPr sz="1000" b="1" i="0">
                <a:solidFill>
                  <a:srgbClr val="F2A860"/>
                </a:solidFill>
                <a:latin typeface="Courier New"/>
              </a:rPr>
              <a:t>&gt;&gt;&gt; </a:t>
            </a:r>
            <a:r>
              <a:rPr sz="1000" b="0" i="0">
                <a:solidFill>
                  <a:srgbClr val="E6EDF3"/>
                </a:solidFill>
                <a:latin typeface="Courier New"/>
              </a:rPr>
              <a:t>(q10[</a:t>
            </a:r>
            <a:r>
              <a:rPr sz="1000" b="0" i="0">
                <a:solidFill>
                  <a:srgbClr val="FFD28A"/>
                </a:solidFill>
                <a:latin typeface="Courier New"/>
              </a:rPr>
              <a:t>1</a:t>
            </a:r>
            <a:r>
              <a:rPr sz="1000" b="0" i="0">
                <a:solidFill>
                  <a:srgbClr val="E6EDF3"/>
                </a:solidFill>
                <a:latin typeface="Courier New"/>
              </a:rPr>
              <a:t>], q10[</a:t>
            </a:r>
            <a:r>
              <a:rPr sz="1000" b="0" i="0">
                <a:solidFill>
                  <a:srgbClr val="FFD28A"/>
                </a:solidFill>
                <a:latin typeface="Courier New"/>
              </a:rPr>
              <a:t>6</a:t>
            </a:r>
            <a:r>
              <a:rPr sz="1000" b="0" i="0">
                <a:solidFill>
                  <a:srgbClr val="E6EDF3"/>
                </a:solidFill>
                <a:latin typeface="Courier New"/>
              </a:rPr>
              <a:t>])</a:t>
            </a:r>
          </a:p>
          <a:p>
            <a:pPr algn="l"/>
            <a:r>
              <a:rPr sz="1000" b="0" i="0">
                <a:solidFill>
                  <a:srgbClr val="7EE787"/>
                </a:solidFill>
                <a:latin typeface="Courier New"/>
              </a:rPr>
              <a:t>(0.2045873, 0.0002428)</a:t>
            </a:r>
          </a:p>
        </p:txBody>
      </p:sp>
      <p:sp>
        <p:nvSpPr>
          <p:cNvPr id="12" name="TextBox 11"/>
          <p:cNvSpPr txBox="1"/>
          <p:nvPr/>
        </p:nvSpPr>
        <p:spPr>
          <a:xfrm>
            <a:off x="457200" y="1688591"/>
            <a:ext cx="5212080" cy="371855"/>
          </a:xfrm>
          <a:prstGeom prst="rect">
            <a:avLst/>
          </a:prstGeom>
          <a:noFill/>
        </p:spPr>
        <p:txBody>
          <a:bodyPr wrap="square" lIns="0" rIns="0" tIns="0" bIns="0" anchor="t">
            <a:spAutoFit/>
          </a:bodyPr>
          <a:lstStyle/>
          <a:p>
            <a:pPr algn="l"/>
            <a:r>
              <a:rPr sz="1100" b="0" i="0">
                <a:solidFill>
                  <a:srgbClr val="2B2622"/>
                </a:solidFill>
                <a:latin typeface="Calibri"/>
              </a:rPr>
              <a:t>The white paper's formula for an attacker with 10 percent of the hash power.</a:t>
            </a:r>
          </a:p>
        </p:txBody>
      </p:sp>
      <p:sp>
        <p:nvSpPr>
          <p:cNvPr id="13" name="TextBox 12"/>
          <p:cNvSpPr txBox="1"/>
          <p:nvPr/>
        </p:nvSpPr>
        <p:spPr>
          <a:xfrm>
            <a:off x="457200" y="2883408"/>
            <a:ext cx="5212080" cy="371855"/>
          </a:xfrm>
          <a:prstGeom prst="rect">
            <a:avLst/>
          </a:prstGeom>
          <a:noFill/>
        </p:spPr>
        <p:txBody>
          <a:bodyPr wrap="square" lIns="0" rIns="0" tIns="0" bIns="0" anchor="t">
            <a:spAutoFit/>
          </a:bodyPr>
          <a:lstStyle/>
          <a:p>
            <a:pPr algn="l"/>
            <a:r>
              <a:rPr sz="1100" b="0" i="0">
                <a:solidFill>
                  <a:srgbClr val="2B2622"/>
                </a:solidFill>
                <a:latin typeface="Calibri"/>
              </a:rPr>
              <a:t>The same for 30 percent; the printed pair is the chance at one and at six blocks.</a:t>
            </a:r>
          </a:p>
        </p:txBody>
      </p:sp>
      <p:sp>
        <p:nvSpPr>
          <p:cNvPr id="14" name="TextBox 13"/>
          <p:cNvSpPr txBox="1"/>
          <p:nvPr/>
        </p:nvSpPr>
        <p:spPr>
          <a:xfrm>
            <a:off x="457200" y="3328415"/>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attacker's chance per block</a:t>
            </a:r>
          </a:p>
        </p:txBody>
      </p:sp>
      <p:graphicFrame>
        <p:nvGraphicFramePr>
          <p:cNvPr id="16" name="Chart 15"/>
          <p:cNvGraphicFramePr>
            <a:graphicFrameLocks noGrp="1"/>
          </p:cNvGraphicFramePr>
          <p:nvPr/>
        </p:nvGraphicFramePr>
        <p:xfrm>
          <a:off x="5852160" y="1691640"/>
          <a:ext cx="2834640" cy="210312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904488"/>
            <a:ext cx="2834640" cy="640080"/>
          </a:xfrm>
          <a:prstGeom prst="rect">
            <a:avLst/>
          </a:prstGeom>
          <a:noFill/>
        </p:spPr>
        <p:txBody>
          <a:bodyPr wrap="square" lIns="0" rIns="0" tIns="0" bIns="0" anchor="t">
            <a:spAutoFit/>
          </a:bodyPr>
          <a:lstStyle/>
          <a:p>
            <a:pPr algn="l"/>
            <a:r>
              <a:rPr sz="1100" b="0" i="0">
                <a:solidFill>
                  <a:srgbClr val="2B2622"/>
                </a:solidFill>
                <a:latin typeface="Calibri"/>
              </a:rPr>
              <a:t>A 30 percent attacker still has 13 percent after six blocks.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48640" y="411480"/>
            <a:ext cx="8046720" cy="731520"/>
          </a:xfrm>
          <a:prstGeom prst="rect">
            <a:avLst/>
          </a:prstGeom>
          <a:noFill/>
        </p:spPr>
        <p:txBody>
          <a:bodyPr wrap="square" lIns="0" rIns="0" tIns="0" bIns="0" anchor="ctr">
            <a:spAutoFit/>
          </a:bodyPr>
          <a:lstStyle/>
          <a:p>
            <a:pPr algn="l"/>
            <a:r>
              <a:rPr sz="2800" b="0" i="0">
                <a:solidFill>
                  <a:srgbClr val="2B2622"/>
                </a:solidFill>
                <a:latin typeface="Cambria"/>
              </a:rPr>
              <a:t>Spending the Transaction</a:t>
            </a:r>
          </a:p>
        </p:txBody>
      </p:sp>
      <p:sp>
        <p:nvSpPr>
          <p:cNvPr id="3" name="TextBox 2"/>
          <p:cNvSpPr txBox="1"/>
          <p:nvPr/>
        </p:nvSpPr>
        <p:spPr>
          <a:xfrm>
            <a:off x="548640" y="1170432"/>
            <a:ext cx="8046720" cy="365760"/>
          </a:xfrm>
          <a:prstGeom prst="rect">
            <a:avLst/>
          </a:prstGeom>
          <a:noFill/>
        </p:spPr>
        <p:txBody>
          <a:bodyPr wrap="square" lIns="0" rIns="0" tIns="0" bIns="0" anchor="ctr">
            <a:spAutoFit/>
          </a:bodyPr>
          <a:lstStyle/>
          <a:p>
            <a:pPr algn="l"/>
            <a:r>
              <a:rPr sz="1500" b="0" i="1">
                <a:solidFill>
                  <a:srgbClr val="6E655C"/>
                </a:solidFill>
                <a:latin typeface="Calibri"/>
              </a:rPr>
              <a:t>When Bob may spend, and what every node checks first</a:t>
            </a:r>
          </a:p>
        </p:txBody>
      </p:sp>
      <p:sp>
        <p:nvSpPr>
          <p:cNvPr id="4" name="Rounded Rectangle 3"/>
          <p:cNvSpPr/>
          <p:nvPr/>
        </p:nvSpPr>
        <p:spPr>
          <a:xfrm>
            <a:off x="548640" y="1783080"/>
            <a:ext cx="39319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consensus rules</a:t>
            </a:r>
          </a:p>
        </p:txBody>
      </p:sp>
      <p:sp>
        <p:nvSpPr>
          <p:cNvPr id="5" name="TextBox 4"/>
          <p:cNvSpPr txBox="1"/>
          <p:nvPr/>
        </p:nvSpPr>
        <p:spPr>
          <a:xfrm>
            <a:off x="548640" y="2267712"/>
            <a:ext cx="3931920" cy="731520"/>
          </a:xfrm>
          <a:prstGeom prst="rect">
            <a:avLst/>
          </a:prstGeom>
          <a:noFill/>
        </p:spPr>
        <p:txBody>
          <a:bodyPr wrap="square" lIns="0" rIns="0" tIns="0" bIns="0" anchor="t">
            <a:spAutoFit/>
          </a:bodyPr>
          <a:lstStyle/>
          <a:p>
            <a:pPr algn="l"/>
            <a:r>
              <a:rPr sz="1150" b="0" i="0">
                <a:solidFill>
                  <a:srgbClr val="2B2622"/>
                </a:solidFill>
                <a:latin typeface="Calibri"/>
              </a:rPr>
              <a:t>Rules that every node checks the same way; a block that breaks one is refused.</a:t>
            </a:r>
          </a:p>
        </p:txBody>
      </p:sp>
      <p:sp>
        <p:nvSpPr>
          <p:cNvPr id="6" name="TextBox 5"/>
          <p:cNvSpPr txBox="1"/>
          <p:nvPr/>
        </p:nvSpPr>
        <p:spPr>
          <a:xfrm>
            <a:off x="548640" y="3054096"/>
            <a:ext cx="3931920" cy="566928"/>
          </a:xfrm>
          <a:prstGeom prst="rect">
            <a:avLst/>
          </a:prstGeom>
          <a:noFill/>
        </p:spPr>
        <p:txBody>
          <a:bodyPr wrap="square" lIns="0" rIns="0" tIns="0" bIns="0" anchor="t">
            <a:spAutoFit/>
          </a:bodyPr>
          <a:lstStyle/>
          <a:p>
            <a:pPr algn="l"/>
            <a:r>
              <a:rPr sz="1150" b="0" i="1">
                <a:solidFill>
                  <a:srgbClr val="D97A14"/>
                </a:solidFill>
                <a:latin typeface="Calibri"/>
              </a:rPr>
              <a:t>Think of the rules of chess that every player and referee enforce.</a:t>
            </a:r>
          </a:p>
        </p:txBody>
      </p:sp>
      <p:sp>
        <p:nvSpPr>
          <p:cNvPr id="7" name="Rounded Rectangle 6"/>
          <p:cNvSpPr/>
          <p:nvPr/>
        </p:nvSpPr>
        <p:spPr>
          <a:xfrm>
            <a:off x="4663440" y="1783080"/>
            <a:ext cx="3931920" cy="384048"/>
          </a:xfrm>
          <a:prstGeom prst="roundRect">
            <a:avLst>
              <a:gd name="adj" fmla="val 30000"/>
            </a:avLst>
          </a:prstGeom>
          <a:solidFill>
            <a:srgbClr val="2F6D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2918" bIns="32918"/>
          <a:lstStyle/>
          <a:p>
            <a:pPr algn="ctr"/>
            <a:r>
              <a:rPr sz="1200" b="1" i="0">
                <a:solidFill>
                  <a:srgbClr val="FFFFFF"/>
                </a:solidFill>
                <a:latin typeface="Calibri"/>
              </a:rPr>
              <a:t>block explorer</a:t>
            </a:r>
          </a:p>
        </p:txBody>
      </p:sp>
      <p:sp>
        <p:nvSpPr>
          <p:cNvPr id="8" name="TextBox 7"/>
          <p:cNvSpPr txBox="1"/>
          <p:nvPr/>
        </p:nvSpPr>
        <p:spPr>
          <a:xfrm>
            <a:off x="4663440" y="2267712"/>
            <a:ext cx="3931920" cy="731520"/>
          </a:xfrm>
          <a:prstGeom prst="rect">
            <a:avLst/>
          </a:prstGeom>
          <a:noFill/>
        </p:spPr>
        <p:txBody>
          <a:bodyPr wrap="square" lIns="0" rIns="0" tIns="0" bIns="0" anchor="t">
            <a:spAutoFit/>
          </a:bodyPr>
          <a:lstStyle/>
          <a:p>
            <a:pPr algn="l"/>
            <a:r>
              <a:rPr sz="1150" b="0" i="0">
                <a:solidFill>
                  <a:srgbClr val="2B2622"/>
                </a:solidFill>
                <a:latin typeface="Calibri"/>
              </a:rPr>
              <a:t>A website where anyone can look up blocks, transactions and addresses.</a:t>
            </a:r>
          </a:p>
        </p:txBody>
      </p:sp>
      <p:sp>
        <p:nvSpPr>
          <p:cNvPr id="9" name="TextBox 8"/>
          <p:cNvSpPr txBox="1"/>
          <p:nvPr/>
        </p:nvSpPr>
        <p:spPr>
          <a:xfrm>
            <a:off x="4663440" y="3054096"/>
            <a:ext cx="3931920" cy="566928"/>
          </a:xfrm>
          <a:prstGeom prst="rect">
            <a:avLst/>
          </a:prstGeom>
          <a:noFill/>
        </p:spPr>
        <p:txBody>
          <a:bodyPr wrap="square" lIns="0" rIns="0" tIns="0" bIns="0" anchor="t">
            <a:spAutoFit/>
          </a:bodyPr>
          <a:lstStyle/>
          <a:p>
            <a:pPr algn="l"/>
            <a:r>
              <a:rPr sz="1150" b="0" i="1">
                <a:solidFill>
                  <a:srgbClr val="D97A14"/>
                </a:solidFill>
                <a:latin typeface="Calibri"/>
              </a:rPr>
              <a:t>Think of a parcel tracker for money.</a:t>
            </a:r>
          </a:p>
        </p:txBody>
      </p:sp>
      <p:graphicFrame>
        <p:nvGraphicFramePr>
          <p:cNvPr id="10" name="Table 9"/>
          <p:cNvGraphicFramePr>
            <a:graphicFrameLocks noGrp="1"/>
          </p:cNvGraphicFramePr>
          <p:nvPr/>
        </p:nvGraphicFramePr>
        <p:xfrm>
          <a:off x="548640" y="3931920"/>
          <a:ext cx="8046720" cy="365760"/>
        </p:xfrm>
        <a:graphic>
          <a:graphicData uri="http://schemas.openxmlformats.org/drawingml/2006/table">
            <a:tbl>
              <a:tblPr firstRow="1" bandRow="1">
                <a:tableStyleId>{5C22544A-7EE6-4342-B048-85BDC9FD1C3A}</a:tableStyleId>
              </a:tblPr>
              <a:tblGrid>
                <a:gridCol w="1341120"/>
                <a:gridCol w="1341120"/>
                <a:gridCol w="1341120"/>
                <a:gridCol w="1341120"/>
                <a:gridCol w="1341120"/>
                <a:gridCol w="1341120"/>
              </a:tblGrid>
              <a:tr h="365760">
                <a:tc>
                  <a:txBody>
                    <a:bodyPr/>
                    <a:lstStyle/>
                    <a:p>
                      <a:pPr algn="ctr"/>
                      <a:r>
                        <a:rPr sz="1000" b="0">
                          <a:solidFill>
                            <a:srgbClr val="6E655C"/>
                          </a:solidFill>
                          <a:latin typeface="Calibri"/>
                        </a:rPr>
                        <a:t>Store</a:t>
                      </a:r>
                    </a:p>
                  </a:txBody>
                  <a:tcPr marL="54864" marR="54864" marT="27432" marB="27432" anchor="ctr">
                    <a:solidFill>
                      <a:srgbClr val="F2ECE1"/>
                    </a:solidFill>
                  </a:tcPr>
                </a:tc>
                <a:tc>
                  <a:txBody>
                    <a:bodyPr/>
                    <a:lstStyle/>
                    <a:p>
                      <a:pPr algn="ctr"/>
                      <a:r>
                        <a:rPr sz="1000" b="0">
                          <a:solidFill>
                            <a:srgbClr val="6E655C"/>
                          </a:solidFill>
                          <a:latin typeface="Calibri"/>
                        </a:rPr>
                        <a:t>Transactions</a:t>
                      </a:r>
                    </a:p>
                  </a:txBody>
                  <a:tcPr marL="54864" marR="54864" marT="27432" marB="27432" anchor="ctr">
                    <a:solidFill>
                      <a:srgbClr val="F2ECE1"/>
                    </a:solidFill>
                  </a:tcPr>
                </a:tc>
                <a:tc>
                  <a:txBody>
                    <a:bodyPr/>
                    <a:lstStyle/>
                    <a:p>
                      <a:pPr algn="ctr"/>
                      <a:r>
                        <a:rPr sz="1000" b="0">
                          <a:solidFill>
                            <a:srgbClr val="6E655C"/>
                          </a:solidFill>
                          <a:latin typeface="Calibri"/>
                        </a:rPr>
                        <a:t>Coin selection</a:t>
                      </a:r>
                    </a:p>
                  </a:txBody>
                  <a:tcPr marL="54864" marR="54864" marT="27432" marB="27432" anchor="ctr">
                    <a:solidFill>
                      <a:srgbClr val="F2ECE1"/>
                    </a:solidFill>
                  </a:tcPr>
                </a:tc>
                <a:tc>
                  <a:txBody>
                    <a:bodyPr/>
                    <a:lstStyle/>
                    <a:p>
                      <a:pPr algn="ctr"/>
                      <a:r>
                        <a:rPr sz="1000" b="0">
                          <a:solidFill>
                            <a:srgbClr val="6E655C"/>
                          </a:solidFill>
                          <a:latin typeface="Calibri"/>
                        </a:rPr>
                        <a:t>Construction</a:t>
                      </a:r>
                    </a:p>
                  </a:txBody>
                  <a:tcPr marL="54864" marR="54864" marT="27432" marB="27432" anchor="ctr">
                    <a:solidFill>
                      <a:srgbClr val="F2ECE1"/>
                    </a:solidFill>
                  </a:tcPr>
                </a:tc>
                <a:tc>
                  <a:txBody>
                    <a:bodyPr/>
                    <a:lstStyle/>
                    <a:p>
                      <a:pPr algn="ctr"/>
                      <a:r>
                        <a:rPr sz="1000" b="0">
                          <a:solidFill>
                            <a:srgbClr val="6E655C"/>
                          </a:solidFill>
                          <a:latin typeface="Calibri"/>
                        </a:rPr>
                        <a:t>Blockchain</a:t>
                      </a:r>
                    </a:p>
                  </a:txBody>
                  <a:tcPr marL="54864" marR="54864" marT="27432" marB="27432" anchor="ctr">
                    <a:solidFill>
                      <a:srgbClr val="F2ECE1"/>
                    </a:solidFill>
                  </a:tcPr>
                </a:tc>
                <a:tc>
                  <a:txBody>
                    <a:bodyPr/>
                    <a:lstStyle/>
                    <a:p>
                      <a:pPr algn="ctr"/>
                      <a:r>
                        <a:rPr sz="1000" b="1">
                          <a:solidFill>
                            <a:srgbClr val="FFFFFF"/>
                          </a:solidFill>
                          <a:latin typeface="Calibri"/>
                        </a:rPr>
                        <a:t>Spending</a:t>
                      </a:r>
                    </a:p>
                  </a:txBody>
                  <a:tcPr marL="54864" marR="54864" marT="27432" marB="27432" anchor="ctr">
                    <a:solidFill>
                      <a:srgbClr val="D97A14"/>
                    </a:solidFill>
                  </a:tcPr>
                </a:tc>
              </a:tr>
            </a:tbl>
          </a:graphicData>
        </a:graphic>
      </p:graphicFrame>
      <p:sp>
        <p:nvSpPr>
          <p:cNvPr id="11" name="TextBox 10"/>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29 / 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400" b="0" i="0">
                <a:solidFill>
                  <a:srgbClr val="2B2622"/>
                </a:solidFill>
                <a:latin typeface="Cambria"/>
              </a:rPr>
              <a:t>The reward halves every 210,000 blocks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One of the consensus rules, in one line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Halving is a rule every node enforces, not a promise</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30 / 35</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322576"/>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era = T.HALVING_INTERVAL</a:t>
            </a:r>
          </a:p>
          <a:p>
            <a:pPr algn="l"/>
            <a:r>
              <a:rPr sz="1000" b="1" i="0">
                <a:solidFill>
                  <a:srgbClr val="F2A860"/>
                </a:solidFill>
                <a:latin typeface="Courier New"/>
              </a:rPr>
              <a:t>&gt;&gt;&gt; </a:t>
            </a:r>
            <a:r>
              <a:rPr sz="1000" b="0" i="0">
                <a:solidFill>
                  <a:srgbClr val="E6EDF3"/>
                </a:solidFill>
                <a:latin typeface="Courier New"/>
              </a:rPr>
              <a:t>reward = </a:t>
            </a:r>
            <a:r>
              <a:rPr sz="1000" b="1" i="0">
                <a:solidFill>
                  <a:srgbClr val="F2A860"/>
                </a:solidFill>
                <a:latin typeface="Courier New"/>
              </a:rPr>
              <a:t>lambda</a:t>
            </a:r>
            <a:r>
              <a:rPr sz="1000" b="0" i="0">
                <a:solidFill>
                  <a:srgbClr val="E6EDF3"/>
                </a:solidFill>
                <a:latin typeface="Courier New"/>
              </a:rPr>
              <a:t> h: </a:t>
            </a:r>
            <a:r>
              <a:rPr sz="1000" b="0" i="0">
                <a:solidFill>
                  <a:srgbClr val="FFD28A"/>
                </a:solidFill>
                <a:latin typeface="Courier New"/>
              </a:rPr>
              <a:t>50</a:t>
            </a:r>
            <a:r>
              <a:rPr sz="1000" b="0" i="0">
                <a:solidFill>
                  <a:srgbClr val="E6EDF3"/>
                </a:solidFill>
                <a:latin typeface="Courier New"/>
              </a:rPr>
              <a:t> * T.COIN &gt;&gt; h // era</a:t>
            </a:r>
          </a:p>
        </p:txBody>
      </p:sp>
      <p:sp>
        <p:nvSpPr>
          <p:cNvPr id="11" name="TextBox 10"/>
          <p:cNvSpPr txBox="1"/>
          <p:nvPr/>
        </p:nvSpPr>
        <p:spPr>
          <a:xfrm>
            <a:off x="603504" y="2414016"/>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[reward(h * era) / T.COIN </a:t>
            </a:r>
            <a:r>
              <a:rPr sz="1000" b="1" i="0">
                <a:solidFill>
                  <a:srgbClr val="F2A860"/>
                </a:solidFill>
                <a:latin typeface="Courier New"/>
              </a:rPr>
              <a:t>for</a:t>
            </a:r>
            <a:r>
              <a:rPr sz="1000" b="0" i="0">
                <a:solidFill>
                  <a:srgbClr val="E6EDF3"/>
                </a:solidFill>
                <a:latin typeface="Courier New"/>
              </a:rPr>
              <a:t> h </a:t>
            </a:r>
            <a:r>
              <a:rPr sz="1000" b="1" i="0">
                <a:solidFill>
                  <a:srgbClr val="F2A860"/>
                </a:solidFill>
                <a:latin typeface="Courier New"/>
              </a:rPr>
              <a:t>in</a:t>
            </a:r>
            <a:r>
              <a:rPr sz="1000" b="0" i="0">
                <a:solidFill>
                  <a:srgbClr val="E6EDF3"/>
                </a:solidFill>
                <a:latin typeface="Courier New"/>
              </a:rPr>
              <a:t> range(</a:t>
            </a:r>
            <a:r>
              <a:rPr sz="1000" b="0" i="0">
                <a:solidFill>
                  <a:srgbClr val="FFD28A"/>
                </a:solidFill>
                <a:latin typeface="Courier New"/>
              </a:rPr>
              <a:t>6</a:t>
            </a:r>
            <a:r>
              <a:rPr sz="1000" b="0" i="0">
                <a:solidFill>
                  <a:srgbClr val="E6EDF3"/>
                </a:solidFill>
                <a:latin typeface="Courier New"/>
              </a:rPr>
              <a:t>)]</a:t>
            </a:r>
          </a:p>
          <a:p>
            <a:pPr algn="l"/>
            <a:r>
              <a:rPr sz="1000" b="0" i="0">
                <a:solidFill>
                  <a:srgbClr val="7EE787"/>
                </a:solidFill>
                <a:latin typeface="Courier New"/>
              </a:rPr>
              <a:t>[50.0, 25.0, 12.5, 6.25, 3.125, 1.5625]</a:t>
            </a:r>
          </a:p>
        </p:txBody>
      </p:sp>
      <p:sp>
        <p:nvSpPr>
          <p:cNvPr id="12" name="TextBox 11"/>
          <p:cNvSpPr txBox="1"/>
          <p:nvPr/>
        </p:nvSpPr>
        <p:spPr>
          <a:xfrm>
            <a:off x="457200" y="1840991"/>
            <a:ext cx="5212080" cy="371855"/>
          </a:xfrm>
          <a:prstGeom prst="rect">
            <a:avLst/>
          </a:prstGeom>
          <a:noFill/>
        </p:spPr>
        <p:txBody>
          <a:bodyPr wrap="square" lIns="0" rIns="0" tIns="0" bIns="0" anchor="t">
            <a:spAutoFit/>
          </a:bodyPr>
          <a:lstStyle/>
          <a:p>
            <a:pPr algn="l"/>
            <a:r>
              <a:rPr sz="1100" b="0" i="0">
                <a:solidFill>
                  <a:srgbClr val="2B2622"/>
                </a:solidFill>
                <a:latin typeface="Calibri"/>
              </a:rPr>
              <a:t>Fifty bitcoin, shifted right by one bit for every completed era of 210,000 blocks.</a:t>
            </a:r>
          </a:p>
        </p:txBody>
      </p:sp>
      <p:sp>
        <p:nvSpPr>
          <p:cNvPr id="13" name="TextBox 12"/>
          <p:cNvSpPr txBox="1"/>
          <p:nvPr/>
        </p:nvSpPr>
        <p:spPr>
          <a:xfrm>
            <a:off x="457200" y="2883408"/>
            <a:ext cx="5212080" cy="204216"/>
          </a:xfrm>
          <a:prstGeom prst="rect">
            <a:avLst/>
          </a:prstGeom>
          <a:noFill/>
        </p:spPr>
        <p:txBody>
          <a:bodyPr wrap="square" lIns="0" rIns="0" tIns="0" bIns="0" anchor="t">
            <a:spAutoFit/>
          </a:bodyPr>
          <a:lstStyle/>
          <a:p>
            <a:pPr algn="l"/>
            <a:r>
              <a:rPr sz="1100" b="0" i="0">
                <a:solidFill>
                  <a:srgbClr val="2B2622"/>
                </a:solidFill>
                <a:latin typeface="Calibri"/>
              </a:rPr>
              <a:t>The reward at the first block of each of the first six eras, in bitcoin.</a:t>
            </a:r>
          </a:p>
        </p:txBody>
      </p:sp>
      <p:sp>
        <p:nvSpPr>
          <p:cNvPr id="14" name="TextBox 13"/>
          <p:cNvSpPr txBox="1"/>
          <p:nvPr/>
        </p:nvSpPr>
        <p:spPr>
          <a:xfrm>
            <a:off x="457200" y="316077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block reward of each era, in bitcoin</a:t>
            </a:r>
          </a:p>
        </p:txBody>
      </p:sp>
      <p:graphicFrame>
        <p:nvGraphicFramePr>
          <p:cNvPr id="16" name="Chart 15"/>
          <p:cNvGraphicFramePr>
            <a:graphicFrameLocks noGrp="1"/>
          </p:cNvGraphicFramePr>
          <p:nvPr/>
        </p:nvGraphicFramePr>
        <p:xfrm>
          <a:off x="5852160" y="1691640"/>
          <a:ext cx="2834640" cy="2057400"/>
        </p:xfrm>
        <a:graphic>
          <a:graphicData uri="http://schemas.openxmlformats.org/drawingml/2006/chart">
            <c:chart xmlns:c="http://schemas.openxmlformats.org/drawingml/2006/chart" r:id="rId3"/>
          </a:graphicData>
        </a:graphic>
      </p:graphicFrame>
      <p:sp>
        <p:nvSpPr>
          <p:cNvPr id="17" name="TextBox 16"/>
          <p:cNvSpPr txBox="1"/>
          <p:nvPr/>
        </p:nvSpPr>
        <p:spPr>
          <a:xfrm>
            <a:off x="5852160" y="3858768"/>
            <a:ext cx="2834640" cy="640080"/>
          </a:xfrm>
          <a:prstGeom prst="rect">
            <a:avLst/>
          </a:prstGeom>
          <a:noFill/>
        </p:spPr>
        <p:txBody>
          <a:bodyPr wrap="square" lIns="0" rIns="0" tIns="0" bIns="0" anchor="t">
            <a:spAutoFit/>
          </a:bodyPr>
          <a:lstStyle/>
          <a:p>
            <a:pPr algn="l"/>
            <a:r>
              <a:rPr sz="1100" b="0" i="0">
                <a:solidFill>
                  <a:srgbClr val="2B2622"/>
                </a:solidFill>
                <a:latin typeface="Calibri"/>
              </a:rPr>
              <a:t>The reward halved in 2012, 2016, 2020 and 2024; 2028 is the next halving due.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100" b="0" i="0">
                <a:solidFill>
                  <a:srgbClr val="2B2622"/>
                </a:solidFill>
                <a:latin typeface="Cambria"/>
              </a:rPr>
              <a:t>The day someone printed 184 billion bitcoin</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15 August 2010 · block 74,638</a:t>
            </a:r>
          </a:p>
        </p:txBody>
      </p:sp>
      <p:sp>
        <p:nvSpPr>
          <p:cNvPr id="5" name="TextBox 4"/>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31 / 35</a:t>
            </a:r>
          </a:p>
        </p:txBody>
      </p:sp>
      <p:pic>
        <p:nvPicPr>
          <p:cNvPr id="6" name="Picture 5" descr="The Bitcoin logo, a stand-in picture"/>
          <p:cNvPicPr>
            <a:picLocks noChangeAspect="1"/>
          </p:cNvPicPr>
          <p:nvPr/>
        </p:nvPicPr>
        <p:blipFill>
          <a:blip r:embed="rId3"/>
          <a:stretch>
            <a:fillRect/>
          </a:stretch>
        </p:blipFill>
        <p:spPr>
          <a:xfrm>
            <a:off x="708659" y="1234440"/>
            <a:ext cx="2240280" cy="2240280"/>
          </a:xfrm>
          <a:prstGeom prst="rect">
            <a:avLst/>
          </a:prstGeom>
        </p:spPr>
      </p:pic>
      <p:sp>
        <p:nvSpPr>
          <p:cNvPr id="7" name="TextBox 6"/>
          <p:cNvSpPr txBox="1"/>
          <p:nvPr/>
        </p:nvSpPr>
        <p:spPr>
          <a:xfrm>
            <a:off x="457200" y="3547872"/>
            <a:ext cx="2743200" cy="566928"/>
          </a:xfrm>
          <a:prstGeom prst="rect">
            <a:avLst/>
          </a:prstGeom>
          <a:noFill/>
        </p:spPr>
        <p:txBody>
          <a:bodyPr wrap="square" lIns="0" rIns="0" tIns="0" bIns="0" anchor="t">
            <a:spAutoFit/>
          </a:bodyPr>
          <a:lstStyle/>
          <a:p>
            <a:pPr algn="l"/>
            <a:r>
              <a:rPr sz="850" b="0" i="0">
                <a:solidFill>
                  <a:srgbClr val="6E655C"/>
                </a:solidFill>
                <a:latin typeface="Calibri"/>
              </a:rPr>
              <a:t>Picture: Bitcoin logo - Grayliptrot, public domain, Wikimedia Commons - a stand-in, since no free picture of the event exists</a:t>
            </a:r>
          </a:p>
        </p:txBody>
      </p:sp>
      <p:sp>
        <p:nvSpPr>
          <p:cNvPr id="8" name="TextBox 7"/>
          <p:cNvSpPr txBox="1"/>
          <p:nvPr/>
        </p:nvSpPr>
        <p:spPr>
          <a:xfrm>
            <a:off x="3429000" y="1216152"/>
            <a:ext cx="5257800" cy="438912"/>
          </a:xfrm>
          <a:prstGeom prst="rect">
            <a:avLst/>
          </a:prstGeom>
          <a:noFill/>
        </p:spPr>
        <p:txBody>
          <a:bodyPr wrap="square" lIns="0" rIns="0" tIns="0" bIns="0" anchor="t">
            <a:spAutoFit/>
          </a:bodyPr>
          <a:lstStyle/>
          <a:p>
            <a:pPr algn="l"/>
            <a:r>
              <a:rPr sz="1050" b="1" i="0">
                <a:solidFill>
                  <a:srgbClr val="D97A14"/>
                </a:solidFill>
                <a:latin typeface="Calibri"/>
              </a:rPr>
              <a:t>WHO </a:t>
            </a:r>
            <a:r>
              <a:rPr sz="1050" b="0" i="0">
                <a:solidFill>
                  <a:srgbClr val="2B2622"/>
                </a:solidFill>
                <a:latin typeface="Calibri"/>
              </a:rPr>
              <a:t>An unknown attacker; Jeff Garzik, who spotted the block; Satoshi Nakamoto, who patched the software.</a:t>
            </a:r>
          </a:p>
        </p:txBody>
      </p:sp>
      <p:sp>
        <p:nvSpPr>
          <p:cNvPr id="9" name="TextBox 8"/>
          <p:cNvSpPr txBox="1"/>
          <p:nvPr/>
        </p:nvSpPr>
        <p:spPr>
          <a:xfrm>
            <a:off x="3429000" y="1691640"/>
            <a:ext cx="5257800" cy="438912"/>
          </a:xfrm>
          <a:prstGeom prst="rect">
            <a:avLst/>
          </a:prstGeom>
          <a:noFill/>
        </p:spPr>
        <p:txBody>
          <a:bodyPr wrap="square" lIns="0" rIns="0" tIns="0" bIns="0" anchor="t">
            <a:spAutoFit/>
          </a:bodyPr>
          <a:lstStyle/>
          <a:p>
            <a:pPr algn="l"/>
            <a:r>
              <a:rPr sz="1050" b="1" i="0">
                <a:solidFill>
                  <a:srgbClr val="D97A14"/>
                </a:solidFill>
                <a:latin typeface="Calibri"/>
              </a:rPr>
              <a:t>WHAT </a:t>
            </a:r>
            <a:r>
              <a:rPr sz="1050" b="0" i="0">
                <a:solidFill>
                  <a:srgbClr val="2B2622"/>
                </a:solidFill>
                <a:latin typeface="Calibri"/>
              </a:rPr>
              <a:t>A block paid out about 184 billion bitcoin, thousands of times the 21 million limit.</a:t>
            </a:r>
          </a:p>
        </p:txBody>
      </p:sp>
      <p:sp>
        <p:nvSpPr>
          <p:cNvPr id="10" name="TextBox 9"/>
          <p:cNvSpPr txBox="1"/>
          <p:nvPr/>
        </p:nvSpPr>
        <p:spPr>
          <a:xfrm>
            <a:off x="3429000" y="2167128"/>
            <a:ext cx="5257800" cy="438912"/>
          </a:xfrm>
          <a:prstGeom prst="rect">
            <a:avLst/>
          </a:prstGeom>
          <a:noFill/>
        </p:spPr>
        <p:txBody>
          <a:bodyPr wrap="square" lIns="0" rIns="0" tIns="0" bIns="0" anchor="t">
            <a:spAutoFit/>
          </a:bodyPr>
          <a:lstStyle/>
          <a:p>
            <a:pPr algn="l"/>
            <a:r>
              <a:rPr sz="1050" b="1" i="0">
                <a:solidFill>
                  <a:srgbClr val="D97A14"/>
                </a:solidFill>
                <a:latin typeface="Calibri"/>
              </a:rPr>
              <a:t>WHEN </a:t>
            </a:r>
            <a:r>
              <a:rPr sz="1050" b="0" i="0">
                <a:solidFill>
                  <a:srgbClr val="2B2622"/>
                </a:solidFill>
                <a:latin typeface="Calibri"/>
              </a:rPr>
              <a:t>2010-08-15</a:t>
            </a:r>
            <a:r>
              <a:rPr sz="1050" b="0" i="0">
                <a:solidFill>
                  <a:srgbClr val="2B2622"/>
                </a:solidFill>
                <a:latin typeface="Calibri"/>
              </a:rPr>
              <a:t> (15 August 2010)</a:t>
            </a:r>
          </a:p>
        </p:txBody>
      </p:sp>
      <p:sp>
        <p:nvSpPr>
          <p:cNvPr id="11" name="TextBox 10"/>
          <p:cNvSpPr txBox="1"/>
          <p:nvPr/>
        </p:nvSpPr>
        <p:spPr>
          <a:xfrm>
            <a:off x="3429000" y="2642616"/>
            <a:ext cx="5257800" cy="438912"/>
          </a:xfrm>
          <a:prstGeom prst="rect">
            <a:avLst/>
          </a:prstGeom>
          <a:noFill/>
        </p:spPr>
        <p:txBody>
          <a:bodyPr wrap="square" lIns="0" rIns="0" tIns="0" bIns="0" anchor="t">
            <a:spAutoFit/>
          </a:bodyPr>
          <a:lstStyle/>
          <a:p>
            <a:pPr algn="l"/>
            <a:r>
              <a:rPr sz="1050" b="1" i="0">
                <a:solidFill>
                  <a:srgbClr val="D97A14"/>
                </a:solidFill>
                <a:latin typeface="Calibri"/>
              </a:rPr>
              <a:t>WHERE </a:t>
            </a:r>
            <a:r>
              <a:rPr sz="1050" b="0" i="0">
                <a:solidFill>
                  <a:srgbClr val="2B2622"/>
                </a:solidFill>
                <a:latin typeface="Calibri"/>
              </a:rPr>
              <a:t>Block 74,638 of the Bitcoin chain, discussed live on the bitcointalk forum.</a:t>
            </a:r>
          </a:p>
        </p:txBody>
      </p:sp>
      <p:sp>
        <p:nvSpPr>
          <p:cNvPr id="12" name="TextBox 11"/>
          <p:cNvSpPr txBox="1"/>
          <p:nvPr/>
        </p:nvSpPr>
        <p:spPr>
          <a:xfrm>
            <a:off x="3429000" y="3118104"/>
            <a:ext cx="5257800" cy="438912"/>
          </a:xfrm>
          <a:prstGeom prst="rect">
            <a:avLst/>
          </a:prstGeom>
          <a:noFill/>
        </p:spPr>
        <p:txBody>
          <a:bodyPr wrap="square" lIns="0" rIns="0" tIns="0" bIns="0" anchor="t">
            <a:spAutoFit/>
          </a:bodyPr>
          <a:lstStyle/>
          <a:p>
            <a:pPr algn="l"/>
            <a:r>
              <a:rPr sz="1050" b="1" i="0">
                <a:solidFill>
                  <a:srgbClr val="D97A14"/>
                </a:solidFill>
                <a:latin typeface="Calibri"/>
              </a:rPr>
              <a:t>WHY </a:t>
            </a:r>
            <a:r>
              <a:rPr sz="1050" b="0" i="0">
                <a:solidFill>
                  <a:srgbClr val="2B2622"/>
                </a:solidFill>
                <a:latin typeface="Calibri"/>
              </a:rPr>
              <a:t>Two outputs were so large that their sum overflowed and passed the checks; no rule limited the amounts.</a:t>
            </a:r>
          </a:p>
        </p:txBody>
      </p:sp>
      <p:sp>
        <p:nvSpPr>
          <p:cNvPr id="13" name="TextBox 12"/>
          <p:cNvSpPr txBox="1"/>
          <p:nvPr/>
        </p:nvSpPr>
        <p:spPr>
          <a:xfrm>
            <a:off x="3429000" y="3593592"/>
            <a:ext cx="5257800" cy="438912"/>
          </a:xfrm>
          <a:prstGeom prst="rect">
            <a:avLst/>
          </a:prstGeom>
          <a:noFill/>
        </p:spPr>
        <p:txBody>
          <a:bodyPr wrap="square" lIns="0" rIns="0" tIns="0" bIns="0" anchor="t">
            <a:spAutoFit/>
          </a:bodyPr>
          <a:lstStyle/>
          <a:p>
            <a:pPr algn="l"/>
            <a:r>
              <a:rPr sz="1050" b="1" i="0">
                <a:solidFill>
                  <a:srgbClr val="D97A14"/>
                </a:solidFill>
                <a:latin typeface="Calibri"/>
              </a:rPr>
              <a:t>HOW </a:t>
            </a:r>
            <a:r>
              <a:rPr sz="1050" b="0" i="0">
                <a:solidFill>
                  <a:srgbClr val="2B2622"/>
                </a:solidFill>
                <a:latin typeface="Calibri"/>
              </a:rPr>
              <a:t>Garzik flagged the block within the hour; Satoshi shipped version 0.3.10 about five hours later and the honest chain overtook it.</a:t>
            </a:r>
          </a:p>
        </p:txBody>
      </p:sp>
      <p:sp>
        <p:nvSpPr>
          <p:cNvPr id="14" name="TextBox 13"/>
          <p:cNvSpPr txBox="1"/>
          <p:nvPr/>
        </p:nvSpPr>
        <p:spPr>
          <a:xfrm>
            <a:off x="3429000" y="4114800"/>
            <a:ext cx="5257800" cy="274320"/>
          </a:xfrm>
          <a:prstGeom prst="rect">
            <a:avLst/>
          </a:prstGeom>
          <a:noFill/>
        </p:spPr>
        <p:txBody>
          <a:bodyPr wrap="square" lIns="0" rIns="0" tIns="0" bIns="0" anchor="t">
            <a:spAutoFit/>
          </a:bodyPr>
          <a:lstStyle/>
          <a:p>
            <a:pPr algn="l"/>
            <a:r>
              <a:rPr sz="1050" b="1" i="0">
                <a:solidFill>
                  <a:srgbClr val="D97A14"/>
                </a:solidFill>
                <a:latin typeface="Calibri"/>
              </a:rPr>
              <a:t>READ </a:t>
            </a:r>
            <a:r>
              <a:rPr sz="1050" b="0" i="0" u="sng">
                <a:solidFill>
                  <a:srgbClr val="2F6D62"/>
                </a:solidFill>
                <a:latin typeface="Calibri"/>
                <a:hlinkClick r:id="rId4"/>
              </a:rPr>
              <a:t>Value overflow incident (Bitcoin Wiki)</a:t>
            </a:r>
            <a:r>
              <a:rPr sz="1050" b="0" i="0">
                <a:solidFill>
                  <a:srgbClr val="6E655C"/>
                </a:solidFill>
                <a:latin typeface="Calibri"/>
              </a:rPr>
              <a:t> - en.bitcoin.it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Two outputs that wrapped around</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Block 74,638 and the value overflow of 2010</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One overflow created 184 billion bitcoin; one new rule ended it</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32 / 35</a:t>
            </a:r>
          </a:p>
        </p:txBody>
      </p:sp>
      <p:sp>
        <p:nvSpPr>
          <p:cNvPr id="8" name="Rounded Rectangle 7"/>
          <p:cNvSpPr/>
          <p:nvPr/>
        </p:nvSpPr>
        <p:spPr>
          <a:xfrm>
            <a:off x="457200" y="1280160"/>
            <a:ext cx="5212080" cy="5059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9" name="Rounded Rectangle 8"/>
          <p:cNvSpPr/>
          <p:nvPr/>
        </p:nvSpPr>
        <p:spPr>
          <a:xfrm>
            <a:off x="457200" y="2154936"/>
            <a:ext cx="5212080" cy="65836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10" name="TextBox 9"/>
          <p:cNvSpPr txBox="1"/>
          <p:nvPr/>
        </p:nvSpPr>
        <p:spPr>
          <a:xfrm>
            <a:off x="603504" y="1371600"/>
            <a:ext cx="4937760" cy="3230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big = </a:t>
            </a:r>
            <a:r>
              <a:rPr sz="1000" b="0" i="0">
                <a:solidFill>
                  <a:srgbClr val="FFD28A"/>
                </a:solidFill>
                <a:latin typeface="Courier New"/>
              </a:rPr>
              <a:t>9223372036854277039</a:t>
            </a:r>
          </a:p>
          <a:p>
            <a:pPr algn="l"/>
            <a:r>
              <a:rPr sz="1000" b="1" i="0">
                <a:solidFill>
                  <a:srgbClr val="F2A860"/>
                </a:solidFill>
                <a:latin typeface="Courier New"/>
              </a:rPr>
              <a:t>&gt;&gt;&gt; </a:t>
            </a:r>
            <a:r>
              <a:rPr sz="1000" b="0" i="0">
                <a:solidFill>
                  <a:srgbClr val="E6EDF3"/>
                </a:solidFill>
                <a:latin typeface="Courier New"/>
              </a:rPr>
              <a:t>total = big + big</a:t>
            </a:r>
          </a:p>
        </p:txBody>
      </p:sp>
      <p:sp>
        <p:nvSpPr>
          <p:cNvPr id="11" name="TextBox 10"/>
          <p:cNvSpPr txBox="1"/>
          <p:nvPr/>
        </p:nvSpPr>
        <p:spPr>
          <a:xfrm>
            <a:off x="603504" y="2246376"/>
            <a:ext cx="4937760" cy="475488"/>
          </a:xfrm>
          <a:prstGeom prst="rect">
            <a:avLst/>
          </a:prstGeom>
          <a:noFill/>
        </p:spPr>
        <p:txBody>
          <a:bodyPr wrap="square" lIns="0" rIns="0" tIns="0" bIns="0" anchor="t">
            <a:spAutoFit/>
          </a:bodyPr>
          <a:lstStyle/>
          <a:p>
            <a:pPr algn="l"/>
            <a:r>
              <a:rPr sz="1000" b="1" i="0">
                <a:solidFill>
                  <a:srgbClr val="F2A860"/>
                </a:solidFill>
                <a:latin typeface="Courier New"/>
              </a:rPr>
              <a:t>&gt;&gt;&gt; </a:t>
            </a:r>
            <a:r>
              <a:rPr sz="1000" b="0" i="0">
                <a:solidFill>
                  <a:srgbClr val="E6EDF3"/>
                </a:solidFill>
                <a:latin typeface="Courier New"/>
              </a:rPr>
              <a:t>stored = T.wrap64(total)</a:t>
            </a:r>
          </a:p>
          <a:p>
            <a:pPr algn="l"/>
            <a:r>
              <a:rPr sz="1000" b="1" i="0">
                <a:solidFill>
                  <a:srgbClr val="F2A860"/>
                </a:solidFill>
                <a:latin typeface="Courier New"/>
              </a:rPr>
              <a:t>&gt;&gt;&gt; </a:t>
            </a:r>
            <a:r>
              <a:rPr sz="1000" b="0" i="0">
                <a:solidFill>
                  <a:srgbClr val="E6EDF3"/>
                </a:solidFill>
                <a:latin typeface="Courier New"/>
              </a:rPr>
              <a:t>(stored, stored &lt; </a:t>
            </a:r>
            <a:r>
              <a:rPr sz="1000" b="0" i="0">
                <a:solidFill>
                  <a:srgbClr val="FFD28A"/>
                </a:solidFill>
                <a:latin typeface="Courier New"/>
              </a:rPr>
              <a:t>0</a:t>
            </a:r>
            <a:r>
              <a:rPr sz="1000" b="0" i="0">
                <a:solidFill>
                  <a:srgbClr val="E6EDF3"/>
                </a:solidFill>
                <a:latin typeface="Courier New"/>
              </a:rPr>
              <a:t>)</a:t>
            </a:r>
          </a:p>
          <a:p>
            <a:pPr algn="l"/>
            <a:r>
              <a:rPr sz="1000" b="0" i="0">
                <a:solidFill>
                  <a:srgbClr val="7EE787"/>
                </a:solidFill>
                <a:latin typeface="Courier New"/>
              </a:rPr>
              <a:t>(-997538, True)</a:t>
            </a:r>
          </a:p>
        </p:txBody>
      </p:sp>
      <p:sp>
        <p:nvSpPr>
          <p:cNvPr id="12" name="TextBox 11"/>
          <p:cNvSpPr txBox="1"/>
          <p:nvPr/>
        </p:nvSpPr>
        <p:spPr>
          <a:xfrm>
            <a:off x="457200" y="1840991"/>
            <a:ext cx="5212080" cy="204216"/>
          </a:xfrm>
          <a:prstGeom prst="rect">
            <a:avLst/>
          </a:prstGeom>
          <a:noFill/>
        </p:spPr>
        <p:txBody>
          <a:bodyPr wrap="square" lIns="0" rIns="0" tIns="0" bIns="0" anchor="t">
            <a:spAutoFit/>
          </a:bodyPr>
          <a:lstStyle/>
          <a:p>
            <a:pPr algn="l"/>
            <a:r>
              <a:rPr sz="1100" b="0" i="0">
                <a:solidFill>
                  <a:srgbClr val="2B2622"/>
                </a:solidFill>
                <a:latin typeface="Calibri"/>
              </a:rPr>
              <a:t>Each of the two outputs of block 74,638 held this many satoshis.</a:t>
            </a:r>
          </a:p>
        </p:txBody>
      </p:sp>
      <p:sp>
        <p:nvSpPr>
          <p:cNvPr id="13" name="TextBox 12"/>
          <p:cNvSpPr txBox="1"/>
          <p:nvPr/>
        </p:nvSpPr>
        <p:spPr>
          <a:xfrm>
            <a:off x="457200" y="2868168"/>
            <a:ext cx="5212080" cy="204216"/>
          </a:xfrm>
          <a:prstGeom prst="rect">
            <a:avLst/>
          </a:prstGeom>
          <a:noFill/>
        </p:spPr>
        <p:txBody>
          <a:bodyPr wrap="square" lIns="0" rIns="0" tIns="0" bIns="0" anchor="t">
            <a:spAutoFit/>
          </a:bodyPr>
          <a:lstStyle/>
          <a:p>
            <a:pPr algn="l"/>
            <a:r>
              <a:rPr sz="1100" b="0" i="0">
                <a:solidFill>
                  <a:srgbClr val="2B2622"/>
                </a:solidFill>
                <a:latin typeface="Calibri"/>
              </a:rPr>
              <a:t>A signed 64-bit number wraps around, so the sum turns negative.</a:t>
            </a:r>
          </a:p>
        </p:txBody>
      </p:sp>
      <p:sp>
        <p:nvSpPr>
          <p:cNvPr id="14" name="TextBox 13"/>
          <p:cNvSpPr txBox="1"/>
          <p:nvPr/>
        </p:nvSpPr>
        <p:spPr>
          <a:xfrm>
            <a:off x="457200" y="3145536"/>
            <a:ext cx="5212080" cy="182880"/>
          </a:xfrm>
          <a:prstGeom prst="rect">
            <a:avLst/>
          </a:prstGeom>
          <a:noFill/>
        </p:spPr>
        <p:txBody>
          <a:bodyPr wrap="square" lIns="0" rIns="0" tIns="0" bIns="0" anchor="t">
            <a:spAutoFit/>
          </a:bodyPr>
          <a:lstStyle/>
          <a:p>
            <a:pPr algn="l"/>
            <a:r>
              <a:rPr sz="900" b="0" i="0">
                <a:solidFill>
                  <a:srgbClr val="6E655C"/>
                </a:solidFill>
                <a:latin typeface="Calibri"/>
              </a:rPr>
              <a:t>run under Python 3.14.6 - T is the chapter library of the page (sen0401_ch02_tx_lib_v1_0_0)</a:t>
            </a:r>
          </a:p>
        </p:txBody>
      </p:sp>
      <p:sp>
        <p:nvSpPr>
          <p:cNvPr id="15" name="TextBox 14"/>
          <p:cNvSpPr txBox="1"/>
          <p:nvPr/>
        </p:nvSpPr>
        <p:spPr>
          <a:xfrm>
            <a:off x="5852160" y="1280160"/>
            <a:ext cx="2834640" cy="365760"/>
          </a:xfrm>
          <a:prstGeom prst="rect">
            <a:avLst/>
          </a:prstGeom>
          <a:noFill/>
        </p:spPr>
        <p:txBody>
          <a:bodyPr wrap="square" lIns="0" rIns="0" tIns="0" bIns="0" anchor="t">
            <a:spAutoFit/>
          </a:bodyPr>
          <a:lstStyle/>
          <a:p>
            <a:pPr algn="l"/>
            <a:r>
              <a:rPr sz="1100" b="1" i="0">
                <a:solidFill>
                  <a:srgbClr val="2F6D62"/>
                </a:solidFill>
                <a:latin typeface="Calibri"/>
              </a:rPr>
              <a:t>Result: the overflow, number by number</a:t>
            </a:r>
          </a:p>
        </p:txBody>
      </p:sp>
      <p:graphicFrame>
        <p:nvGraphicFramePr>
          <p:cNvPr id="16" name="Table 15"/>
          <p:cNvGraphicFramePr>
            <a:graphicFrameLocks noGrp="1"/>
          </p:cNvGraphicFramePr>
          <p:nvPr/>
        </p:nvGraphicFramePr>
        <p:xfrm>
          <a:off x="5852160" y="1691640"/>
          <a:ext cx="2834640" cy="1536192"/>
        </p:xfrm>
        <a:graphic>
          <a:graphicData uri="http://schemas.openxmlformats.org/drawingml/2006/table">
            <a:tbl>
              <a:tblPr firstRow="1" bandRow="1">
                <a:tableStyleId>{5C22544A-7EE6-4342-B048-85BDC9FD1C3A}</a:tableStyleId>
              </a:tblPr>
              <a:tblGrid>
                <a:gridCol w="1097280"/>
                <a:gridCol w="1737360"/>
              </a:tblGrid>
              <a:tr h="384048">
                <a:tc>
                  <a:txBody>
                    <a:bodyPr/>
                    <a:lstStyle/>
                    <a:p>
                      <a:pPr algn="l"/>
                      <a:r>
                        <a:rPr sz="950" b="1">
                          <a:solidFill>
                            <a:srgbClr val="FFFFFF"/>
                          </a:solidFill>
                          <a:latin typeface="Calibri"/>
                        </a:rPr>
                        <a:t>Step</a:t>
                      </a:r>
                    </a:p>
                  </a:txBody>
                  <a:tcPr marL="54864" marR="54864" marT="27432" marB="27432" anchor="ctr">
                    <a:solidFill>
                      <a:srgbClr val="2F6D62"/>
                    </a:solidFill>
                  </a:tcPr>
                </a:tc>
                <a:tc>
                  <a:txBody>
                    <a:bodyPr/>
                    <a:lstStyle/>
                    <a:p>
                      <a:pPr algn="l"/>
                      <a:r>
                        <a:rPr sz="950" b="1">
                          <a:solidFill>
                            <a:srgbClr val="FFFFFF"/>
                          </a:solidFill>
                          <a:latin typeface="Calibri"/>
                        </a:rPr>
                        <a:t>Satoshis</a:t>
                      </a:r>
                    </a:p>
                  </a:txBody>
                  <a:tcPr marL="54864" marR="54864" marT="27432" marB="27432" anchor="ctr">
                    <a:solidFill>
                      <a:srgbClr val="2F6D62"/>
                    </a:solidFill>
                  </a:tcPr>
                </a:tc>
              </a:tr>
              <a:tr h="384048">
                <a:tc>
                  <a:txBody>
                    <a:bodyPr/>
                    <a:lstStyle/>
                    <a:p>
                      <a:pPr algn="l"/>
                      <a:r>
                        <a:rPr sz="950" b="0">
                          <a:solidFill>
                            <a:srgbClr val="2B2622"/>
                          </a:solidFill>
                          <a:latin typeface="Calibri"/>
                        </a:rPr>
                        <a:t>Each output</a:t>
                      </a:r>
                    </a:p>
                  </a:txBody>
                  <a:tcPr marL="54864" marR="54864" marT="27432" marB="27432" anchor="ctr">
                    <a:solidFill>
                      <a:srgbClr val="FFFFFF"/>
                    </a:solidFill>
                  </a:tcPr>
                </a:tc>
                <a:tc>
                  <a:txBody>
                    <a:bodyPr/>
                    <a:lstStyle/>
                    <a:p>
                      <a:pPr algn="l"/>
                      <a:r>
                        <a:rPr sz="950" b="0">
                          <a:solidFill>
                            <a:srgbClr val="2B2622"/>
                          </a:solidFill>
                          <a:latin typeface="Calibri"/>
                        </a:rPr>
                        <a:t>9,223,372,036,854,277,039</a:t>
                      </a:r>
                    </a:p>
                  </a:txBody>
                  <a:tcPr marL="54864" marR="54864" marT="27432" marB="27432" anchor="ctr">
                    <a:solidFill>
                      <a:srgbClr val="FFFFFF"/>
                    </a:solidFill>
                  </a:tcPr>
                </a:tc>
              </a:tr>
              <a:tr h="384048">
                <a:tc>
                  <a:txBody>
                    <a:bodyPr/>
                    <a:lstStyle/>
                    <a:p>
                      <a:pPr algn="l"/>
                      <a:r>
                        <a:rPr sz="950" b="0">
                          <a:solidFill>
                            <a:srgbClr val="2B2622"/>
                          </a:solidFill>
                          <a:latin typeface="Calibri"/>
                        </a:rPr>
                        <a:t>True sum</a:t>
                      </a:r>
                    </a:p>
                  </a:txBody>
                  <a:tcPr marL="54864" marR="54864" marT="27432" marB="27432" anchor="ctr">
                    <a:solidFill>
                      <a:srgbClr val="F2ECE1"/>
                    </a:solidFill>
                  </a:tcPr>
                </a:tc>
                <a:tc>
                  <a:txBody>
                    <a:bodyPr/>
                    <a:lstStyle/>
                    <a:p>
                      <a:pPr algn="l"/>
                      <a:r>
                        <a:rPr sz="950" b="0">
                          <a:solidFill>
                            <a:srgbClr val="2B2622"/>
                          </a:solidFill>
                          <a:latin typeface="Calibri"/>
                        </a:rPr>
                        <a:t>18,446,744,073,708,554,078</a:t>
                      </a:r>
                    </a:p>
                  </a:txBody>
                  <a:tcPr marL="54864" marR="54864" marT="27432" marB="27432" anchor="ctr">
                    <a:solidFill>
                      <a:srgbClr val="F2ECE1"/>
                    </a:solidFill>
                  </a:tcPr>
                </a:tc>
              </a:tr>
              <a:tr h="384048">
                <a:tc>
                  <a:txBody>
                    <a:bodyPr/>
                    <a:lstStyle/>
                    <a:p>
                      <a:pPr algn="l"/>
                      <a:r>
                        <a:rPr sz="950" b="0">
                          <a:solidFill>
                            <a:srgbClr val="2B2622"/>
                          </a:solidFill>
                          <a:latin typeface="Calibri"/>
                        </a:rPr>
                        <a:t>Stored in 64 bits</a:t>
                      </a:r>
                    </a:p>
                  </a:txBody>
                  <a:tcPr marL="54864" marR="54864" marT="27432" marB="27432" anchor="ctr">
                    <a:solidFill>
                      <a:srgbClr val="EFE6D6"/>
                    </a:solidFill>
                  </a:tcPr>
                </a:tc>
                <a:tc>
                  <a:txBody>
                    <a:bodyPr/>
                    <a:lstStyle/>
                    <a:p>
                      <a:pPr algn="l"/>
                      <a:r>
                        <a:rPr sz="950" b="0">
                          <a:solidFill>
                            <a:srgbClr val="2B2622"/>
                          </a:solidFill>
                          <a:latin typeface="Calibri"/>
                        </a:rPr>
                        <a:t>-997,538</a:t>
                      </a:r>
                    </a:p>
                  </a:txBody>
                  <a:tcPr marL="54864" marR="54864" marT="27432" marB="27432" anchor="ctr">
                    <a:solidFill>
                      <a:srgbClr val="EFE6D6"/>
                    </a:solidFill>
                  </a:tcPr>
                </a:tc>
              </a:tr>
            </a:tbl>
          </a:graphicData>
        </a:graphic>
      </p:graphicFrame>
      <p:sp>
        <p:nvSpPr>
          <p:cNvPr id="17" name="TextBox 16"/>
          <p:cNvSpPr txBox="1"/>
          <p:nvPr/>
        </p:nvSpPr>
        <p:spPr>
          <a:xfrm>
            <a:off x="5852160" y="3337560"/>
            <a:ext cx="2834640" cy="640080"/>
          </a:xfrm>
          <a:prstGeom prst="rect">
            <a:avLst/>
          </a:prstGeom>
          <a:noFill/>
        </p:spPr>
        <p:txBody>
          <a:bodyPr wrap="square" lIns="0" rIns="0" tIns="0" bIns="0" anchor="t">
            <a:spAutoFit/>
          </a:bodyPr>
          <a:lstStyle/>
          <a:p>
            <a:pPr algn="l"/>
            <a:r>
              <a:rPr sz="1100" b="0" i="0">
                <a:solidFill>
                  <a:srgbClr val="2B2622"/>
                </a:solidFill>
                <a:latin typeface="Calibri"/>
              </a:rPr>
              <a:t>The stored sum is negative, so it sits below any input and the old check passed.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Summary: the six answers</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The questions of slide 3, answered</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Inputs, outputs, fee, mining, confirmations, rules</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33 / 35</a:t>
            </a:r>
          </a:p>
        </p:txBody>
      </p:sp>
      <p:graphicFrame>
        <p:nvGraphicFramePr>
          <p:cNvPr id="8" name="Table 7"/>
          <p:cNvGraphicFramePr>
            <a:graphicFrameLocks noGrp="1"/>
          </p:cNvGraphicFramePr>
          <p:nvPr/>
        </p:nvGraphicFramePr>
        <p:xfrm>
          <a:off x="457200" y="1280160"/>
          <a:ext cx="8229600" cy="2880360"/>
        </p:xfrm>
        <a:graphic>
          <a:graphicData uri="http://schemas.openxmlformats.org/drawingml/2006/table">
            <a:tbl>
              <a:tblPr firstRow="1" bandRow="1">
                <a:tableStyleId>{5C22544A-7EE6-4342-B048-85BDC9FD1C3A}</a:tableStyleId>
              </a:tblPr>
              <a:tblGrid>
                <a:gridCol w="2834640"/>
                <a:gridCol w="5394960"/>
              </a:tblGrid>
              <a:tr h="411480">
                <a:tc>
                  <a:txBody>
                    <a:bodyPr/>
                    <a:lstStyle/>
                    <a:p>
                      <a:pPr algn="l"/>
                      <a:r>
                        <a:rPr sz="1100" b="1">
                          <a:solidFill>
                            <a:srgbClr val="FFFFFF"/>
                          </a:solidFill>
                          <a:latin typeface="Calibri"/>
                        </a:rPr>
                        <a:t>Question</a:t>
                      </a:r>
                    </a:p>
                  </a:txBody>
                  <a:tcPr marL="54864" marR="54864" marT="27432" marB="27432" anchor="ctr">
                    <a:solidFill>
                      <a:srgbClr val="2F6D62"/>
                    </a:solidFill>
                  </a:tcPr>
                </a:tc>
                <a:tc>
                  <a:txBody>
                    <a:bodyPr/>
                    <a:lstStyle/>
                    <a:p>
                      <a:pPr algn="l"/>
                      <a:r>
                        <a:rPr sz="1100" b="1">
                          <a:solidFill>
                            <a:srgbClr val="FFFFFF"/>
                          </a:solidFill>
                          <a:latin typeface="Calibri"/>
                        </a:rPr>
                        <a:t>Answer in one line</a:t>
                      </a:r>
                    </a:p>
                  </a:txBody>
                  <a:tcPr marL="54864" marR="54864" marT="27432" marB="27432" anchor="ctr">
                    <a:solidFill>
                      <a:srgbClr val="2F6D62"/>
                    </a:solidFill>
                  </a:tcPr>
                </a:tc>
              </a:tr>
              <a:tr h="411480">
                <a:tc>
                  <a:txBody>
                    <a:bodyPr/>
                    <a:lstStyle/>
                    <a:p>
                      <a:pPr algn="l"/>
                      <a:r>
                        <a:rPr sz="1100" b="0">
                          <a:solidFill>
                            <a:srgbClr val="2B2622"/>
                          </a:solidFill>
                          <a:latin typeface="Calibri"/>
                        </a:rPr>
                        <a:t>1 What does a payment contain?</a:t>
                      </a:r>
                    </a:p>
                  </a:txBody>
                  <a:tcPr marL="54864" marR="54864" marT="27432" marB="27432" anchor="ctr">
                    <a:solidFill>
                      <a:srgbClr val="FFFFFF"/>
                    </a:solidFill>
                  </a:tcPr>
                </a:tc>
                <a:tc>
                  <a:txBody>
                    <a:bodyPr/>
                    <a:lstStyle/>
                    <a:p>
                      <a:pPr algn="l"/>
                      <a:r>
                        <a:rPr sz="1100" b="0">
                          <a:solidFill>
                            <a:srgbClr val="2B2622"/>
                          </a:solidFill>
                          <a:latin typeface="Calibri"/>
                        </a:rPr>
                        <a:t>Inputs that spend earlier outputs, outputs for Bob and the change, a fee.</a:t>
                      </a:r>
                    </a:p>
                  </a:txBody>
                  <a:tcPr marL="54864" marR="54864" marT="27432" marB="27432" anchor="ctr">
                    <a:solidFill>
                      <a:srgbClr val="FFFFFF"/>
                    </a:solidFill>
                  </a:tcPr>
                </a:tc>
              </a:tr>
              <a:tr h="411480">
                <a:tc>
                  <a:txBody>
                    <a:bodyPr/>
                    <a:lstStyle/>
                    <a:p>
                      <a:pPr algn="l"/>
                      <a:r>
                        <a:rPr sz="1100" b="0">
                          <a:solidFill>
                            <a:srgbClr val="2B2622"/>
                          </a:solidFill>
                          <a:latin typeface="Calibri"/>
                        </a:rPr>
                        <a:t>2 Why inputs = outputs + fee?</a:t>
                      </a:r>
                    </a:p>
                  </a:txBody>
                  <a:tcPr marL="54864" marR="54864" marT="27432" marB="27432" anchor="ctr">
                    <a:solidFill>
                      <a:srgbClr val="F2ECE1"/>
                    </a:solidFill>
                  </a:tcPr>
                </a:tc>
                <a:tc>
                  <a:txBody>
                    <a:bodyPr/>
                    <a:lstStyle/>
                    <a:p>
                      <a:pPr algn="l"/>
                      <a:r>
                        <a:rPr sz="1100" b="0">
                          <a:solidFill>
                            <a:srgbClr val="2B2622"/>
                          </a:solidFill>
                          <a:latin typeface="Calibri"/>
                        </a:rPr>
                        <a:t>The ledger must balance; the rest, 5,000 satoshis, is the miner's fee.</a:t>
                      </a:r>
                    </a:p>
                  </a:txBody>
                  <a:tcPr marL="54864" marR="54864" marT="27432" marB="27432" anchor="ctr">
                    <a:solidFill>
                      <a:srgbClr val="F2ECE1"/>
                    </a:solidFill>
                  </a:tcPr>
                </a:tc>
              </a:tr>
              <a:tr h="411480">
                <a:tc>
                  <a:txBody>
                    <a:bodyPr/>
                    <a:lstStyle/>
                    <a:p>
                      <a:pPr algn="l"/>
                      <a:r>
                        <a:rPr sz="1100" b="0">
                          <a:solidFill>
                            <a:srgbClr val="2B2622"/>
                          </a:solidFill>
                          <a:latin typeface="Calibri"/>
                        </a:rPr>
                        <a:t>3 How is it built?</a:t>
                      </a:r>
                    </a:p>
                  </a:txBody>
                  <a:tcPr marL="54864" marR="54864" marT="27432" marB="27432" anchor="ctr">
                    <a:solidFill>
                      <a:srgbClr val="FFFFFF"/>
                    </a:solidFill>
                  </a:tcPr>
                </a:tc>
                <a:tc>
                  <a:txBody>
                    <a:bodyPr/>
                    <a:lstStyle/>
                    <a:p>
                      <a:pPr algn="l"/>
                      <a:r>
                        <a:rPr sz="1100" b="0">
                          <a:solidFill>
                            <a:srgbClr val="2B2622"/>
                          </a:solidFill>
                          <a:latin typeface="Calibri"/>
                        </a:rPr>
                        <a:t>Pick coins, write the outputs, leave the fee, sign.</a:t>
                      </a:r>
                    </a:p>
                  </a:txBody>
                  <a:tcPr marL="54864" marR="54864" marT="27432" marB="27432" anchor="ctr">
                    <a:solidFill>
                      <a:srgbClr val="FFFFFF"/>
                    </a:solidFill>
                  </a:tcPr>
                </a:tc>
              </a:tr>
              <a:tr h="411480">
                <a:tc>
                  <a:txBody>
                    <a:bodyPr/>
                    <a:lstStyle/>
                    <a:p>
                      <a:pPr algn="l"/>
                      <a:r>
                        <a:rPr sz="1100" b="0">
                          <a:solidFill>
                            <a:srgbClr val="2B2622"/>
                          </a:solidFill>
                          <a:latin typeface="Calibri"/>
                        </a:rPr>
                        <a:t>4 How does it reach a block?</a:t>
                      </a:r>
                    </a:p>
                  </a:txBody>
                  <a:tcPr marL="54864" marR="54864" marT="27432" marB="27432" anchor="ctr">
                    <a:solidFill>
                      <a:srgbClr val="F2ECE1"/>
                    </a:solidFill>
                  </a:tcPr>
                </a:tc>
                <a:tc>
                  <a:txBody>
                    <a:bodyPr/>
                    <a:lstStyle/>
                    <a:p>
                      <a:pPr algn="l"/>
                      <a:r>
                        <a:rPr sz="1100" b="0">
                          <a:solidFill>
                            <a:srgbClr val="2B2622"/>
                          </a:solidFill>
                          <a:latin typeface="Calibri"/>
                        </a:rPr>
                        <a:t>A node relays it; a miner finds a valid nonce and adds a block.</a:t>
                      </a:r>
                    </a:p>
                  </a:txBody>
                  <a:tcPr marL="54864" marR="54864" marT="27432" marB="27432" anchor="ctr">
                    <a:solidFill>
                      <a:srgbClr val="F2ECE1"/>
                    </a:solidFill>
                  </a:tcPr>
                </a:tc>
              </a:tr>
              <a:tr h="411480">
                <a:tc>
                  <a:txBody>
                    <a:bodyPr/>
                    <a:lstStyle/>
                    <a:p>
                      <a:pPr algn="l"/>
                      <a:r>
                        <a:rPr sz="1100" b="0">
                          <a:solidFill>
                            <a:srgbClr val="2B2622"/>
                          </a:solidFill>
                          <a:latin typeface="Calibri"/>
                        </a:rPr>
                        <a:t>5 Why confirmations?</a:t>
                      </a:r>
                    </a:p>
                  </a:txBody>
                  <a:tcPr marL="54864" marR="54864" marT="27432" marB="27432" anchor="ctr">
                    <a:solidFill>
                      <a:srgbClr val="FFFFFF"/>
                    </a:solidFill>
                  </a:tcPr>
                </a:tc>
                <a:tc>
                  <a:txBody>
                    <a:bodyPr/>
                    <a:lstStyle/>
                    <a:p>
                      <a:pPr algn="l"/>
                      <a:r>
                        <a:rPr sz="1100" b="0">
                          <a:solidFill>
                            <a:srgbClr val="2B2622"/>
                          </a:solidFill>
                          <a:latin typeface="Calibri"/>
                        </a:rPr>
                        <a:t>A 10 percent attacker's chance falls from 20.5 to 0.02 percent.</a:t>
                      </a:r>
                    </a:p>
                  </a:txBody>
                  <a:tcPr marL="54864" marR="54864" marT="27432" marB="27432" anchor="ctr">
                    <a:solidFill>
                      <a:srgbClr val="FFFFFF"/>
                    </a:solidFill>
                  </a:tcPr>
                </a:tc>
              </a:tr>
              <a:tr h="411480">
                <a:tc>
                  <a:txBody>
                    <a:bodyPr/>
                    <a:lstStyle/>
                    <a:p>
                      <a:pPr algn="l"/>
                      <a:r>
                        <a:rPr sz="1100" b="0">
                          <a:solidFill>
                            <a:srgbClr val="2B2622"/>
                          </a:solidFill>
                          <a:latin typeface="Calibri"/>
                        </a:rPr>
                        <a:t>6 Which rules?</a:t>
                      </a:r>
                    </a:p>
                  </a:txBody>
                  <a:tcPr marL="54864" marR="54864" marT="27432" marB="27432" anchor="ctr">
                    <a:solidFill>
                      <a:srgbClr val="F2ECE1"/>
                    </a:solidFill>
                  </a:tcPr>
                </a:tc>
                <a:tc>
                  <a:txBody>
                    <a:bodyPr/>
                    <a:lstStyle/>
                    <a:p>
                      <a:pPr algn="l"/>
                      <a:r>
                        <a:rPr sz="1100" b="0">
                          <a:solidFill>
                            <a:srgbClr val="2B2622"/>
                          </a:solidFill>
                          <a:latin typeface="Calibri"/>
                        </a:rPr>
                        <a:t>Consensus rules, checked by every node; block 74,638 broke one.</a:t>
                      </a:r>
                    </a:p>
                  </a:txBody>
                  <a:tcPr marL="54864" marR="54864" marT="27432" marB="27432" anchor="ctr">
                    <a:solidFill>
                      <a:srgbClr val="F2ECE1"/>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347472"/>
            <a:ext cx="566928" cy="384048"/>
          </a:xfrm>
          <a:prstGeom prst="roundRect">
            <a:avLst>
              <a:gd name="adj" fmla="val 20000"/>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800" b="1" i="0">
                <a:solidFill>
                  <a:srgbClr val="FFFFFF"/>
                </a:solidFill>
                <a:latin typeface="Calibri"/>
              </a:rPr>
              <a:t>₿</a:t>
            </a:r>
          </a:p>
        </p:txBody>
      </p:sp>
      <p:sp>
        <p:nvSpPr>
          <p:cNvPr id="3" name="TextBox 2"/>
          <p:cNvSpPr txBox="1"/>
          <p:nvPr/>
        </p:nvSpPr>
        <p:spPr>
          <a:xfrm>
            <a:off x="1143000" y="237744"/>
            <a:ext cx="7543800" cy="566928"/>
          </a:xfrm>
          <a:prstGeom prst="rect">
            <a:avLst/>
          </a:prstGeom>
          <a:noFill/>
        </p:spPr>
        <p:txBody>
          <a:bodyPr wrap="square" lIns="0" rIns="0" tIns="0" bIns="0" anchor="ctr">
            <a:spAutoFit/>
          </a:bodyPr>
          <a:lstStyle/>
          <a:p>
            <a:pPr algn="l"/>
            <a:r>
              <a:rPr sz="2800" b="0" i="0">
                <a:solidFill>
                  <a:srgbClr val="2B2622"/>
                </a:solidFill>
                <a:latin typeface="Cambria"/>
              </a:rPr>
              <a:t>Resources: read, try, watch, ask</a:t>
            </a:r>
          </a:p>
        </p:txBody>
      </p:sp>
      <p:sp>
        <p:nvSpPr>
          <p:cNvPr id="4" name="TextBox 3"/>
          <p:cNvSpPr txBox="1"/>
          <p:nvPr/>
        </p:nvSpPr>
        <p:spPr>
          <a:xfrm>
            <a:off x="1143000" y="804672"/>
            <a:ext cx="7543800" cy="292608"/>
          </a:xfrm>
          <a:prstGeom prst="rect">
            <a:avLst/>
          </a:prstGeom>
          <a:noFill/>
        </p:spPr>
        <p:txBody>
          <a:bodyPr wrap="square" lIns="0" rIns="0" tIns="0" bIns="0" anchor="ctr">
            <a:spAutoFit/>
          </a:bodyPr>
          <a:lstStyle/>
          <a:p>
            <a:pPr algn="l"/>
            <a:r>
              <a:rPr sz="1300" b="0" i="1">
                <a:solidFill>
                  <a:srgbClr val="6E655C"/>
                </a:solidFill>
                <a:latin typeface="Calibri"/>
              </a:rPr>
              <a:t>Every link was opened on 25 October 2026; free to use</a:t>
            </a:r>
          </a:p>
        </p:txBody>
      </p:sp>
      <p:sp>
        <p:nvSpPr>
          <p:cNvPr id="5" name="Rectangle 4"/>
          <p:cNvSpPr/>
          <p:nvPr/>
        </p:nvSpPr>
        <p:spPr>
          <a:xfrm>
            <a:off x="457200" y="4636008"/>
            <a:ext cx="91440" cy="310896"/>
          </a:xfrm>
          <a:prstGeom prst="rect">
            <a:avLst/>
          </a:prstGeom>
          <a:solidFill>
            <a:srgbClr val="D97A14"/>
          </a:solidFill>
          <a:ln>
            <a:noFill/>
          </a:ln>
          <a:effectLst/>
        </p:spPr>
        <p:style>
          <a:lnRef idx="1">
            <a:schemeClr val="accent1"/>
          </a:lnRef>
          <a:fillRef idx="3">
            <a:schemeClr val="accent1"/>
          </a:fillRef>
          <a:effectRef idx="2">
            <a:schemeClr val="accent1"/>
          </a:effectRef>
          <a:fontRef idx="minor">
            <a:schemeClr val="lt1"/>
          </a:fontRef>
        </p:style>
      </p:sp>
      <p:sp>
        <p:nvSpPr>
          <p:cNvPr id="6" name="TextBox 5"/>
          <p:cNvSpPr txBox="1"/>
          <p:nvPr/>
        </p:nvSpPr>
        <p:spPr>
          <a:xfrm>
            <a:off x="658368" y="4599432"/>
            <a:ext cx="7040880" cy="384048"/>
          </a:xfrm>
          <a:prstGeom prst="rect">
            <a:avLst/>
          </a:prstGeom>
          <a:noFill/>
        </p:spPr>
        <p:txBody>
          <a:bodyPr wrap="square" lIns="0" rIns="0" tIns="0" bIns="0" anchor="ctr">
            <a:spAutoFit/>
          </a:bodyPr>
          <a:lstStyle/>
          <a:p>
            <a:pPr algn="l"/>
            <a:r>
              <a:rPr sz="1300" b="0" i="0">
                <a:solidFill>
                  <a:srgbClr val="2B2622"/>
                </a:solidFill>
                <a:latin typeface="Cambria"/>
              </a:rPr>
              <a:t>Look up a real transaction in a block explorer today</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34 / 35</a:t>
            </a:r>
          </a:p>
        </p:txBody>
      </p:sp>
      <p:sp>
        <p:nvSpPr>
          <p:cNvPr id="8" name="TextBox 7"/>
          <p:cNvSpPr txBox="1"/>
          <p:nvPr/>
        </p:nvSpPr>
        <p:spPr>
          <a:xfrm>
            <a:off x="45720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3"/>
              </a:rPr>
              <a:t>Mastering Bitcoin, chapter 2 (source text)</a:t>
            </a:r>
          </a:p>
          <a:p>
            <a:pPr algn="l"/>
            <a:r>
              <a:rPr sz="1000" b="0" i="0">
                <a:solidFill>
                  <a:srgbClr val="6E655C"/>
                </a:solidFill>
                <a:latin typeface="Calibri"/>
              </a:rPr>
              <a:t>The chapter this deck follows.</a:t>
            </a:r>
          </a:p>
        </p:txBody>
      </p:sp>
      <p:sp>
        <p:nvSpPr>
          <p:cNvPr id="9" name="TextBox 8"/>
          <p:cNvSpPr txBox="1"/>
          <p:nvPr/>
        </p:nvSpPr>
        <p:spPr>
          <a:xfrm>
            <a:off x="45720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Read  </a:t>
            </a:r>
            <a:r>
              <a:rPr sz="1150" b="1" i="0" u="sng">
                <a:solidFill>
                  <a:srgbClr val="2F6D62"/>
                </a:solidFill>
                <a:latin typeface="Calibri"/>
                <a:hlinkClick r:id="rId4"/>
              </a:rPr>
              <a:t>Developer guide: transactions</a:t>
            </a:r>
          </a:p>
          <a:p>
            <a:pPr algn="l"/>
            <a:r>
              <a:rPr sz="1000" b="0" i="0">
                <a:solidFill>
                  <a:srgbClr val="6E655C"/>
                </a:solidFill>
                <a:latin typeface="Calibri"/>
              </a:rPr>
              <a:t>Inputs, outputs and fees in detail.</a:t>
            </a:r>
          </a:p>
        </p:txBody>
      </p:sp>
      <p:sp>
        <p:nvSpPr>
          <p:cNvPr id="10" name="TextBox 9"/>
          <p:cNvSpPr txBox="1"/>
          <p:nvPr/>
        </p:nvSpPr>
        <p:spPr>
          <a:xfrm>
            <a:off x="45720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5"/>
              </a:rPr>
              <a:t>Bitcoin white paper</a:t>
            </a:r>
          </a:p>
          <a:p>
            <a:pPr algn="l"/>
            <a:r>
              <a:rPr sz="1000" b="0" i="0">
                <a:solidFill>
                  <a:srgbClr val="6E655C"/>
                </a:solidFill>
                <a:latin typeface="Calibri"/>
              </a:rPr>
              <a:t>Nine pages; section 11 holds the catch-up table.</a:t>
            </a:r>
          </a:p>
        </p:txBody>
      </p:sp>
      <p:sp>
        <p:nvSpPr>
          <p:cNvPr id="11" name="TextBox 10"/>
          <p:cNvSpPr txBox="1"/>
          <p:nvPr/>
        </p:nvSpPr>
        <p:spPr>
          <a:xfrm>
            <a:off x="45720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6"/>
              </a:rPr>
              <a:t>BIP 21: payment links</a:t>
            </a:r>
          </a:p>
          <a:p>
            <a:pPr algn="l"/>
            <a:r>
              <a:rPr sz="1000" b="0" i="0">
                <a:solidFill>
                  <a:srgbClr val="6E655C"/>
                </a:solidFill>
                <a:latin typeface="Calibri"/>
              </a:rPr>
              <a:t>The standard behind Bob's invoice link.</a:t>
            </a:r>
          </a:p>
        </p:txBody>
      </p:sp>
      <p:sp>
        <p:nvSpPr>
          <p:cNvPr id="12" name="TextBox 11"/>
          <p:cNvSpPr txBox="1"/>
          <p:nvPr/>
        </p:nvSpPr>
        <p:spPr>
          <a:xfrm>
            <a:off x="45720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Standards and papers  </a:t>
            </a:r>
            <a:r>
              <a:rPr sz="1150" b="1" i="0" u="sng">
                <a:solidFill>
                  <a:srgbClr val="2F6D62"/>
                </a:solidFill>
                <a:latin typeface="Calibri"/>
                <a:hlinkClick r:id="rId7"/>
              </a:rPr>
              <a:t>Bitcoin Core releases</a:t>
            </a:r>
          </a:p>
          <a:p>
            <a:pPr algn="l"/>
            <a:r>
              <a:rPr sz="1000" b="0" i="0">
                <a:solidFill>
                  <a:srgbClr val="6E655C"/>
                </a:solidFill>
                <a:latin typeface="Calibri"/>
              </a:rPr>
              <a:t>The software that checks every rule.</a:t>
            </a:r>
          </a:p>
        </p:txBody>
      </p:sp>
      <p:sp>
        <p:nvSpPr>
          <p:cNvPr id="13" name="TextBox 12"/>
          <p:cNvSpPr txBox="1"/>
          <p:nvPr/>
        </p:nvSpPr>
        <p:spPr>
          <a:xfrm>
            <a:off x="4663440" y="1280160"/>
            <a:ext cx="4023360" cy="585216"/>
          </a:xfrm>
          <a:prstGeom prst="rect">
            <a:avLst/>
          </a:prstGeom>
          <a:noFill/>
        </p:spPr>
        <p:txBody>
          <a:bodyPr wrap="square" lIns="0" rIns="0" tIns="0" bIns="0" anchor="t">
            <a:spAutoFit/>
          </a:bodyPr>
          <a:lstStyle/>
          <a:p>
            <a:pPr algn="l"/>
            <a:r>
              <a:rPr sz="900" b="1" i="0">
                <a:solidFill>
                  <a:srgbClr val="D97A14"/>
                </a:solidFill>
                <a:latin typeface="Calibri"/>
              </a:rPr>
              <a:t>Try  </a:t>
            </a:r>
            <a:r>
              <a:rPr sz="1150" b="1" i="0" u="sng">
                <a:solidFill>
                  <a:srgbClr val="2F6D62"/>
                </a:solidFill>
                <a:latin typeface="Calibri"/>
                <a:hlinkClick r:id="rId8"/>
              </a:rPr>
              <a:t>mempool.space block explorer</a:t>
            </a:r>
          </a:p>
          <a:p>
            <a:pPr algn="l"/>
            <a:r>
              <a:rPr sz="1000" b="0" i="0">
                <a:solidFill>
                  <a:srgbClr val="6E655C"/>
                </a:solidFill>
                <a:latin typeface="Calibri"/>
              </a:rPr>
              <a:t>Look up any transaction, block or fee.</a:t>
            </a:r>
          </a:p>
        </p:txBody>
      </p:sp>
      <p:sp>
        <p:nvSpPr>
          <p:cNvPr id="14" name="TextBox 13"/>
          <p:cNvSpPr txBox="1"/>
          <p:nvPr/>
        </p:nvSpPr>
        <p:spPr>
          <a:xfrm>
            <a:off x="4663440" y="1938528"/>
            <a:ext cx="4023360" cy="585216"/>
          </a:xfrm>
          <a:prstGeom prst="rect">
            <a:avLst/>
          </a:prstGeom>
          <a:noFill/>
        </p:spPr>
        <p:txBody>
          <a:bodyPr wrap="square" lIns="0" rIns="0" tIns="0" bIns="0" anchor="t">
            <a:spAutoFit/>
          </a:bodyPr>
          <a:lstStyle/>
          <a:p>
            <a:pPr algn="l"/>
            <a:r>
              <a:rPr sz="900" b="1" i="0">
                <a:solidFill>
                  <a:srgbClr val="D97A14"/>
                </a:solidFill>
                <a:latin typeface="Calibri"/>
              </a:rPr>
              <a:t>Try  </a:t>
            </a:r>
            <a:r>
              <a:rPr sz="1150" b="1" i="0" u="sng">
                <a:solidFill>
                  <a:srgbClr val="2F6D62"/>
                </a:solidFill>
                <a:latin typeface="Calibri"/>
                <a:hlinkClick r:id="rId9"/>
              </a:rPr>
              <a:t>Anders Brownworth's blockchain demo</a:t>
            </a:r>
          </a:p>
          <a:p>
            <a:pPr algn="l"/>
            <a:r>
              <a:rPr sz="1000" b="0" i="0">
                <a:solidFill>
                  <a:srgbClr val="6E655C"/>
                </a:solidFill>
                <a:latin typeface="Calibri"/>
              </a:rPr>
              <a:t>Hash, block and mine in the browser.</a:t>
            </a:r>
          </a:p>
        </p:txBody>
      </p:sp>
      <p:sp>
        <p:nvSpPr>
          <p:cNvPr id="15" name="TextBox 14"/>
          <p:cNvSpPr txBox="1"/>
          <p:nvPr/>
        </p:nvSpPr>
        <p:spPr>
          <a:xfrm>
            <a:off x="4663440" y="2596896"/>
            <a:ext cx="4023360" cy="585216"/>
          </a:xfrm>
          <a:prstGeom prst="rect">
            <a:avLst/>
          </a:prstGeom>
          <a:noFill/>
        </p:spPr>
        <p:txBody>
          <a:bodyPr wrap="square" lIns="0" rIns="0" tIns="0" bIns="0" anchor="t">
            <a:spAutoFit/>
          </a:bodyPr>
          <a:lstStyle/>
          <a:p>
            <a:pPr algn="l"/>
            <a:r>
              <a:rPr sz="900" b="1" i="0">
                <a:solidFill>
                  <a:srgbClr val="D97A14"/>
                </a:solidFill>
                <a:latin typeface="Calibri"/>
              </a:rPr>
              <a:t>Watch  </a:t>
            </a:r>
            <a:r>
              <a:rPr sz="1150" b="1" i="0" u="sng">
                <a:solidFill>
                  <a:srgbClr val="2F6D62"/>
                </a:solidFill>
                <a:latin typeface="Calibri"/>
                <a:hlinkClick r:id="rId10"/>
              </a:rPr>
              <a:t>MIT 15.S12 Blockchain and Money</a:t>
            </a:r>
          </a:p>
          <a:p>
            <a:pPr algn="l"/>
            <a:r>
              <a:rPr sz="1000" b="0" i="0">
                <a:solidFill>
                  <a:srgbClr val="6E655C"/>
                </a:solidFill>
                <a:latin typeface="Calibri"/>
              </a:rPr>
              <a:t>A full university course, free.</a:t>
            </a:r>
          </a:p>
        </p:txBody>
      </p:sp>
      <p:sp>
        <p:nvSpPr>
          <p:cNvPr id="16" name="TextBox 15"/>
          <p:cNvSpPr txBox="1"/>
          <p:nvPr/>
        </p:nvSpPr>
        <p:spPr>
          <a:xfrm>
            <a:off x="4663440" y="3255264"/>
            <a:ext cx="4023360" cy="585216"/>
          </a:xfrm>
          <a:prstGeom prst="rect">
            <a:avLst/>
          </a:prstGeom>
          <a:noFill/>
        </p:spPr>
        <p:txBody>
          <a:bodyPr wrap="square" lIns="0" rIns="0" tIns="0" bIns="0" anchor="t">
            <a:spAutoFit/>
          </a:bodyPr>
          <a:lstStyle/>
          <a:p>
            <a:pPr algn="l"/>
            <a:r>
              <a:rPr sz="900" b="1" i="0">
                <a:solidFill>
                  <a:srgbClr val="D97A14"/>
                </a:solidFill>
                <a:latin typeface="Calibri"/>
              </a:rPr>
              <a:t>Community  </a:t>
            </a:r>
            <a:r>
              <a:rPr sz="1150" b="1" i="0" u="sng">
                <a:solidFill>
                  <a:srgbClr val="2F6D62"/>
                </a:solidFill>
                <a:latin typeface="Calibri"/>
                <a:hlinkClick r:id="rId11"/>
              </a:rPr>
              <a:t>Bitcoin Optech topics</a:t>
            </a:r>
          </a:p>
          <a:p>
            <a:pPr algn="l"/>
            <a:r>
              <a:rPr sz="1000" b="0" i="0">
                <a:solidFill>
                  <a:srgbClr val="6E655C"/>
                </a:solidFill>
                <a:latin typeface="Calibri"/>
              </a:rPr>
              <a:t>Short explainers on how the technology works.</a:t>
            </a:r>
          </a:p>
        </p:txBody>
      </p:sp>
      <p:sp>
        <p:nvSpPr>
          <p:cNvPr id="17" name="TextBox 16"/>
          <p:cNvSpPr txBox="1"/>
          <p:nvPr/>
        </p:nvSpPr>
        <p:spPr>
          <a:xfrm>
            <a:off x="4663440" y="3913631"/>
            <a:ext cx="4023360" cy="585216"/>
          </a:xfrm>
          <a:prstGeom prst="rect">
            <a:avLst/>
          </a:prstGeom>
          <a:noFill/>
        </p:spPr>
        <p:txBody>
          <a:bodyPr wrap="square" lIns="0" rIns="0" tIns="0" bIns="0" anchor="t">
            <a:spAutoFit/>
          </a:bodyPr>
          <a:lstStyle/>
          <a:p>
            <a:pPr algn="l"/>
            <a:r>
              <a:rPr sz="900" b="1" i="0">
                <a:solidFill>
                  <a:srgbClr val="D97A14"/>
                </a:solidFill>
                <a:latin typeface="Calibri"/>
              </a:rPr>
              <a:t>Community  </a:t>
            </a:r>
            <a:r>
              <a:rPr sz="1150" b="1" i="0" u="sng">
                <a:solidFill>
                  <a:srgbClr val="2F6D62"/>
                </a:solidFill>
                <a:latin typeface="Calibri"/>
                <a:hlinkClick r:id="rId12"/>
              </a:rPr>
              <a:t>Bitcoin Stack Exchange</a:t>
            </a:r>
          </a:p>
          <a:p>
            <a:pPr algn="l"/>
            <a:r>
              <a:rPr sz="1000" b="0" i="0">
                <a:solidFill>
                  <a:srgbClr val="6E655C"/>
                </a:solidFill>
                <a:latin typeface="Calibri"/>
              </a:rPr>
              <a:t>Ask a question, read the answers.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ounded Rectangle 1"/>
          <p:cNvSpPr/>
          <p:nvPr/>
        </p:nvSpPr>
        <p:spPr>
          <a:xfrm>
            <a:off x="457200" y="822960"/>
            <a:ext cx="8229600" cy="3383280"/>
          </a:xfrm>
          <a:prstGeom prst="roundRect">
            <a:avLst>
              <a:gd name="adj" fmla="val 4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sp>
      <p:sp>
        <p:nvSpPr>
          <p:cNvPr id="3" name="TextBox 2"/>
          <p:cNvSpPr txBox="1"/>
          <p:nvPr/>
        </p:nvSpPr>
        <p:spPr>
          <a:xfrm>
            <a:off x="822960" y="1188720"/>
            <a:ext cx="7498079" cy="1005840"/>
          </a:xfrm>
          <a:prstGeom prst="rect">
            <a:avLst/>
          </a:prstGeom>
          <a:noFill/>
        </p:spPr>
        <p:txBody>
          <a:bodyPr wrap="square" lIns="0" rIns="0" tIns="0" bIns="0" anchor="ctr">
            <a:spAutoFit/>
          </a:bodyPr>
          <a:lstStyle/>
          <a:p>
            <a:pPr algn="l"/>
            <a:r>
              <a:rPr sz="4400" b="0" i="0">
                <a:solidFill>
                  <a:srgbClr val="FFFFFF"/>
                </a:solidFill>
                <a:latin typeface="Cambria"/>
              </a:rPr>
              <a:t>Questions?</a:t>
            </a:r>
          </a:p>
        </p:txBody>
      </p:sp>
      <p:sp>
        <p:nvSpPr>
          <p:cNvPr id="4" name="TextBox 3"/>
          <p:cNvSpPr txBox="1"/>
          <p:nvPr/>
        </p:nvSpPr>
        <p:spPr>
          <a:xfrm>
            <a:off x="822960" y="2286000"/>
            <a:ext cx="7498079" cy="457200"/>
          </a:xfrm>
          <a:prstGeom prst="rect">
            <a:avLst/>
          </a:prstGeom>
          <a:noFill/>
        </p:spPr>
        <p:txBody>
          <a:bodyPr wrap="square" lIns="0" rIns="0" tIns="0" bIns="0" anchor="t">
            <a:spAutoFit/>
          </a:bodyPr>
          <a:lstStyle/>
          <a:p>
            <a:pPr algn="l"/>
            <a:r>
              <a:rPr sz="1800" b="0" i="1">
                <a:solidFill>
                  <a:srgbClr val="FFD28A"/>
                </a:solidFill>
                <a:latin typeface="Calibri"/>
              </a:rPr>
              <a:t>One payment, from the invoice to the blockchain</a:t>
            </a:r>
          </a:p>
        </p:txBody>
      </p:sp>
      <p:sp>
        <p:nvSpPr>
          <p:cNvPr id="5" name="TextBox 4"/>
          <p:cNvSpPr txBox="1"/>
          <p:nvPr/>
        </p:nvSpPr>
        <p:spPr>
          <a:xfrm>
            <a:off x="822960" y="3017520"/>
            <a:ext cx="7498079" cy="411480"/>
          </a:xfrm>
          <a:prstGeom prst="rect">
            <a:avLst/>
          </a:prstGeom>
          <a:noFill/>
        </p:spPr>
        <p:txBody>
          <a:bodyPr wrap="square" lIns="0" rIns="0" tIns="0" bIns="0" anchor="t">
            <a:spAutoFit/>
          </a:bodyPr>
          <a:lstStyle/>
          <a:p>
            <a:pPr algn="l"/>
            <a:r>
              <a:rPr sz="1500" b="0" i="0">
                <a:solidFill>
                  <a:srgbClr val="F2A860"/>
                </a:solidFill>
                <a:latin typeface="Cambria"/>
              </a:rPr>
              <a:t>Next: chapter 3, Bitcoin Core, the reference implementation</a:t>
            </a:r>
          </a:p>
        </p:txBody>
      </p:sp>
      <p:sp>
        <p:nvSpPr>
          <p:cNvPr id="6" name="TextBox 5"/>
          <p:cNvSpPr txBox="1"/>
          <p:nvPr/>
        </p:nvSpPr>
        <p:spPr>
          <a:xfrm>
            <a:off x="822960" y="3657600"/>
            <a:ext cx="7498079" cy="365760"/>
          </a:xfrm>
          <a:prstGeom prst="rect">
            <a:avLst/>
          </a:prstGeom>
          <a:noFill/>
        </p:spPr>
        <p:txBody>
          <a:bodyPr wrap="square" lIns="0" rIns="0" tIns="0" bIns="0" anchor="t">
            <a:spAutoFit/>
          </a:bodyPr>
          <a:lstStyle/>
          <a:p>
            <a:pPr algn="l"/>
            <a:r>
              <a:rPr sz="1100" b="0" i="0">
                <a:solidFill>
                  <a:srgbClr val="E6EDF3"/>
                </a:solidFill>
                <a:latin typeface="Calibri"/>
              </a:rPr>
              <a:t>Python 3.14.6; every result in this deck was computed by the chapter library, not typed</a:t>
            </a:r>
          </a:p>
        </p:txBody>
      </p:sp>
      <p:sp>
        <p:nvSpPr>
          <p:cNvPr id="7" name="TextBox 6"/>
          <p:cNvSpPr txBox="1"/>
          <p:nvPr/>
        </p:nvSpPr>
        <p:spPr>
          <a:xfrm>
            <a:off x="7863840" y="4645152"/>
            <a:ext cx="868680" cy="310896"/>
          </a:xfrm>
          <a:prstGeom prst="rect">
            <a:avLst/>
          </a:prstGeom>
          <a:noFill/>
        </p:spPr>
        <p:txBody>
          <a:bodyPr wrap="square" lIns="0" rIns="0" tIns="0" bIns="0" anchor="ctr">
            <a:spAutoFit/>
          </a:bodyPr>
          <a:lstStyle/>
          <a:p>
            <a:pPr algn="r"/>
            <a:r>
              <a:rPr sz="1100" b="0" i="0">
                <a:solidFill>
                  <a:srgbClr val="6E655C"/>
                </a:solidFill>
                <a:latin typeface="Calibri"/>
              </a:rPr>
              <a:t>35 / 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