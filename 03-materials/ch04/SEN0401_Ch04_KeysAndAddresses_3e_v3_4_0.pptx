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bits</c:v>
                </c:pt>
              </c:strCache>
            </c:strRef>
          </c:tx>
          <c:spPr>
            <a:solidFill>
              <a:srgbClr val="D97A14"/>
            </a:solidFill>
          </c:spPr>
          <c:dPt>
            <c:idx val="0"/>
            <c:spPr>
              <a:solidFill>
                <a:srgbClr val="D97A14"/>
              </a:solidFill>
            </c:spPr>
          </c:dPt>
          <c:dPt>
            <c:idx val="1"/>
            <c:spPr>
              <a:solidFill>
                <a:srgbClr val="D97A14"/>
              </a:solidFill>
            </c:spPr>
          </c:dPt>
          <c:dPt>
            <c:idx val="2"/>
            <c:spPr>
              <a:solidFill>
                <a:srgbClr val="D97A14"/>
              </a:solidFill>
            </c:spPr>
          </c:dPt>
          <c:dPt>
            <c:idx val="3"/>
            <c:spPr>
              <a:solidFill>
                <a:srgbClr val="2F6D62"/>
              </a:solidFill>
            </c:spPr>
          </c:dPt>
          <c:cat>
            <c:strRef>
              <c:f>Sheet1!$A$2:$A$5</c:f>
              <c:strCache>
                <c:ptCount val="4"/>
                <c:pt idx="0">
                  <c:v>4-digit PIN</c:v>
                </c:pt>
                <c:pt idx="1">
                  <c:v>8 lowercase letters</c:v>
                </c:pt>
                <c:pt idx="2">
                  <c:v>12 keyboard symbols</c:v>
                </c:pt>
                <c:pt idx="3">
                  <c:v>256 coin flips</c:v>
                </c:pt>
              </c:strCache>
            </c:strRef>
          </c:cat>
          <c:val>
            <c:numRef>
              <c:f>Sheet1!$B$2:$B$5</c:f>
              <c:numCache>
                <c:formatCode>General</c:formatCode>
                <c:ptCount val="4"/>
                <c:pt idx="0">
                  <c:v>13.3</c:v>
                </c:pt>
                <c:pt idx="1">
                  <c:v>37.6</c:v>
                </c:pt>
                <c:pt idx="2">
                  <c:v>78.7</c:v>
                </c:pt>
                <c:pt idx="3">
                  <c:v>256.0</c:v>
                </c:pt>
              </c:numCache>
            </c:numRef>
          </c:val>
        </c:ser>
        <c:dLbls>
          <c:numFmt formatCode="0.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8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solidFill>
            <a:srgbClr val="2B262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power of ten</c:v>
                </c:pt>
              </c:strCache>
            </c:strRef>
          </c:tx>
          <c:spPr>
            <a:solidFill>
              <a:srgbClr val="D97A14"/>
            </a:solidFill>
          </c:spPr>
          <c:dPt>
            <c:idx val="0"/>
            <c:spPr>
              <a:solidFill>
                <a:srgbClr val="D97A14"/>
              </a:solidFill>
            </c:spPr>
          </c:dPt>
          <c:dPt>
            <c:idx val="1"/>
            <c:spPr>
              <a:solidFill>
                <a:srgbClr val="D97A14"/>
              </a:solidFill>
            </c:spPr>
          </c:dPt>
          <c:dPt>
            <c:idx val="2"/>
            <c:spPr>
              <a:solidFill>
                <a:srgbClr val="D97A14"/>
              </a:solidFill>
            </c:spPr>
          </c:dPt>
          <c:dPt>
            <c:idx val="3"/>
            <c:spPr>
              <a:solidFill>
                <a:srgbClr val="D97A14"/>
              </a:solidFill>
            </c:spPr>
          </c:dPt>
          <c:dPt>
            <c:idx val="4"/>
            <c:spPr>
              <a:solidFill>
                <a:srgbClr val="2F6D62"/>
              </a:solidFill>
            </c:spPr>
          </c:dPt>
          <c:cat>
            <c:strRef>
              <c:f>Sheet1!$A$2:$A$6</c:f>
              <c:strCache>
                <c:ptCount val="5"/>
                <c:pt idx="0">
                  <c:v>20-bit key</c:v>
                </c:pt>
                <c:pt idx="1">
                  <c:v>40-bit key</c:v>
                </c:pt>
                <c:pt idx="2">
                  <c:v>80-bit key</c:v>
                </c:pt>
                <c:pt idx="3">
                  <c:v>128-bit key</c:v>
                </c:pt>
                <c:pt idx="4">
                  <c:v>256-bit key</c:v>
                </c:pt>
              </c:strCache>
            </c:strRef>
          </c:cat>
          <c:val>
            <c:numRef>
              <c:f>Sheet1!$B$2:$B$6</c:f>
              <c:numCache>
                <c:formatCode>General</c:formatCode>
                <c:ptCount val="5"/>
                <c:pt idx="0">
                  <c:v>6.0</c:v>
                </c:pt>
                <c:pt idx="1">
                  <c:v>12.0</c:v>
                </c:pt>
                <c:pt idx="2">
                  <c:v>24.0</c:v>
                </c:pt>
                <c:pt idx="3">
                  <c:v>38.0</c:v>
                </c:pt>
                <c:pt idx="4">
                  <c:v>77.0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8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solidFill>
            <a:srgbClr val="2B262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bytes</c:v>
                </c:pt>
              </c:strCache>
            </c:strRef>
          </c:tx>
          <c:spPr>
            <a:solidFill>
              <a:srgbClr val="D97A14"/>
            </a:solidFill>
          </c:spPr>
          <c:dPt>
            <c:idx val="0"/>
            <c:spPr>
              <a:solidFill>
                <a:srgbClr val="2F6D62"/>
              </a:solidFill>
            </c:spPr>
          </c:dPt>
          <c:dPt>
            <c:idx val="1"/>
            <c:spPr>
              <a:solidFill>
                <a:srgbClr val="D97A14"/>
              </a:solidFill>
            </c:spPr>
          </c:dPt>
          <c:dPt>
            <c:idx val="2"/>
            <c:spPr>
              <a:solidFill>
                <a:srgbClr val="D97A14"/>
              </a:solidFill>
            </c:spPr>
          </c:dPt>
          <c:cat>
            <c:strRef>
              <c:f>Sheet1!$A$2:$A$4</c:f>
              <c:strCache>
                <c:ptCount val="3"/>
                <c:pt idx="0">
                  <c:v>Public key</c:v>
                </c:pt>
                <c:pt idx="1">
                  <c:v>After SHA256</c:v>
                </c:pt>
                <c:pt idx="2">
                  <c:v>After RIPEMD-160</c:v>
                </c:pt>
              </c:strCache>
            </c:strRef>
          </c:cat>
          <c:val>
            <c:numRef>
              <c:f>Sheet1!$B$2:$B$4</c:f>
              <c:numCache>
                <c:formatCode>General</c:formatCode>
                <c:ptCount val="3"/>
                <c:pt idx="0">
                  <c:v>33.0</c:v>
                </c:pt>
                <c:pt idx="1">
                  <c:v>32.0</c:v>
                </c:pt>
                <c:pt idx="2">
                  <c:v>20.0</c:v>
                </c:pt>
              </c:numCache>
            </c:numRef>
          </c:val>
        </c:ser>
        <c:dLbls>
          <c:numFmt formatCode="0" sourceLinked="0"/>
          <c:txPr>
            <a:bodyPr/>
            <a:lstStyle/>
            <a:p>
              <a:pPr>
                <a:defRPr sz="85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85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850"/>
            </a:pPr>
          </a:p>
        </c:txPr>
        <c:crossAx val="-2068027336"/>
        <c:crosses val="autoZero"/>
      </c:valAx>
    </c:plotArea>
    <c:dispBlanksAs val="gap"/>
  </c:chart>
  <c:txPr>
    <a:bodyPr/>
    <a:lstStyle/>
    <a:p>
      <a:pPr>
        <a:defRPr sz="850">
          <a:solidFill>
            <a:srgbClr val="2B262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bits of work</c:v>
                </c:pt>
              </c:strCache>
            </c:strRef>
          </c:tx>
          <c:spPr>
            <a:solidFill>
              <a:srgbClr val="D97A14"/>
            </a:solidFill>
          </c:spPr>
          <c:dPt>
            <c:idx val="0"/>
            <c:spPr>
              <a:solidFill>
                <a:srgbClr val="D97A14"/>
              </a:solidFill>
            </c:spPr>
          </c:dPt>
          <c:dPt>
            <c:idx val="1"/>
            <c:spPr>
              <a:solidFill>
                <a:srgbClr val="2F6D62"/>
              </a:solidFill>
            </c:spPr>
          </c:dPt>
          <c:dPt>
            <c:idx val="2"/>
            <c:spPr>
              <a:solidFill>
                <a:srgbClr val="D97A14"/>
              </a:solidFill>
            </c:spPr>
          </c:dPt>
          <c:dPt>
            <c:idx val="3"/>
            <c:spPr>
              <a:solidFill>
                <a:srgbClr val="2F6D62"/>
              </a:solidFill>
            </c:spPr>
          </c:dPt>
          <c:cat>
            <c:strRef>
              <c:f>Sheet1!$A$2:$A$5</c:f>
              <c:strCache>
                <c:ptCount val="4"/>
                <c:pt idx="0">
                  <c:v>HASH160 collision</c:v>
                </c:pt>
                <c:pt idx="1">
                  <c:v>HASH160 preimage</c:v>
                </c:pt>
                <c:pt idx="2">
                  <c:v>SHA256 collision</c:v>
                </c:pt>
                <c:pt idx="3">
                  <c:v>SHA256 preimage</c:v>
                </c:pt>
              </c:strCache>
            </c:strRef>
          </c:cat>
          <c:val>
            <c:numRef>
              <c:f>Sheet1!$B$2:$B$5</c:f>
              <c:numCache>
                <c:formatCode>General</c:formatCode>
                <c:ptCount val="4"/>
                <c:pt idx="0">
                  <c:v>80.0</c:v>
                </c:pt>
                <c:pt idx="1">
                  <c:v>160.0</c:v>
                </c:pt>
                <c:pt idx="2">
                  <c:v>128.0</c:v>
                </c:pt>
                <c:pt idx="3">
                  <c:v>256.0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8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solidFill>
            <a:srgbClr val="2B262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tries</c:v>
                </c:pt>
              </c:strCache>
            </c:strRef>
          </c:tx>
          <c:spPr>
            <a:solidFill>
              <a:srgbClr val="D97A14"/>
            </a:solidFill>
          </c:spPr>
          <c:dPt>
            <c:idx val="0"/>
            <c:spPr>
              <a:solidFill>
                <a:srgbClr val="D97A14"/>
              </a:solidFill>
            </c:spPr>
          </c:dPt>
          <c:dPt>
            <c:idx val="1"/>
            <c:spPr>
              <a:solidFill>
                <a:srgbClr val="D97A14"/>
              </a:solidFill>
            </c:spPr>
          </c:dPt>
          <c:dPt>
            <c:idx val="2"/>
            <c:spPr>
              <a:solidFill>
                <a:srgbClr val="D97A14"/>
              </a:solidFill>
            </c:spPr>
          </c:dPt>
          <c:dPt>
            <c:idx val="3"/>
            <c:spPr>
              <a:solidFill>
                <a:srgbClr val="D97A14"/>
              </a:solidFill>
            </c:spPr>
          </c:dPt>
          <c:dPt>
            <c:idx val="4"/>
            <c:spPr>
              <a:solidFill>
                <a:srgbClr val="D97A14"/>
              </a:solidFill>
            </c:spPr>
          </c:dPt>
          <c:dPt>
            <c:idx val="5"/>
            <c:spPr>
              <a:solidFill>
                <a:srgbClr val="2F6D62"/>
              </a:solidFill>
            </c:spPr>
          </c:dPt>
          <c:cat>
            <c:strRef>
              <c:f>Sheet1!$A$2:$A$7</c:f>
              <c:strCache>
                <c:ptCount val="6"/>
                <c:pt idx="0">
                  <c:v>1 letter</c:v>
                </c:pt>
                <c:pt idx="1">
                  <c:v>2 letters</c:v>
                </c:pt>
                <c:pt idx="2">
                  <c:v>3 letters</c:v>
                </c:pt>
                <c:pt idx="3">
                  <c:v>4 letters</c:v>
                </c:pt>
                <c:pt idx="4">
                  <c:v>5 letters</c:v>
                </c:pt>
                <c:pt idx="5">
                  <c:v>6 letters</c:v>
                </c:pt>
              </c:strCache>
            </c:strRef>
          </c:cat>
          <c:val>
            <c:numRef>
              <c:f>Sheet1!$B$2:$B$7</c:f>
              <c:numCache>
                <c:formatCode>General</c:formatCode>
                <c:ptCount val="6"/>
                <c:pt idx="0">
                  <c:v>58.0</c:v>
                </c:pt>
                <c:pt idx="1">
                  <c:v>3364.0</c:v>
                </c:pt>
                <c:pt idx="2">
                  <c:v>195112.0</c:v>
                </c:pt>
                <c:pt idx="3">
                  <c:v>11316496.0</c:v>
                </c:pt>
                <c:pt idx="4">
                  <c:v>656356768.0</c:v>
                </c:pt>
                <c:pt idx="5">
                  <c:v>38068692544.0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800"/>
            </a:pPr>
          </a:p>
        </c:txPr>
        <c:crossAx val="-2113994440"/>
        <c:crosses val="autoZero"/>
        <c:auto val="1"/>
        <c:lblAlgn val="ctr"/>
        <c:lblOffset val="100"/>
        <c:noMultiLvlLbl val="0"/>
      </c:catAx>
      <c:valAx>
        <c:axId val="-2113994440"/>
        <c:scaling>
          <c:logBase val="10"/>
          <c:min val="1.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solidFill>
            <a:srgbClr val="2B262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 showed the software that checks the rules. Chapter 4 opens the smallest secret it protects, a private key, and follows it to the address that people read aloud. Every number in this deck was computed with the chapter's own Python library.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has five parts that follow one secret from a number to an address. Three true stories and twenty-one code examples are spread across them, and every example has a picture of its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questions are the chapter's own, rewritten so that each has an answer on a slide. We return to them in the summary. A reader who can answer all six has understood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secret travels five steps. Random bits become a private key, the curve turns it into a public key, two hashes shorten it, and an encoding with a checksum makes the address. The parts of this deck follow the same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starts with the secret itself. A private key is only a number, a public key is a point computed from it, and the curve makes that computation a one-way street.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Public Key Cryptography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Public Key Cryptography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1976 Whitfield Diffie and Martin Hellman asked whether two people could talk privately without first sharing a secret. Their answer was a key split in two. Bitcoin's elliptic-curve multiplication is a later form of the same idea.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private key is a very large number between 1 and n minus 1. Zero and n itself are not allowed. Every number inside the range is a valid key, which is why choosing one at random is safe.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Entropy counts how many bits of guessing a secret withstands. A PIN has 13 bits and a long password 79. Only 256 fair coin flips match a Bitcoin key, so a key must come from a proper random source.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Bitcoin's curve is y squared equals x cubed plus 7, counted modulo a 256-bit prime. We test that the generator point G satisfies the formula. Every public key starts from this one fixed 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4-4 shows one doubling on the curve of figure 4-2. Draw the tangent at G, find where it meets the curve again, and mirror that point across the x-axis. The result is 2G, and repeating the step gives 4G and 8G.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Multiplying G by k means adding G to itself k times. Doubling makes this fast: a key of 253 bits needs a few hundred doublings and additions, not 10 to the 76 steps.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toy curve we can list every multiple of a point. The ninth multiple is the point at infinity, the zero of the curve, and then the list starts over. Bitcoin's curve works the same way with a vastly larger cycle.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k from k times G means trying keys one by one, about half of them on average. A 20-bit key falls after half a million tries. A 256-bit key needs about 10 to the 77, which is out of reach.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turns a public key into the first kind of Bitcoin address. Two hashes shorten the key to twenty bytes, and Base58Check adds a version and a checksum that catches typing mistakes.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Legacy Addresses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Legacy Addresses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Legacy Addresses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public key is a point with two coordinates. The uncompressed form writes both after a 04 byte. The compressed form writes x and one byte for the parity of y, and y is recovered from 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output script, P2PK, contains the public key itself. P2PKH contains only a 20-byte hash of it. The hash is a commitment: the key is revealed only when the coins are spent.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HASH160 first applies SHA256 and then RIPEMD-160. The 33-byte key becomes 32 bytes and then 20 bytes. The result is the number that a legacy address stands for.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lines of base58.h are a design memo. It gives four human reasons: look-alike characters, punctuation that breaks selection, line breaks in e-mail, and double-clicking. The alphabet of every legacy address is a usability decision.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legacy address has three parts: a version byte, the 20-byte key hash and a four-byte checksum. Written in base58 they give a 34-character string. The leading 00 version byte becomes the first character, 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4-7 is the whole road from public key to address. SHA256 and RIPEMD-160 shrink the key to 20 bytes, a version byte and a checksum make 25, and base58 writes them as 34 characters. Each step is a function you have just run.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change one character of the address in every possible way: 1,938 variants. A wallet that checks the four-byte checksum rejects every one of them. A random typo passes only about once in 4.3 billion.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covers the addresses that came after the first kind. P2SH commits to a whole script, and SegWit's Bech32 and Bech32m add a version, a program and a stronger checksum.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Script Hashes and Bech32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Script Hashes and Bech32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P2SH lets an address stand for any script. We build a two-of-three multisignature script of 105 bytes and hash it with HASH160. The address starts with 3 and reveals the script only when the coins are spent.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any two inputs with one hash takes about 2 to the n over 2 tries; finding an input for a given hash takes 2 to the n. A 160-bit hash gives only 80 bits against collisions, which is why SegWit scripts use SHA256.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Bech32 address has four parts. The network name bc, a separator 1, the data and a six-letter checksum. The first data letter is the witness version, and the rest is the witness program.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decoder returns the witness version and the program. Version 0 holds a 20-byte key hash or a 32-byte script hash. Version 1 holds a 32-byte Taproot key and makes the address start with bc1p.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Bech32 a q inserted before a final p leaves the checksum valid, so a typo can go unnoticed. The strings from the book all pass the old check and fail the new one. Bech32m changes the constant to close the gap.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is about writing a private key down. The same number can appear as hex or as WIF, and one extra byte tells the wallet whether to use compressed public keys.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Private Key Formats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Wallet import format wraps the private key in Base58Check. The version byte is 80. A trailing 01 byte, added only for compressed keys, makes the string one byte longer and changes its first letter to K or 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private key gives two public key encodings, and each hashes to a different address. Coins sent to one address are not seen at the other. The compressed flag in the WIF tells a wallet which one to use.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goes beyond a plain random key. A vanity address costs work in proportion to its letters, a paper wallet must be tested, and a valid address can still have no key.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pair each concept of the part Advanced Keys and Addresses with something you already know. Say the meaning first, then the comparison, in your own words. The code slides that follow run the same ideas.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vanity address is found by trying keys until the text fits. One chosen letter is quick. Each further letter divides the chance by 58, so six letters need about 38 billion tries, and the work cannot be shortcut.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paper wallet prints a WIF key and its address. Before any coins are sent, decode the WIF and confirm that the key reproduces the printed address. A smudged character is found while the paper is still empty.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address was made by spelling a message and then closing it with letters that satisfy the checksum. No private key exists for it. Thousands of senders still paid into it, and not one coin has ever left.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address spells a message in base58 letters and then closes with letters that make the checksum right. Wallets accept it without a warning. Nobody holds a key for it, so coins sent there are gone for good.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answers one of the six opening questions in a line. If you can say each answer in your own words, using the everyday pictures of this chapter, you have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links are all open and free. Start with the chapter source, read the three standards or papers, open the eater address on an explorer, and watch the video for the curve behind every public key.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whole path from a secret number to an address. Chapter 5 asks what happens when the secret is lost, and how a word list can bring every key back. Bring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hyperlink" Target="https://www-ee.stanford.edu/~hellman/publications/24.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4.jpg"/><Relationship Id="rId4" Type="http://schemas.openxmlformats.org/officeDocument/2006/relationships/hyperlink" Target="https://raw.githubusercontent.com/bitcoin/bitcoin/master/src/base58.h"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chart" Target="../charts/char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chart" Target="../charts/char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6.png"/><Relationship Id="rId4" Type="http://schemas.openxmlformats.org/officeDocument/2006/relationships/hyperlink" Target="https://blockstream.info/address/1BitcoinEaterAddressDontSendf59kuE"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hyperlink" Target="https://raw.githubusercontent.com/bitcoinbook/bitcoinbook/develop/ch04_keys.adoc" TargetMode="External"/><Relationship Id="rId4" Type="http://schemas.openxmlformats.org/officeDocument/2006/relationships/hyperlink" Target="https://andrea.corbellini.name/2015/05/17/elliptic-curve-cryptography-a-gentle-introduction/" TargetMode="External"/><Relationship Id="rId5" Type="http://schemas.openxmlformats.org/officeDocument/2006/relationships/hyperlink" Target="https://en.bitcoin.it/wiki/Technical_background_of_version_1_Bitcoin_addresses" TargetMode="External"/><Relationship Id="rId6" Type="http://schemas.openxmlformats.org/officeDocument/2006/relationships/hyperlink" Target="https://www-ee.stanford.edu/~hellman/publications/24.pdf" TargetMode="External"/><Relationship Id="rId7" Type="http://schemas.openxmlformats.org/officeDocument/2006/relationships/hyperlink" Target="https://bips.dev/173/" TargetMode="External"/><Relationship Id="rId8" Type="http://schemas.openxmlformats.org/officeDocument/2006/relationships/hyperlink" Target="https://bips.dev/350/" TargetMode="External"/><Relationship Id="rId9" Type="http://schemas.openxmlformats.org/officeDocument/2006/relationships/hyperlink" Target="https://blockstream.info/address/1BitcoinEaterAddressDontSendf59kuE" TargetMode="External"/><Relationship Id="rId10" Type="http://schemas.openxmlformats.org/officeDocument/2006/relationships/hyperlink" Target="https://raw.githubusercontent.com/bitcoin/bitcoin/master/src/base58.h" TargetMode="External"/><Relationship Id="rId11" Type="http://schemas.openxmlformats.org/officeDocument/2006/relationships/hyperlink" Target="https://www.youtube.com/watch?v=NF1pwjL9-DE" TargetMode="External"/><Relationship Id="rId12" Type="http://schemas.openxmlformats.org/officeDocument/2006/relationships/hyperlink" Target="https://bitcoin.stackexchange.com/"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Oval 1"/>
          <p:cNvSpPr/>
          <p:nvPr/>
        </p:nvSpPr>
        <p:spPr>
          <a:xfrm>
            <a:off x="548640" y="731520"/>
            <a:ext cx="1234440" cy="731520"/>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latin typeface="Cambria"/>
              </a:rPr>
              <a:t>k</a:t>
            </a:r>
          </a:p>
        </p:txBody>
      </p:sp>
      <p:sp>
        <p:nvSpPr>
          <p:cNvPr id="3" name="TextBox 2"/>
          <p:cNvSpPr txBox="1"/>
          <p:nvPr/>
        </p:nvSpPr>
        <p:spPr>
          <a:xfrm>
            <a:off x="457200" y="1536192"/>
            <a:ext cx="1417320" cy="274320"/>
          </a:xfrm>
          <a:prstGeom prst="rect">
            <a:avLst/>
          </a:prstGeom>
          <a:noFill/>
        </p:spPr>
        <p:txBody>
          <a:bodyPr wrap="square" lIns="0" rIns="0" tIns="0" bIns="0" anchor="t">
            <a:spAutoFit/>
          </a:bodyPr>
          <a:lstStyle/>
          <a:p>
            <a:pPr algn="ctr"/>
            <a:r>
              <a:rPr sz="1100" b="0" i="0">
                <a:solidFill>
                  <a:srgbClr val="6E655C"/>
                </a:solidFill>
                <a:latin typeface="Calibri"/>
              </a:rPr>
              <a:t>private key</a:t>
            </a:r>
          </a:p>
        </p:txBody>
      </p:sp>
      <p:cxnSp>
        <p:nvCxnSpPr>
          <p:cNvPr id="4" name="Connector 3"/>
          <p:cNvCxnSpPr/>
          <p:nvPr/>
        </p:nvCxnSpPr>
        <p:spPr>
          <a:xfrm>
            <a:off x="1828800" y="1097280"/>
            <a:ext cx="27432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2148840" y="731520"/>
            <a:ext cx="1234440" cy="731520"/>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latin typeface="Cambria"/>
              </a:rPr>
              <a:t>K</a:t>
            </a:r>
          </a:p>
        </p:txBody>
      </p:sp>
      <p:sp>
        <p:nvSpPr>
          <p:cNvPr id="6" name="TextBox 5"/>
          <p:cNvSpPr txBox="1"/>
          <p:nvPr/>
        </p:nvSpPr>
        <p:spPr>
          <a:xfrm>
            <a:off x="2057400" y="1536192"/>
            <a:ext cx="1417320" cy="274320"/>
          </a:xfrm>
          <a:prstGeom prst="rect">
            <a:avLst/>
          </a:prstGeom>
          <a:noFill/>
        </p:spPr>
        <p:txBody>
          <a:bodyPr wrap="square" lIns="0" rIns="0" tIns="0" bIns="0" anchor="t">
            <a:spAutoFit/>
          </a:bodyPr>
          <a:lstStyle/>
          <a:p>
            <a:pPr algn="ctr"/>
            <a:r>
              <a:rPr sz="1100" b="0" i="0">
                <a:solidFill>
                  <a:srgbClr val="6E655C"/>
                </a:solidFill>
                <a:latin typeface="Calibri"/>
              </a:rPr>
              <a:t>public key</a:t>
            </a:r>
          </a:p>
        </p:txBody>
      </p:sp>
      <p:cxnSp>
        <p:nvCxnSpPr>
          <p:cNvPr id="7" name="Connector 6"/>
          <p:cNvCxnSpPr/>
          <p:nvPr/>
        </p:nvCxnSpPr>
        <p:spPr>
          <a:xfrm>
            <a:off x="3429000" y="1097280"/>
            <a:ext cx="27432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3749039" y="731520"/>
            <a:ext cx="1234440" cy="731520"/>
          </a:xfrm>
          <a:prstGeom prst="ellipse">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latin typeface="Cambria"/>
              </a:rPr>
              <a:t>1J7m...</a:t>
            </a:r>
          </a:p>
        </p:txBody>
      </p:sp>
      <p:sp>
        <p:nvSpPr>
          <p:cNvPr id="9" name="TextBox 8"/>
          <p:cNvSpPr txBox="1"/>
          <p:nvPr/>
        </p:nvSpPr>
        <p:spPr>
          <a:xfrm>
            <a:off x="3657599" y="1536192"/>
            <a:ext cx="1417320" cy="274320"/>
          </a:xfrm>
          <a:prstGeom prst="rect">
            <a:avLst/>
          </a:prstGeom>
          <a:noFill/>
        </p:spPr>
        <p:txBody>
          <a:bodyPr wrap="square" lIns="0" rIns="0" tIns="0" bIns="0" anchor="t">
            <a:spAutoFit/>
          </a:bodyPr>
          <a:lstStyle/>
          <a:p>
            <a:pPr algn="ctr"/>
            <a:r>
              <a:rPr sz="1100" b="0" i="0">
                <a:solidFill>
                  <a:srgbClr val="6E655C"/>
                </a:solidFill>
                <a:latin typeface="Calibri"/>
              </a:rPr>
              <a:t>address</a:t>
            </a:r>
          </a:p>
        </p:txBody>
      </p:sp>
      <p:sp>
        <p:nvSpPr>
          <p:cNvPr id="10" name="TextBox 9"/>
          <p:cNvSpPr txBox="1"/>
          <p:nvPr/>
        </p:nvSpPr>
        <p:spPr>
          <a:xfrm>
            <a:off x="548640" y="2011680"/>
            <a:ext cx="5029200" cy="1005840"/>
          </a:xfrm>
          <a:prstGeom prst="rect">
            <a:avLst/>
          </a:prstGeom>
          <a:noFill/>
        </p:spPr>
        <p:txBody>
          <a:bodyPr wrap="square" lIns="0" rIns="0" tIns="0" bIns="0" anchor="ctr">
            <a:spAutoFit/>
          </a:bodyPr>
          <a:lstStyle/>
          <a:p>
            <a:pPr algn="l"/>
            <a:r>
              <a:rPr sz="3000" b="0" i="0">
                <a:solidFill>
                  <a:srgbClr val="2B2622"/>
                </a:solidFill>
                <a:latin typeface="Cambria"/>
              </a:rPr>
              <a:t>Chapter 4: Keys and Addresses</a:t>
            </a:r>
          </a:p>
        </p:txBody>
      </p:sp>
      <p:sp>
        <p:nvSpPr>
          <p:cNvPr id="11" name="TextBox 10"/>
          <p:cNvSpPr txBox="1"/>
          <p:nvPr/>
        </p:nvSpPr>
        <p:spPr>
          <a:xfrm>
            <a:off x="548640" y="3063240"/>
            <a:ext cx="5029200" cy="640080"/>
          </a:xfrm>
          <a:prstGeom prst="rect">
            <a:avLst/>
          </a:prstGeom>
          <a:noFill/>
        </p:spPr>
        <p:txBody>
          <a:bodyPr wrap="square" lIns="0" rIns="0" tIns="0" bIns="0" anchor="t">
            <a:spAutoFit/>
          </a:bodyPr>
          <a:lstStyle/>
          <a:p>
            <a:pPr algn="l"/>
            <a:r>
              <a:rPr sz="1600" b="0" i="1">
                <a:solidFill>
                  <a:srgbClr val="6E655C"/>
                </a:solidFill>
                <a:latin typeface="Calibri"/>
              </a:rPr>
              <a:t>From a secret number to the string you can safely read out loud</a:t>
            </a:r>
          </a:p>
        </p:txBody>
      </p:sp>
      <p:pic>
        <p:nvPicPr>
          <p:cNvPr id="12" name="Picture 11" descr="Figure 4-2: the curve y squared = x cubed + 7 drawn over the real numbers"/>
          <p:cNvPicPr>
            <a:picLocks noChangeAspect="1"/>
          </p:cNvPicPr>
          <p:nvPr/>
        </p:nvPicPr>
        <p:blipFill>
          <a:blip r:embed="rId3"/>
          <a:stretch>
            <a:fillRect/>
          </a:stretch>
        </p:blipFill>
        <p:spPr>
          <a:xfrm>
            <a:off x="5856900" y="640080"/>
            <a:ext cx="2825159" cy="2834640"/>
          </a:xfrm>
          <a:prstGeom prst="rect">
            <a:avLst/>
          </a:prstGeom>
        </p:spPr>
      </p:pic>
      <p:sp>
        <p:nvSpPr>
          <p:cNvPr id="13" name="TextBox 12"/>
          <p:cNvSpPr txBox="1"/>
          <p:nvPr/>
        </p:nvSpPr>
        <p:spPr>
          <a:xfrm>
            <a:off x="5852160" y="3520440"/>
            <a:ext cx="2834640" cy="365760"/>
          </a:xfrm>
          <a:prstGeom prst="rect">
            <a:avLst/>
          </a:prstGeom>
          <a:noFill/>
        </p:spPr>
        <p:txBody>
          <a:bodyPr wrap="square" lIns="0" rIns="0" tIns="0" bIns="0" anchor="t">
            <a:spAutoFit/>
          </a:bodyPr>
          <a:lstStyle/>
          <a:p>
            <a:pPr algn="l"/>
            <a:r>
              <a:rPr sz="850" b="0" i="0">
                <a:solidFill>
                  <a:srgbClr val="6E655C"/>
                </a:solidFill>
                <a:latin typeface="Calibri"/>
              </a:rPr>
              <a:t>Figure 4-2, Mastering Bitcoin 3rd edition, Antonopoulos and Harding, CC BY-SA 4.0</a:t>
            </a:r>
          </a:p>
        </p:txBody>
      </p:sp>
      <p:sp>
        <p:nvSpPr>
          <p:cNvPr id="14" name="TextBox 13"/>
          <p:cNvSpPr txBox="1"/>
          <p:nvPr/>
        </p:nvSpPr>
        <p:spPr>
          <a:xfrm>
            <a:off x="548640" y="3931920"/>
            <a:ext cx="8046720" cy="274320"/>
          </a:xfrm>
          <a:prstGeom prst="rect">
            <a:avLst/>
          </a:prstGeom>
          <a:noFill/>
        </p:spPr>
        <p:txBody>
          <a:bodyPr wrap="square" lIns="0" rIns="0" tIns="0" bIns="0" anchor="t">
            <a:spAutoFit/>
          </a:bodyPr>
          <a:lstStyle/>
          <a:p>
            <a:pPr algn="l"/>
            <a:r>
              <a:rPr sz="1100" b="0" i="0">
                <a:solidFill>
                  <a:srgbClr val="6E655C"/>
                </a:solidFill>
                <a:latin typeface="Calibri"/>
              </a:rPr>
              <a:t>Python 3.14.6; every result is computed by the chapter library; no Bitcoin Core node was run.</a:t>
            </a:r>
          </a:p>
        </p:txBody>
      </p:sp>
      <p:sp>
        <p:nvSpPr>
          <p:cNvPr id="15" name="TextBox 14"/>
          <p:cNvSpPr txBox="1"/>
          <p:nvPr/>
        </p:nvSpPr>
        <p:spPr>
          <a:xfrm>
            <a:off x="548640" y="4279392"/>
            <a:ext cx="7223760" cy="320040"/>
          </a:xfrm>
          <a:prstGeom prst="rect">
            <a:avLst/>
          </a:prstGeom>
          <a:noFill/>
        </p:spPr>
        <p:txBody>
          <a:bodyPr wrap="square" lIns="0" rIns="0" tIns="0" bIns="0" anchor="t">
            <a:spAutoFit/>
          </a:bodyPr>
          <a:lstStyle/>
          <a:p>
            <a:pPr algn="l"/>
            <a:r>
              <a:rPr sz="1050" b="0" i="0">
                <a:solidFill>
                  <a:srgbClr val="6E655C"/>
                </a:solidFill>
                <a:latin typeface="Calibri"/>
              </a:rPr>
              <a:t>SEN0401 Special Topics in Software Engineering: Block Chain · Fall 2026 · Yusuf Altunel, PhD · İstanbul Kültür University</a:t>
            </a:r>
          </a:p>
        </p:txBody>
      </p:sp>
      <p:sp>
        <p:nvSpPr>
          <p:cNvPr id="16" name="TextBox 15"/>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 / 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Today's route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Five parts around one key; every range is a slide you can jump to</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Five parts, three true stories, twenty-one examples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 / 47</a:t>
            </a:r>
          </a:p>
        </p:txBody>
      </p:sp>
      <p:sp>
        <p:nvSpPr>
          <p:cNvPr id="8" name="Rounded Rectangle 7"/>
          <p:cNvSpPr/>
          <p:nvPr/>
        </p:nvSpPr>
        <p:spPr>
          <a:xfrm>
            <a:off x="457200" y="1280160"/>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1. Questions and the chapter map</a:t>
            </a:r>
          </a:p>
          <a:p>
            <a:pPr algn="l"/>
            <a:r>
              <a:rPr sz="1050" b="0" i="0">
                <a:solidFill>
                  <a:srgbClr val="6E655C"/>
                </a:solidFill>
                <a:latin typeface="Calibri"/>
              </a:rPr>
              <a:t>(slides 3-4)</a:t>
            </a:r>
          </a:p>
        </p:txBody>
      </p:sp>
      <p:sp>
        <p:nvSpPr>
          <p:cNvPr id="9" name="Rounded Rectangle 8"/>
          <p:cNvSpPr/>
          <p:nvPr/>
        </p:nvSpPr>
        <p:spPr>
          <a:xfrm>
            <a:off x="2423160" y="1280160"/>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2. Public Key Cryptography</a:t>
            </a:r>
          </a:p>
          <a:p>
            <a:pPr algn="l"/>
            <a:r>
              <a:rPr sz="1050" b="0" i="0">
                <a:solidFill>
                  <a:srgbClr val="6E655C"/>
                </a:solidFill>
                <a:latin typeface="Calibri"/>
              </a:rPr>
              <a:t>(slides 5-15)</a:t>
            </a:r>
          </a:p>
        </p:txBody>
      </p:sp>
      <p:sp>
        <p:nvSpPr>
          <p:cNvPr id="10" name="Rounded Rectangle 9"/>
          <p:cNvSpPr/>
          <p:nvPr/>
        </p:nvSpPr>
        <p:spPr>
          <a:xfrm>
            <a:off x="4389120" y="1280160"/>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3. Legacy Addresses</a:t>
            </a:r>
          </a:p>
          <a:p>
            <a:pPr algn="l"/>
            <a:r>
              <a:rPr sz="1050" b="0" i="0">
                <a:solidFill>
                  <a:srgbClr val="6E655C"/>
                </a:solidFill>
                <a:latin typeface="Calibri"/>
              </a:rPr>
              <a:t>(slides 16-26)</a:t>
            </a:r>
          </a:p>
        </p:txBody>
      </p:sp>
      <p:sp>
        <p:nvSpPr>
          <p:cNvPr id="11" name="Rounded Rectangle 10"/>
          <p:cNvSpPr/>
          <p:nvPr/>
        </p:nvSpPr>
        <p:spPr>
          <a:xfrm>
            <a:off x="457200" y="2304288"/>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4. Script Hashes and Bech32</a:t>
            </a:r>
          </a:p>
          <a:p>
            <a:pPr algn="l"/>
            <a:r>
              <a:rPr sz="1050" b="0" i="0">
                <a:solidFill>
                  <a:srgbClr val="6E655C"/>
                </a:solidFill>
                <a:latin typeface="Calibri"/>
              </a:rPr>
              <a:t>(slides 27-34)</a:t>
            </a:r>
          </a:p>
        </p:txBody>
      </p:sp>
      <p:sp>
        <p:nvSpPr>
          <p:cNvPr id="12" name="Rounded Rectangle 11"/>
          <p:cNvSpPr/>
          <p:nvPr/>
        </p:nvSpPr>
        <p:spPr>
          <a:xfrm>
            <a:off x="2423160" y="2304288"/>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5. Private Key Formats</a:t>
            </a:r>
          </a:p>
          <a:p>
            <a:pPr algn="l"/>
            <a:r>
              <a:rPr sz="1050" b="0" i="0">
                <a:solidFill>
                  <a:srgbClr val="6E655C"/>
                </a:solidFill>
                <a:latin typeface="Calibri"/>
              </a:rPr>
              <a:t>(slides 35-38)</a:t>
            </a:r>
          </a:p>
        </p:txBody>
      </p:sp>
      <p:sp>
        <p:nvSpPr>
          <p:cNvPr id="13" name="Rounded Rectangle 12"/>
          <p:cNvSpPr/>
          <p:nvPr/>
        </p:nvSpPr>
        <p:spPr>
          <a:xfrm>
            <a:off x="4389120" y="2304288"/>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6. Advanced Keys and Addresses</a:t>
            </a:r>
          </a:p>
          <a:p>
            <a:pPr algn="l"/>
            <a:r>
              <a:rPr sz="1050" b="0" i="0">
                <a:solidFill>
                  <a:srgbClr val="6E655C"/>
                </a:solidFill>
                <a:latin typeface="Calibri"/>
              </a:rPr>
              <a:t>(slides 39-44)</a:t>
            </a:r>
          </a:p>
        </p:txBody>
      </p:sp>
      <p:sp>
        <p:nvSpPr>
          <p:cNvPr id="14" name="Rounded Rectangle 13"/>
          <p:cNvSpPr/>
          <p:nvPr/>
        </p:nvSpPr>
        <p:spPr>
          <a:xfrm>
            <a:off x="457200" y="3328416"/>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7. Summary, resources, closing</a:t>
            </a:r>
          </a:p>
          <a:p>
            <a:pPr algn="l"/>
            <a:r>
              <a:rPr sz="1050" b="0" i="0">
                <a:solidFill>
                  <a:srgbClr val="6E655C"/>
                </a:solidFill>
                <a:latin typeface="Calibri"/>
              </a:rPr>
              <a:t>(slides 45-47)</a:t>
            </a:r>
          </a:p>
        </p:txBody>
      </p:sp>
      <p:sp>
        <p:nvSpPr>
          <p:cNvPr id="15" name="Rounded Rectangle 14"/>
          <p:cNvSpPr/>
          <p:nvPr/>
        </p:nvSpPr>
        <p:spPr>
          <a:xfrm>
            <a:off x="6355080" y="1280160"/>
            <a:ext cx="2331720" cy="914400"/>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16" name="TextBox 15"/>
          <p:cNvSpPr txBox="1"/>
          <p:nvPr/>
        </p:nvSpPr>
        <p:spPr>
          <a:xfrm>
            <a:off x="6492240" y="1325880"/>
            <a:ext cx="2057400" cy="384048"/>
          </a:xfrm>
          <a:prstGeom prst="rect">
            <a:avLst/>
          </a:prstGeom>
          <a:noFill/>
        </p:spPr>
        <p:txBody>
          <a:bodyPr wrap="square" lIns="0" rIns="0" tIns="0" bIns="0" anchor="ctr">
            <a:spAutoFit/>
          </a:bodyPr>
          <a:lstStyle/>
          <a:p>
            <a:pPr algn="l"/>
            <a:r>
              <a:rPr sz="2200" b="0" i="0">
                <a:solidFill>
                  <a:srgbClr val="D97A14"/>
                </a:solidFill>
                <a:latin typeface="Cambria"/>
              </a:rPr>
              <a:t>47</a:t>
            </a:r>
          </a:p>
        </p:txBody>
      </p:sp>
      <p:sp>
        <p:nvSpPr>
          <p:cNvPr id="17" name="TextBox 16"/>
          <p:cNvSpPr txBox="1"/>
          <p:nvPr/>
        </p:nvSpPr>
        <p:spPr>
          <a:xfrm>
            <a:off x="6492240" y="1737360"/>
            <a:ext cx="2057400" cy="411480"/>
          </a:xfrm>
          <a:prstGeom prst="rect">
            <a:avLst/>
          </a:prstGeom>
          <a:noFill/>
        </p:spPr>
        <p:txBody>
          <a:bodyPr wrap="square" lIns="0" rIns="0" tIns="0" bIns="0" anchor="t">
            <a:spAutoFit/>
          </a:bodyPr>
          <a:lstStyle/>
          <a:p>
            <a:pPr algn="l"/>
            <a:r>
              <a:rPr sz="1050" b="0" i="0">
                <a:solidFill>
                  <a:srgbClr val="6E655C"/>
                </a:solidFill>
                <a:latin typeface="Calibri"/>
              </a:rPr>
              <a:t>slides, numbered bottom-right</a:t>
            </a:r>
          </a:p>
        </p:txBody>
      </p:sp>
      <p:sp>
        <p:nvSpPr>
          <p:cNvPr id="18" name="Rounded Rectangle 17"/>
          <p:cNvSpPr/>
          <p:nvPr/>
        </p:nvSpPr>
        <p:spPr>
          <a:xfrm>
            <a:off x="6355080" y="2304288"/>
            <a:ext cx="2331720" cy="914400"/>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19" name="TextBox 18"/>
          <p:cNvSpPr txBox="1"/>
          <p:nvPr/>
        </p:nvSpPr>
        <p:spPr>
          <a:xfrm>
            <a:off x="6492240" y="2350008"/>
            <a:ext cx="2057400" cy="384048"/>
          </a:xfrm>
          <a:prstGeom prst="rect">
            <a:avLst/>
          </a:prstGeom>
          <a:noFill/>
        </p:spPr>
        <p:txBody>
          <a:bodyPr wrap="square" lIns="0" rIns="0" tIns="0" bIns="0" anchor="ctr">
            <a:spAutoFit/>
          </a:bodyPr>
          <a:lstStyle/>
          <a:p>
            <a:pPr algn="l"/>
            <a:r>
              <a:rPr sz="2200" b="0" i="0">
                <a:solidFill>
                  <a:srgbClr val="D97A14"/>
                </a:solidFill>
                <a:latin typeface="Cambria"/>
              </a:rPr>
              <a:t>3</a:t>
            </a:r>
          </a:p>
        </p:txBody>
      </p:sp>
      <p:sp>
        <p:nvSpPr>
          <p:cNvPr id="20" name="TextBox 19"/>
          <p:cNvSpPr txBox="1"/>
          <p:nvPr/>
        </p:nvSpPr>
        <p:spPr>
          <a:xfrm>
            <a:off x="6492240" y="2761488"/>
            <a:ext cx="2057400" cy="411480"/>
          </a:xfrm>
          <a:prstGeom prst="rect">
            <a:avLst/>
          </a:prstGeom>
          <a:noFill/>
        </p:spPr>
        <p:txBody>
          <a:bodyPr wrap="square" lIns="0" rIns="0" tIns="0" bIns="0" anchor="t">
            <a:spAutoFit/>
          </a:bodyPr>
          <a:lstStyle/>
          <a:p>
            <a:pPr algn="l"/>
            <a:r>
              <a:rPr sz="1050" b="0" i="0">
                <a:solidFill>
                  <a:srgbClr val="6E655C"/>
                </a:solidFill>
                <a:latin typeface="Calibri"/>
              </a:rPr>
              <a:t>true stories, each told by 5N1K</a:t>
            </a:r>
          </a:p>
        </p:txBody>
      </p:sp>
      <p:sp>
        <p:nvSpPr>
          <p:cNvPr id="21" name="Rounded Rectangle 20"/>
          <p:cNvSpPr/>
          <p:nvPr/>
        </p:nvSpPr>
        <p:spPr>
          <a:xfrm>
            <a:off x="6355080" y="3328416"/>
            <a:ext cx="2331720" cy="914400"/>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22" name="TextBox 21"/>
          <p:cNvSpPr txBox="1"/>
          <p:nvPr/>
        </p:nvSpPr>
        <p:spPr>
          <a:xfrm>
            <a:off x="6492240" y="3374136"/>
            <a:ext cx="2057400" cy="384048"/>
          </a:xfrm>
          <a:prstGeom prst="rect">
            <a:avLst/>
          </a:prstGeom>
          <a:noFill/>
        </p:spPr>
        <p:txBody>
          <a:bodyPr wrap="square" lIns="0" rIns="0" tIns="0" bIns="0" anchor="ctr">
            <a:spAutoFit/>
          </a:bodyPr>
          <a:lstStyle/>
          <a:p>
            <a:pPr algn="l"/>
            <a:r>
              <a:rPr sz="2200" b="0" i="0">
                <a:solidFill>
                  <a:srgbClr val="D97A14"/>
                </a:solidFill>
                <a:latin typeface="Cambria"/>
              </a:rPr>
              <a:t>21</a:t>
            </a:r>
          </a:p>
        </p:txBody>
      </p:sp>
      <p:sp>
        <p:nvSpPr>
          <p:cNvPr id="23" name="TextBox 22"/>
          <p:cNvSpPr txBox="1"/>
          <p:nvPr/>
        </p:nvSpPr>
        <p:spPr>
          <a:xfrm>
            <a:off x="6492240" y="3785616"/>
            <a:ext cx="2057400" cy="411480"/>
          </a:xfrm>
          <a:prstGeom prst="rect">
            <a:avLst/>
          </a:prstGeom>
          <a:noFill/>
        </p:spPr>
        <p:txBody>
          <a:bodyPr wrap="square" lIns="0" rIns="0" tIns="0" bIns="0" anchor="t">
            <a:spAutoFit/>
          </a:bodyPr>
          <a:lstStyle/>
          <a:p>
            <a:pPr algn="l"/>
            <a:r>
              <a:rPr sz="1050" b="0" i="0">
                <a:solidFill>
                  <a:srgbClr val="6E655C"/>
                </a:solidFill>
                <a:latin typeface="Calibri"/>
              </a:rPr>
              <a:t>code examples, each with a picture of its result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questions this chapter answers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has an answer on a slide; we return to them in the summary</a:t>
            </a:r>
          </a:p>
        </p:txBody>
      </p:sp>
      <p:sp>
        <p:nvSpPr>
          <p:cNvPr id="5" name="TextBox 4"/>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 / 47</a:t>
            </a:r>
          </a:p>
        </p:txBody>
      </p:sp>
      <p:sp>
        <p:nvSpPr>
          <p:cNvPr id="6" name="Oval 5"/>
          <p:cNvSpPr/>
          <p:nvPr/>
        </p:nvSpPr>
        <p:spPr>
          <a:xfrm>
            <a:off x="457200" y="1280160"/>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1</a:t>
            </a:r>
          </a:p>
        </p:txBody>
      </p:sp>
      <p:sp>
        <p:nvSpPr>
          <p:cNvPr id="7" name="TextBox 6"/>
          <p:cNvSpPr txBox="1"/>
          <p:nvPr/>
        </p:nvSpPr>
        <p:spPr>
          <a:xfrm>
            <a:off x="1024128" y="1280160"/>
            <a:ext cx="7662672" cy="402336"/>
          </a:xfrm>
          <a:prstGeom prst="rect">
            <a:avLst/>
          </a:prstGeom>
          <a:noFill/>
        </p:spPr>
        <p:txBody>
          <a:bodyPr wrap="square" lIns="0" rIns="0" tIns="0" bIns="0" anchor="ctr">
            <a:spAutoFit/>
          </a:bodyPr>
          <a:lstStyle/>
          <a:p>
            <a:pPr algn="l"/>
            <a:r>
              <a:rPr sz="1300" b="0" i="0">
                <a:solidFill>
                  <a:srgbClr val="2B2622"/>
                </a:solidFill>
                <a:latin typeface="Calibri"/>
              </a:rPr>
              <a:t>What is a private key, and what makes one safe to use?</a:t>
            </a:r>
          </a:p>
        </p:txBody>
      </p:sp>
      <p:sp>
        <p:nvSpPr>
          <p:cNvPr id="8" name="Oval 7"/>
          <p:cNvSpPr/>
          <p:nvPr/>
        </p:nvSpPr>
        <p:spPr>
          <a:xfrm>
            <a:off x="457200" y="1810512"/>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2</a:t>
            </a:r>
          </a:p>
        </p:txBody>
      </p:sp>
      <p:sp>
        <p:nvSpPr>
          <p:cNvPr id="9" name="TextBox 8"/>
          <p:cNvSpPr txBox="1"/>
          <p:nvPr/>
        </p:nvSpPr>
        <p:spPr>
          <a:xfrm>
            <a:off x="1024128" y="1810512"/>
            <a:ext cx="7662672" cy="402336"/>
          </a:xfrm>
          <a:prstGeom prst="rect">
            <a:avLst/>
          </a:prstGeom>
          <a:noFill/>
        </p:spPr>
        <p:txBody>
          <a:bodyPr wrap="square" lIns="0" rIns="0" tIns="0" bIns="0" anchor="ctr">
            <a:spAutoFit/>
          </a:bodyPr>
          <a:lstStyle/>
          <a:p>
            <a:pPr algn="l"/>
            <a:r>
              <a:rPr sz="1300" b="0" i="0">
                <a:solidFill>
                  <a:srgbClr val="2B2622"/>
                </a:solidFill>
                <a:latin typeface="Calibri"/>
              </a:rPr>
              <a:t>How does a private key become a public key, and why can it not be reversed?</a:t>
            </a:r>
          </a:p>
        </p:txBody>
      </p:sp>
      <p:sp>
        <p:nvSpPr>
          <p:cNvPr id="10" name="Oval 9"/>
          <p:cNvSpPr/>
          <p:nvPr/>
        </p:nvSpPr>
        <p:spPr>
          <a:xfrm>
            <a:off x="457200" y="2340863"/>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3</a:t>
            </a:r>
          </a:p>
        </p:txBody>
      </p:sp>
      <p:sp>
        <p:nvSpPr>
          <p:cNvPr id="11" name="TextBox 10"/>
          <p:cNvSpPr txBox="1"/>
          <p:nvPr/>
        </p:nvSpPr>
        <p:spPr>
          <a:xfrm>
            <a:off x="1024128" y="2340863"/>
            <a:ext cx="7662672" cy="402336"/>
          </a:xfrm>
          <a:prstGeom prst="rect">
            <a:avLst/>
          </a:prstGeom>
          <a:noFill/>
        </p:spPr>
        <p:txBody>
          <a:bodyPr wrap="square" lIns="0" rIns="0" tIns="0" bIns="0" anchor="ctr">
            <a:spAutoFit/>
          </a:bodyPr>
          <a:lstStyle/>
          <a:p>
            <a:pPr algn="l"/>
            <a:r>
              <a:rPr sz="1300" b="0" i="0">
                <a:solidFill>
                  <a:srgbClr val="2B2622"/>
                </a:solidFill>
                <a:latin typeface="Calibri"/>
              </a:rPr>
              <a:t>How does a public key become a legacy address, and why does it carry a checksum?</a:t>
            </a:r>
          </a:p>
        </p:txBody>
      </p:sp>
      <p:sp>
        <p:nvSpPr>
          <p:cNvPr id="12" name="Oval 11"/>
          <p:cNvSpPr/>
          <p:nvPr/>
        </p:nvSpPr>
        <p:spPr>
          <a:xfrm>
            <a:off x="457200" y="2871215"/>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4</a:t>
            </a:r>
          </a:p>
        </p:txBody>
      </p:sp>
      <p:sp>
        <p:nvSpPr>
          <p:cNvPr id="13" name="TextBox 12"/>
          <p:cNvSpPr txBox="1"/>
          <p:nvPr/>
        </p:nvSpPr>
        <p:spPr>
          <a:xfrm>
            <a:off x="1024128" y="2871215"/>
            <a:ext cx="7662672" cy="402336"/>
          </a:xfrm>
          <a:prstGeom prst="rect">
            <a:avLst/>
          </a:prstGeom>
          <a:noFill/>
        </p:spPr>
        <p:txBody>
          <a:bodyPr wrap="square" lIns="0" rIns="0" tIns="0" bIns="0" anchor="ctr">
            <a:spAutoFit/>
          </a:bodyPr>
          <a:lstStyle/>
          <a:p>
            <a:pPr algn="l"/>
            <a:r>
              <a:rPr sz="1300" b="0" i="0">
                <a:solidFill>
                  <a:srgbClr val="2B2622"/>
                </a:solidFill>
                <a:latin typeface="Calibri"/>
              </a:rPr>
              <a:t>What do P2SH, Bech32 and Bech32m change about addresses?</a:t>
            </a:r>
          </a:p>
        </p:txBody>
      </p:sp>
      <p:sp>
        <p:nvSpPr>
          <p:cNvPr id="14" name="Oval 13"/>
          <p:cNvSpPr/>
          <p:nvPr/>
        </p:nvSpPr>
        <p:spPr>
          <a:xfrm>
            <a:off x="457200" y="3401568"/>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5</a:t>
            </a:r>
          </a:p>
        </p:txBody>
      </p:sp>
      <p:sp>
        <p:nvSpPr>
          <p:cNvPr id="15" name="TextBox 14"/>
          <p:cNvSpPr txBox="1"/>
          <p:nvPr/>
        </p:nvSpPr>
        <p:spPr>
          <a:xfrm>
            <a:off x="1024128" y="3401568"/>
            <a:ext cx="7662672" cy="402336"/>
          </a:xfrm>
          <a:prstGeom prst="rect">
            <a:avLst/>
          </a:prstGeom>
          <a:noFill/>
        </p:spPr>
        <p:txBody>
          <a:bodyPr wrap="square" lIns="0" rIns="0" tIns="0" bIns="0" anchor="ctr">
            <a:spAutoFit/>
          </a:bodyPr>
          <a:lstStyle/>
          <a:p>
            <a:pPr algn="l"/>
            <a:r>
              <a:rPr sz="1300" b="0" i="0">
                <a:solidFill>
                  <a:srgbClr val="2B2622"/>
                </a:solidFill>
                <a:latin typeface="Calibri"/>
              </a:rPr>
              <a:t>How is a private key written down so that a wallet can import it?</a:t>
            </a:r>
          </a:p>
        </p:txBody>
      </p:sp>
      <p:sp>
        <p:nvSpPr>
          <p:cNvPr id="16" name="Oval 15"/>
          <p:cNvSpPr/>
          <p:nvPr/>
        </p:nvSpPr>
        <p:spPr>
          <a:xfrm>
            <a:off x="457200" y="3931920"/>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6</a:t>
            </a:r>
          </a:p>
        </p:txBody>
      </p:sp>
      <p:sp>
        <p:nvSpPr>
          <p:cNvPr id="17" name="TextBox 16"/>
          <p:cNvSpPr txBox="1"/>
          <p:nvPr/>
        </p:nvSpPr>
        <p:spPr>
          <a:xfrm>
            <a:off x="1024128" y="3931920"/>
            <a:ext cx="7662672" cy="402336"/>
          </a:xfrm>
          <a:prstGeom prst="rect">
            <a:avLst/>
          </a:prstGeom>
          <a:noFill/>
        </p:spPr>
        <p:txBody>
          <a:bodyPr wrap="square" lIns="0" rIns="0" tIns="0" bIns="0" anchor="ctr">
            <a:spAutoFit/>
          </a:bodyPr>
          <a:lstStyle/>
          <a:p>
            <a:pPr algn="l"/>
            <a:r>
              <a:rPr sz="1300" b="0" i="0">
                <a:solidFill>
                  <a:srgbClr val="2B2622"/>
                </a:solidFill>
                <a:latin typeface="Calibri"/>
              </a:rPr>
              <a:t>Why can an address be valid and still have no key behind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chapter in one picture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One secret, five steps; the parts of the deck follow them</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Random bits, a key, a point, a hash, an address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 / 47</a:t>
            </a:r>
          </a:p>
        </p:txBody>
      </p:sp>
      <p:sp>
        <p:nvSpPr>
          <p:cNvPr id="8" name="Rounded Rectangle 7"/>
          <p:cNvSpPr/>
          <p:nvPr/>
        </p:nvSpPr>
        <p:spPr>
          <a:xfrm>
            <a:off x="457200" y="1554480"/>
            <a:ext cx="1481328"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1 Entropy</a:t>
            </a:r>
          </a:p>
        </p:txBody>
      </p:sp>
      <p:sp>
        <p:nvSpPr>
          <p:cNvPr id="9" name="TextBox 8"/>
          <p:cNvSpPr txBox="1"/>
          <p:nvPr/>
        </p:nvSpPr>
        <p:spPr>
          <a:xfrm>
            <a:off x="457200" y="2194560"/>
            <a:ext cx="1481328" cy="822960"/>
          </a:xfrm>
          <a:prstGeom prst="rect">
            <a:avLst/>
          </a:prstGeom>
          <a:noFill/>
        </p:spPr>
        <p:txBody>
          <a:bodyPr wrap="square" lIns="0" rIns="0" tIns="0" bIns="0" anchor="t">
            <a:spAutoFit/>
          </a:bodyPr>
          <a:lstStyle/>
          <a:p>
            <a:pPr algn="l"/>
            <a:r>
              <a:rPr sz="1150" b="0" i="0">
                <a:solidFill>
                  <a:srgbClr val="2B2622"/>
                </a:solidFill>
                <a:latin typeface="Calibri"/>
              </a:rPr>
              <a:t>256 random bits, kept secret.</a:t>
            </a:r>
          </a:p>
        </p:txBody>
      </p:sp>
      <p:cxnSp>
        <p:nvCxnSpPr>
          <p:cNvPr id="10" name="Connector 9"/>
          <p:cNvCxnSpPr/>
          <p:nvPr/>
        </p:nvCxnSpPr>
        <p:spPr>
          <a:xfrm>
            <a:off x="1947672" y="1783080"/>
            <a:ext cx="187452"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144268" y="1554480"/>
            <a:ext cx="1481328"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2 Private key k</a:t>
            </a:r>
          </a:p>
        </p:txBody>
      </p:sp>
      <p:sp>
        <p:nvSpPr>
          <p:cNvPr id="12" name="TextBox 11"/>
          <p:cNvSpPr txBox="1"/>
          <p:nvPr/>
        </p:nvSpPr>
        <p:spPr>
          <a:xfrm>
            <a:off x="2144268" y="2194560"/>
            <a:ext cx="1481328" cy="822960"/>
          </a:xfrm>
          <a:prstGeom prst="rect">
            <a:avLst/>
          </a:prstGeom>
          <a:noFill/>
        </p:spPr>
        <p:txBody>
          <a:bodyPr wrap="square" lIns="0" rIns="0" tIns="0" bIns="0" anchor="t">
            <a:spAutoFit/>
          </a:bodyPr>
          <a:lstStyle/>
          <a:p>
            <a:pPr algn="l"/>
            <a:r>
              <a:rPr sz="1150" b="0" i="0">
                <a:solidFill>
                  <a:srgbClr val="2B2622"/>
                </a:solidFill>
                <a:latin typeface="Calibri"/>
              </a:rPr>
              <a:t>A number between 1 and n - 1.</a:t>
            </a:r>
          </a:p>
        </p:txBody>
      </p:sp>
      <p:cxnSp>
        <p:nvCxnSpPr>
          <p:cNvPr id="13" name="Connector 12"/>
          <p:cNvCxnSpPr/>
          <p:nvPr/>
        </p:nvCxnSpPr>
        <p:spPr>
          <a:xfrm>
            <a:off x="3634740" y="1783080"/>
            <a:ext cx="187452"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831336" y="1554480"/>
            <a:ext cx="1481328"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3 Public key K</a:t>
            </a:r>
          </a:p>
        </p:txBody>
      </p:sp>
      <p:sp>
        <p:nvSpPr>
          <p:cNvPr id="15" name="TextBox 14"/>
          <p:cNvSpPr txBox="1"/>
          <p:nvPr/>
        </p:nvSpPr>
        <p:spPr>
          <a:xfrm>
            <a:off x="3831336" y="2194560"/>
            <a:ext cx="1481328" cy="822960"/>
          </a:xfrm>
          <a:prstGeom prst="rect">
            <a:avLst/>
          </a:prstGeom>
          <a:noFill/>
        </p:spPr>
        <p:txBody>
          <a:bodyPr wrap="square" lIns="0" rIns="0" tIns="0" bIns="0" anchor="t">
            <a:spAutoFit/>
          </a:bodyPr>
          <a:lstStyle/>
          <a:p>
            <a:pPr algn="l"/>
            <a:r>
              <a:rPr sz="1150" b="0" i="0">
                <a:solidFill>
                  <a:srgbClr val="2B2622"/>
                </a:solidFill>
                <a:latin typeface="Calibri"/>
              </a:rPr>
              <a:t>The point k times G.</a:t>
            </a:r>
          </a:p>
        </p:txBody>
      </p:sp>
      <p:cxnSp>
        <p:nvCxnSpPr>
          <p:cNvPr id="16" name="Connector 15"/>
          <p:cNvCxnSpPr/>
          <p:nvPr/>
        </p:nvCxnSpPr>
        <p:spPr>
          <a:xfrm>
            <a:off x="5321808" y="1783080"/>
            <a:ext cx="187452"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518404" y="1554480"/>
            <a:ext cx="1481328"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4 HASH160</a:t>
            </a:r>
          </a:p>
        </p:txBody>
      </p:sp>
      <p:sp>
        <p:nvSpPr>
          <p:cNvPr id="18" name="TextBox 17"/>
          <p:cNvSpPr txBox="1"/>
          <p:nvPr/>
        </p:nvSpPr>
        <p:spPr>
          <a:xfrm>
            <a:off x="5518404" y="2194560"/>
            <a:ext cx="1481328" cy="822960"/>
          </a:xfrm>
          <a:prstGeom prst="rect">
            <a:avLst/>
          </a:prstGeom>
          <a:noFill/>
        </p:spPr>
        <p:txBody>
          <a:bodyPr wrap="square" lIns="0" rIns="0" tIns="0" bIns="0" anchor="t">
            <a:spAutoFit/>
          </a:bodyPr>
          <a:lstStyle/>
          <a:p>
            <a:pPr algn="l"/>
            <a:r>
              <a:rPr sz="1150" b="0" i="0">
                <a:solidFill>
                  <a:srgbClr val="2B2622"/>
                </a:solidFill>
                <a:latin typeface="Calibri"/>
              </a:rPr>
              <a:t>SHA256, then RIPEMD-160: 20 bytes.</a:t>
            </a:r>
          </a:p>
        </p:txBody>
      </p:sp>
      <p:cxnSp>
        <p:nvCxnSpPr>
          <p:cNvPr id="19" name="Connector 18"/>
          <p:cNvCxnSpPr/>
          <p:nvPr/>
        </p:nvCxnSpPr>
        <p:spPr>
          <a:xfrm>
            <a:off x="7008876" y="1783080"/>
            <a:ext cx="187452"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05472" y="1554480"/>
            <a:ext cx="1481328" cy="457200"/>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5 Address</a:t>
            </a:r>
          </a:p>
        </p:txBody>
      </p:sp>
      <p:sp>
        <p:nvSpPr>
          <p:cNvPr id="21" name="TextBox 20"/>
          <p:cNvSpPr txBox="1"/>
          <p:nvPr/>
        </p:nvSpPr>
        <p:spPr>
          <a:xfrm>
            <a:off x="7205472" y="2194560"/>
            <a:ext cx="1481328" cy="822960"/>
          </a:xfrm>
          <a:prstGeom prst="rect">
            <a:avLst/>
          </a:prstGeom>
          <a:noFill/>
        </p:spPr>
        <p:txBody>
          <a:bodyPr wrap="square" lIns="0" rIns="0" tIns="0" bIns="0" anchor="t">
            <a:spAutoFit/>
          </a:bodyPr>
          <a:lstStyle/>
          <a:p>
            <a:pPr algn="l"/>
            <a:r>
              <a:rPr sz="1150" b="0" i="0">
                <a:solidFill>
                  <a:srgbClr val="2B2622"/>
                </a:solidFill>
                <a:latin typeface="Calibri"/>
              </a:rPr>
              <a:t>Version, hash and checksum in text.</a:t>
            </a:r>
          </a:p>
        </p:txBody>
      </p:sp>
      <p:sp>
        <p:nvSpPr>
          <p:cNvPr id="22" name="Rounded Rectangle 21"/>
          <p:cNvSpPr/>
          <p:nvPr/>
        </p:nvSpPr>
        <p:spPr>
          <a:xfrm>
            <a:off x="457200" y="3291840"/>
            <a:ext cx="8229600" cy="82296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r>
              <a:rPr sz="1400" b="0" i="0">
                <a:solidFill>
                  <a:srgbClr val="6E655C"/>
                </a:solidFill>
                <a:latin typeface="Calibri"/>
              </a:rPr>
              <a:t>Every step runs forward easily and backwards never: you can always compute the next stage, but you cannot recover the one before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Public Key Cryptography</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From one secret number to a point that nobody can run backwards</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Private Keys</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secret 256-bit number; whoever knows it can spend the coins.</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the one key to your front door.</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Public Keys</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point on the curve computed from the private key; safe to publish.</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the lock on your door: everyone can see it.</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secp256k1</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The curve y squared equals x cubed plus 7 that Bitcoin uses.</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the one game board that every player agrees on.</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609344"/>
                <a:gridCol w="1609344"/>
                <a:gridCol w="1609344"/>
                <a:gridCol w="1609344"/>
                <a:gridCol w="1609344"/>
              </a:tblGrid>
              <a:tr h="365760">
                <a:tc>
                  <a:txBody>
                    <a:bodyPr/>
                    <a:lstStyle/>
                    <a:p>
                      <a:pPr algn="ctr"/>
                      <a:r>
                        <a:rPr sz="1000" b="1">
                          <a:solidFill>
                            <a:srgbClr val="FFFFFF"/>
                          </a:solidFill>
                          <a:latin typeface="Calibri"/>
                        </a:rPr>
                        <a:t>Keys</a:t>
                      </a:r>
                    </a:p>
                  </a:txBody>
                  <a:tcPr marL="54864" marR="54864" marT="27432" marB="27432" anchor="ctr">
                    <a:solidFill>
                      <a:srgbClr val="D97A14"/>
                    </a:solidFill>
                  </a:tcPr>
                </a:tc>
                <a:tc>
                  <a:txBody>
                    <a:bodyPr/>
                    <a:lstStyle/>
                    <a:p>
                      <a:pPr algn="ctr"/>
                      <a:r>
                        <a:rPr sz="1000" b="0">
                          <a:solidFill>
                            <a:srgbClr val="6E655C"/>
                          </a:solidFill>
                          <a:latin typeface="Calibri"/>
                        </a:rPr>
                        <a:t>Legacy</a:t>
                      </a:r>
                    </a:p>
                  </a:txBody>
                  <a:tcPr marL="54864" marR="54864" marT="27432" marB="27432" anchor="ctr">
                    <a:solidFill>
                      <a:srgbClr val="F2ECE1"/>
                    </a:solidFill>
                  </a:tcPr>
                </a:tc>
                <a:tc>
                  <a:txBody>
                    <a:bodyPr/>
                    <a:lstStyle/>
                    <a:p>
                      <a:pPr algn="ctr"/>
                      <a:r>
                        <a:rPr sz="1000" b="0">
                          <a:solidFill>
                            <a:srgbClr val="6E655C"/>
                          </a:solidFill>
                          <a:latin typeface="Calibri"/>
                        </a:rPr>
                        <a:t>Bech32</a:t>
                      </a:r>
                    </a:p>
                  </a:txBody>
                  <a:tcPr marL="54864" marR="54864" marT="27432" marB="27432" anchor="ctr">
                    <a:solidFill>
                      <a:srgbClr val="F2ECE1"/>
                    </a:solidFill>
                  </a:tcPr>
                </a:tc>
                <a:tc>
                  <a:txBody>
                    <a:bodyPr/>
                    <a:lstStyle/>
                    <a:p>
                      <a:pPr algn="ctr"/>
                      <a:r>
                        <a:rPr sz="1000" b="0">
                          <a:solidFill>
                            <a:srgbClr val="6E655C"/>
                          </a:solidFill>
                          <a:latin typeface="Calibri"/>
                        </a:rPr>
                        <a:t>Formats</a:t>
                      </a:r>
                    </a:p>
                  </a:txBody>
                  <a:tcPr marL="54864" marR="54864" marT="27432" marB="27432" anchor="ctr">
                    <a:solidFill>
                      <a:srgbClr val="F2ECE1"/>
                    </a:solidFill>
                  </a:tcPr>
                </a:tc>
                <a:tc>
                  <a:txBody>
                    <a:bodyPr/>
                    <a:lstStyle/>
                    <a:p>
                      <a:pPr algn="ctr"/>
                      <a:r>
                        <a:rPr sz="1000" b="0">
                          <a:solidFill>
                            <a:srgbClr val="6E655C"/>
                          </a:solidFill>
                          <a:latin typeface="Calibri"/>
                        </a:rPr>
                        <a:t>Advanced</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5 / 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Keys: concepts, with everyday pictures (1 of 2)</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6 / 47</a:t>
            </a:r>
          </a:p>
        </p:txBody>
      </p:sp>
      <p:graphicFrame>
        <p:nvGraphicFramePr>
          <p:cNvPr id="8" name="Table 7"/>
          <p:cNvGraphicFramePr>
            <a:graphicFrameLocks noGrp="1"/>
          </p:cNvGraphicFramePr>
          <p:nvPr/>
        </p:nvGraphicFramePr>
        <p:xfrm>
          <a:off x="457200" y="1280160"/>
          <a:ext cx="8229600" cy="2944368"/>
        </p:xfrm>
        <a:graphic>
          <a:graphicData uri="http://schemas.openxmlformats.org/drawingml/2006/table">
            <a:tbl>
              <a:tblPr firstRow="1" bandRow="1">
                <a:tableStyleId>{5C22544A-7EE6-4342-B048-85BDC9FD1C3A}</a:tableStyleId>
              </a:tblPr>
              <a:tblGrid>
                <a:gridCol w="2103120"/>
                <a:gridCol w="3108960"/>
                <a:gridCol w="3017520"/>
              </a:tblGrid>
              <a:tr h="420624">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20624">
                <a:tc>
                  <a:txBody>
                    <a:bodyPr/>
                    <a:lstStyle/>
                    <a:p>
                      <a:pPr algn="l"/>
                      <a:r>
                        <a:rPr sz="1100" b="0">
                          <a:solidFill>
                            <a:srgbClr val="2B2622"/>
                          </a:solidFill>
                          <a:latin typeface="Calibri"/>
                        </a:rPr>
                        <a:t>Keys and Addresses</a:t>
                      </a:r>
                    </a:p>
                  </a:txBody>
                  <a:tcPr marL="54864" marR="54864" marT="27432" marB="27432" anchor="ctr">
                    <a:solidFill>
                      <a:srgbClr val="FFFFFF"/>
                    </a:solidFill>
                  </a:tcPr>
                </a:tc>
                <a:tc>
                  <a:txBody>
                    <a:bodyPr/>
                    <a:lstStyle/>
                    <a:p>
                      <a:pPr algn="l"/>
                      <a:r>
                        <a:rPr sz="1100" b="0">
                          <a:solidFill>
                            <a:srgbClr val="2B2622"/>
                          </a:solidFill>
                          <a:latin typeface="Calibri"/>
                        </a:rPr>
                        <a:t>The secret numbers that control coins, and the public names that receive them.</a:t>
                      </a:r>
                    </a:p>
                  </a:txBody>
                  <a:tcPr marL="54864" marR="54864" marT="27432" marB="27432" anchor="ctr">
                    <a:solidFill>
                      <a:srgbClr val="FFFFFF"/>
                    </a:solidFill>
                  </a:tcPr>
                </a:tc>
                <a:tc>
                  <a:txBody>
                    <a:bodyPr/>
                    <a:lstStyle/>
                    <a:p>
                      <a:pPr algn="l"/>
                      <a:r>
                        <a:rPr sz="1100" b="0">
                          <a:solidFill>
                            <a:srgbClr val="2B2622"/>
                          </a:solidFill>
                          <a:latin typeface="Calibri"/>
                        </a:rPr>
                        <a:t>A house key and the street address on the door.</a:t>
                      </a:r>
                    </a:p>
                  </a:txBody>
                  <a:tcPr marL="54864" marR="54864" marT="27432" marB="27432" anchor="ctr">
                    <a:solidFill>
                      <a:srgbClr val="FFFFFF"/>
                    </a:solidFill>
                  </a:tcPr>
                </a:tc>
              </a:tr>
              <a:tr h="420624">
                <a:tc>
                  <a:txBody>
                    <a:bodyPr/>
                    <a:lstStyle/>
                    <a:p>
                      <a:pPr algn="l"/>
                      <a:r>
                        <a:rPr sz="1100" b="0">
                          <a:solidFill>
                            <a:srgbClr val="2B2622"/>
                          </a:solidFill>
                          <a:latin typeface="Calibri"/>
                        </a:rPr>
                        <a:t>Public Key Cryptography</a:t>
                      </a:r>
                    </a:p>
                  </a:txBody>
                  <a:tcPr marL="54864" marR="54864" marT="27432" marB="27432" anchor="ctr">
                    <a:solidFill>
                      <a:srgbClr val="F2ECE1"/>
                    </a:solidFill>
                  </a:tcPr>
                </a:tc>
                <a:tc>
                  <a:txBody>
                    <a:bodyPr/>
                    <a:lstStyle/>
                    <a:p>
                      <a:pPr algn="l"/>
                      <a:r>
                        <a:rPr sz="1100" b="0">
                          <a:solidFill>
                            <a:srgbClr val="2B2622"/>
                          </a:solidFill>
                          <a:latin typeface="Calibri"/>
                        </a:rPr>
                        <a:t>Two linked keys: one stays secret, the other can be shared with everyone.</a:t>
                      </a:r>
                    </a:p>
                  </a:txBody>
                  <a:tcPr marL="54864" marR="54864" marT="27432" marB="27432" anchor="ctr">
                    <a:solidFill>
                      <a:srgbClr val="F2ECE1"/>
                    </a:solidFill>
                  </a:tcPr>
                </a:tc>
                <a:tc>
                  <a:txBody>
                    <a:bodyPr/>
                    <a:lstStyle/>
                    <a:p>
                      <a:pPr algn="l"/>
                      <a:r>
                        <a:rPr sz="1100" b="0">
                          <a:solidFill>
                            <a:srgbClr val="2B2622"/>
                          </a:solidFill>
                          <a:latin typeface="Calibri"/>
                        </a:rPr>
                        <a:t>A padlock anyone can snap shut but only you can open.</a:t>
                      </a:r>
                    </a:p>
                  </a:txBody>
                  <a:tcPr marL="54864" marR="54864" marT="27432" marB="27432" anchor="ctr">
                    <a:solidFill>
                      <a:srgbClr val="F2ECE1"/>
                    </a:solidFill>
                  </a:tcPr>
                </a:tc>
              </a:tr>
              <a:tr h="420624">
                <a:tc>
                  <a:txBody>
                    <a:bodyPr/>
                    <a:lstStyle/>
                    <a:p>
                      <a:pPr algn="l"/>
                      <a:r>
                        <a:rPr sz="1100" b="0">
                          <a:solidFill>
                            <a:srgbClr val="2B2622"/>
                          </a:solidFill>
                          <a:latin typeface="Calibri"/>
                        </a:rPr>
                        <a:t>Private Keys</a:t>
                      </a:r>
                    </a:p>
                  </a:txBody>
                  <a:tcPr marL="54864" marR="54864" marT="27432" marB="27432" anchor="ctr">
                    <a:solidFill>
                      <a:srgbClr val="FFFFFF"/>
                    </a:solidFill>
                  </a:tcPr>
                </a:tc>
                <a:tc>
                  <a:txBody>
                    <a:bodyPr/>
                    <a:lstStyle/>
                    <a:p>
                      <a:pPr algn="l"/>
                      <a:r>
                        <a:rPr sz="1100" b="0">
                          <a:solidFill>
                            <a:srgbClr val="2B2622"/>
                          </a:solidFill>
                          <a:latin typeface="Calibri"/>
                        </a:rPr>
                        <a:t>A secret 256-bit number; whoever knows it can spend the coins.</a:t>
                      </a:r>
                    </a:p>
                  </a:txBody>
                  <a:tcPr marL="54864" marR="54864" marT="27432" marB="27432" anchor="ctr">
                    <a:solidFill>
                      <a:srgbClr val="FFFFFF"/>
                    </a:solidFill>
                  </a:tcPr>
                </a:tc>
                <a:tc>
                  <a:txBody>
                    <a:bodyPr/>
                    <a:lstStyle/>
                    <a:p>
                      <a:pPr algn="l"/>
                      <a:r>
                        <a:rPr sz="1100" b="0">
                          <a:solidFill>
                            <a:srgbClr val="2B2622"/>
                          </a:solidFill>
                          <a:latin typeface="Calibri"/>
                        </a:rPr>
                        <a:t>The one key to your front door.</a:t>
                      </a:r>
                    </a:p>
                  </a:txBody>
                  <a:tcPr marL="54864" marR="54864" marT="27432" marB="27432" anchor="ctr">
                    <a:solidFill>
                      <a:srgbClr val="FFFFFF"/>
                    </a:solidFill>
                  </a:tcPr>
                </a:tc>
              </a:tr>
              <a:tr h="420624">
                <a:tc>
                  <a:txBody>
                    <a:bodyPr/>
                    <a:lstStyle/>
                    <a:p>
                      <a:pPr algn="l"/>
                      <a:r>
                        <a:rPr sz="1100" b="0">
                          <a:solidFill>
                            <a:srgbClr val="2B2622"/>
                          </a:solidFill>
                          <a:latin typeface="Calibri"/>
                        </a:rPr>
                        <a:t>Public Keys</a:t>
                      </a:r>
                    </a:p>
                  </a:txBody>
                  <a:tcPr marL="54864" marR="54864" marT="27432" marB="27432" anchor="ctr">
                    <a:solidFill>
                      <a:srgbClr val="F2ECE1"/>
                    </a:solidFill>
                  </a:tcPr>
                </a:tc>
                <a:tc>
                  <a:txBody>
                    <a:bodyPr/>
                    <a:lstStyle/>
                    <a:p>
                      <a:pPr algn="l"/>
                      <a:r>
                        <a:rPr sz="1100" b="0">
                          <a:solidFill>
                            <a:srgbClr val="2B2622"/>
                          </a:solidFill>
                          <a:latin typeface="Calibri"/>
                        </a:rPr>
                        <a:t>A point on the curve computed from the private key; safe to publish.</a:t>
                      </a:r>
                    </a:p>
                  </a:txBody>
                  <a:tcPr marL="54864" marR="54864" marT="27432" marB="27432" anchor="ctr">
                    <a:solidFill>
                      <a:srgbClr val="F2ECE1"/>
                    </a:solidFill>
                  </a:tcPr>
                </a:tc>
                <a:tc>
                  <a:txBody>
                    <a:bodyPr/>
                    <a:lstStyle/>
                    <a:p>
                      <a:pPr algn="l"/>
                      <a:r>
                        <a:rPr sz="1100" b="0">
                          <a:solidFill>
                            <a:srgbClr val="2B2622"/>
                          </a:solidFill>
                          <a:latin typeface="Calibri"/>
                        </a:rPr>
                        <a:t>The lock on your door: everyone can see it.</a:t>
                      </a:r>
                    </a:p>
                  </a:txBody>
                  <a:tcPr marL="54864" marR="54864" marT="27432" marB="27432" anchor="ctr">
                    <a:solidFill>
                      <a:srgbClr val="F2ECE1"/>
                    </a:solidFill>
                  </a:tcPr>
                </a:tc>
              </a:tr>
              <a:tr h="420624">
                <a:tc>
                  <a:txBody>
                    <a:bodyPr/>
                    <a:lstStyle/>
                    <a:p>
                      <a:pPr algn="l"/>
                      <a:r>
                        <a:rPr sz="1100" b="0">
                          <a:solidFill>
                            <a:srgbClr val="2B2622"/>
                          </a:solidFill>
                          <a:latin typeface="Calibri"/>
                        </a:rPr>
                        <a:t>key pair</a:t>
                      </a:r>
                    </a:p>
                  </a:txBody>
                  <a:tcPr marL="54864" marR="54864" marT="27432" marB="27432" anchor="ctr">
                    <a:solidFill>
                      <a:srgbClr val="FFFFFF"/>
                    </a:solidFill>
                  </a:tcPr>
                </a:tc>
                <a:tc>
                  <a:txBody>
                    <a:bodyPr/>
                    <a:lstStyle/>
                    <a:p>
                      <a:pPr algn="l"/>
                      <a:r>
                        <a:rPr sz="1100" b="0">
                          <a:solidFill>
                            <a:srgbClr val="2B2622"/>
                          </a:solidFill>
                          <a:latin typeface="Calibri"/>
                        </a:rPr>
                        <a:t>A private key together with the public key computed from it.</a:t>
                      </a:r>
                    </a:p>
                  </a:txBody>
                  <a:tcPr marL="54864" marR="54864" marT="27432" marB="27432" anchor="ctr">
                    <a:solidFill>
                      <a:srgbClr val="FFFFFF"/>
                    </a:solidFill>
                  </a:tcPr>
                </a:tc>
                <a:tc>
                  <a:txBody>
                    <a:bodyPr/>
                    <a:lstStyle/>
                    <a:p>
                      <a:pPr algn="l"/>
                      <a:r>
                        <a:rPr sz="1100" b="0">
                          <a:solidFill>
                            <a:srgbClr val="2B2622"/>
                          </a:solidFill>
                          <a:latin typeface="Calibri"/>
                        </a:rPr>
                        <a:t>A key and the one lock it fits.</a:t>
                      </a:r>
                    </a:p>
                  </a:txBody>
                  <a:tcPr marL="54864" marR="54864" marT="27432" marB="27432" anchor="ctr">
                    <a:solidFill>
                      <a:srgbClr val="FFFFFF"/>
                    </a:solidFill>
                  </a:tcPr>
                </a:tc>
              </a:tr>
              <a:tr h="420624">
                <a:tc>
                  <a:txBody>
                    <a:bodyPr/>
                    <a:lstStyle/>
                    <a:p>
                      <a:pPr algn="l"/>
                      <a:r>
                        <a:rPr sz="1100" b="0">
                          <a:solidFill>
                            <a:srgbClr val="2B2622"/>
                          </a:solidFill>
                          <a:latin typeface="Calibri"/>
                        </a:rPr>
                        <a:t>entropy</a:t>
                      </a:r>
                    </a:p>
                  </a:txBody>
                  <a:tcPr marL="54864" marR="54864" marT="27432" marB="27432" anchor="ctr">
                    <a:solidFill>
                      <a:srgbClr val="F2ECE1"/>
                    </a:solidFill>
                  </a:tcPr>
                </a:tc>
                <a:tc>
                  <a:txBody>
                    <a:bodyPr/>
                    <a:lstStyle/>
                    <a:p>
                      <a:pPr algn="l"/>
                      <a:r>
                        <a:rPr sz="1100" b="0">
                          <a:solidFill>
                            <a:srgbClr val="2B2622"/>
                          </a:solidFill>
                          <a:latin typeface="Calibri"/>
                        </a:rPr>
                        <a:t>How unpredictable a secret is, counted in bits.</a:t>
                      </a:r>
                    </a:p>
                  </a:txBody>
                  <a:tcPr marL="54864" marR="54864" marT="27432" marB="27432" anchor="ctr">
                    <a:solidFill>
                      <a:srgbClr val="F2ECE1"/>
                    </a:solidFill>
                  </a:tcPr>
                </a:tc>
                <a:tc>
                  <a:txBody>
                    <a:bodyPr/>
                    <a:lstStyle/>
                    <a:p>
                      <a:pPr algn="l"/>
                      <a:r>
                        <a:rPr sz="1100" b="0">
                          <a:solidFill>
                            <a:srgbClr val="2B2622"/>
                          </a:solidFill>
                          <a:latin typeface="Calibri"/>
                        </a:rPr>
                        <a:t>The dice rolls a thief would have to guess.</a:t>
                      </a:r>
                    </a:p>
                  </a:txBody>
                  <a:tcPr marL="54864" marR="54864" marT="27432" marB="27432" anchor="ctr">
                    <a:solidFill>
                      <a:srgbClr val="F2ECE1"/>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Keys: concepts, with everyday pictures (2 of 2)</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7 / 47</a:t>
            </a:r>
          </a:p>
        </p:txBody>
      </p:sp>
      <p:graphicFrame>
        <p:nvGraphicFramePr>
          <p:cNvPr id="8" name="Table 7"/>
          <p:cNvGraphicFramePr>
            <a:graphicFrameLocks noGrp="1"/>
          </p:cNvGraphicFramePr>
          <p:nvPr/>
        </p:nvGraphicFramePr>
        <p:xfrm>
          <a:off x="457200" y="1280160"/>
          <a:ext cx="8229600" cy="2743200"/>
        </p:xfrm>
        <a:graphic>
          <a:graphicData uri="http://schemas.openxmlformats.org/drawingml/2006/table">
            <a:tbl>
              <a:tblPr firstRow="1" bandRow="1">
                <a:tableStyleId>{5C22544A-7EE6-4342-B048-85BDC9FD1C3A}</a:tableStyleId>
              </a:tblPr>
              <a:tblGrid>
                <a:gridCol w="2103120"/>
                <a:gridCol w="3108960"/>
                <a:gridCol w="3017520"/>
              </a:tblGrid>
              <a:tr h="457200">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57200">
                <a:tc>
                  <a:txBody>
                    <a:bodyPr/>
                    <a:lstStyle/>
                    <a:p>
                      <a:pPr algn="l"/>
                      <a:r>
                        <a:rPr sz="1100" b="0">
                          <a:solidFill>
                            <a:srgbClr val="2B2622"/>
                          </a:solidFill>
                          <a:latin typeface="Calibri"/>
                        </a:rPr>
                        <a:t>Elliptic Curve Cryptography Explained</a:t>
                      </a:r>
                    </a:p>
                  </a:txBody>
                  <a:tcPr marL="54864" marR="54864" marT="27432" marB="27432" anchor="ctr">
                    <a:solidFill>
                      <a:srgbClr val="FFFFFF"/>
                    </a:solidFill>
                  </a:tcPr>
                </a:tc>
                <a:tc>
                  <a:txBody>
                    <a:bodyPr/>
                    <a:lstStyle/>
                    <a:p>
                      <a:pPr algn="l"/>
                      <a:r>
                        <a:rPr sz="1100" b="0">
                          <a:solidFill>
                            <a:srgbClr val="2B2622"/>
                          </a:solidFill>
                          <a:latin typeface="Calibri"/>
                        </a:rPr>
                        <a:t>Keys built from points on a curve and a multiplication that cannot be undone.</a:t>
                      </a:r>
                    </a:p>
                  </a:txBody>
                  <a:tcPr marL="54864" marR="54864" marT="27432" marB="27432" anchor="ctr">
                    <a:solidFill>
                      <a:srgbClr val="FFFFFF"/>
                    </a:solidFill>
                  </a:tcPr>
                </a:tc>
                <a:tc>
                  <a:txBody>
                    <a:bodyPr/>
                    <a:lstStyle/>
                    <a:p>
                      <a:pPr algn="l"/>
                      <a:r>
                        <a:rPr sz="1100" b="0">
                          <a:solidFill>
                            <a:srgbClr val="2B2622"/>
                          </a:solidFill>
                          <a:latin typeface="Calibri"/>
                        </a:rPr>
                        <a:t>Stirring milk into coffee: easy to do, hopeless to undo.</a:t>
                      </a:r>
                    </a:p>
                  </a:txBody>
                  <a:tcPr marL="54864" marR="54864" marT="27432" marB="27432" anchor="ctr">
                    <a:solidFill>
                      <a:srgbClr val="FFFFFF"/>
                    </a:solidFill>
                  </a:tcPr>
                </a:tc>
              </a:tr>
              <a:tr h="457200">
                <a:tc>
                  <a:txBody>
                    <a:bodyPr/>
                    <a:lstStyle/>
                    <a:p>
                      <a:pPr algn="l"/>
                      <a:r>
                        <a:rPr sz="1100" b="0">
                          <a:solidFill>
                            <a:srgbClr val="2B2622"/>
                          </a:solidFill>
                          <a:latin typeface="Calibri"/>
                        </a:rPr>
                        <a:t>secp256k1</a:t>
                      </a:r>
                    </a:p>
                  </a:txBody>
                  <a:tcPr marL="54864" marR="54864" marT="27432" marB="27432" anchor="ctr">
                    <a:solidFill>
                      <a:srgbClr val="F2ECE1"/>
                    </a:solidFill>
                  </a:tcPr>
                </a:tc>
                <a:tc>
                  <a:txBody>
                    <a:bodyPr/>
                    <a:lstStyle/>
                    <a:p>
                      <a:pPr algn="l"/>
                      <a:r>
                        <a:rPr sz="1100" b="0">
                          <a:solidFill>
                            <a:srgbClr val="2B2622"/>
                          </a:solidFill>
                          <a:latin typeface="Calibri"/>
                        </a:rPr>
                        <a:t>The curve y squared equals x cubed plus 7 that Bitcoin uses.</a:t>
                      </a:r>
                    </a:p>
                  </a:txBody>
                  <a:tcPr marL="54864" marR="54864" marT="27432" marB="27432" anchor="ctr">
                    <a:solidFill>
                      <a:srgbClr val="F2ECE1"/>
                    </a:solidFill>
                  </a:tcPr>
                </a:tc>
                <a:tc>
                  <a:txBody>
                    <a:bodyPr/>
                    <a:lstStyle/>
                    <a:p>
                      <a:pPr algn="l"/>
                      <a:r>
                        <a:rPr sz="1100" b="0">
                          <a:solidFill>
                            <a:srgbClr val="2B2622"/>
                          </a:solidFill>
                          <a:latin typeface="Calibri"/>
                        </a:rPr>
                        <a:t>The one game board that every player agrees on.</a:t>
                      </a:r>
                    </a:p>
                  </a:txBody>
                  <a:tcPr marL="54864" marR="54864" marT="27432" marB="27432" anchor="ctr">
                    <a:solidFill>
                      <a:srgbClr val="F2ECE1"/>
                    </a:solidFill>
                  </a:tcPr>
                </a:tc>
              </a:tr>
              <a:tr h="457200">
                <a:tc>
                  <a:txBody>
                    <a:bodyPr/>
                    <a:lstStyle/>
                    <a:p>
                      <a:pPr algn="l"/>
                      <a:r>
                        <a:rPr sz="1100" b="0">
                          <a:solidFill>
                            <a:srgbClr val="2B2622"/>
                          </a:solidFill>
                          <a:latin typeface="Calibri"/>
                        </a:rPr>
                        <a:t>generator point</a:t>
                      </a:r>
                    </a:p>
                  </a:txBody>
                  <a:tcPr marL="54864" marR="54864" marT="27432" marB="27432" anchor="ctr">
                    <a:solidFill>
                      <a:srgbClr val="FFFFFF"/>
                    </a:solidFill>
                  </a:tcPr>
                </a:tc>
                <a:tc>
                  <a:txBody>
                    <a:bodyPr/>
                    <a:lstStyle/>
                    <a:p>
                      <a:pPr algn="l"/>
                      <a:r>
                        <a:rPr sz="1100" b="0">
                          <a:solidFill>
                            <a:srgbClr val="2B2622"/>
                          </a:solidFill>
                          <a:latin typeface="Calibri"/>
                        </a:rPr>
                        <a:t>The fixed point G from which every public key is counted.</a:t>
                      </a:r>
                    </a:p>
                  </a:txBody>
                  <a:tcPr marL="54864" marR="54864" marT="27432" marB="27432" anchor="ctr">
                    <a:solidFill>
                      <a:srgbClr val="FFFFFF"/>
                    </a:solidFill>
                  </a:tcPr>
                </a:tc>
                <a:tc>
                  <a:txBody>
                    <a:bodyPr/>
                    <a:lstStyle/>
                    <a:p>
                      <a:pPr algn="l"/>
                      <a:r>
                        <a:rPr sz="1100" b="0">
                          <a:solidFill>
                            <a:srgbClr val="2B2622"/>
                          </a:solidFill>
                          <a:latin typeface="Calibri"/>
                        </a:rPr>
                        <a:t>The starting square of a board game.</a:t>
                      </a:r>
                    </a:p>
                  </a:txBody>
                  <a:tcPr marL="54864" marR="54864" marT="27432" marB="27432" anchor="ctr">
                    <a:solidFill>
                      <a:srgbClr val="FFFFFF"/>
                    </a:solidFill>
                  </a:tcPr>
                </a:tc>
              </a:tr>
              <a:tr h="457200">
                <a:tc>
                  <a:txBody>
                    <a:bodyPr/>
                    <a:lstStyle/>
                    <a:p>
                      <a:pPr algn="l"/>
                      <a:r>
                        <a:rPr sz="1100" b="0">
                          <a:solidFill>
                            <a:srgbClr val="2B2622"/>
                          </a:solidFill>
                          <a:latin typeface="Calibri"/>
                        </a:rPr>
                        <a:t>point at infinity</a:t>
                      </a:r>
                    </a:p>
                  </a:txBody>
                  <a:tcPr marL="54864" marR="54864" marT="27432" marB="27432" anchor="ctr">
                    <a:solidFill>
                      <a:srgbClr val="F2ECE1"/>
                    </a:solidFill>
                  </a:tcPr>
                </a:tc>
                <a:tc>
                  <a:txBody>
                    <a:bodyPr/>
                    <a:lstStyle/>
                    <a:p>
                      <a:pPr algn="l"/>
                      <a:r>
                        <a:rPr sz="1100" b="0">
                          <a:solidFill>
                            <a:srgbClr val="2B2622"/>
                          </a:solidFill>
                          <a:latin typeface="Calibri"/>
                        </a:rPr>
                        <a:t>The zero of the curve: adding it to a point changes nothing.</a:t>
                      </a:r>
                    </a:p>
                  </a:txBody>
                  <a:tcPr marL="54864" marR="54864" marT="27432" marB="27432" anchor="ctr">
                    <a:solidFill>
                      <a:srgbClr val="F2ECE1"/>
                    </a:solidFill>
                  </a:tcPr>
                </a:tc>
                <a:tc>
                  <a:txBody>
                    <a:bodyPr/>
                    <a:lstStyle/>
                    <a:p>
                      <a:pPr algn="l"/>
                      <a:r>
                        <a:rPr sz="1100" b="0">
                          <a:solidFill>
                            <a:srgbClr val="2B2622"/>
                          </a:solidFill>
                          <a:latin typeface="Calibri"/>
                        </a:rPr>
                        <a:t>Zero on a number line.</a:t>
                      </a:r>
                    </a:p>
                  </a:txBody>
                  <a:tcPr marL="54864" marR="54864" marT="27432" marB="27432" anchor="ctr">
                    <a:solidFill>
                      <a:srgbClr val="F2ECE1"/>
                    </a:solidFill>
                  </a:tcPr>
                </a:tc>
              </a:tr>
              <a:tr h="457200">
                <a:tc>
                  <a:txBody>
                    <a:bodyPr/>
                    <a:lstStyle/>
                    <a:p>
                      <a:pPr algn="l"/>
                      <a:r>
                        <a:rPr sz="1100" b="0">
                          <a:solidFill>
                            <a:srgbClr val="2B2622"/>
                          </a:solidFill>
                          <a:latin typeface="Calibri"/>
                        </a:rPr>
                        <a:t>elliptic curve multiplication</a:t>
                      </a:r>
                    </a:p>
                  </a:txBody>
                  <a:tcPr marL="54864" marR="54864" marT="27432" marB="27432" anchor="ctr">
                    <a:solidFill>
                      <a:srgbClr val="FFFFFF"/>
                    </a:solidFill>
                  </a:tcPr>
                </a:tc>
                <a:tc>
                  <a:txBody>
                    <a:bodyPr/>
                    <a:lstStyle/>
                    <a:p>
                      <a:pPr algn="l"/>
                      <a:r>
                        <a:rPr sz="1100" b="0">
                          <a:solidFill>
                            <a:srgbClr val="2B2622"/>
                          </a:solidFill>
                          <a:latin typeface="Calibri"/>
                        </a:rPr>
                        <a:t>Adding a point to itself k times, done fast by doubling.</a:t>
                      </a:r>
                    </a:p>
                  </a:txBody>
                  <a:tcPr marL="54864" marR="54864" marT="27432" marB="27432" anchor="ctr">
                    <a:solidFill>
                      <a:srgbClr val="FFFFFF"/>
                    </a:solidFill>
                  </a:tcPr>
                </a:tc>
                <a:tc>
                  <a:txBody>
                    <a:bodyPr/>
                    <a:lstStyle/>
                    <a:p>
                      <a:pPr algn="l"/>
                      <a:r>
                        <a:rPr sz="1100" b="0">
                          <a:solidFill>
                            <a:srgbClr val="2B2622"/>
                          </a:solidFill>
                          <a:latin typeface="Calibri"/>
                        </a:rPr>
                        <a:t>Folding paper: eight folds make 256 layers.</a:t>
                      </a:r>
                    </a:p>
                  </a:txBody>
                  <a:tcPr marL="54864" marR="54864" marT="27432" marB="27432"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The 1976 paper that split the key in two</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3 June 1976 · public-key cryptography is born</a:t>
            </a:r>
          </a:p>
        </p:txBody>
      </p:sp>
      <p:sp>
        <p:nvSpPr>
          <p:cNvPr id="5" name="TextBox 4"/>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8 / 47</a:t>
            </a:r>
          </a:p>
        </p:txBody>
      </p:sp>
      <p:pic>
        <p:nvPicPr>
          <p:cNvPr id="6" name="Picture 5" descr="Whitfield Diffie at the Royal Society in 2017"/>
          <p:cNvPicPr>
            <a:picLocks noChangeAspect="1"/>
          </p:cNvPicPr>
          <p:nvPr/>
        </p:nvPicPr>
        <p:blipFill>
          <a:blip r:embed="rId3"/>
          <a:srcRect t="6833" b="38722"/>
          <a:stretch>
            <a:fillRect/>
          </a:stretch>
        </p:blipFill>
        <p:spPr>
          <a:xfrm>
            <a:off x="457200" y="1234440"/>
            <a:ext cx="2743200" cy="2240280"/>
          </a:xfrm>
          <a:prstGeom prst="rect">
            <a:avLst/>
          </a:prstGeom>
        </p:spPr>
      </p:pic>
      <p:sp>
        <p:nvSpPr>
          <p:cNvPr id="7" name="TextBox 6"/>
          <p:cNvSpPr txBox="1"/>
          <p:nvPr/>
        </p:nvSpPr>
        <p:spPr>
          <a:xfrm>
            <a:off x="457200" y="3547872"/>
            <a:ext cx="2743200" cy="566928"/>
          </a:xfrm>
          <a:prstGeom prst="rect">
            <a:avLst/>
          </a:prstGeom>
          <a:noFill/>
        </p:spPr>
        <p:txBody>
          <a:bodyPr wrap="square" lIns="0" rIns="0" tIns="0" bIns="0" anchor="t">
            <a:spAutoFit/>
          </a:bodyPr>
          <a:lstStyle/>
          <a:p>
            <a:pPr algn="l"/>
            <a:r>
              <a:rPr sz="850" b="0" i="0">
                <a:solidFill>
                  <a:srgbClr val="6E655C"/>
                </a:solidFill>
                <a:latin typeface="Calibri"/>
              </a:rPr>
              <a:t>Picture: Whitfield Diffie, 2017 - Duncan Hull, CC BY-SA 4.0, Wikimedia Commons</a:t>
            </a:r>
          </a:p>
        </p:txBody>
      </p:sp>
      <p:sp>
        <p:nvSpPr>
          <p:cNvPr id="8" name="TextBox 7"/>
          <p:cNvSpPr txBox="1"/>
          <p:nvPr/>
        </p:nvSpPr>
        <p:spPr>
          <a:xfrm>
            <a:off x="3429000" y="1216152"/>
            <a:ext cx="5257800" cy="438912"/>
          </a:xfrm>
          <a:prstGeom prst="rect">
            <a:avLst/>
          </a:prstGeom>
          <a:noFill/>
        </p:spPr>
        <p:txBody>
          <a:bodyPr wrap="square" lIns="0" rIns="0" tIns="0" bIns="0" anchor="t">
            <a:spAutoFit/>
          </a:bodyPr>
          <a:lstStyle/>
          <a:p>
            <a:pPr algn="l"/>
            <a:r>
              <a:rPr sz="1050" b="1" i="0">
                <a:solidFill>
                  <a:srgbClr val="D97A14"/>
                </a:solidFill>
                <a:latin typeface="Calibri"/>
              </a:rPr>
              <a:t>WHO </a:t>
            </a:r>
            <a:r>
              <a:rPr sz="1050" b="0" i="0">
                <a:solidFill>
                  <a:srgbClr val="2B2622"/>
                </a:solidFill>
                <a:latin typeface="Calibri"/>
              </a:rPr>
              <a:t>Whitfield Diffie and Martin Hellman, cryptographers at Stanford; both received the 2015 Turing Award.</a:t>
            </a:r>
          </a:p>
        </p:txBody>
      </p:sp>
      <p:sp>
        <p:nvSpPr>
          <p:cNvPr id="9" name="TextBox 8"/>
          <p:cNvSpPr txBox="1"/>
          <p:nvPr/>
        </p:nvSpPr>
        <p:spPr>
          <a:xfrm>
            <a:off x="3429000" y="1691640"/>
            <a:ext cx="5257800" cy="438912"/>
          </a:xfrm>
          <a:prstGeom prst="rect">
            <a:avLst/>
          </a:prstGeom>
          <a:noFill/>
        </p:spPr>
        <p:txBody>
          <a:bodyPr wrap="square" lIns="0" rIns="0" tIns="0" bIns="0" anchor="t">
            <a:spAutoFit/>
          </a:bodyPr>
          <a:lstStyle/>
          <a:p>
            <a:pPr algn="l"/>
            <a:r>
              <a:rPr sz="1050" b="1" i="0">
                <a:solidFill>
                  <a:srgbClr val="D97A14"/>
                </a:solidFill>
                <a:latin typeface="Calibri"/>
              </a:rPr>
              <a:t>WHAT </a:t>
            </a:r>
            <a:r>
              <a:rPr sz="1050" b="0" i="0">
                <a:solidFill>
                  <a:srgbClr val="2B2622"/>
                </a:solidFill>
                <a:latin typeface="Calibri"/>
              </a:rPr>
              <a:t>The paper 'New Directions in Cryptography': a key split into a public half and a private half.</a:t>
            </a:r>
          </a:p>
        </p:txBody>
      </p:sp>
      <p:sp>
        <p:nvSpPr>
          <p:cNvPr id="10" name="TextBox 9"/>
          <p:cNvSpPr txBox="1"/>
          <p:nvPr/>
        </p:nvSpPr>
        <p:spPr>
          <a:xfrm>
            <a:off x="3429000" y="2167128"/>
            <a:ext cx="5257800" cy="438912"/>
          </a:xfrm>
          <a:prstGeom prst="rect">
            <a:avLst/>
          </a:prstGeom>
          <a:noFill/>
        </p:spPr>
        <p:txBody>
          <a:bodyPr wrap="square" lIns="0" rIns="0" tIns="0" bIns="0" anchor="t">
            <a:spAutoFit/>
          </a:bodyPr>
          <a:lstStyle/>
          <a:p>
            <a:pPr algn="l"/>
            <a:r>
              <a:rPr sz="1050" b="1" i="0">
                <a:solidFill>
                  <a:srgbClr val="D97A14"/>
                </a:solidFill>
                <a:latin typeface="Calibri"/>
              </a:rPr>
              <a:t>WHEN </a:t>
            </a:r>
            <a:r>
              <a:rPr sz="1050" b="0" i="0">
                <a:solidFill>
                  <a:srgbClr val="2B2622"/>
                </a:solidFill>
                <a:latin typeface="Calibri"/>
              </a:rPr>
              <a:t>1976-06-03</a:t>
            </a:r>
            <a:r>
              <a:rPr sz="1050" b="0" i="0">
                <a:solidFill>
                  <a:srgbClr val="2B2622"/>
                </a:solidFill>
                <a:latin typeface="Calibri"/>
              </a:rPr>
              <a:t> (manuscript received; printed in November 1976)</a:t>
            </a:r>
          </a:p>
        </p:txBody>
      </p:sp>
      <p:sp>
        <p:nvSpPr>
          <p:cNvPr id="11" name="TextBox 10"/>
          <p:cNvSpPr txBox="1"/>
          <p:nvPr/>
        </p:nvSpPr>
        <p:spPr>
          <a:xfrm>
            <a:off x="3429000" y="2642616"/>
            <a:ext cx="5257800" cy="438912"/>
          </a:xfrm>
          <a:prstGeom prst="rect">
            <a:avLst/>
          </a:prstGeom>
          <a:noFill/>
        </p:spPr>
        <p:txBody>
          <a:bodyPr wrap="square" lIns="0" rIns="0" tIns="0" bIns="0" anchor="t">
            <a:spAutoFit/>
          </a:bodyPr>
          <a:lstStyle/>
          <a:p>
            <a:pPr algn="l"/>
            <a:r>
              <a:rPr sz="1050" b="1" i="0">
                <a:solidFill>
                  <a:srgbClr val="D97A14"/>
                </a:solidFill>
                <a:latin typeface="Calibri"/>
              </a:rPr>
              <a:t>WHERE </a:t>
            </a:r>
            <a:r>
              <a:rPr sz="1050" b="0" i="0">
                <a:solidFill>
                  <a:srgbClr val="2B2622"/>
                </a:solidFill>
                <a:latin typeface="Calibri"/>
              </a:rPr>
              <a:t>Stanford University, California; IEEE Transactions on Information Theory, volume IT-22.</a:t>
            </a:r>
          </a:p>
        </p:txBody>
      </p:sp>
      <p:sp>
        <p:nvSpPr>
          <p:cNvPr id="12" name="TextBox 11"/>
          <p:cNvSpPr txBox="1"/>
          <p:nvPr/>
        </p:nvSpPr>
        <p:spPr>
          <a:xfrm>
            <a:off x="3429000" y="3118104"/>
            <a:ext cx="5257800" cy="438912"/>
          </a:xfrm>
          <a:prstGeom prst="rect">
            <a:avLst/>
          </a:prstGeom>
          <a:noFill/>
        </p:spPr>
        <p:txBody>
          <a:bodyPr wrap="square" lIns="0" rIns="0" tIns="0" bIns="0" anchor="t">
            <a:spAutoFit/>
          </a:bodyPr>
          <a:lstStyle/>
          <a:p>
            <a:pPr algn="l"/>
            <a:r>
              <a:rPr sz="1050" b="1" i="0">
                <a:solidFill>
                  <a:srgbClr val="D97A14"/>
                </a:solidFill>
                <a:latin typeface="Calibri"/>
              </a:rPr>
              <a:t>WHY </a:t>
            </a:r>
            <a:r>
              <a:rPr sz="1050" b="0" i="0">
                <a:solidFill>
                  <a:srgbClr val="2B2622"/>
                </a:solidFill>
                <a:latin typeface="Calibri"/>
              </a:rPr>
              <a:t>Secret keys had to be carried to every partner; the authors wanted to remove that need.</a:t>
            </a:r>
          </a:p>
        </p:txBody>
      </p:sp>
      <p:sp>
        <p:nvSpPr>
          <p:cNvPr id="13" name="TextBox 12"/>
          <p:cNvSpPr txBox="1"/>
          <p:nvPr/>
        </p:nvSpPr>
        <p:spPr>
          <a:xfrm>
            <a:off x="3429000" y="3593592"/>
            <a:ext cx="5257800" cy="438912"/>
          </a:xfrm>
          <a:prstGeom prst="rect">
            <a:avLst/>
          </a:prstGeom>
          <a:noFill/>
        </p:spPr>
        <p:txBody>
          <a:bodyPr wrap="square" lIns="0" rIns="0" tIns="0" bIns="0" anchor="t">
            <a:spAutoFit/>
          </a:bodyPr>
          <a:lstStyle/>
          <a:p>
            <a:pPr algn="l"/>
            <a:r>
              <a:rPr sz="1050" b="1" i="0">
                <a:solidFill>
                  <a:srgbClr val="D97A14"/>
                </a:solidFill>
                <a:latin typeface="Calibri"/>
              </a:rPr>
              <a:t>HOW </a:t>
            </a:r>
            <a:r>
              <a:rPr sz="1050" b="0" i="0">
                <a:solidFill>
                  <a:srgbClr val="2B2622"/>
                </a:solidFill>
                <a:latin typeface="Calibri"/>
              </a:rPr>
              <a:t>Each user publishes one half and keeps the other; a one-way computation links them, as in this chapter.</a:t>
            </a:r>
          </a:p>
        </p:txBody>
      </p:sp>
      <p:sp>
        <p:nvSpPr>
          <p:cNvPr id="14" name="TextBox 13"/>
          <p:cNvSpPr txBox="1"/>
          <p:nvPr/>
        </p:nvSpPr>
        <p:spPr>
          <a:xfrm>
            <a:off x="3429000" y="4114800"/>
            <a:ext cx="5257800" cy="274320"/>
          </a:xfrm>
          <a:prstGeom prst="rect">
            <a:avLst/>
          </a:prstGeom>
          <a:noFill/>
        </p:spPr>
        <p:txBody>
          <a:bodyPr wrap="square" lIns="0" rIns="0" tIns="0" bIns="0" anchor="t">
            <a:spAutoFit/>
          </a:bodyPr>
          <a:lstStyle/>
          <a:p>
            <a:pPr algn="l"/>
            <a:r>
              <a:rPr sz="1050" b="1" i="0">
                <a:solidFill>
                  <a:srgbClr val="D97A14"/>
                </a:solidFill>
                <a:latin typeface="Calibri"/>
              </a:rPr>
              <a:t>READ </a:t>
            </a:r>
            <a:r>
              <a:rPr sz="1050" b="0" i="0" u="sng">
                <a:solidFill>
                  <a:srgbClr val="2F6D62"/>
                </a:solidFill>
                <a:latin typeface="Calibri"/>
                <a:hlinkClick r:id="rId4"/>
              </a:rPr>
              <a:t>Diffie, Hellman: New Directions (PDF)</a:t>
            </a:r>
            <a:r>
              <a:rPr sz="1050" b="0" i="0">
                <a:solidFill>
                  <a:srgbClr val="6E655C"/>
                </a:solidFill>
                <a:latin typeface="Calibri"/>
              </a:rPr>
              <a:t> - www-ee.stanford.edu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A private key is a number below n</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book's example key, and the edges of the range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Any whole number from 1 to n minus 1 is a key</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9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k = K.BOOK_K</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ok = </a:t>
            </a:r>
            <a:r>
              <a:rPr sz="1000" b="1" i="0">
                <a:solidFill>
                  <a:srgbClr val="F2A860"/>
                </a:solidFill>
                <a:latin typeface="Courier New"/>
              </a:rPr>
              <a:t>lambda</a:t>
            </a:r>
            <a:r>
              <a:rPr sz="1000" b="0" i="0">
                <a:solidFill>
                  <a:srgbClr val="E6EDF3"/>
                </a:solidFill>
                <a:latin typeface="Courier New"/>
              </a:rPr>
              <a:t> x: </a:t>
            </a:r>
            <a:r>
              <a:rPr sz="1000" b="0" i="0">
                <a:solidFill>
                  <a:srgbClr val="FFD28A"/>
                </a:solidFill>
                <a:latin typeface="Courier New"/>
              </a:rPr>
              <a:t>0</a:t>
            </a:r>
            <a:r>
              <a:rPr sz="1000" b="0" i="0">
                <a:solidFill>
                  <a:srgbClr val="E6EDF3"/>
                </a:solidFill>
                <a:latin typeface="Courier New"/>
              </a:rPr>
              <a:t> &lt; x &lt; K.N</a:t>
            </a:r>
          </a:p>
          <a:p>
            <a:pPr algn="l"/>
            <a:r>
              <a:rPr sz="1000" b="1" i="0">
                <a:solidFill>
                  <a:srgbClr val="F2A860"/>
                </a:solidFill>
                <a:latin typeface="Courier New"/>
              </a:rPr>
              <a:t>&gt;&gt;&gt; </a:t>
            </a:r>
            <a:r>
              <a:rPr sz="1000" b="0" i="0">
                <a:solidFill>
                  <a:srgbClr val="E6EDF3"/>
                </a:solidFill>
                <a:latin typeface="Courier New"/>
              </a:rPr>
              <a:t>[ok(x) </a:t>
            </a:r>
            <a:r>
              <a:rPr sz="1000" b="1" i="0">
                <a:solidFill>
                  <a:srgbClr val="F2A860"/>
                </a:solidFill>
                <a:latin typeface="Courier New"/>
              </a:rPr>
              <a:t>for</a:t>
            </a:r>
            <a:r>
              <a:rPr sz="1000" b="0" i="0">
                <a:solidFill>
                  <a:srgbClr val="E6EDF3"/>
                </a:solidFill>
                <a:latin typeface="Courier New"/>
              </a:rPr>
              <a:t> x </a:t>
            </a:r>
            <a:r>
              <a:rPr sz="1000" b="1" i="0">
                <a:solidFill>
                  <a:srgbClr val="F2A860"/>
                </a:solidFill>
                <a:latin typeface="Courier New"/>
              </a:rPr>
              <a:t>in</a:t>
            </a:r>
            <a:r>
              <a:rPr sz="1000" b="0" i="0">
                <a:solidFill>
                  <a:srgbClr val="E6EDF3"/>
                </a:solidFill>
                <a:latin typeface="Courier New"/>
              </a:rPr>
              <a:t> (</a:t>
            </a:r>
            <a:r>
              <a:rPr sz="1000" b="0" i="0">
                <a:solidFill>
                  <a:srgbClr val="FFD28A"/>
                </a:solidFill>
                <a:latin typeface="Courier New"/>
              </a:rPr>
              <a:t>0</a:t>
            </a:r>
            <a:r>
              <a:rPr sz="1000" b="0" i="0">
                <a:solidFill>
                  <a:srgbClr val="E6EDF3"/>
                </a:solidFill>
                <a:latin typeface="Courier New"/>
              </a:rPr>
              <a:t>, </a:t>
            </a:r>
            <a:r>
              <a:rPr sz="1000" b="0" i="0">
                <a:solidFill>
                  <a:srgbClr val="FFD28A"/>
                </a:solidFill>
                <a:latin typeface="Courier New"/>
              </a:rPr>
              <a:t>1</a:t>
            </a:r>
            <a:r>
              <a:rPr sz="1000" b="0" i="0">
                <a:solidFill>
                  <a:srgbClr val="E6EDF3"/>
                </a:solidFill>
                <a:latin typeface="Courier New"/>
              </a:rPr>
              <a:t>, k, K.N - </a:t>
            </a:r>
            <a:r>
              <a:rPr sz="1000" b="0" i="0">
                <a:solidFill>
                  <a:srgbClr val="FFD28A"/>
                </a:solidFill>
                <a:latin typeface="Courier New"/>
              </a:rPr>
              <a:t>1</a:t>
            </a:r>
            <a:r>
              <a:rPr sz="1000" b="0" i="0">
                <a:solidFill>
                  <a:srgbClr val="E6EDF3"/>
                </a:solidFill>
                <a:latin typeface="Courier New"/>
              </a:rPr>
              <a:t>, K.N)]</a:t>
            </a:r>
          </a:p>
          <a:p>
            <a:pPr algn="l"/>
            <a:r>
              <a:rPr sz="1000" b="0" i="0">
                <a:solidFill>
                  <a:srgbClr val="7EE787"/>
                </a:solidFill>
                <a:latin typeface="Courier New"/>
              </a:rPr>
              <a:t>[False, True, True, True, False]</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private key of the book's example: one very large whole number.</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A key is valid when it lies strictly between 0 and n; the list gives five verdicts.</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five numbers, valid or not</a:t>
            </a:r>
          </a:p>
        </p:txBody>
      </p:sp>
      <p:graphicFrame>
        <p:nvGraphicFramePr>
          <p:cNvPr id="16" name="Table 15"/>
          <p:cNvGraphicFramePr>
            <a:graphicFrameLocks noGrp="1"/>
          </p:cNvGraphicFramePr>
          <p:nvPr/>
        </p:nvGraphicFramePr>
        <p:xfrm>
          <a:off x="5852160" y="1691640"/>
          <a:ext cx="2834640" cy="1755648"/>
        </p:xfrm>
        <a:graphic>
          <a:graphicData uri="http://schemas.openxmlformats.org/drawingml/2006/table">
            <a:tbl>
              <a:tblPr firstRow="1" bandRow="1">
                <a:tableStyleId>{5C22544A-7EE6-4342-B048-85BDC9FD1C3A}</a:tableStyleId>
              </a:tblPr>
              <a:tblGrid>
                <a:gridCol w="1280160"/>
                <a:gridCol w="640080"/>
                <a:gridCol w="914400"/>
              </a:tblGrid>
              <a:tr h="292608">
                <a:tc>
                  <a:txBody>
                    <a:bodyPr/>
                    <a:lstStyle/>
                    <a:p>
                      <a:pPr algn="l"/>
                      <a:r>
                        <a:rPr sz="1000" b="1">
                          <a:solidFill>
                            <a:srgbClr val="FFFFFF"/>
                          </a:solidFill>
                          <a:latin typeface="Calibri"/>
                        </a:rPr>
                        <a:t>Key</a:t>
                      </a:r>
                    </a:p>
                  </a:txBody>
                  <a:tcPr marL="54864" marR="54864" marT="27432" marB="27432" anchor="ctr">
                    <a:solidFill>
                      <a:srgbClr val="2F6D62"/>
                    </a:solidFill>
                  </a:tcPr>
                </a:tc>
                <a:tc>
                  <a:txBody>
                    <a:bodyPr/>
                    <a:lstStyle/>
                    <a:p>
                      <a:pPr algn="ctr"/>
                      <a:r>
                        <a:rPr sz="1000" b="1">
                          <a:solidFill>
                            <a:srgbClr val="FFFFFF"/>
                          </a:solidFill>
                          <a:latin typeface="Calibri"/>
                        </a:rPr>
                        <a:t>Bits</a:t>
                      </a:r>
                    </a:p>
                  </a:txBody>
                  <a:tcPr marL="54864" marR="54864" marT="27432" marB="27432" anchor="ctr">
                    <a:solidFill>
                      <a:srgbClr val="2F6D62"/>
                    </a:solidFill>
                  </a:tcPr>
                </a:tc>
                <a:tc>
                  <a:txBody>
                    <a:bodyPr/>
                    <a:lstStyle/>
                    <a:p>
                      <a:pPr algn="ctr"/>
                      <a:r>
                        <a:rPr sz="1000" b="1">
                          <a:solidFill>
                            <a:srgbClr val="FFFFFF"/>
                          </a:solidFill>
                          <a:latin typeface="Calibri"/>
                        </a:rPr>
                        <a:t>Valid?</a:t>
                      </a:r>
                    </a:p>
                  </a:txBody>
                  <a:tcPr marL="54864" marR="54864" marT="27432" marB="27432" anchor="ctr">
                    <a:solidFill>
                      <a:srgbClr val="2F6D62"/>
                    </a:solidFill>
                  </a:tcPr>
                </a:tc>
              </a:tr>
              <a:tr h="292608">
                <a:tc>
                  <a:txBody>
                    <a:bodyPr/>
                    <a:lstStyle/>
                    <a:p>
                      <a:pPr algn="l"/>
                      <a:r>
                        <a:rPr sz="1000" b="0">
                          <a:solidFill>
                            <a:srgbClr val="2B2622"/>
                          </a:solidFill>
                          <a:latin typeface="Calibri"/>
                        </a:rPr>
                        <a:t>0</a:t>
                      </a:r>
                    </a:p>
                  </a:txBody>
                  <a:tcPr marL="54864" marR="54864" marT="27432" marB="27432" anchor="ctr">
                    <a:solidFill>
                      <a:srgbClr val="EFE6D6"/>
                    </a:solidFill>
                  </a:tcPr>
                </a:tc>
                <a:tc>
                  <a:txBody>
                    <a:bodyPr/>
                    <a:lstStyle/>
                    <a:p>
                      <a:pPr algn="ctr"/>
                      <a:r>
                        <a:rPr sz="1000" b="0">
                          <a:solidFill>
                            <a:srgbClr val="2B2622"/>
                          </a:solidFill>
                          <a:latin typeface="Calibri"/>
                        </a:rPr>
                        <a:t>0</a:t>
                      </a:r>
                    </a:p>
                  </a:txBody>
                  <a:tcPr marL="54864" marR="54864" marT="27432" marB="27432" anchor="ctr">
                    <a:solidFill>
                      <a:srgbClr val="EFE6D6"/>
                    </a:solidFill>
                  </a:tcPr>
                </a:tc>
                <a:tc>
                  <a:txBody>
                    <a:bodyPr/>
                    <a:lstStyle/>
                    <a:p>
                      <a:pPr algn="ctr"/>
                      <a:r>
                        <a:rPr sz="1000" b="0">
                          <a:solidFill>
                            <a:srgbClr val="2B2622"/>
                          </a:solidFill>
                          <a:latin typeface="Calibri"/>
                        </a:rPr>
                        <a:t>no</a:t>
                      </a:r>
                    </a:p>
                  </a:txBody>
                  <a:tcPr marL="54864" marR="54864" marT="27432" marB="27432" anchor="ctr">
                    <a:solidFill>
                      <a:srgbClr val="EFE6D6"/>
                    </a:solidFill>
                  </a:tcPr>
                </a:tc>
              </a:tr>
              <a:tr h="292608">
                <a:tc>
                  <a:txBody>
                    <a:bodyPr/>
                    <a:lstStyle/>
                    <a:p>
                      <a:pPr algn="l"/>
                      <a:r>
                        <a:rPr sz="1000" b="0">
                          <a:solidFill>
                            <a:srgbClr val="2B2622"/>
                          </a:solidFill>
                          <a:latin typeface="Calibri"/>
                        </a:rPr>
                        <a:t>1</a:t>
                      </a:r>
                    </a:p>
                  </a:txBody>
                  <a:tcPr marL="54864" marR="54864" marT="27432" marB="27432" anchor="ctr">
                    <a:solidFill>
                      <a:srgbClr val="F2ECE1"/>
                    </a:solidFill>
                  </a:tcPr>
                </a:tc>
                <a:tc>
                  <a:txBody>
                    <a:bodyPr/>
                    <a:lstStyle/>
                    <a:p>
                      <a:pPr algn="ctr"/>
                      <a:r>
                        <a:rPr sz="1000" b="0">
                          <a:solidFill>
                            <a:srgbClr val="2B2622"/>
                          </a:solidFill>
                          <a:latin typeface="Calibri"/>
                        </a:rPr>
                        <a:t>1</a:t>
                      </a:r>
                    </a:p>
                  </a:txBody>
                  <a:tcPr marL="54864" marR="54864" marT="27432" marB="27432" anchor="ctr">
                    <a:solidFill>
                      <a:srgbClr val="F2ECE1"/>
                    </a:solidFill>
                  </a:tcPr>
                </a:tc>
                <a:tc>
                  <a:txBody>
                    <a:bodyPr/>
                    <a:lstStyle/>
                    <a:p>
                      <a:pPr algn="ctr"/>
                      <a:r>
                        <a:rPr sz="1000" b="0">
                          <a:solidFill>
                            <a:srgbClr val="2B2622"/>
                          </a:solidFill>
                          <a:latin typeface="Calibri"/>
                        </a:rPr>
                        <a:t>yes</a:t>
                      </a:r>
                    </a:p>
                  </a:txBody>
                  <a:tcPr marL="54864" marR="54864" marT="27432" marB="27432" anchor="ctr">
                    <a:solidFill>
                      <a:srgbClr val="F2ECE1"/>
                    </a:solidFill>
                  </a:tcPr>
                </a:tc>
              </a:tr>
              <a:tr h="292608">
                <a:tc>
                  <a:txBody>
                    <a:bodyPr/>
                    <a:lstStyle/>
                    <a:p>
                      <a:pPr algn="l"/>
                      <a:r>
                        <a:rPr sz="1000" b="0">
                          <a:solidFill>
                            <a:srgbClr val="2B2622"/>
                          </a:solidFill>
                          <a:latin typeface="Calibri"/>
                        </a:rPr>
                        <a:t>the book's key</a:t>
                      </a:r>
                    </a:p>
                  </a:txBody>
                  <a:tcPr marL="54864" marR="54864" marT="27432" marB="27432" anchor="ctr">
                    <a:solidFill>
                      <a:srgbClr val="FFFFFF"/>
                    </a:solidFill>
                  </a:tcPr>
                </a:tc>
                <a:tc>
                  <a:txBody>
                    <a:bodyPr/>
                    <a:lstStyle/>
                    <a:p>
                      <a:pPr algn="ctr"/>
                      <a:r>
                        <a:rPr sz="1000" b="0">
                          <a:solidFill>
                            <a:srgbClr val="2B2622"/>
                          </a:solidFill>
                          <a:latin typeface="Calibri"/>
                        </a:rPr>
                        <a:t>253</a:t>
                      </a:r>
                    </a:p>
                  </a:txBody>
                  <a:tcPr marL="54864" marR="54864" marT="27432" marB="27432" anchor="ctr">
                    <a:solidFill>
                      <a:srgbClr val="FFFFFF"/>
                    </a:solidFill>
                  </a:tcPr>
                </a:tc>
                <a:tc>
                  <a:txBody>
                    <a:bodyPr/>
                    <a:lstStyle/>
                    <a:p>
                      <a:pPr algn="ctr"/>
                      <a:r>
                        <a:rPr sz="1000" b="0">
                          <a:solidFill>
                            <a:srgbClr val="2B2622"/>
                          </a:solidFill>
                          <a:latin typeface="Calibri"/>
                        </a:rPr>
                        <a:t>yes</a:t>
                      </a:r>
                    </a:p>
                  </a:txBody>
                  <a:tcPr marL="54864" marR="54864" marT="27432" marB="27432" anchor="ctr">
                    <a:solidFill>
                      <a:srgbClr val="FFFFFF"/>
                    </a:solidFill>
                  </a:tcPr>
                </a:tc>
              </a:tr>
              <a:tr h="292608">
                <a:tc>
                  <a:txBody>
                    <a:bodyPr/>
                    <a:lstStyle/>
                    <a:p>
                      <a:pPr algn="l"/>
                      <a:r>
                        <a:rPr sz="1000" b="0">
                          <a:solidFill>
                            <a:srgbClr val="2B2622"/>
                          </a:solidFill>
                          <a:latin typeface="Calibri"/>
                        </a:rPr>
                        <a:t>n - 1</a:t>
                      </a:r>
                    </a:p>
                  </a:txBody>
                  <a:tcPr marL="54864" marR="54864" marT="27432" marB="27432" anchor="ctr">
                    <a:solidFill>
                      <a:srgbClr val="F2ECE1"/>
                    </a:solidFill>
                  </a:tcPr>
                </a:tc>
                <a:tc>
                  <a:txBody>
                    <a:bodyPr/>
                    <a:lstStyle/>
                    <a:p>
                      <a:pPr algn="ctr"/>
                      <a:r>
                        <a:rPr sz="1000" b="0">
                          <a:solidFill>
                            <a:srgbClr val="2B2622"/>
                          </a:solidFill>
                          <a:latin typeface="Calibri"/>
                        </a:rPr>
                        <a:t>256</a:t>
                      </a:r>
                    </a:p>
                  </a:txBody>
                  <a:tcPr marL="54864" marR="54864" marT="27432" marB="27432" anchor="ctr">
                    <a:solidFill>
                      <a:srgbClr val="F2ECE1"/>
                    </a:solidFill>
                  </a:tcPr>
                </a:tc>
                <a:tc>
                  <a:txBody>
                    <a:bodyPr/>
                    <a:lstStyle/>
                    <a:p>
                      <a:pPr algn="ctr"/>
                      <a:r>
                        <a:rPr sz="1000" b="0">
                          <a:solidFill>
                            <a:srgbClr val="2B2622"/>
                          </a:solidFill>
                          <a:latin typeface="Calibri"/>
                        </a:rPr>
                        <a:t>yes</a:t>
                      </a:r>
                    </a:p>
                  </a:txBody>
                  <a:tcPr marL="54864" marR="54864" marT="27432" marB="27432" anchor="ctr">
                    <a:solidFill>
                      <a:srgbClr val="F2ECE1"/>
                    </a:solidFill>
                  </a:tcPr>
                </a:tc>
              </a:tr>
              <a:tr h="292608">
                <a:tc>
                  <a:txBody>
                    <a:bodyPr/>
                    <a:lstStyle/>
                    <a:p>
                      <a:pPr algn="l"/>
                      <a:r>
                        <a:rPr sz="1000" b="0">
                          <a:solidFill>
                            <a:srgbClr val="2B2622"/>
                          </a:solidFill>
                          <a:latin typeface="Calibri"/>
                        </a:rPr>
                        <a:t>n</a:t>
                      </a:r>
                    </a:p>
                  </a:txBody>
                  <a:tcPr marL="54864" marR="54864" marT="27432" marB="27432" anchor="ctr">
                    <a:solidFill>
                      <a:srgbClr val="EFE6D6"/>
                    </a:solidFill>
                  </a:tcPr>
                </a:tc>
                <a:tc>
                  <a:txBody>
                    <a:bodyPr/>
                    <a:lstStyle/>
                    <a:p>
                      <a:pPr algn="ctr"/>
                      <a:r>
                        <a:rPr sz="1000" b="0">
                          <a:solidFill>
                            <a:srgbClr val="2B2622"/>
                          </a:solidFill>
                          <a:latin typeface="Calibri"/>
                        </a:rPr>
                        <a:t>256</a:t>
                      </a:r>
                    </a:p>
                  </a:txBody>
                  <a:tcPr marL="54864" marR="54864" marT="27432" marB="27432" anchor="ctr">
                    <a:solidFill>
                      <a:srgbClr val="EFE6D6"/>
                    </a:solidFill>
                  </a:tcPr>
                </a:tc>
                <a:tc>
                  <a:txBody>
                    <a:bodyPr/>
                    <a:lstStyle/>
                    <a:p>
                      <a:pPr algn="ctr"/>
                      <a:r>
                        <a:rPr sz="1000" b="0">
                          <a:solidFill>
                            <a:srgbClr val="2B2622"/>
                          </a:solidFill>
                          <a:latin typeface="Calibri"/>
                        </a:rPr>
                        <a:t>no</a:t>
                      </a:r>
                    </a:p>
                  </a:txBody>
                  <a:tcPr marL="54864" marR="54864" marT="27432" marB="27432" anchor="ctr">
                    <a:solidFill>
                      <a:srgbClr val="EFE6D6"/>
                    </a:solidFill>
                  </a:tcPr>
                </a:tc>
              </a:tr>
            </a:tbl>
          </a:graphicData>
        </a:graphic>
      </p:graphicFrame>
      <p:sp>
        <p:nvSpPr>
          <p:cNvPr id="17" name="TextBox 16"/>
          <p:cNvSpPr txBox="1"/>
          <p:nvPr/>
        </p:nvSpPr>
        <p:spPr>
          <a:xfrm>
            <a:off x="5852160" y="3557016"/>
            <a:ext cx="2834640" cy="640080"/>
          </a:xfrm>
          <a:prstGeom prst="rect">
            <a:avLst/>
          </a:prstGeom>
          <a:noFill/>
        </p:spPr>
        <p:txBody>
          <a:bodyPr wrap="square" lIns="0" rIns="0" tIns="0" bIns="0" anchor="t">
            <a:spAutoFit/>
          </a:bodyPr>
          <a:lstStyle/>
          <a:p>
            <a:pPr algn="l"/>
            <a:r>
              <a:rPr sz="1100" b="0" i="0">
                <a:solidFill>
                  <a:srgbClr val="2B2622"/>
                </a:solidFill>
                <a:latin typeface="Calibri"/>
              </a:rPr>
              <a:t>Valid keys fill the range from 1 to n - 1, about 2 to the power 256 of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Entropy: bits an attacker must guess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Why a Bitcoin key needs 256 fair coin flips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Only truly random choices reach the 256 bits of a key</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10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70175"/>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b = K.bits_of</a:t>
            </a:r>
          </a:p>
        </p:txBody>
      </p:sp>
      <p:sp>
        <p:nvSpPr>
          <p:cNvPr id="11" name="TextBox 10"/>
          <p:cNvSpPr txBox="1"/>
          <p:nvPr/>
        </p:nvSpPr>
        <p:spPr>
          <a:xfrm>
            <a:off x="603504" y="226161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[b(</a:t>
            </a:r>
            <a:r>
              <a:rPr sz="1000" b="0" i="0">
                <a:solidFill>
                  <a:srgbClr val="FFD28A"/>
                </a:solidFill>
                <a:latin typeface="Courier New"/>
              </a:rPr>
              <a:t>10</a:t>
            </a:r>
            <a:r>
              <a:rPr sz="1000" b="0" i="0">
                <a:solidFill>
                  <a:srgbClr val="E6EDF3"/>
                </a:solidFill>
                <a:latin typeface="Courier New"/>
              </a:rPr>
              <a:t>, </a:t>
            </a:r>
            <a:r>
              <a:rPr sz="1000" b="0" i="0">
                <a:solidFill>
                  <a:srgbClr val="FFD28A"/>
                </a:solidFill>
                <a:latin typeface="Courier New"/>
              </a:rPr>
              <a:t>4</a:t>
            </a:r>
            <a:r>
              <a:rPr sz="1000" b="0" i="0">
                <a:solidFill>
                  <a:srgbClr val="E6EDF3"/>
                </a:solidFill>
                <a:latin typeface="Courier New"/>
              </a:rPr>
              <a:t>), b(</a:t>
            </a:r>
            <a:r>
              <a:rPr sz="1000" b="0" i="0">
                <a:solidFill>
                  <a:srgbClr val="FFD28A"/>
                </a:solidFill>
                <a:latin typeface="Courier New"/>
              </a:rPr>
              <a:t>26</a:t>
            </a:r>
            <a:r>
              <a:rPr sz="1000" b="0" i="0">
                <a:solidFill>
                  <a:srgbClr val="E6EDF3"/>
                </a:solidFill>
                <a:latin typeface="Courier New"/>
              </a:rPr>
              <a:t>, </a:t>
            </a:r>
            <a:r>
              <a:rPr sz="1000" b="0" i="0">
                <a:solidFill>
                  <a:srgbClr val="FFD28A"/>
                </a:solidFill>
                <a:latin typeface="Courier New"/>
              </a:rPr>
              <a:t>8</a:t>
            </a:r>
            <a:r>
              <a:rPr sz="1000" b="0" i="0">
                <a:solidFill>
                  <a:srgbClr val="E6EDF3"/>
                </a:solidFill>
                <a:latin typeface="Courier New"/>
              </a:rPr>
              <a:t>), b(</a:t>
            </a:r>
            <a:r>
              <a:rPr sz="1000" b="0" i="0">
                <a:solidFill>
                  <a:srgbClr val="FFD28A"/>
                </a:solidFill>
                <a:latin typeface="Courier New"/>
              </a:rPr>
              <a:t>94</a:t>
            </a:r>
            <a:r>
              <a:rPr sz="1000" b="0" i="0">
                <a:solidFill>
                  <a:srgbClr val="E6EDF3"/>
                </a:solidFill>
                <a:latin typeface="Courier New"/>
              </a:rPr>
              <a:t>, </a:t>
            </a:r>
            <a:r>
              <a:rPr sz="1000" b="0" i="0">
                <a:solidFill>
                  <a:srgbClr val="FFD28A"/>
                </a:solidFill>
                <a:latin typeface="Courier New"/>
              </a:rPr>
              <a:t>12</a:t>
            </a:r>
            <a:r>
              <a:rPr sz="1000" b="0" i="0">
                <a:solidFill>
                  <a:srgbClr val="E6EDF3"/>
                </a:solidFill>
                <a:latin typeface="Courier New"/>
              </a:rPr>
              <a:t>), b(</a:t>
            </a:r>
            <a:r>
              <a:rPr sz="1000" b="0" i="0">
                <a:solidFill>
                  <a:srgbClr val="FFD28A"/>
                </a:solidFill>
                <a:latin typeface="Courier New"/>
              </a:rPr>
              <a:t>2</a:t>
            </a:r>
            <a:r>
              <a:rPr sz="1000" b="0" i="0">
                <a:solidFill>
                  <a:srgbClr val="E6EDF3"/>
                </a:solidFill>
                <a:latin typeface="Courier New"/>
              </a:rPr>
              <a:t>, </a:t>
            </a:r>
            <a:r>
              <a:rPr sz="1000" b="0" i="0">
                <a:solidFill>
                  <a:srgbClr val="FFD28A"/>
                </a:solidFill>
                <a:latin typeface="Courier New"/>
              </a:rPr>
              <a:t>256</a:t>
            </a:r>
            <a:r>
              <a:rPr sz="1000" b="0" i="0">
                <a:solidFill>
                  <a:srgbClr val="E6EDF3"/>
                </a:solidFill>
                <a:latin typeface="Courier New"/>
              </a:rPr>
              <a:t>)]</a:t>
            </a:r>
          </a:p>
          <a:p>
            <a:pPr algn="l"/>
            <a:r>
              <a:rPr sz="1000" b="0" i="0">
                <a:solidFill>
                  <a:srgbClr val="7EE787"/>
                </a:solidFill>
                <a:latin typeface="Courier New"/>
              </a:rPr>
              <a:t>[13.3, 37.6, 78.7, 256.0]</a:t>
            </a:r>
          </a:p>
        </p:txBody>
      </p:sp>
      <p:sp>
        <p:nvSpPr>
          <p:cNvPr id="12" name="TextBox 11"/>
          <p:cNvSpPr txBox="1"/>
          <p:nvPr/>
        </p:nvSpPr>
        <p:spPr>
          <a:xfrm>
            <a:off x="457200" y="1688591"/>
            <a:ext cx="5212080" cy="371855"/>
          </a:xfrm>
          <a:prstGeom prst="rect">
            <a:avLst/>
          </a:prstGeom>
          <a:noFill/>
        </p:spPr>
        <p:txBody>
          <a:bodyPr wrap="square" lIns="0" rIns="0" tIns="0" bIns="0" anchor="t">
            <a:spAutoFit/>
          </a:bodyPr>
          <a:lstStyle/>
          <a:p>
            <a:pPr algn="l"/>
            <a:r>
              <a:rPr sz="1100" b="0" i="0">
                <a:solidFill>
                  <a:srgbClr val="2B2622"/>
                </a:solidFill>
                <a:latin typeface="Calibri"/>
              </a:rPr>
              <a:t>Entropy is the length times the base-2 logarithm of the size of the alphabet.</a:t>
            </a:r>
          </a:p>
        </p:txBody>
      </p:sp>
      <p:sp>
        <p:nvSpPr>
          <p:cNvPr id="13" name="TextBox 12"/>
          <p:cNvSpPr txBox="1"/>
          <p:nvPr/>
        </p:nvSpPr>
        <p:spPr>
          <a:xfrm>
            <a:off x="457200" y="2731008"/>
            <a:ext cx="5212080" cy="204216"/>
          </a:xfrm>
          <a:prstGeom prst="rect">
            <a:avLst/>
          </a:prstGeom>
          <a:noFill/>
        </p:spPr>
        <p:txBody>
          <a:bodyPr wrap="square" lIns="0" rIns="0" tIns="0" bIns="0" anchor="t">
            <a:spAutoFit/>
          </a:bodyPr>
          <a:lstStyle/>
          <a:p>
            <a:pPr algn="l"/>
            <a:r>
              <a:rPr sz="1100" b="0" i="0">
                <a:solidFill>
                  <a:srgbClr val="2B2622"/>
                </a:solidFill>
                <a:latin typeface="Calibri"/>
              </a:rPr>
              <a:t>A PIN, a lowercase word, a long password and 256 fair coin flips.</a:t>
            </a:r>
          </a:p>
        </p:txBody>
      </p:sp>
      <p:sp>
        <p:nvSpPr>
          <p:cNvPr id="14" name="TextBox 13"/>
          <p:cNvSpPr txBox="1"/>
          <p:nvPr/>
        </p:nvSpPr>
        <p:spPr>
          <a:xfrm>
            <a:off x="457200" y="3008375"/>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bits of entropy of five secrets</a:t>
            </a:r>
          </a:p>
        </p:txBody>
      </p:sp>
      <p:graphicFrame>
        <p:nvGraphicFramePr>
          <p:cNvPr id="16" name="Chart 15"/>
          <p:cNvGraphicFramePr>
            <a:graphicFrameLocks noGrp="1"/>
          </p:cNvGraphicFramePr>
          <p:nvPr/>
        </p:nvGraphicFramePr>
        <p:xfrm>
          <a:off x="5852160" y="1691640"/>
          <a:ext cx="2834640" cy="210312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904488"/>
            <a:ext cx="2834640" cy="640080"/>
          </a:xfrm>
          <a:prstGeom prst="rect">
            <a:avLst/>
          </a:prstGeom>
          <a:noFill/>
        </p:spPr>
        <p:txBody>
          <a:bodyPr wrap="square" lIns="0" rIns="0" tIns="0" bIns="0" anchor="t">
            <a:spAutoFit/>
          </a:bodyPr>
          <a:lstStyle/>
          <a:p>
            <a:pPr algn="l"/>
            <a:r>
              <a:rPr sz="1100" b="0" i="0">
                <a:solidFill>
                  <a:srgbClr val="2B2622"/>
                </a:solidFill>
                <a:latin typeface="Calibri"/>
              </a:rPr>
              <a:t>A 12-symbol password has 78.7 bits; a key needs 256.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The curve secp256k1 and its generator</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Checking that G really lies on the curve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The curve is one short formula: y squared = x cubed + 7</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11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x, y = K.G</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left, right = y * y % K.P, (x ** </a:t>
            </a:r>
            <a:r>
              <a:rPr sz="1000" b="0" i="0">
                <a:solidFill>
                  <a:srgbClr val="FFD28A"/>
                </a:solidFill>
                <a:latin typeface="Courier New"/>
              </a:rPr>
              <a:t>3</a:t>
            </a:r>
            <a:r>
              <a:rPr sz="1000" b="0" i="0">
                <a:solidFill>
                  <a:srgbClr val="E6EDF3"/>
                </a:solidFill>
                <a:latin typeface="Courier New"/>
              </a:rPr>
              <a:t> + </a:t>
            </a:r>
            <a:r>
              <a:rPr sz="1000" b="0" i="0">
                <a:solidFill>
                  <a:srgbClr val="FFD28A"/>
                </a:solidFill>
                <a:latin typeface="Courier New"/>
              </a:rPr>
              <a:t>7</a:t>
            </a:r>
            <a:r>
              <a:rPr sz="1000" b="0" i="0">
                <a:solidFill>
                  <a:srgbClr val="E6EDF3"/>
                </a:solidFill>
                <a:latin typeface="Courier New"/>
              </a:rPr>
              <a:t>) % K.P</a:t>
            </a:r>
          </a:p>
          <a:p>
            <a:pPr algn="l"/>
            <a:r>
              <a:rPr sz="1000" b="1" i="0">
                <a:solidFill>
                  <a:srgbClr val="F2A860"/>
                </a:solidFill>
                <a:latin typeface="Courier New"/>
              </a:rPr>
              <a:t>&gt;&gt;&gt; </a:t>
            </a:r>
            <a:r>
              <a:rPr sz="1000" b="0" i="0">
                <a:solidFill>
                  <a:srgbClr val="E6EDF3"/>
                </a:solidFill>
                <a:latin typeface="Courier New"/>
              </a:rPr>
              <a:t>left == right</a:t>
            </a:r>
          </a:p>
          <a:p>
            <a:pPr algn="l"/>
            <a:r>
              <a:rPr sz="1000" b="0" i="0">
                <a:solidFill>
                  <a:srgbClr val="7EE787"/>
                </a:solidFill>
                <a:latin typeface="Courier New"/>
              </a:rPr>
              <a:t>True</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generator point G: the fixed starting point that every key multiplies.</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Both sides of y squared equals x cubed plus 7 agree, counted modulo the prime p.</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generator point and the curve</a:t>
            </a:r>
          </a:p>
        </p:txBody>
      </p:sp>
      <p:graphicFrame>
        <p:nvGraphicFramePr>
          <p:cNvPr id="16" name="Table 15"/>
          <p:cNvGraphicFramePr>
            <a:graphicFrameLocks noGrp="1"/>
          </p:cNvGraphicFramePr>
          <p:nvPr/>
        </p:nvGraphicFramePr>
        <p:xfrm>
          <a:off x="5852160" y="1691640"/>
          <a:ext cx="2834640" cy="1554480"/>
        </p:xfrm>
        <a:graphic>
          <a:graphicData uri="http://schemas.openxmlformats.org/drawingml/2006/table">
            <a:tbl>
              <a:tblPr firstRow="1" bandRow="1">
                <a:tableStyleId>{5C22544A-7EE6-4342-B048-85BDC9FD1C3A}</a:tableStyleId>
              </a:tblPr>
              <a:tblGrid>
                <a:gridCol w="1600200"/>
                <a:gridCol w="1234440"/>
              </a:tblGrid>
              <a:tr h="310896">
                <a:tc>
                  <a:txBody>
                    <a:bodyPr/>
                    <a:lstStyle/>
                    <a:p>
                      <a:pPr algn="l"/>
                      <a:r>
                        <a:rPr sz="1000" b="1">
                          <a:solidFill>
                            <a:srgbClr val="FFFFFF"/>
                          </a:solidFill>
                          <a:latin typeface="Calibri"/>
                        </a:rPr>
                        <a:t>Question</a:t>
                      </a:r>
                    </a:p>
                  </a:txBody>
                  <a:tcPr marL="54864" marR="54864" marT="27432" marB="27432" anchor="ctr">
                    <a:solidFill>
                      <a:srgbClr val="2F6D62"/>
                    </a:solidFill>
                  </a:tcPr>
                </a:tc>
                <a:tc>
                  <a:txBody>
                    <a:bodyPr/>
                    <a:lstStyle/>
                    <a:p>
                      <a:pPr algn="l"/>
                      <a:r>
                        <a:rPr sz="1000" b="1">
                          <a:solidFill>
                            <a:srgbClr val="FFFFFF"/>
                          </a:solidFill>
                          <a:latin typeface="Calibri"/>
                        </a:rPr>
                        <a:t>Answer</a:t>
                      </a:r>
                    </a:p>
                  </a:txBody>
                  <a:tcPr marL="54864" marR="54864" marT="27432" marB="27432" anchor="ctr">
                    <a:solidFill>
                      <a:srgbClr val="2F6D62"/>
                    </a:solidFill>
                  </a:tcPr>
                </a:tc>
              </a:tr>
              <a:tr h="310896">
                <a:tc>
                  <a:txBody>
                    <a:bodyPr/>
                    <a:lstStyle/>
                    <a:p>
                      <a:pPr algn="l"/>
                      <a:r>
                        <a:rPr sz="1000" b="0">
                          <a:solidFill>
                            <a:srgbClr val="2B2622"/>
                          </a:solidFill>
                          <a:latin typeface="Calibri"/>
                        </a:rPr>
                        <a:t>G on the curve?</a:t>
                      </a:r>
                    </a:p>
                  </a:txBody>
                  <a:tcPr marL="54864" marR="54864" marT="27432" marB="27432" anchor="ctr">
                    <a:solidFill>
                      <a:srgbClr val="FFFFFF"/>
                    </a:solidFill>
                  </a:tcPr>
                </a:tc>
                <a:tc>
                  <a:txBody>
                    <a:bodyPr/>
                    <a:lstStyle/>
                    <a:p>
                      <a:pPr algn="l"/>
                      <a:r>
                        <a:rPr sz="1000" b="0">
                          <a:solidFill>
                            <a:srgbClr val="2B2622"/>
                          </a:solidFill>
                          <a:latin typeface="Calibri"/>
                        </a:rPr>
                        <a:t>yes</a:t>
                      </a:r>
                    </a:p>
                  </a:txBody>
                  <a:tcPr marL="54864" marR="54864" marT="27432" marB="27432" anchor="ctr">
                    <a:solidFill>
                      <a:srgbClr val="FFFFFF"/>
                    </a:solidFill>
                  </a:tcPr>
                </a:tc>
              </a:tr>
              <a:tr h="310896">
                <a:tc>
                  <a:txBody>
                    <a:bodyPr/>
                    <a:lstStyle/>
                    <a:p>
                      <a:pPr algn="l"/>
                      <a:r>
                        <a:rPr sz="1000" b="0">
                          <a:solidFill>
                            <a:srgbClr val="2B2622"/>
                          </a:solidFill>
                          <a:latin typeface="Calibri"/>
                        </a:rPr>
                        <a:t>p has bits</a:t>
                      </a:r>
                    </a:p>
                  </a:txBody>
                  <a:tcPr marL="54864" marR="54864" marT="27432" marB="27432" anchor="ctr">
                    <a:solidFill>
                      <a:srgbClr val="F2ECE1"/>
                    </a:solidFill>
                  </a:tcPr>
                </a:tc>
                <a:tc>
                  <a:txBody>
                    <a:bodyPr/>
                    <a:lstStyle/>
                    <a:p>
                      <a:pPr algn="l"/>
                      <a:r>
                        <a:rPr sz="1000" b="0">
                          <a:solidFill>
                            <a:srgbClr val="2B2622"/>
                          </a:solidFill>
                          <a:latin typeface="Calibri"/>
                        </a:rPr>
                        <a:t>256</a:t>
                      </a:r>
                    </a:p>
                  </a:txBody>
                  <a:tcPr marL="54864" marR="54864" marT="27432" marB="27432" anchor="ctr">
                    <a:solidFill>
                      <a:srgbClr val="F2ECE1"/>
                    </a:solidFill>
                  </a:tcPr>
                </a:tc>
              </a:tr>
              <a:tr h="310896">
                <a:tc>
                  <a:txBody>
                    <a:bodyPr/>
                    <a:lstStyle/>
                    <a:p>
                      <a:pPr algn="l"/>
                      <a:r>
                        <a:rPr sz="1000" b="0">
                          <a:solidFill>
                            <a:srgbClr val="2B2622"/>
                          </a:solidFill>
                          <a:latin typeface="Calibri"/>
                        </a:rPr>
                        <a:t>x of G begins</a:t>
                      </a:r>
                    </a:p>
                  </a:txBody>
                  <a:tcPr marL="54864" marR="54864" marT="27432" marB="27432" anchor="ctr">
                    <a:solidFill>
                      <a:srgbClr val="FFFFFF"/>
                    </a:solidFill>
                  </a:tcPr>
                </a:tc>
                <a:tc>
                  <a:txBody>
                    <a:bodyPr/>
                    <a:lstStyle/>
                    <a:p>
                      <a:pPr algn="l"/>
                      <a:r>
                        <a:rPr sz="1000" b="0">
                          <a:solidFill>
                            <a:srgbClr val="2B2622"/>
                          </a:solidFill>
                          <a:latin typeface="Calibri"/>
                        </a:rPr>
                        <a:t>0x79be667ef9</a:t>
                      </a:r>
                    </a:p>
                  </a:txBody>
                  <a:tcPr marL="54864" marR="54864" marT="27432" marB="27432" anchor="ctr">
                    <a:solidFill>
                      <a:srgbClr val="FFFFFF"/>
                    </a:solidFill>
                  </a:tcPr>
                </a:tc>
              </a:tr>
              <a:tr h="310896">
                <a:tc>
                  <a:txBody>
                    <a:bodyPr/>
                    <a:lstStyle/>
                    <a:p>
                      <a:pPr algn="l"/>
                      <a:r>
                        <a:rPr sz="1000" b="0">
                          <a:solidFill>
                            <a:srgbClr val="2B2622"/>
                          </a:solidFill>
                          <a:latin typeface="Calibri"/>
                        </a:rPr>
                        <a:t>p = 2^256 - 2^32 - 977?</a:t>
                      </a:r>
                    </a:p>
                  </a:txBody>
                  <a:tcPr marL="54864" marR="54864" marT="27432" marB="27432" anchor="ctr">
                    <a:solidFill>
                      <a:srgbClr val="F2ECE1"/>
                    </a:solidFill>
                  </a:tcPr>
                </a:tc>
                <a:tc>
                  <a:txBody>
                    <a:bodyPr/>
                    <a:lstStyle/>
                    <a:p>
                      <a:pPr algn="l"/>
                      <a:r>
                        <a:rPr sz="1000" b="0">
                          <a:solidFill>
                            <a:srgbClr val="2B2622"/>
                          </a:solidFill>
                          <a:latin typeface="Calibri"/>
                        </a:rPr>
                        <a:t>yes</a:t>
                      </a:r>
                    </a:p>
                  </a:txBody>
                  <a:tcPr marL="54864" marR="54864" marT="27432" marB="27432" anchor="ctr">
                    <a:solidFill>
                      <a:srgbClr val="F2ECE1"/>
                    </a:solidFill>
                  </a:tcPr>
                </a:tc>
              </a:tr>
            </a:tbl>
          </a:graphicData>
        </a:graphic>
      </p:graphicFrame>
      <p:sp>
        <p:nvSpPr>
          <p:cNvPr id="17" name="TextBox 16"/>
          <p:cNvSpPr txBox="1"/>
          <p:nvPr/>
        </p:nvSpPr>
        <p:spPr>
          <a:xfrm>
            <a:off x="5852160" y="3355848"/>
            <a:ext cx="2834640" cy="640080"/>
          </a:xfrm>
          <a:prstGeom prst="rect">
            <a:avLst/>
          </a:prstGeom>
          <a:noFill/>
        </p:spPr>
        <p:txBody>
          <a:bodyPr wrap="square" lIns="0" rIns="0" tIns="0" bIns="0" anchor="t">
            <a:spAutoFit/>
          </a:bodyPr>
          <a:lstStyle/>
          <a:p>
            <a:pPr algn="l"/>
            <a:r>
              <a:rPr sz="1100" b="0" i="0">
                <a:solidFill>
                  <a:srgbClr val="2B2622"/>
                </a:solidFill>
                <a:latin typeface="Calibri"/>
              </a:rPr>
              <a:t>One formula and one fixed point: nothing else is needed to start.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Points on a curve: doubling G</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How the curve turns one point into many</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Tangent, meeting point, mirror image: that is one doubling</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12 / 47</a:t>
            </a:r>
          </a:p>
        </p:txBody>
      </p:sp>
      <p:pic>
        <p:nvPicPr>
          <p:cNvPr id="8" name="Picture 7" descr="Figure 4-4: doubling the point G with a tangent and a reflection on the x-axis"/>
          <p:cNvPicPr>
            <a:picLocks noChangeAspect="1"/>
          </p:cNvPicPr>
          <p:nvPr/>
        </p:nvPicPr>
        <p:blipFill>
          <a:blip r:embed="rId3"/>
          <a:stretch>
            <a:fillRect/>
          </a:stretch>
        </p:blipFill>
        <p:spPr>
          <a:xfrm>
            <a:off x="827891" y="1234440"/>
            <a:ext cx="2961937" cy="2971800"/>
          </a:xfrm>
          <a:prstGeom prst="rect">
            <a:avLst/>
          </a:prstGeom>
        </p:spPr>
      </p:pic>
      <p:sp>
        <p:nvSpPr>
          <p:cNvPr id="9" name="TextBox 8"/>
          <p:cNvSpPr txBox="1"/>
          <p:nvPr/>
        </p:nvSpPr>
        <p:spPr>
          <a:xfrm>
            <a:off x="4023360" y="1371600"/>
            <a:ext cx="1920240" cy="1188720"/>
          </a:xfrm>
          <a:prstGeom prst="rect">
            <a:avLst/>
          </a:prstGeom>
          <a:noFill/>
        </p:spPr>
        <p:txBody>
          <a:bodyPr wrap="square" lIns="0" rIns="0" tIns="0" bIns="0" anchor="t">
            <a:spAutoFit/>
          </a:bodyPr>
          <a:lstStyle/>
          <a:p>
            <a:pPr algn="l"/>
            <a:r>
              <a:rPr sz="1100" b="0" i="0">
                <a:solidFill>
                  <a:srgbClr val="6E655C"/>
                </a:solidFill>
                <a:latin typeface="Calibri"/>
              </a:rPr>
              <a:t>The red line is the curve; the blue and green arrows are the steps of one doubling.</a:t>
            </a:r>
          </a:p>
        </p:txBody>
      </p:sp>
      <p:sp>
        <p:nvSpPr>
          <p:cNvPr id="10" name="TextBox 9"/>
          <p:cNvSpPr txBox="1"/>
          <p:nvPr/>
        </p:nvSpPr>
        <p:spPr>
          <a:xfrm>
            <a:off x="4023360" y="2743200"/>
            <a:ext cx="1920240" cy="822960"/>
          </a:xfrm>
          <a:prstGeom prst="rect">
            <a:avLst/>
          </a:prstGeom>
          <a:noFill/>
        </p:spPr>
        <p:txBody>
          <a:bodyPr wrap="square" lIns="0" rIns="0" tIns="0" bIns="0" anchor="t">
            <a:spAutoFit/>
          </a:bodyPr>
          <a:lstStyle/>
          <a:p>
            <a:pPr algn="l"/>
            <a:r>
              <a:rPr sz="1100" b="0" i="0">
                <a:solidFill>
                  <a:srgbClr val="6E655C"/>
                </a:solidFill>
                <a:latin typeface="Calibri"/>
              </a:rPr>
              <a:t>G, 2G, 4G and 8G are labelled on the picture.</a:t>
            </a:r>
          </a:p>
        </p:txBody>
      </p:sp>
      <p:sp>
        <p:nvSpPr>
          <p:cNvPr id="11" name="TextBox 10"/>
          <p:cNvSpPr txBox="1"/>
          <p:nvPr/>
        </p:nvSpPr>
        <p:spPr>
          <a:xfrm>
            <a:off x="457200" y="4224528"/>
            <a:ext cx="5486400" cy="329184"/>
          </a:xfrm>
          <a:prstGeom prst="rect">
            <a:avLst/>
          </a:prstGeom>
          <a:noFill/>
        </p:spPr>
        <p:txBody>
          <a:bodyPr wrap="square" lIns="0" rIns="0" tIns="0" bIns="0" anchor="t">
            <a:spAutoFit/>
          </a:bodyPr>
          <a:lstStyle/>
          <a:p>
            <a:pPr algn="l"/>
            <a:r>
              <a:rPr sz="850" b="0" i="0">
                <a:solidFill>
                  <a:srgbClr val="6E655C"/>
                </a:solidFill>
                <a:latin typeface="Calibri"/>
              </a:rPr>
              <a:t>Figure 4-4, Mastering Bitcoin 3rd edition, Antonopoulos and Harding, CC BY-SA 4.0</a:t>
            </a:r>
          </a:p>
        </p:txBody>
      </p:sp>
      <p:sp>
        <p:nvSpPr>
          <p:cNvPr id="12" name="Rounded Rectangle 11"/>
          <p:cNvSpPr/>
          <p:nvPr/>
        </p:nvSpPr>
        <p:spPr>
          <a:xfrm>
            <a:off x="6172200" y="1280160"/>
            <a:ext cx="2514600" cy="804672"/>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1 Tangent</a:t>
            </a:r>
          </a:p>
          <a:p>
            <a:pPr algn="l"/>
            <a:r>
              <a:rPr sz="1100" b="0" i="0">
                <a:solidFill>
                  <a:srgbClr val="2B2622"/>
                </a:solidFill>
                <a:latin typeface="Calibri"/>
              </a:rPr>
              <a:t>Draw the tangent to the curve at G.</a:t>
            </a:r>
          </a:p>
        </p:txBody>
      </p:sp>
      <p:sp>
        <p:nvSpPr>
          <p:cNvPr id="13" name="Rounded Rectangle 12"/>
          <p:cNvSpPr/>
          <p:nvPr/>
        </p:nvSpPr>
        <p:spPr>
          <a:xfrm>
            <a:off x="6172200" y="2194560"/>
            <a:ext cx="2514600" cy="804672"/>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2 Meeting point</a:t>
            </a:r>
          </a:p>
          <a:p>
            <a:pPr algn="l"/>
            <a:r>
              <a:rPr sz="1100" b="0" i="0">
                <a:solidFill>
                  <a:srgbClr val="2B2622"/>
                </a:solidFill>
                <a:latin typeface="Calibri"/>
              </a:rPr>
              <a:t>It meets the curve once more.</a:t>
            </a:r>
          </a:p>
        </p:txBody>
      </p:sp>
      <p:sp>
        <p:nvSpPr>
          <p:cNvPr id="14" name="Rounded Rectangle 13"/>
          <p:cNvSpPr/>
          <p:nvPr/>
        </p:nvSpPr>
        <p:spPr>
          <a:xfrm>
            <a:off x="6172200" y="3108960"/>
            <a:ext cx="2514600" cy="804672"/>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3 Mirror</a:t>
            </a:r>
          </a:p>
          <a:p>
            <a:pPr algn="l"/>
            <a:r>
              <a:rPr sz="1100" b="0" i="0">
                <a:solidFill>
                  <a:srgbClr val="2B2622"/>
                </a:solidFill>
                <a:latin typeface="Calibri"/>
              </a:rPr>
              <a:t>Reflect that point on the x-axis: this is 2G.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Doubling and adding: k times G</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How one multiplication reaches a huge number</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Doubling reaches a 256-bit key in a few hundred steps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13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pts = [K.ec_mul(n) </a:t>
            </a:r>
            <a:r>
              <a:rPr sz="1000" b="1" i="0">
                <a:solidFill>
                  <a:srgbClr val="F2A860"/>
                </a:solidFill>
                <a:latin typeface="Courier New"/>
              </a:rPr>
              <a:t>for</a:t>
            </a:r>
            <a:r>
              <a:rPr sz="1000" b="0" i="0">
                <a:solidFill>
                  <a:srgbClr val="E6EDF3"/>
                </a:solidFill>
                <a:latin typeface="Courier New"/>
              </a:rPr>
              <a:t> n </a:t>
            </a:r>
            <a:r>
              <a:rPr sz="1000" b="1" i="0">
                <a:solidFill>
                  <a:srgbClr val="F2A860"/>
                </a:solidFill>
                <a:latin typeface="Courier New"/>
              </a:rPr>
              <a:t>in</a:t>
            </a:r>
            <a:r>
              <a:rPr sz="1000" b="0" i="0">
                <a:solidFill>
                  <a:srgbClr val="E6EDF3"/>
                </a:solidFill>
                <a:latin typeface="Courier New"/>
              </a:rPr>
              <a:t> (</a:t>
            </a:r>
            <a:r>
              <a:rPr sz="1000" b="0" i="0">
                <a:solidFill>
                  <a:srgbClr val="FFD28A"/>
                </a:solidFill>
                <a:latin typeface="Courier New"/>
              </a:rPr>
              <a:t>1</a:t>
            </a:r>
            <a:r>
              <a:rPr sz="1000" b="0" i="0">
                <a:solidFill>
                  <a:srgbClr val="E6EDF3"/>
                </a:solidFill>
                <a:latin typeface="Courier New"/>
              </a:rPr>
              <a:t>, </a:t>
            </a:r>
            <a:r>
              <a:rPr sz="1000" b="0" i="0">
                <a:solidFill>
                  <a:srgbClr val="FFD28A"/>
                </a:solidFill>
                <a:latin typeface="Courier New"/>
              </a:rPr>
              <a:t>2</a:t>
            </a:r>
            <a:r>
              <a:rPr sz="1000" b="0" i="0">
                <a:solidFill>
                  <a:srgbClr val="E6EDF3"/>
                </a:solidFill>
                <a:latin typeface="Courier New"/>
              </a:rPr>
              <a:t>, </a:t>
            </a:r>
            <a:r>
              <a:rPr sz="1000" b="0" i="0">
                <a:solidFill>
                  <a:srgbClr val="FFD28A"/>
                </a:solidFill>
                <a:latin typeface="Courier New"/>
              </a:rPr>
              <a:t>3</a:t>
            </a:r>
            <a:r>
              <a:rPr sz="1000" b="0" i="0">
                <a:solidFill>
                  <a:srgbClr val="E6EDF3"/>
                </a:solidFill>
                <a:latin typeface="Courier New"/>
              </a:rPr>
              <a:t>, </a:t>
            </a:r>
            <a:r>
              <a:rPr sz="1000" b="0" i="0">
                <a:solidFill>
                  <a:srgbClr val="FFD28A"/>
                </a:solidFill>
                <a:latin typeface="Courier New"/>
              </a:rPr>
              <a:t>4</a:t>
            </a:r>
            <a:r>
              <a:rPr sz="1000" b="0" i="0">
                <a:solidFill>
                  <a:srgbClr val="E6EDF3"/>
                </a:solidFill>
                <a:latin typeface="Courier New"/>
              </a:rPr>
              <a:t>)]</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twice = K.ec_add(K.G, K.G)</a:t>
            </a:r>
          </a:p>
          <a:p>
            <a:pPr algn="l"/>
            <a:r>
              <a:rPr sz="1000" b="1" i="0">
                <a:solidFill>
                  <a:srgbClr val="F2A860"/>
                </a:solidFill>
                <a:latin typeface="Courier New"/>
              </a:rPr>
              <a:t>&gt;&gt;&gt; </a:t>
            </a:r>
            <a:r>
              <a:rPr sz="1000" b="0" i="0">
                <a:solidFill>
                  <a:srgbClr val="E6EDF3"/>
                </a:solidFill>
                <a:latin typeface="Courier New"/>
              </a:rPr>
              <a:t>twice == pts[</a:t>
            </a:r>
            <a:r>
              <a:rPr sz="1000" b="0" i="0">
                <a:solidFill>
                  <a:srgbClr val="FFD28A"/>
                </a:solidFill>
                <a:latin typeface="Courier New"/>
              </a:rPr>
              <a:t>1</a:t>
            </a:r>
            <a:r>
              <a:rPr sz="1000" b="0" i="0">
                <a:solidFill>
                  <a:srgbClr val="E6EDF3"/>
                </a:solidFill>
                <a:latin typeface="Courier New"/>
              </a:rPr>
              <a:t>]</a:t>
            </a:r>
          </a:p>
          <a:p>
            <a:pPr algn="l"/>
            <a:r>
              <a:rPr sz="1000" b="0" i="0">
                <a:solidFill>
                  <a:srgbClr val="7EE787"/>
                </a:solidFill>
                <a:latin typeface="Courier New"/>
              </a:rPr>
              <a:t>True</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Multiply G by one, two, three and four; every result is another point.</a:t>
            </a:r>
          </a:p>
        </p:txBody>
      </p:sp>
      <p:sp>
        <p:nvSpPr>
          <p:cNvPr id="13" name="TextBox 12"/>
          <p:cNvSpPr txBox="1"/>
          <p:nvPr/>
        </p:nvSpPr>
        <p:spPr>
          <a:xfrm>
            <a:off x="457200" y="2715768"/>
            <a:ext cx="5212080" cy="204216"/>
          </a:xfrm>
          <a:prstGeom prst="rect">
            <a:avLst/>
          </a:prstGeom>
          <a:noFill/>
        </p:spPr>
        <p:txBody>
          <a:bodyPr wrap="square" lIns="0" rIns="0" tIns="0" bIns="0" anchor="t">
            <a:spAutoFit/>
          </a:bodyPr>
          <a:lstStyle/>
          <a:p>
            <a:pPr algn="l"/>
            <a:r>
              <a:rPr sz="1100" b="0" i="0">
                <a:solidFill>
                  <a:srgbClr val="2B2622"/>
                </a:solidFill>
                <a:latin typeface="Calibri"/>
              </a:rPr>
              <a:t>Adding G to itself gives 2G, the same point that the multiplication found.</a:t>
            </a:r>
          </a:p>
        </p:txBody>
      </p:sp>
      <p:sp>
        <p:nvSpPr>
          <p:cNvPr id="14" name="TextBox 13"/>
          <p:cNvSpPr txBox="1"/>
          <p:nvPr/>
        </p:nvSpPr>
        <p:spPr>
          <a:xfrm>
            <a:off x="457200" y="299313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multiples of G and the work</a:t>
            </a:r>
          </a:p>
        </p:txBody>
      </p:sp>
      <p:graphicFrame>
        <p:nvGraphicFramePr>
          <p:cNvPr id="16" name="Table 15"/>
          <p:cNvGraphicFramePr>
            <a:graphicFrameLocks noGrp="1"/>
          </p:cNvGraphicFramePr>
          <p:nvPr/>
        </p:nvGraphicFramePr>
        <p:xfrm>
          <a:off x="5852160" y="1691640"/>
          <a:ext cx="2834640" cy="1554480"/>
        </p:xfrm>
        <a:graphic>
          <a:graphicData uri="http://schemas.openxmlformats.org/drawingml/2006/table">
            <a:tbl>
              <a:tblPr firstRow="1" bandRow="1">
                <a:tableStyleId>{5C22544A-7EE6-4342-B048-85BDC9FD1C3A}</a:tableStyleId>
              </a:tblPr>
              <a:tblGrid>
                <a:gridCol w="731520"/>
                <a:gridCol w="2103120"/>
              </a:tblGrid>
              <a:tr h="310896">
                <a:tc>
                  <a:txBody>
                    <a:bodyPr/>
                    <a:lstStyle/>
                    <a:p>
                      <a:pPr algn="l"/>
                      <a:r>
                        <a:rPr sz="1000" b="1">
                          <a:solidFill>
                            <a:srgbClr val="FFFFFF"/>
                          </a:solidFill>
                          <a:latin typeface="Calibri"/>
                        </a:rPr>
                        <a:t>n</a:t>
                      </a:r>
                    </a:p>
                  </a:txBody>
                  <a:tcPr marL="54864" marR="54864" marT="27432" marB="27432" anchor="ctr">
                    <a:solidFill>
                      <a:srgbClr val="2F6D62"/>
                    </a:solidFill>
                  </a:tcPr>
                </a:tc>
                <a:tc>
                  <a:txBody>
                    <a:bodyPr/>
                    <a:lstStyle/>
                    <a:p>
                      <a:pPr algn="l"/>
                      <a:r>
                        <a:rPr sz="1000" b="1">
                          <a:solidFill>
                            <a:srgbClr val="FFFFFF"/>
                          </a:solidFill>
                          <a:latin typeface="Calibri"/>
                        </a:rPr>
                        <a:t>x of n times G (8 hex)</a:t>
                      </a:r>
                    </a:p>
                  </a:txBody>
                  <a:tcPr marL="54864" marR="54864" marT="27432" marB="27432" anchor="ctr">
                    <a:solidFill>
                      <a:srgbClr val="2F6D62"/>
                    </a:solidFill>
                  </a:tcPr>
                </a:tc>
              </a:tr>
              <a:tr h="310896">
                <a:tc>
                  <a:txBody>
                    <a:bodyPr/>
                    <a:lstStyle/>
                    <a:p>
                      <a:pPr algn="l"/>
                      <a:r>
                        <a:rPr sz="1000" b="0">
                          <a:solidFill>
                            <a:srgbClr val="2B2622"/>
                          </a:solidFill>
                          <a:latin typeface="Calibri"/>
                        </a:rPr>
                        <a:t>1G</a:t>
                      </a:r>
                    </a:p>
                  </a:txBody>
                  <a:tcPr marL="54864" marR="54864" marT="27432" marB="27432" anchor="ctr">
                    <a:solidFill>
                      <a:srgbClr val="FFFFFF"/>
                    </a:solidFill>
                  </a:tcPr>
                </a:tc>
                <a:tc>
                  <a:txBody>
                    <a:bodyPr/>
                    <a:lstStyle/>
                    <a:p>
                      <a:pPr algn="l"/>
                      <a:r>
                        <a:rPr sz="1000" b="0">
                          <a:solidFill>
                            <a:srgbClr val="2B2622"/>
                          </a:solidFill>
                          <a:latin typeface="Calibri"/>
                        </a:rPr>
                        <a:t>79be667e</a:t>
                      </a:r>
                    </a:p>
                  </a:txBody>
                  <a:tcPr marL="54864" marR="54864" marT="27432" marB="27432" anchor="ctr">
                    <a:solidFill>
                      <a:srgbClr val="FFFFFF"/>
                    </a:solidFill>
                  </a:tcPr>
                </a:tc>
              </a:tr>
              <a:tr h="310896">
                <a:tc>
                  <a:txBody>
                    <a:bodyPr/>
                    <a:lstStyle/>
                    <a:p>
                      <a:pPr algn="l"/>
                      <a:r>
                        <a:rPr sz="1000" b="0">
                          <a:solidFill>
                            <a:srgbClr val="2B2622"/>
                          </a:solidFill>
                          <a:latin typeface="Calibri"/>
                        </a:rPr>
                        <a:t>2G</a:t>
                      </a:r>
                    </a:p>
                  </a:txBody>
                  <a:tcPr marL="54864" marR="54864" marT="27432" marB="27432" anchor="ctr">
                    <a:solidFill>
                      <a:srgbClr val="F2ECE1"/>
                    </a:solidFill>
                  </a:tcPr>
                </a:tc>
                <a:tc>
                  <a:txBody>
                    <a:bodyPr/>
                    <a:lstStyle/>
                    <a:p>
                      <a:pPr algn="l"/>
                      <a:r>
                        <a:rPr sz="1000" b="0">
                          <a:solidFill>
                            <a:srgbClr val="2B2622"/>
                          </a:solidFill>
                          <a:latin typeface="Calibri"/>
                        </a:rPr>
                        <a:t>c6047f94</a:t>
                      </a:r>
                    </a:p>
                  </a:txBody>
                  <a:tcPr marL="54864" marR="54864" marT="27432" marB="27432" anchor="ctr">
                    <a:solidFill>
                      <a:srgbClr val="F2ECE1"/>
                    </a:solidFill>
                  </a:tcPr>
                </a:tc>
              </a:tr>
              <a:tr h="310896">
                <a:tc>
                  <a:txBody>
                    <a:bodyPr/>
                    <a:lstStyle/>
                    <a:p>
                      <a:pPr algn="l"/>
                      <a:r>
                        <a:rPr sz="1000" b="0">
                          <a:solidFill>
                            <a:srgbClr val="2B2622"/>
                          </a:solidFill>
                          <a:latin typeface="Calibri"/>
                        </a:rPr>
                        <a:t>3G</a:t>
                      </a:r>
                    </a:p>
                  </a:txBody>
                  <a:tcPr marL="54864" marR="54864" marT="27432" marB="27432" anchor="ctr">
                    <a:solidFill>
                      <a:srgbClr val="FFFFFF"/>
                    </a:solidFill>
                  </a:tcPr>
                </a:tc>
                <a:tc>
                  <a:txBody>
                    <a:bodyPr/>
                    <a:lstStyle/>
                    <a:p>
                      <a:pPr algn="l"/>
                      <a:r>
                        <a:rPr sz="1000" b="0">
                          <a:solidFill>
                            <a:srgbClr val="2B2622"/>
                          </a:solidFill>
                          <a:latin typeface="Calibri"/>
                        </a:rPr>
                        <a:t>f9308a01</a:t>
                      </a:r>
                    </a:p>
                  </a:txBody>
                  <a:tcPr marL="54864" marR="54864" marT="27432" marB="27432" anchor="ctr">
                    <a:solidFill>
                      <a:srgbClr val="FFFFFF"/>
                    </a:solidFill>
                  </a:tcPr>
                </a:tc>
              </a:tr>
              <a:tr h="310896">
                <a:tc>
                  <a:txBody>
                    <a:bodyPr/>
                    <a:lstStyle/>
                    <a:p>
                      <a:pPr algn="l"/>
                      <a:r>
                        <a:rPr sz="1000" b="0">
                          <a:solidFill>
                            <a:srgbClr val="2B2622"/>
                          </a:solidFill>
                          <a:latin typeface="Calibri"/>
                        </a:rPr>
                        <a:t>4G</a:t>
                      </a:r>
                    </a:p>
                  </a:txBody>
                  <a:tcPr marL="54864" marR="54864" marT="27432" marB="27432" anchor="ctr">
                    <a:solidFill>
                      <a:srgbClr val="F2ECE1"/>
                    </a:solidFill>
                  </a:tcPr>
                </a:tc>
                <a:tc>
                  <a:txBody>
                    <a:bodyPr/>
                    <a:lstStyle/>
                    <a:p>
                      <a:pPr algn="l"/>
                      <a:r>
                        <a:rPr sz="1000" b="0">
                          <a:solidFill>
                            <a:srgbClr val="2B2622"/>
                          </a:solidFill>
                          <a:latin typeface="Calibri"/>
                        </a:rPr>
                        <a:t>e493dbf1</a:t>
                      </a:r>
                    </a:p>
                  </a:txBody>
                  <a:tcPr marL="54864" marR="54864" marT="27432" marB="27432" anchor="ctr">
                    <a:solidFill>
                      <a:srgbClr val="F2ECE1"/>
                    </a:solidFill>
                  </a:tcPr>
                </a:tc>
              </a:tr>
            </a:tbl>
          </a:graphicData>
        </a:graphic>
      </p:graphicFrame>
      <p:sp>
        <p:nvSpPr>
          <p:cNvPr id="17" name="TextBox 16"/>
          <p:cNvSpPr txBox="1"/>
          <p:nvPr/>
        </p:nvSpPr>
        <p:spPr>
          <a:xfrm>
            <a:off x="5852160" y="335584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book's key needs 252 doublings and 123 additions.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The point at infinity on a toy curve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A curve over 17 numbers, small enough to list</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Multiples of a point repeat; the cycle closes at infinity</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14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pts = K.multiples(</a:t>
            </a:r>
            <a:r>
              <a:rPr sz="1000" b="0" i="0">
                <a:solidFill>
                  <a:srgbClr val="FFD28A"/>
                </a:solidFill>
                <a:latin typeface="Courier New"/>
              </a:rPr>
              <a:t>10</a:t>
            </a:r>
            <a:r>
              <a:rPr sz="1000" b="0" i="0">
                <a:solidFill>
                  <a:srgbClr val="E6EDF3"/>
                </a:solidFill>
                <a:latin typeface="Courier New"/>
              </a:rPr>
              <a:t>)</a:t>
            </a:r>
          </a:p>
        </p:txBody>
      </p:sp>
      <p:sp>
        <p:nvSpPr>
          <p:cNvPr id="11" name="TextBox 10"/>
          <p:cNvSpPr txBox="1"/>
          <p:nvPr/>
        </p:nvSpPr>
        <p:spPr>
          <a:xfrm>
            <a:off x="603504" y="20939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pts.index(</a:t>
            </a:r>
            <a:r>
              <a:rPr sz="1000" b="1" i="0">
                <a:solidFill>
                  <a:srgbClr val="F2A860"/>
                </a:solidFill>
                <a:latin typeface="Courier New"/>
              </a:rPr>
              <a:t>None</a:t>
            </a:r>
            <a:r>
              <a:rPr sz="1000" b="0" i="0">
                <a:solidFill>
                  <a:srgbClr val="E6EDF3"/>
                </a:solidFill>
                <a:latin typeface="Courier New"/>
              </a:rPr>
              <a:t>) + </a:t>
            </a:r>
            <a:r>
              <a:rPr sz="1000" b="0" i="0">
                <a:solidFill>
                  <a:srgbClr val="FFD28A"/>
                </a:solidFill>
                <a:latin typeface="Courier New"/>
              </a:rPr>
              <a:t>1</a:t>
            </a:r>
          </a:p>
          <a:p>
            <a:pPr algn="l"/>
            <a:r>
              <a:rPr sz="1000" b="0" i="0">
                <a:solidFill>
                  <a:srgbClr val="7EE787"/>
                </a:solidFill>
                <a:latin typeface="Courier New"/>
              </a:rPr>
              <a:t>9</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Walk the multiples of one point on a toy curve over only 17 numbers.</a:t>
            </a:r>
          </a:p>
        </p:txBody>
      </p:sp>
      <p:sp>
        <p:nvSpPr>
          <p:cNvPr id="13" name="TextBox 12"/>
          <p:cNvSpPr txBox="1"/>
          <p:nvPr/>
        </p:nvSpPr>
        <p:spPr>
          <a:xfrm>
            <a:off x="457200" y="256336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ninth multiple is None, the point at infinity: the walk closes into a cycle.</a:t>
            </a:r>
          </a:p>
        </p:txBody>
      </p:sp>
      <p:sp>
        <p:nvSpPr>
          <p:cNvPr id="14" name="TextBox 13"/>
          <p:cNvSpPr txBox="1"/>
          <p:nvPr/>
        </p:nvSpPr>
        <p:spPr>
          <a:xfrm>
            <a:off x="457200" y="30083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cycle of one point</a:t>
            </a:r>
          </a:p>
        </p:txBody>
      </p:sp>
      <p:graphicFrame>
        <p:nvGraphicFramePr>
          <p:cNvPr id="16" name="Table 15"/>
          <p:cNvGraphicFramePr>
            <a:graphicFrameLocks noGrp="1"/>
          </p:cNvGraphicFramePr>
          <p:nvPr/>
        </p:nvGraphicFramePr>
        <p:xfrm>
          <a:off x="5852160" y="1691640"/>
          <a:ext cx="2834640" cy="2286000"/>
        </p:xfrm>
        <a:graphic>
          <a:graphicData uri="http://schemas.openxmlformats.org/drawingml/2006/table">
            <a:tbl>
              <a:tblPr firstRow="1" bandRow="1">
                <a:tableStyleId>{5C22544A-7EE6-4342-B048-85BDC9FD1C3A}</a:tableStyleId>
              </a:tblPr>
              <a:tblGrid>
                <a:gridCol w="731520"/>
                <a:gridCol w="2103120"/>
              </a:tblGrid>
              <a:tr h="228600">
                <a:tc>
                  <a:txBody>
                    <a:bodyPr/>
                    <a:lstStyle/>
                    <a:p>
                      <a:pPr algn="l"/>
                      <a:r>
                        <a:rPr sz="900" b="1">
                          <a:solidFill>
                            <a:srgbClr val="FFFFFF"/>
                          </a:solidFill>
                          <a:latin typeface="Calibri"/>
                        </a:rPr>
                        <a:t>n</a:t>
                      </a:r>
                    </a:p>
                  </a:txBody>
                  <a:tcPr marL="54864" marR="54864" marT="27432" marB="27432" anchor="ctr">
                    <a:solidFill>
                      <a:srgbClr val="2F6D62"/>
                    </a:solidFill>
                  </a:tcPr>
                </a:tc>
                <a:tc>
                  <a:txBody>
                    <a:bodyPr/>
                    <a:lstStyle/>
                    <a:p>
                      <a:pPr algn="l"/>
                      <a:r>
                        <a:rPr sz="900" b="1">
                          <a:solidFill>
                            <a:srgbClr val="FFFFFF"/>
                          </a:solidFill>
                          <a:latin typeface="Calibri"/>
                        </a:rPr>
                        <a:t>n times P</a:t>
                      </a:r>
                    </a:p>
                  </a:txBody>
                  <a:tcPr marL="54864" marR="54864" marT="27432" marB="27432" anchor="ctr">
                    <a:solidFill>
                      <a:srgbClr val="2F6D62"/>
                    </a:solidFill>
                  </a:tcPr>
                </a:tc>
              </a:tr>
              <a:tr h="228600">
                <a:tc>
                  <a:txBody>
                    <a:bodyPr/>
                    <a:lstStyle/>
                    <a:p>
                      <a:pPr algn="l"/>
                      <a:r>
                        <a:rPr sz="900" b="0">
                          <a:solidFill>
                            <a:srgbClr val="2B2622"/>
                          </a:solidFill>
                          <a:latin typeface="Calibri"/>
                        </a:rPr>
                        <a:t>1</a:t>
                      </a:r>
                    </a:p>
                  </a:txBody>
                  <a:tcPr marL="54864" marR="54864" marT="27432" marB="27432" anchor="ctr">
                    <a:solidFill>
                      <a:srgbClr val="FFFFFF"/>
                    </a:solidFill>
                  </a:tcPr>
                </a:tc>
                <a:tc>
                  <a:txBody>
                    <a:bodyPr/>
                    <a:lstStyle/>
                    <a:p>
                      <a:pPr algn="l"/>
                      <a:r>
                        <a:rPr sz="900" b="0">
                          <a:solidFill>
                            <a:srgbClr val="2B2622"/>
                          </a:solidFill>
                          <a:latin typeface="Calibri"/>
                        </a:rPr>
                        <a:t>(1, 5)</a:t>
                      </a:r>
                    </a:p>
                  </a:txBody>
                  <a:tcPr marL="54864" marR="54864" marT="27432" marB="27432" anchor="ctr">
                    <a:solidFill>
                      <a:srgbClr val="FFFFFF"/>
                    </a:solidFill>
                  </a:tcPr>
                </a:tc>
              </a:tr>
              <a:tr h="228600">
                <a:tc>
                  <a:txBody>
                    <a:bodyPr/>
                    <a:lstStyle/>
                    <a:p>
                      <a:pPr algn="l"/>
                      <a:r>
                        <a:rPr sz="900" b="0">
                          <a:solidFill>
                            <a:srgbClr val="2B2622"/>
                          </a:solidFill>
                          <a:latin typeface="Calibri"/>
                        </a:rPr>
                        <a:t>2</a:t>
                      </a:r>
                    </a:p>
                  </a:txBody>
                  <a:tcPr marL="54864" marR="54864" marT="27432" marB="27432" anchor="ctr">
                    <a:solidFill>
                      <a:srgbClr val="F2ECE1"/>
                    </a:solidFill>
                  </a:tcPr>
                </a:tc>
                <a:tc>
                  <a:txBody>
                    <a:bodyPr/>
                    <a:lstStyle/>
                    <a:p>
                      <a:pPr algn="l"/>
                      <a:r>
                        <a:rPr sz="900" b="0">
                          <a:solidFill>
                            <a:srgbClr val="2B2622"/>
                          </a:solidFill>
                          <a:latin typeface="Calibri"/>
                        </a:rPr>
                        <a:t>(2, 10)</a:t>
                      </a:r>
                    </a:p>
                  </a:txBody>
                  <a:tcPr marL="54864" marR="54864" marT="27432" marB="27432" anchor="ctr">
                    <a:solidFill>
                      <a:srgbClr val="F2ECE1"/>
                    </a:solidFill>
                  </a:tcPr>
                </a:tc>
              </a:tr>
              <a:tr h="228600">
                <a:tc>
                  <a:txBody>
                    <a:bodyPr/>
                    <a:lstStyle/>
                    <a:p>
                      <a:pPr algn="l"/>
                      <a:r>
                        <a:rPr sz="900" b="0">
                          <a:solidFill>
                            <a:srgbClr val="2B2622"/>
                          </a:solidFill>
                          <a:latin typeface="Calibri"/>
                        </a:rPr>
                        <a:t>3</a:t>
                      </a:r>
                    </a:p>
                  </a:txBody>
                  <a:tcPr marL="54864" marR="54864" marT="27432" marB="27432" anchor="ctr">
                    <a:solidFill>
                      <a:srgbClr val="FFFFFF"/>
                    </a:solidFill>
                  </a:tcPr>
                </a:tc>
                <a:tc>
                  <a:txBody>
                    <a:bodyPr/>
                    <a:lstStyle/>
                    <a:p>
                      <a:pPr algn="l"/>
                      <a:r>
                        <a:rPr sz="900" b="0">
                          <a:solidFill>
                            <a:srgbClr val="2B2622"/>
                          </a:solidFill>
                          <a:latin typeface="Calibri"/>
                        </a:rPr>
                        <a:t>(5, 9)</a:t>
                      </a:r>
                    </a:p>
                  </a:txBody>
                  <a:tcPr marL="54864" marR="54864" marT="27432" marB="27432" anchor="ctr">
                    <a:solidFill>
                      <a:srgbClr val="FFFFFF"/>
                    </a:solidFill>
                  </a:tcPr>
                </a:tc>
              </a:tr>
              <a:tr h="228600">
                <a:tc>
                  <a:txBody>
                    <a:bodyPr/>
                    <a:lstStyle/>
                    <a:p>
                      <a:pPr algn="l"/>
                      <a:r>
                        <a:rPr sz="900" b="0">
                          <a:solidFill>
                            <a:srgbClr val="2B2622"/>
                          </a:solidFill>
                          <a:latin typeface="Calibri"/>
                        </a:rPr>
                        <a:t>4</a:t>
                      </a:r>
                    </a:p>
                  </a:txBody>
                  <a:tcPr marL="54864" marR="54864" marT="27432" marB="27432" anchor="ctr">
                    <a:solidFill>
                      <a:srgbClr val="F2ECE1"/>
                    </a:solidFill>
                  </a:tcPr>
                </a:tc>
                <a:tc>
                  <a:txBody>
                    <a:bodyPr/>
                    <a:lstStyle/>
                    <a:p>
                      <a:pPr algn="l"/>
                      <a:r>
                        <a:rPr sz="900" b="0">
                          <a:solidFill>
                            <a:srgbClr val="2B2622"/>
                          </a:solidFill>
                          <a:latin typeface="Calibri"/>
                        </a:rPr>
                        <a:t>(12, 1)</a:t>
                      </a:r>
                    </a:p>
                  </a:txBody>
                  <a:tcPr marL="54864" marR="54864" marT="27432" marB="27432" anchor="ctr">
                    <a:solidFill>
                      <a:srgbClr val="F2ECE1"/>
                    </a:solidFill>
                  </a:tcPr>
                </a:tc>
              </a:tr>
              <a:tr h="228600">
                <a:tc>
                  <a:txBody>
                    <a:bodyPr/>
                    <a:lstStyle/>
                    <a:p>
                      <a:pPr algn="l"/>
                      <a:r>
                        <a:rPr sz="900" b="0">
                          <a:solidFill>
                            <a:srgbClr val="2B2622"/>
                          </a:solidFill>
                          <a:latin typeface="Calibri"/>
                        </a:rPr>
                        <a:t>5</a:t>
                      </a:r>
                    </a:p>
                  </a:txBody>
                  <a:tcPr marL="54864" marR="54864" marT="27432" marB="27432" anchor="ctr">
                    <a:solidFill>
                      <a:srgbClr val="FFFFFF"/>
                    </a:solidFill>
                  </a:tcPr>
                </a:tc>
                <a:tc>
                  <a:txBody>
                    <a:bodyPr/>
                    <a:lstStyle/>
                    <a:p>
                      <a:pPr algn="l"/>
                      <a:r>
                        <a:rPr sz="900" b="0">
                          <a:solidFill>
                            <a:srgbClr val="2B2622"/>
                          </a:solidFill>
                          <a:latin typeface="Calibri"/>
                        </a:rPr>
                        <a:t>(12, 16)</a:t>
                      </a:r>
                    </a:p>
                  </a:txBody>
                  <a:tcPr marL="54864" marR="54864" marT="27432" marB="27432" anchor="ctr">
                    <a:solidFill>
                      <a:srgbClr val="FFFFFF"/>
                    </a:solidFill>
                  </a:tcPr>
                </a:tc>
              </a:tr>
              <a:tr h="228600">
                <a:tc>
                  <a:txBody>
                    <a:bodyPr/>
                    <a:lstStyle/>
                    <a:p>
                      <a:pPr algn="l"/>
                      <a:r>
                        <a:rPr sz="900" b="0">
                          <a:solidFill>
                            <a:srgbClr val="2B2622"/>
                          </a:solidFill>
                          <a:latin typeface="Calibri"/>
                        </a:rPr>
                        <a:t>6</a:t>
                      </a:r>
                    </a:p>
                  </a:txBody>
                  <a:tcPr marL="54864" marR="54864" marT="27432" marB="27432" anchor="ctr">
                    <a:solidFill>
                      <a:srgbClr val="F2ECE1"/>
                    </a:solidFill>
                  </a:tcPr>
                </a:tc>
                <a:tc>
                  <a:txBody>
                    <a:bodyPr/>
                    <a:lstStyle/>
                    <a:p>
                      <a:pPr algn="l"/>
                      <a:r>
                        <a:rPr sz="900" b="0">
                          <a:solidFill>
                            <a:srgbClr val="2B2622"/>
                          </a:solidFill>
                          <a:latin typeface="Calibri"/>
                        </a:rPr>
                        <a:t>(5, 8)</a:t>
                      </a:r>
                    </a:p>
                  </a:txBody>
                  <a:tcPr marL="54864" marR="54864" marT="27432" marB="27432" anchor="ctr">
                    <a:solidFill>
                      <a:srgbClr val="F2ECE1"/>
                    </a:solidFill>
                  </a:tcPr>
                </a:tc>
              </a:tr>
              <a:tr h="228600">
                <a:tc>
                  <a:txBody>
                    <a:bodyPr/>
                    <a:lstStyle/>
                    <a:p>
                      <a:pPr algn="l"/>
                      <a:r>
                        <a:rPr sz="900" b="0">
                          <a:solidFill>
                            <a:srgbClr val="2B2622"/>
                          </a:solidFill>
                          <a:latin typeface="Calibri"/>
                        </a:rPr>
                        <a:t>7</a:t>
                      </a:r>
                    </a:p>
                  </a:txBody>
                  <a:tcPr marL="54864" marR="54864" marT="27432" marB="27432" anchor="ctr">
                    <a:solidFill>
                      <a:srgbClr val="FFFFFF"/>
                    </a:solidFill>
                  </a:tcPr>
                </a:tc>
                <a:tc>
                  <a:txBody>
                    <a:bodyPr/>
                    <a:lstStyle/>
                    <a:p>
                      <a:pPr algn="l"/>
                      <a:r>
                        <a:rPr sz="900" b="0">
                          <a:solidFill>
                            <a:srgbClr val="2B2622"/>
                          </a:solidFill>
                          <a:latin typeface="Calibri"/>
                        </a:rPr>
                        <a:t>(2, 7)</a:t>
                      </a:r>
                    </a:p>
                  </a:txBody>
                  <a:tcPr marL="54864" marR="54864" marT="27432" marB="27432" anchor="ctr">
                    <a:solidFill>
                      <a:srgbClr val="FFFFFF"/>
                    </a:solidFill>
                  </a:tcPr>
                </a:tc>
              </a:tr>
              <a:tr h="228600">
                <a:tc>
                  <a:txBody>
                    <a:bodyPr/>
                    <a:lstStyle/>
                    <a:p>
                      <a:pPr algn="l"/>
                      <a:r>
                        <a:rPr sz="900" b="0">
                          <a:solidFill>
                            <a:srgbClr val="2B2622"/>
                          </a:solidFill>
                          <a:latin typeface="Calibri"/>
                        </a:rPr>
                        <a:t>8</a:t>
                      </a:r>
                    </a:p>
                  </a:txBody>
                  <a:tcPr marL="54864" marR="54864" marT="27432" marB="27432" anchor="ctr">
                    <a:solidFill>
                      <a:srgbClr val="F2ECE1"/>
                    </a:solidFill>
                  </a:tcPr>
                </a:tc>
                <a:tc>
                  <a:txBody>
                    <a:bodyPr/>
                    <a:lstStyle/>
                    <a:p>
                      <a:pPr algn="l"/>
                      <a:r>
                        <a:rPr sz="900" b="0">
                          <a:solidFill>
                            <a:srgbClr val="2B2622"/>
                          </a:solidFill>
                          <a:latin typeface="Calibri"/>
                        </a:rPr>
                        <a:t>(1, 12)</a:t>
                      </a:r>
                    </a:p>
                  </a:txBody>
                  <a:tcPr marL="54864" marR="54864" marT="27432" marB="27432" anchor="ctr">
                    <a:solidFill>
                      <a:srgbClr val="F2ECE1"/>
                    </a:solidFill>
                  </a:tcPr>
                </a:tc>
              </a:tr>
              <a:tr h="228600">
                <a:tc>
                  <a:txBody>
                    <a:bodyPr/>
                    <a:lstStyle/>
                    <a:p>
                      <a:pPr algn="l"/>
                      <a:r>
                        <a:rPr sz="900" b="0">
                          <a:solidFill>
                            <a:srgbClr val="2B2622"/>
                          </a:solidFill>
                          <a:latin typeface="Calibri"/>
                        </a:rPr>
                        <a:t>9</a:t>
                      </a:r>
                    </a:p>
                  </a:txBody>
                  <a:tcPr marL="54864" marR="54864" marT="27432" marB="27432" anchor="ctr">
                    <a:solidFill>
                      <a:srgbClr val="EFE6D6"/>
                    </a:solidFill>
                  </a:tcPr>
                </a:tc>
                <a:tc>
                  <a:txBody>
                    <a:bodyPr/>
                    <a:lstStyle/>
                    <a:p>
                      <a:pPr algn="l"/>
                      <a:r>
                        <a:rPr sz="900" b="0">
                          <a:solidFill>
                            <a:srgbClr val="2B2622"/>
                          </a:solidFill>
                          <a:latin typeface="Calibri"/>
                        </a:rPr>
                        <a:t>infinity</a:t>
                      </a:r>
                    </a:p>
                  </a:txBody>
                  <a:tcPr marL="54864" marR="54864" marT="27432" marB="27432" anchor="ctr">
                    <a:solidFill>
                      <a:srgbClr val="EFE6D6"/>
                    </a:solidFill>
                  </a:tcPr>
                </a:tc>
              </a:tr>
            </a:tbl>
          </a:graphicData>
        </a:graphic>
      </p:graphicFrame>
      <p:sp>
        <p:nvSpPr>
          <p:cNvPr id="17" name="TextBox 16"/>
          <p:cNvSpPr txBox="1"/>
          <p:nvPr/>
        </p:nvSpPr>
        <p:spPr>
          <a:xfrm>
            <a:off x="5852160" y="4087368"/>
            <a:ext cx="2834640" cy="640080"/>
          </a:xfrm>
          <a:prstGeom prst="rect">
            <a:avLst/>
          </a:prstGeom>
          <a:noFill/>
        </p:spPr>
        <p:txBody>
          <a:bodyPr wrap="square" lIns="0" rIns="0" tIns="0" bIns="0" anchor="t">
            <a:spAutoFit/>
          </a:bodyPr>
          <a:lstStyle/>
          <a:p>
            <a:pPr algn="l"/>
            <a:r>
              <a:rPr sz="1100" b="0" i="0">
                <a:solidFill>
                  <a:srgbClr val="2B2622"/>
                </a:solidFill>
                <a:latin typeface="Calibri"/>
              </a:rPr>
              <a:t>After 9 steps the walk reaches infinity and repeats.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One-way: the work to find a key</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Why the public key cannot be run backwards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Each extra bit doubles the attacker's work</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15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b = [</a:t>
            </a:r>
            <a:r>
              <a:rPr sz="1000" b="0" i="0">
                <a:solidFill>
                  <a:srgbClr val="FFD28A"/>
                </a:solidFill>
                <a:latin typeface="Courier New"/>
              </a:rPr>
              <a:t>20</a:t>
            </a:r>
            <a:r>
              <a:rPr sz="1000" b="0" i="0">
                <a:solidFill>
                  <a:srgbClr val="E6EDF3"/>
                </a:solidFill>
                <a:latin typeface="Courier New"/>
              </a:rPr>
              <a:t>, </a:t>
            </a:r>
            <a:r>
              <a:rPr sz="1000" b="0" i="0">
                <a:solidFill>
                  <a:srgbClr val="FFD28A"/>
                </a:solidFill>
                <a:latin typeface="Courier New"/>
              </a:rPr>
              <a:t>40</a:t>
            </a:r>
            <a:r>
              <a:rPr sz="1000" b="0" i="0">
                <a:solidFill>
                  <a:srgbClr val="E6EDF3"/>
                </a:solidFill>
                <a:latin typeface="Courier New"/>
              </a:rPr>
              <a:t>, </a:t>
            </a:r>
            <a:r>
              <a:rPr sz="1000" b="0" i="0">
                <a:solidFill>
                  <a:srgbClr val="FFD28A"/>
                </a:solidFill>
                <a:latin typeface="Courier New"/>
              </a:rPr>
              <a:t>80</a:t>
            </a:r>
            <a:r>
              <a:rPr sz="1000" b="0" i="0">
                <a:solidFill>
                  <a:srgbClr val="E6EDF3"/>
                </a:solidFill>
                <a:latin typeface="Courier New"/>
              </a:rPr>
              <a:t>, </a:t>
            </a:r>
            <a:r>
              <a:rPr sz="1000" b="0" i="0">
                <a:solidFill>
                  <a:srgbClr val="FFD28A"/>
                </a:solidFill>
                <a:latin typeface="Courier New"/>
              </a:rPr>
              <a:t>128</a:t>
            </a:r>
            <a:r>
              <a:rPr sz="1000" b="0" i="0">
                <a:solidFill>
                  <a:srgbClr val="E6EDF3"/>
                </a:solidFill>
                <a:latin typeface="Courier New"/>
              </a:rPr>
              <a:t>, </a:t>
            </a:r>
            <a:r>
              <a:rPr sz="1000" b="0" i="0">
                <a:solidFill>
                  <a:srgbClr val="FFD28A"/>
                </a:solidFill>
                <a:latin typeface="Courier New"/>
              </a:rPr>
              <a:t>256</a:t>
            </a:r>
            <a:r>
              <a:rPr sz="1000" b="0" i="0">
                <a:solidFill>
                  <a:srgbClr val="E6EDF3"/>
                </a:solidFill>
                <a:latin typeface="Courier New"/>
              </a:rPr>
              <a:t>]</a:t>
            </a:r>
          </a:p>
        </p:txBody>
      </p:sp>
      <p:sp>
        <p:nvSpPr>
          <p:cNvPr id="11" name="TextBox 10"/>
          <p:cNvSpPr txBox="1"/>
          <p:nvPr/>
        </p:nvSpPr>
        <p:spPr>
          <a:xfrm>
            <a:off x="603504" y="20939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[round(math.log10(</a:t>
            </a:r>
            <a:r>
              <a:rPr sz="1000" b="0" i="0">
                <a:solidFill>
                  <a:srgbClr val="FFD28A"/>
                </a:solidFill>
                <a:latin typeface="Courier New"/>
              </a:rPr>
              <a:t>2</a:t>
            </a:r>
            <a:r>
              <a:rPr sz="1000" b="0" i="0">
                <a:solidFill>
                  <a:srgbClr val="E6EDF3"/>
                </a:solidFill>
                <a:latin typeface="Courier New"/>
              </a:rPr>
              <a:t> ** (n - </a:t>
            </a:r>
            <a:r>
              <a:rPr sz="1000" b="0" i="0">
                <a:solidFill>
                  <a:srgbClr val="FFD28A"/>
                </a:solidFill>
                <a:latin typeface="Courier New"/>
              </a:rPr>
              <a:t>1</a:t>
            </a:r>
            <a:r>
              <a:rPr sz="1000" b="0" i="0">
                <a:solidFill>
                  <a:srgbClr val="E6EDF3"/>
                </a:solidFill>
                <a:latin typeface="Courier New"/>
              </a:rPr>
              <a:t>))) </a:t>
            </a:r>
            <a:r>
              <a:rPr sz="1000" b="1" i="0">
                <a:solidFill>
                  <a:srgbClr val="F2A860"/>
                </a:solidFill>
                <a:latin typeface="Courier New"/>
              </a:rPr>
              <a:t>for</a:t>
            </a:r>
            <a:r>
              <a:rPr sz="1000" b="0" i="0">
                <a:solidFill>
                  <a:srgbClr val="E6EDF3"/>
                </a:solidFill>
                <a:latin typeface="Courier New"/>
              </a:rPr>
              <a:t> n </a:t>
            </a:r>
            <a:r>
              <a:rPr sz="1000" b="1" i="0">
                <a:solidFill>
                  <a:srgbClr val="F2A860"/>
                </a:solidFill>
                <a:latin typeface="Courier New"/>
              </a:rPr>
              <a:t>in</a:t>
            </a:r>
            <a:r>
              <a:rPr sz="1000" b="0" i="0">
                <a:solidFill>
                  <a:srgbClr val="E6EDF3"/>
                </a:solidFill>
                <a:latin typeface="Courier New"/>
              </a:rPr>
              <a:t> b]</a:t>
            </a:r>
          </a:p>
          <a:p>
            <a:pPr algn="l"/>
            <a:r>
              <a:rPr sz="1000" b="0" i="0">
                <a:solidFill>
                  <a:srgbClr val="7EE787"/>
                </a:solidFill>
                <a:latin typeface="Courier New"/>
              </a:rPr>
              <a:t>[6, 12, 24, 38, 77]</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Key sizes in bits, from a toy key to the size Bitcoin uses.</a:t>
            </a:r>
          </a:p>
        </p:txBody>
      </p:sp>
      <p:sp>
        <p:nvSpPr>
          <p:cNvPr id="13" name="TextBox 12"/>
          <p:cNvSpPr txBox="1"/>
          <p:nvPr/>
        </p:nvSpPr>
        <p:spPr>
          <a:xfrm>
            <a:off x="457200" y="2563368"/>
            <a:ext cx="5212080" cy="371855"/>
          </a:xfrm>
          <a:prstGeom prst="rect">
            <a:avLst/>
          </a:prstGeom>
          <a:noFill/>
        </p:spPr>
        <p:txBody>
          <a:bodyPr wrap="square" lIns="0" rIns="0" tIns="0" bIns="0" anchor="t">
            <a:spAutoFit/>
          </a:bodyPr>
          <a:lstStyle/>
          <a:p>
            <a:pPr algn="l"/>
            <a:r>
              <a:rPr sz="1100" b="0" i="0">
                <a:solidFill>
                  <a:srgbClr val="2B2622"/>
                </a:solidFill>
                <a:latin typeface="Calibri"/>
              </a:rPr>
              <a:t>Half the keys must be tried on average; the list gives that as a power of ten.</a:t>
            </a:r>
          </a:p>
        </p:txBody>
      </p:sp>
      <p:sp>
        <p:nvSpPr>
          <p:cNvPr id="14" name="TextBox 13"/>
          <p:cNvSpPr txBox="1"/>
          <p:nvPr/>
        </p:nvSpPr>
        <p:spPr>
          <a:xfrm>
            <a:off x="457200" y="30083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tries as a power of ten</a:t>
            </a:r>
          </a:p>
        </p:txBody>
      </p:sp>
      <p:graphicFrame>
        <p:nvGraphicFramePr>
          <p:cNvPr id="16" name="Chart 15"/>
          <p:cNvGraphicFramePr>
            <a:graphicFrameLocks noGrp="1"/>
          </p:cNvGraphicFramePr>
          <p:nvPr/>
        </p:nvGraphicFramePr>
        <p:xfrm>
          <a:off x="5852160" y="1691640"/>
          <a:ext cx="2834640" cy="210312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904488"/>
            <a:ext cx="2834640" cy="640080"/>
          </a:xfrm>
          <a:prstGeom prst="rect">
            <a:avLst/>
          </a:prstGeom>
          <a:noFill/>
        </p:spPr>
        <p:txBody>
          <a:bodyPr wrap="square" lIns="0" rIns="0" tIns="0" bIns="0" anchor="t">
            <a:spAutoFit/>
          </a:bodyPr>
          <a:lstStyle/>
          <a:p>
            <a:pPr algn="l"/>
            <a:r>
              <a:rPr sz="1100" b="0" i="0">
                <a:solidFill>
                  <a:srgbClr val="2B2622"/>
                </a:solidFill>
                <a:latin typeface="Calibri"/>
              </a:rPr>
              <a:t>A 20-bit key falls after about 524,288 tries; a 256-bit key needs 10 to the 77.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Legacy Addresses</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From a public key to the address that people read aloud</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P2PKH</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Pay to public key hash: the output script holds only a 20-byte hash.</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locker that shows a number, never the shape of the key.</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HASH160</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SHA256 followed by RIPEMD-160: the 20-byte hash of a public key.</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two sieves in a row: the finer one decides.</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Base58check Encoding</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Version byte, payload and checksum written in base58.</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parcel with a label, a content and a seal.</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609344"/>
                <a:gridCol w="1609344"/>
                <a:gridCol w="1609344"/>
                <a:gridCol w="1609344"/>
                <a:gridCol w="1609344"/>
              </a:tblGrid>
              <a:tr h="365760">
                <a:tc>
                  <a:txBody>
                    <a:bodyPr/>
                    <a:lstStyle/>
                    <a:p>
                      <a:pPr algn="ctr"/>
                      <a:r>
                        <a:rPr sz="1000" b="0">
                          <a:solidFill>
                            <a:srgbClr val="6E655C"/>
                          </a:solidFill>
                          <a:latin typeface="Calibri"/>
                        </a:rPr>
                        <a:t>Keys</a:t>
                      </a:r>
                    </a:p>
                  </a:txBody>
                  <a:tcPr marL="54864" marR="54864" marT="27432" marB="27432" anchor="ctr">
                    <a:solidFill>
                      <a:srgbClr val="F2ECE1"/>
                    </a:solidFill>
                  </a:tcPr>
                </a:tc>
                <a:tc>
                  <a:txBody>
                    <a:bodyPr/>
                    <a:lstStyle/>
                    <a:p>
                      <a:pPr algn="ctr"/>
                      <a:r>
                        <a:rPr sz="1000" b="1">
                          <a:solidFill>
                            <a:srgbClr val="FFFFFF"/>
                          </a:solidFill>
                          <a:latin typeface="Calibri"/>
                        </a:rPr>
                        <a:t>Legacy</a:t>
                      </a:r>
                    </a:p>
                  </a:txBody>
                  <a:tcPr marL="54864" marR="54864" marT="27432" marB="27432" anchor="ctr">
                    <a:solidFill>
                      <a:srgbClr val="D97A14"/>
                    </a:solidFill>
                  </a:tcPr>
                </a:tc>
                <a:tc>
                  <a:txBody>
                    <a:bodyPr/>
                    <a:lstStyle/>
                    <a:p>
                      <a:pPr algn="ctr"/>
                      <a:r>
                        <a:rPr sz="1000" b="0">
                          <a:solidFill>
                            <a:srgbClr val="6E655C"/>
                          </a:solidFill>
                          <a:latin typeface="Calibri"/>
                        </a:rPr>
                        <a:t>Bech32</a:t>
                      </a:r>
                    </a:p>
                  </a:txBody>
                  <a:tcPr marL="54864" marR="54864" marT="27432" marB="27432" anchor="ctr">
                    <a:solidFill>
                      <a:srgbClr val="F2ECE1"/>
                    </a:solidFill>
                  </a:tcPr>
                </a:tc>
                <a:tc>
                  <a:txBody>
                    <a:bodyPr/>
                    <a:lstStyle/>
                    <a:p>
                      <a:pPr algn="ctr"/>
                      <a:r>
                        <a:rPr sz="1000" b="0">
                          <a:solidFill>
                            <a:srgbClr val="6E655C"/>
                          </a:solidFill>
                          <a:latin typeface="Calibri"/>
                        </a:rPr>
                        <a:t>Formats</a:t>
                      </a:r>
                    </a:p>
                  </a:txBody>
                  <a:tcPr marL="54864" marR="54864" marT="27432" marB="27432" anchor="ctr">
                    <a:solidFill>
                      <a:srgbClr val="F2ECE1"/>
                    </a:solidFill>
                  </a:tcPr>
                </a:tc>
                <a:tc>
                  <a:txBody>
                    <a:bodyPr/>
                    <a:lstStyle/>
                    <a:p>
                      <a:pPr algn="ctr"/>
                      <a:r>
                        <a:rPr sz="1000" b="0">
                          <a:solidFill>
                            <a:srgbClr val="6E655C"/>
                          </a:solidFill>
                          <a:latin typeface="Calibri"/>
                        </a:rPr>
                        <a:t>Advanced</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16 / 47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Legacy: concepts, with everyday pictures (1 of 3)</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17 / 47</a:t>
            </a:r>
          </a:p>
        </p:txBody>
      </p:sp>
      <p:graphicFrame>
        <p:nvGraphicFramePr>
          <p:cNvPr id="8" name="Table 7"/>
          <p:cNvGraphicFramePr>
            <a:graphicFrameLocks noGrp="1"/>
          </p:cNvGraphicFramePr>
          <p:nvPr/>
        </p:nvGraphicFramePr>
        <p:xfrm>
          <a:off x="457200" y="1280160"/>
          <a:ext cx="8229600" cy="2944368"/>
        </p:xfrm>
        <a:graphic>
          <a:graphicData uri="http://schemas.openxmlformats.org/drawingml/2006/table">
            <a:tbl>
              <a:tblPr firstRow="1" bandRow="1">
                <a:tableStyleId>{5C22544A-7EE6-4342-B048-85BDC9FD1C3A}</a:tableStyleId>
              </a:tblPr>
              <a:tblGrid>
                <a:gridCol w="2103120"/>
                <a:gridCol w="3108960"/>
                <a:gridCol w="3017520"/>
              </a:tblGrid>
              <a:tr h="420624">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20624">
                <a:tc>
                  <a:txBody>
                    <a:bodyPr/>
                    <a:lstStyle/>
                    <a:p>
                      <a:pPr algn="l"/>
                      <a:r>
                        <a:rPr sz="1100" b="0">
                          <a:solidFill>
                            <a:srgbClr val="2B2622"/>
                          </a:solidFill>
                          <a:latin typeface="Calibri"/>
                        </a:rPr>
                        <a:t>Output and Input Scripts</a:t>
                      </a:r>
                    </a:p>
                  </a:txBody>
                  <a:tcPr marL="54864" marR="54864" marT="27432" marB="27432" anchor="ctr">
                    <a:solidFill>
                      <a:srgbClr val="FFFFFF"/>
                    </a:solidFill>
                  </a:tcPr>
                </a:tc>
                <a:tc>
                  <a:txBody>
                    <a:bodyPr/>
                    <a:lstStyle/>
                    <a:p>
                      <a:pPr algn="l"/>
                      <a:r>
                        <a:rPr sz="1100" b="0">
                          <a:solidFill>
                            <a:srgbClr val="2B2622"/>
                          </a:solidFill>
                          <a:latin typeface="Calibri"/>
                        </a:rPr>
                        <a:t>An output locks coins with a condition; an input supplies what unlocks it.</a:t>
                      </a:r>
                    </a:p>
                  </a:txBody>
                  <a:tcPr marL="54864" marR="54864" marT="27432" marB="27432" anchor="ctr">
                    <a:solidFill>
                      <a:srgbClr val="FFFFFF"/>
                    </a:solidFill>
                  </a:tcPr>
                </a:tc>
                <a:tc>
                  <a:txBody>
                    <a:bodyPr/>
                    <a:lstStyle/>
                    <a:p>
                      <a:pPr algn="l"/>
                      <a:r>
                        <a:rPr sz="1100" b="0">
                          <a:solidFill>
                            <a:srgbClr val="2B2622"/>
                          </a:solidFill>
                          <a:latin typeface="Calibri"/>
                        </a:rPr>
                        <a:t>A locker and the code that opens it.</a:t>
                      </a:r>
                    </a:p>
                  </a:txBody>
                  <a:tcPr marL="54864" marR="54864" marT="27432" marB="27432" anchor="ctr">
                    <a:solidFill>
                      <a:srgbClr val="FFFFFF"/>
                    </a:solidFill>
                  </a:tcPr>
                </a:tc>
              </a:tr>
              <a:tr h="420624">
                <a:tc>
                  <a:txBody>
                    <a:bodyPr/>
                    <a:lstStyle/>
                    <a:p>
                      <a:pPr algn="l"/>
                      <a:r>
                        <a:rPr sz="1100" b="0">
                          <a:solidFill>
                            <a:srgbClr val="2B2622"/>
                          </a:solidFill>
                          <a:latin typeface="Calibri"/>
                        </a:rPr>
                        <a:t>output script</a:t>
                      </a:r>
                    </a:p>
                  </a:txBody>
                  <a:tcPr marL="54864" marR="54864" marT="27432" marB="27432" anchor="ctr">
                    <a:solidFill>
                      <a:srgbClr val="F2ECE1"/>
                    </a:solidFill>
                  </a:tcPr>
                </a:tc>
                <a:tc>
                  <a:txBody>
                    <a:bodyPr/>
                    <a:lstStyle/>
                    <a:p>
                      <a:pPr algn="l"/>
                      <a:r>
                        <a:rPr sz="1100" b="0">
                          <a:solidFill>
                            <a:srgbClr val="2B2622"/>
                          </a:solidFill>
                          <a:latin typeface="Calibri"/>
                        </a:rPr>
                        <a:t>The locking condition stored in a transaction output.</a:t>
                      </a:r>
                    </a:p>
                  </a:txBody>
                  <a:tcPr marL="54864" marR="54864" marT="27432" marB="27432" anchor="ctr">
                    <a:solidFill>
                      <a:srgbClr val="F2ECE1"/>
                    </a:solidFill>
                  </a:tcPr>
                </a:tc>
                <a:tc>
                  <a:txBody>
                    <a:bodyPr/>
                    <a:lstStyle/>
                    <a:p>
                      <a:pPr algn="l"/>
                      <a:r>
                        <a:rPr sz="1100" b="0">
                          <a:solidFill>
                            <a:srgbClr val="2B2622"/>
                          </a:solidFill>
                          <a:latin typeface="Calibri"/>
                        </a:rPr>
                        <a:t>The lock fitted to a parcel locker.</a:t>
                      </a:r>
                    </a:p>
                  </a:txBody>
                  <a:tcPr marL="54864" marR="54864" marT="27432" marB="27432" anchor="ctr">
                    <a:solidFill>
                      <a:srgbClr val="F2ECE1"/>
                    </a:solidFill>
                  </a:tcPr>
                </a:tc>
              </a:tr>
              <a:tr h="420624">
                <a:tc>
                  <a:txBody>
                    <a:bodyPr/>
                    <a:lstStyle/>
                    <a:p>
                      <a:pPr algn="l"/>
                      <a:r>
                        <a:rPr sz="1100" b="0">
                          <a:solidFill>
                            <a:srgbClr val="2B2622"/>
                          </a:solidFill>
                          <a:latin typeface="Calibri"/>
                        </a:rPr>
                        <a:t>input script</a:t>
                      </a:r>
                    </a:p>
                  </a:txBody>
                  <a:tcPr marL="54864" marR="54864" marT="27432" marB="27432" anchor="ctr">
                    <a:solidFill>
                      <a:srgbClr val="FFFFFF"/>
                    </a:solidFill>
                  </a:tcPr>
                </a:tc>
                <a:tc>
                  <a:txBody>
                    <a:bodyPr/>
                    <a:lstStyle/>
                    <a:p>
                      <a:pPr algn="l"/>
                      <a:r>
                        <a:rPr sz="1100" b="0">
                          <a:solidFill>
                            <a:srgbClr val="2B2622"/>
                          </a:solidFill>
                          <a:latin typeface="Calibri"/>
                        </a:rPr>
                        <a:t>The data that satisfies the lock when the coins are spent.</a:t>
                      </a:r>
                    </a:p>
                  </a:txBody>
                  <a:tcPr marL="54864" marR="54864" marT="27432" marB="27432" anchor="ctr">
                    <a:solidFill>
                      <a:srgbClr val="FFFFFF"/>
                    </a:solidFill>
                  </a:tcPr>
                </a:tc>
                <a:tc>
                  <a:txBody>
                    <a:bodyPr/>
                    <a:lstStyle/>
                    <a:p>
                      <a:pPr algn="l"/>
                      <a:r>
                        <a:rPr sz="1100" b="0">
                          <a:solidFill>
                            <a:srgbClr val="2B2622"/>
                          </a:solidFill>
                          <a:latin typeface="Calibri"/>
                        </a:rPr>
                        <a:t>The code you type to open the locker.</a:t>
                      </a:r>
                    </a:p>
                  </a:txBody>
                  <a:tcPr marL="54864" marR="54864" marT="27432" marB="27432" anchor="ctr">
                    <a:solidFill>
                      <a:srgbClr val="FFFFFF"/>
                    </a:solidFill>
                  </a:tcPr>
                </a:tc>
              </a:tr>
              <a:tr h="420624">
                <a:tc>
                  <a:txBody>
                    <a:bodyPr/>
                    <a:lstStyle/>
                    <a:p>
                      <a:pPr algn="l"/>
                      <a:r>
                        <a:rPr sz="1100" b="0">
                          <a:solidFill>
                            <a:srgbClr val="2B2622"/>
                          </a:solidFill>
                          <a:latin typeface="Calibri"/>
                        </a:rPr>
                        <a:t>IP Addresses: The Original Address for Bitcoin (P2PK)</a:t>
                      </a:r>
                    </a:p>
                  </a:txBody>
                  <a:tcPr marL="54864" marR="54864" marT="27432" marB="27432" anchor="ctr">
                    <a:solidFill>
                      <a:srgbClr val="F2ECE1"/>
                    </a:solidFill>
                  </a:tcPr>
                </a:tc>
                <a:tc>
                  <a:txBody>
                    <a:bodyPr/>
                    <a:lstStyle/>
                    <a:p>
                      <a:pPr algn="l"/>
                      <a:r>
                        <a:rPr sz="1100" b="0">
                          <a:solidFill>
                            <a:srgbClr val="2B2622"/>
                          </a:solidFill>
                          <a:latin typeface="Calibri"/>
                        </a:rPr>
                        <a:t>The first Bitcoin paid to an IP address; the output script held the full public key.</a:t>
                      </a:r>
                    </a:p>
                  </a:txBody>
                  <a:tcPr marL="54864" marR="54864" marT="27432" marB="27432" anchor="ctr">
                    <a:solidFill>
                      <a:srgbClr val="F2ECE1"/>
                    </a:solidFill>
                  </a:tcPr>
                </a:tc>
                <a:tc>
                  <a:txBody>
                    <a:bodyPr/>
                    <a:lstStyle/>
                    <a:p>
                      <a:pPr algn="l"/>
                      <a:r>
                        <a:rPr sz="1100" b="0">
                          <a:solidFill>
                            <a:srgbClr val="2B2622"/>
                          </a:solidFill>
                          <a:latin typeface="Calibri"/>
                        </a:rPr>
                        <a:t>Mailing a parcel to a building's blueprint, not its street address.</a:t>
                      </a:r>
                    </a:p>
                  </a:txBody>
                  <a:tcPr marL="54864" marR="54864" marT="27432" marB="27432" anchor="ctr">
                    <a:solidFill>
                      <a:srgbClr val="F2ECE1"/>
                    </a:solidFill>
                  </a:tcPr>
                </a:tc>
              </a:tr>
              <a:tr h="420624">
                <a:tc>
                  <a:txBody>
                    <a:bodyPr/>
                    <a:lstStyle/>
                    <a:p>
                      <a:pPr algn="l"/>
                      <a:r>
                        <a:rPr sz="1100" b="0">
                          <a:solidFill>
                            <a:srgbClr val="2B2622"/>
                          </a:solidFill>
                          <a:latin typeface="Calibri"/>
                        </a:rPr>
                        <a:t>P2PK</a:t>
                      </a:r>
                    </a:p>
                  </a:txBody>
                  <a:tcPr marL="54864" marR="54864" marT="27432" marB="27432" anchor="ctr">
                    <a:solidFill>
                      <a:srgbClr val="FFFFFF"/>
                    </a:solidFill>
                  </a:tcPr>
                </a:tc>
                <a:tc>
                  <a:txBody>
                    <a:bodyPr/>
                    <a:lstStyle/>
                    <a:p>
                      <a:pPr algn="l"/>
                      <a:r>
                        <a:rPr sz="1100" b="0">
                          <a:solidFill>
                            <a:srgbClr val="2B2622"/>
                          </a:solidFill>
                          <a:latin typeface="Calibri"/>
                        </a:rPr>
                        <a:t>Pay to public key: the output script holds the public key itself.</a:t>
                      </a:r>
                    </a:p>
                  </a:txBody>
                  <a:tcPr marL="54864" marR="54864" marT="27432" marB="27432" anchor="ctr">
                    <a:solidFill>
                      <a:srgbClr val="FFFFFF"/>
                    </a:solidFill>
                  </a:tcPr>
                </a:tc>
                <a:tc>
                  <a:txBody>
                    <a:bodyPr/>
                    <a:lstStyle/>
                    <a:p>
                      <a:pPr algn="l"/>
                      <a:r>
                        <a:rPr sz="1100" b="0">
                          <a:solidFill>
                            <a:srgbClr val="2B2622"/>
                          </a:solidFill>
                          <a:latin typeface="Calibri"/>
                        </a:rPr>
                        <a:t>A sealed box that shows its whole lock to everyone.</a:t>
                      </a:r>
                    </a:p>
                  </a:txBody>
                  <a:tcPr marL="54864" marR="54864" marT="27432" marB="27432" anchor="ctr">
                    <a:solidFill>
                      <a:srgbClr val="FFFFFF"/>
                    </a:solidFill>
                  </a:tcPr>
                </a:tc>
              </a:tr>
              <a:tr h="420624">
                <a:tc>
                  <a:txBody>
                    <a:bodyPr/>
                    <a:lstStyle/>
                    <a:p>
                      <a:pPr algn="l"/>
                      <a:r>
                        <a:rPr sz="1100" b="0">
                          <a:solidFill>
                            <a:srgbClr val="2B2622"/>
                          </a:solidFill>
                          <a:latin typeface="Calibri"/>
                        </a:rPr>
                        <a:t>Legacy Addresses for P2PKH</a:t>
                      </a:r>
                    </a:p>
                  </a:txBody>
                  <a:tcPr marL="54864" marR="54864" marT="27432" marB="27432" anchor="ctr">
                    <a:solidFill>
                      <a:srgbClr val="F2ECE1"/>
                    </a:solidFill>
                  </a:tcPr>
                </a:tc>
                <a:tc>
                  <a:txBody>
                    <a:bodyPr/>
                    <a:lstStyle/>
                    <a:p>
                      <a:pPr algn="l"/>
                      <a:r>
                        <a:rPr sz="1100" b="0">
                          <a:solidFill>
                            <a:srgbClr val="2B2622"/>
                          </a:solidFill>
                          <a:latin typeface="Calibri"/>
                        </a:rPr>
                        <a:t>Short text that names the hash of a public key; it starts with 1.</a:t>
                      </a:r>
                    </a:p>
                  </a:txBody>
                  <a:tcPr marL="54864" marR="54864" marT="27432" marB="27432" anchor="ctr">
                    <a:solidFill>
                      <a:srgbClr val="F2ECE1"/>
                    </a:solidFill>
                  </a:tcPr>
                </a:tc>
                <a:tc>
                  <a:txBody>
                    <a:bodyPr/>
                    <a:lstStyle/>
                    <a:p>
                      <a:pPr algn="l"/>
                      <a:r>
                        <a:rPr sz="1100" b="0">
                          <a:solidFill>
                            <a:srgbClr val="2B2622"/>
                          </a:solidFill>
                          <a:latin typeface="Calibri"/>
                        </a:rPr>
                        <a:t>A bank account number instead of your ID card.</a:t>
                      </a:r>
                    </a:p>
                  </a:txBody>
                  <a:tcPr marL="54864" marR="54864" marT="27432" marB="27432" anchor="ctr">
                    <a:solidFill>
                      <a:srgbClr val="F2ECE1"/>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Legacy: concepts, with everyday pictures (2 of 3)</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18 / 47</a:t>
            </a:r>
          </a:p>
        </p:txBody>
      </p:sp>
      <p:graphicFrame>
        <p:nvGraphicFramePr>
          <p:cNvPr id="8" name="Table 7"/>
          <p:cNvGraphicFramePr>
            <a:graphicFrameLocks noGrp="1"/>
          </p:cNvGraphicFramePr>
          <p:nvPr/>
        </p:nvGraphicFramePr>
        <p:xfrm>
          <a:off x="457200" y="1280160"/>
          <a:ext cx="8229600" cy="2944368"/>
        </p:xfrm>
        <a:graphic>
          <a:graphicData uri="http://schemas.openxmlformats.org/drawingml/2006/table">
            <a:tbl>
              <a:tblPr firstRow="1" bandRow="1">
                <a:tableStyleId>{5C22544A-7EE6-4342-B048-85BDC9FD1C3A}</a:tableStyleId>
              </a:tblPr>
              <a:tblGrid>
                <a:gridCol w="2103120"/>
                <a:gridCol w="3108960"/>
                <a:gridCol w="3017520"/>
              </a:tblGrid>
              <a:tr h="420624">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20624">
                <a:tc>
                  <a:txBody>
                    <a:bodyPr/>
                    <a:lstStyle/>
                    <a:p>
                      <a:pPr algn="l"/>
                      <a:r>
                        <a:rPr sz="1100" b="0">
                          <a:solidFill>
                            <a:srgbClr val="2B2622"/>
                          </a:solidFill>
                          <a:latin typeface="Calibri"/>
                        </a:rPr>
                        <a:t>P2PKH</a:t>
                      </a:r>
                    </a:p>
                  </a:txBody>
                  <a:tcPr marL="54864" marR="54864" marT="27432" marB="27432" anchor="ctr">
                    <a:solidFill>
                      <a:srgbClr val="FFFFFF"/>
                    </a:solidFill>
                  </a:tcPr>
                </a:tc>
                <a:tc>
                  <a:txBody>
                    <a:bodyPr/>
                    <a:lstStyle/>
                    <a:p>
                      <a:pPr algn="l"/>
                      <a:r>
                        <a:rPr sz="1100" b="0">
                          <a:solidFill>
                            <a:srgbClr val="2B2622"/>
                          </a:solidFill>
                          <a:latin typeface="Calibri"/>
                        </a:rPr>
                        <a:t>Pay to public key hash: the output script holds only a 20-byte hash.</a:t>
                      </a:r>
                    </a:p>
                  </a:txBody>
                  <a:tcPr marL="54864" marR="54864" marT="27432" marB="27432" anchor="ctr">
                    <a:solidFill>
                      <a:srgbClr val="FFFFFF"/>
                    </a:solidFill>
                  </a:tcPr>
                </a:tc>
                <a:tc>
                  <a:txBody>
                    <a:bodyPr/>
                    <a:lstStyle/>
                    <a:p>
                      <a:pPr algn="l"/>
                      <a:r>
                        <a:rPr sz="1100" b="0">
                          <a:solidFill>
                            <a:srgbClr val="2B2622"/>
                          </a:solidFill>
                          <a:latin typeface="Calibri"/>
                        </a:rPr>
                        <a:t>A locker that shows a number, never the shape of the key.</a:t>
                      </a:r>
                    </a:p>
                  </a:txBody>
                  <a:tcPr marL="54864" marR="54864" marT="27432" marB="27432" anchor="ctr">
                    <a:solidFill>
                      <a:srgbClr val="FFFFFF"/>
                    </a:solidFill>
                  </a:tcPr>
                </a:tc>
              </a:tr>
              <a:tr h="420624">
                <a:tc>
                  <a:txBody>
                    <a:bodyPr/>
                    <a:lstStyle/>
                    <a:p>
                      <a:pPr algn="l"/>
                      <a:r>
                        <a:rPr sz="1100" b="0">
                          <a:solidFill>
                            <a:srgbClr val="2B2622"/>
                          </a:solidFill>
                          <a:latin typeface="Calibri"/>
                        </a:rPr>
                        <a:t>commitment</a:t>
                      </a:r>
                    </a:p>
                  </a:txBody>
                  <a:tcPr marL="54864" marR="54864" marT="27432" marB="27432" anchor="ctr">
                    <a:solidFill>
                      <a:srgbClr val="F2ECE1"/>
                    </a:solidFill>
                  </a:tcPr>
                </a:tc>
                <a:tc>
                  <a:txBody>
                    <a:bodyPr/>
                    <a:lstStyle/>
                    <a:p>
                      <a:pPr algn="l"/>
                      <a:r>
                        <a:rPr sz="1100" b="0">
                          <a:solidFill>
                            <a:srgbClr val="2B2622"/>
                          </a:solidFill>
                          <a:latin typeface="Calibri"/>
                        </a:rPr>
                        <a:t>A hash that fixes a value now and lets you reveal it later.</a:t>
                      </a:r>
                    </a:p>
                  </a:txBody>
                  <a:tcPr marL="54864" marR="54864" marT="27432" marB="27432" anchor="ctr">
                    <a:solidFill>
                      <a:srgbClr val="F2ECE1"/>
                    </a:solidFill>
                  </a:tcPr>
                </a:tc>
                <a:tc>
                  <a:txBody>
                    <a:bodyPr/>
                    <a:lstStyle/>
                    <a:p>
                      <a:pPr algn="l"/>
                      <a:r>
                        <a:rPr sz="1100" b="0">
                          <a:solidFill>
                            <a:srgbClr val="2B2622"/>
                          </a:solidFill>
                          <a:latin typeface="Calibri"/>
                        </a:rPr>
                        <a:t>A sealed envelope holding your prediction.</a:t>
                      </a:r>
                    </a:p>
                  </a:txBody>
                  <a:tcPr marL="54864" marR="54864" marT="27432" marB="27432" anchor="ctr">
                    <a:solidFill>
                      <a:srgbClr val="F2ECE1"/>
                    </a:solidFill>
                  </a:tcPr>
                </a:tc>
              </a:tr>
              <a:tr h="420624">
                <a:tc>
                  <a:txBody>
                    <a:bodyPr/>
                    <a:lstStyle/>
                    <a:p>
                      <a:pPr algn="l"/>
                      <a:r>
                        <a:rPr sz="1100" b="0">
                          <a:solidFill>
                            <a:srgbClr val="2B2622"/>
                          </a:solidFill>
                          <a:latin typeface="Calibri"/>
                        </a:rPr>
                        <a:t>SHA256</a:t>
                      </a:r>
                    </a:p>
                  </a:txBody>
                  <a:tcPr marL="54864" marR="54864" marT="27432" marB="27432" anchor="ctr">
                    <a:solidFill>
                      <a:srgbClr val="FFFFFF"/>
                    </a:solidFill>
                  </a:tcPr>
                </a:tc>
                <a:tc>
                  <a:txBody>
                    <a:bodyPr/>
                    <a:lstStyle/>
                    <a:p>
                      <a:pPr algn="l"/>
                      <a:r>
                        <a:rPr sz="1100" b="0">
                          <a:solidFill>
                            <a:srgbClr val="2B2622"/>
                          </a:solidFill>
                          <a:latin typeface="Calibri"/>
                        </a:rPr>
                        <a:t>A hash function: any input becomes a 32-byte fingerprint.</a:t>
                      </a:r>
                    </a:p>
                  </a:txBody>
                  <a:tcPr marL="54864" marR="54864" marT="27432" marB="27432" anchor="ctr">
                    <a:solidFill>
                      <a:srgbClr val="FFFFFF"/>
                    </a:solidFill>
                  </a:tcPr>
                </a:tc>
                <a:tc>
                  <a:txBody>
                    <a:bodyPr/>
                    <a:lstStyle/>
                    <a:p>
                      <a:pPr algn="l"/>
                      <a:r>
                        <a:rPr sz="1100" b="0">
                          <a:solidFill>
                            <a:srgbClr val="2B2622"/>
                          </a:solidFill>
                          <a:latin typeface="Calibri"/>
                        </a:rPr>
                        <a:t>A fingerprint: small, unique and impossible to reverse.</a:t>
                      </a:r>
                    </a:p>
                  </a:txBody>
                  <a:tcPr marL="54864" marR="54864" marT="27432" marB="27432" anchor="ctr">
                    <a:solidFill>
                      <a:srgbClr val="FFFFFF"/>
                    </a:solidFill>
                  </a:tcPr>
                </a:tc>
              </a:tr>
              <a:tr h="420624">
                <a:tc>
                  <a:txBody>
                    <a:bodyPr/>
                    <a:lstStyle/>
                    <a:p>
                      <a:pPr algn="l"/>
                      <a:r>
                        <a:rPr sz="1100" b="0">
                          <a:solidFill>
                            <a:srgbClr val="2B2622"/>
                          </a:solidFill>
                          <a:latin typeface="Calibri"/>
                        </a:rPr>
                        <a:t>RIPEMD-160</a:t>
                      </a:r>
                    </a:p>
                  </a:txBody>
                  <a:tcPr marL="54864" marR="54864" marT="27432" marB="27432" anchor="ctr">
                    <a:solidFill>
                      <a:srgbClr val="F2ECE1"/>
                    </a:solidFill>
                  </a:tcPr>
                </a:tc>
                <a:tc>
                  <a:txBody>
                    <a:bodyPr/>
                    <a:lstStyle/>
                    <a:p>
                      <a:pPr algn="l"/>
                      <a:r>
                        <a:rPr sz="1100" b="0">
                          <a:solidFill>
                            <a:srgbClr val="2B2622"/>
                          </a:solidFill>
                          <a:latin typeface="Calibri"/>
                        </a:rPr>
                        <a:t>A second hash function that gives a 20-byte fingerprint.</a:t>
                      </a:r>
                    </a:p>
                  </a:txBody>
                  <a:tcPr marL="54864" marR="54864" marT="27432" marB="27432" anchor="ctr">
                    <a:solidFill>
                      <a:srgbClr val="F2ECE1"/>
                    </a:solidFill>
                  </a:tcPr>
                </a:tc>
                <a:tc>
                  <a:txBody>
                    <a:bodyPr/>
                    <a:lstStyle/>
                    <a:p>
                      <a:pPr algn="l"/>
                      <a:r>
                        <a:rPr sz="1100" b="0">
                          <a:solidFill>
                            <a:srgbClr val="2B2622"/>
                          </a:solidFill>
                          <a:latin typeface="Calibri"/>
                        </a:rPr>
                        <a:t>A photocopier that shrinks a page to a stamp.</a:t>
                      </a:r>
                    </a:p>
                  </a:txBody>
                  <a:tcPr marL="54864" marR="54864" marT="27432" marB="27432" anchor="ctr">
                    <a:solidFill>
                      <a:srgbClr val="F2ECE1"/>
                    </a:solidFill>
                  </a:tcPr>
                </a:tc>
              </a:tr>
              <a:tr h="420624">
                <a:tc>
                  <a:txBody>
                    <a:bodyPr/>
                    <a:lstStyle/>
                    <a:p>
                      <a:pPr algn="l"/>
                      <a:r>
                        <a:rPr sz="1100" b="0">
                          <a:solidFill>
                            <a:srgbClr val="2B2622"/>
                          </a:solidFill>
                          <a:latin typeface="Calibri"/>
                        </a:rPr>
                        <a:t>HASH160</a:t>
                      </a:r>
                    </a:p>
                  </a:txBody>
                  <a:tcPr marL="54864" marR="54864" marT="27432" marB="27432" anchor="ctr">
                    <a:solidFill>
                      <a:srgbClr val="FFFFFF"/>
                    </a:solidFill>
                  </a:tcPr>
                </a:tc>
                <a:tc>
                  <a:txBody>
                    <a:bodyPr/>
                    <a:lstStyle/>
                    <a:p>
                      <a:pPr algn="l"/>
                      <a:r>
                        <a:rPr sz="1100" b="0">
                          <a:solidFill>
                            <a:srgbClr val="2B2622"/>
                          </a:solidFill>
                          <a:latin typeface="Calibri"/>
                        </a:rPr>
                        <a:t>SHA256 followed by RIPEMD-160: the 20-byte hash of a public key.</a:t>
                      </a:r>
                    </a:p>
                  </a:txBody>
                  <a:tcPr marL="54864" marR="54864" marT="27432" marB="27432" anchor="ctr">
                    <a:solidFill>
                      <a:srgbClr val="FFFFFF"/>
                    </a:solidFill>
                  </a:tcPr>
                </a:tc>
                <a:tc>
                  <a:txBody>
                    <a:bodyPr/>
                    <a:lstStyle/>
                    <a:p>
                      <a:pPr algn="l"/>
                      <a:r>
                        <a:rPr sz="1100" b="0">
                          <a:solidFill>
                            <a:srgbClr val="2B2622"/>
                          </a:solidFill>
                          <a:latin typeface="Calibri"/>
                        </a:rPr>
                        <a:t>Two sieves in a row: the finer one decides.</a:t>
                      </a:r>
                    </a:p>
                  </a:txBody>
                  <a:tcPr marL="54864" marR="54864" marT="27432" marB="27432" anchor="ctr">
                    <a:solidFill>
                      <a:srgbClr val="FFFFFF"/>
                    </a:solidFill>
                  </a:tcPr>
                </a:tc>
              </a:tr>
              <a:tr h="420624">
                <a:tc>
                  <a:txBody>
                    <a:bodyPr/>
                    <a:lstStyle/>
                    <a:p>
                      <a:pPr algn="l"/>
                      <a:r>
                        <a:rPr sz="1100" b="0">
                          <a:solidFill>
                            <a:srgbClr val="2B2622"/>
                          </a:solidFill>
                          <a:latin typeface="Calibri"/>
                        </a:rPr>
                        <a:t>Base58check Encoding</a:t>
                      </a:r>
                    </a:p>
                  </a:txBody>
                  <a:tcPr marL="54864" marR="54864" marT="27432" marB="27432" anchor="ctr">
                    <a:solidFill>
                      <a:srgbClr val="F2ECE1"/>
                    </a:solidFill>
                  </a:tcPr>
                </a:tc>
                <a:tc>
                  <a:txBody>
                    <a:bodyPr/>
                    <a:lstStyle/>
                    <a:p>
                      <a:pPr algn="l"/>
                      <a:r>
                        <a:rPr sz="1100" b="0">
                          <a:solidFill>
                            <a:srgbClr val="2B2622"/>
                          </a:solidFill>
                          <a:latin typeface="Calibri"/>
                        </a:rPr>
                        <a:t>Version byte, payload and checksum written in base58.</a:t>
                      </a:r>
                    </a:p>
                  </a:txBody>
                  <a:tcPr marL="54864" marR="54864" marT="27432" marB="27432" anchor="ctr">
                    <a:solidFill>
                      <a:srgbClr val="F2ECE1"/>
                    </a:solidFill>
                  </a:tcPr>
                </a:tc>
                <a:tc>
                  <a:txBody>
                    <a:bodyPr/>
                    <a:lstStyle/>
                    <a:p>
                      <a:pPr algn="l"/>
                      <a:r>
                        <a:rPr sz="1100" b="0">
                          <a:solidFill>
                            <a:srgbClr val="2B2622"/>
                          </a:solidFill>
                          <a:latin typeface="Calibri"/>
                        </a:rPr>
                        <a:t>A parcel with a label, a content and a seal.</a:t>
                      </a:r>
                    </a:p>
                  </a:txBody>
                  <a:tcPr marL="54864" marR="54864" marT="27432" marB="27432" anchor="ctr">
                    <a:solidFill>
                      <a:srgbClr val="F2ECE1"/>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Legacy: concepts, with everyday pictures (3 of 3)</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19 / 47</a:t>
            </a:r>
          </a:p>
        </p:txBody>
      </p:sp>
      <p:graphicFrame>
        <p:nvGraphicFramePr>
          <p:cNvPr id="8" name="Table 7"/>
          <p:cNvGraphicFramePr>
            <a:graphicFrameLocks noGrp="1"/>
          </p:cNvGraphicFramePr>
          <p:nvPr/>
        </p:nvGraphicFramePr>
        <p:xfrm>
          <a:off x="457200" y="1280160"/>
          <a:ext cx="8229600" cy="2743200"/>
        </p:xfrm>
        <a:graphic>
          <a:graphicData uri="http://schemas.openxmlformats.org/drawingml/2006/table">
            <a:tbl>
              <a:tblPr firstRow="1" bandRow="1">
                <a:tableStyleId>{5C22544A-7EE6-4342-B048-85BDC9FD1C3A}</a:tableStyleId>
              </a:tblPr>
              <a:tblGrid>
                <a:gridCol w="2103120"/>
                <a:gridCol w="3108960"/>
                <a:gridCol w="3017520"/>
              </a:tblGrid>
              <a:tr h="457200">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57200">
                <a:tc>
                  <a:txBody>
                    <a:bodyPr/>
                    <a:lstStyle/>
                    <a:p>
                      <a:pPr algn="l"/>
                      <a:r>
                        <a:rPr sz="1100" b="0">
                          <a:solidFill>
                            <a:srgbClr val="2B2622"/>
                          </a:solidFill>
                          <a:latin typeface="Calibri"/>
                        </a:rPr>
                        <a:t>base58</a:t>
                      </a:r>
                    </a:p>
                  </a:txBody>
                  <a:tcPr marL="54864" marR="54864" marT="27432" marB="27432" anchor="ctr">
                    <a:solidFill>
                      <a:srgbClr val="FFFFFF"/>
                    </a:solidFill>
                  </a:tcPr>
                </a:tc>
                <a:tc>
                  <a:txBody>
                    <a:bodyPr/>
                    <a:lstStyle/>
                    <a:p>
                      <a:pPr algn="l"/>
                      <a:r>
                        <a:rPr sz="1100" b="0">
                          <a:solidFill>
                            <a:srgbClr val="2B2622"/>
                          </a:solidFill>
                          <a:latin typeface="Calibri"/>
                        </a:rPr>
                        <a:t>An alphabet of 58 letters and digits without look-alike characters.</a:t>
                      </a:r>
                    </a:p>
                  </a:txBody>
                  <a:tcPr marL="54864" marR="54864" marT="27432" marB="27432" anchor="ctr">
                    <a:solidFill>
                      <a:srgbClr val="FFFFFF"/>
                    </a:solidFill>
                  </a:tcPr>
                </a:tc>
                <a:tc>
                  <a:txBody>
                    <a:bodyPr/>
                    <a:lstStyle/>
                    <a:p>
                      <a:pPr algn="l"/>
                      <a:r>
                        <a:rPr sz="1100" b="0">
                          <a:solidFill>
                            <a:srgbClr val="2B2622"/>
                          </a:solidFill>
                          <a:latin typeface="Calibri"/>
                        </a:rPr>
                        <a:t>A font with no confusable letters.</a:t>
                      </a:r>
                    </a:p>
                  </a:txBody>
                  <a:tcPr marL="54864" marR="54864" marT="27432" marB="27432" anchor="ctr">
                    <a:solidFill>
                      <a:srgbClr val="FFFFFF"/>
                    </a:solidFill>
                  </a:tcPr>
                </a:tc>
              </a:tr>
              <a:tr h="457200">
                <a:tc>
                  <a:txBody>
                    <a:bodyPr/>
                    <a:lstStyle/>
                    <a:p>
                      <a:pPr algn="l"/>
                      <a:r>
                        <a:rPr sz="1100" b="0">
                          <a:solidFill>
                            <a:srgbClr val="2B2622"/>
                          </a:solidFill>
                          <a:latin typeface="Calibri"/>
                        </a:rPr>
                        <a:t>checksum</a:t>
                      </a:r>
                    </a:p>
                  </a:txBody>
                  <a:tcPr marL="54864" marR="54864" marT="27432" marB="27432" anchor="ctr">
                    <a:solidFill>
                      <a:srgbClr val="F2ECE1"/>
                    </a:solidFill>
                  </a:tcPr>
                </a:tc>
                <a:tc>
                  <a:txBody>
                    <a:bodyPr/>
                    <a:lstStyle/>
                    <a:p>
                      <a:pPr algn="l"/>
                      <a:r>
                        <a:rPr sz="1100" b="0">
                          <a:solidFill>
                            <a:srgbClr val="2B2622"/>
                          </a:solidFill>
                          <a:latin typeface="Calibri"/>
                        </a:rPr>
                        <a:t>Four bytes of a double SHA256 that catch typing mistakes.</a:t>
                      </a:r>
                    </a:p>
                  </a:txBody>
                  <a:tcPr marL="54864" marR="54864" marT="27432" marB="27432" anchor="ctr">
                    <a:solidFill>
                      <a:srgbClr val="F2ECE1"/>
                    </a:solidFill>
                  </a:tcPr>
                </a:tc>
                <a:tc>
                  <a:txBody>
                    <a:bodyPr/>
                    <a:lstStyle/>
                    <a:p>
                      <a:pPr algn="l"/>
                      <a:r>
                        <a:rPr sz="1100" b="0">
                          <a:solidFill>
                            <a:srgbClr val="2B2622"/>
                          </a:solidFill>
                          <a:latin typeface="Calibri"/>
                        </a:rPr>
                        <a:t>The check digit at the end of a barcode.</a:t>
                      </a:r>
                    </a:p>
                  </a:txBody>
                  <a:tcPr marL="54864" marR="54864" marT="27432" marB="27432" anchor="ctr">
                    <a:solidFill>
                      <a:srgbClr val="F2ECE1"/>
                    </a:solidFill>
                  </a:tcPr>
                </a:tc>
              </a:tr>
              <a:tr h="457200">
                <a:tc>
                  <a:txBody>
                    <a:bodyPr/>
                    <a:lstStyle/>
                    <a:p>
                      <a:pPr algn="l"/>
                      <a:r>
                        <a:rPr sz="1100" b="0">
                          <a:solidFill>
                            <a:srgbClr val="2B2622"/>
                          </a:solidFill>
                          <a:latin typeface="Calibri"/>
                        </a:rPr>
                        <a:t>version prefix</a:t>
                      </a:r>
                    </a:p>
                  </a:txBody>
                  <a:tcPr marL="54864" marR="54864" marT="27432" marB="27432" anchor="ctr">
                    <a:solidFill>
                      <a:srgbClr val="FFFFFF"/>
                    </a:solidFill>
                  </a:tcPr>
                </a:tc>
                <a:tc>
                  <a:txBody>
                    <a:bodyPr/>
                    <a:lstStyle/>
                    <a:p>
                      <a:pPr algn="l"/>
                      <a:r>
                        <a:rPr sz="1100" b="0">
                          <a:solidFill>
                            <a:srgbClr val="2B2622"/>
                          </a:solidFill>
                          <a:latin typeface="Calibri"/>
                        </a:rPr>
                        <a:t>The first byte says what follows: 00 for a key hash, 05 for a script hash.</a:t>
                      </a:r>
                    </a:p>
                  </a:txBody>
                  <a:tcPr marL="54864" marR="54864" marT="27432" marB="27432" anchor="ctr">
                    <a:solidFill>
                      <a:srgbClr val="FFFFFF"/>
                    </a:solidFill>
                  </a:tcPr>
                </a:tc>
                <a:tc>
                  <a:txBody>
                    <a:bodyPr/>
                    <a:lstStyle/>
                    <a:p>
                      <a:pPr algn="l"/>
                      <a:r>
                        <a:rPr sz="1100" b="0">
                          <a:solidFill>
                            <a:srgbClr val="2B2622"/>
                          </a:solidFill>
                          <a:latin typeface="Calibri"/>
                        </a:rPr>
                        <a:t>The country code at the start of a phone number.</a:t>
                      </a:r>
                    </a:p>
                  </a:txBody>
                  <a:tcPr marL="54864" marR="54864" marT="27432" marB="27432" anchor="ctr">
                    <a:solidFill>
                      <a:srgbClr val="FFFFFF"/>
                    </a:solidFill>
                  </a:tcPr>
                </a:tc>
              </a:tr>
              <a:tr h="457200">
                <a:tc>
                  <a:txBody>
                    <a:bodyPr/>
                    <a:lstStyle/>
                    <a:p>
                      <a:pPr algn="l"/>
                      <a:r>
                        <a:rPr sz="1100" b="0">
                          <a:solidFill>
                            <a:srgbClr val="2B2622"/>
                          </a:solidFill>
                          <a:latin typeface="Calibri"/>
                        </a:rPr>
                        <a:t>Compressed Public Keys</a:t>
                      </a:r>
                    </a:p>
                  </a:txBody>
                  <a:tcPr marL="54864" marR="54864" marT="27432" marB="27432" anchor="ctr">
                    <a:solidFill>
                      <a:srgbClr val="F2ECE1"/>
                    </a:solidFill>
                  </a:tcPr>
                </a:tc>
                <a:tc>
                  <a:txBody>
                    <a:bodyPr/>
                    <a:lstStyle/>
                    <a:p>
                      <a:pPr algn="l"/>
                      <a:r>
                        <a:rPr sz="1100" b="0">
                          <a:solidFill>
                            <a:srgbClr val="2B2622"/>
                          </a:solidFill>
                          <a:latin typeface="Calibri"/>
                        </a:rPr>
                        <a:t>33 bytes: the x coordinate and one byte that says whether y is even or odd.</a:t>
                      </a:r>
                    </a:p>
                  </a:txBody>
                  <a:tcPr marL="54864" marR="54864" marT="27432" marB="27432" anchor="ctr">
                    <a:solidFill>
                      <a:srgbClr val="F2ECE1"/>
                    </a:solidFill>
                  </a:tcPr>
                </a:tc>
                <a:tc>
                  <a:txBody>
                    <a:bodyPr/>
                    <a:lstStyle/>
                    <a:p>
                      <a:pPr algn="l"/>
                      <a:r>
                        <a:rPr sz="1100" b="0">
                          <a:solidFill>
                            <a:srgbClr val="2B2622"/>
                          </a:solidFill>
                          <a:latin typeface="Calibri"/>
                        </a:rPr>
                        <a:t>A map reference that says the column and up or down.</a:t>
                      </a:r>
                    </a:p>
                  </a:txBody>
                  <a:tcPr marL="54864" marR="54864" marT="27432" marB="27432" anchor="ctr">
                    <a:solidFill>
                      <a:srgbClr val="F2ECE1"/>
                    </a:solidFill>
                  </a:tcPr>
                </a:tc>
              </a:tr>
              <a:tr h="457200">
                <a:tc>
                  <a:txBody>
                    <a:bodyPr/>
                    <a:lstStyle/>
                    <a:p>
                      <a:pPr algn="l"/>
                      <a:r>
                        <a:rPr sz="1100" b="0">
                          <a:solidFill>
                            <a:srgbClr val="2B2622"/>
                          </a:solidFill>
                          <a:latin typeface="Calibri"/>
                        </a:rPr>
                        <a:t>uncompressed public key</a:t>
                      </a:r>
                    </a:p>
                  </a:txBody>
                  <a:tcPr marL="54864" marR="54864" marT="27432" marB="27432" anchor="ctr">
                    <a:solidFill>
                      <a:srgbClr val="FFFFFF"/>
                    </a:solidFill>
                  </a:tcPr>
                </a:tc>
                <a:tc>
                  <a:txBody>
                    <a:bodyPr/>
                    <a:lstStyle/>
                    <a:p>
                      <a:pPr algn="l"/>
                      <a:r>
                        <a:rPr sz="1100" b="0">
                          <a:solidFill>
                            <a:srgbClr val="2B2622"/>
                          </a:solidFill>
                          <a:latin typeface="Calibri"/>
                        </a:rPr>
                        <a:t>65 bytes: a 04 byte, then both x and y in full.</a:t>
                      </a:r>
                    </a:p>
                  </a:txBody>
                  <a:tcPr marL="54864" marR="54864" marT="27432" marB="27432" anchor="ctr">
                    <a:solidFill>
                      <a:srgbClr val="FFFFFF"/>
                    </a:solidFill>
                  </a:tcPr>
                </a:tc>
                <a:tc>
                  <a:txBody>
                    <a:bodyPr/>
                    <a:lstStyle/>
                    <a:p>
                      <a:pPr algn="l"/>
                      <a:r>
                        <a:rPr sz="1100" b="0">
                          <a:solidFill>
                            <a:srgbClr val="2B2622"/>
                          </a:solidFill>
                          <a:latin typeface="Calibri"/>
                        </a:rPr>
                        <a:t>Giving both map coordinates in full.</a:t>
                      </a:r>
                    </a:p>
                  </a:txBody>
                  <a:tcPr marL="54864" marR="54864" marT="27432" marB="27432"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A public key has two encodings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Compressed keys keep x and the parity of y</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 compressed key is 33 bytes; the full one is 65</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20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Kp = K.ec_mul(K.BOOK_K)</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 u = K.pub_bytes(Kp), K.pub_bytes(Kp, </a:t>
            </a:r>
            <a:r>
              <a:rPr sz="1000" b="1" i="0">
                <a:solidFill>
                  <a:srgbClr val="F2A860"/>
                </a:solidFill>
                <a:latin typeface="Courier New"/>
              </a:rPr>
              <a:t>False</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(len(c), len(u), c[</a:t>
            </a:r>
            <a:r>
              <a:rPr sz="1000" b="0" i="0">
                <a:solidFill>
                  <a:srgbClr val="FFD28A"/>
                </a:solidFill>
                <a:latin typeface="Courier New"/>
              </a:rPr>
              <a:t>0</a:t>
            </a:r>
            <a:r>
              <a:rPr sz="1000" b="0" i="0">
                <a:solidFill>
                  <a:srgbClr val="E6EDF3"/>
                </a:solidFill>
                <a:latin typeface="Courier New"/>
              </a:rPr>
              <a:t>], u[</a:t>
            </a:r>
            <a:r>
              <a:rPr sz="1000" b="0" i="0">
                <a:solidFill>
                  <a:srgbClr val="FFD28A"/>
                </a:solidFill>
                <a:latin typeface="Courier New"/>
              </a:rPr>
              <a:t>0</a:t>
            </a:r>
            <a:r>
              <a:rPr sz="1000" b="0" i="0">
                <a:solidFill>
                  <a:srgbClr val="E6EDF3"/>
                </a:solidFill>
                <a:latin typeface="Courier New"/>
              </a:rPr>
              <a:t>])</a:t>
            </a:r>
          </a:p>
          <a:p>
            <a:pPr algn="l"/>
            <a:r>
              <a:rPr sz="1000" b="0" i="0">
                <a:solidFill>
                  <a:srgbClr val="7EE787"/>
                </a:solidFill>
                <a:latin typeface="Courier New"/>
              </a:rPr>
              <a:t>(33, 65, 3, 4)</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Multiply G by the book's private key: the public key is a point (x, y).</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Compressed keeps x and a parity byte; uncompressed writes x and y after 04.</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two encodings</a:t>
            </a:r>
          </a:p>
        </p:txBody>
      </p:sp>
      <p:graphicFrame>
        <p:nvGraphicFramePr>
          <p:cNvPr id="16" name="Table 15"/>
          <p:cNvGraphicFramePr>
            <a:graphicFrameLocks noGrp="1"/>
          </p:cNvGraphicFramePr>
          <p:nvPr/>
        </p:nvGraphicFramePr>
        <p:xfrm>
          <a:off x="5852160" y="1691640"/>
          <a:ext cx="2834640" cy="1097280"/>
        </p:xfrm>
        <a:graphic>
          <a:graphicData uri="http://schemas.openxmlformats.org/drawingml/2006/table">
            <a:tbl>
              <a:tblPr firstRow="1" bandRow="1">
                <a:tableStyleId>{5C22544A-7EE6-4342-B048-85BDC9FD1C3A}</a:tableStyleId>
              </a:tblPr>
              <a:tblGrid>
                <a:gridCol w="914400"/>
                <a:gridCol w="685800"/>
                <a:gridCol w="457200"/>
                <a:gridCol w="777240"/>
              </a:tblGrid>
              <a:tr h="365760">
                <a:tc>
                  <a:txBody>
                    <a:bodyPr/>
                    <a:lstStyle/>
                    <a:p>
                      <a:pPr algn="l"/>
                      <a:r>
                        <a:rPr sz="950" b="1">
                          <a:solidFill>
                            <a:srgbClr val="FFFFFF"/>
                          </a:solidFill>
                          <a:latin typeface="Calibri"/>
                        </a:rPr>
                        <a:t>Form</a:t>
                      </a:r>
                    </a:p>
                  </a:txBody>
                  <a:tcPr marL="54864" marR="54864" marT="27432" marB="27432" anchor="ctr">
                    <a:solidFill>
                      <a:srgbClr val="2F6D62"/>
                    </a:solidFill>
                  </a:tcPr>
                </a:tc>
                <a:tc>
                  <a:txBody>
                    <a:bodyPr/>
                    <a:lstStyle/>
                    <a:p>
                      <a:pPr algn="l"/>
                      <a:r>
                        <a:rPr sz="950" b="1">
                          <a:solidFill>
                            <a:srgbClr val="FFFFFF"/>
                          </a:solidFill>
                          <a:latin typeface="Calibri"/>
                        </a:rPr>
                        <a:t>Prefix</a:t>
                      </a:r>
                    </a:p>
                  </a:txBody>
                  <a:tcPr marL="54864" marR="54864" marT="27432" marB="27432" anchor="ctr">
                    <a:solidFill>
                      <a:srgbClr val="2F6D62"/>
                    </a:solidFill>
                  </a:tcPr>
                </a:tc>
                <a:tc>
                  <a:txBody>
                    <a:bodyPr/>
                    <a:lstStyle/>
                    <a:p>
                      <a:pPr algn="ctr"/>
                      <a:r>
                        <a:rPr sz="950" b="1">
                          <a:solidFill>
                            <a:srgbClr val="FFFFFF"/>
                          </a:solidFill>
                          <a:latin typeface="Calibri"/>
                        </a:rPr>
                        <a:t>Bytes</a:t>
                      </a:r>
                    </a:p>
                  </a:txBody>
                  <a:tcPr marL="54864" marR="54864" marT="27432" marB="27432" anchor="ctr">
                    <a:solidFill>
                      <a:srgbClr val="2F6D62"/>
                    </a:solidFill>
                  </a:tcPr>
                </a:tc>
                <a:tc>
                  <a:txBody>
                    <a:bodyPr/>
                    <a:lstStyle/>
                    <a:p>
                      <a:pPr algn="l"/>
                      <a:r>
                        <a:rPr sz="950" b="1">
                          <a:solidFill>
                            <a:srgbClr val="FFFFFF"/>
                          </a:solidFill>
                          <a:latin typeface="Calibri"/>
                        </a:rPr>
                        <a:t>Holds</a:t>
                      </a:r>
                    </a:p>
                  </a:txBody>
                  <a:tcPr marL="54864" marR="54864" marT="27432" marB="27432" anchor="ctr">
                    <a:solidFill>
                      <a:srgbClr val="2F6D62"/>
                    </a:solidFill>
                  </a:tcPr>
                </a:tc>
              </a:tr>
              <a:tr h="365760">
                <a:tc>
                  <a:txBody>
                    <a:bodyPr/>
                    <a:lstStyle/>
                    <a:p>
                      <a:pPr algn="l"/>
                      <a:r>
                        <a:rPr sz="950" b="0">
                          <a:solidFill>
                            <a:srgbClr val="2B2622"/>
                          </a:solidFill>
                          <a:latin typeface="Calibri"/>
                        </a:rPr>
                        <a:t>Compressed</a:t>
                      </a:r>
                    </a:p>
                  </a:txBody>
                  <a:tcPr marL="54864" marR="54864" marT="27432" marB="27432" anchor="ctr">
                    <a:solidFill>
                      <a:srgbClr val="FFFFFF"/>
                    </a:solidFill>
                  </a:tcPr>
                </a:tc>
                <a:tc>
                  <a:txBody>
                    <a:bodyPr/>
                    <a:lstStyle/>
                    <a:p>
                      <a:pPr algn="l"/>
                      <a:r>
                        <a:rPr sz="950" b="0">
                          <a:solidFill>
                            <a:srgbClr val="2B2622"/>
                          </a:solidFill>
                          <a:latin typeface="Calibri"/>
                        </a:rPr>
                        <a:t>02 or 03</a:t>
                      </a:r>
                    </a:p>
                  </a:txBody>
                  <a:tcPr marL="54864" marR="54864" marT="27432" marB="27432" anchor="ctr">
                    <a:solidFill>
                      <a:srgbClr val="FFFFFF"/>
                    </a:solidFill>
                  </a:tcPr>
                </a:tc>
                <a:tc>
                  <a:txBody>
                    <a:bodyPr/>
                    <a:lstStyle/>
                    <a:p>
                      <a:pPr algn="ctr"/>
                      <a:r>
                        <a:rPr sz="950" b="0">
                          <a:solidFill>
                            <a:srgbClr val="2B2622"/>
                          </a:solidFill>
                          <a:latin typeface="Calibri"/>
                        </a:rPr>
                        <a:t>33</a:t>
                      </a:r>
                    </a:p>
                  </a:txBody>
                  <a:tcPr marL="54864" marR="54864" marT="27432" marB="27432" anchor="ctr">
                    <a:solidFill>
                      <a:srgbClr val="FFFFFF"/>
                    </a:solidFill>
                  </a:tcPr>
                </a:tc>
                <a:tc>
                  <a:txBody>
                    <a:bodyPr/>
                    <a:lstStyle/>
                    <a:p>
                      <a:pPr algn="l"/>
                      <a:r>
                        <a:rPr sz="950" b="0">
                          <a:solidFill>
                            <a:srgbClr val="2B2622"/>
                          </a:solidFill>
                          <a:latin typeface="Calibri"/>
                        </a:rPr>
                        <a:t>x and parity</a:t>
                      </a:r>
                    </a:p>
                  </a:txBody>
                  <a:tcPr marL="54864" marR="54864" marT="27432" marB="27432" anchor="ctr">
                    <a:solidFill>
                      <a:srgbClr val="FFFFFF"/>
                    </a:solidFill>
                  </a:tcPr>
                </a:tc>
              </a:tr>
              <a:tr h="365760">
                <a:tc>
                  <a:txBody>
                    <a:bodyPr/>
                    <a:lstStyle/>
                    <a:p>
                      <a:pPr algn="l"/>
                      <a:r>
                        <a:rPr sz="950" b="0">
                          <a:solidFill>
                            <a:srgbClr val="2B2622"/>
                          </a:solidFill>
                          <a:latin typeface="Calibri"/>
                        </a:rPr>
                        <a:t>Uncompressed</a:t>
                      </a:r>
                    </a:p>
                  </a:txBody>
                  <a:tcPr marL="54864" marR="54864" marT="27432" marB="27432" anchor="ctr">
                    <a:solidFill>
                      <a:srgbClr val="F2ECE1"/>
                    </a:solidFill>
                  </a:tcPr>
                </a:tc>
                <a:tc>
                  <a:txBody>
                    <a:bodyPr/>
                    <a:lstStyle/>
                    <a:p>
                      <a:pPr algn="l"/>
                      <a:r>
                        <a:rPr sz="950" b="0">
                          <a:solidFill>
                            <a:srgbClr val="2B2622"/>
                          </a:solidFill>
                          <a:latin typeface="Calibri"/>
                        </a:rPr>
                        <a:t>04</a:t>
                      </a:r>
                    </a:p>
                  </a:txBody>
                  <a:tcPr marL="54864" marR="54864" marT="27432" marB="27432" anchor="ctr">
                    <a:solidFill>
                      <a:srgbClr val="F2ECE1"/>
                    </a:solidFill>
                  </a:tcPr>
                </a:tc>
                <a:tc>
                  <a:txBody>
                    <a:bodyPr/>
                    <a:lstStyle/>
                    <a:p>
                      <a:pPr algn="ctr"/>
                      <a:r>
                        <a:rPr sz="950" b="0">
                          <a:solidFill>
                            <a:srgbClr val="2B2622"/>
                          </a:solidFill>
                          <a:latin typeface="Calibri"/>
                        </a:rPr>
                        <a:t>65</a:t>
                      </a:r>
                    </a:p>
                  </a:txBody>
                  <a:tcPr marL="54864" marR="54864" marT="27432" marB="27432" anchor="ctr">
                    <a:solidFill>
                      <a:srgbClr val="F2ECE1"/>
                    </a:solidFill>
                  </a:tcPr>
                </a:tc>
                <a:tc>
                  <a:txBody>
                    <a:bodyPr/>
                    <a:lstStyle/>
                    <a:p>
                      <a:pPr algn="l"/>
                      <a:r>
                        <a:rPr sz="950" b="0">
                          <a:solidFill>
                            <a:srgbClr val="2B2622"/>
                          </a:solidFill>
                          <a:latin typeface="Calibri"/>
                        </a:rPr>
                        <a:t>x and y</a:t>
                      </a:r>
                    </a:p>
                  </a:txBody>
                  <a:tcPr marL="54864" marR="54864" marT="27432" marB="27432" anchor="ctr">
                    <a:solidFill>
                      <a:srgbClr val="F2ECE1"/>
                    </a:solidFill>
                  </a:tcPr>
                </a:tc>
              </a:tr>
            </a:tbl>
          </a:graphicData>
        </a:graphic>
      </p:graphicFrame>
      <p:sp>
        <p:nvSpPr>
          <p:cNvPr id="17" name="TextBox 16"/>
          <p:cNvSpPr txBox="1"/>
          <p:nvPr/>
        </p:nvSpPr>
        <p:spPr>
          <a:xfrm>
            <a:off x="5852160" y="2898648"/>
            <a:ext cx="2834640" cy="640080"/>
          </a:xfrm>
          <a:prstGeom prst="rect">
            <a:avLst/>
          </a:prstGeom>
          <a:noFill/>
        </p:spPr>
        <p:txBody>
          <a:bodyPr wrap="square" lIns="0" rIns="0" tIns="0" bIns="0" anchor="t">
            <a:spAutoFit/>
          </a:bodyPr>
          <a:lstStyle/>
          <a:p>
            <a:pPr algn="l"/>
            <a:r>
              <a:rPr sz="1100" b="0" i="0">
                <a:solidFill>
                  <a:srgbClr val="2B2622"/>
                </a:solidFill>
                <a:latin typeface="Calibri"/>
              </a:rPr>
              <a:t>Compressed is 49 percent shorter, and decompressing returns the same point: True.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P2PK holds the key, P2PKH only its hash</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Two output scripts for the same public key</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P2PKH shows a commitment to the key, not the key</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21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 = K.pub_bytes(K.ec_mul(K.BOOK_K))</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pk, pkh = K.p2pk_script(c), K.p2pkh_script(c)</a:t>
            </a:r>
          </a:p>
          <a:p>
            <a:pPr algn="l"/>
            <a:r>
              <a:rPr sz="1000" b="1" i="0">
                <a:solidFill>
                  <a:srgbClr val="F2A860"/>
                </a:solidFill>
                <a:latin typeface="Courier New"/>
              </a:rPr>
              <a:t>&gt;&gt;&gt; </a:t>
            </a:r>
            <a:r>
              <a:rPr sz="1000" b="0" i="0">
                <a:solidFill>
                  <a:srgbClr val="E6EDF3"/>
                </a:solidFill>
                <a:latin typeface="Courier New"/>
              </a:rPr>
              <a:t>(len(pk), len(pkh))</a:t>
            </a:r>
          </a:p>
          <a:p>
            <a:pPr algn="l"/>
            <a:r>
              <a:rPr sz="1000" b="0" i="0">
                <a:solidFill>
                  <a:srgbClr val="7EE787"/>
                </a:solidFill>
                <a:latin typeface="Courier New"/>
              </a:rPr>
              <a:t>(35, 25)</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compressed public key of the book's example.</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P2PK holds the key itself; P2PKH holds only a 20-byte hash of it, a commitment.</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two output scripts</a:t>
            </a:r>
          </a:p>
        </p:txBody>
      </p:sp>
      <p:graphicFrame>
        <p:nvGraphicFramePr>
          <p:cNvPr id="16" name="Table 15"/>
          <p:cNvGraphicFramePr>
            <a:graphicFrameLocks noGrp="1"/>
          </p:cNvGraphicFramePr>
          <p:nvPr/>
        </p:nvGraphicFramePr>
        <p:xfrm>
          <a:off x="5852160" y="1691640"/>
          <a:ext cx="2834640" cy="1097280"/>
        </p:xfrm>
        <a:graphic>
          <a:graphicData uri="http://schemas.openxmlformats.org/drawingml/2006/table">
            <a:tbl>
              <a:tblPr firstRow="1" bandRow="1">
                <a:tableStyleId>{5C22544A-7EE6-4342-B048-85BDC9FD1C3A}</a:tableStyleId>
              </a:tblPr>
              <a:tblGrid>
                <a:gridCol w="1097280"/>
                <a:gridCol w="548640"/>
                <a:gridCol w="1188720"/>
              </a:tblGrid>
              <a:tr h="365760">
                <a:tc>
                  <a:txBody>
                    <a:bodyPr/>
                    <a:lstStyle/>
                    <a:p>
                      <a:pPr algn="l"/>
                      <a:r>
                        <a:rPr sz="1000" b="1">
                          <a:solidFill>
                            <a:srgbClr val="FFFFFF"/>
                          </a:solidFill>
                          <a:latin typeface="Calibri"/>
                        </a:rPr>
                        <a:t>Output script</a:t>
                      </a:r>
                    </a:p>
                  </a:txBody>
                  <a:tcPr marL="54864" marR="54864" marT="27432" marB="27432" anchor="ctr">
                    <a:solidFill>
                      <a:srgbClr val="2F6D62"/>
                    </a:solidFill>
                  </a:tcPr>
                </a:tc>
                <a:tc>
                  <a:txBody>
                    <a:bodyPr/>
                    <a:lstStyle/>
                    <a:p>
                      <a:pPr algn="ctr"/>
                      <a:r>
                        <a:rPr sz="1000" b="1">
                          <a:solidFill>
                            <a:srgbClr val="FFFFFF"/>
                          </a:solidFill>
                          <a:latin typeface="Calibri"/>
                        </a:rPr>
                        <a:t>Bytes</a:t>
                      </a:r>
                    </a:p>
                  </a:txBody>
                  <a:tcPr marL="54864" marR="54864" marT="27432" marB="27432" anchor="ctr">
                    <a:solidFill>
                      <a:srgbClr val="2F6D62"/>
                    </a:solidFill>
                  </a:tcPr>
                </a:tc>
                <a:tc>
                  <a:txBody>
                    <a:bodyPr/>
                    <a:lstStyle/>
                    <a:p>
                      <a:pPr algn="l"/>
                      <a:r>
                        <a:rPr sz="1000" b="1">
                          <a:solidFill>
                            <a:srgbClr val="FFFFFF"/>
                          </a:solidFill>
                          <a:latin typeface="Calibri"/>
                        </a:rPr>
                        <a:t>Holds</a:t>
                      </a:r>
                    </a:p>
                  </a:txBody>
                  <a:tcPr marL="54864" marR="54864" marT="27432" marB="27432" anchor="ctr">
                    <a:solidFill>
                      <a:srgbClr val="2F6D62"/>
                    </a:solidFill>
                  </a:tcPr>
                </a:tc>
              </a:tr>
              <a:tr h="365760">
                <a:tc>
                  <a:txBody>
                    <a:bodyPr/>
                    <a:lstStyle/>
                    <a:p>
                      <a:pPr algn="l"/>
                      <a:r>
                        <a:rPr sz="1000" b="0">
                          <a:solidFill>
                            <a:srgbClr val="2B2622"/>
                          </a:solidFill>
                          <a:latin typeface="Calibri"/>
                        </a:rPr>
                        <a:t>P2PK</a:t>
                      </a:r>
                    </a:p>
                  </a:txBody>
                  <a:tcPr marL="54864" marR="54864" marT="27432" marB="27432" anchor="ctr">
                    <a:solidFill>
                      <a:srgbClr val="FFFFFF"/>
                    </a:solidFill>
                  </a:tcPr>
                </a:tc>
                <a:tc>
                  <a:txBody>
                    <a:bodyPr/>
                    <a:lstStyle/>
                    <a:p>
                      <a:pPr algn="ctr"/>
                      <a:r>
                        <a:rPr sz="1000" b="0">
                          <a:solidFill>
                            <a:srgbClr val="2B2622"/>
                          </a:solidFill>
                          <a:latin typeface="Calibri"/>
                        </a:rPr>
                        <a:t>35</a:t>
                      </a:r>
                    </a:p>
                  </a:txBody>
                  <a:tcPr marL="54864" marR="54864" marT="27432" marB="27432" anchor="ctr">
                    <a:solidFill>
                      <a:srgbClr val="FFFFFF"/>
                    </a:solidFill>
                  </a:tcPr>
                </a:tc>
                <a:tc>
                  <a:txBody>
                    <a:bodyPr/>
                    <a:lstStyle/>
                    <a:p>
                      <a:pPr algn="l"/>
                      <a:r>
                        <a:rPr sz="1000" b="0">
                          <a:solidFill>
                            <a:srgbClr val="2B2622"/>
                          </a:solidFill>
                          <a:latin typeface="Calibri"/>
                        </a:rPr>
                        <a:t>the public key</a:t>
                      </a:r>
                    </a:p>
                  </a:txBody>
                  <a:tcPr marL="54864" marR="54864" marT="27432" marB="27432" anchor="ctr">
                    <a:solidFill>
                      <a:srgbClr val="FFFFFF"/>
                    </a:solidFill>
                  </a:tcPr>
                </a:tc>
              </a:tr>
              <a:tr h="365760">
                <a:tc>
                  <a:txBody>
                    <a:bodyPr/>
                    <a:lstStyle/>
                    <a:p>
                      <a:pPr algn="l"/>
                      <a:r>
                        <a:rPr sz="1000" b="0">
                          <a:solidFill>
                            <a:srgbClr val="2B2622"/>
                          </a:solidFill>
                          <a:latin typeface="Calibri"/>
                        </a:rPr>
                        <a:t>P2PKH</a:t>
                      </a:r>
                    </a:p>
                  </a:txBody>
                  <a:tcPr marL="54864" marR="54864" marT="27432" marB="27432" anchor="ctr">
                    <a:solidFill>
                      <a:srgbClr val="F2ECE1"/>
                    </a:solidFill>
                  </a:tcPr>
                </a:tc>
                <a:tc>
                  <a:txBody>
                    <a:bodyPr/>
                    <a:lstStyle/>
                    <a:p>
                      <a:pPr algn="ctr"/>
                      <a:r>
                        <a:rPr sz="1000" b="0">
                          <a:solidFill>
                            <a:srgbClr val="2B2622"/>
                          </a:solidFill>
                          <a:latin typeface="Calibri"/>
                        </a:rPr>
                        <a:t>25</a:t>
                      </a:r>
                    </a:p>
                  </a:txBody>
                  <a:tcPr marL="54864" marR="54864" marT="27432" marB="27432" anchor="ctr">
                    <a:solidFill>
                      <a:srgbClr val="F2ECE1"/>
                    </a:solidFill>
                  </a:tcPr>
                </a:tc>
                <a:tc>
                  <a:txBody>
                    <a:bodyPr/>
                    <a:lstStyle/>
                    <a:p>
                      <a:pPr algn="l"/>
                      <a:r>
                        <a:rPr sz="1000" b="0">
                          <a:solidFill>
                            <a:srgbClr val="2B2622"/>
                          </a:solidFill>
                          <a:latin typeface="Calibri"/>
                        </a:rPr>
                        <a:t>a 20-byte hash</a:t>
                      </a:r>
                    </a:p>
                  </a:txBody>
                  <a:tcPr marL="54864" marR="54864" marT="27432" marB="27432" anchor="ctr">
                    <a:solidFill>
                      <a:srgbClr val="F2ECE1"/>
                    </a:solidFill>
                  </a:tcPr>
                </a:tc>
              </a:tr>
            </a:tbl>
          </a:graphicData>
        </a:graphic>
      </p:graphicFrame>
      <p:sp>
        <p:nvSpPr>
          <p:cNvPr id="17" name="TextBox 16"/>
          <p:cNvSpPr txBox="1"/>
          <p:nvPr/>
        </p:nvSpPr>
        <p:spPr>
          <a:xfrm>
            <a:off x="5852160" y="289864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hash inside P2PKH equals HASH160 of the key: True. Both end in opcode 0xac (CHECKSIG).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HASH160 is SHA256 then RIPEMD-160</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Two hashes turn a 33-byte key into 20 bytes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Two hashes in a row: 33 bytes in, 20 bytes out</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22 / 47</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 = K.pub_bytes(K.ec_mul(K.BOOK_K))</a:t>
            </a:r>
          </a:p>
          <a:p>
            <a:pPr algn="l"/>
            <a:r>
              <a:rPr sz="1000" b="1" i="0">
                <a:solidFill>
                  <a:srgbClr val="F2A860"/>
                </a:solidFill>
                <a:latin typeface="Courier New"/>
              </a:rPr>
              <a:t>&gt;&gt;&gt; </a:t>
            </a:r>
            <a:r>
              <a:rPr sz="1000" b="0" i="0">
                <a:solidFill>
                  <a:srgbClr val="E6EDF3"/>
                </a:solidFill>
                <a:latin typeface="Courier New"/>
              </a:rPr>
              <a:t>s = hashlib.sha256(c).digest()</a:t>
            </a:r>
          </a:p>
        </p:txBody>
      </p:sp>
      <p:sp>
        <p:nvSpPr>
          <p:cNvPr id="11" name="TextBox 10"/>
          <p:cNvSpPr txBox="1"/>
          <p:nvPr/>
        </p:nvSpPr>
        <p:spPr>
          <a:xfrm>
            <a:off x="603504" y="22463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r = K.ripemd160(s)</a:t>
            </a:r>
          </a:p>
          <a:p>
            <a:pPr algn="l"/>
            <a:r>
              <a:rPr sz="1000" b="1" i="0">
                <a:solidFill>
                  <a:srgbClr val="F2A860"/>
                </a:solidFill>
                <a:latin typeface="Courier New"/>
              </a:rPr>
              <a:t>&gt;&gt;&gt; </a:t>
            </a:r>
            <a:r>
              <a:rPr sz="1000" b="0" i="0">
                <a:solidFill>
                  <a:srgbClr val="E6EDF3"/>
                </a:solidFill>
                <a:latin typeface="Courier New"/>
              </a:rPr>
              <a:t>(len(c), len(s), len(r), r == K.hash160(c))</a:t>
            </a:r>
          </a:p>
          <a:p>
            <a:pPr algn="l"/>
            <a:r>
              <a:rPr sz="1000" b="0" i="0">
                <a:solidFill>
                  <a:srgbClr val="7EE787"/>
                </a:solidFill>
                <a:latin typeface="Courier New"/>
              </a:rPr>
              <a:t>(33, 32, 20, True)</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SHA256 turns the 33-byte key into a 32-byte fingerprint.</a:t>
            </a:r>
          </a:p>
        </p:txBody>
      </p:sp>
      <p:sp>
        <p:nvSpPr>
          <p:cNvPr id="13" name="TextBox 12"/>
          <p:cNvSpPr txBox="1"/>
          <p:nvPr/>
        </p:nvSpPr>
        <p:spPr>
          <a:xfrm>
            <a:off x="457200" y="2868168"/>
            <a:ext cx="5212080" cy="371855"/>
          </a:xfrm>
          <a:prstGeom prst="rect">
            <a:avLst/>
          </a:prstGeom>
          <a:noFill/>
        </p:spPr>
        <p:txBody>
          <a:bodyPr wrap="square" lIns="0" rIns="0" tIns="0" bIns="0" anchor="t">
            <a:spAutoFit/>
          </a:bodyPr>
          <a:lstStyle/>
          <a:p>
            <a:pPr algn="l"/>
            <a:r>
              <a:rPr sz="1100" b="0" i="0">
                <a:solidFill>
                  <a:srgbClr val="2B2622"/>
                </a:solidFill>
                <a:latin typeface="Calibri"/>
              </a:rPr>
              <a:t>RIPEMD-160 shortens it to 20 bytes; the pair of hashes is what HASH160 means.</a:t>
            </a:r>
          </a:p>
        </p:txBody>
      </p:sp>
      <p:sp>
        <p:nvSpPr>
          <p:cNvPr id="14" name="TextBox 13"/>
          <p:cNvSpPr txBox="1"/>
          <p:nvPr/>
        </p:nvSpPr>
        <p:spPr>
          <a:xfrm>
            <a:off x="457200" y="3313175"/>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bytes after each hash</a:t>
            </a:r>
          </a:p>
        </p:txBody>
      </p:sp>
      <p:graphicFrame>
        <p:nvGraphicFramePr>
          <p:cNvPr id="16" name="Chart 15"/>
          <p:cNvGraphicFramePr>
            <a:graphicFrameLocks noGrp="1"/>
          </p:cNvGraphicFramePr>
          <p:nvPr/>
        </p:nvGraphicFramePr>
        <p:xfrm>
          <a:off x="5852160" y="1691640"/>
          <a:ext cx="2834640" cy="205740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85876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20 bytes are bbc1e42a... and match HASH160: True.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Why 58? Satoshi left the reasons in the file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8 January 2009 · a design memo inside base58.h</a:t>
            </a:r>
          </a:p>
        </p:txBody>
      </p:sp>
      <p:sp>
        <p:nvSpPr>
          <p:cNvPr id="5" name="TextBox 4"/>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23 / 47</a:t>
            </a:r>
          </a:p>
        </p:txBody>
      </p:sp>
      <p:pic>
        <p:nvPicPr>
          <p:cNvPr id="6" name="Picture 5" descr="Bronze bust of Satoshi Nakamoto in Budapest"/>
          <p:cNvPicPr>
            <a:picLocks noChangeAspect="1"/>
          </p:cNvPicPr>
          <p:nvPr/>
        </p:nvPicPr>
        <p:blipFill>
          <a:blip r:embed="rId3"/>
          <a:srcRect t="11629" b="27133"/>
          <a:stretch>
            <a:fillRect/>
          </a:stretch>
        </p:blipFill>
        <p:spPr>
          <a:xfrm>
            <a:off x="457200" y="1234440"/>
            <a:ext cx="2743200" cy="2240280"/>
          </a:xfrm>
          <a:prstGeom prst="rect">
            <a:avLst/>
          </a:prstGeom>
        </p:spPr>
      </p:pic>
      <p:sp>
        <p:nvSpPr>
          <p:cNvPr id="7" name="TextBox 6"/>
          <p:cNvSpPr txBox="1"/>
          <p:nvPr/>
        </p:nvSpPr>
        <p:spPr>
          <a:xfrm>
            <a:off x="457200" y="3547872"/>
            <a:ext cx="2743200" cy="566928"/>
          </a:xfrm>
          <a:prstGeom prst="rect">
            <a:avLst/>
          </a:prstGeom>
          <a:noFill/>
        </p:spPr>
        <p:txBody>
          <a:bodyPr wrap="square" lIns="0" rIns="0" tIns="0" bIns="0" anchor="t">
            <a:spAutoFit/>
          </a:bodyPr>
          <a:lstStyle/>
          <a:p>
            <a:pPr algn="l"/>
            <a:r>
              <a:rPr sz="850" b="0" i="0">
                <a:solidFill>
                  <a:srgbClr val="6E655C"/>
                </a:solidFill>
                <a:latin typeface="Calibri"/>
              </a:rPr>
              <a:t>Picture: Satoshi bust, Budapest - Fekist, CC BY-SA 4.0, Wikimedia Commons - a stand-in, since the author's face is unknown</a:t>
            </a:r>
          </a:p>
        </p:txBody>
      </p:sp>
      <p:sp>
        <p:nvSpPr>
          <p:cNvPr id="8" name="TextBox 7"/>
          <p:cNvSpPr txBox="1"/>
          <p:nvPr/>
        </p:nvSpPr>
        <p:spPr>
          <a:xfrm>
            <a:off x="3429000" y="1216152"/>
            <a:ext cx="5257800" cy="438912"/>
          </a:xfrm>
          <a:prstGeom prst="rect">
            <a:avLst/>
          </a:prstGeom>
          <a:noFill/>
        </p:spPr>
        <p:txBody>
          <a:bodyPr wrap="square" lIns="0" rIns="0" tIns="0" bIns="0" anchor="t">
            <a:spAutoFit/>
          </a:bodyPr>
          <a:lstStyle/>
          <a:p>
            <a:pPr algn="l"/>
            <a:r>
              <a:rPr sz="1050" b="1" i="0">
                <a:solidFill>
                  <a:srgbClr val="D97A14"/>
                </a:solidFill>
                <a:latin typeface="Calibri"/>
              </a:rPr>
              <a:t>WHO </a:t>
            </a:r>
            <a:r>
              <a:rPr sz="1050" b="0" i="0">
                <a:solidFill>
                  <a:srgbClr val="2B2622"/>
                </a:solidFill>
                <a:latin typeface="Calibri"/>
              </a:rPr>
              <a:t>Satoshi Nakamoto, the pseudonymous author of Bitcoin's first software; the file's copyright line names him.</a:t>
            </a:r>
          </a:p>
        </p:txBody>
      </p:sp>
      <p:sp>
        <p:nvSpPr>
          <p:cNvPr id="9" name="TextBox 8"/>
          <p:cNvSpPr txBox="1"/>
          <p:nvPr/>
        </p:nvSpPr>
        <p:spPr>
          <a:xfrm>
            <a:off x="3429000" y="1691640"/>
            <a:ext cx="5257800" cy="438912"/>
          </a:xfrm>
          <a:prstGeom prst="rect">
            <a:avLst/>
          </a:prstGeom>
          <a:noFill/>
        </p:spPr>
        <p:txBody>
          <a:bodyPr wrap="square" lIns="0" rIns="0" tIns="0" bIns="0" anchor="t">
            <a:spAutoFit/>
          </a:bodyPr>
          <a:lstStyle/>
          <a:p>
            <a:pPr algn="l"/>
            <a:r>
              <a:rPr sz="1050" b="1" i="0">
                <a:solidFill>
                  <a:srgbClr val="D97A14"/>
                </a:solidFill>
                <a:latin typeface="Calibri"/>
              </a:rPr>
              <a:t>WHAT </a:t>
            </a:r>
            <a:r>
              <a:rPr sz="1050" b="0" i="0">
                <a:solidFill>
                  <a:srgbClr val="2B2622"/>
                </a:solidFill>
                <a:latin typeface="Calibri"/>
              </a:rPr>
              <a:t>A comment in base58.h that lists four reasons for dropping 0, O, I and l and all punctuation.</a:t>
            </a:r>
          </a:p>
        </p:txBody>
      </p:sp>
      <p:sp>
        <p:nvSpPr>
          <p:cNvPr id="10" name="TextBox 9"/>
          <p:cNvSpPr txBox="1"/>
          <p:nvPr/>
        </p:nvSpPr>
        <p:spPr>
          <a:xfrm>
            <a:off x="3429000" y="2167128"/>
            <a:ext cx="5257800" cy="438912"/>
          </a:xfrm>
          <a:prstGeom prst="rect">
            <a:avLst/>
          </a:prstGeom>
          <a:noFill/>
        </p:spPr>
        <p:txBody>
          <a:bodyPr wrap="square" lIns="0" rIns="0" tIns="0" bIns="0" anchor="t">
            <a:spAutoFit/>
          </a:bodyPr>
          <a:lstStyle/>
          <a:p>
            <a:pPr algn="l"/>
            <a:r>
              <a:rPr sz="1050" b="1" i="0">
                <a:solidFill>
                  <a:srgbClr val="D97A14"/>
                </a:solidFill>
                <a:latin typeface="Calibri"/>
              </a:rPr>
              <a:t>WHEN </a:t>
            </a:r>
            <a:r>
              <a:rPr sz="1050" b="0" i="0">
                <a:solidFill>
                  <a:srgbClr val="2B2622"/>
                </a:solidFill>
                <a:latin typeface="Calibri"/>
              </a:rPr>
              <a:t>2009-01-08</a:t>
            </a:r>
            <a:r>
              <a:rPr sz="1050" b="0" i="0">
                <a:solidFill>
                  <a:srgbClr val="2B2622"/>
                </a:solidFill>
                <a:latin typeface="Calibri"/>
              </a:rPr>
              <a:t> (version 0.1 announced; the memo's own date is not recorded)</a:t>
            </a:r>
          </a:p>
        </p:txBody>
      </p:sp>
      <p:sp>
        <p:nvSpPr>
          <p:cNvPr id="11" name="TextBox 10"/>
          <p:cNvSpPr txBox="1"/>
          <p:nvPr/>
        </p:nvSpPr>
        <p:spPr>
          <a:xfrm>
            <a:off x="3429000" y="2642616"/>
            <a:ext cx="5257800" cy="438912"/>
          </a:xfrm>
          <a:prstGeom prst="rect">
            <a:avLst/>
          </a:prstGeom>
          <a:noFill/>
        </p:spPr>
        <p:txBody>
          <a:bodyPr wrap="square" lIns="0" rIns="0" tIns="0" bIns="0" anchor="t">
            <a:spAutoFit/>
          </a:bodyPr>
          <a:lstStyle/>
          <a:p>
            <a:pPr algn="l"/>
            <a:r>
              <a:rPr sz="1050" b="1" i="0">
                <a:solidFill>
                  <a:srgbClr val="D97A14"/>
                </a:solidFill>
                <a:latin typeface="Calibri"/>
              </a:rPr>
              <a:t>WHERE </a:t>
            </a:r>
            <a:r>
              <a:rPr sz="1050" b="0" i="0">
                <a:solidFill>
                  <a:srgbClr val="2B2622"/>
                </a:solidFill>
                <a:latin typeface="Calibri"/>
              </a:rPr>
              <a:t>The file src/base58.h in the bitcoin/bitcoin source tree on GitHub.</a:t>
            </a:r>
          </a:p>
        </p:txBody>
      </p:sp>
      <p:sp>
        <p:nvSpPr>
          <p:cNvPr id="12" name="TextBox 11"/>
          <p:cNvSpPr txBox="1"/>
          <p:nvPr/>
        </p:nvSpPr>
        <p:spPr>
          <a:xfrm>
            <a:off x="3429000" y="3118104"/>
            <a:ext cx="5257800" cy="438912"/>
          </a:xfrm>
          <a:prstGeom prst="rect">
            <a:avLst/>
          </a:prstGeom>
          <a:noFill/>
        </p:spPr>
        <p:txBody>
          <a:bodyPr wrap="square" lIns="0" rIns="0" tIns="0" bIns="0" anchor="t">
            <a:spAutoFit/>
          </a:bodyPr>
          <a:lstStyle/>
          <a:p>
            <a:pPr algn="l"/>
            <a:r>
              <a:rPr sz="1050" b="1" i="0">
                <a:solidFill>
                  <a:srgbClr val="D97A14"/>
                </a:solidFill>
                <a:latin typeface="Calibri"/>
              </a:rPr>
              <a:t>WHY </a:t>
            </a:r>
            <a:r>
              <a:rPr sz="1050" b="0" i="0">
                <a:solidFill>
                  <a:srgbClr val="2B2622"/>
                </a:solidFill>
                <a:latin typeface="Calibri"/>
              </a:rPr>
              <a:t>People copy addresses by hand, in e-mail and by double-click, so the text must survive all three.</a:t>
            </a:r>
          </a:p>
        </p:txBody>
      </p:sp>
      <p:sp>
        <p:nvSpPr>
          <p:cNvPr id="13" name="TextBox 12"/>
          <p:cNvSpPr txBox="1"/>
          <p:nvPr/>
        </p:nvSpPr>
        <p:spPr>
          <a:xfrm>
            <a:off x="3429000" y="3593592"/>
            <a:ext cx="5257800" cy="438912"/>
          </a:xfrm>
          <a:prstGeom prst="rect">
            <a:avLst/>
          </a:prstGeom>
          <a:noFill/>
        </p:spPr>
        <p:txBody>
          <a:bodyPr wrap="square" lIns="0" rIns="0" tIns="0" bIns="0" anchor="t">
            <a:spAutoFit/>
          </a:bodyPr>
          <a:lstStyle/>
          <a:p>
            <a:pPr algn="l"/>
            <a:r>
              <a:rPr sz="1050" b="1" i="0">
                <a:solidFill>
                  <a:srgbClr val="D97A14"/>
                </a:solidFill>
                <a:latin typeface="Calibri"/>
              </a:rPr>
              <a:t>HOW </a:t>
            </a:r>
            <a:r>
              <a:rPr sz="1050" b="0" i="0">
                <a:solidFill>
                  <a:srgbClr val="2B2622"/>
                </a:solidFill>
                <a:latin typeface="Calibri"/>
              </a:rPr>
              <a:t>Of 62 letters and digits the four look-alikes go, so 58 remain: the alphabet of every legacy address.</a:t>
            </a:r>
          </a:p>
        </p:txBody>
      </p:sp>
      <p:sp>
        <p:nvSpPr>
          <p:cNvPr id="14" name="TextBox 13"/>
          <p:cNvSpPr txBox="1"/>
          <p:nvPr/>
        </p:nvSpPr>
        <p:spPr>
          <a:xfrm>
            <a:off x="3429000" y="4114800"/>
            <a:ext cx="5257800" cy="274320"/>
          </a:xfrm>
          <a:prstGeom prst="rect">
            <a:avLst/>
          </a:prstGeom>
          <a:noFill/>
        </p:spPr>
        <p:txBody>
          <a:bodyPr wrap="square" lIns="0" rIns="0" tIns="0" bIns="0" anchor="t">
            <a:spAutoFit/>
          </a:bodyPr>
          <a:lstStyle/>
          <a:p>
            <a:pPr algn="l"/>
            <a:r>
              <a:rPr sz="1050" b="1" i="0">
                <a:solidFill>
                  <a:srgbClr val="D97A14"/>
                </a:solidFill>
                <a:latin typeface="Calibri"/>
              </a:rPr>
              <a:t>READ </a:t>
            </a:r>
            <a:r>
              <a:rPr sz="1050" b="0" i="0" u="sng">
                <a:solidFill>
                  <a:srgbClr val="2F6D62"/>
                </a:solidFill>
                <a:latin typeface="Calibri"/>
                <a:hlinkClick r:id="rId4"/>
              </a:rPr>
              <a:t>base58.h in bitcoin/bitcoin (source)</a:t>
            </a:r>
            <a:r>
              <a:rPr sz="1050" b="0" i="0">
                <a:solidFill>
                  <a:srgbClr val="6E655C"/>
                </a:solidFill>
                <a:latin typeface="Calibri"/>
              </a:rPr>
              <a:t> - raw.githubusercontent.com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Base58Check, step by step</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Version, hash and checksum become an address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An address is 25 bytes written in 34 characters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24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Rounded Rectangle 9"/>
          <p:cNvSpPr/>
          <p:nvPr/>
        </p:nvSpPr>
        <p:spPr>
          <a:xfrm>
            <a:off x="457200" y="3044952"/>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1" name="TextBox 10"/>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h = K.hash160(K.pub_bytes(K.ec_mul(K.BOOK_K)))</a:t>
            </a:r>
          </a:p>
        </p:txBody>
      </p:sp>
      <p:sp>
        <p:nvSpPr>
          <p:cNvPr id="12" name="TextBox 11"/>
          <p:cNvSpPr txBox="1"/>
          <p:nvPr/>
        </p:nvSpPr>
        <p:spPr>
          <a:xfrm>
            <a:off x="603504" y="20939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body = b</a:t>
            </a:r>
            <a:r>
              <a:rPr sz="1000" b="0" i="0">
                <a:solidFill>
                  <a:srgbClr val="9ECBFF"/>
                </a:solidFill>
                <a:latin typeface="Courier New"/>
              </a:rPr>
              <a:t>'\x00'</a:t>
            </a:r>
            <a:r>
              <a:rPr sz="1000" b="0" i="0">
                <a:solidFill>
                  <a:srgbClr val="E6EDF3"/>
                </a:solidFill>
                <a:latin typeface="Courier New"/>
              </a:rPr>
              <a:t> + h</a:t>
            </a:r>
          </a:p>
          <a:p>
            <a:pPr algn="l"/>
            <a:r>
              <a:rPr sz="1000" b="1" i="0">
                <a:solidFill>
                  <a:srgbClr val="F2A860"/>
                </a:solidFill>
                <a:latin typeface="Courier New"/>
              </a:rPr>
              <a:t>&gt;&gt;&gt; </a:t>
            </a:r>
            <a:r>
              <a:rPr sz="1000" b="0" i="0">
                <a:solidFill>
                  <a:srgbClr val="E6EDF3"/>
                </a:solidFill>
                <a:latin typeface="Courier New"/>
              </a:rPr>
              <a:t>chk = K.dsha(body)[:</a:t>
            </a:r>
            <a:r>
              <a:rPr sz="1000" b="0" i="0">
                <a:solidFill>
                  <a:srgbClr val="FFD28A"/>
                </a:solidFill>
                <a:latin typeface="Courier New"/>
              </a:rPr>
              <a:t>4</a:t>
            </a:r>
            <a:r>
              <a:rPr sz="1000" b="0" i="0">
                <a:solidFill>
                  <a:srgbClr val="E6EDF3"/>
                </a:solidFill>
                <a:latin typeface="Courier New"/>
              </a:rPr>
              <a:t>]</a:t>
            </a:r>
          </a:p>
        </p:txBody>
      </p:sp>
      <p:sp>
        <p:nvSpPr>
          <p:cNvPr id="13" name="TextBox 12"/>
          <p:cNvSpPr txBox="1"/>
          <p:nvPr/>
        </p:nvSpPr>
        <p:spPr>
          <a:xfrm>
            <a:off x="603504" y="3136392"/>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addr = K.b58check(body)</a:t>
            </a:r>
          </a:p>
          <a:p>
            <a:pPr algn="l"/>
            <a:r>
              <a:rPr sz="1000" b="1" i="0">
                <a:solidFill>
                  <a:srgbClr val="F2A860"/>
                </a:solidFill>
                <a:latin typeface="Courier New"/>
              </a:rPr>
              <a:t>&gt;&gt;&gt; </a:t>
            </a:r>
            <a:r>
              <a:rPr sz="1000" b="0" i="0">
                <a:solidFill>
                  <a:srgbClr val="E6EDF3"/>
                </a:solidFill>
                <a:latin typeface="Courier New"/>
              </a:rPr>
              <a:t>(len(body + chk), len(addr), addr[</a:t>
            </a:r>
            <a:r>
              <a:rPr sz="1000" b="0" i="0">
                <a:solidFill>
                  <a:srgbClr val="FFD28A"/>
                </a:solidFill>
                <a:latin typeface="Courier New"/>
              </a:rPr>
              <a:t>0</a:t>
            </a:r>
            <a:r>
              <a:rPr sz="1000" b="0" i="0">
                <a:solidFill>
                  <a:srgbClr val="E6EDF3"/>
                </a:solidFill>
                <a:latin typeface="Courier New"/>
              </a:rPr>
              <a:t>])</a:t>
            </a:r>
          </a:p>
          <a:p>
            <a:pPr algn="l"/>
            <a:r>
              <a:rPr sz="1000" b="0" i="0">
                <a:solidFill>
                  <a:srgbClr val="7EE787"/>
                </a:solidFill>
                <a:latin typeface="Courier New"/>
              </a:rPr>
              <a:t>(25, 34, '1')</a:t>
            </a:r>
          </a:p>
        </p:txBody>
      </p:sp>
      <p:sp>
        <p:nvSpPr>
          <p:cNvPr id="14" name="TextBox 13"/>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20-byte key hash of the book's example.</a:t>
            </a:r>
          </a:p>
        </p:txBody>
      </p:sp>
      <p:sp>
        <p:nvSpPr>
          <p:cNvPr id="15" name="TextBox 14"/>
          <p:cNvSpPr txBox="1"/>
          <p:nvPr/>
        </p:nvSpPr>
        <p:spPr>
          <a:xfrm>
            <a:off x="457200" y="2563368"/>
            <a:ext cx="5212080" cy="371855"/>
          </a:xfrm>
          <a:prstGeom prst="rect">
            <a:avLst/>
          </a:prstGeom>
          <a:noFill/>
        </p:spPr>
        <p:txBody>
          <a:bodyPr wrap="square" lIns="0" rIns="0" tIns="0" bIns="0" anchor="t">
            <a:spAutoFit/>
          </a:bodyPr>
          <a:lstStyle/>
          <a:p>
            <a:pPr algn="l"/>
            <a:r>
              <a:rPr sz="1100" b="0" i="0">
                <a:solidFill>
                  <a:srgbClr val="2B2622"/>
                </a:solidFill>
                <a:latin typeface="Calibri"/>
              </a:rPr>
              <a:t>Put the version byte 00 in front; the checksum is four bytes of a double SHA256.</a:t>
            </a:r>
          </a:p>
        </p:txBody>
      </p:sp>
      <p:sp>
        <p:nvSpPr>
          <p:cNvPr id="16" name="TextBox 15"/>
          <p:cNvSpPr txBox="1"/>
          <p:nvPr/>
        </p:nvSpPr>
        <p:spPr>
          <a:xfrm>
            <a:off x="457200" y="3758183"/>
            <a:ext cx="5212080" cy="371855"/>
          </a:xfrm>
          <a:prstGeom prst="rect">
            <a:avLst/>
          </a:prstGeom>
          <a:noFill/>
        </p:spPr>
        <p:txBody>
          <a:bodyPr wrap="square" lIns="0" rIns="0" tIns="0" bIns="0" anchor="t">
            <a:spAutoFit/>
          </a:bodyPr>
          <a:lstStyle/>
          <a:p>
            <a:pPr algn="l"/>
            <a:r>
              <a:rPr sz="1100" b="0" i="0">
                <a:solidFill>
                  <a:srgbClr val="2B2622"/>
                </a:solidFill>
                <a:latin typeface="Calibri"/>
              </a:rPr>
              <a:t>Twenty-five bytes in base58 become a 34-character address that starts with 1.</a:t>
            </a:r>
          </a:p>
        </p:txBody>
      </p:sp>
      <p:sp>
        <p:nvSpPr>
          <p:cNvPr id="17" name="TextBox 16"/>
          <p:cNvSpPr txBox="1"/>
          <p:nvPr/>
        </p:nvSpPr>
        <p:spPr>
          <a:xfrm>
            <a:off x="457200" y="4203192"/>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8" name="TextBox 17"/>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three parts of an address</a:t>
            </a:r>
          </a:p>
        </p:txBody>
      </p:sp>
      <p:graphicFrame>
        <p:nvGraphicFramePr>
          <p:cNvPr id="19" name="Table 18"/>
          <p:cNvGraphicFramePr>
            <a:graphicFrameLocks noGrp="1"/>
          </p:cNvGraphicFramePr>
          <p:nvPr/>
        </p:nvGraphicFramePr>
        <p:xfrm>
          <a:off x="5852160" y="1691640"/>
          <a:ext cx="2834640" cy="1554480"/>
        </p:xfrm>
        <a:graphic>
          <a:graphicData uri="http://schemas.openxmlformats.org/drawingml/2006/table">
            <a:tbl>
              <a:tblPr firstRow="1" bandRow="1">
                <a:tableStyleId>{5C22544A-7EE6-4342-B048-85BDC9FD1C3A}</a:tableStyleId>
              </a:tblPr>
              <a:tblGrid>
                <a:gridCol w="914400"/>
                <a:gridCol w="548640"/>
                <a:gridCol w="1371600"/>
              </a:tblGrid>
              <a:tr h="310896">
                <a:tc>
                  <a:txBody>
                    <a:bodyPr/>
                    <a:lstStyle/>
                    <a:p>
                      <a:pPr algn="l"/>
                      <a:r>
                        <a:rPr sz="1000" b="1">
                          <a:solidFill>
                            <a:srgbClr val="FFFFFF"/>
                          </a:solidFill>
                          <a:latin typeface="Calibri"/>
                        </a:rPr>
                        <a:t>Part</a:t>
                      </a:r>
                    </a:p>
                  </a:txBody>
                  <a:tcPr marL="54864" marR="54864" marT="27432" marB="27432" anchor="ctr">
                    <a:solidFill>
                      <a:srgbClr val="2F6D62"/>
                    </a:solidFill>
                  </a:tcPr>
                </a:tc>
                <a:tc>
                  <a:txBody>
                    <a:bodyPr/>
                    <a:lstStyle/>
                    <a:p>
                      <a:pPr algn="ctr"/>
                      <a:r>
                        <a:rPr sz="1000" b="1">
                          <a:solidFill>
                            <a:srgbClr val="FFFFFF"/>
                          </a:solidFill>
                          <a:latin typeface="Calibri"/>
                        </a:rPr>
                        <a:t>Bytes</a:t>
                      </a:r>
                    </a:p>
                  </a:txBody>
                  <a:tcPr marL="54864" marR="54864" marT="27432" marB="27432" anchor="ctr">
                    <a:solidFill>
                      <a:srgbClr val="2F6D62"/>
                    </a:solidFill>
                  </a:tcPr>
                </a:tc>
                <a:tc>
                  <a:txBody>
                    <a:bodyPr/>
                    <a:lstStyle/>
                    <a:p>
                      <a:pPr algn="l"/>
                      <a:r>
                        <a:rPr sz="1000" b="1">
                          <a:solidFill>
                            <a:srgbClr val="FFFFFF"/>
                          </a:solidFill>
                          <a:latin typeface="Calibri"/>
                        </a:rPr>
                        <a:t>Value</a:t>
                      </a:r>
                    </a:p>
                  </a:txBody>
                  <a:tcPr marL="54864" marR="54864" marT="27432" marB="27432" anchor="ctr">
                    <a:solidFill>
                      <a:srgbClr val="2F6D62"/>
                    </a:solidFill>
                  </a:tcPr>
                </a:tc>
              </a:tr>
              <a:tr h="310896">
                <a:tc>
                  <a:txBody>
                    <a:bodyPr/>
                    <a:lstStyle/>
                    <a:p>
                      <a:pPr algn="l"/>
                      <a:r>
                        <a:rPr sz="1000" b="0">
                          <a:solidFill>
                            <a:srgbClr val="2B2622"/>
                          </a:solidFill>
                          <a:latin typeface="Calibri"/>
                        </a:rPr>
                        <a:t>Version</a:t>
                      </a:r>
                    </a:p>
                  </a:txBody>
                  <a:tcPr marL="54864" marR="54864" marT="27432" marB="27432" anchor="ctr">
                    <a:solidFill>
                      <a:srgbClr val="FFFFFF"/>
                    </a:solidFill>
                  </a:tcPr>
                </a:tc>
                <a:tc>
                  <a:txBody>
                    <a:bodyPr/>
                    <a:lstStyle/>
                    <a:p>
                      <a:pPr algn="ctr"/>
                      <a:r>
                        <a:rPr sz="1000" b="0">
                          <a:solidFill>
                            <a:srgbClr val="2B2622"/>
                          </a:solidFill>
                          <a:latin typeface="Calibri"/>
                        </a:rPr>
                        <a:t>1</a:t>
                      </a:r>
                    </a:p>
                  </a:txBody>
                  <a:tcPr marL="54864" marR="54864" marT="27432" marB="27432" anchor="ctr">
                    <a:solidFill>
                      <a:srgbClr val="FFFFFF"/>
                    </a:solidFill>
                  </a:tcPr>
                </a:tc>
                <a:tc>
                  <a:txBody>
                    <a:bodyPr/>
                    <a:lstStyle/>
                    <a:p>
                      <a:pPr algn="l"/>
                      <a:r>
                        <a:rPr sz="1000" b="0">
                          <a:solidFill>
                            <a:srgbClr val="2B2622"/>
                          </a:solidFill>
                          <a:latin typeface="Calibri"/>
                        </a:rPr>
                        <a:t>00</a:t>
                      </a:r>
                    </a:p>
                  </a:txBody>
                  <a:tcPr marL="54864" marR="54864" marT="27432" marB="27432" anchor="ctr">
                    <a:solidFill>
                      <a:srgbClr val="FFFFFF"/>
                    </a:solidFill>
                  </a:tcPr>
                </a:tc>
              </a:tr>
              <a:tr h="310896">
                <a:tc>
                  <a:txBody>
                    <a:bodyPr/>
                    <a:lstStyle/>
                    <a:p>
                      <a:pPr algn="l"/>
                      <a:r>
                        <a:rPr sz="1000" b="0">
                          <a:solidFill>
                            <a:srgbClr val="2B2622"/>
                          </a:solidFill>
                          <a:latin typeface="Calibri"/>
                        </a:rPr>
                        <a:t>Key hash</a:t>
                      </a:r>
                    </a:p>
                  </a:txBody>
                  <a:tcPr marL="54864" marR="54864" marT="27432" marB="27432" anchor="ctr">
                    <a:solidFill>
                      <a:srgbClr val="F2ECE1"/>
                    </a:solidFill>
                  </a:tcPr>
                </a:tc>
                <a:tc>
                  <a:txBody>
                    <a:bodyPr/>
                    <a:lstStyle/>
                    <a:p>
                      <a:pPr algn="ctr"/>
                      <a:r>
                        <a:rPr sz="1000" b="0">
                          <a:solidFill>
                            <a:srgbClr val="2B2622"/>
                          </a:solidFill>
                          <a:latin typeface="Calibri"/>
                        </a:rPr>
                        <a:t>20</a:t>
                      </a:r>
                    </a:p>
                  </a:txBody>
                  <a:tcPr marL="54864" marR="54864" marT="27432" marB="27432" anchor="ctr">
                    <a:solidFill>
                      <a:srgbClr val="F2ECE1"/>
                    </a:solidFill>
                  </a:tcPr>
                </a:tc>
                <a:tc>
                  <a:txBody>
                    <a:bodyPr/>
                    <a:lstStyle/>
                    <a:p>
                      <a:pPr algn="l"/>
                      <a:r>
                        <a:rPr sz="1000" b="0">
                          <a:solidFill>
                            <a:srgbClr val="2B2622"/>
                          </a:solidFill>
                          <a:latin typeface="Calibri"/>
                        </a:rPr>
                        <a:t>bbc1e42a...</a:t>
                      </a:r>
                    </a:p>
                  </a:txBody>
                  <a:tcPr marL="54864" marR="54864" marT="27432" marB="27432" anchor="ctr">
                    <a:solidFill>
                      <a:srgbClr val="F2ECE1"/>
                    </a:solidFill>
                  </a:tcPr>
                </a:tc>
              </a:tr>
              <a:tr h="310896">
                <a:tc>
                  <a:txBody>
                    <a:bodyPr/>
                    <a:lstStyle/>
                    <a:p>
                      <a:pPr algn="l"/>
                      <a:r>
                        <a:rPr sz="1000" b="0">
                          <a:solidFill>
                            <a:srgbClr val="2B2622"/>
                          </a:solidFill>
                          <a:latin typeface="Calibri"/>
                        </a:rPr>
                        <a:t>Checksum</a:t>
                      </a:r>
                    </a:p>
                  </a:txBody>
                  <a:tcPr marL="54864" marR="54864" marT="27432" marB="27432" anchor="ctr">
                    <a:solidFill>
                      <a:srgbClr val="FFFFFF"/>
                    </a:solidFill>
                  </a:tcPr>
                </a:tc>
                <a:tc>
                  <a:txBody>
                    <a:bodyPr/>
                    <a:lstStyle/>
                    <a:p>
                      <a:pPr algn="ctr"/>
                      <a:r>
                        <a:rPr sz="1000" b="0">
                          <a:solidFill>
                            <a:srgbClr val="2B2622"/>
                          </a:solidFill>
                          <a:latin typeface="Calibri"/>
                        </a:rPr>
                        <a:t>4</a:t>
                      </a:r>
                    </a:p>
                  </a:txBody>
                  <a:tcPr marL="54864" marR="54864" marT="27432" marB="27432" anchor="ctr">
                    <a:solidFill>
                      <a:srgbClr val="FFFFFF"/>
                    </a:solidFill>
                  </a:tcPr>
                </a:tc>
                <a:tc>
                  <a:txBody>
                    <a:bodyPr/>
                    <a:lstStyle/>
                    <a:p>
                      <a:pPr algn="l"/>
                      <a:r>
                        <a:rPr sz="1000" b="0">
                          <a:solidFill>
                            <a:srgbClr val="2B2622"/>
                          </a:solidFill>
                          <a:latin typeface="Calibri"/>
                        </a:rPr>
                        <a:t>37fefcd0</a:t>
                      </a:r>
                    </a:p>
                  </a:txBody>
                  <a:tcPr marL="54864" marR="54864" marT="27432" marB="27432" anchor="ctr">
                    <a:solidFill>
                      <a:srgbClr val="FFFFFF"/>
                    </a:solidFill>
                  </a:tcPr>
                </a:tc>
              </a:tr>
              <a:tr h="310896">
                <a:tc>
                  <a:txBody>
                    <a:bodyPr/>
                    <a:lstStyle/>
                    <a:p>
                      <a:pPr algn="l"/>
                      <a:r>
                        <a:rPr sz="1000" b="0">
                          <a:solidFill>
                            <a:srgbClr val="2B2622"/>
                          </a:solidFill>
                          <a:latin typeface="Calibri"/>
                        </a:rPr>
                        <a:t>Together</a:t>
                      </a:r>
                    </a:p>
                  </a:txBody>
                  <a:tcPr marL="54864" marR="54864" marT="27432" marB="27432" anchor="ctr">
                    <a:solidFill>
                      <a:srgbClr val="EFE6D6"/>
                    </a:solidFill>
                  </a:tcPr>
                </a:tc>
                <a:tc>
                  <a:txBody>
                    <a:bodyPr/>
                    <a:lstStyle/>
                    <a:p>
                      <a:pPr algn="ctr"/>
                      <a:r>
                        <a:rPr sz="1000" b="0">
                          <a:solidFill>
                            <a:srgbClr val="2B2622"/>
                          </a:solidFill>
                          <a:latin typeface="Calibri"/>
                        </a:rPr>
                        <a:t>25</a:t>
                      </a:r>
                    </a:p>
                  </a:txBody>
                  <a:tcPr marL="54864" marR="54864" marT="27432" marB="27432" anchor="ctr">
                    <a:solidFill>
                      <a:srgbClr val="EFE6D6"/>
                    </a:solidFill>
                  </a:tcPr>
                </a:tc>
                <a:tc>
                  <a:txBody>
                    <a:bodyPr/>
                    <a:lstStyle/>
                    <a:p>
                      <a:pPr algn="l"/>
                      <a:r>
                        <a:rPr sz="1000" b="0">
                          <a:solidFill>
                            <a:srgbClr val="2B2622"/>
                          </a:solidFill>
                          <a:latin typeface="Calibri"/>
                        </a:rPr>
                        <a:t>34 characters</a:t>
                      </a:r>
                    </a:p>
                  </a:txBody>
                  <a:tcPr marL="54864" marR="54864" marT="27432" marB="27432" anchor="ctr">
                    <a:solidFill>
                      <a:srgbClr val="EFE6D6"/>
                    </a:solidFill>
                  </a:tcPr>
                </a:tc>
              </a:tr>
            </a:tbl>
          </a:graphicData>
        </a:graphic>
      </p:graphicFrame>
      <p:sp>
        <p:nvSpPr>
          <p:cNvPr id="20" name="TextBox 19"/>
          <p:cNvSpPr txBox="1"/>
          <p:nvPr/>
        </p:nvSpPr>
        <p:spPr>
          <a:xfrm>
            <a:off x="5852160" y="335584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address 1J7mdg5rbQyUHENYdx39WVWK7fsLpEoXZy starts with 1; the one-step library function gives the same text: True.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From public key to address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pipeline of figure 4-7, with the sizes that we measured</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Each arrow is a function that you have just run</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25 / 47</a:t>
            </a:r>
          </a:p>
        </p:txBody>
      </p:sp>
      <p:pic>
        <p:nvPicPr>
          <p:cNvPr id="8" name="Picture 7" descr="Figure 4-7: public key, SHA256, RIPEMD-160, Base58Check with version 00, Bitcoin address"/>
          <p:cNvPicPr>
            <a:picLocks noChangeAspect="1"/>
          </p:cNvPicPr>
          <p:nvPr/>
        </p:nvPicPr>
        <p:blipFill>
          <a:blip r:embed="rId3"/>
          <a:stretch>
            <a:fillRect/>
          </a:stretch>
        </p:blipFill>
        <p:spPr>
          <a:xfrm>
            <a:off x="552773" y="1234439"/>
            <a:ext cx="2460613" cy="2926080"/>
          </a:xfrm>
          <a:prstGeom prst="rect">
            <a:avLst/>
          </a:prstGeom>
        </p:spPr>
      </p:pic>
      <p:sp>
        <p:nvSpPr>
          <p:cNvPr id="9" name="TextBox 8"/>
          <p:cNvSpPr txBox="1"/>
          <p:nvPr/>
        </p:nvSpPr>
        <p:spPr>
          <a:xfrm>
            <a:off x="457200" y="4206240"/>
            <a:ext cx="2651760" cy="365760"/>
          </a:xfrm>
          <a:prstGeom prst="rect">
            <a:avLst/>
          </a:prstGeom>
          <a:noFill/>
        </p:spPr>
        <p:txBody>
          <a:bodyPr wrap="square" lIns="0" rIns="0" tIns="0" bIns="0" anchor="t">
            <a:spAutoFit/>
          </a:bodyPr>
          <a:lstStyle/>
          <a:p>
            <a:pPr algn="l"/>
            <a:r>
              <a:rPr sz="850" b="0" i="0">
                <a:solidFill>
                  <a:srgbClr val="6E655C"/>
                </a:solidFill>
                <a:latin typeface="Calibri"/>
              </a:rPr>
              <a:t>Figure 4-7, Mastering Bitcoin 3rd edition, Antonopoulos and Harding, CC BY-SA 4.0</a:t>
            </a:r>
          </a:p>
        </p:txBody>
      </p:sp>
      <p:sp>
        <p:nvSpPr>
          <p:cNvPr id="10" name="Rounded Rectangle 9"/>
          <p:cNvSpPr/>
          <p:nvPr/>
        </p:nvSpPr>
        <p:spPr>
          <a:xfrm>
            <a:off x="3566160" y="1280160"/>
            <a:ext cx="5120640" cy="420624"/>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00" b="1" i="0">
                <a:solidFill>
                  <a:srgbClr val="2B2622"/>
                </a:solidFill>
                <a:latin typeface="Cambria"/>
              </a:rPr>
              <a:t>Public key  </a:t>
            </a:r>
            <a:r>
              <a:rPr sz="1200" b="0" i="0">
                <a:solidFill>
                  <a:srgbClr val="2F6D62"/>
                </a:solidFill>
                <a:latin typeface="Calibri"/>
              </a:rPr>
              <a:t>33 bytes</a:t>
            </a:r>
          </a:p>
        </p:txBody>
      </p:sp>
      <p:cxnSp>
        <p:nvCxnSpPr>
          <p:cNvPr id="11" name="Connector 10"/>
          <p:cNvCxnSpPr/>
          <p:nvPr/>
        </p:nvCxnSpPr>
        <p:spPr>
          <a:xfrm>
            <a:off x="6126480" y="1700784"/>
            <a:ext cx="0" cy="18288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566160" y="1883664"/>
            <a:ext cx="5120640" cy="420624"/>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00" b="1" i="0">
                <a:solidFill>
                  <a:srgbClr val="2B2622"/>
                </a:solidFill>
                <a:latin typeface="Cambria"/>
              </a:rPr>
              <a:t>SHA256  </a:t>
            </a:r>
            <a:r>
              <a:rPr sz="1200" b="0" i="0">
                <a:solidFill>
                  <a:srgbClr val="2F6D62"/>
                </a:solidFill>
                <a:latin typeface="Calibri"/>
              </a:rPr>
              <a:t>32 bytes</a:t>
            </a:r>
          </a:p>
        </p:txBody>
      </p:sp>
      <p:cxnSp>
        <p:nvCxnSpPr>
          <p:cNvPr id="13" name="Connector 12"/>
          <p:cNvCxnSpPr/>
          <p:nvPr/>
        </p:nvCxnSpPr>
        <p:spPr>
          <a:xfrm>
            <a:off x="6126480" y="2304288"/>
            <a:ext cx="0" cy="18288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66160" y="2487168"/>
            <a:ext cx="5120640" cy="420624"/>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00" b="1" i="0">
                <a:solidFill>
                  <a:srgbClr val="2B2622"/>
                </a:solidFill>
                <a:latin typeface="Cambria"/>
              </a:rPr>
              <a:t>RIPEMD-160  </a:t>
            </a:r>
            <a:r>
              <a:rPr sz="1200" b="0" i="0">
                <a:solidFill>
                  <a:srgbClr val="2F6D62"/>
                </a:solidFill>
                <a:latin typeface="Calibri"/>
              </a:rPr>
              <a:t>20 bytes: the key hash</a:t>
            </a:r>
          </a:p>
        </p:txBody>
      </p:sp>
      <p:cxnSp>
        <p:nvCxnSpPr>
          <p:cNvPr id="15" name="Connector 14"/>
          <p:cNvCxnSpPr/>
          <p:nvPr/>
        </p:nvCxnSpPr>
        <p:spPr>
          <a:xfrm>
            <a:off x="6126480" y="2907791"/>
            <a:ext cx="0" cy="182881"/>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566160" y="3090672"/>
            <a:ext cx="5120640" cy="420624"/>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00" b="1" i="0">
                <a:solidFill>
                  <a:srgbClr val="2B2622"/>
                </a:solidFill>
                <a:latin typeface="Cambria"/>
              </a:rPr>
              <a:t>Version and checksum added  </a:t>
            </a:r>
            <a:r>
              <a:rPr sz="1200" b="0" i="0">
                <a:solidFill>
                  <a:srgbClr val="2F6D62"/>
                </a:solidFill>
                <a:latin typeface="Calibri"/>
              </a:rPr>
              <a:t>25 bytes</a:t>
            </a:r>
          </a:p>
        </p:txBody>
      </p:sp>
      <p:cxnSp>
        <p:nvCxnSpPr>
          <p:cNvPr id="17" name="Connector 16"/>
          <p:cNvCxnSpPr/>
          <p:nvPr/>
        </p:nvCxnSpPr>
        <p:spPr>
          <a:xfrm>
            <a:off x="6126480" y="3511296"/>
            <a:ext cx="0" cy="18288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566160" y="3694176"/>
            <a:ext cx="5120640" cy="420624"/>
          </a:xfrm>
          <a:prstGeom prst="roundRect">
            <a:avLst>
              <a:gd name="adj" fmla="val 12000"/>
            </a:avLst>
          </a:prstGeom>
          <a:solidFill>
            <a:srgbClr val="EFE6D6"/>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00" b="1" i="0">
                <a:solidFill>
                  <a:srgbClr val="2B2622"/>
                </a:solidFill>
                <a:latin typeface="Cambria"/>
              </a:rPr>
              <a:t>Base58 text  </a:t>
            </a:r>
            <a:r>
              <a:rPr sz="1200" b="0" i="0">
                <a:solidFill>
                  <a:srgbClr val="2F6D62"/>
                </a:solidFill>
                <a:latin typeface="Calibri"/>
              </a:rPr>
              <a:t>34 characters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The checksum catches every single typo</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Every one-character mistake, tried one by one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 single typo is caught almost every time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26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good = K.key_to_address(K.BOOK_K)</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typos = K.single_typos(good)</a:t>
            </a:r>
          </a:p>
          <a:p>
            <a:pPr algn="l"/>
            <a:r>
              <a:rPr sz="1000" b="1" i="0">
                <a:solidFill>
                  <a:srgbClr val="F2A860"/>
                </a:solidFill>
                <a:latin typeface="Courier New"/>
              </a:rPr>
              <a:t>&gt;&gt;&gt; </a:t>
            </a:r>
            <a:r>
              <a:rPr sz="1000" b="0" i="0">
                <a:solidFill>
                  <a:srgbClr val="E6EDF3"/>
                </a:solidFill>
                <a:latin typeface="Courier New"/>
              </a:rPr>
              <a:t>(len(typos), sum(map(K.is_valid_b58check, typos)))</a:t>
            </a:r>
          </a:p>
          <a:p>
            <a:pPr algn="l"/>
            <a:r>
              <a:rPr sz="1000" b="0" i="0">
                <a:solidFill>
                  <a:srgbClr val="7EE787"/>
                </a:solidFill>
                <a:latin typeface="Courier New"/>
              </a:rPr>
              <a:t>(1938, 0)</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example address; now change one character at a time.</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Try every one-character substitution; the pair counts the typos and the accepted ones.</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every typo, tested</a:t>
            </a:r>
          </a:p>
        </p:txBody>
      </p:sp>
      <p:graphicFrame>
        <p:nvGraphicFramePr>
          <p:cNvPr id="16" name="Table 15"/>
          <p:cNvGraphicFramePr>
            <a:graphicFrameLocks noGrp="1"/>
          </p:cNvGraphicFramePr>
          <p:nvPr/>
        </p:nvGraphicFramePr>
        <p:xfrm>
          <a:off x="5852160" y="1691640"/>
          <a:ext cx="2834640" cy="1316736"/>
        </p:xfrm>
        <a:graphic>
          <a:graphicData uri="http://schemas.openxmlformats.org/drawingml/2006/table">
            <a:tbl>
              <a:tblPr firstRow="1" bandRow="1">
                <a:tableStyleId>{5C22544A-7EE6-4342-B048-85BDC9FD1C3A}</a:tableStyleId>
              </a:tblPr>
              <a:tblGrid>
                <a:gridCol w="1737360"/>
                <a:gridCol w="1097280"/>
              </a:tblGrid>
              <a:tr h="329184">
                <a:tc>
                  <a:txBody>
                    <a:bodyPr/>
                    <a:lstStyle/>
                    <a:p>
                      <a:pPr algn="l"/>
                      <a:r>
                        <a:rPr sz="1000" b="1">
                          <a:solidFill>
                            <a:srgbClr val="FFFFFF"/>
                          </a:solidFill>
                          <a:latin typeface="Calibri"/>
                        </a:rPr>
                        <a:t>Test</a:t>
                      </a:r>
                    </a:p>
                  </a:txBody>
                  <a:tcPr marL="54864" marR="54864" marT="27432" marB="27432" anchor="ctr">
                    <a:solidFill>
                      <a:srgbClr val="2F6D62"/>
                    </a:solidFill>
                  </a:tcPr>
                </a:tc>
                <a:tc>
                  <a:txBody>
                    <a:bodyPr/>
                    <a:lstStyle/>
                    <a:p>
                      <a:pPr algn="r"/>
                      <a:r>
                        <a:rPr sz="1000" b="1">
                          <a:solidFill>
                            <a:srgbClr val="FFFFFF"/>
                          </a:solidFill>
                          <a:latin typeface="Calibri"/>
                        </a:rPr>
                        <a:t>Count</a:t>
                      </a:r>
                    </a:p>
                  </a:txBody>
                  <a:tcPr marL="54864" marR="54864" marT="27432" marB="27432" anchor="ctr">
                    <a:solidFill>
                      <a:srgbClr val="2F6D62"/>
                    </a:solidFill>
                  </a:tcPr>
                </a:tc>
              </a:tr>
              <a:tr h="329184">
                <a:tc>
                  <a:txBody>
                    <a:bodyPr/>
                    <a:lstStyle/>
                    <a:p>
                      <a:pPr algn="l"/>
                      <a:r>
                        <a:rPr sz="1000" b="0">
                          <a:solidFill>
                            <a:srgbClr val="2B2622"/>
                          </a:solidFill>
                          <a:latin typeface="Calibri"/>
                        </a:rPr>
                        <a:t>Typos tried</a:t>
                      </a:r>
                    </a:p>
                  </a:txBody>
                  <a:tcPr marL="54864" marR="54864" marT="27432" marB="27432" anchor="ctr">
                    <a:solidFill>
                      <a:srgbClr val="FFFFFF"/>
                    </a:solidFill>
                  </a:tcPr>
                </a:tc>
                <a:tc>
                  <a:txBody>
                    <a:bodyPr/>
                    <a:lstStyle/>
                    <a:p>
                      <a:pPr algn="r"/>
                      <a:r>
                        <a:rPr sz="1000" b="0">
                          <a:solidFill>
                            <a:srgbClr val="2B2622"/>
                          </a:solidFill>
                          <a:latin typeface="Calibri"/>
                        </a:rPr>
                        <a:t>1,938</a:t>
                      </a:r>
                    </a:p>
                  </a:txBody>
                  <a:tcPr marL="54864" marR="54864" marT="27432" marB="27432" anchor="ctr">
                    <a:solidFill>
                      <a:srgbClr val="FFFFFF"/>
                    </a:solidFill>
                  </a:tcPr>
                </a:tc>
              </a:tr>
              <a:tr h="329184">
                <a:tc>
                  <a:txBody>
                    <a:bodyPr/>
                    <a:lstStyle/>
                    <a:p>
                      <a:pPr algn="l"/>
                      <a:r>
                        <a:rPr sz="1000" b="0">
                          <a:solidFill>
                            <a:srgbClr val="2B2622"/>
                          </a:solidFill>
                          <a:latin typeface="Calibri"/>
                        </a:rPr>
                        <a:t>Typos accepted</a:t>
                      </a:r>
                    </a:p>
                  </a:txBody>
                  <a:tcPr marL="54864" marR="54864" marT="27432" marB="27432" anchor="ctr">
                    <a:solidFill>
                      <a:srgbClr val="EFE6D6"/>
                    </a:solidFill>
                  </a:tcPr>
                </a:tc>
                <a:tc>
                  <a:txBody>
                    <a:bodyPr/>
                    <a:lstStyle/>
                    <a:p>
                      <a:pPr algn="r"/>
                      <a:r>
                        <a:rPr sz="1000" b="0">
                          <a:solidFill>
                            <a:srgbClr val="2B2622"/>
                          </a:solidFill>
                          <a:latin typeface="Calibri"/>
                        </a:rPr>
                        <a:t>0</a:t>
                      </a:r>
                    </a:p>
                  </a:txBody>
                  <a:tcPr marL="54864" marR="54864" marT="27432" marB="27432" anchor="ctr">
                    <a:solidFill>
                      <a:srgbClr val="EFE6D6"/>
                    </a:solidFill>
                  </a:tcPr>
                </a:tc>
              </a:tr>
              <a:tr h="329184">
                <a:tc>
                  <a:txBody>
                    <a:bodyPr/>
                    <a:lstStyle/>
                    <a:p>
                      <a:pPr algn="l"/>
                      <a:r>
                        <a:rPr sz="1000" b="0">
                          <a:solidFill>
                            <a:srgbClr val="2B2622"/>
                          </a:solidFill>
                          <a:latin typeface="Calibri"/>
                        </a:rPr>
                        <a:t>Original valid?</a:t>
                      </a:r>
                    </a:p>
                  </a:txBody>
                  <a:tcPr marL="54864" marR="54864" marT="27432" marB="27432" anchor="ctr">
                    <a:solidFill>
                      <a:srgbClr val="FFFFFF"/>
                    </a:solidFill>
                  </a:tcPr>
                </a:tc>
                <a:tc>
                  <a:txBody>
                    <a:bodyPr/>
                    <a:lstStyle/>
                    <a:p>
                      <a:pPr algn="r"/>
                      <a:r>
                        <a:rPr sz="1000" b="0">
                          <a:solidFill>
                            <a:srgbClr val="2B2622"/>
                          </a:solidFill>
                          <a:latin typeface="Calibri"/>
                        </a:rPr>
                        <a:t>yes</a:t>
                      </a:r>
                    </a:p>
                  </a:txBody>
                  <a:tcPr marL="54864" marR="54864" marT="27432" marB="27432" anchor="ctr">
                    <a:solidFill>
                      <a:srgbClr val="FFFFFF"/>
                    </a:solidFill>
                  </a:tcPr>
                </a:tc>
              </a:tr>
            </a:tbl>
          </a:graphicData>
        </a:graphic>
      </p:graphicFrame>
      <p:sp>
        <p:nvSpPr>
          <p:cNvPr id="17" name="TextBox 16"/>
          <p:cNvSpPr txBox="1"/>
          <p:nvPr/>
        </p:nvSpPr>
        <p:spPr>
          <a:xfrm>
            <a:off x="5852160" y="3118104"/>
            <a:ext cx="2834640" cy="640080"/>
          </a:xfrm>
          <a:prstGeom prst="rect">
            <a:avLst/>
          </a:prstGeom>
          <a:noFill/>
        </p:spPr>
        <p:txBody>
          <a:bodyPr wrap="square" lIns="0" rIns="0" tIns="0" bIns="0" anchor="t">
            <a:spAutoFit/>
          </a:bodyPr>
          <a:lstStyle/>
          <a:p>
            <a:pPr algn="l"/>
            <a:r>
              <a:rPr sz="1100" b="0" i="0">
                <a:solidFill>
                  <a:srgbClr val="2B2622"/>
                </a:solidFill>
                <a:latin typeface="Calibri"/>
              </a:rPr>
              <a:t>A random typo passes the check about once in 4,294,967,296 tries.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Script Hashes and Bech32</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Addresses that commit to a script, and the second alphabet</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P2SH</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Pay to script hash: spending reveals the script and then satisfies it.</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locked briefcase opened in front of the cashier.</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Bech32 Addresses</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SegWit addresses in lowercase letters and digits with a stronger checksum.</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postcode that also detects a mistyped letter.</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Bech32m</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The same encoding with a new checksum constant, used from witness version 1.</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corrected second edition of the same form.</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609344"/>
                <a:gridCol w="1609344"/>
                <a:gridCol w="1609344"/>
                <a:gridCol w="1609344"/>
                <a:gridCol w="1609344"/>
              </a:tblGrid>
              <a:tr h="365760">
                <a:tc>
                  <a:txBody>
                    <a:bodyPr/>
                    <a:lstStyle/>
                    <a:p>
                      <a:pPr algn="ctr"/>
                      <a:r>
                        <a:rPr sz="1000" b="0">
                          <a:solidFill>
                            <a:srgbClr val="6E655C"/>
                          </a:solidFill>
                          <a:latin typeface="Calibri"/>
                        </a:rPr>
                        <a:t>Keys</a:t>
                      </a:r>
                    </a:p>
                  </a:txBody>
                  <a:tcPr marL="54864" marR="54864" marT="27432" marB="27432" anchor="ctr">
                    <a:solidFill>
                      <a:srgbClr val="F2ECE1"/>
                    </a:solidFill>
                  </a:tcPr>
                </a:tc>
                <a:tc>
                  <a:txBody>
                    <a:bodyPr/>
                    <a:lstStyle/>
                    <a:p>
                      <a:pPr algn="ctr"/>
                      <a:r>
                        <a:rPr sz="1000" b="0">
                          <a:solidFill>
                            <a:srgbClr val="6E655C"/>
                          </a:solidFill>
                          <a:latin typeface="Calibri"/>
                        </a:rPr>
                        <a:t>Legacy</a:t>
                      </a:r>
                    </a:p>
                  </a:txBody>
                  <a:tcPr marL="54864" marR="54864" marT="27432" marB="27432" anchor="ctr">
                    <a:solidFill>
                      <a:srgbClr val="F2ECE1"/>
                    </a:solidFill>
                  </a:tcPr>
                </a:tc>
                <a:tc>
                  <a:txBody>
                    <a:bodyPr/>
                    <a:lstStyle/>
                    <a:p>
                      <a:pPr algn="ctr"/>
                      <a:r>
                        <a:rPr sz="1000" b="1">
                          <a:solidFill>
                            <a:srgbClr val="FFFFFF"/>
                          </a:solidFill>
                          <a:latin typeface="Calibri"/>
                        </a:rPr>
                        <a:t>Bech32</a:t>
                      </a:r>
                    </a:p>
                  </a:txBody>
                  <a:tcPr marL="54864" marR="54864" marT="27432" marB="27432" anchor="ctr">
                    <a:solidFill>
                      <a:srgbClr val="D97A14"/>
                    </a:solidFill>
                  </a:tcPr>
                </a:tc>
                <a:tc>
                  <a:txBody>
                    <a:bodyPr/>
                    <a:lstStyle/>
                    <a:p>
                      <a:pPr algn="ctr"/>
                      <a:r>
                        <a:rPr sz="1000" b="0">
                          <a:solidFill>
                            <a:srgbClr val="6E655C"/>
                          </a:solidFill>
                          <a:latin typeface="Calibri"/>
                        </a:rPr>
                        <a:t>Formats</a:t>
                      </a:r>
                    </a:p>
                  </a:txBody>
                  <a:tcPr marL="54864" marR="54864" marT="27432" marB="27432" anchor="ctr">
                    <a:solidFill>
                      <a:srgbClr val="F2ECE1"/>
                    </a:solidFill>
                  </a:tcPr>
                </a:tc>
                <a:tc>
                  <a:txBody>
                    <a:bodyPr/>
                    <a:lstStyle/>
                    <a:p>
                      <a:pPr algn="ctr"/>
                      <a:r>
                        <a:rPr sz="1000" b="0">
                          <a:solidFill>
                            <a:srgbClr val="6E655C"/>
                          </a:solidFill>
                          <a:latin typeface="Calibri"/>
                        </a:rPr>
                        <a:t>Advanced</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27 / 47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Bech32: concepts, with everyday pictures (1 of 2)</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28 / 47</a:t>
            </a:r>
          </a:p>
        </p:txBody>
      </p:sp>
      <p:graphicFrame>
        <p:nvGraphicFramePr>
          <p:cNvPr id="8" name="Table 7"/>
          <p:cNvGraphicFramePr>
            <a:graphicFrameLocks noGrp="1"/>
          </p:cNvGraphicFramePr>
          <p:nvPr/>
        </p:nvGraphicFramePr>
        <p:xfrm>
          <a:off x="457200" y="1280160"/>
          <a:ext cx="8229600" cy="2944368"/>
        </p:xfrm>
        <a:graphic>
          <a:graphicData uri="http://schemas.openxmlformats.org/drawingml/2006/table">
            <a:tbl>
              <a:tblPr firstRow="1" bandRow="1">
                <a:tableStyleId>{5C22544A-7EE6-4342-B048-85BDC9FD1C3A}</a:tableStyleId>
              </a:tblPr>
              <a:tblGrid>
                <a:gridCol w="2103120"/>
                <a:gridCol w="3108960"/>
                <a:gridCol w="3017520"/>
              </a:tblGrid>
              <a:tr h="420624">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20624">
                <a:tc>
                  <a:txBody>
                    <a:bodyPr/>
                    <a:lstStyle/>
                    <a:p>
                      <a:pPr algn="l"/>
                      <a:r>
                        <a:rPr sz="1100" b="0">
                          <a:solidFill>
                            <a:srgbClr val="2B2622"/>
                          </a:solidFill>
                          <a:latin typeface="Calibri"/>
                        </a:rPr>
                        <a:t>Legacy Pay to Script Hash (P2SH)</a:t>
                      </a:r>
                    </a:p>
                  </a:txBody>
                  <a:tcPr marL="54864" marR="54864" marT="27432" marB="27432" anchor="ctr">
                    <a:solidFill>
                      <a:srgbClr val="FFFFFF"/>
                    </a:solidFill>
                  </a:tcPr>
                </a:tc>
                <a:tc>
                  <a:txBody>
                    <a:bodyPr/>
                    <a:lstStyle/>
                    <a:p>
                      <a:pPr algn="l"/>
                      <a:r>
                        <a:rPr sz="1100" b="0">
                          <a:solidFill>
                            <a:srgbClr val="2B2622"/>
                          </a:solidFill>
                          <a:latin typeface="Calibri"/>
                        </a:rPr>
                        <a:t>An address that commits to the hash of a whole script; it starts with 3.</a:t>
                      </a:r>
                    </a:p>
                  </a:txBody>
                  <a:tcPr marL="54864" marR="54864" marT="27432" marB="27432" anchor="ctr">
                    <a:solidFill>
                      <a:srgbClr val="FFFFFF"/>
                    </a:solidFill>
                  </a:tcPr>
                </a:tc>
                <a:tc>
                  <a:txBody>
                    <a:bodyPr/>
                    <a:lstStyle/>
                    <a:p>
                      <a:pPr algn="l"/>
                      <a:r>
                        <a:rPr sz="1100" b="0">
                          <a:solidFill>
                            <a:srgbClr val="2B2622"/>
                          </a:solidFill>
                          <a:latin typeface="Calibri"/>
                        </a:rPr>
                        <a:t>A safe-deposit box whose contents you show only when you open it.</a:t>
                      </a:r>
                    </a:p>
                  </a:txBody>
                  <a:tcPr marL="54864" marR="54864" marT="27432" marB="27432" anchor="ctr">
                    <a:solidFill>
                      <a:srgbClr val="FFFFFF"/>
                    </a:solidFill>
                  </a:tcPr>
                </a:tc>
              </a:tr>
              <a:tr h="420624">
                <a:tc>
                  <a:txBody>
                    <a:bodyPr/>
                    <a:lstStyle/>
                    <a:p>
                      <a:pPr algn="l"/>
                      <a:r>
                        <a:rPr sz="1100" b="0">
                          <a:solidFill>
                            <a:srgbClr val="2B2622"/>
                          </a:solidFill>
                          <a:latin typeface="Calibri"/>
                        </a:rPr>
                        <a:t>P2SH</a:t>
                      </a:r>
                    </a:p>
                  </a:txBody>
                  <a:tcPr marL="54864" marR="54864" marT="27432" marB="27432" anchor="ctr">
                    <a:solidFill>
                      <a:srgbClr val="F2ECE1"/>
                    </a:solidFill>
                  </a:tcPr>
                </a:tc>
                <a:tc>
                  <a:txBody>
                    <a:bodyPr/>
                    <a:lstStyle/>
                    <a:p>
                      <a:pPr algn="l"/>
                      <a:r>
                        <a:rPr sz="1100" b="0">
                          <a:solidFill>
                            <a:srgbClr val="2B2622"/>
                          </a:solidFill>
                          <a:latin typeface="Calibri"/>
                        </a:rPr>
                        <a:t>Pay to script hash: spending reveals the script and then satisfies it.</a:t>
                      </a:r>
                    </a:p>
                  </a:txBody>
                  <a:tcPr marL="54864" marR="54864" marT="27432" marB="27432" anchor="ctr">
                    <a:solidFill>
                      <a:srgbClr val="F2ECE1"/>
                    </a:solidFill>
                  </a:tcPr>
                </a:tc>
                <a:tc>
                  <a:txBody>
                    <a:bodyPr/>
                    <a:lstStyle/>
                    <a:p>
                      <a:pPr algn="l"/>
                      <a:r>
                        <a:rPr sz="1100" b="0">
                          <a:solidFill>
                            <a:srgbClr val="2B2622"/>
                          </a:solidFill>
                          <a:latin typeface="Calibri"/>
                        </a:rPr>
                        <a:t>A locked briefcase opened in front of the cashier.</a:t>
                      </a:r>
                    </a:p>
                  </a:txBody>
                  <a:tcPr marL="54864" marR="54864" marT="27432" marB="27432" anchor="ctr">
                    <a:solidFill>
                      <a:srgbClr val="F2ECE1"/>
                    </a:solidFill>
                  </a:tcPr>
                </a:tc>
              </a:tr>
              <a:tr h="420624">
                <a:tc>
                  <a:txBody>
                    <a:bodyPr/>
                    <a:lstStyle/>
                    <a:p>
                      <a:pPr algn="l"/>
                      <a:r>
                        <a:rPr sz="1100" b="0">
                          <a:solidFill>
                            <a:srgbClr val="2B2622"/>
                          </a:solidFill>
                          <a:latin typeface="Calibri"/>
                        </a:rPr>
                        <a:t>redeem script</a:t>
                      </a:r>
                    </a:p>
                  </a:txBody>
                  <a:tcPr marL="54864" marR="54864" marT="27432" marB="27432" anchor="ctr">
                    <a:solidFill>
                      <a:srgbClr val="FFFFFF"/>
                    </a:solidFill>
                  </a:tcPr>
                </a:tc>
                <a:tc>
                  <a:txBody>
                    <a:bodyPr/>
                    <a:lstStyle/>
                    <a:p>
                      <a:pPr algn="l"/>
                      <a:r>
                        <a:rPr sz="1100" b="0">
                          <a:solidFill>
                            <a:srgbClr val="2B2622"/>
                          </a:solidFill>
                          <a:latin typeface="Calibri"/>
                        </a:rPr>
                        <a:t>The script behind a P2SH hash; it is revealed and run when the coins are spent.</a:t>
                      </a:r>
                    </a:p>
                  </a:txBody>
                  <a:tcPr marL="54864" marR="54864" marT="27432" marB="27432" anchor="ctr">
                    <a:solidFill>
                      <a:srgbClr val="FFFFFF"/>
                    </a:solidFill>
                  </a:tcPr>
                </a:tc>
                <a:tc>
                  <a:txBody>
                    <a:bodyPr/>
                    <a:lstStyle/>
                    <a:p>
                      <a:pPr algn="l"/>
                      <a:r>
                        <a:rPr sz="1100" b="0">
                          <a:solidFill>
                            <a:srgbClr val="2B2622"/>
                          </a:solidFill>
                          <a:latin typeface="Calibri"/>
                        </a:rPr>
                        <a:t>The instructions sealed inside the envelope.</a:t>
                      </a:r>
                    </a:p>
                  </a:txBody>
                  <a:tcPr marL="54864" marR="54864" marT="27432" marB="27432" anchor="ctr">
                    <a:solidFill>
                      <a:srgbClr val="FFFFFF"/>
                    </a:solidFill>
                  </a:tcPr>
                </a:tc>
              </a:tr>
              <a:tr h="420624">
                <a:tc>
                  <a:txBody>
                    <a:bodyPr/>
                    <a:lstStyle/>
                    <a:p>
                      <a:pPr algn="l"/>
                      <a:r>
                        <a:rPr sz="1100" b="0">
                          <a:solidFill>
                            <a:srgbClr val="2B2622"/>
                          </a:solidFill>
                          <a:latin typeface="Calibri"/>
                        </a:rPr>
                        <a:t>collision attack</a:t>
                      </a:r>
                    </a:p>
                  </a:txBody>
                  <a:tcPr marL="54864" marR="54864" marT="27432" marB="27432" anchor="ctr">
                    <a:solidFill>
                      <a:srgbClr val="F2ECE1"/>
                    </a:solidFill>
                  </a:tcPr>
                </a:tc>
                <a:tc>
                  <a:txBody>
                    <a:bodyPr/>
                    <a:lstStyle/>
                    <a:p>
                      <a:pPr algn="l"/>
                      <a:r>
                        <a:rPr sz="1100" b="0">
                          <a:solidFill>
                            <a:srgbClr val="2B2622"/>
                          </a:solidFill>
                          <a:latin typeface="Calibri"/>
                        </a:rPr>
                        <a:t>Finding any two different inputs that give the same hash.</a:t>
                      </a:r>
                    </a:p>
                  </a:txBody>
                  <a:tcPr marL="54864" marR="54864" marT="27432" marB="27432" anchor="ctr">
                    <a:solidFill>
                      <a:srgbClr val="F2ECE1"/>
                    </a:solidFill>
                  </a:tcPr>
                </a:tc>
                <a:tc>
                  <a:txBody>
                    <a:bodyPr/>
                    <a:lstStyle/>
                    <a:p>
                      <a:pPr algn="l"/>
                      <a:r>
                        <a:rPr sz="1100" b="0">
                          <a:solidFill>
                            <a:srgbClr val="2B2622"/>
                          </a:solidFill>
                          <a:latin typeface="Calibri"/>
                        </a:rPr>
                        <a:t>Finding two strangers with the same fingerprint.</a:t>
                      </a:r>
                    </a:p>
                  </a:txBody>
                  <a:tcPr marL="54864" marR="54864" marT="27432" marB="27432" anchor="ctr">
                    <a:solidFill>
                      <a:srgbClr val="F2ECE1"/>
                    </a:solidFill>
                  </a:tcPr>
                </a:tc>
              </a:tr>
              <a:tr h="420624">
                <a:tc>
                  <a:txBody>
                    <a:bodyPr/>
                    <a:lstStyle/>
                    <a:p>
                      <a:pPr algn="l"/>
                      <a:r>
                        <a:rPr sz="1100" b="0">
                          <a:solidFill>
                            <a:srgbClr val="2B2622"/>
                          </a:solidFill>
                          <a:latin typeface="Calibri"/>
                        </a:rPr>
                        <a:t>preimage attack</a:t>
                      </a:r>
                    </a:p>
                  </a:txBody>
                  <a:tcPr marL="54864" marR="54864" marT="27432" marB="27432" anchor="ctr">
                    <a:solidFill>
                      <a:srgbClr val="FFFFFF"/>
                    </a:solidFill>
                  </a:tcPr>
                </a:tc>
                <a:tc>
                  <a:txBody>
                    <a:bodyPr/>
                    <a:lstStyle/>
                    <a:p>
                      <a:pPr algn="l"/>
                      <a:r>
                        <a:rPr sz="1100" b="0">
                          <a:solidFill>
                            <a:srgbClr val="2B2622"/>
                          </a:solidFill>
                          <a:latin typeface="Calibri"/>
                        </a:rPr>
                        <a:t>Finding an input that gives one particular hash.</a:t>
                      </a:r>
                    </a:p>
                  </a:txBody>
                  <a:tcPr marL="54864" marR="54864" marT="27432" marB="27432" anchor="ctr">
                    <a:solidFill>
                      <a:srgbClr val="FFFFFF"/>
                    </a:solidFill>
                  </a:tcPr>
                </a:tc>
                <a:tc>
                  <a:txBody>
                    <a:bodyPr/>
                    <a:lstStyle/>
                    <a:p>
                      <a:pPr algn="l"/>
                      <a:r>
                        <a:rPr sz="1100" b="0">
                          <a:solidFill>
                            <a:srgbClr val="2B2622"/>
                          </a:solidFill>
                          <a:latin typeface="Calibri"/>
                        </a:rPr>
                        <a:t>Finding the person behind one given fingerprint.</a:t>
                      </a:r>
                    </a:p>
                  </a:txBody>
                  <a:tcPr marL="54864" marR="54864" marT="27432" marB="27432" anchor="ctr">
                    <a:solidFill>
                      <a:srgbClr val="FFFFFF"/>
                    </a:solidFill>
                  </a:tcPr>
                </a:tc>
              </a:tr>
              <a:tr h="420624">
                <a:tc>
                  <a:txBody>
                    <a:bodyPr/>
                    <a:lstStyle/>
                    <a:p>
                      <a:pPr algn="l"/>
                      <a:r>
                        <a:rPr sz="1100" b="0">
                          <a:solidFill>
                            <a:srgbClr val="2B2622"/>
                          </a:solidFill>
                          <a:latin typeface="Calibri"/>
                        </a:rPr>
                        <a:t>Bech32 Addresses</a:t>
                      </a:r>
                    </a:p>
                  </a:txBody>
                  <a:tcPr marL="54864" marR="54864" marT="27432" marB="27432" anchor="ctr">
                    <a:solidFill>
                      <a:srgbClr val="F2ECE1"/>
                    </a:solidFill>
                  </a:tcPr>
                </a:tc>
                <a:tc>
                  <a:txBody>
                    <a:bodyPr/>
                    <a:lstStyle/>
                    <a:p>
                      <a:pPr algn="l"/>
                      <a:r>
                        <a:rPr sz="1100" b="0">
                          <a:solidFill>
                            <a:srgbClr val="2B2622"/>
                          </a:solidFill>
                          <a:latin typeface="Calibri"/>
                        </a:rPr>
                        <a:t>SegWit addresses in lowercase letters and digits with a stronger checksum.</a:t>
                      </a:r>
                    </a:p>
                  </a:txBody>
                  <a:tcPr marL="54864" marR="54864" marT="27432" marB="27432" anchor="ctr">
                    <a:solidFill>
                      <a:srgbClr val="F2ECE1"/>
                    </a:solidFill>
                  </a:tcPr>
                </a:tc>
                <a:tc>
                  <a:txBody>
                    <a:bodyPr/>
                    <a:lstStyle/>
                    <a:p>
                      <a:pPr algn="l"/>
                      <a:r>
                        <a:rPr sz="1100" b="0">
                          <a:solidFill>
                            <a:srgbClr val="2B2622"/>
                          </a:solidFill>
                          <a:latin typeface="Calibri"/>
                        </a:rPr>
                        <a:t>A postcode that also detects a mistyped letter.</a:t>
                      </a:r>
                    </a:p>
                  </a:txBody>
                  <a:tcPr marL="54864" marR="54864" marT="27432" marB="27432" anchor="ctr">
                    <a:solidFill>
                      <a:srgbClr val="F2ECE1"/>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Bech32: concepts, with everyday pictures (2 of 2)</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29 / 47</a:t>
            </a:r>
          </a:p>
        </p:txBody>
      </p:sp>
      <p:graphicFrame>
        <p:nvGraphicFramePr>
          <p:cNvPr id="8" name="Table 7"/>
          <p:cNvGraphicFramePr>
            <a:graphicFrameLocks noGrp="1"/>
          </p:cNvGraphicFramePr>
          <p:nvPr/>
        </p:nvGraphicFramePr>
        <p:xfrm>
          <a:off x="457200" y="1280160"/>
          <a:ext cx="8229600" cy="2944368"/>
        </p:xfrm>
        <a:graphic>
          <a:graphicData uri="http://schemas.openxmlformats.org/drawingml/2006/table">
            <a:tbl>
              <a:tblPr firstRow="1" bandRow="1">
                <a:tableStyleId>{5C22544A-7EE6-4342-B048-85BDC9FD1C3A}</a:tableStyleId>
              </a:tblPr>
              <a:tblGrid>
                <a:gridCol w="2103120"/>
                <a:gridCol w="3108960"/>
                <a:gridCol w="3017520"/>
              </a:tblGrid>
              <a:tr h="420624">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20624">
                <a:tc>
                  <a:txBody>
                    <a:bodyPr/>
                    <a:lstStyle/>
                    <a:p>
                      <a:pPr algn="l"/>
                      <a:r>
                        <a:rPr sz="1100" b="0">
                          <a:solidFill>
                            <a:srgbClr val="2B2622"/>
                          </a:solidFill>
                          <a:latin typeface="Calibri"/>
                        </a:rPr>
                        <a:t>Problems with Bech32 Addresses</a:t>
                      </a:r>
                    </a:p>
                  </a:txBody>
                  <a:tcPr marL="54864" marR="54864" marT="27432" marB="27432" anchor="ctr">
                    <a:solidFill>
                      <a:srgbClr val="FFFFFF"/>
                    </a:solidFill>
                  </a:tcPr>
                </a:tc>
                <a:tc>
                  <a:txBody>
                    <a:bodyPr/>
                    <a:lstStyle/>
                    <a:p>
                      <a:pPr algn="l"/>
                      <a:r>
                        <a:rPr sz="1100" b="0">
                          <a:solidFill>
                            <a:srgbClr val="2B2622"/>
                          </a:solidFill>
                          <a:latin typeface="Calibri"/>
                        </a:rPr>
                        <a:t>Letters inserted before a final p slip past the old checksum.</a:t>
                      </a:r>
                    </a:p>
                  </a:txBody>
                  <a:tcPr marL="54864" marR="54864" marT="27432" marB="27432" anchor="ctr">
                    <a:solidFill>
                      <a:srgbClr val="FFFFFF"/>
                    </a:solidFill>
                  </a:tcPr>
                </a:tc>
                <a:tc>
                  <a:txBody>
                    <a:bodyPr/>
                    <a:lstStyle/>
                    <a:p>
                      <a:pPr algn="l"/>
                      <a:r>
                        <a:rPr sz="1100" b="0">
                          <a:solidFill>
                            <a:srgbClr val="2B2622"/>
                          </a:solidFill>
                          <a:latin typeface="Calibri"/>
                        </a:rPr>
                        <a:t>Extra tick marks at the end of a ruler that nobody notices.</a:t>
                      </a:r>
                    </a:p>
                  </a:txBody>
                  <a:tcPr marL="54864" marR="54864" marT="27432" marB="27432" anchor="ctr">
                    <a:solidFill>
                      <a:srgbClr val="FFFFFF"/>
                    </a:solidFill>
                  </a:tcPr>
                </a:tc>
              </a:tr>
              <a:tr h="420624">
                <a:tc>
                  <a:txBody>
                    <a:bodyPr/>
                    <a:lstStyle/>
                    <a:p>
                      <a:pPr algn="l"/>
                      <a:r>
                        <a:rPr sz="1100" b="0">
                          <a:solidFill>
                            <a:srgbClr val="2B2622"/>
                          </a:solidFill>
                          <a:latin typeface="Calibri"/>
                        </a:rPr>
                        <a:t>Bech32m</a:t>
                      </a:r>
                    </a:p>
                  </a:txBody>
                  <a:tcPr marL="54864" marR="54864" marT="27432" marB="27432" anchor="ctr">
                    <a:solidFill>
                      <a:srgbClr val="F2ECE1"/>
                    </a:solidFill>
                  </a:tcPr>
                </a:tc>
                <a:tc>
                  <a:txBody>
                    <a:bodyPr/>
                    <a:lstStyle/>
                    <a:p>
                      <a:pPr algn="l"/>
                      <a:r>
                        <a:rPr sz="1100" b="0">
                          <a:solidFill>
                            <a:srgbClr val="2B2622"/>
                          </a:solidFill>
                          <a:latin typeface="Calibri"/>
                        </a:rPr>
                        <a:t>The same encoding with a new checksum constant, used from witness version 1.</a:t>
                      </a:r>
                    </a:p>
                  </a:txBody>
                  <a:tcPr marL="54864" marR="54864" marT="27432" marB="27432" anchor="ctr">
                    <a:solidFill>
                      <a:srgbClr val="F2ECE1"/>
                    </a:solidFill>
                  </a:tcPr>
                </a:tc>
                <a:tc>
                  <a:txBody>
                    <a:bodyPr/>
                    <a:lstStyle/>
                    <a:p>
                      <a:pPr algn="l"/>
                      <a:r>
                        <a:rPr sz="1100" b="0">
                          <a:solidFill>
                            <a:srgbClr val="2B2622"/>
                          </a:solidFill>
                          <a:latin typeface="Calibri"/>
                        </a:rPr>
                        <a:t>A corrected second edition of the same form.</a:t>
                      </a:r>
                    </a:p>
                  </a:txBody>
                  <a:tcPr marL="54864" marR="54864" marT="27432" marB="27432" anchor="ctr">
                    <a:solidFill>
                      <a:srgbClr val="F2ECE1"/>
                    </a:solidFill>
                  </a:tcPr>
                </a:tc>
              </a:tr>
              <a:tr h="420624">
                <a:tc>
                  <a:txBody>
                    <a:bodyPr/>
                    <a:lstStyle/>
                    <a:p>
                      <a:pPr algn="l"/>
                      <a:r>
                        <a:rPr sz="1100" b="0">
                          <a:solidFill>
                            <a:srgbClr val="2B2622"/>
                          </a:solidFill>
                          <a:latin typeface="Calibri"/>
                        </a:rPr>
                        <a:t>bech32</a:t>
                      </a:r>
                    </a:p>
                  </a:txBody>
                  <a:tcPr marL="54864" marR="54864" marT="27432" marB="27432" anchor="ctr">
                    <a:solidFill>
                      <a:srgbClr val="FFFFFF"/>
                    </a:solidFill>
                  </a:tcPr>
                </a:tc>
                <a:tc>
                  <a:txBody>
                    <a:bodyPr/>
                    <a:lstStyle/>
                    <a:p>
                      <a:pPr algn="l"/>
                      <a:r>
                        <a:rPr sz="1100" b="0">
                          <a:solidFill>
                            <a:srgbClr val="2B2622"/>
                          </a:solidFill>
                          <a:latin typeface="Calibri"/>
                        </a:rPr>
                        <a:t>The original encoding and checksum, still used for witness version 0.</a:t>
                      </a:r>
                    </a:p>
                  </a:txBody>
                  <a:tcPr marL="54864" marR="54864" marT="27432" marB="27432" anchor="ctr">
                    <a:solidFill>
                      <a:srgbClr val="FFFFFF"/>
                    </a:solidFill>
                  </a:tcPr>
                </a:tc>
                <a:tc>
                  <a:txBody>
                    <a:bodyPr/>
                    <a:lstStyle/>
                    <a:p>
                      <a:pPr algn="l"/>
                      <a:r>
                        <a:rPr sz="1100" b="0">
                          <a:solidFill>
                            <a:srgbClr val="2B2622"/>
                          </a:solidFill>
                          <a:latin typeface="Calibri"/>
                        </a:rPr>
                        <a:t>The first edition of the form.</a:t>
                      </a:r>
                    </a:p>
                  </a:txBody>
                  <a:tcPr marL="54864" marR="54864" marT="27432" marB="27432" anchor="ctr">
                    <a:solidFill>
                      <a:srgbClr val="FFFFFF"/>
                    </a:solidFill>
                  </a:tcPr>
                </a:tc>
              </a:tr>
              <a:tr h="420624">
                <a:tc>
                  <a:txBody>
                    <a:bodyPr/>
                    <a:lstStyle/>
                    <a:p>
                      <a:pPr algn="l"/>
                      <a:r>
                        <a:rPr sz="1100" b="0">
                          <a:solidFill>
                            <a:srgbClr val="2B2622"/>
                          </a:solidFill>
                          <a:latin typeface="Calibri"/>
                        </a:rPr>
                        <a:t>witness version</a:t>
                      </a:r>
                    </a:p>
                  </a:txBody>
                  <a:tcPr marL="54864" marR="54864" marT="27432" marB="27432" anchor="ctr">
                    <a:solidFill>
                      <a:srgbClr val="F2ECE1"/>
                    </a:solidFill>
                  </a:tcPr>
                </a:tc>
                <a:tc>
                  <a:txBody>
                    <a:bodyPr/>
                    <a:lstStyle/>
                    <a:p>
                      <a:pPr algn="l"/>
                      <a:r>
                        <a:rPr sz="1100" b="0">
                          <a:solidFill>
                            <a:srgbClr val="2B2622"/>
                          </a:solidFill>
                          <a:latin typeface="Calibri"/>
                        </a:rPr>
                        <a:t>The first value in the address: 0 for the first SegWit, 1 for Taproot.</a:t>
                      </a:r>
                    </a:p>
                  </a:txBody>
                  <a:tcPr marL="54864" marR="54864" marT="27432" marB="27432" anchor="ctr">
                    <a:solidFill>
                      <a:srgbClr val="F2ECE1"/>
                    </a:solidFill>
                  </a:tcPr>
                </a:tc>
                <a:tc>
                  <a:txBody>
                    <a:bodyPr/>
                    <a:lstStyle/>
                    <a:p>
                      <a:pPr algn="l"/>
                      <a:r>
                        <a:rPr sz="1100" b="0">
                          <a:solidFill>
                            <a:srgbClr val="2B2622"/>
                          </a:solidFill>
                          <a:latin typeface="Calibri"/>
                        </a:rPr>
                        <a:t>The version number printed on a form.</a:t>
                      </a:r>
                    </a:p>
                  </a:txBody>
                  <a:tcPr marL="54864" marR="54864" marT="27432" marB="27432" anchor="ctr">
                    <a:solidFill>
                      <a:srgbClr val="F2ECE1"/>
                    </a:solidFill>
                  </a:tcPr>
                </a:tc>
              </a:tr>
              <a:tr h="420624">
                <a:tc>
                  <a:txBody>
                    <a:bodyPr/>
                    <a:lstStyle/>
                    <a:p>
                      <a:pPr algn="l"/>
                      <a:r>
                        <a:rPr sz="1100" b="0">
                          <a:solidFill>
                            <a:srgbClr val="2B2622"/>
                          </a:solidFill>
                          <a:latin typeface="Calibri"/>
                        </a:rPr>
                        <a:t>witness program</a:t>
                      </a:r>
                    </a:p>
                  </a:txBody>
                  <a:tcPr marL="54864" marR="54864" marT="27432" marB="27432" anchor="ctr">
                    <a:solidFill>
                      <a:srgbClr val="FFFFFF"/>
                    </a:solidFill>
                  </a:tcPr>
                </a:tc>
                <a:tc>
                  <a:txBody>
                    <a:bodyPr/>
                    <a:lstStyle/>
                    <a:p>
                      <a:pPr algn="l"/>
                      <a:r>
                        <a:rPr sz="1100" b="0">
                          <a:solidFill>
                            <a:srgbClr val="2B2622"/>
                          </a:solidFill>
                          <a:latin typeface="Calibri"/>
                        </a:rPr>
                        <a:t>The data after the version: a key hash or a script hash.</a:t>
                      </a:r>
                    </a:p>
                  </a:txBody>
                  <a:tcPr marL="54864" marR="54864" marT="27432" marB="27432" anchor="ctr">
                    <a:solidFill>
                      <a:srgbClr val="FFFFFF"/>
                    </a:solidFill>
                  </a:tcPr>
                </a:tc>
                <a:tc>
                  <a:txBody>
                    <a:bodyPr/>
                    <a:lstStyle/>
                    <a:p>
                      <a:pPr algn="l"/>
                      <a:r>
                        <a:rPr sz="1100" b="0">
                          <a:solidFill>
                            <a:srgbClr val="2B2622"/>
                          </a:solidFill>
                          <a:latin typeface="Calibri"/>
                        </a:rPr>
                        <a:t>The filled-in field of the form.</a:t>
                      </a:r>
                    </a:p>
                  </a:txBody>
                  <a:tcPr marL="54864" marR="54864" marT="27432" marB="27432" anchor="ctr">
                    <a:solidFill>
                      <a:srgbClr val="FFFFFF"/>
                    </a:solidFill>
                  </a:tcPr>
                </a:tc>
              </a:tr>
              <a:tr h="420624">
                <a:tc>
                  <a:txBody>
                    <a:bodyPr/>
                    <a:lstStyle/>
                    <a:p>
                      <a:pPr algn="l"/>
                      <a:r>
                        <a:rPr sz="1100" b="0">
                          <a:solidFill>
                            <a:srgbClr val="2B2622"/>
                          </a:solidFill>
                          <a:latin typeface="Calibri"/>
                        </a:rPr>
                        <a:t>human-readable part</a:t>
                      </a:r>
                    </a:p>
                  </a:txBody>
                  <a:tcPr marL="54864" marR="54864" marT="27432" marB="27432" anchor="ctr">
                    <a:solidFill>
                      <a:srgbClr val="F2ECE1"/>
                    </a:solidFill>
                  </a:tcPr>
                </a:tc>
                <a:tc>
                  <a:txBody>
                    <a:bodyPr/>
                    <a:lstStyle/>
                    <a:p>
                      <a:pPr algn="l"/>
                      <a:r>
                        <a:rPr sz="1100" b="0">
                          <a:solidFill>
                            <a:srgbClr val="2B2622"/>
                          </a:solidFill>
                          <a:latin typeface="Calibri"/>
                        </a:rPr>
                        <a:t>The letters before the 1 that name the network: bc, tb.</a:t>
                      </a:r>
                    </a:p>
                  </a:txBody>
                  <a:tcPr marL="54864" marR="54864" marT="27432" marB="27432" anchor="ctr">
                    <a:solidFill>
                      <a:srgbClr val="F2ECE1"/>
                    </a:solidFill>
                  </a:tcPr>
                </a:tc>
                <a:tc>
                  <a:txBody>
                    <a:bodyPr/>
                    <a:lstStyle/>
                    <a:p>
                      <a:pPr algn="l"/>
                      <a:r>
                        <a:rPr sz="1100" b="0">
                          <a:solidFill>
                            <a:srgbClr val="2B2622"/>
                          </a:solidFill>
                          <a:latin typeface="Calibri"/>
                        </a:rPr>
                        <a:t>The country code on a number plate.</a:t>
                      </a:r>
                    </a:p>
                  </a:txBody>
                  <a:tcPr marL="54864" marR="54864" marT="27432" marB="27432" anchor="ctr">
                    <a:solidFill>
                      <a:srgbClr val="F2ECE1"/>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P2SH commits to a whole script</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A two-of-three multisignature behind one address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 P2SH address hides the script until spending</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30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Rounded Rectangle 9"/>
          <p:cNvSpPr/>
          <p:nvPr/>
        </p:nvSpPr>
        <p:spPr>
          <a:xfrm>
            <a:off x="457200" y="2724912"/>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1" name="TextBox 10"/>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keys = [K.pub_bytes(K.ec_mul(n)) </a:t>
            </a:r>
            <a:r>
              <a:rPr sz="1000" b="1" i="0">
                <a:solidFill>
                  <a:srgbClr val="F2A860"/>
                </a:solidFill>
                <a:latin typeface="Courier New"/>
              </a:rPr>
              <a:t>for</a:t>
            </a:r>
            <a:r>
              <a:rPr sz="1000" b="0" i="0">
                <a:solidFill>
                  <a:srgbClr val="E6EDF3"/>
                </a:solidFill>
                <a:latin typeface="Courier New"/>
              </a:rPr>
              <a:t> n </a:t>
            </a:r>
            <a:r>
              <a:rPr sz="1000" b="1" i="0">
                <a:solidFill>
                  <a:srgbClr val="F2A860"/>
                </a:solidFill>
                <a:latin typeface="Courier New"/>
              </a:rPr>
              <a:t>in</a:t>
            </a:r>
            <a:r>
              <a:rPr sz="1000" b="0" i="0">
                <a:solidFill>
                  <a:srgbClr val="E6EDF3"/>
                </a:solidFill>
                <a:latin typeface="Courier New"/>
              </a:rPr>
              <a:t> (</a:t>
            </a:r>
            <a:r>
              <a:rPr sz="1000" b="0" i="0">
                <a:solidFill>
                  <a:srgbClr val="FFD28A"/>
                </a:solidFill>
                <a:latin typeface="Courier New"/>
              </a:rPr>
              <a:t>1</a:t>
            </a:r>
            <a:r>
              <a:rPr sz="1000" b="0" i="0">
                <a:solidFill>
                  <a:srgbClr val="E6EDF3"/>
                </a:solidFill>
                <a:latin typeface="Courier New"/>
              </a:rPr>
              <a:t>, </a:t>
            </a:r>
            <a:r>
              <a:rPr sz="1000" b="0" i="0">
                <a:solidFill>
                  <a:srgbClr val="FFD28A"/>
                </a:solidFill>
                <a:latin typeface="Courier New"/>
              </a:rPr>
              <a:t>2</a:t>
            </a:r>
            <a:r>
              <a:rPr sz="1000" b="0" i="0">
                <a:solidFill>
                  <a:srgbClr val="E6EDF3"/>
                </a:solidFill>
                <a:latin typeface="Courier New"/>
              </a:rPr>
              <a:t>, </a:t>
            </a:r>
            <a:r>
              <a:rPr sz="1000" b="0" i="0">
                <a:solidFill>
                  <a:srgbClr val="FFD28A"/>
                </a:solidFill>
                <a:latin typeface="Courier New"/>
              </a:rPr>
              <a:t>3</a:t>
            </a:r>
            <a:r>
              <a:rPr sz="1000" b="0" i="0">
                <a:solidFill>
                  <a:srgbClr val="E6EDF3"/>
                </a:solidFill>
                <a:latin typeface="Courier New"/>
              </a:rPr>
              <a:t>)]</a:t>
            </a:r>
          </a:p>
        </p:txBody>
      </p:sp>
      <p:sp>
        <p:nvSpPr>
          <p:cNvPr id="12" name="TextBox 11"/>
          <p:cNvSpPr txBox="1"/>
          <p:nvPr/>
        </p:nvSpPr>
        <p:spPr>
          <a:xfrm>
            <a:off x="603504" y="2093976"/>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script = K.multisig_script(</a:t>
            </a:r>
            <a:r>
              <a:rPr sz="1000" b="0" i="0">
                <a:solidFill>
                  <a:srgbClr val="FFD28A"/>
                </a:solidFill>
                <a:latin typeface="Courier New"/>
              </a:rPr>
              <a:t>2</a:t>
            </a:r>
            <a:r>
              <a:rPr sz="1000" b="0" i="0">
                <a:solidFill>
                  <a:srgbClr val="E6EDF3"/>
                </a:solidFill>
                <a:latin typeface="Courier New"/>
              </a:rPr>
              <a:t>, keys)</a:t>
            </a:r>
          </a:p>
        </p:txBody>
      </p:sp>
      <p:sp>
        <p:nvSpPr>
          <p:cNvPr id="13" name="TextBox 12"/>
          <p:cNvSpPr txBox="1"/>
          <p:nvPr/>
        </p:nvSpPr>
        <p:spPr>
          <a:xfrm>
            <a:off x="603504" y="2816352"/>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addr = K.p2sh(script)</a:t>
            </a:r>
          </a:p>
          <a:p>
            <a:pPr algn="l"/>
            <a:r>
              <a:rPr sz="1000" b="1" i="0">
                <a:solidFill>
                  <a:srgbClr val="F2A860"/>
                </a:solidFill>
                <a:latin typeface="Courier New"/>
              </a:rPr>
              <a:t>&gt;&gt;&gt; </a:t>
            </a:r>
            <a:r>
              <a:rPr sz="1000" b="0" i="0">
                <a:solidFill>
                  <a:srgbClr val="E6EDF3"/>
                </a:solidFill>
                <a:latin typeface="Courier New"/>
              </a:rPr>
              <a:t>(len(script), addr[</a:t>
            </a:r>
            <a:r>
              <a:rPr sz="1000" b="0" i="0">
                <a:solidFill>
                  <a:srgbClr val="FFD28A"/>
                </a:solidFill>
                <a:latin typeface="Courier New"/>
              </a:rPr>
              <a:t>0</a:t>
            </a:r>
            <a:r>
              <a:rPr sz="1000" b="0" i="0">
                <a:solidFill>
                  <a:srgbClr val="E6EDF3"/>
                </a:solidFill>
                <a:latin typeface="Courier New"/>
              </a:rPr>
              <a:t>], len(addr))</a:t>
            </a:r>
          </a:p>
          <a:p>
            <a:pPr algn="l"/>
            <a:r>
              <a:rPr sz="1000" b="0" i="0">
                <a:solidFill>
                  <a:srgbClr val="7EE787"/>
                </a:solidFill>
                <a:latin typeface="Courier New"/>
              </a:rPr>
              <a:t>(105, '3', 34)</a:t>
            </a:r>
          </a:p>
        </p:txBody>
      </p:sp>
      <p:sp>
        <p:nvSpPr>
          <p:cNvPr id="14" name="TextBox 13"/>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Three public keys for a two-of-three multisignature wallet.</a:t>
            </a:r>
          </a:p>
        </p:txBody>
      </p:sp>
      <p:sp>
        <p:nvSpPr>
          <p:cNvPr id="15" name="TextBox 14"/>
          <p:cNvSpPr txBox="1"/>
          <p:nvPr/>
        </p:nvSpPr>
        <p:spPr>
          <a:xfrm>
            <a:off x="457200" y="2410968"/>
            <a:ext cx="5212080" cy="204216"/>
          </a:xfrm>
          <a:prstGeom prst="rect">
            <a:avLst/>
          </a:prstGeom>
          <a:noFill/>
        </p:spPr>
        <p:txBody>
          <a:bodyPr wrap="square" lIns="0" rIns="0" tIns="0" bIns="0" anchor="t">
            <a:spAutoFit/>
          </a:bodyPr>
          <a:lstStyle/>
          <a:p>
            <a:pPr algn="l"/>
            <a:r>
              <a:rPr sz="1100" b="0" i="0">
                <a:solidFill>
                  <a:srgbClr val="2B2622"/>
                </a:solidFill>
                <a:latin typeface="Calibri"/>
              </a:rPr>
              <a:t>The redeem script lists the keys and asks for any two signatures.</a:t>
            </a:r>
          </a:p>
        </p:txBody>
      </p:sp>
      <p:sp>
        <p:nvSpPr>
          <p:cNvPr id="16" name="TextBox 15"/>
          <p:cNvSpPr txBox="1"/>
          <p:nvPr/>
        </p:nvSpPr>
        <p:spPr>
          <a:xfrm>
            <a:off x="457200" y="3438144"/>
            <a:ext cx="5212080" cy="371855"/>
          </a:xfrm>
          <a:prstGeom prst="rect">
            <a:avLst/>
          </a:prstGeom>
          <a:noFill/>
        </p:spPr>
        <p:txBody>
          <a:bodyPr wrap="square" lIns="0" rIns="0" tIns="0" bIns="0" anchor="t">
            <a:spAutoFit/>
          </a:bodyPr>
          <a:lstStyle/>
          <a:p>
            <a:pPr algn="l"/>
            <a:r>
              <a:rPr sz="1100" b="0" i="0">
                <a:solidFill>
                  <a:srgbClr val="2B2622"/>
                </a:solidFill>
                <a:latin typeface="Calibri"/>
              </a:rPr>
              <a:t>The address is HASH160 of that script with version 05, so it starts with 3.</a:t>
            </a:r>
          </a:p>
        </p:txBody>
      </p:sp>
      <p:sp>
        <p:nvSpPr>
          <p:cNvPr id="17" name="TextBox 16"/>
          <p:cNvSpPr txBox="1"/>
          <p:nvPr/>
        </p:nvSpPr>
        <p:spPr>
          <a:xfrm>
            <a:off x="457200" y="3883152"/>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8" name="TextBox 17"/>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script, hash and address</a:t>
            </a:r>
          </a:p>
        </p:txBody>
      </p:sp>
      <p:graphicFrame>
        <p:nvGraphicFramePr>
          <p:cNvPr id="19" name="Table 18"/>
          <p:cNvGraphicFramePr>
            <a:graphicFrameLocks noGrp="1"/>
          </p:cNvGraphicFramePr>
          <p:nvPr/>
        </p:nvGraphicFramePr>
        <p:xfrm>
          <a:off x="5852160" y="1691640"/>
          <a:ext cx="2834640" cy="1316736"/>
        </p:xfrm>
        <a:graphic>
          <a:graphicData uri="http://schemas.openxmlformats.org/drawingml/2006/table">
            <a:tbl>
              <a:tblPr firstRow="1" bandRow="1">
                <a:tableStyleId>{5C22544A-7EE6-4342-B048-85BDC9FD1C3A}</a:tableStyleId>
              </a:tblPr>
              <a:tblGrid>
                <a:gridCol w="1097280"/>
                <a:gridCol w="1737360"/>
              </a:tblGrid>
              <a:tr h="329184">
                <a:tc>
                  <a:txBody>
                    <a:bodyPr/>
                    <a:lstStyle/>
                    <a:p>
                      <a:pPr algn="l"/>
                      <a:r>
                        <a:rPr sz="1000" b="1">
                          <a:solidFill>
                            <a:srgbClr val="FFFFFF"/>
                          </a:solidFill>
                          <a:latin typeface="Calibri"/>
                        </a:rPr>
                        <a:t>Item</a:t>
                      </a:r>
                    </a:p>
                  </a:txBody>
                  <a:tcPr marL="54864" marR="54864" marT="27432" marB="27432" anchor="ctr">
                    <a:solidFill>
                      <a:srgbClr val="2F6D62"/>
                    </a:solidFill>
                  </a:tcPr>
                </a:tc>
                <a:tc>
                  <a:txBody>
                    <a:bodyPr/>
                    <a:lstStyle/>
                    <a:p>
                      <a:pPr algn="l"/>
                      <a:r>
                        <a:rPr sz="1000" b="1">
                          <a:solidFill>
                            <a:srgbClr val="FFFFFF"/>
                          </a:solidFill>
                          <a:latin typeface="Calibri"/>
                        </a:rPr>
                        <a:t>Value</a:t>
                      </a:r>
                    </a:p>
                  </a:txBody>
                  <a:tcPr marL="54864" marR="54864" marT="27432" marB="27432" anchor="ctr">
                    <a:solidFill>
                      <a:srgbClr val="2F6D62"/>
                    </a:solidFill>
                  </a:tcPr>
                </a:tc>
              </a:tr>
              <a:tr h="329184">
                <a:tc>
                  <a:txBody>
                    <a:bodyPr/>
                    <a:lstStyle/>
                    <a:p>
                      <a:pPr algn="l"/>
                      <a:r>
                        <a:rPr sz="1000" b="0">
                          <a:solidFill>
                            <a:srgbClr val="2B2622"/>
                          </a:solidFill>
                          <a:latin typeface="Calibri"/>
                        </a:rPr>
                        <a:t>Redeem script</a:t>
                      </a:r>
                    </a:p>
                  </a:txBody>
                  <a:tcPr marL="54864" marR="54864" marT="27432" marB="27432" anchor="ctr">
                    <a:solidFill>
                      <a:srgbClr val="FFFFFF"/>
                    </a:solidFill>
                  </a:tcPr>
                </a:tc>
                <a:tc>
                  <a:txBody>
                    <a:bodyPr/>
                    <a:lstStyle/>
                    <a:p>
                      <a:pPr algn="l"/>
                      <a:r>
                        <a:rPr sz="1000" b="0">
                          <a:solidFill>
                            <a:srgbClr val="2B2622"/>
                          </a:solidFill>
                          <a:latin typeface="Calibri"/>
                        </a:rPr>
                        <a:t>105 bytes</a:t>
                      </a:r>
                    </a:p>
                  </a:txBody>
                  <a:tcPr marL="54864" marR="54864" marT="27432" marB="27432" anchor="ctr">
                    <a:solidFill>
                      <a:srgbClr val="FFFFFF"/>
                    </a:solidFill>
                  </a:tcPr>
                </a:tc>
              </a:tr>
              <a:tr h="329184">
                <a:tc>
                  <a:txBody>
                    <a:bodyPr/>
                    <a:lstStyle/>
                    <a:p>
                      <a:pPr algn="l"/>
                      <a:r>
                        <a:rPr sz="1000" b="0">
                          <a:solidFill>
                            <a:srgbClr val="2B2622"/>
                          </a:solidFill>
                          <a:latin typeface="Calibri"/>
                        </a:rPr>
                        <a:t>Its HASH160</a:t>
                      </a:r>
                    </a:p>
                  </a:txBody>
                  <a:tcPr marL="54864" marR="54864" marT="27432" marB="27432" anchor="ctr">
                    <a:solidFill>
                      <a:srgbClr val="F2ECE1"/>
                    </a:solidFill>
                  </a:tcPr>
                </a:tc>
                <a:tc>
                  <a:txBody>
                    <a:bodyPr/>
                    <a:lstStyle/>
                    <a:p>
                      <a:pPr algn="l"/>
                      <a:r>
                        <a:rPr sz="1000" b="0">
                          <a:solidFill>
                            <a:srgbClr val="2B2622"/>
                          </a:solidFill>
                          <a:latin typeface="Calibri"/>
                        </a:rPr>
                        <a:t>15fc0754e73e...</a:t>
                      </a:r>
                    </a:p>
                  </a:txBody>
                  <a:tcPr marL="54864" marR="54864" marT="27432" marB="27432" anchor="ctr">
                    <a:solidFill>
                      <a:srgbClr val="F2ECE1"/>
                    </a:solidFill>
                  </a:tcPr>
                </a:tc>
              </a:tr>
              <a:tr h="329184">
                <a:tc>
                  <a:txBody>
                    <a:bodyPr/>
                    <a:lstStyle/>
                    <a:p>
                      <a:pPr algn="l"/>
                      <a:r>
                        <a:rPr sz="1000" b="0">
                          <a:solidFill>
                            <a:srgbClr val="2B2622"/>
                          </a:solidFill>
                          <a:latin typeface="Calibri"/>
                        </a:rPr>
                        <a:t>Address starts</a:t>
                      </a:r>
                    </a:p>
                  </a:txBody>
                  <a:tcPr marL="54864" marR="54864" marT="27432" marB="27432" anchor="ctr">
                    <a:solidFill>
                      <a:srgbClr val="FFFFFF"/>
                    </a:solidFill>
                  </a:tcPr>
                </a:tc>
                <a:tc>
                  <a:txBody>
                    <a:bodyPr/>
                    <a:lstStyle/>
                    <a:p>
                      <a:pPr algn="l"/>
                      <a:r>
                        <a:rPr sz="1000" b="0">
                          <a:solidFill>
                            <a:srgbClr val="2B2622"/>
                          </a:solidFill>
                          <a:latin typeface="Calibri"/>
                        </a:rPr>
                        <a:t>3, 34 characters</a:t>
                      </a:r>
                    </a:p>
                  </a:txBody>
                  <a:tcPr marL="54864" marR="54864" marT="27432" marB="27432" anchor="ctr">
                    <a:solidFill>
                      <a:srgbClr val="FFFFFF"/>
                    </a:solidFill>
                  </a:tcPr>
                </a:tc>
              </a:tr>
            </a:tbl>
          </a:graphicData>
        </a:graphic>
      </p:graphicFrame>
      <p:sp>
        <p:nvSpPr>
          <p:cNvPr id="20" name="TextBox 19"/>
          <p:cNvSpPr txBox="1"/>
          <p:nvPr/>
        </p:nvSpPr>
        <p:spPr>
          <a:xfrm>
            <a:off x="5852160" y="3118104"/>
            <a:ext cx="2834640" cy="640080"/>
          </a:xfrm>
          <a:prstGeom prst="rect">
            <a:avLst/>
          </a:prstGeom>
          <a:noFill/>
        </p:spPr>
        <p:txBody>
          <a:bodyPr wrap="square" lIns="0" rIns="0" tIns="0" bIns="0" anchor="t">
            <a:spAutoFit/>
          </a:bodyPr>
          <a:lstStyle/>
          <a:p>
            <a:pPr algn="l"/>
            <a:r>
              <a:rPr sz="1100" b="0" i="0">
                <a:solidFill>
                  <a:srgbClr val="2B2622"/>
                </a:solidFill>
                <a:latin typeface="Calibri"/>
              </a:rPr>
              <a:t>Address 33hG2q39jRi2... commits to the script; spending reveals all 105 bytes.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Collision and preimage: bits of work</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Why a 160-bit hash is weaker for scripts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 collision costs only half the bits of a hash</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31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col, pre = (</a:t>
            </a:r>
            <a:r>
              <a:rPr sz="1000" b="1" i="0">
                <a:solidFill>
                  <a:srgbClr val="F2A860"/>
                </a:solidFill>
                <a:latin typeface="Courier New"/>
              </a:rPr>
              <a:t>lambda</a:t>
            </a:r>
            <a:r>
              <a:rPr sz="1000" b="0" i="0">
                <a:solidFill>
                  <a:srgbClr val="E6EDF3"/>
                </a:solidFill>
                <a:latin typeface="Courier New"/>
              </a:rPr>
              <a:t> n: n // </a:t>
            </a:r>
            <a:r>
              <a:rPr sz="1000" b="0" i="0">
                <a:solidFill>
                  <a:srgbClr val="FFD28A"/>
                </a:solidFill>
                <a:latin typeface="Courier New"/>
              </a:rPr>
              <a:t>2</a:t>
            </a:r>
            <a:r>
              <a:rPr sz="1000" b="0" i="0">
                <a:solidFill>
                  <a:srgbClr val="E6EDF3"/>
                </a:solidFill>
                <a:latin typeface="Courier New"/>
              </a:rPr>
              <a:t>), (</a:t>
            </a:r>
            <a:r>
              <a:rPr sz="1000" b="1" i="0">
                <a:solidFill>
                  <a:srgbClr val="F2A860"/>
                </a:solidFill>
                <a:latin typeface="Courier New"/>
              </a:rPr>
              <a:t>lambda</a:t>
            </a:r>
            <a:r>
              <a:rPr sz="1000" b="0" i="0">
                <a:solidFill>
                  <a:srgbClr val="E6EDF3"/>
                </a:solidFill>
                <a:latin typeface="Courier New"/>
              </a:rPr>
              <a:t> n: n)</a:t>
            </a:r>
          </a:p>
        </p:txBody>
      </p:sp>
      <p:sp>
        <p:nvSpPr>
          <p:cNvPr id="11" name="TextBox 10"/>
          <p:cNvSpPr txBox="1"/>
          <p:nvPr/>
        </p:nvSpPr>
        <p:spPr>
          <a:xfrm>
            <a:off x="603504" y="20939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[col(</a:t>
            </a:r>
            <a:r>
              <a:rPr sz="1000" b="0" i="0">
                <a:solidFill>
                  <a:srgbClr val="FFD28A"/>
                </a:solidFill>
                <a:latin typeface="Courier New"/>
              </a:rPr>
              <a:t>160</a:t>
            </a:r>
            <a:r>
              <a:rPr sz="1000" b="0" i="0">
                <a:solidFill>
                  <a:srgbClr val="E6EDF3"/>
                </a:solidFill>
                <a:latin typeface="Courier New"/>
              </a:rPr>
              <a:t>), pre(</a:t>
            </a:r>
            <a:r>
              <a:rPr sz="1000" b="0" i="0">
                <a:solidFill>
                  <a:srgbClr val="FFD28A"/>
                </a:solidFill>
                <a:latin typeface="Courier New"/>
              </a:rPr>
              <a:t>160</a:t>
            </a:r>
            <a:r>
              <a:rPr sz="1000" b="0" i="0">
                <a:solidFill>
                  <a:srgbClr val="E6EDF3"/>
                </a:solidFill>
                <a:latin typeface="Courier New"/>
              </a:rPr>
              <a:t>), col(</a:t>
            </a:r>
            <a:r>
              <a:rPr sz="1000" b="0" i="0">
                <a:solidFill>
                  <a:srgbClr val="FFD28A"/>
                </a:solidFill>
                <a:latin typeface="Courier New"/>
              </a:rPr>
              <a:t>256</a:t>
            </a:r>
            <a:r>
              <a:rPr sz="1000" b="0" i="0">
                <a:solidFill>
                  <a:srgbClr val="E6EDF3"/>
                </a:solidFill>
                <a:latin typeface="Courier New"/>
              </a:rPr>
              <a:t>), pre(</a:t>
            </a:r>
            <a:r>
              <a:rPr sz="1000" b="0" i="0">
                <a:solidFill>
                  <a:srgbClr val="FFD28A"/>
                </a:solidFill>
                <a:latin typeface="Courier New"/>
              </a:rPr>
              <a:t>256</a:t>
            </a:r>
            <a:r>
              <a:rPr sz="1000" b="0" i="0">
                <a:solidFill>
                  <a:srgbClr val="E6EDF3"/>
                </a:solidFill>
                <a:latin typeface="Courier New"/>
              </a:rPr>
              <a:t>)]</a:t>
            </a:r>
          </a:p>
          <a:p>
            <a:pPr algn="l"/>
            <a:r>
              <a:rPr sz="1000" b="0" i="0">
                <a:solidFill>
                  <a:srgbClr val="7EE787"/>
                </a:solidFill>
                <a:latin typeface="Courier New"/>
              </a:rPr>
              <a:t>[80, 160, 128, 256]</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A hash of n bits falls to a collision after about 2 to the n over 2 tries.</a:t>
            </a:r>
          </a:p>
        </p:txBody>
      </p:sp>
      <p:sp>
        <p:nvSpPr>
          <p:cNvPr id="13" name="TextBox 12"/>
          <p:cNvSpPr txBox="1"/>
          <p:nvPr/>
        </p:nvSpPr>
        <p:spPr>
          <a:xfrm>
            <a:off x="457200" y="2563368"/>
            <a:ext cx="5212080" cy="371855"/>
          </a:xfrm>
          <a:prstGeom prst="rect">
            <a:avLst/>
          </a:prstGeom>
          <a:noFill/>
        </p:spPr>
        <p:txBody>
          <a:bodyPr wrap="square" lIns="0" rIns="0" tIns="0" bIns="0" anchor="t">
            <a:spAutoFit/>
          </a:bodyPr>
          <a:lstStyle/>
          <a:p>
            <a:pPr algn="l"/>
            <a:r>
              <a:rPr sz="1100" b="0" i="0">
                <a:solidFill>
                  <a:srgbClr val="2B2622"/>
                </a:solidFill>
                <a:latin typeface="Calibri"/>
              </a:rPr>
              <a:t>A preimage needs 2 to the n tries; the list gives the exponents for two hash sizes.</a:t>
            </a:r>
          </a:p>
        </p:txBody>
      </p:sp>
      <p:sp>
        <p:nvSpPr>
          <p:cNvPr id="14" name="TextBox 13"/>
          <p:cNvSpPr txBox="1"/>
          <p:nvPr/>
        </p:nvSpPr>
        <p:spPr>
          <a:xfrm>
            <a:off x="457200" y="30083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bits of work, by attack</a:t>
            </a:r>
          </a:p>
        </p:txBody>
      </p:sp>
      <p:graphicFrame>
        <p:nvGraphicFramePr>
          <p:cNvPr id="16" name="Chart 15"/>
          <p:cNvGraphicFramePr>
            <a:graphicFrameLocks noGrp="1"/>
          </p:cNvGraphicFramePr>
          <p:nvPr/>
        </p:nvGraphicFramePr>
        <p:xfrm>
          <a:off x="5852160" y="1691640"/>
          <a:ext cx="2834640" cy="210312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904488"/>
            <a:ext cx="2834640" cy="640080"/>
          </a:xfrm>
          <a:prstGeom prst="rect">
            <a:avLst/>
          </a:prstGeom>
          <a:noFill/>
        </p:spPr>
        <p:txBody>
          <a:bodyPr wrap="square" lIns="0" rIns="0" tIns="0" bIns="0" anchor="t">
            <a:spAutoFit/>
          </a:bodyPr>
          <a:lstStyle/>
          <a:p>
            <a:pPr algn="l"/>
            <a:r>
              <a:rPr sz="1100" b="0" i="0">
                <a:solidFill>
                  <a:srgbClr val="2B2622"/>
                </a:solidFill>
                <a:latin typeface="Calibri"/>
              </a:rPr>
              <a:t>A 160-bit hash gives 80 bits against collisions; SHA256 gives 128.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A Bech32 address, taken apart</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Network, version, program and checksum</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Split at the last 1: name, version, program, checksum</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32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addr = K.segwit_address(</a:t>
            </a:r>
            <a:r>
              <a:rPr sz="1000" b="0" i="0">
                <a:solidFill>
                  <a:srgbClr val="9ECBFF"/>
                </a:solidFill>
                <a:latin typeface="Courier New"/>
              </a:rPr>
              <a:t>'bc'</a:t>
            </a:r>
            <a:r>
              <a:rPr sz="1000" b="0" i="0">
                <a:solidFill>
                  <a:srgbClr val="E6EDF3"/>
                </a:solidFill>
                <a:latin typeface="Courier New"/>
              </a:rPr>
              <a:t>, </a:t>
            </a:r>
            <a:r>
              <a:rPr sz="1000" b="0" i="0">
                <a:solidFill>
                  <a:srgbClr val="FFD28A"/>
                </a:solidFill>
                <a:latin typeface="Courier New"/>
              </a:rPr>
              <a:t>0</a:t>
            </a:r>
            <a:r>
              <a:rPr sz="1000" b="0" i="0">
                <a:solidFill>
                  <a:srgbClr val="E6EDF3"/>
                </a:solidFill>
                <a:latin typeface="Courier New"/>
              </a:rPr>
              <a:t>, K.PROG_WPKH)</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hrp, _, rest = addr.rpartition(</a:t>
            </a:r>
            <a:r>
              <a:rPr sz="1000" b="0" i="0">
                <a:solidFill>
                  <a:srgbClr val="9ECBFF"/>
                </a:solidFill>
                <a:latin typeface="Courier New"/>
              </a:rPr>
              <a:t>'1'</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[hrp, rest[</a:t>
            </a:r>
            <a:r>
              <a:rPr sz="1000" b="0" i="0">
                <a:solidFill>
                  <a:srgbClr val="FFD28A"/>
                </a:solidFill>
                <a:latin typeface="Courier New"/>
              </a:rPr>
              <a:t>0</a:t>
            </a:r>
            <a:r>
              <a:rPr sz="1000" b="0" i="0">
                <a:solidFill>
                  <a:srgbClr val="E6EDF3"/>
                </a:solidFill>
                <a:latin typeface="Courier New"/>
              </a:rPr>
              <a:t>], len(rest[</a:t>
            </a:r>
            <a:r>
              <a:rPr sz="1000" b="0" i="0">
                <a:solidFill>
                  <a:srgbClr val="FFD28A"/>
                </a:solidFill>
                <a:latin typeface="Courier New"/>
              </a:rPr>
              <a:t>1</a:t>
            </a:r>
            <a:r>
              <a:rPr sz="1000" b="0" i="0">
                <a:solidFill>
                  <a:srgbClr val="E6EDF3"/>
                </a:solidFill>
                <a:latin typeface="Courier New"/>
              </a:rPr>
              <a:t>:-</a:t>
            </a:r>
            <a:r>
              <a:rPr sz="1000" b="0" i="0">
                <a:solidFill>
                  <a:srgbClr val="FFD28A"/>
                </a:solidFill>
                <a:latin typeface="Courier New"/>
              </a:rPr>
              <a:t>6</a:t>
            </a:r>
            <a:r>
              <a:rPr sz="1000" b="0" i="0">
                <a:solidFill>
                  <a:srgbClr val="E6EDF3"/>
                </a:solidFill>
                <a:latin typeface="Courier New"/>
              </a:rPr>
              <a:t>]), rest[-</a:t>
            </a:r>
            <a:r>
              <a:rPr sz="1000" b="0" i="0">
                <a:solidFill>
                  <a:srgbClr val="FFD28A"/>
                </a:solidFill>
                <a:latin typeface="Courier New"/>
              </a:rPr>
              <a:t>6</a:t>
            </a:r>
            <a:r>
              <a:rPr sz="1000" b="0" i="0">
                <a:solidFill>
                  <a:srgbClr val="E6EDF3"/>
                </a:solidFill>
                <a:latin typeface="Courier New"/>
              </a:rPr>
              <a:t>:]]</a:t>
            </a:r>
          </a:p>
          <a:p>
            <a:pPr algn="l"/>
            <a:r>
              <a:rPr sz="1000" b="0" i="0">
                <a:solidFill>
                  <a:srgbClr val="7EE787"/>
                </a:solidFill>
                <a:latin typeface="Courier New"/>
              </a:rPr>
              <a:t>['bc', 'q', 32, 'c6aaee']</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A version 0 SegWit address for the book's key hash.</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Split at the last 1: network name, version letter, program letters, checksum.</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parts of the address</a:t>
            </a:r>
          </a:p>
        </p:txBody>
      </p:sp>
      <p:graphicFrame>
        <p:nvGraphicFramePr>
          <p:cNvPr id="16" name="Table 15"/>
          <p:cNvGraphicFramePr>
            <a:graphicFrameLocks noGrp="1"/>
          </p:cNvGraphicFramePr>
          <p:nvPr/>
        </p:nvGraphicFramePr>
        <p:xfrm>
          <a:off x="5852160" y="1691640"/>
          <a:ext cx="2834640" cy="1645920"/>
        </p:xfrm>
        <a:graphic>
          <a:graphicData uri="http://schemas.openxmlformats.org/drawingml/2006/table">
            <a:tbl>
              <a:tblPr firstRow="1" bandRow="1">
                <a:tableStyleId>{5C22544A-7EE6-4342-B048-85BDC9FD1C3A}</a:tableStyleId>
              </a:tblPr>
              <a:tblGrid>
                <a:gridCol w="1280160"/>
                <a:gridCol w="1554480"/>
              </a:tblGrid>
              <a:tr h="274320">
                <a:tc>
                  <a:txBody>
                    <a:bodyPr/>
                    <a:lstStyle/>
                    <a:p>
                      <a:pPr algn="l"/>
                      <a:r>
                        <a:rPr sz="1000" b="1">
                          <a:solidFill>
                            <a:srgbClr val="FFFFFF"/>
                          </a:solidFill>
                          <a:latin typeface="Calibri"/>
                        </a:rPr>
                        <a:t>Part</a:t>
                      </a:r>
                    </a:p>
                  </a:txBody>
                  <a:tcPr marL="54864" marR="54864" marT="27432" marB="27432" anchor="ctr">
                    <a:solidFill>
                      <a:srgbClr val="2F6D62"/>
                    </a:solidFill>
                  </a:tcPr>
                </a:tc>
                <a:tc>
                  <a:txBody>
                    <a:bodyPr/>
                    <a:lstStyle/>
                    <a:p>
                      <a:pPr algn="l"/>
                      <a:r>
                        <a:rPr sz="1000" b="1">
                          <a:solidFill>
                            <a:srgbClr val="FFFFFF"/>
                          </a:solidFill>
                          <a:latin typeface="Calibri"/>
                        </a:rPr>
                        <a:t>Value</a:t>
                      </a:r>
                    </a:p>
                  </a:txBody>
                  <a:tcPr marL="54864" marR="54864" marT="27432" marB="27432" anchor="ctr">
                    <a:solidFill>
                      <a:srgbClr val="2F6D62"/>
                    </a:solidFill>
                  </a:tcPr>
                </a:tc>
              </a:tr>
              <a:tr h="274320">
                <a:tc>
                  <a:txBody>
                    <a:bodyPr/>
                    <a:lstStyle/>
                    <a:p>
                      <a:pPr algn="l"/>
                      <a:r>
                        <a:rPr sz="1000" b="0">
                          <a:solidFill>
                            <a:srgbClr val="2B2622"/>
                          </a:solidFill>
                          <a:latin typeface="Calibri"/>
                        </a:rPr>
                        <a:t>Network (HRP)</a:t>
                      </a:r>
                    </a:p>
                  </a:txBody>
                  <a:tcPr marL="54864" marR="54864" marT="27432" marB="27432" anchor="ctr">
                    <a:solidFill>
                      <a:srgbClr val="FFFFFF"/>
                    </a:solidFill>
                  </a:tcPr>
                </a:tc>
                <a:tc>
                  <a:txBody>
                    <a:bodyPr/>
                    <a:lstStyle/>
                    <a:p>
                      <a:pPr algn="l"/>
                      <a:r>
                        <a:rPr sz="1000" b="0">
                          <a:solidFill>
                            <a:srgbClr val="2B2622"/>
                          </a:solidFill>
                          <a:latin typeface="Calibri"/>
                        </a:rPr>
                        <a:t>bc</a:t>
                      </a:r>
                    </a:p>
                  </a:txBody>
                  <a:tcPr marL="54864" marR="54864" marT="27432" marB="27432" anchor="ctr">
                    <a:solidFill>
                      <a:srgbClr val="FFFFFF"/>
                    </a:solidFill>
                  </a:tcPr>
                </a:tc>
              </a:tr>
              <a:tr h="274320">
                <a:tc>
                  <a:txBody>
                    <a:bodyPr/>
                    <a:lstStyle/>
                    <a:p>
                      <a:pPr algn="l"/>
                      <a:r>
                        <a:rPr sz="1000" b="0">
                          <a:solidFill>
                            <a:srgbClr val="2B2622"/>
                          </a:solidFill>
                          <a:latin typeface="Calibri"/>
                        </a:rPr>
                        <a:t>Separator</a:t>
                      </a:r>
                    </a:p>
                  </a:txBody>
                  <a:tcPr marL="54864" marR="54864" marT="27432" marB="27432" anchor="ctr">
                    <a:solidFill>
                      <a:srgbClr val="F2ECE1"/>
                    </a:solidFill>
                  </a:tcPr>
                </a:tc>
                <a:tc>
                  <a:txBody>
                    <a:bodyPr/>
                    <a:lstStyle/>
                    <a:p>
                      <a:pPr algn="l"/>
                      <a:r>
                        <a:rPr sz="1000" b="0">
                          <a:solidFill>
                            <a:srgbClr val="2B2622"/>
                          </a:solidFill>
                          <a:latin typeface="Calibri"/>
                        </a:rPr>
                        <a:t>1</a:t>
                      </a:r>
                    </a:p>
                  </a:txBody>
                  <a:tcPr marL="54864" marR="54864" marT="27432" marB="27432" anchor="ctr">
                    <a:solidFill>
                      <a:srgbClr val="F2ECE1"/>
                    </a:solidFill>
                  </a:tcPr>
                </a:tc>
              </a:tr>
              <a:tr h="274320">
                <a:tc>
                  <a:txBody>
                    <a:bodyPr/>
                    <a:lstStyle/>
                    <a:p>
                      <a:pPr algn="l"/>
                      <a:r>
                        <a:rPr sz="1000" b="0">
                          <a:solidFill>
                            <a:srgbClr val="2B2622"/>
                          </a:solidFill>
                          <a:latin typeface="Calibri"/>
                        </a:rPr>
                        <a:t>Version letter</a:t>
                      </a:r>
                    </a:p>
                  </a:txBody>
                  <a:tcPr marL="54864" marR="54864" marT="27432" marB="27432" anchor="ctr">
                    <a:solidFill>
                      <a:srgbClr val="FFFFFF"/>
                    </a:solidFill>
                  </a:tcPr>
                </a:tc>
                <a:tc>
                  <a:txBody>
                    <a:bodyPr/>
                    <a:lstStyle/>
                    <a:p>
                      <a:pPr algn="l"/>
                      <a:r>
                        <a:rPr sz="1000" b="0">
                          <a:solidFill>
                            <a:srgbClr val="2B2622"/>
                          </a:solidFill>
                          <a:latin typeface="Calibri"/>
                        </a:rPr>
                        <a:t>q = 0</a:t>
                      </a:r>
                    </a:p>
                  </a:txBody>
                  <a:tcPr marL="54864" marR="54864" marT="27432" marB="27432" anchor="ctr">
                    <a:solidFill>
                      <a:srgbClr val="FFFFFF"/>
                    </a:solidFill>
                  </a:tcPr>
                </a:tc>
              </a:tr>
              <a:tr h="274320">
                <a:tc>
                  <a:txBody>
                    <a:bodyPr/>
                    <a:lstStyle/>
                    <a:p>
                      <a:pPr algn="l"/>
                      <a:r>
                        <a:rPr sz="1000" b="0">
                          <a:solidFill>
                            <a:srgbClr val="2B2622"/>
                          </a:solidFill>
                          <a:latin typeface="Calibri"/>
                        </a:rPr>
                        <a:t>Program letters</a:t>
                      </a:r>
                    </a:p>
                  </a:txBody>
                  <a:tcPr marL="54864" marR="54864" marT="27432" marB="27432" anchor="ctr">
                    <a:solidFill>
                      <a:srgbClr val="F2ECE1"/>
                    </a:solidFill>
                  </a:tcPr>
                </a:tc>
                <a:tc>
                  <a:txBody>
                    <a:bodyPr/>
                    <a:lstStyle/>
                    <a:p>
                      <a:pPr algn="l"/>
                      <a:r>
                        <a:rPr sz="1000" b="0">
                          <a:solidFill>
                            <a:srgbClr val="2B2622"/>
                          </a:solidFill>
                          <a:latin typeface="Calibri"/>
                        </a:rPr>
                        <a:t>32 = 20 bytes</a:t>
                      </a:r>
                    </a:p>
                  </a:txBody>
                  <a:tcPr marL="54864" marR="54864" marT="27432" marB="27432" anchor="ctr">
                    <a:solidFill>
                      <a:srgbClr val="F2ECE1"/>
                    </a:solidFill>
                  </a:tcPr>
                </a:tc>
              </a:tr>
              <a:tr h="274320">
                <a:tc>
                  <a:txBody>
                    <a:bodyPr/>
                    <a:lstStyle/>
                    <a:p>
                      <a:pPr algn="l"/>
                      <a:r>
                        <a:rPr sz="1000" b="0">
                          <a:solidFill>
                            <a:srgbClr val="2B2622"/>
                          </a:solidFill>
                          <a:latin typeface="Calibri"/>
                        </a:rPr>
                        <a:t>Checksum</a:t>
                      </a:r>
                    </a:p>
                  </a:txBody>
                  <a:tcPr marL="54864" marR="54864" marT="27432" marB="27432" anchor="ctr">
                    <a:solidFill>
                      <a:srgbClr val="FFFFFF"/>
                    </a:solidFill>
                  </a:tcPr>
                </a:tc>
                <a:tc>
                  <a:txBody>
                    <a:bodyPr/>
                    <a:lstStyle/>
                    <a:p>
                      <a:pPr algn="l"/>
                      <a:r>
                        <a:rPr sz="1000" b="0">
                          <a:solidFill>
                            <a:srgbClr val="2B2622"/>
                          </a:solidFill>
                          <a:latin typeface="Calibri"/>
                        </a:rPr>
                        <a:t>c6aaee</a:t>
                      </a:r>
                    </a:p>
                  </a:txBody>
                  <a:tcPr marL="54864" marR="54864" marT="27432" marB="27432" anchor="ctr">
                    <a:solidFill>
                      <a:srgbClr val="FFFFFF"/>
                    </a:solidFill>
                  </a:tcPr>
                </a:tc>
              </a:tr>
            </a:tbl>
          </a:graphicData>
        </a:graphic>
      </p:graphicFrame>
      <p:sp>
        <p:nvSpPr>
          <p:cNvPr id="17" name="TextBox 16"/>
          <p:cNvSpPr txBox="1"/>
          <p:nvPr/>
        </p:nvSpPr>
        <p:spPr>
          <a:xfrm>
            <a:off x="5852160" y="344728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whole address, 42 characters: bc1q9d3xa5gg45q2j39m9y32xzvygcgay4rgc6aaee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Witness version and witness program</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Three addresses from the book, decoded</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Version 0 for older SegWit; version 1 for Taproot</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33 / 47</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p = [(</a:t>
            </a:r>
            <a:r>
              <a:rPr sz="1000" b="0" i="0">
                <a:solidFill>
                  <a:srgbClr val="FFD28A"/>
                </a:solidFill>
                <a:latin typeface="Courier New"/>
              </a:rPr>
              <a:t>0</a:t>
            </a:r>
            <a:r>
              <a:rPr sz="1000" b="0" i="0">
                <a:solidFill>
                  <a:srgbClr val="E6EDF3"/>
                </a:solidFill>
                <a:latin typeface="Courier New"/>
              </a:rPr>
              <a:t>, K.PROG_WPKH), (</a:t>
            </a:r>
            <a:r>
              <a:rPr sz="1000" b="0" i="0">
                <a:solidFill>
                  <a:srgbClr val="FFD28A"/>
                </a:solidFill>
                <a:latin typeface="Courier New"/>
              </a:rPr>
              <a:t>0</a:t>
            </a:r>
            <a:r>
              <a:rPr sz="1000" b="0" i="0">
                <a:solidFill>
                  <a:srgbClr val="E6EDF3"/>
                </a:solidFill>
                <a:latin typeface="Courier New"/>
              </a:rPr>
              <a:t>, K.PROG_WSH), (</a:t>
            </a:r>
            <a:r>
              <a:rPr sz="1000" b="0" i="0">
                <a:solidFill>
                  <a:srgbClr val="FFD28A"/>
                </a:solidFill>
                <a:latin typeface="Courier New"/>
              </a:rPr>
              <a:t>1</a:t>
            </a:r>
            <a:r>
              <a:rPr sz="1000" b="0" i="0">
                <a:solidFill>
                  <a:srgbClr val="E6EDF3"/>
                </a:solidFill>
                <a:latin typeface="Courier New"/>
              </a:rPr>
              <a:t>, K.PROG_TR)]</a:t>
            </a:r>
          </a:p>
          <a:p>
            <a:pPr algn="l"/>
            <a:r>
              <a:rPr sz="1000" b="1" i="0">
                <a:solidFill>
                  <a:srgbClr val="F2A860"/>
                </a:solidFill>
                <a:latin typeface="Courier New"/>
              </a:rPr>
              <a:t>&gt;&gt;&gt; </a:t>
            </a:r>
            <a:r>
              <a:rPr sz="1000" b="0" i="0">
                <a:solidFill>
                  <a:srgbClr val="E6EDF3"/>
                </a:solidFill>
                <a:latin typeface="Courier New"/>
              </a:rPr>
              <a:t>a = [K.segwit_address(</a:t>
            </a:r>
            <a:r>
              <a:rPr sz="1000" b="0" i="0">
                <a:solidFill>
                  <a:srgbClr val="9ECBFF"/>
                </a:solidFill>
                <a:latin typeface="Courier New"/>
              </a:rPr>
              <a:t>'bc'</a:t>
            </a:r>
            <a:r>
              <a:rPr sz="1000" b="0" i="0">
                <a:solidFill>
                  <a:srgbClr val="E6EDF3"/>
                </a:solidFill>
                <a:latin typeface="Courier New"/>
              </a:rPr>
              <a:t>, v, g) </a:t>
            </a:r>
            <a:r>
              <a:rPr sz="1000" b="1" i="0">
                <a:solidFill>
                  <a:srgbClr val="F2A860"/>
                </a:solidFill>
                <a:latin typeface="Courier New"/>
              </a:rPr>
              <a:t>for</a:t>
            </a:r>
            <a:r>
              <a:rPr sz="1000" b="0" i="0">
                <a:solidFill>
                  <a:srgbClr val="E6EDF3"/>
                </a:solidFill>
                <a:latin typeface="Courier New"/>
              </a:rPr>
              <a:t> v, g </a:t>
            </a:r>
            <a:r>
              <a:rPr sz="1000" b="1" i="0">
                <a:solidFill>
                  <a:srgbClr val="F2A860"/>
                </a:solidFill>
                <a:latin typeface="Courier New"/>
              </a:rPr>
              <a:t>in</a:t>
            </a:r>
            <a:r>
              <a:rPr sz="1000" b="0" i="0">
                <a:solidFill>
                  <a:srgbClr val="E6EDF3"/>
                </a:solidFill>
                <a:latin typeface="Courier New"/>
              </a:rPr>
              <a:t> p]</a:t>
            </a:r>
          </a:p>
        </p:txBody>
      </p:sp>
      <p:sp>
        <p:nvSpPr>
          <p:cNvPr id="11" name="TextBox 10"/>
          <p:cNvSpPr txBox="1"/>
          <p:nvPr/>
        </p:nvSpPr>
        <p:spPr>
          <a:xfrm>
            <a:off x="603504" y="22463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d = [K.segwit_decode(</a:t>
            </a:r>
            <a:r>
              <a:rPr sz="1000" b="0" i="0">
                <a:solidFill>
                  <a:srgbClr val="9ECBFF"/>
                </a:solidFill>
                <a:latin typeface="Courier New"/>
              </a:rPr>
              <a:t>'bc'</a:t>
            </a:r>
            <a:r>
              <a:rPr sz="1000" b="0" i="0">
                <a:solidFill>
                  <a:srgbClr val="E6EDF3"/>
                </a:solidFill>
                <a:latin typeface="Courier New"/>
              </a:rPr>
              <a:t>, x) </a:t>
            </a:r>
            <a:r>
              <a:rPr sz="1000" b="1" i="0">
                <a:solidFill>
                  <a:srgbClr val="F2A860"/>
                </a:solidFill>
                <a:latin typeface="Courier New"/>
              </a:rPr>
              <a:t>for</a:t>
            </a:r>
            <a:r>
              <a:rPr sz="1000" b="0" i="0">
                <a:solidFill>
                  <a:srgbClr val="E6EDF3"/>
                </a:solidFill>
                <a:latin typeface="Courier New"/>
              </a:rPr>
              <a:t> x </a:t>
            </a:r>
            <a:r>
              <a:rPr sz="1000" b="1" i="0">
                <a:solidFill>
                  <a:srgbClr val="F2A860"/>
                </a:solidFill>
                <a:latin typeface="Courier New"/>
              </a:rPr>
              <a:t>in</a:t>
            </a:r>
            <a:r>
              <a:rPr sz="1000" b="0" i="0">
                <a:solidFill>
                  <a:srgbClr val="E6EDF3"/>
                </a:solidFill>
                <a:latin typeface="Courier New"/>
              </a:rPr>
              <a:t> a]</a:t>
            </a:r>
          </a:p>
          <a:p>
            <a:pPr algn="l"/>
            <a:r>
              <a:rPr sz="1000" b="1" i="0">
                <a:solidFill>
                  <a:srgbClr val="F2A860"/>
                </a:solidFill>
                <a:latin typeface="Courier New"/>
              </a:rPr>
              <a:t>&gt;&gt;&gt; </a:t>
            </a:r>
            <a:r>
              <a:rPr sz="1000" b="0" i="0">
                <a:solidFill>
                  <a:srgbClr val="E6EDF3"/>
                </a:solidFill>
                <a:latin typeface="Courier New"/>
              </a:rPr>
              <a:t>[(v, len(g)) </a:t>
            </a:r>
            <a:r>
              <a:rPr sz="1000" b="1" i="0">
                <a:solidFill>
                  <a:srgbClr val="F2A860"/>
                </a:solidFill>
                <a:latin typeface="Courier New"/>
              </a:rPr>
              <a:t>for</a:t>
            </a:r>
            <a:r>
              <a:rPr sz="1000" b="0" i="0">
                <a:solidFill>
                  <a:srgbClr val="E6EDF3"/>
                </a:solidFill>
                <a:latin typeface="Courier New"/>
              </a:rPr>
              <a:t> v, g </a:t>
            </a:r>
            <a:r>
              <a:rPr sz="1000" b="1" i="0">
                <a:solidFill>
                  <a:srgbClr val="F2A860"/>
                </a:solidFill>
                <a:latin typeface="Courier New"/>
              </a:rPr>
              <a:t>in</a:t>
            </a:r>
            <a:r>
              <a:rPr sz="1000" b="0" i="0">
                <a:solidFill>
                  <a:srgbClr val="E6EDF3"/>
                </a:solidFill>
                <a:latin typeface="Courier New"/>
              </a:rPr>
              <a:t> d]</a:t>
            </a:r>
          </a:p>
          <a:p>
            <a:pPr algn="l"/>
            <a:r>
              <a:rPr sz="1000" b="0" i="0">
                <a:solidFill>
                  <a:srgbClr val="7EE787"/>
                </a:solidFill>
                <a:latin typeface="Courier New"/>
              </a:rPr>
              <a:t>[(0, 20), (0, 32), (1, 32)]</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Three programs from the book: a key hash, a script hash and a Taproot key.</a:t>
            </a:r>
          </a:p>
        </p:txBody>
      </p:sp>
      <p:sp>
        <p:nvSpPr>
          <p:cNvPr id="13" name="TextBox 12"/>
          <p:cNvSpPr txBox="1"/>
          <p:nvPr/>
        </p:nvSpPr>
        <p:spPr>
          <a:xfrm>
            <a:off x="457200" y="2868168"/>
            <a:ext cx="5212080" cy="204216"/>
          </a:xfrm>
          <a:prstGeom prst="rect">
            <a:avLst/>
          </a:prstGeom>
          <a:noFill/>
        </p:spPr>
        <p:txBody>
          <a:bodyPr wrap="square" lIns="0" rIns="0" tIns="0" bIns="0" anchor="t">
            <a:spAutoFit/>
          </a:bodyPr>
          <a:lstStyle/>
          <a:p>
            <a:pPr algn="l"/>
            <a:r>
              <a:rPr sz="1100" b="0" i="0">
                <a:solidFill>
                  <a:srgbClr val="2B2622"/>
                </a:solidFill>
                <a:latin typeface="Calibri"/>
              </a:rPr>
              <a:t>Decoding each address returns the witness version and the program length.</a:t>
            </a:r>
          </a:p>
        </p:txBody>
      </p:sp>
      <p:sp>
        <p:nvSpPr>
          <p:cNvPr id="14" name="TextBox 13"/>
          <p:cNvSpPr txBox="1"/>
          <p:nvPr/>
        </p:nvSpPr>
        <p:spPr>
          <a:xfrm>
            <a:off x="457200" y="314553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three decoded addresses</a:t>
            </a:r>
          </a:p>
        </p:txBody>
      </p:sp>
      <p:graphicFrame>
        <p:nvGraphicFramePr>
          <p:cNvPr id="16" name="Table 15"/>
          <p:cNvGraphicFramePr>
            <a:graphicFrameLocks noGrp="1"/>
          </p:cNvGraphicFramePr>
          <p:nvPr/>
        </p:nvGraphicFramePr>
        <p:xfrm>
          <a:off x="5852160" y="1691640"/>
          <a:ext cx="2834640" cy="1316736"/>
        </p:xfrm>
        <a:graphic>
          <a:graphicData uri="http://schemas.openxmlformats.org/drawingml/2006/table">
            <a:tbl>
              <a:tblPr firstRow="1" bandRow="1">
                <a:tableStyleId>{5C22544A-7EE6-4342-B048-85BDC9FD1C3A}</a:tableStyleId>
              </a:tblPr>
              <a:tblGrid>
                <a:gridCol w="731520"/>
                <a:gridCol w="548640"/>
                <a:gridCol w="594360"/>
                <a:gridCol w="457200"/>
                <a:gridCol w="502920"/>
              </a:tblGrid>
              <a:tr h="329184">
                <a:tc>
                  <a:txBody>
                    <a:bodyPr/>
                    <a:lstStyle/>
                    <a:p>
                      <a:pPr algn="l"/>
                      <a:r>
                        <a:rPr sz="950" b="1">
                          <a:solidFill>
                            <a:srgbClr val="FFFFFF"/>
                          </a:solidFill>
                          <a:latin typeface="Calibri"/>
                        </a:rPr>
                        <a:t>Kind</a:t>
                      </a:r>
                    </a:p>
                  </a:txBody>
                  <a:tcPr marL="54864" marR="54864" marT="27432" marB="27432" anchor="ctr">
                    <a:solidFill>
                      <a:srgbClr val="2F6D62"/>
                    </a:solidFill>
                  </a:tcPr>
                </a:tc>
                <a:tc>
                  <a:txBody>
                    <a:bodyPr/>
                    <a:lstStyle/>
                    <a:p>
                      <a:pPr algn="l"/>
                      <a:r>
                        <a:rPr sz="950" b="1">
                          <a:solidFill>
                            <a:srgbClr val="FFFFFF"/>
                          </a:solidFill>
                          <a:latin typeface="Calibri"/>
                        </a:rPr>
                        <a:t>Starts</a:t>
                      </a:r>
                    </a:p>
                  </a:txBody>
                  <a:tcPr marL="54864" marR="54864" marT="27432" marB="27432" anchor="ctr">
                    <a:solidFill>
                      <a:srgbClr val="2F6D62"/>
                    </a:solidFill>
                  </a:tcPr>
                </a:tc>
                <a:tc>
                  <a:txBody>
                    <a:bodyPr/>
                    <a:lstStyle/>
                    <a:p>
                      <a:pPr algn="ctr"/>
                      <a:r>
                        <a:rPr sz="950" b="1">
                          <a:solidFill>
                            <a:srgbClr val="FFFFFF"/>
                          </a:solidFill>
                          <a:latin typeface="Calibri"/>
                        </a:rPr>
                        <a:t>Version</a:t>
                      </a:r>
                    </a:p>
                  </a:txBody>
                  <a:tcPr marL="54864" marR="54864" marT="27432" marB="27432" anchor="ctr">
                    <a:solidFill>
                      <a:srgbClr val="2F6D62"/>
                    </a:solidFill>
                  </a:tcPr>
                </a:tc>
                <a:tc>
                  <a:txBody>
                    <a:bodyPr/>
                    <a:lstStyle/>
                    <a:p>
                      <a:pPr algn="ctr"/>
                      <a:r>
                        <a:rPr sz="950" b="1">
                          <a:solidFill>
                            <a:srgbClr val="FFFFFF"/>
                          </a:solidFill>
                          <a:latin typeface="Calibri"/>
                        </a:rPr>
                        <a:t>Bytes</a:t>
                      </a:r>
                    </a:p>
                  </a:txBody>
                  <a:tcPr marL="54864" marR="54864" marT="27432" marB="27432" anchor="ctr">
                    <a:solidFill>
                      <a:srgbClr val="2F6D62"/>
                    </a:solidFill>
                  </a:tcPr>
                </a:tc>
                <a:tc>
                  <a:txBody>
                    <a:bodyPr/>
                    <a:lstStyle/>
                    <a:p>
                      <a:pPr algn="ctr"/>
                      <a:r>
                        <a:rPr sz="950" b="1">
                          <a:solidFill>
                            <a:srgbClr val="FFFFFF"/>
                          </a:solidFill>
                          <a:latin typeface="Calibri"/>
                        </a:rPr>
                        <a:t>Chars</a:t>
                      </a:r>
                    </a:p>
                  </a:txBody>
                  <a:tcPr marL="54864" marR="54864" marT="27432" marB="27432" anchor="ctr">
                    <a:solidFill>
                      <a:srgbClr val="2F6D62"/>
                    </a:solidFill>
                  </a:tcPr>
                </a:tc>
              </a:tr>
              <a:tr h="329184">
                <a:tc>
                  <a:txBody>
                    <a:bodyPr/>
                    <a:lstStyle/>
                    <a:p>
                      <a:pPr algn="l"/>
                      <a:r>
                        <a:rPr sz="950" b="0">
                          <a:solidFill>
                            <a:srgbClr val="2B2622"/>
                          </a:solidFill>
                          <a:latin typeface="Calibri"/>
                        </a:rPr>
                        <a:t>P2WPKH</a:t>
                      </a:r>
                    </a:p>
                  </a:txBody>
                  <a:tcPr marL="54864" marR="54864" marT="27432" marB="27432" anchor="ctr">
                    <a:solidFill>
                      <a:srgbClr val="FFFFFF"/>
                    </a:solidFill>
                  </a:tcPr>
                </a:tc>
                <a:tc>
                  <a:txBody>
                    <a:bodyPr/>
                    <a:lstStyle/>
                    <a:p>
                      <a:pPr algn="l"/>
                      <a:r>
                        <a:rPr sz="950" b="0">
                          <a:solidFill>
                            <a:srgbClr val="2B2622"/>
                          </a:solidFill>
                          <a:latin typeface="Calibri"/>
                        </a:rPr>
                        <a:t>bc1q</a:t>
                      </a:r>
                    </a:p>
                  </a:txBody>
                  <a:tcPr marL="54864" marR="54864" marT="27432" marB="27432" anchor="ctr">
                    <a:solidFill>
                      <a:srgbClr val="FFFFFF"/>
                    </a:solidFill>
                  </a:tcPr>
                </a:tc>
                <a:tc>
                  <a:txBody>
                    <a:bodyPr/>
                    <a:lstStyle/>
                    <a:p>
                      <a:pPr algn="ctr"/>
                      <a:r>
                        <a:rPr sz="950" b="0">
                          <a:solidFill>
                            <a:srgbClr val="2B2622"/>
                          </a:solidFill>
                          <a:latin typeface="Calibri"/>
                        </a:rPr>
                        <a:t>0</a:t>
                      </a:r>
                    </a:p>
                  </a:txBody>
                  <a:tcPr marL="54864" marR="54864" marT="27432" marB="27432" anchor="ctr">
                    <a:solidFill>
                      <a:srgbClr val="FFFFFF"/>
                    </a:solidFill>
                  </a:tcPr>
                </a:tc>
                <a:tc>
                  <a:txBody>
                    <a:bodyPr/>
                    <a:lstStyle/>
                    <a:p>
                      <a:pPr algn="ctr"/>
                      <a:r>
                        <a:rPr sz="950" b="0">
                          <a:solidFill>
                            <a:srgbClr val="2B2622"/>
                          </a:solidFill>
                          <a:latin typeface="Calibri"/>
                        </a:rPr>
                        <a:t>20</a:t>
                      </a:r>
                    </a:p>
                  </a:txBody>
                  <a:tcPr marL="54864" marR="54864" marT="27432" marB="27432" anchor="ctr">
                    <a:solidFill>
                      <a:srgbClr val="FFFFFF"/>
                    </a:solidFill>
                  </a:tcPr>
                </a:tc>
                <a:tc>
                  <a:txBody>
                    <a:bodyPr/>
                    <a:lstStyle/>
                    <a:p>
                      <a:pPr algn="ctr"/>
                      <a:r>
                        <a:rPr sz="950" b="0">
                          <a:solidFill>
                            <a:srgbClr val="2B2622"/>
                          </a:solidFill>
                          <a:latin typeface="Calibri"/>
                        </a:rPr>
                        <a:t>42</a:t>
                      </a:r>
                    </a:p>
                  </a:txBody>
                  <a:tcPr marL="54864" marR="54864" marT="27432" marB="27432" anchor="ctr">
                    <a:solidFill>
                      <a:srgbClr val="FFFFFF"/>
                    </a:solidFill>
                  </a:tcPr>
                </a:tc>
              </a:tr>
              <a:tr h="329184">
                <a:tc>
                  <a:txBody>
                    <a:bodyPr/>
                    <a:lstStyle/>
                    <a:p>
                      <a:pPr algn="l"/>
                      <a:r>
                        <a:rPr sz="950" b="0">
                          <a:solidFill>
                            <a:srgbClr val="2B2622"/>
                          </a:solidFill>
                          <a:latin typeface="Calibri"/>
                        </a:rPr>
                        <a:t>P2WSH</a:t>
                      </a:r>
                    </a:p>
                  </a:txBody>
                  <a:tcPr marL="54864" marR="54864" marT="27432" marB="27432" anchor="ctr">
                    <a:solidFill>
                      <a:srgbClr val="F2ECE1"/>
                    </a:solidFill>
                  </a:tcPr>
                </a:tc>
                <a:tc>
                  <a:txBody>
                    <a:bodyPr/>
                    <a:lstStyle/>
                    <a:p>
                      <a:pPr algn="l"/>
                      <a:r>
                        <a:rPr sz="950" b="0">
                          <a:solidFill>
                            <a:srgbClr val="2B2622"/>
                          </a:solidFill>
                          <a:latin typeface="Calibri"/>
                        </a:rPr>
                        <a:t>bc1q</a:t>
                      </a:r>
                    </a:p>
                  </a:txBody>
                  <a:tcPr marL="54864" marR="54864" marT="27432" marB="27432" anchor="ctr">
                    <a:solidFill>
                      <a:srgbClr val="F2ECE1"/>
                    </a:solidFill>
                  </a:tcPr>
                </a:tc>
                <a:tc>
                  <a:txBody>
                    <a:bodyPr/>
                    <a:lstStyle/>
                    <a:p>
                      <a:pPr algn="ctr"/>
                      <a:r>
                        <a:rPr sz="950" b="0">
                          <a:solidFill>
                            <a:srgbClr val="2B2622"/>
                          </a:solidFill>
                          <a:latin typeface="Calibri"/>
                        </a:rPr>
                        <a:t>0</a:t>
                      </a:r>
                    </a:p>
                  </a:txBody>
                  <a:tcPr marL="54864" marR="54864" marT="27432" marB="27432" anchor="ctr">
                    <a:solidFill>
                      <a:srgbClr val="F2ECE1"/>
                    </a:solidFill>
                  </a:tcPr>
                </a:tc>
                <a:tc>
                  <a:txBody>
                    <a:bodyPr/>
                    <a:lstStyle/>
                    <a:p>
                      <a:pPr algn="ctr"/>
                      <a:r>
                        <a:rPr sz="950" b="0">
                          <a:solidFill>
                            <a:srgbClr val="2B2622"/>
                          </a:solidFill>
                          <a:latin typeface="Calibri"/>
                        </a:rPr>
                        <a:t>32</a:t>
                      </a:r>
                    </a:p>
                  </a:txBody>
                  <a:tcPr marL="54864" marR="54864" marT="27432" marB="27432" anchor="ctr">
                    <a:solidFill>
                      <a:srgbClr val="F2ECE1"/>
                    </a:solidFill>
                  </a:tcPr>
                </a:tc>
                <a:tc>
                  <a:txBody>
                    <a:bodyPr/>
                    <a:lstStyle/>
                    <a:p>
                      <a:pPr algn="ctr"/>
                      <a:r>
                        <a:rPr sz="950" b="0">
                          <a:solidFill>
                            <a:srgbClr val="2B2622"/>
                          </a:solidFill>
                          <a:latin typeface="Calibri"/>
                        </a:rPr>
                        <a:t>62</a:t>
                      </a:r>
                    </a:p>
                  </a:txBody>
                  <a:tcPr marL="54864" marR="54864" marT="27432" marB="27432" anchor="ctr">
                    <a:solidFill>
                      <a:srgbClr val="F2ECE1"/>
                    </a:solidFill>
                  </a:tcPr>
                </a:tc>
              </a:tr>
              <a:tr h="329184">
                <a:tc>
                  <a:txBody>
                    <a:bodyPr/>
                    <a:lstStyle/>
                    <a:p>
                      <a:pPr algn="l"/>
                      <a:r>
                        <a:rPr sz="950" b="0">
                          <a:solidFill>
                            <a:srgbClr val="2B2622"/>
                          </a:solidFill>
                          <a:latin typeface="Calibri"/>
                        </a:rPr>
                        <a:t>P2TR</a:t>
                      </a:r>
                    </a:p>
                  </a:txBody>
                  <a:tcPr marL="54864" marR="54864" marT="27432" marB="27432" anchor="ctr">
                    <a:solidFill>
                      <a:srgbClr val="FFFFFF"/>
                    </a:solidFill>
                  </a:tcPr>
                </a:tc>
                <a:tc>
                  <a:txBody>
                    <a:bodyPr/>
                    <a:lstStyle/>
                    <a:p>
                      <a:pPr algn="l"/>
                      <a:r>
                        <a:rPr sz="950" b="0">
                          <a:solidFill>
                            <a:srgbClr val="2B2622"/>
                          </a:solidFill>
                          <a:latin typeface="Calibri"/>
                        </a:rPr>
                        <a:t>bc1p</a:t>
                      </a:r>
                    </a:p>
                  </a:txBody>
                  <a:tcPr marL="54864" marR="54864" marT="27432" marB="27432" anchor="ctr">
                    <a:solidFill>
                      <a:srgbClr val="FFFFFF"/>
                    </a:solidFill>
                  </a:tcPr>
                </a:tc>
                <a:tc>
                  <a:txBody>
                    <a:bodyPr/>
                    <a:lstStyle/>
                    <a:p>
                      <a:pPr algn="ctr"/>
                      <a:r>
                        <a:rPr sz="950" b="0">
                          <a:solidFill>
                            <a:srgbClr val="2B2622"/>
                          </a:solidFill>
                          <a:latin typeface="Calibri"/>
                        </a:rPr>
                        <a:t>1</a:t>
                      </a:r>
                    </a:p>
                  </a:txBody>
                  <a:tcPr marL="54864" marR="54864" marT="27432" marB="27432" anchor="ctr">
                    <a:solidFill>
                      <a:srgbClr val="FFFFFF"/>
                    </a:solidFill>
                  </a:tcPr>
                </a:tc>
                <a:tc>
                  <a:txBody>
                    <a:bodyPr/>
                    <a:lstStyle/>
                    <a:p>
                      <a:pPr algn="ctr"/>
                      <a:r>
                        <a:rPr sz="950" b="0">
                          <a:solidFill>
                            <a:srgbClr val="2B2622"/>
                          </a:solidFill>
                          <a:latin typeface="Calibri"/>
                        </a:rPr>
                        <a:t>32</a:t>
                      </a:r>
                    </a:p>
                  </a:txBody>
                  <a:tcPr marL="54864" marR="54864" marT="27432" marB="27432" anchor="ctr">
                    <a:solidFill>
                      <a:srgbClr val="FFFFFF"/>
                    </a:solidFill>
                  </a:tcPr>
                </a:tc>
                <a:tc>
                  <a:txBody>
                    <a:bodyPr/>
                    <a:lstStyle/>
                    <a:p>
                      <a:pPr algn="ctr"/>
                      <a:r>
                        <a:rPr sz="950" b="0">
                          <a:solidFill>
                            <a:srgbClr val="2B2622"/>
                          </a:solidFill>
                          <a:latin typeface="Calibri"/>
                        </a:rPr>
                        <a:t>62</a:t>
                      </a:r>
                    </a:p>
                  </a:txBody>
                  <a:tcPr marL="54864" marR="54864" marT="27432" marB="27432" anchor="ctr">
                    <a:solidFill>
                      <a:srgbClr val="FFFFFF"/>
                    </a:solidFill>
                  </a:tcPr>
                </a:tc>
              </a:tr>
            </a:tbl>
          </a:graphicData>
        </a:graphic>
      </p:graphicFrame>
      <p:sp>
        <p:nvSpPr>
          <p:cNvPr id="17" name="TextBox 16"/>
          <p:cNvSpPr txBox="1"/>
          <p:nvPr/>
        </p:nvSpPr>
        <p:spPr>
          <a:xfrm>
            <a:off x="5852160" y="3118104"/>
            <a:ext cx="2834640" cy="640080"/>
          </a:xfrm>
          <a:prstGeom prst="rect">
            <a:avLst/>
          </a:prstGeom>
          <a:noFill/>
        </p:spPr>
        <p:txBody>
          <a:bodyPr wrap="square" lIns="0" rIns="0" tIns="0" bIns="0" anchor="t">
            <a:spAutoFit/>
          </a:bodyPr>
          <a:lstStyle/>
          <a:p>
            <a:pPr algn="l"/>
            <a:r>
              <a:rPr sz="1100" b="0" i="0">
                <a:solidFill>
                  <a:srgbClr val="2B2622"/>
                </a:solidFill>
                <a:latin typeface="Calibri"/>
              </a:rPr>
              <a:t>Version 1 changes the letter after 1 from q to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Bech32 accepts the extra q, Bech32m does not</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weakness that Bech32m repaired</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Bech32m changed one constant and closed the gap</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34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8107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ok = </a:t>
            </a:r>
            <a:r>
              <a:rPr sz="1000" b="1" i="0">
                <a:solidFill>
                  <a:srgbClr val="F2A860"/>
                </a:solidFill>
                <a:latin typeface="Courier New"/>
              </a:rPr>
              <a:t>lambda</a:t>
            </a:r>
            <a:r>
              <a:rPr sz="1000" b="0" i="0">
                <a:solidFill>
                  <a:srgbClr val="E6EDF3"/>
                </a:solidFill>
                <a:latin typeface="Courier New"/>
              </a:rPr>
              <a:t> a, c: K.bech_check(a) == c</a:t>
            </a:r>
          </a:p>
        </p:txBody>
      </p:sp>
      <p:sp>
        <p:nvSpPr>
          <p:cNvPr id="11" name="TextBox 10"/>
          <p:cNvSpPr txBox="1"/>
          <p:nvPr/>
        </p:nvSpPr>
        <p:spPr>
          <a:xfrm>
            <a:off x="603504" y="2093976"/>
            <a:ext cx="4937760" cy="6278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old = [ok(a, K.BECH32) </a:t>
            </a:r>
            <a:r>
              <a:rPr sz="1000" b="1" i="0">
                <a:solidFill>
                  <a:srgbClr val="F2A860"/>
                </a:solidFill>
                <a:latin typeface="Courier New"/>
              </a:rPr>
              <a:t>for</a:t>
            </a:r>
            <a:r>
              <a:rPr sz="1000" b="0" i="0">
                <a:solidFill>
                  <a:srgbClr val="E6EDF3"/>
                </a:solidFill>
                <a:latin typeface="Courier New"/>
              </a:rPr>
              <a:t> a </a:t>
            </a:r>
            <a:r>
              <a:rPr sz="1000" b="1" i="0">
                <a:solidFill>
                  <a:srgbClr val="F2A860"/>
                </a:solidFill>
                <a:latin typeface="Courier New"/>
              </a:rPr>
              <a:t>in</a:t>
            </a:r>
            <a:r>
              <a:rPr sz="1000" b="0" i="0">
                <a:solidFill>
                  <a:srgbClr val="E6EDF3"/>
                </a:solidFill>
                <a:latin typeface="Courier New"/>
              </a:rPr>
              <a:t> K.EXT]</a:t>
            </a:r>
          </a:p>
          <a:p>
            <a:pPr algn="l"/>
            <a:r>
              <a:rPr sz="1000" b="1" i="0">
                <a:solidFill>
                  <a:srgbClr val="F2A860"/>
                </a:solidFill>
                <a:latin typeface="Courier New"/>
              </a:rPr>
              <a:t>&gt;&gt;&gt; </a:t>
            </a:r>
            <a:r>
              <a:rPr sz="1000" b="0" i="0">
                <a:solidFill>
                  <a:srgbClr val="E6EDF3"/>
                </a:solidFill>
                <a:latin typeface="Courier New"/>
              </a:rPr>
              <a:t>new = [ok(a, K.BECH32M) </a:t>
            </a:r>
            <a:r>
              <a:rPr sz="1000" b="1" i="0">
                <a:solidFill>
                  <a:srgbClr val="F2A860"/>
                </a:solidFill>
                <a:latin typeface="Courier New"/>
              </a:rPr>
              <a:t>for</a:t>
            </a:r>
            <a:r>
              <a:rPr sz="1000" b="0" i="0">
                <a:solidFill>
                  <a:srgbClr val="E6EDF3"/>
                </a:solidFill>
                <a:latin typeface="Courier New"/>
              </a:rPr>
              <a:t> a </a:t>
            </a:r>
            <a:r>
              <a:rPr sz="1000" b="1" i="0">
                <a:solidFill>
                  <a:srgbClr val="F2A860"/>
                </a:solidFill>
                <a:latin typeface="Courier New"/>
              </a:rPr>
              <a:t>in</a:t>
            </a:r>
            <a:r>
              <a:rPr sz="1000" b="0" i="0">
                <a:solidFill>
                  <a:srgbClr val="E6EDF3"/>
                </a:solidFill>
                <a:latin typeface="Courier New"/>
              </a:rPr>
              <a:t> K.EXT]</a:t>
            </a:r>
          </a:p>
          <a:p>
            <a:pPr algn="l"/>
            <a:r>
              <a:rPr sz="1000" b="1" i="0">
                <a:solidFill>
                  <a:srgbClr val="F2A860"/>
                </a:solidFill>
                <a:latin typeface="Courier New"/>
              </a:rPr>
              <a:t>&gt;&gt;&gt; </a:t>
            </a:r>
            <a:r>
              <a:rPr sz="1000" b="0" i="0">
                <a:solidFill>
                  <a:srgbClr val="E6EDF3"/>
                </a:solidFill>
                <a:latin typeface="Courier New"/>
              </a:rPr>
              <a:t>(old, new)</a:t>
            </a:r>
          </a:p>
          <a:p>
            <a:pPr algn="l"/>
            <a:r>
              <a:rPr sz="1000" b="0" i="0">
                <a:solidFill>
                  <a:srgbClr val="7EE787"/>
                </a:solidFill>
                <a:latin typeface="Courier New"/>
              </a:rPr>
              <a:t>([True, True, True, True], [False, False, False, False])</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A string passes when its checksum equals the constant of the format.</a:t>
            </a:r>
          </a:p>
        </p:txBody>
      </p:sp>
      <p:sp>
        <p:nvSpPr>
          <p:cNvPr id="13" name="TextBox 12"/>
          <p:cNvSpPr txBox="1"/>
          <p:nvPr/>
        </p:nvSpPr>
        <p:spPr>
          <a:xfrm>
            <a:off x="457200" y="286816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book's strings insert q before the last p; the old checksum cannot tell.</a:t>
            </a:r>
          </a:p>
        </p:txBody>
      </p:sp>
      <p:sp>
        <p:nvSpPr>
          <p:cNvPr id="14" name="TextBox 13"/>
          <p:cNvSpPr txBox="1"/>
          <p:nvPr/>
        </p:nvSpPr>
        <p:spPr>
          <a:xfrm>
            <a:off x="457200" y="33131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same strings, two checksums</a:t>
            </a:r>
          </a:p>
        </p:txBody>
      </p:sp>
      <p:graphicFrame>
        <p:nvGraphicFramePr>
          <p:cNvPr id="16" name="Table 15"/>
          <p:cNvGraphicFramePr>
            <a:graphicFrameLocks noGrp="1"/>
          </p:cNvGraphicFramePr>
          <p:nvPr/>
        </p:nvGraphicFramePr>
        <p:xfrm>
          <a:off x="5852160" y="1691640"/>
          <a:ext cx="2834640" cy="1554480"/>
        </p:xfrm>
        <a:graphic>
          <a:graphicData uri="http://schemas.openxmlformats.org/drawingml/2006/table">
            <a:tbl>
              <a:tblPr firstRow="1" bandRow="1">
                <a:tableStyleId>{5C22544A-7EE6-4342-B048-85BDC9FD1C3A}</a:tableStyleId>
              </a:tblPr>
              <a:tblGrid>
                <a:gridCol w="822960"/>
                <a:gridCol w="1005840"/>
                <a:gridCol w="1005840"/>
              </a:tblGrid>
              <a:tr h="310896">
                <a:tc>
                  <a:txBody>
                    <a:bodyPr/>
                    <a:lstStyle/>
                    <a:p>
                      <a:pPr algn="ctr"/>
                      <a:r>
                        <a:rPr sz="1000" b="1">
                          <a:solidFill>
                            <a:srgbClr val="FFFFFF"/>
                          </a:solidFill>
                          <a:latin typeface="Calibri"/>
                        </a:rPr>
                        <a:t>Length</a:t>
                      </a:r>
                    </a:p>
                  </a:txBody>
                  <a:tcPr marL="54864" marR="54864" marT="27432" marB="27432" anchor="ctr">
                    <a:solidFill>
                      <a:srgbClr val="2F6D62"/>
                    </a:solidFill>
                  </a:tcPr>
                </a:tc>
                <a:tc>
                  <a:txBody>
                    <a:bodyPr/>
                    <a:lstStyle/>
                    <a:p>
                      <a:pPr algn="l"/>
                      <a:r>
                        <a:rPr sz="1000" b="1">
                          <a:solidFill>
                            <a:srgbClr val="FFFFFF"/>
                          </a:solidFill>
                          <a:latin typeface="Calibri"/>
                        </a:rPr>
                        <a:t>Bech32</a:t>
                      </a:r>
                    </a:p>
                  </a:txBody>
                  <a:tcPr marL="54864" marR="54864" marT="27432" marB="27432" anchor="ctr">
                    <a:solidFill>
                      <a:srgbClr val="2F6D62"/>
                    </a:solidFill>
                  </a:tcPr>
                </a:tc>
                <a:tc>
                  <a:txBody>
                    <a:bodyPr/>
                    <a:lstStyle/>
                    <a:p>
                      <a:pPr algn="l"/>
                      <a:r>
                        <a:rPr sz="1000" b="1">
                          <a:solidFill>
                            <a:srgbClr val="FFFFFF"/>
                          </a:solidFill>
                          <a:latin typeface="Calibri"/>
                        </a:rPr>
                        <a:t>Bech32m</a:t>
                      </a:r>
                    </a:p>
                  </a:txBody>
                  <a:tcPr marL="54864" marR="54864" marT="27432" marB="27432" anchor="ctr">
                    <a:solidFill>
                      <a:srgbClr val="2F6D62"/>
                    </a:solidFill>
                  </a:tcPr>
                </a:tc>
              </a:tr>
              <a:tr h="310896">
                <a:tc>
                  <a:txBody>
                    <a:bodyPr/>
                    <a:lstStyle/>
                    <a:p>
                      <a:pPr algn="ctr"/>
                      <a:r>
                        <a:rPr sz="1000" b="0">
                          <a:solidFill>
                            <a:srgbClr val="2B2622"/>
                          </a:solidFill>
                          <a:latin typeface="Calibri"/>
                        </a:rPr>
                        <a:t>15</a:t>
                      </a:r>
                    </a:p>
                  </a:txBody>
                  <a:tcPr marL="54864" marR="54864" marT="27432" marB="27432" anchor="ctr">
                    <a:solidFill>
                      <a:srgbClr val="EFE6D6"/>
                    </a:solidFill>
                  </a:tcPr>
                </a:tc>
                <a:tc>
                  <a:txBody>
                    <a:bodyPr/>
                    <a:lstStyle/>
                    <a:p>
                      <a:pPr algn="l"/>
                      <a:r>
                        <a:rPr sz="1000" b="0">
                          <a:solidFill>
                            <a:srgbClr val="2B2622"/>
                          </a:solidFill>
                          <a:latin typeface="Calibri"/>
                        </a:rPr>
                        <a:t>accepted</a:t>
                      </a:r>
                    </a:p>
                  </a:txBody>
                  <a:tcPr marL="54864" marR="54864" marT="27432" marB="27432" anchor="ctr">
                    <a:solidFill>
                      <a:srgbClr val="EFE6D6"/>
                    </a:solidFill>
                  </a:tcPr>
                </a:tc>
                <a:tc>
                  <a:txBody>
                    <a:bodyPr/>
                    <a:lstStyle/>
                    <a:p>
                      <a:pPr algn="l"/>
                      <a:r>
                        <a:rPr sz="1000" b="0">
                          <a:solidFill>
                            <a:srgbClr val="2B2622"/>
                          </a:solidFill>
                          <a:latin typeface="Calibri"/>
                        </a:rPr>
                        <a:t>rejected</a:t>
                      </a:r>
                    </a:p>
                  </a:txBody>
                  <a:tcPr marL="54864" marR="54864" marT="27432" marB="27432" anchor="ctr">
                    <a:solidFill>
                      <a:srgbClr val="EFE6D6"/>
                    </a:solidFill>
                  </a:tcPr>
                </a:tc>
              </a:tr>
              <a:tr h="310896">
                <a:tc>
                  <a:txBody>
                    <a:bodyPr/>
                    <a:lstStyle/>
                    <a:p>
                      <a:pPr algn="ctr"/>
                      <a:r>
                        <a:rPr sz="1000" b="0">
                          <a:solidFill>
                            <a:srgbClr val="2B2622"/>
                          </a:solidFill>
                          <a:latin typeface="Calibri"/>
                        </a:rPr>
                        <a:t>18</a:t>
                      </a:r>
                    </a:p>
                  </a:txBody>
                  <a:tcPr marL="54864" marR="54864" marT="27432" marB="27432" anchor="ctr">
                    <a:solidFill>
                      <a:srgbClr val="EFE6D6"/>
                    </a:solidFill>
                  </a:tcPr>
                </a:tc>
                <a:tc>
                  <a:txBody>
                    <a:bodyPr/>
                    <a:lstStyle/>
                    <a:p>
                      <a:pPr algn="l"/>
                      <a:r>
                        <a:rPr sz="1000" b="0">
                          <a:solidFill>
                            <a:srgbClr val="2B2622"/>
                          </a:solidFill>
                          <a:latin typeface="Calibri"/>
                        </a:rPr>
                        <a:t>accepted</a:t>
                      </a:r>
                    </a:p>
                  </a:txBody>
                  <a:tcPr marL="54864" marR="54864" marT="27432" marB="27432" anchor="ctr">
                    <a:solidFill>
                      <a:srgbClr val="EFE6D6"/>
                    </a:solidFill>
                  </a:tcPr>
                </a:tc>
                <a:tc>
                  <a:txBody>
                    <a:bodyPr/>
                    <a:lstStyle/>
                    <a:p>
                      <a:pPr algn="l"/>
                      <a:r>
                        <a:rPr sz="1000" b="0">
                          <a:solidFill>
                            <a:srgbClr val="2B2622"/>
                          </a:solidFill>
                          <a:latin typeface="Calibri"/>
                        </a:rPr>
                        <a:t>rejected</a:t>
                      </a:r>
                    </a:p>
                  </a:txBody>
                  <a:tcPr marL="54864" marR="54864" marT="27432" marB="27432" anchor="ctr">
                    <a:solidFill>
                      <a:srgbClr val="EFE6D6"/>
                    </a:solidFill>
                  </a:tcPr>
                </a:tc>
              </a:tr>
              <a:tr h="310896">
                <a:tc>
                  <a:txBody>
                    <a:bodyPr/>
                    <a:lstStyle/>
                    <a:p>
                      <a:pPr algn="ctr"/>
                      <a:r>
                        <a:rPr sz="1000" b="0">
                          <a:solidFill>
                            <a:srgbClr val="2B2622"/>
                          </a:solidFill>
                          <a:latin typeface="Calibri"/>
                        </a:rPr>
                        <a:t>20</a:t>
                      </a:r>
                    </a:p>
                  </a:txBody>
                  <a:tcPr marL="54864" marR="54864" marT="27432" marB="27432" anchor="ctr">
                    <a:solidFill>
                      <a:srgbClr val="EFE6D6"/>
                    </a:solidFill>
                  </a:tcPr>
                </a:tc>
                <a:tc>
                  <a:txBody>
                    <a:bodyPr/>
                    <a:lstStyle/>
                    <a:p>
                      <a:pPr algn="l"/>
                      <a:r>
                        <a:rPr sz="1000" b="0">
                          <a:solidFill>
                            <a:srgbClr val="2B2622"/>
                          </a:solidFill>
                          <a:latin typeface="Calibri"/>
                        </a:rPr>
                        <a:t>accepted</a:t>
                      </a:r>
                    </a:p>
                  </a:txBody>
                  <a:tcPr marL="54864" marR="54864" marT="27432" marB="27432" anchor="ctr">
                    <a:solidFill>
                      <a:srgbClr val="EFE6D6"/>
                    </a:solidFill>
                  </a:tcPr>
                </a:tc>
                <a:tc>
                  <a:txBody>
                    <a:bodyPr/>
                    <a:lstStyle/>
                    <a:p>
                      <a:pPr algn="l"/>
                      <a:r>
                        <a:rPr sz="1000" b="0">
                          <a:solidFill>
                            <a:srgbClr val="2B2622"/>
                          </a:solidFill>
                          <a:latin typeface="Calibri"/>
                        </a:rPr>
                        <a:t>rejected</a:t>
                      </a:r>
                    </a:p>
                  </a:txBody>
                  <a:tcPr marL="54864" marR="54864" marT="27432" marB="27432" anchor="ctr">
                    <a:solidFill>
                      <a:srgbClr val="EFE6D6"/>
                    </a:solidFill>
                  </a:tcPr>
                </a:tc>
              </a:tr>
              <a:tr h="310896">
                <a:tc>
                  <a:txBody>
                    <a:bodyPr/>
                    <a:lstStyle/>
                    <a:p>
                      <a:pPr algn="ctr"/>
                      <a:r>
                        <a:rPr sz="1000" b="0">
                          <a:solidFill>
                            <a:srgbClr val="2B2622"/>
                          </a:solidFill>
                          <a:latin typeface="Calibri"/>
                        </a:rPr>
                        <a:t>22</a:t>
                      </a:r>
                    </a:p>
                  </a:txBody>
                  <a:tcPr marL="54864" marR="54864" marT="27432" marB="27432" anchor="ctr">
                    <a:solidFill>
                      <a:srgbClr val="EFE6D6"/>
                    </a:solidFill>
                  </a:tcPr>
                </a:tc>
                <a:tc>
                  <a:txBody>
                    <a:bodyPr/>
                    <a:lstStyle/>
                    <a:p>
                      <a:pPr algn="l"/>
                      <a:r>
                        <a:rPr sz="1000" b="0">
                          <a:solidFill>
                            <a:srgbClr val="2B2622"/>
                          </a:solidFill>
                          <a:latin typeface="Calibri"/>
                        </a:rPr>
                        <a:t>accepted</a:t>
                      </a:r>
                    </a:p>
                  </a:txBody>
                  <a:tcPr marL="54864" marR="54864" marT="27432" marB="27432" anchor="ctr">
                    <a:solidFill>
                      <a:srgbClr val="EFE6D6"/>
                    </a:solidFill>
                  </a:tcPr>
                </a:tc>
                <a:tc>
                  <a:txBody>
                    <a:bodyPr/>
                    <a:lstStyle/>
                    <a:p>
                      <a:pPr algn="l"/>
                      <a:r>
                        <a:rPr sz="1000" b="0">
                          <a:solidFill>
                            <a:srgbClr val="2B2622"/>
                          </a:solidFill>
                          <a:latin typeface="Calibri"/>
                        </a:rPr>
                        <a:t>rejected</a:t>
                      </a:r>
                    </a:p>
                  </a:txBody>
                  <a:tcPr marL="54864" marR="54864" marT="27432" marB="27432" anchor="ctr">
                    <a:solidFill>
                      <a:srgbClr val="EFE6D6"/>
                    </a:solidFill>
                  </a:tcPr>
                </a:tc>
              </a:tr>
            </a:tbl>
          </a:graphicData>
        </a:graphic>
      </p:graphicFrame>
      <p:sp>
        <p:nvSpPr>
          <p:cNvPr id="17" name="TextBox 16"/>
          <p:cNvSpPr txBox="1"/>
          <p:nvPr/>
        </p:nvSpPr>
        <p:spPr>
          <a:xfrm>
            <a:off x="5852160" y="3355848"/>
            <a:ext cx="2834640" cy="640080"/>
          </a:xfrm>
          <a:prstGeom prst="rect">
            <a:avLst/>
          </a:prstGeom>
          <a:noFill/>
        </p:spPr>
        <p:txBody>
          <a:bodyPr wrap="square" lIns="0" rIns="0" tIns="0" bIns="0" anchor="t">
            <a:spAutoFit/>
          </a:bodyPr>
          <a:lstStyle/>
          <a:p>
            <a:pPr algn="l"/>
            <a:r>
              <a:rPr sz="1100" b="0" i="0">
                <a:solidFill>
                  <a:srgbClr val="2B2622"/>
                </a:solidFill>
                <a:latin typeface="Calibri"/>
              </a:rPr>
              <a:t>Each string has more q letters before the last 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Private Key Formats</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The same private key, written in the forms a wallet can import</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WIF</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Wallet import format: Base58Check of a version byte 80 and the key.</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key packed in a labelled travel case.</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WIF-compressed</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WIF with a final 01 byte that marks the key as compressed.</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luggage tag that says travel light.</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Compressed Private Keys</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Not a smaller key: a flag that tells a wallet to use compressed public keys.</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note that says use the short form of my name.</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609344"/>
                <a:gridCol w="1609344"/>
                <a:gridCol w="1609344"/>
                <a:gridCol w="1609344"/>
                <a:gridCol w="1609344"/>
              </a:tblGrid>
              <a:tr h="365760">
                <a:tc>
                  <a:txBody>
                    <a:bodyPr/>
                    <a:lstStyle/>
                    <a:p>
                      <a:pPr algn="ctr"/>
                      <a:r>
                        <a:rPr sz="1000" b="0">
                          <a:solidFill>
                            <a:srgbClr val="6E655C"/>
                          </a:solidFill>
                          <a:latin typeface="Calibri"/>
                        </a:rPr>
                        <a:t>Keys</a:t>
                      </a:r>
                    </a:p>
                  </a:txBody>
                  <a:tcPr marL="54864" marR="54864" marT="27432" marB="27432" anchor="ctr">
                    <a:solidFill>
                      <a:srgbClr val="F2ECE1"/>
                    </a:solidFill>
                  </a:tcPr>
                </a:tc>
                <a:tc>
                  <a:txBody>
                    <a:bodyPr/>
                    <a:lstStyle/>
                    <a:p>
                      <a:pPr algn="ctr"/>
                      <a:r>
                        <a:rPr sz="1000" b="0">
                          <a:solidFill>
                            <a:srgbClr val="6E655C"/>
                          </a:solidFill>
                          <a:latin typeface="Calibri"/>
                        </a:rPr>
                        <a:t>Legacy</a:t>
                      </a:r>
                    </a:p>
                  </a:txBody>
                  <a:tcPr marL="54864" marR="54864" marT="27432" marB="27432" anchor="ctr">
                    <a:solidFill>
                      <a:srgbClr val="F2ECE1"/>
                    </a:solidFill>
                  </a:tcPr>
                </a:tc>
                <a:tc>
                  <a:txBody>
                    <a:bodyPr/>
                    <a:lstStyle/>
                    <a:p>
                      <a:pPr algn="ctr"/>
                      <a:r>
                        <a:rPr sz="1000" b="0">
                          <a:solidFill>
                            <a:srgbClr val="6E655C"/>
                          </a:solidFill>
                          <a:latin typeface="Calibri"/>
                        </a:rPr>
                        <a:t>Bech32</a:t>
                      </a:r>
                    </a:p>
                  </a:txBody>
                  <a:tcPr marL="54864" marR="54864" marT="27432" marB="27432" anchor="ctr">
                    <a:solidFill>
                      <a:srgbClr val="F2ECE1"/>
                    </a:solidFill>
                  </a:tcPr>
                </a:tc>
                <a:tc>
                  <a:txBody>
                    <a:bodyPr/>
                    <a:lstStyle/>
                    <a:p>
                      <a:pPr algn="ctr"/>
                      <a:r>
                        <a:rPr sz="1000" b="1">
                          <a:solidFill>
                            <a:srgbClr val="FFFFFF"/>
                          </a:solidFill>
                          <a:latin typeface="Calibri"/>
                        </a:rPr>
                        <a:t>Formats</a:t>
                      </a:r>
                    </a:p>
                  </a:txBody>
                  <a:tcPr marL="54864" marR="54864" marT="27432" marB="27432" anchor="ctr">
                    <a:solidFill>
                      <a:srgbClr val="D97A14"/>
                    </a:solidFill>
                  </a:tcPr>
                </a:tc>
                <a:tc>
                  <a:txBody>
                    <a:bodyPr/>
                    <a:lstStyle/>
                    <a:p>
                      <a:pPr algn="ctr"/>
                      <a:r>
                        <a:rPr sz="1000" b="0">
                          <a:solidFill>
                            <a:srgbClr val="6E655C"/>
                          </a:solidFill>
                          <a:latin typeface="Calibri"/>
                        </a:rPr>
                        <a:t>Advanced</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35 / 47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Formats: concepts, with everyday pictures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36 / 47</a:t>
            </a:r>
          </a:p>
        </p:txBody>
      </p:sp>
      <p:graphicFrame>
        <p:nvGraphicFramePr>
          <p:cNvPr id="8" name="Table 7"/>
          <p:cNvGraphicFramePr>
            <a:graphicFrameLocks noGrp="1"/>
          </p:cNvGraphicFramePr>
          <p:nvPr/>
        </p:nvGraphicFramePr>
        <p:xfrm>
          <a:off x="457200" y="1280160"/>
          <a:ext cx="8229600" cy="2286000"/>
        </p:xfrm>
        <a:graphic>
          <a:graphicData uri="http://schemas.openxmlformats.org/drawingml/2006/table">
            <a:tbl>
              <a:tblPr firstRow="1" bandRow="1">
                <a:tableStyleId>{5C22544A-7EE6-4342-B048-85BDC9FD1C3A}</a:tableStyleId>
              </a:tblPr>
              <a:tblGrid>
                <a:gridCol w="2103120"/>
                <a:gridCol w="3108960"/>
                <a:gridCol w="3017520"/>
              </a:tblGrid>
              <a:tr h="457200">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57200">
                <a:tc>
                  <a:txBody>
                    <a:bodyPr/>
                    <a:lstStyle/>
                    <a:p>
                      <a:pPr algn="l"/>
                      <a:r>
                        <a:rPr sz="1100" b="0">
                          <a:solidFill>
                            <a:srgbClr val="2B2622"/>
                          </a:solidFill>
                          <a:latin typeface="Calibri"/>
                        </a:rPr>
                        <a:t>Private Key Formats</a:t>
                      </a:r>
                    </a:p>
                  </a:txBody>
                  <a:tcPr marL="54864" marR="54864" marT="27432" marB="27432" anchor="ctr">
                    <a:solidFill>
                      <a:srgbClr val="FFFFFF"/>
                    </a:solidFill>
                  </a:tcPr>
                </a:tc>
                <a:tc>
                  <a:txBody>
                    <a:bodyPr/>
                    <a:lstStyle/>
                    <a:p>
                      <a:pPr algn="l"/>
                      <a:r>
                        <a:rPr sz="1100" b="0">
                          <a:solidFill>
                            <a:srgbClr val="2B2622"/>
                          </a:solidFill>
                          <a:latin typeface="Calibri"/>
                        </a:rPr>
                        <a:t>One key, several spellings: raw hex, WIF and WIF-compressed.</a:t>
                      </a:r>
                    </a:p>
                  </a:txBody>
                  <a:tcPr marL="54864" marR="54864" marT="27432" marB="27432" anchor="ctr">
                    <a:solidFill>
                      <a:srgbClr val="FFFFFF"/>
                    </a:solidFill>
                  </a:tcPr>
                </a:tc>
                <a:tc>
                  <a:txBody>
                    <a:bodyPr/>
                    <a:lstStyle/>
                    <a:p>
                      <a:pPr algn="l"/>
                      <a:r>
                        <a:rPr sz="1100" b="0">
                          <a:solidFill>
                            <a:srgbClr val="2B2622"/>
                          </a:solidFill>
                          <a:latin typeface="Calibri"/>
                        </a:rPr>
                        <a:t>One amount written in figures, in words and as tally marks.</a:t>
                      </a:r>
                    </a:p>
                  </a:txBody>
                  <a:tcPr marL="54864" marR="54864" marT="27432" marB="27432" anchor="ctr">
                    <a:solidFill>
                      <a:srgbClr val="FFFFFF"/>
                    </a:solidFill>
                  </a:tcPr>
                </a:tc>
              </a:tr>
              <a:tr h="457200">
                <a:tc>
                  <a:txBody>
                    <a:bodyPr/>
                    <a:lstStyle/>
                    <a:p>
                      <a:pPr algn="l"/>
                      <a:r>
                        <a:rPr sz="1100" b="0">
                          <a:solidFill>
                            <a:srgbClr val="2B2622"/>
                          </a:solidFill>
                          <a:latin typeface="Calibri"/>
                        </a:rPr>
                        <a:t>WIF</a:t>
                      </a:r>
                    </a:p>
                  </a:txBody>
                  <a:tcPr marL="54864" marR="54864" marT="27432" marB="27432" anchor="ctr">
                    <a:solidFill>
                      <a:srgbClr val="F2ECE1"/>
                    </a:solidFill>
                  </a:tcPr>
                </a:tc>
                <a:tc>
                  <a:txBody>
                    <a:bodyPr/>
                    <a:lstStyle/>
                    <a:p>
                      <a:pPr algn="l"/>
                      <a:r>
                        <a:rPr sz="1100" b="0">
                          <a:solidFill>
                            <a:srgbClr val="2B2622"/>
                          </a:solidFill>
                          <a:latin typeface="Calibri"/>
                        </a:rPr>
                        <a:t>Wallet import format: Base58Check of a version byte 80 and the key.</a:t>
                      </a:r>
                    </a:p>
                  </a:txBody>
                  <a:tcPr marL="54864" marR="54864" marT="27432" marB="27432" anchor="ctr">
                    <a:solidFill>
                      <a:srgbClr val="F2ECE1"/>
                    </a:solidFill>
                  </a:tcPr>
                </a:tc>
                <a:tc>
                  <a:txBody>
                    <a:bodyPr/>
                    <a:lstStyle/>
                    <a:p>
                      <a:pPr algn="l"/>
                      <a:r>
                        <a:rPr sz="1100" b="0">
                          <a:solidFill>
                            <a:srgbClr val="2B2622"/>
                          </a:solidFill>
                          <a:latin typeface="Calibri"/>
                        </a:rPr>
                        <a:t>A key packed in a labelled travel case.</a:t>
                      </a:r>
                    </a:p>
                  </a:txBody>
                  <a:tcPr marL="54864" marR="54864" marT="27432" marB="27432" anchor="ctr">
                    <a:solidFill>
                      <a:srgbClr val="F2ECE1"/>
                    </a:solidFill>
                  </a:tcPr>
                </a:tc>
              </a:tr>
              <a:tr h="457200">
                <a:tc>
                  <a:txBody>
                    <a:bodyPr/>
                    <a:lstStyle/>
                    <a:p>
                      <a:pPr algn="l"/>
                      <a:r>
                        <a:rPr sz="1100" b="0">
                          <a:solidFill>
                            <a:srgbClr val="2B2622"/>
                          </a:solidFill>
                          <a:latin typeface="Calibri"/>
                        </a:rPr>
                        <a:t>WIF-compressed</a:t>
                      </a:r>
                    </a:p>
                  </a:txBody>
                  <a:tcPr marL="54864" marR="54864" marT="27432" marB="27432" anchor="ctr">
                    <a:solidFill>
                      <a:srgbClr val="FFFFFF"/>
                    </a:solidFill>
                  </a:tcPr>
                </a:tc>
                <a:tc>
                  <a:txBody>
                    <a:bodyPr/>
                    <a:lstStyle/>
                    <a:p>
                      <a:pPr algn="l"/>
                      <a:r>
                        <a:rPr sz="1100" b="0">
                          <a:solidFill>
                            <a:srgbClr val="2B2622"/>
                          </a:solidFill>
                          <a:latin typeface="Calibri"/>
                        </a:rPr>
                        <a:t>WIF with a final 01 byte that marks the key as compressed.</a:t>
                      </a:r>
                    </a:p>
                  </a:txBody>
                  <a:tcPr marL="54864" marR="54864" marT="27432" marB="27432" anchor="ctr">
                    <a:solidFill>
                      <a:srgbClr val="FFFFFF"/>
                    </a:solidFill>
                  </a:tcPr>
                </a:tc>
                <a:tc>
                  <a:txBody>
                    <a:bodyPr/>
                    <a:lstStyle/>
                    <a:p>
                      <a:pPr algn="l"/>
                      <a:r>
                        <a:rPr sz="1100" b="0">
                          <a:solidFill>
                            <a:srgbClr val="2B2622"/>
                          </a:solidFill>
                          <a:latin typeface="Calibri"/>
                        </a:rPr>
                        <a:t>A luggage tag that says travel light.</a:t>
                      </a:r>
                    </a:p>
                  </a:txBody>
                  <a:tcPr marL="54864" marR="54864" marT="27432" marB="27432" anchor="ctr">
                    <a:solidFill>
                      <a:srgbClr val="FFFFFF"/>
                    </a:solidFill>
                  </a:tcPr>
                </a:tc>
              </a:tr>
              <a:tr h="457200">
                <a:tc>
                  <a:txBody>
                    <a:bodyPr/>
                    <a:lstStyle/>
                    <a:p>
                      <a:pPr algn="l"/>
                      <a:r>
                        <a:rPr sz="1100" b="0">
                          <a:solidFill>
                            <a:srgbClr val="2B2622"/>
                          </a:solidFill>
                          <a:latin typeface="Calibri"/>
                        </a:rPr>
                        <a:t>Compressed Private Keys</a:t>
                      </a:r>
                    </a:p>
                  </a:txBody>
                  <a:tcPr marL="54864" marR="54864" marT="27432" marB="27432" anchor="ctr">
                    <a:solidFill>
                      <a:srgbClr val="F2ECE1"/>
                    </a:solidFill>
                  </a:tcPr>
                </a:tc>
                <a:tc>
                  <a:txBody>
                    <a:bodyPr/>
                    <a:lstStyle/>
                    <a:p>
                      <a:pPr algn="l"/>
                      <a:r>
                        <a:rPr sz="1100" b="0">
                          <a:solidFill>
                            <a:srgbClr val="2B2622"/>
                          </a:solidFill>
                          <a:latin typeface="Calibri"/>
                        </a:rPr>
                        <a:t>Not a smaller key: a flag that tells a wallet to use compressed public keys.</a:t>
                      </a:r>
                    </a:p>
                  </a:txBody>
                  <a:tcPr marL="54864" marR="54864" marT="27432" marB="27432" anchor="ctr">
                    <a:solidFill>
                      <a:srgbClr val="F2ECE1"/>
                    </a:solidFill>
                  </a:tcPr>
                </a:tc>
                <a:tc>
                  <a:txBody>
                    <a:bodyPr/>
                    <a:lstStyle/>
                    <a:p>
                      <a:pPr algn="l"/>
                      <a:r>
                        <a:rPr sz="1100" b="0">
                          <a:solidFill>
                            <a:srgbClr val="2B2622"/>
                          </a:solidFill>
                          <a:latin typeface="Calibri"/>
                        </a:rPr>
                        <a:t>A note that says use the short form of my name.</a:t>
                      </a:r>
                    </a:p>
                  </a:txBody>
                  <a:tcPr marL="54864" marR="54864" marT="27432" marB="27432" anchor="ctr">
                    <a:solidFill>
                      <a:srgbClr val="F2ECE1"/>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WIF: a private key dressed for travel</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Base58Check of version 80, the key and a flag</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The final 01 byte says: use compressed public keys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37 / 47</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k = K.BOOK_K</a:t>
            </a:r>
          </a:p>
          <a:p>
            <a:pPr algn="l"/>
            <a:r>
              <a:rPr sz="1000" b="1" i="0">
                <a:solidFill>
                  <a:srgbClr val="F2A860"/>
                </a:solidFill>
                <a:latin typeface="Courier New"/>
              </a:rPr>
              <a:t>&gt;&gt;&gt; </a:t>
            </a:r>
            <a:r>
              <a:rPr sz="1000" b="0" i="0">
                <a:solidFill>
                  <a:srgbClr val="E6EDF3"/>
                </a:solidFill>
                <a:latin typeface="Courier New"/>
              </a:rPr>
              <a:t>w, wc = K.wif(k, </a:t>
            </a:r>
            <a:r>
              <a:rPr sz="1000" b="1" i="0">
                <a:solidFill>
                  <a:srgbClr val="F2A860"/>
                </a:solidFill>
                <a:latin typeface="Courier New"/>
              </a:rPr>
              <a:t>False</a:t>
            </a:r>
            <a:r>
              <a:rPr sz="1000" b="0" i="0">
                <a:solidFill>
                  <a:srgbClr val="E6EDF3"/>
                </a:solidFill>
                <a:latin typeface="Courier New"/>
              </a:rPr>
              <a:t>), K.wif(k)</a:t>
            </a:r>
          </a:p>
        </p:txBody>
      </p:sp>
      <p:sp>
        <p:nvSpPr>
          <p:cNvPr id="11" name="TextBox 10"/>
          <p:cNvSpPr txBox="1"/>
          <p:nvPr/>
        </p:nvSpPr>
        <p:spPr>
          <a:xfrm>
            <a:off x="603504" y="22463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(w[</a:t>
            </a:r>
            <a:r>
              <a:rPr sz="1000" b="0" i="0">
                <a:solidFill>
                  <a:srgbClr val="FFD28A"/>
                </a:solidFill>
                <a:latin typeface="Courier New"/>
              </a:rPr>
              <a:t>0</a:t>
            </a:r>
            <a:r>
              <a:rPr sz="1000" b="0" i="0">
                <a:solidFill>
                  <a:srgbClr val="E6EDF3"/>
                </a:solidFill>
                <a:latin typeface="Courier New"/>
              </a:rPr>
              <a:t>], len(w), wc[</a:t>
            </a:r>
            <a:r>
              <a:rPr sz="1000" b="0" i="0">
                <a:solidFill>
                  <a:srgbClr val="FFD28A"/>
                </a:solidFill>
                <a:latin typeface="Courier New"/>
              </a:rPr>
              <a:t>0</a:t>
            </a:r>
            <a:r>
              <a:rPr sz="1000" b="0" i="0">
                <a:solidFill>
                  <a:srgbClr val="E6EDF3"/>
                </a:solidFill>
                <a:latin typeface="Courier New"/>
              </a:rPr>
              <a:t>], len(wc))</a:t>
            </a:r>
          </a:p>
          <a:p>
            <a:pPr algn="l"/>
            <a:r>
              <a:rPr sz="1000" b="0" i="0">
                <a:solidFill>
                  <a:srgbClr val="7EE787"/>
                </a:solidFill>
                <a:latin typeface="Courier New"/>
              </a:rPr>
              <a:t>('5', 51, 'K', 52)</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same key written twice: as WIF and as WIF-compressed.</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first form starts with 5 and has 51 characters; the second starts with K or L and has 52.</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two WIF forms</a:t>
            </a:r>
          </a:p>
        </p:txBody>
      </p:sp>
      <p:graphicFrame>
        <p:nvGraphicFramePr>
          <p:cNvPr id="16" name="Table 15"/>
          <p:cNvGraphicFramePr>
            <a:graphicFrameLocks noGrp="1"/>
          </p:cNvGraphicFramePr>
          <p:nvPr/>
        </p:nvGraphicFramePr>
        <p:xfrm>
          <a:off x="5852160" y="1691640"/>
          <a:ext cx="2834640" cy="1097280"/>
        </p:xfrm>
        <a:graphic>
          <a:graphicData uri="http://schemas.openxmlformats.org/drawingml/2006/table">
            <a:tbl>
              <a:tblPr firstRow="1" bandRow="1">
                <a:tableStyleId>{5C22544A-7EE6-4342-B048-85BDC9FD1C3A}</a:tableStyleId>
              </a:tblPr>
              <a:tblGrid>
                <a:gridCol w="1188720"/>
                <a:gridCol w="548640"/>
                <a:gridCol w="548640"/>
                <a:gridCol w="548640"/>
              </a:tblGrid>
              <a:tr h="365760">
                <a:tc>
                  <a:txBody>
                    <a:bodyPr/>
                    <a:lstStyle/>
                    <a:p>
                      <a:pPr algn="l"/>
                      <a:r>
                        <a:rPr sz="1000" b="1">
                          <a:solidFill>
                            <a:srgbClr val="FFFFFF"/>
                          </a:solidFill>
                          <a:latin typeface="Calibri"/>
                        </a:rPr>
                        <a:t>Form</a:t>
                      </a:r>
                    </a:p>
                  </a:txBody>
                  <a:tcPr marL="54864" marR="54864" marT="27432" marB="27432" anchor="ctr">
                    <a:solidFill>
                      <a:srgbClr val="2F6D62"/>
                    </a:solidFill>
                  </a:tcPr>
                </a:tc>
                <a:tc>
                  <a:txBody>
                    <a:bodyPr/>
                    <a:lstStyle/>
                    <a:p>
                      <a:pPr algn="ctr"/>
                      <a:r>
                        <a:rPr sz="1000" b="1">
                          <a:solidFill>
                            <a:srgbClr val="FFFFFF"/>
                          </a:solidFill>
                          <a:latin typeface="Calibri"/>
                        </a:rPr>
                        <a:t>Starts</a:t>
                      </a:r>
                    </a:p>
                  </a:txBody>
                  <a:tcPr marL="54864" marR="54864" marT="27432" marB="27432" anchor="ctr">
                    <a:solidFill>
                      <a:srgbClr val="2F6D62"/>
                    </a:solidFill>
                  </a:tcPr>
                </a:tc>
                <a:tc>
                  <a:txBody>
                    <a:bodyPr/>
                    <a:lstStyle/>
                    <a:p>
                      <a:pPr algn="ctr"/>
                      <a:r>
                        <a:rPr sz="1000" b="1">
                          <a:solidFill>
                            <a:srgbClr val="FFFFFF"/>
                          </a:solidFill>
                          <a:latin typeface="Calibri"/>
                        </a:rPr>
                        <a:t>Chars</a:t>
                      </a:r>
                    </a:p>
                  </a:txBody>
                  <a:tcPr marL="54864" marR="54864" marT="27432" marB="27432" anchor="ctr">
                    <a:solidFill>
                      <a:srgbClr val="2F6D62"/>
                    </a:solidFill>
                  </a:tcPr>
                </a:tc>
                <a:tc>
                  <a:txBody>
                    <a:bodyPr/>
                    <a:lstStyle/>
                    <a:p>
                      <a:pPr algn="ctr"/>
                      <a:r>
                        <a:rPr sz="1000" b="1">
                          <a:solidFill>
                            <a:srgbClr val="FFFFFF"/>
                          </a:solidFill>
                          <a:latin typeface="Calibri"/>
                        </a:rPr>
                        <a:t>Bytes</a:t>
                      </a:r>
                    </a:p>
                  </a:txBody>
                  <a:tcPr marL="54864" marR="54864" marT="27432" marB="27432" anchor="ctr">
                    <a:solidFill>
                      <a:srgbClr val="2F6D62"/>
                    </a:solidFill>
                  </a:tcPr>
                </a:tc>
              </a:tr>
              <a:tr h="365760">
                <a:tc>
                  <a:txBody>
                    <a:bodyPr/>
                    <a:lstStyle/>
                    <a:p>
                      <a:pPr algn="l"/>
                      <a:r>
                        <a:rPr sz="1000" b="0">
                          <a:solidFill>
                            <a:srgbClr val="2B2622"/>
                          </a:solidFill>
                          <a:latin typeface="Calibri"/>
                        </a:rPr>
                        <a:t>WIF</a:t>
                      </a:r>
                    </a:p>
                  </a:txBody>
                  <a:tcPr marL="54864" marR="54864" marT="27432" marB="27432" anchor="ctr">
                    <a:solidFill>
                      <a:srgbClr val="FFFFFF"/>
                    </a:solidFill>
                  </a:tcPr>
                </a:tc>
                <a:tc>
                  <a:txBody>
                    <a:bodyPr/>
                    <a:lstStyle/>
                    <a:p>
                      <a:pPr algn="ctr"/>
                      <a:r>
                        <a:rPr sz="1000" b="0">
                          <a:solidFill>
                            <a:srgbClr val="2B2622"/>
                          </a:solidFill>
                          <a:latin typeface="Calibri"/>
                        </a:rPr>
                        <a:t>5</a:t>
                      </a:r>
                    </a:p>
                  </a:txBody>
                  <a:tcPr marL="54864" marR="54864" marT="27432" marB="27432" anchor="ctr">
                    <a:solidFill>
                      <a:srgbClr val="FFFFFF"/>
                    </a:solidFill>
                  </a:tcPr>
                </a:tc>
                <a:tc>
                  <a:txBody>
                    <a:bodyPr/>
                    <a:lstStyle/>
                    <a:p>
                      <a:pPr algn="ctr"/>
                      <a:r>
                        <a:rPr sz="1000" b="0">
                          <a:solidFill>
                            <a:srgbClr val="2B2622"/>
                          </a:solidFill>
                          <a:latin typeface="Calibri"/>
                        </a:rPr>
                        <a:t>51</a:t>
                      </a:r>
                    </a:p>
                  </a:txBody>
                  <a:tcPr marL="54864" marR="54864" marT="27432" marB="27432" anchor="ctr">
                    <a:solidFill>
                      <a:srgbClr val="FFFFFF"/>
                    </a:solidFill>
                  </a:tcPr>
                </a:tc>
                <a:tc>
                  <a:txBody>
                    <a:bodyPr/>
                    <a:lstStyle/>
                    <a:p>
                      <a:pPr algn="ctr"/>
                      <a:r>
                        <a:rPr sz="1000" b="0">
                          <a:solidFill>
                            <a:srgbClr val="2B2622"/>
                          </a:solidFill>
                          <a:latin typeface="Calibri"/>
                        </a:rPr>
                        <a:t>33</a:t>
                      </a:r>
                    </a:p>
                  </a:txBody>
                  <a:tcPr marL="54864" marR="54864" marT="27432" marB="27432" anchor="ctr">
                    <a:solidFill>
                      <a:srgbClr val="FFFFFF"/>
                    </a:solidFill>
                  </a:tcPr>
                </a:tc>
              </a:tr>
              <a:tr h="365760">
                <a:tc>
                  <a:txBody>
                    <a:bodyPr/>
                    <a:lstStyle/>
                    <a:p>
                      <a:pPr algn="l"/>
                      <a:r>
                        <a:rPr sz="1000" b="0">
                          <a:solidFill>
                            <a:srgbClr val="2B2622"/>
                          </a:solidFill>
                          <a:latin typeface="Calibri"/>
                        </a:rPr>
                        <a:t>WIF-compressed</a:t>
                      </a:r>
                    </a:p>
                  </a:txBody>
                  <a:tcPr marL="54864" marR="54864" marT="27432" marB="27432" anchor="ctr">
                    <a:solidFill>
                      <a:srgbClr val="F2ECE1"/>
                    </a:solidFill>
                  </a:tcPr>
                </a:tc>
                <a:tc>
                  <a:txBody>
                    <a:bodyPr/>
                    <a:lstStyle/>
                    <a:p>
                      <a:pPr algn="ctr"/>
                      <a:r>
                        <a:rPr sz="1000" b="0">
                          <a:solidFill>
                            <a:srgbClr val="2B2622"/>
                          </a:solidFill>
                          <a:latin typeface="Calibri"/>
                        </a:rPr>
                        <a:t>K</a:t>
                      </a:r>
                    </a:p>
                  </a:txBody>
                  <a:tcPr marL="54864" marR="54864" marT="27432" marB="27432" anchor="ctr">
                    <a:solidFill>
                      <a:srgbClr val="F2ECE1"/>
                    </a:solidFill>
                  </a:tcPr>
                </a:tc>
                <a:tc>
                  <a:txBody>
                    <a:bodyPr/>
                    <a:lstStyle/>
                    <a:p>
                      <a:pPr algn="ctr"/>
                      <a:r>
                        <a:rPr sz="1000" b="0">
                          <a:solidFill>
                            <a:srgbClr val="2B2622"/>
                          </a:solidFill>
                          <a:latin typeface="Calibri"/>
                        </a:rPr>
                        <a:t>52</a:t>
                      </a:r>
                    </a:p>
                  </a:txBody>
                  <a:tcPr marL="54864" marR="54864" marT="27432" marB="27432" anchor="ctr">
                    <a:solidFill>
                      <a:srgbClr val="F2ECE1"/>
                    </a:solidFill>
                  </a:tcPr>
                </a:tc>
                <a:tc>
                  <a:txBody>
                    <a:bodyPr/>
                    <a:lstStyle/>
                    <a:p>
                      <a:pPr algn="ctr"/>
                      <a:r>
                        <a:rPr sz="1000" b="0">
                          <a:solidFill>
                            <a:srgbClr val="2B2622"/>
                          </a:solidFill>
                          <a:latin typeface="Calibri"/>
                        </a:rPr>
                        <a:t>34</a:t>
                      </a:r>
                    </a:p>
                  </a:txBody>
                  <a:tcPr marL="54864" marR="54864" marT="27432" marB="27432" anchor="ctr">
                    <a:solidFill>
                      <a:srgbClr val="F2ECE1"/>
                    </a:solidFill>
                  </a:tcPr>
                </a:tc>
              </a:tr>
            </a:tbl>
          </a:graphicData>
        </a:graphic>
      </p:graphicFrame>
      <p:sp>
        <p:nvSpPr>
          <p:cNvPr id="17" name="TextBox 16"/>
          <p:cNvSpPr txBox="1"/>
          <p:nvPr/>
        </p:nvSpPr>
        <p:spPr>
          <a:xfrm>
            <a:off x="5852160" y="289864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decoded bytes are 80, the 32-byte key and, when compressed, a final 01.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One private key, two addresses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Compressed and uncompressed keys hash differently</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The flag in WIF decides which address a wallet watches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38 / 47</a:t>
            </a:r>
          </a:p>
        </p:txBody>
      </p:sp>
      <p:sp>
        <p:nvSpPr>
          <p:cNvPr id="8" name="Rounded Rectangle 7"/>
          <p:cNvSpPr/>
          <p:nvPr/>
        </p:nvSpPr>
        <p:spPr>
          <a:xfrm>
            <a:off x="457200" y="1280160"/>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3073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k = K.BOOK_K</a:t>
            </a:r>
          </a:p>
          <a:p>
            <a:pPr algn="l"/>
            <a:r>
              <a:rPr sz="1000" b="1" i="0">
                <a:solidFill>
                  <a:srgbClr val="F2A860"/>
                </a:solidFill>
                <a:latin typeface="Courier New"/>
              </a:rPr>
              <a:t>&gt;&gt;&gt; </a:t>
            </a:r>
            <a:r>
              <a:rPr sz="1000" b="0" i="0">
                <a:solidFill>
                  <a:srgbClr val="E6EDF3"/>
                </a:solidFill>
                <a:latin typeface="Courier New"/>
              </a:rPr>
              <a:t>a1 = K.key_to_address(k, </a:t>
            </a:r>
            <a:r>
              <a:rPr sz="1000" b="1" i="0">
                <a:solidFill>
                  <a:srgbClr val="F2A860"/>
                </a:solidFill>
                <a:latin typeface="Courier New"/>
              </a:rPr>
              <a:t>False</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a2 = K.key_to_address(k, </a:t>
            </a:r>
            <a:r>
              <a:rPr sz="1000" b="1" i="0">
                <a:solidFill>
                  <a:srgbClr val="F2A860"/>
                </a:solidFill>
                <a:latin typeface="Courier New"/>
              </a:rPr>
              <a:t>True</a:t>
            </a:r>
            <a:r>
              <a:rPr sz="1000" b="0" i="0">
                <a:solidFill>
                  <a:srgbClr val="E6EDF3"/>
                </a:solidFill>
                <a:latin typeface="Courier New"/>
              </a:rPr>
              <a:t>)</a:t>
            </a:r>
          </a:p>
        </p:txBody>
      </p:sp>
      <p:sp>
        <p:nvSpPr>
          <p:cNvPr id="11" name="TextBox 10"/>
          <p:cNvSpPr txBox="1"/>
          <p:nvPr/>
        </p:nvSpPr>
        <p:spPr>
          <a:xfrm>
            <a:off x="603504" y="23987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(a1[:</a:t>
            </a:r>
            <a:r>
              <a:rPr sz="1000" b="0" i="0">
                <a:solidFill>
                  <a:srgbClr val="FFD28A"/>
                </a:solidFill>
                <a:latin typeface="Courier New"/>
              </a:rPr>
              <a:t>6</a:t>
            </a:r>
            <a:r>
              <a:rPr sz="1000" b="0" i="0">
                <a:solidFill>
                  <a:srgbClr val="E6EDF3"/>
                </a:solidFill>
                <a:latin typeface="Courier New"/>
              </a:rPr>
              <a:t>], a2[:</a:t>
            </a:r>
            <a:r>
              <a:rPr sz="1000" b="0" i="0">
                <a:solidFill>
                  <a:srgbClr val="FFD28A"/>
                </a:solidFill>
                <a:latin typeface="Courier New"/>
              </a:rPr>
              <a:t>6</a:t>
            </a:r>
            <a:r>
              <a:rPr sz="1000" b="0" i="0">
                <a:solidFill>
                  <a:srgbClr val="E6EDF3"/>
                </a:solidFill>
                <a:latin typeface="Courier New"/>
              </a:rPr>
              <a:t>], a1 != a2)</a:t>
            </a:r>
          </a:p>
          <a:p>
            <a:pPr algn="l"/>
            <a:r>
              <a:rPr sz="1000" b="0" i="0">
                <a:solidFill>
                  <a:srgbClr val="7EE787"/>
                </a:solidFill>
                <a:latin typeface="Courier New"/>
              </a:rPr>
              <a:t>('1424C2', '1J7mdg', True)</a:t>
            </a:r>
          </a:p>
        </p:txBody>
      </p:sp>
      <p:sp>
        <p:nvSpPr>
          <p:cNvPr id="12" name="TextBox 11"/>
          <p:cNvSpPr txBox="1"/>
          <p:nvPr/>
        </p:nvSpPr>
        <p:spPr>
          <a:xfrm>
            <a:off x="457200" y="1993392"/>
            <a:ext cx="5212080" cy="204216"/>
          </a:xfrm>
          <a:prstGeom prst="rect">
            <a:avLst/>
          </a:prstGeom>
          <a:noFill/>
        </p:spPr>
        <p:txBody>
          <a:bodyPr wrap="square" lIns="0" rIns="0" tIns="0" bIns="0" anchor="t">
            <a:spAutoFit/>
          </a:bodyPr>
          <a:lstStyle/>
          <a:p>
            <a:pPr algn="l"/>
            <a:r>
              <a:rPr sz="1100" b="0" i="0">
                <a:solidFill>
                  <a:srgbClr val="2B2622"/>
                </a:solidFill>
                <a:latin typeface="Calibri"/>
              </a:rPr>
              <a:t>Hash the 65-byte key and then the 33-byte key: two different addresses.</a:t>
            </a:r>
          </a:p>
        </p:txBody>
      </p:sp>
      <p:sp>
        <p:nvSpPr>
          <p:cNvPr id="13" name="TextBox 12"/>
          <p:cNvSpPr txBox="1"/>
          <p:nvPr/>
        </p:nvSpPr>
        <p:spPr>
          <a:xfrm>
            <a:off x="457200" y="286816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compressed flag in WIF tells a wallet which of the two addresses it must watch.</a:t>
            </a:r>
          </a:p>
        </p:txBody>
      </p:sp>
      <p:sp>
        <p:nvSpPr>
          <p:cNvPr id="14" name="TextBox 13"/>
          <p:cNvSpPr txBox="1"/>
          <p:nvPr/>
        </p:nvSpPr>
        <p:spPr>
          <a:xfrm>
            <a:off x="457200" y="33131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two addresses, one key</a:t>
            </a:r>
          </a:p>
        </p:txBody>
      </p:sp>
      <p:graphicFrame>
        <p:nvGraphicFramePr>
          <p:cNvPr id="16" name="Table 15"/>
          <p:cNvGraphicFramePr>
            <a:graphicFrameLocks noGrp="1"/>
          </p:cNvGraphicFramePr>
          <p:nvPr/>
        </p:nvGraphicFramePr>
        <p:xfrm>
          <a:off x="5852160" y="1691640"/>
          <a:ext cx="2834640" cy="1371600"/>
        </p:xfrm>
        <a:graphic>
          <a:graphicData uri="http://schemas.openxmlformats.org/drawingml/2006/table">
            <a:tbl>
              <a:tblPr firstRow="1" bandRow="1">
                <a:tableStyleId>{5C22544A-7EE6-4342-B048-85BDC9FD1C3A}</a:tableStyleId>
              </a:tblPr>
              <a:tblGrid>
                <a:gridCol w="960120"/>
                <a:gridCol w="457200"/>
                <a:gridCol w="1417320"/>
              </a:tblGrid>
              <a:tr h="457200">
                <a:tc>
                  <a:txBody>
                    <a:bodyPr/>
                    <a:lstStyle/>
                    <a:p>
                      <a:pPr algn="l"/>
                      <a:r>
                        <a:rPr sz="900" b="1">
                          <a:solidFill>
                            <a:srgbClr val="FFFFFF"/>
                          </a:solidFill>
                          <a:latin typeface="Calibri"/>
                        </a:rPr>
                        <a:t>Public key</a:t>
                      </a:r>
                    </a:p>
                  </a:txBody>
                  <a:tcPr marL="54864" marR="54864" marT="27432" marB="27432" anchor="ctr">
                    <a:solidFill>
                      <a:srgbClr val="2F6D62"/>
                    </a:solidFill>
                  </a:tcPr>
                </a:tc>
                <a:tc>
                  <a:txBody>
                    <a:bodyPr/>
                    <a:lstStyle/>
                    <a:p>
                      <a:pPr algn="ctr"/>
                      <a:r>
                        <a:rPr sz="900" b="1">
                          <a:solidFill>
                            <a:srgbClr val="FFFFFF"/>
                          </a:solidFill>
                          <a:latin typeface="Calibri"/>
                        </a:rPr>
                        <a:t>Bytes</a:t>
                      </a:r>
                    </a:p>
                  </a:txBody>
                  <a:tcPr marL="54864" marR="54864" marT="27432" marB="27432" anchor="ctr">
                    <a:solidFill>
                      <a:srgbClr val="2F6D62"/>
                    </a:solidFill>
                  </a:tcPr>
                </a:tc>
                <a:tc>
                  <a:txBody>
                    <a:bodyPr/>
                    <a:lstStyle/>
                    <a:p>
                      <a:pPr algn="l"/>
                      <a:r>
                        <a:rPr sz="900" b="1">
                          <a:solidFill>
                            <a:srgbClr val="FFFFFF"/>
                          </a:solidFill>
                          <a:latin typeface="Calibri"/>
                        </a:rPr>
                        <a:t>Address</a:t>
                      </a:r>
                    </a:p>
                  </a:txBody>
                  <a:tcPr marL="54864" marR="54864" marT="27432" marB="27432" anchor="ctr">
                    <a:solidFill>
                      <a:srgbClr val="2F6D62"/>
                    </a:solidFill>
                  </a:tcPr>
                </a:tc>
              </a:tr>
              <a:tr h="457200">
                <a:tc>
                  <a:txBody>
                    <a:bodyPr/>
                    <a:lstStyle/>
                    <a:p>
                      <a:pPr algn="l"/>
                      <a:r>
                        <a:rPr sz="900" b="0">
                          <a:solidFill>
                            <a:srgbClr val="2B2622"/>
                          </a:solidFill>
                          <a:latin typeface="Calibri"/>
                        </a:rPr>
                        <a:t>Uncompressed</a:t>
                      </a:r>
                    </a:p>
                  </a:txBody>
                  <a:tcPr marL="54864" marR="54864" marT="27432" marB="27432" anchor="ctr">
                    <a:solidFill>
                      <a:srgbClr val="FFFFFF"/>
                    </a:solidFill>
                  </a:tcPr>
                </a:tc>
                <a:tc>
                  <a:txBody>
                    <a:bodyPr/>
                    <a:lstStyle/>
                    <a:p>
                      <a:pPr algn="ctr"/>
                      <a:r>
                        <a:rPr sz="900" b="0">
                          <a:solidFill>
                            <a:srgbClr val="2B2622"/>
                          </a:solidFill>
                          <a:latin typeface="Calibri"/>
                        </a:rPr>
                        <a:t>65</a:t>
                      </a:r>
                    </a:p>
                  </a:txBody>
                  <a:tcPr marL="54864" marR="54864" marT="27432" marB="27432" anchor="ctr">
                    <a:solidFill>
                      <a:srgbClr val="FFFFFF"/>
                    </a:solidFill>
                  </a:tcPr>
                </a:tc>
                <a:tc>
                  <a:txBody>
                    <a:bodyPr/>
                    <a:lstStyle/>
                    <a:p>
                      <a:pPr algn="l"/>
                      <a:r>
                        <a:rPr sz="900" b="0">
                          <a:solidFill>
                            <a:srgbClr val="2B2622"/>
                          </a:solidFill>
                          <a:latin typeface="Calibri"/>
                        </a:rPr>
                        <a:t>1424C2F4bC9JidNjjTUZCbUxv6Sa1Mt62x</a:t>
                      </a:r>
                    </a:p>
                  </a:txBody>
                  <a:tcPr marL="54864" marR="54864" marT="27432" marB="27432" anchor="ctr">
                    <a:solidFill>
                      <a:srgbClr val="FFFFFF"/>
                    </a:solidFill>
                  </a:tcPr>
                </a:tc>
              </a:tr>
              <a:tr h="457200">
                <a:tc>
                  <a:txBody>
                    <a:bodyPr/>
                    <a:lstStyle/>
                    <a:p>
                      <a:pPr algn="l"/>
                      <a:r>
                        <a:rPr sz="900" b="0">
                          <a:solidFill>
                            <a:srgbClr val="2B2622"/>
                          </a:solidFill>
                          <a:latin typeface="Calibri"/>
                        </a:rPr>
                        <a:t>Compressed</a:t>
                      </a:r>
                    </a:p>
                  </a:txBody>
                  <a:tcPr marL="54864" marR="54864" marT="27432" marB="27432" anchor="ctr">
                    <a:solidFill>
                      <a:srgbClr val="F2ECE1"/>
                    </a:solidFill>
                  </a:tcPr>
                </a:tc>
                <a:tc>
                  <a:txBody>
                    <a:bodyPr/>
                    <a:lstStyle/>
                    <a:p>
                      <a:pPr algn="ctr"/>
                      <a:r>
                        <a:rPr sz="900" b="0">
                          <a:solidFill>
                            <a:srgbClr val="2B2622"/>
                          </a:solidFill>
                          <a:latin typeface="Calibri"/>
                        </a:rPr>
                        <a:t>33</a:t>
                      </a:r>
                    </a:p>
                  </a:txBody>
                  <a:tcPr marL="54864" marR="54864" marT="27432" marB="27432" anchor="ctr">
                    <a:solidFill>
                      <a:srgbClr val="F2ECE1"/>
                    </a:solidFill>
                  </a:tcPr>
                </a:tc>
                <a:tc>
                  <a:txBody>
                    <a:bodyPr/>
                    <a:lstStyle/>
                    <a:p>
                      <a:pPr algn="l"/>
                      <a:r>
                        <a:rPr sz="900" b="0">
                          <a:solidFill>
                            <a:srgbClr val="2B2622"/>
                          </a:solidFill>
                          <a:latin typeface="Calibri"/>
                        </a:rPr>
                        <a:t>1J7mdg5rbQyUHENYdx39WVWK7fsLpEoXZy</a:t>
                      </a:r>
                    </a:p>
                  </a:txBody>
                  <a:tcPr marL="54864" marR="54864" marT="27432" marB="27432" anchor="ctr">
                    <a:solidFill>
                      <a:srgbClr val="F2ECE1"/>
                    </a:solidFill>
                  </a:tcPr>
                </a:tc>
              </a:tr>
            </a:tbl>
          </a:graphicData>
        </a:graphic>
      </p:graphicFrame>
      <p:sp>
        <p:nvSpPr>
          <p:cNvPr id="17" name="TextBox 16"/>
          <p:cNvSpPr txBox="1"/>
          <p:nvPr/>
        </p:nvSpPr>
        <p:spPr>
          <a:xfrm>
            <a:off x="5852160" y="3172968"/>
            <a:ext cx="2834640" cy="640080"/>
          </a:xfrm>
          <a:prstGeom prst="rect">
            <a:avLst/>
          </a:prstGeom>
          <a:noFill/>
        </p:spPr>
        <p:txBody>
          <a:bodyPr wrap="square" lIns="0" rIns="0" tIns="0" bIns="0" anchor="t">
            <a:spAutoFit/>
          </a:bodyPr>
          <a:lstStyle/>
          <a:p>
            <a:pPr algn="l"/>
            <a:r>
              <a:rPr sz="1100" b="0" i="0">
                <a:solidFill>
                  <a:srgbClr val="2B2622"/>
                </a:solidFill>
                <a:latin typeface="Calibri"/>
              </a:rPr>
              <a:t>Two different addresses from one key: yes.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Advanced Keys and Addresses</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Chosen prefixes, printed keys and an address with no key</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Vanity Addresses</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vanity address starts with chosen letters, found by trying many keys.</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custom number plate you must keep applying for.</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Paper Wallets</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key and its address printed on paper and kept offline.</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banknote locked in a drawer.</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commitment</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hash that fixes a value now and lets you reveal it later.</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sealed envelope holding your prediction.</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609344"/>
                <a:gridCol w="1609344"/>
                <a:gridCol w="1609344"/>
                <a:gridCol w="1609344"/>
                <a:gridCol w="1609344"/>
              </a:tblGrid>
              <a:tr h="365760">
                <a:tc>
                  <a:txBody>
                    <a:bodyPr/>
                    <a:lstStyle/>
                    <a:p>
                      <a:pPr algn="ctr"/>
                      <a:r>
                        <a:rPr sz="1000" b="0">
                          <a:solidFill>
                            <a:srgbClr val="6E655C"/>
                          </a:solidFill>
                          <a:latin typeface="Calibri"/>
                        </a:rPr>
                        <a:t>Keys</a:t>
                      </a:r>
                    </a:p>
                  </a:txBody>
                  <a:tcPr marL="54864" marR="54864" marT="27432" marB="27432" anchor="ctr">
                    <a:solidFill>
                      <a:srgbClr val="F2ECE1"/>
                    </a:solidFill>
                  </a:tcPr>
                </a:tc>
                <a:tc>
                  <a:txBody>
                    <a:bodyPr/>
                    <a:lstStyle/>
                    <a:p>
                      <a:pPr algn="ctr"/>
                      <a:r>
                        <a:rPr sz="1000" b="0">
                          <a:solidFill>
                            <a:srgbClr val="6E655C"/>
                          </a:solidFill>
                          <a:latin typeface="Calibri"/>
                        </a:rPr>
                        <a:t>Legacy</a:t>
                      </a:r>
                    </a:p>
                  </a:txBody>
                  <a:tcPr marL="54864" marR="54864" marT="27432" marB="27432" anchor="ctr">
                    <a:solidFill>
                      <a:srgbClr val="F2ECE1"/>
                    </a:solidFill>
                  </a:tcPr>
                </a:tc>
                <a:tc>
                  <a:txBody>
                    <a:bodyPr/>
                    <a:lstStyle/>
                    <a:p>
                      <a:pPr algn="ctr"/>
                      <a:r>
                        <a:rPr sz="1000" b="0">
                          <a:solidFill>
                            <a:srgbClr val="6E655C"/>
                          </a:solidFill>
                          <a:latin typeface="Calibri"/>
                        </a:rPr>
                        <a:t>Bech32</a:t>
                      </a:r>
                    </a:p>
                  </a:txBody>
                  <a:tcPr marL="54864" marR="54864" marT="27432" marB="27432" anchor="ctr">
                    <a:solidFill>
                      <a:srgbClr val="F2ECE1"/>
                    </a:solidFill>
                  </a:tcPr>
                </a:tc>
                <a:tc>
                  <a:txBody>
                    <a:bodyPr/>
                    <a:lstStyle/>
                    <a:p>
                      <a:pPr algn="ctr"/>
                      <a:r>
                        <a:rPr sz="1000" b="0">
                          <a:solidFill>
                            <a:srgbClr val="6E655C"/>
                          </a:solidFill>
                          <a:latin typeface="Calibri"/>
                        </a:rPr>
                        <a:t>Formats</a:t>
                      </a:r>
                    </a:p>
                  </a:txBody>
                  <a:tcPr marL="54864" marR="54864" marT="27432" marB="27432" anchor="ctr">
                    <a:solidFill>
                      <a:srgbClr val="F2ECE1"/>
                    </a:solidFill>
                  </a:tcPr>
                </a:tc>
                <a:tc>
                  <a:txBody>
                    <a:bodyPr/>
                    <a:lstStyle/>
                    <a:p>
                      <a:pPr algn="ctr"/>
                      <a:r>
                        <a:rPr sz="1000" b="1">
                          <a:solidFill>
                            <a:srgbClr val="FFFFFF"/>
                          </a:solidFill>
                          <a:latin typeface="Calibri"/>
                        </a:rPr>
                        <a:t>Advanced</a:t>
                      </a:r>
                    </a:p>
                  </a:txBody>
                  <a:tcPr marL="54864" marR="54864" marT="27432" marB="27432" anchor="ctr">
                    <a:solidFill>
                      <a:srgbClr val="D97A14"/>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39 / 47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Advanced: concepts, with everyday pictures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row: the idea in one line, then something you already know</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Think of each row as a flashcard: the concept, then a picture you know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40 / 47</a:t>
            </a:r>
          </a:p>
        </p:txBody>
      </p:sp>
      <p:graphicFrame>
        <p:nvGraphicFramePr>
          <p:cNvPr id="8" name="Table 7"/>
          <p:cNvGraphicFramePr>
            <a:graphicFrameLocks noGrp="1"/>
          </p:cNvGraphicFramePr>
          <p:nvPr/>
        </p:nvGraphicFramePr>
        <p:xfrm>
          <a:off x="457200" y="1280160"/>
          <a:ext cx="8229600" cy="1828800"/>
        </p:xfrm>
        <a:graphic>
          <a:graphicData uri="http://schemas.openxmlformats.org/drawingml/2006/table">
            <a:tbl>
              <a:tblPr firstRow="1" bandRow="1">
                <a:tableStyleId>{5C22544A-7EE6-4342-B048-85BDC9FD1C3A}</a:tableStyleId>
              </a:tblPr>
              <a:tblGrid>
                <a:gridCol w="2103120"/>
                <a:gridCol w="3108960"/>
                <a:gridCol w="3017520"/>
              </a:tblGrid>
              <a:tr h="457200">
                <a:tc>
                  <a:txBody>
                    <a:bodyPr/>
                    <a:lstStyle/>
                    <a:p>
                      <a:pPr algn="l"/>
                      <a:r>
                        <a:rPr sz="1100" b="1">
                          <a:solidFill>
                            <a:srgbClr val="FFFFFF"/>
                          </a:solidFill>
                          <a:latin typeface="Calibri"/>
                        </a:rPr>
                        <a:t>Concept</a:t>
                      </a:r>
                    </a:p>
                  </a:txBody>
                  <a:tcPr marL="54864" marR="54864" marT="27432" marB="27432" anchor="ctr">
                    <a:solidFill>
                      <a:srgbClr val="2F6D62"/>
                    </a:solidFill>
                  </a:tcPr>
                </a:tc>
                <a:tc>
                  <a:txBody>
                    <a:bodyPr/>
                    <a:lstStyle/>
                    <a:p>
                      <a:pPr algn="l"/>
                      <a:r>
                        <a:rPr sz="1100" b="1">
                          <a:solidFill>
                            <a:srgbClr val="FFFFFF"/>
                          </a:solidFill>
                          <a:latin typeface="Calibri"/>
                        </a:rPr>
                        <a:t>In short</a:t>
                      </a:r>
                    </a:p>
                  </a:txBody>
                  <a:tcPr marL="54864" marR="54864" marT="27432" marB="27432" anchor="ctr">
                    <a:solidFill>
                      <a:srgbClr val="2F6D62"/>
                    </a:solidFill>
                  </a:tcPr>
                </a:tc>
                <a:tc>
                  <a:txBody>
                    <a:bodyPr/>
                    <a:lstStyle/>
                    <a:p>
                      <a:pPr algn="l"/>
                      <a:r>
                        <a:rPr sz="1100" b="1">
                          <a:solidFill>
                            <a:srgbClr val="FFFFFF"/>
                          </a:solidFill>
                          <a:latin typeface="Calibri"/>
                        </a:rPr>
                        <a:t>Think of</a:t>
                      </a:r>
                    </a:p>
                  </a:txBody>
                  <a:tcPr marL="54864" marR="54864" marT="27432" marB="27432" anchor="ctr">
                    <a:solidFill>
                      <a:srgbClr val="2F6D62"/>
                    </a:solidFill>
                  </a:tcPr>
                </a:tc>
              </a:tr>
              <a:tr h="457200">
                <a:tc>
                  <a:txBody>
                    <a:bodyPr/>
                    <a:lstStyle/>
                    <a:p>
                      <a:pPr algn="l"/>
                      <a:r>
                        <a:rPr sz="1100" b="0">
                          <a:solidFill>
                            <a:srgbClr val="2B2622"/>
                          </a:solidFill>
                          <a:latin typeface="Calibri"/>
                        </a:rPr>
                        <a:t>Advanced Keys and Addresses</a:t>
                      </a:r>
                    </a:p>
                  </a:txBody>
                  <a:tcPr marL="54864" marR="54864" marT="27432" marB="27432" anchor="ctr">
                    <a:solidFill>
                      <a:srgbClr val="FFFFFF"/>
                    </a:solidFill>
                  </a:tcPr>
                </a:tc>
                <a:tc>
                  <a:txBody>
                    <a:bodyPr/>
                    <a:lstStyle/>
                    <a:p>
                      <a:pPr algn="l"/>
                      <a:r>
                        <a:rPr sz="1100" b="0">
                          <a:solidFill>
                            <a:srgbClr val="2B2622"/>
                          </a:solidFill>
                          <a:latin typeface="Calibri"/>
                        </a:rPr>
                        <a:t>Beyond a plain random key: chosen address prefixes and printed keys.</a:t>
                      </a:r>
                    </a:p>
                  </a:txBody>
                  <a:tcPr marL="54864" marR="54864" marT="27432" marB="27432" anchor="ctr">
                    <a:solidFill>
                      <a:srgbClr val="FFFFFF"/>
                    </a:solidFill>
                  </a:tcPr>
                </a:tc>
                <a:tc>
                  <a:txBody>
                    <a:bodyPr/>
                    <a:lstStyle/>
                    <a:p>
                      <a:pPr algn="l"/>
                      <a:r>
                        <a:rPr sz="1100" b="0">
                          <a:solidFill>
                            <a:srgbClr val="2B2622"/>
                          </a:solidFill>
                          <a:latin typeface="Calibri"/>
                        </a:rPr>
                        <a:t>A custom number plate and a spare key kept in a drawer.</a:t>
                      </a:r>
                    </a:p>
                  </a:txBody>
                  <a:tcPr marL="54864" marR="54864" marT="27432" marB="27432" anchor="ctr">
                    <a:solidFill>
                      <a:srgbClr val="FFFFFF"/>
                    </a:solidFill>
                  </a:tcPr>
                </a:tc>
              </a:tr>
              <a:tr h="457200">
                <a:tc>
                  <a:txBody>
                    <a:bodyPr/>
                    <a:lstStyle/>
                    <a:p>
                      <a:pPr algn="l"/>
                      <a:r>
                        <a:rPr sz="1100" b="0">
                          <a:solidFill>
                            <a:srgbClr val="2B2622"/>
                          </a:solidFill>
                          <a:latin typeface="Calibri"/>
                        </a:rPr>
                        <a:t>Vanity Addresses</a:t>
                      </a:r>
                    </a:p>
                  </a:txBody>
                  <a:tcPr marL="54864" marR="54864" marT="27432" marB="27432" anchor="ctr">
                    <a:solidFill>
                      <a:srgbClr val="F2ECE1"/>
                    </a:solidFill>
                  </a:tcPr>
                </a:tc>
                <a:tc>
                  <a:txBody>
                    <a:bodyPr/>
                    <a:lstStyle/>
                    <a:p>
                      <a:pPr algn="l"/>
                      <a:r>
                        <a:rPr sz="1100" b="0">
                          <a:solidFill>
                            <a:srgbClr val="2B2622"/>
                          </a:solidFill>
                          <a:latin typeface="Calibri"/>
                        </a:rPr>
                        <a:t>A vanity address starts with chosen letters, found by trying many keys.</a:t>
                      </a:r>
                    </a:p>
                  </a:txBody>
                  <a:tcPr marL="54864" marR="54864" marT="27432" marB="27432" anchor="ctr">
                    <a:solidFill>
                      <a:srgbClr val="F2ECE1"/>
                    </a:solidFill>
                  </a:tcPr>
                </a:tc>
                <a:tc>
                  <a:txBody>
                    <a:bodyPr/>
                    <a:lstStyle/>
                    <a:p>
                      <a:pPr algn="l"/>
                      <a:r>
                        <a:rPr sz="1100" b="0">
                          <a:solidFill>
                            <a:srgbClr val="2B2622"/>
                          </a:solidFill>
                          <a:latin typeface="Calibri"/>
                        </a:rPr>
                        <a:t>A custom number plate you must keep applying for.</a:t>
                      </a:r>
                    </a:p>
                  </a:txBody>
                  <a:tcPr marL="54864" marR="54864" marT="27432" marB="27432" anchor="ctr">
                    <a:solidFill>
                      <a:srgbClr val="F2ECE1"/>
                    </a:solidFill>
                  </a:tcPr>
                </a:tc>
              </a:tr>
              <a:tr h="457200">
                <a:tc>
                  <a:txBody>
                    <a:bodyPr/>
                    <a:lstStyle/>
                    <a:p>
                      <a:pPr algn="l"/>
                      <a:r>
                        <a:rPr sz="1100" b="0">
                          <a:solidFill>
                            <a:srgbClr val="2B2622"/>
                          </a:solidFill>
                          <a:latin typeface="Calibri"/>
                        </a:rPr>
                        <a:t>Paper Wallets</a:t>
                      </a:r>
                    </a:p>
                  </a:txBody>
                  <a:tcPr marL="54864" marR="54864" marT="27432" marB="27432" anchor="ctr">
                    <a:solidFill>
                      <a:srgbClr val="FFFFFF"/>
                    </a:solidFill>
                  </a:tcPr>
                </a:tc>
                <a:tc>
                  <a:txBody>
                    <a:bodyPr/>
                    <a:lstStyle/>
                    <a:p>
                      <a:pPr algn="l"/>
                      <a:r>
                        <a:rPr sz="1100" b="0">
                          <a:solidFill>
                            <a:srgbClr val="2B2622"/>
                          </a:solidFill>
                          <a:latin typeface="Calibri"/>
                        </a:rPr>
                        <a:t>A key and its address printed on paper and kept offline.</a:t>
                      </a:r>
                    </a:p>
                  </a:txBody>
                  <a:tcPr marL="54864" marR="54864" marT="27432" marB="27432" anchor="ctr">
                    <a:solidFill>
                      <a:srgbClr val="FFFFFF"/>
                    </a:solidFill>
                  </a:tcPr>
                </a:tc>
                <a:tc>
                  <a:txBody>
                    <a:bodyPr/>
                    <a:lstStyle/>
                    <a:p>
                      <a:pPr algn="l"/>
                      <a:r>
                        <a:rPr sz="1100" b="0">
                          <a:solidFill>
                            <a:srgbClr val="2B2622"/>
                          </a:solidFill>
                          <a:latin typeface="Calibri"/>
                        </a:rPr>
                        <a:t>A banknote locked in a drawer.</a:t>
                      </a:r>
                    </a:p>
                  </a:txBody>
                  <a:tcPr marL="54864" marR="54864" marT="27432" marB="27432" anchor="ctr">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Vanity search: 58 times harder per letter</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Trying keys until the address starts as chosen</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Every extra letter costs about 58 times more work</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41 / 47</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a = K.key_to_address</a:t>
            </a:r>
          </a:p>
          <a:p>
            <a:pPr algn="l"/>
            <a:r>
              <a:rPr sz="1000" b="1" i="0">
                <a:solidFill>
                  <a:srgbClr val="F2A860"/>
                </a:solidFill>
                <a:latin typeface="Courier New"/>
              </a:rPr>
              <a:t>&gt;&gt;&gt; </a:t>
            </a:r>
            <a:r>
              <a:rPr sz="1000" b="0" i="0">
                <a:solidFill>
                  <a:srgbClr val="E6EDF3"/>
                </a:solidFill>
                <a:latin typeface="Courier New"/>
              </a:rPr>
              <a:t>n = next(i </a:t>
            </a:r>
            <a:r>
              <a:rPr sz="1000" b="1" i="0">
                <a:solidFill>
                  <a:srgbClr val="F2A860"/>
                </a:solidFill>
                <a:latin typeface="Courier New"/>
              </a:rPr>
              <a:t>for</a:t>
            </a:r>
            <a:r>
              <a:rPr sz="1000" b="0" i="0">
                <a:solidFill>
                  <a:srgbClr val="E6EDF3"/>
                </a:solidFill>
                <a:latin typeface="Courier New"/>
              </a:rPr>
              <a:t> i </a:t>
            </a:r>
            <a:r>
              <a:rPr sz="1000" b="1" i="0">
                <a:solidFill>
                  <a:srgbClr val="F2A860"/>
                </a:solidFill>
                <a:latin typeface="Courier New"/>
              </a:rPr>
              <a:t>in</a:t>
            </a:r>
            <a:r>
              <a:rPr sz="1000" b="0" i="0">
                <a:solidFill>
                  <a:srgbClr val="E6EDF3"/>
                </a:solidFill>
                <a:latin typeface="Courier New"/>
              </a:rPr>
              <a:t> range(</a:t>
            </a:r>
            <a:r>
              <a:rPr sz="1000" b="0" i="0">
                <a:solidFill>
                  <a:srgbClr val="FFD28A"/>
                </a:solidFill>
                <a:latin typeface="Courier New"/>
              </a:rPr>
              <a:t>1</a:t>
            </a:r>
            <a:r>
              <a:rPr sz="1000" b="0" i="0">
                <a:solidFill>
                  <a:srgbClr val="E6EDF3"/>
                </a:solidFill>
                <a:latin typeface="Courier New"/>
              </a:rPr>
              <a:t>, </a:t>
            </a:r>
            <a:r>
              <a:rPr sz="1000" b="0" i="0">
                <a:solidFill>
                  <a:srgbClr val="FFD28A"/>
                </a:solidFill>
                <a:latin typeface="Courier New"/>
              </a:rPr>
              <a:t>900</a:t>
            </a:r>
            <a:r>
              <a:rPr sz="1000" b="0" i="0">
                <a:solidFill>
                  <a:srgbClr val="E6EDF3"/>
                </a:solidFill>
                <a:latin typeface="Courier New"/>
              </a:rPr>
              <a:t>) </a:t>
            </a:r>
            <a:r>
              <a:rPr sz="1000" b="1" i="0">
                <a:solidFill>
                  <a:srgbClr val="F2A860"/>
                </a:solidFill>
                <a:latin typeface="Courier New"/>
              </a:rPr>
              <a:t>if</a:t>
            </a:r>
            <a:r>
              <a:rPr sz="1000" b="0" i="0">
                <a:solidFill>
                  <a:srgbClr val="E6EDF3"/>
                </a:solidFill>
                <a:latin typeface="Courier New"/>
              </a:rPr>
              <a:t> a(i)[</a:t>
            </a:r>
            <a:r>
              <a:rPr sz="1000" b="0" i="0">
                <a:solidFill>
                  <a:srgbClr val="FFD28A"/>
                </a:solidFill>
                <a:latin typeface="Courier New"/>
              </a:rPr>
              <a:t>1</a:t>
            </a:r>
            <a:r>
              <a:rPr sz="1000" b="0" i="0">
                <a:solidFill>
                  <a:srgbClr val="E6EDF3"/>
                </a:solidFill>
                <a:latin typeface="Courier New"/>
              </a:rPr>
              <a:t>] == </a:t>
            </a:r>
            <a:r>
              <a:rPr sz="1000" b="0" i="0">
                <a:solidFill>
                  <a:srgbClr val="9ECBFF"/>
                </a:solidFill>
                <a:latin typeface="Courier New"/>
              </a:rPr>
              <a:t>'A'</a:t>
            </a:r>
            <a:r>
              <a:rPr sz="1000" b="0" i="0">
                <a:solidFill>
                  <a:srgbClr val="E6EDF3"/>
                </a:solidFill>
                <a:latin typeface="Courier New"/>
              </a:rPr>
              <a:t>)</a:t>
            </a:r>
          </a:p>
        </p:txBody>
      </p:sp>
      <p:sp>
        <p:nvSpPr>
          <p:cNvPr id="11" name="TextBox 10"/>
          <p:cNvSpPr txBox="1"/>
          <p:nvPr/>
        </p:nvSpPr>
        <p:spPr>
          <a:xfrm>
            <a:off x="603504" y="22463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[n, a(n)[:</a:t>
            </a:r>
            <a:r>
              <a:rPr sz="1000" b="0" i="0">
                <a:solidFill>
                  <a:srgbClr val="FFD28A"/>
                </a:solidFill>
                <a:latin typeface="Courier New"/>
              </a:rPr>
              <a:t>3</a:t>
            </a:r>
            <a:r>
              <a:rPr sz="1000" b="0" i="0">
                <a:solidFill>
                  <a:srgbClr val="E6EDF3"/>
                </a:solidFill>
                <a:latin typeface="Courier New"/>
              </a:rPr>
              <a:t>]]</a:t>
            </a:r>
          </a:p>
          <a:p>
            <a:pPr algn="l"/>
            <a:r>
              <a:rPr sz="1000" b="0" i="0">
                <a:solidFill>
                  <a:srgbClr val="7EE787"/>
                </a:solidFill>
                <a:latin typeface="Courier New"/>
              </a:rPr>
              <a:t>[19, '1Am']</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Try keys 1, 2, 3 until the address has A as its first letter after the 1.</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One chosen letter took this many tries; each further letter costs 58 times more.</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expected tries per letter</a:t>
            </a:r>
          </a:p>
        </p:txBody>
      </p:sp>
      <p:graphicFrame>
        <p:nvGraphicFramePr>
          <p:cNvPr id="16" name="Chart 15"/>
          <p:cNvGraphicFramePr>
            <a:graphicFrameLocks noGrp="1"/>
          </p:cNvGraphicFramePr>
          <p:nvPr/>
        </p:nvGraphicFramePr>
        <p:xfrm>
          <a:off x="5852160" y="1691640"/>
          <a:ext cx="2834640" cy="210312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904488"/>
            <a:ext cx="2834640" cy="640080"/>
          </a:xfrm>
          <a:prstGeom prst="rect">
            <a:avLst/>
          </a:prstGeom>
          <a:noFill/>
        </p:spPr>
        <p:txBody>
          <a:bodyPr wrap="square" lIns="0" rIns="0" tIns="0" bIns="0" anchor="t">
            <a:spAutoFit/>
          </a:bodyPr>
          <a:lstStyle/>
          <a:p>
            <a:pPr algn="l"/>
            <a:r>
              <a:rPr sz="1100" b="0" i="0">
                <a:solidFill>
                  <a:srgbClr val="2B2622"/>
                </a:solidFill>
                <a:latin typeface="Calibri"/>
              </a:rPr>
              <a:t>Our one letter took 19 tries (address 1Am...); six letters take 38,068,692,544 on average.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A paper wallet must give back its address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Print, scan and check before funding</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Test the paper before you put coins on it</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42 / 47</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70175"/>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Rounded Rectangle 9"/>
          <p:cNvSpPr/>
          <p:nvPr/>
        </p:nvSpPr>
        <p:spPr>
          <a:xfrm>
            <a:off x="457200" y="3044951"/>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1" name="TextBox 10"/>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w, a = K.wif(K.BOOK_K), K.key_to_address(K.BOOK_K)</a:t>
            </a:r>
          </a:p>
        </p:txBody>
      </p:sp>
      <p:sp>
        <p:nvSpPr>
          <p:cNvPr id="12" name="TextBox 11"/>
          <p:cNvSpPr txBox="1"/>
          <p:nvPr/>
        </p:nvSpPr>
        <p:spPr>
          <a:xfrm>
            <a:off x="603504" y="226161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raw = K.b58check_decode(w)</a:t>
            </a:r>
          </a:p>
          <a:p>
            <a:pPr algn="l"/>
            <a:r>
              <a:rPr sz="1000" b="1" i="0">
                <a:solidFill>
                  <a:srgbClr val="F2A860"/>
                </a:solidFill>
                <a:latin typeface="Courier New"/>
              </a:rPr>
              <a:t>&gt;&gt;&gt; </a:t>
            </a:r>
            <a:r>
              <a:rPr sz="1000" b="0" i="0">
                <a:solidFill>
                  <a:srgbClr val="E6EDF3"/>
                </a:solidFill>
                <a:latin typeface="Courier New"/>
              </a:rPr>
              <a:t>back = int.from_bytes(raw[</a:t>
            </a:r>
            <a:r>
              <a:rPr sz="1000" b="0" i="0">
                <a:solidFill>
                  <a:srgbClr val="FFD28A"/>
                </a:solidFill>
                <a:latin typeface="Courier New"/>
              </a:rPr>
              <a:t>1</a:t>
            </a:r>
            <a:r>
              <a:rPr sz="1000" b="0" i="0">
                <a:solidFill>
                  <a:srgbClr val="E6EDF3"/>
                </a:solidFill>
                <a:latin typeface="Courier New"/>
              </a:rPr>
              <a:t>:</a:t>
            </a:r>
            <a:r>
              <a:rPr sz="1000" b="0" i="0">
                <a:solidFill>
                  <a:srgbClr val="FFD28A"/>
                </a:solidFill>
                <a:latin typeface="Courier New"/>
              </a:rPr>
              <a:t>33</a:t>
            </a:r>
            <a:r>
              <a:rPr sz="1000" b="0" i="0">
                <a:solidFill>
                  <a:srgbClr val="E6EDF3"/>
                </a:solidFill>
                <a:latin typeface="Courier New"/>
              </a:rPr>
              <a:t>], </a:t>
            </a:r>
            <a:r>
              <a:rPr sz="1000" b="0" i="0">
                <a:solidFill>
                  <a:srgbClr val="9ECBFF"/>
                </a:solidFill>
                <a:latin typeface="Courier New"/>
              </a:rPr>
              <a:t>'big'</a:t>
            </a:r>
            <a:r>
              <a:rPr sz="1000" b="0" i="0">
                <a:solidFill>
                  <a:srgbClr val="E6EDF3"/>
                </a:solidFill>
                <a:latin typeface="Courier New"/>
              </a:rPr>
              <a:t>)</a:t>
            </a:r>
          </a:p>
        </p:txBody>
      </p:sp>
      <p:sp>
        <p:nvSpPr>
          <p:cNvPr id="13" name="TextBox 12"/>
          <p:cNvSpPr txBox="1"/>
          <p:nvPr/>
        </p:nvSpPr>
        <p:spPr>
          <a:xfrm>
            <a:off x="603504" y="3136391"/>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K.key_to_address(back) == a</a:t>
            </a:r>
          </a:p>
          <a:p>
            <a:pPr algn="l"/>
            <a:r>
              <a:rPr sz="1000" b="0" i="0">
                <a:solidFill>
                  <a:srgbClr val="7EE787"/>
                </a:solidFill>
                <a:latin typeface="Courier New"/>
              </a:rPr>
              <a:t>True</a:t>
            </a:r>
          </a:p>
        </p:txBody>
      </p:sp>
      <p:sp>
        <p:nvSpPr>
          <p:cNvPr id="14" name="TextBox 13"/>
          <p:cNvSpPr txBox="1"/>
          <p:nvPr/>
        </p:nvSpPr>
        <p:spPr>
          <a:xfrm>
            <a:off x="457200" y="1688591"/>
            <a:ext cx="5212080" cy="371855"/>
          </a:xfrm>
          <a:prstGeom prst="rect">
            <a:avLst/>
          </a:prstGeom>
          <a:noFill/>
        </p:spPr>
        <p:txBody>
          <a:bodyPr wrap="square" lIns="0" rIns="0" tIns="0" bIns="0" anchor="t">
            <a:spAutoFit/>
          </a:bodyPr>
          <a:lstStyle/>
          <a:p>
            <a:pPr algn="l"/>
            <a:r>
              <a:rPr sz="1100" b="0" i="0">
                <a:solidFill>
                  <a:srgbClr val="2B2622"/>
                </a:solidFill>
                <a:latin typeface="Calibri"/>
              </a:rPr>
              <a:t>A paper wallet prints two strings: the secret WIF key and the public address.</a:t>
            </a:r>
          </a:p>
        </p:txBody>
      </p:sp>
      <p:sp>
        <p:nvSpPr>
          <p:cNvPr id="15" name="TextBox 14"/>
          <p:cNvSpPr txBox="1"/>
          <p:nvPr/>
        </p:nvSpPr>
        <p:spPr>
          <a:xfrm>
            <a:off x="457200" y="2731008"/>
            <a:ext cx="5212080" cy="204216"/>
          </a:xfrm>
          <a:prstGeom prst="rect">
            <a:avLst/>
          </a:prstGeom>
          <a:noFill/>
        </p:spPr>
        <p:txBody>
          <a:bodyPr wrap="square" lIns="0" rIns="0" tIns="0" bIns="0" anchor="t">
            <a:spAutoFit/>
          </a:bodyPr>
          <a:lstStyle/>
          <a:p>
            <a:pPr algn="l"/>
            <a:r>
              <a:rPr sz="1100" b="0" i="0">
                <a:solidFill>
                  <a:srgbClr val="2B2622"/>
                </a:solidFill>
                <a:latin typeface="Calibri"/>
              </a:rPr>
              <a:t>Scanning the paper decodes the key from its WIF text.</a:t>
            </a:r>
          </a:p>
        </p:txBody>
      </p:sp>
      <p:sp>
        <p:nvSpPr>
          <p:cNvPr id="16" name="TextBox 15"/>
          <p:cNvSpPr txBox="1"/>
          <p:nvPr/>
        </p:nvSpPr>
        <p:spPr>
          <a:xfrm>
            <a:off x="457200" y="3605784"/>
            <a:ext cx="5212080" cy="371855"/>
          </a:xfrm>
          <a:prstGeom prst="rect">
            <a:avLst/>
          </a:prstGeom>
          <a:noFill/>
        </p:spPr>
        <p:txBody>
          <a:bodyPr wrap="square" lIns="0" rIns="0" tIns="0" bIns="0" anchor="t">
            <a:spAutoFit/>
          </a:bodyPr>
          <a:lstStyle/>
          <a:p>
            <a:pPr algn="l"/>
            <a:r>
              <a:rPr sz="1100" b="0" i="0">
                <a:solidFill>
                  <a:srgbClr val="2B2622"/>
                </a:solidFill>
                <a:latin typeface="Calibri"/>
              </a:rPr>
              <a:t>The restored key must reproduce the printed address; test it before you fund it.</a:t>
            </a:r>
          </a:p>
        </p:txBody>
      </p:sp>
      <p:sp>
        <p:nvSpPr>
          <p:cNvPr id="17" name="TextBox 16"/>
          <p:cNvSpPr txBox="1"/>
          <p:nvPr/>
        </p:nvSpPr>
        <p:spPr>
          <a:xfrm>
            <a:off x="457200" y="4050791"/>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8" name="TextBox 17"/>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paper wallet round trip</a:t>
            </a:r>
          </a:p>
        </p:txBody>
      </p:sp>
      <p:graphicFrame>
        <p:nvGraphicFramePr>
          <p:cNvPr id="19" name="Table 18"/>
          <p:cNvGraphicFramePr>
            <a:graphicFrameLocks noGrp="1"/>
          </p:cNvGraphicFramePr>
          <p:nvPr/>
        </p:nvGraphicFramePr>
        <p:xfrm>
          <a:off x="5852160" y="1691640"/>
          <a:ext cx="2834640" cy="1645920"/>
        </p:xfrm>
        <a:graphic>
          <a:graphicData uri="http://schemas.openxmlformats.org/drawingml/2006/table">
            <a:tbl>
              <a:tblPr firstRow="1" bandRow="1">
                <a:tableStyleId>{5C22544A-7EE6-4342-B048-85BDC9FD1C3A}</a:tableStyleId>
              </a:tblPr>
              <a:tblGrid>
                <a:gridCol w="1051560"/>
                <a:gridCol w="1783080"/>
              </a:tblGrid>
              <a:tr h="329184">
                <a:tc>
                  <a:txBody>
                    <a:bodyPr/>
                    <a:lstStyle/>
                    <a:p>
                      <a:pPr algn="l"/>
                      <a:r>
                        <a:rPr sz="1000" b="1">
                          <a:solidFill>
                            <a:srgbClr val="FFFFFF"/>
                          </a:solidFill>
                          <a:latin typeface="Calibri"/>
                        </a:rPr>
                        <a:t>Step</a:t>
                      </a:r>
                    </a:p>
                  </a:txBody>
                  <a:tcPr marL="54864" marR="54864" marT="27432" marB="27432" anchor="ctr">
                    <a:solidFill>
                      <a:srgbClr val="2F6D62"/>
                    </a:solidFill>
                  </a:tcPr>
                </a:tc>
                <a:tc>
                  <a:txBody>
                    <a:bodyPr/>
                    <a:lstStyle/>
                    <a:p>
                      <a:pPr algn="l"/>
                      <a:r>
                        <a:rPr sz="1000" b="1">
                          <a:solidFill>
                            <a:srgbClr val="FFFFFF"/>
                          </a:solidFill>
                          <a:latin typeface="Calibri"/>
                        </a:rPr>
                        <a:t>Result</a:t>
                      </a:r>
                    </a:p>
                  </a:txBody>
                  <a:tcPr marL="54864" marR="54864" marT="27432" marB="27432" anchor="ctr">
                    <a:solidFill>
                      <a:srgbClr val="2F6D62"/>
                    </a:solidFill>
                  </a:tcPr>
                </a:tc>
              </a:tr>
              <a:tr h="329184">
                <a:tc>
                  <a:txBody>
                    <a:bodyPr/>
                    <a:lstStyle/>
                    <a:p>
                      <a:pPr algn="l"/>
                      <a:r>
                        <a:rPr sz="1000" b="0">
                          <a:solidFill>
                            <a:srgbClr val="2B2622"/>
                          </a:solidFill>
                          <a:latin typeface="Calibri"/>
                        </a:rPr>
                        <a:t>Print</a:t>
                      </a:r>
                    </a:p>
                  </a:txBody>
                  <a:tcPr marL="54864" marR="54864" marT="27432" marB="27432" anchor="ctr">
                    <a:solidFill>
                      <a:srgbClr val="FFFFFF"/>
                    </a:solidFill>
                  </a:tcPr>
                </a:tc>
                <a:tc>
                  <a:txBody>
                    <a:bodyPr/>
                    <a:lstStyle/>
                    <a:p>
                      <a:pPr algn="l"/>
                      <a:r>
                        <a:rPr sz="1000" b="0">
                          <a:solidFill>
                            <a:srgbClr val="2B2622"/>
                          </a:solidFill>
                          <a:latin typeface="Calibri"/>
                        </a:rPr>
                        <a:t>WIF 52 characters, address 34</a:t>
                      </a:r>
                    </a:p>
                  </a:txBody>
                  <a:tcPr marL="54864" marR="54864" marT="27432" marB="27432" anchor="ctr">
                    <a:solidFill>
                      <a:srgbClr val="FFFFFF"/>
                    </a:solidFill>
                  </a:tcPr>
                </a:tc>
              </a:tr>
              <a:tr h="329184">
                <a:tc>
                  <a:txBody>
                    <a:bodyPr/>
                    <a:lstStyle/>
                    <a:p>
                      <a:pPr algn="l"/>
                      <a:r>
                        <a:rPr sz="1000" b="0">
                          <a:solidFill>
                            <a:srgbClr val="2B2622"/>
                          </a:solidFill>
                          <a:latin typeface="Calibri"/>
                        </a:rPr>
                        <a:t>Scan</a:t>
                      </a:r>
                    </a:p>
                  </a:txBody>
                  <a:tcPr marL="54864" marR="54864" marT="27432" marB="27432" anchor="ctr">
                    <a:solidFill>
                      <a:srgbClr val="F2ECE1"/>
                    </a:solidFill>
                  </a:tcPr>
                </a:tc>
                <a:tc>
                  <a:txBody>
                    <a:bodyPr/>
                    <a:lstStyle/>
                    <a:p>
                      <a:pPr algn="l"/>
                      <a:r>
                        <a:rPr sz="1000" b="0">
                          <a:solidFill>
                            <a:srgbClr val="2B2622"/>
                          </a:solidFill>
                          <a:latin typeface="Calibri"/>
                        </a:rPr>
                        <a:t>version 0x80, flag 0x01</a:t>
                      </a:r>
                    </a:p>
                  </a:txBody>
                  <a:tcPr marL="54864" marR="54864" marT="27432" marB="27432" anchor="ctr">
                    <a:solidFill>
                      <a:srgbClr val="F2ECE1"/>
                    </a:solidFill>
                  </a:tcPr>
                </a:tc>
              </a:tr>
              <a:tr h="329184">
                <a:tc>
                  <a:txBody>
                    <a:bodyPr/>
                    <a:lstStyle/>
                    <a:p>
                      <a:pPr algn="l"/>
                      <a:r>
                        <a:rPr sz="1000" b="0">
                          <a:solidFill>
                            <a:srgbClr val="2B2622"/>
                          </a:solidFill>
                          <a:latin typeface="Calibri"/>
                        </a:rPr>
                        <a:t>Restore the key</a:t>
                      </a:r>
                    </a:p>
                  </a:txBody>
                  <a:tcPr marL="54864" marR="54864" marT="27432" marB="27432" anchor="ctr">
                    <a:solidFill>
                      <a:srgbClr val="FFFFFF"/>
                    </a:solidFill>
                  </a:tcPr>
                </a:tc>
                <a:tc>
                  <a:txBody>
                    <a:bodyPr/>
                    <a:lstStyle/>
                    <a:p>
                      <a:pPr algn="l"/>
                      <a:r>
                        <a:rPr sz="1000" b="0">
                          <a:solidFill>
                            <a:srgbClr val="2B2622"/>
                          </a:solidFill>
                          <a:latin typeface="Calibri"/>
                        </a:rPr>
                        <a:t>from the WIF text</a:t>
                      </a:r>
                    </a:p>
                  </a:txBody>
                  <a:tcPr marL="54864" marR="54864" marT="27432" marB="27432" anchor="ctr">
                    <a:solidFill>
                      <a:srgbClr val="FFFFFF"/>
                    </a:solidFill>
                  </a:tcPr>
                </a:tc>
              </a:tr>
              <a:tr h="329184">
                <a:tc>
                  <a:txBody>
                    <a:bodyPr/>
                    <a:lstStyle/>
                    <a:p>
                      <a:pPr algn="l"/>
                      <a:r>
                        <a:rPr sz="1000" b="0">
                          <a:solidFill>
                            <a:srgbClr val="2B2622"/>
                          </a:solidFill>
                          <a:latin typeface="Calibri"/>
                        </a:rPr>
                        <a:t>Same address?</a:t>
                      </a:r>
                    </a:p>
                  </a:txBody>
                  <a:tcPr marL="54864" marR="54864" marT="27432" marB="27432" anchor="ctr">
                    <a:solidFill>
                      <a:srgbClr val="EFE6D6"/>
                    </a:solidFill>
                  </a:tcPr>
                </a:tc>
                <a:tc>
                  <a:txBody>
                    <a:bodyPr/>
                    <a:lstStyle/>
                    <a:p>
                      <a:pPr algn="l"/>
                      <a:r>
                        <a:rPr sz="1000" b="0">
                          <a:solidFill>
                            <a:srgbClr val="2B2622"/>
                          </a:solidFill>
                          <a:latin typeface="Calibri"/>
                        </a:rPr>
                        <a:t>yes</a:t>
                      </a:r>
                    </a:p>
                  </a:txBody>
                  <a:tcPr marL="54864" marR="54864" marT="27432" marB="27432" anchor="ctr">
                    <a:solidFill>
                      <a:srgbClr val="EFE6D6"/>
                    </a:solidFill>
                  </a:tcPr>
                </a:tc>
              </a:tr>
            </a:tbl>
          </a:graphicData>
        </a:graphic>
      </p:graphicFrame>
      <p:sp>
        <p:nvSpPr>
          <p:cNvPr id="20" name="TextBox 19"/>
          <p:cNvSpPr txBox="1"/>
          <p:nvPr/>
        </p:nvSpPr>
        <p:spPr>
          <a:xfrm>
            <a:off x="5852160" y="3447288"/>
            <a:ext cx="2834640" cy="640080"/>
          </a:xfrm>
          <a:prstGeom prst="rect">
            <a:avLst/>
          </a:prstGeom>
          <a:noFill/>
        </p:spPr>
        <p:txBody>
          <a:bodyPr wrap="square" lIns="0" rIns="0" tIns="0" bIns="0" anchor="t">
            <a:spAutoFit/>
          </a:bodyPr>
          <a:lstStyle/>
          <a:p>
            <a:pPr algn="l"/>
            <a:r>
              <a:rPr sz="1100" b="0" i="0">
                <a:solidFill>
                  <a:srgbClr val="2B2622"/>
                </a:solidFill>
                <a:latin typeface="Calibri"/>
              </a:rPr>
              <a:t>Only when this reads yes should coins go to the address.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address that eats coins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6 October 2026 · figures fetched from a block explorer</a:t>
            </a:r>
          </a:p>
        </p:txBody>
      </p:sp>
      <p:sp>
        <p:nvSpPr>
          <p:cNvPr id="5" name="TextBox 4"/>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43 / 47</a:t>
            </a:r>
          </a:p>
        </p:txBody>
      </p:sp>
      <p:pic>
        <p:nvPicPr>
          <p:cNvPr id="6" name="Picture 5" descr="The Bitcoin logo, a stand-in picture"/>
          <p:cNvPicPr>
            <a:picLocks noChangeAspect="1"/>
          </p:cNvPicPr>
          <p:nvPr/>
        </p:nvPicPr>
        <p:blipFill>
          <a:blip r:embed="rId3"/>
          <a:stretch>
            <a:fillRect/>
          </a:stretch>
        </p:blipFill>
        <p:spPr>
          <a:xfrm>
            <a:off x="708659" y="1234440"/>
            <a:ext cx="2240280" cy="2240280"/>
          </a:xfrm>
          <a:prstGeom prst="rect">
            <a:avLst/>
          </a:prstGeom>
        </p:spPr>
      </p:pic>
      <p:sp>
        <p:nvSpPr>
          <p:cNvPr id="7" name="TextBox 6"/>
          <p:cNvSpPr txBox="1"/>
          <p:nvPr/>
        </p:nvSpPr>
        <p:spPr>
          <a:xfrm>
            <a:off x="457200" y="3547872"/>
            <a:ext cx="2743200" cy="566928"/>
          </a:xfrm>
          <a:prstGeom prst="rect">
            <a:avLst/>
          </a:prstGeom>
          <a:noFill/>
        </p:spPr>
        <p:txBody>
          <a:bodyPr wrap="square" lIns="0" rIns="0" tIns="0" bIns="0" anchor="t">
            <a:spAutoFit/>
          </a:bodyPr>
          <a:lstStyle/>
          <a:p>
            <a:pPr algn="l"/>
            <a:r>
              <a:rPr sz="850" b="0" i="0">
                <a:solidFill>
                  <a:srgbClr val="6E655C"/>
                </a:solidFill>
                <a:latin typeface="Calibri"/>
              </a:rPr>
              <a:t>Picture: Bitcoin logo - Grayliptrot, public domain, Wikimedia Commons - a stand-in, since an address has no picture</a:t>
            </a:r>
          </a:p>
        </p:txBody>
      </p:sp>
      <p:sp>
        <p:nvSpPr>
          <p:cNvPr id="8" name="TextBox 7"/>
          <p:cNvSpPr txBox="1"/>
          <p:nvPr/>
        </p:nvSpPr>
        <p:spPr>
          <a:xfrm>
            <a:off x="3429000" y="1216152"/>
            <a:ext cx="5257800" cy="438912"/>
          </a:xfrm>
          <a:prstGeom prst="rect">
            <a:avLst/>
          </a:prstGeom>
          <a:noFill/>
        </p:spPr>
        <p:txBody>
          <a:bodyPr wrap="square" lIns="0" rIns="0" tIns="0" bIns="0" anchor="t">
            <a:spAutoFit/>
          </a:bodyPr>
          <a:lstStyle/>
          <a:p>
            <a:pPr algn="l"/>
            <a:r>
              <a:rPr sz="1050" b="1" i="0">
                <a:solidFill>
                  <a:srgbClr val="D97A14"/>
                </a:solidFill>
                <a:latin typeface="Calibri"/>
              </a:rPr>
              <a:t>WHO </a:t>
            </a:r>
            <a:r>
              <a:rPr sz="1050" b="0" i="0">
                <a:solidFill>
                  <a:srgbClr val="2B2622"/>
                </a:solidFill>
                <a:latin typeface="Calibri"/>
              </a:rPr>
              <a:t>Thousands of anonymous senders; Blockstream Explorer recorded their deposits. Nobody holds the key.</a:t>
            </a:r>
          </a:p>
        </p:txBody>
      </p:sp>
      <p:sp>
        <p:nvSpPr>
          <p:cNvPr id="9" name="TextBox 8"/>
          <p:cNvSpPr txBox="1"/>
          <p:nvPr/>
        </p:nvSpPr>
        <p:spPr>
          <a:xfrm>
            <a:off x="3429000" y="1691640"/>
            <a:ext cx="5257800" cy="438912"/>
          </a:xfrm>
          <a:prstGeom prst="rect">
            <a:avLst/>
          </a:prstGeom>
          <a:noFill/>
        </p:spPr>
        <p:txBody>
          <a:bodyPr wrap="square" lIns="0" rIns="0" tIns="0" bIns="0" anchor="t">
            <a:spAutoFit/>
          </a:bodyPr>
          <a:lstStyle/>
          <a:p>
            <a:pPr algn="l"/>
            <a:r>
              <a:rPr sz="1050" b="1" i="0">
                <a:solidFill>
                  <a:srgbClr val="D97A14"/>
                </a:solidFill>
                <a:latin typeface="Calibri"/>
              </a:rPr>
              <a:t>WHAT </a:t>
            </a:r>
            <a:r>
              <a:rPr sz="1050" b="0" i="0">
                <a:solidFill>
                  <a:srgbClr val="2B2622"/>
                </a:solidFill>
                <a:latin typeface="Calibri"/>
              </a:rPr>
              <a:t>The valid address 1BitcoinEaterAddressDontSendf59kuE holds 13.41747849 bitcoin in 5,832 outputs, none ever spent.</a:t>
            </a:r>
          </a:p>
        </p:txBody>
      </p:sp>
      <p:sp>
        <p:nvSpPr>
          <p:cNvPr id="10" name="TextBox 9"/>
          <p:cNvSpPr txBox="1"/>
          <p:nvPr/>
        </p:nvSpPr>
        <p:spPr>
          <a:xfrm>
            <a:off x="3429000" y="2167128"/>
            <a:ext cx="5257800" cy="438912"/>
          </a:xfrm>
          <a:prstGeom prst="rect">
            <a:avLst/>
          </a:prstGeom>
          <a:noFill/>
        </p:spPr>
        <p:txBody>
          <a:bodyPr wrap="square" lIns="0" rIns="0" tIns="0" bIns="0" anchor="t">
            <a:spAutoFit/>
          </a:bodyPr>
          <a:lstStyle/>
          <a:p>
            <a:pPr algn="l"/>
            <a:r>
              <a:rPr sz="1050" b="1" i="0">
                <a:solidFill>
                  <a:srgbClr val="D97A14"/>
                </a:solidFill>
                <a:latin typeface="Calibri"/>
              </a:rPr>
              <a:t>WHEN </a:t>
            </a:r>
            <a:r>
              <a:rPr sz="1050" b="0" i="0">
                <a:solidFill>
                  <a:srgbClr val="2B2622"/>
                </a:solidFill>
                <a:latin typeface="Calibri"/>
              </a:rPr>
              <a:t>2026-10-06</a:t>
            </a:r>
            <a:r>
              <a:rPr sz="1050" b="0" i="0">
                <a:solidFill>
                  <a:srgbClr val="2B2622"/>
                </a:solidFill>
                <a:latin typeface="Calibri"/>
              </a:rPr>
              <a:t> (the day this balance was fetched)</a:t>
            </a:r>
          </a:p>
        </p:txBody>
      </p:sp>
      <p:sp>
        <p:nvSpPr>
          <p:cNvPr id="11" name="TextBox 10"/>
          <p:cNvSpPr txBox="1"/>
          <p:nvPr/>
        </p:nvSpPr>
        <p:spPr>
          <a:xfrm>
            <a:off x="3429000" y="2642616"/>
            <a:ext cx="5257800" cy="438912"/>
          </a:xfrm>
          <a:prstGeom prst="rect">
            <a:avLst/>
          </a:prstGeom>
          <a:noFill/>
        </p:spPr>
        <p:txBody>
          <a:bodyPr wrap="square" lIns="0" rIns="0" tIns="0" bIns="0" anchor="t">
            <a:spAutoFit/>
          </a:bodyPr>
          <a:lstStyle/>
          <a:p>
            <a:pPr algn="l"/>
            <a:r>
              <a:rPr sz="1050" b="1" i="0">
                <a:solidFill>
                  <a:srgbClr val="D97A14"/>
                </a:solidFill>
                <a:latin typeface="Calibri"/>
              </a:rPr>
              <a:t>WHERE </a:t>
            </a:r>
            <a:r>
              <a:rPr sz="1050" b="0" i="0">
                <a:solidFill>
                  <a:srgbClr val="2B2622"/>
                </a:solidFill>
                <a:latin typeface="Calibri"/>
              </a:rPr>
              <a:t>The Bitcoin main chain; the address page of blockstream.info shows every deposit.</a:t>
            </a:r>
          </a:p>
        </p:txBody>
      </p:sp>
      <p:sp>
        <p:nvSpPr>
          <p:cNvPr id="12" name="TextBox 11"/>
          <p:cNvSpPr txBox="1"/>
          <p:nvPr/>
        </p:nvSpPr>
        <p:spPr>
          <a:xfrm>
            <a:off x="3429000" y="3118104"/>
            <a:ext cx="5257800" cy="438912"/>
          </a:xfrm>
          <a:prstGeom prst="rect">
            <a:avLst/>
          </a:prstGeom>
          <a:noFill/>
        </p:spPr>
        <p:txBody>
          <a:bodyPr wrap="square" lIns="0" rIns="0" tIns="0" bIns="0" anchor="t">
            <a:spAutoFit/>
          </a:bodyPr>
          <a:lstStyle/>
          <a:p>
            <a:pPr algn="l"/>
            <a:r>
              <a:rPr sz="1050" b="1" i="0">
                <a:solidFill>
                  <a:srgbClr val="D97A14"/>
                </a:solidFill>
                <a:latin typeface="Calibri"/>
              </a:rPr>
              <a:t>WHY </a:t>
            </a:r>
            <a:r>
              <a:rPr sz="1050" b="0" i="0">
                <a:solidFill>
                  <a:srgbClr val="2B2622"/>
                </a:solidFill>
                <a:latin typeface="Calibri"/>
              </a:rPr>
              <a:t>A checksum catches typing mistakes, not a missing key, so wallets accept the address and the coins stay.</a:t>
            </a:r>
          </a:p>
        </p:txBody>
      </p:sp>
      <p:sp>
        <p:nvSpPr>
          <p:cNvPr id="13" name="TextBox 12"/>
          <p:cNvSpPr txBox="1"/>
          <p:nvPr/>
        </p:nvSpPr>
        <p:spPr>
          <a:xfrm>
            <a:off x="3429000" y="3593592"/>
            <a:ext cx="5257800" cy="438912"/>
          </a:xfrm>
          <a:prstGeom prst="rect">
            <a:avLst/>
          </a:prstGeom>
          <a:noFill/>
        </p:spPr>
        <p:txBody>
          <a:bodyPr wrap="square" lIns="0" rIns="0" tIns="0" bIns="0" anchor="t">
            <a:spAutoFit/>
          </a:bodyPr>
          <a:lstStyle/>
          <a:p>
            <a:pPr algn="l"/>
            <a:r>
              <a:rPr sz="1050" b="1" i="0">
                <a:solidFill>
                  <a:srgbClr val="D97A14"/>
                </a:solidFill>
                <a:latin typeface="Calibri"/>
              </a:rPr>
              <a:t>HOW </a:t>
            </a:r>
            <a:r>
              <a:rPr sz="1050" b="0" i="0">
                <a:solidFill>
                  <a:srgbClr val="2B2622"/>
                </a:solidFill>
                <a:latin typeface="Calibri"/>
              </a:rPr>
              <a:t>A message was written in base58 letters, and the last letters were chosen so that the checksum fits.</a:t>
            </a:r>
          </a:p>
        </p:txBody>
      </p:sp>
      <p:sp>
        <p:nvSpPr>
          <p:cNvPr id="14" name="TextBox 13"/>
          <p:cNvSpPr txBox="1"/>
          <p:nvPr/>
        </p:nvSpPr>
        <p:spPr>
          <a:xfrm>
            <a:off x="3429000" y="4114800"/>
            <a:ext cx="5257800" cy="274320"/>
          </a:xfrm>
          <a:prstGeom prst="rect">
            <a:avLst/>
          </a:prstGeom>
          <a:noFill/>
        </p:spPr>
        <p:txBody>
          <a:bodyPr wrap="square" lIns="0" rIns="0" tIns="0" bIns="0" anchor="t">
            <a:spAutoFit/>
          </a:bodyPr>
          <a:lstStyle/>
          <a:p>
            <a:pPr algn="l"/>
            <a:r>
              <a:rPr sz="1050" b="1" i="0">
                <a:solidFill>
                  <a:srgbClr val="D97A14"/>
                </a:solidFill>
                <a:latin typeface="Calibri"/>
              </a:rPr>
              <a:t>READ </a:t>
            </a:r>
            <a:r>
              <a:rPr sz="1050" b="0" i="0" u="sng">
                <a:solidFill>
                  <a:srgbClr val="2F6D62"/>
                </a:solidFill>
                <a:latin typeface="Calibri"/>
                <a:hlinkClick r:id="rId4"/>
              </a:rPr>
              <a:t>The eater address on blockstream.info</a:t>
            </a:r>
            <a:r>
              <a:rPr sz="1050" b="0" i="0">
                <a:solidFill>
                  <a:srgbClr val="6E655C"/>
                </a:solidFill>
                <a:latin typeface="Calibri"/>
              </a:rPr>
              <a:t> - blockstream.info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The eater address is valid but keyless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A message spelled in base58, with a good checksum</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 valid checksum is not proof that a key exists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44 / 47</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32257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e = K.EATER</a:t>
            </a:r>
          </a:p>
          <a:p>
            <a:pPr algn="l"/>
            <a:r>
              <a:rPr sz="1000" b="1" i="0">
                <a:solidFill>
                  <a:srgbClr val="F2A860"/>
                </a:solidFill>
                <a:latin typeface="Courier New"/>
              </a:rPr>
              <a:t>&gt;&gt;&gt; </a:t>
            </a:r>
            <a:r>
              <a:rPr sz="1000" b="0" i="0">
                <a:solidFill>
                  <a:srgbClr val="E6EDF3"/>
                </a:solidFill>
                <a:latin typeface="Courier New"/>
              </a:rPr>
              <a:t>msg, tail = e[</a:t>
            </a:r>
            <a:r>
              <a:rPr sz="1000" b="0" i="0">
                <a:solidFill>
                  <a:srgbClr val="FFD28A"/>
                </a:solidFill>
                <a:latin typeface="Courier New"/>
              </a:rPr>
              <a:t>1</a:t>
            </a:r>
            <a:r>
              <a:rPr sz="1000" b="0" i="0">
                <a:solidFill>
                  <a:srgbClr val="E6EDF3"/>
                </a:solidFill>
                <a:latin typeface="Courier New"/>
              </a:rPr>
              <a:t>:</a:t>
            </a:r>
            <a:r>
              <a:rPr sz="1000" b="0" i="0">
                <a:solidFill>
                  <a:srgbClr val="FFD28A"/>
                </a:solidFill>
                <a:latin typeface="Courier New"/>
              </a:rPr>
              <a:t>28</a:t>
            </a:r>
            <a:r>
              <a:rPr sz="1000" b="0" i="0">
                <a:solidFill>
                  <a:srgbClr val="E6EDF3"/>
                </a:solidFill>
                <a:latin typeface="Courier New"/>
              </a:rPr>
              <a:t>], e[</a:t>
            </a:r>
            <a:r>
              <a:rPr sz="1000" b="0" i="0">
                <a:solidFill>
                  <a:srgbClr val="FFD28A"/>
                </a:solidFill>
                <a:latin typeface="Courier New"/>
              </a:rPr>
              <a:t>28</a:t>
            </a:r>
            <a:r>
              <a:rPr sz="1000" b="0" i="0">
                <a:solidFill>
                  <a:srgbClr val="E6EDF3"/>
                </a:solidFill>
                <a:latin typeface="Courier New"/>
              </a:rPr>
              <a:t>:]</a:t>
            </a:r>
          </a:p>
        </p:txBody>
      </p:sp>
      <p:sp>
        <p:nvSpPr>
          <p:cNvPr id="11" name="TextBox 10"/>
          <p:cNvSpPr txBox="1"/>
          <p:nvPr/>
        </p:nvSpPr>
        <p:spPr>
          <a:xfrm>
            <a:off x="603504" y="241401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(msg, tail, K.is_valid_b58check(e))</a:t>
            </a:r>
          </a:p>
          <a:p>
            <a:pPr algn="l"/>
            <a:r>
              <a:rPr sz="1000" b="0" i="0">
                <a:solidFill>
                  <a:srgbClr val="7EE787"/>
                </a:solidFill>
                <a:latin typeface="Courier New"/>
              </a:rPr>
              <a:t>('BitcoinEaterAddressDontSend', 'f59kuE', True)</a:t>
            </a:r>
          </a:p>
        </p:txBody>
      </p:sp>
      <p:sp>
        <p:nvSpPr>
          <p:cNvPr id="12" name="TextBox 11"/>
          <p:cNvSpPr txBox="1"/>
          <p:nvPr/>
        </p:nvSpPr>
        <p:spPr>
          <a:xfrm>
            <a:off x="457200" y="1840991"/>
            <a:ext cx="5212080" cy="371855"/>
          </a:xfrm>
          <a:prstGeom prst="rect">
            <a:avLst/>
          </a:prstGeom>
          <a:noFill/>
        </p:spPr>
        <p:txBody>
          <a:bodyPr wrap="square" lIns="0" rIns="0" tIns="0" bIns="0" anchor="t">
            <a:spAutoFit/>
          </a:bodyPr>
          <a:lstStyle/>
          <a:p>
            <a:pPr algn="l"/>
            <a:r>
              <a:rPr sz="1100" b="0" i="0">
                <a:solidFill>
                  <a:srgbClr val="2B2622"/>
                </a:solidFill>
                <a:latin typeface="Calibri"/>
              </a:rPr>
              <a:t>The address spells a message after the leading 1; six more letters close it.</a:t>
            </a:r>
          </a:p>
        </p:txBody>
      </p:sp>
      <p:sp>
        <p:nvSpPr>
          <p:cNvPr id="13" name="TextBox 12"/>
          <p:cNvSpPr txBox="1"/>
          <p:nvPr/>
        </p:nvSpPr>
        <p:spPr>
          <a:xfrm>
            <a:off x="457200" y="288340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checksum is correct, so a wallet accepts the address without any warning.</a:t>
            </a:r>
          </a:p>
        </p:txBody>
      </p:sp>
      <p:sp>
        <p:nvSpPr>
          <p:cNvPr id="14" name="TextBox 13"/>
          <p:cNvSpPr txBox="1"/>
          <p:nvPr/>
        </p:nvSpPr>
        <p:spPr>
          <a:xfrm>
            <a:off x="457200" y="332841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K is the chapter library of the page (sen0401_ch04_lib_v1_0_0)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parts of the eater address</a:t>
            </a:r>
          </a:p>
        </p:txBody>
      </p:sp>
      <p:graphicFrame>
        <p:nvGraphicFramePr>
          <p:cNvPr id="16" name="Table 15"/>
          <p:cNvGraphicFramePr>
            <a:graphicFrameLocks noGrp="1"/>
          </p:cNvGraphicFramePr>
          <p:nvPr/>
        </p:nvGraphicFramePr>
        <p:xfrm>
          <a:off x="5852160" y="1691640"/>
          <a:ext cx="2834640" cy="1645920"/>
        </p:xfrm>
        <a:graphic>
          <a:graphicData uri="http://schemas.openxmlformats.org/drawingml/2006/table">
            <a:tbl>
              <a:tblPr firstRow="1" bandRow="1">
                <a:tableStyleId>{5C22544A-7EE6-4342-B048-85BDC9FD1C3A}</a:tableStyleId>
              </a:tblPr>
              <a:tblGrid>
                <a:gridCol w="1097280"/>
                <a:gridCol w="1737360"/>
              </a:tblGrid>
              <a:tr h="329184">
                <a:tc>
                  <a:txBody>
                    <a:bodyPr/>
                    <a:lstStyle/>
                    <a:p>
                      <a:pPr algn="l"/>
                      <a:r>
                        <a:rPr sz="950" b="1">
                          <a:solidFill>
                            <a:srgbClr val="FFFFFF"/>
                          </a:solidFill>
                          <a:latin typeface="Calibri"/>
                        </a:rPr>
                        <a:t>Part</a:t>
                      </a:r>
                    </a:p>
                  </a:txBody>
                  <a:tcPr marL="54864" marR="54864" marT="27432" marB="27432" anchor="ctr">
                    <a:solidFill>
                      <a:srgbClr val="2F6D62"/>
                    </a:solidFill>
                  </a:tcPr>
                </a:tc>
                <a:tc>
                  <a:txBody>
                    <a:bodyPr/>
                    <a:lstStyle/>
                    <a:p>
                      <a:pPr algn="l"/>
                      <a:r>
                        <a:rPr sz="950" b="1">
                          <a:solidFill>
                            <a:srgbClr val="FFFFFF"/>
                          </a:solidFill>
                          <a:latin typeface="Calibri"/>
                        </a:rPr>
                        <a:t>Value</a:t>
                      </a:r>
                    </a:p>
                  </a:txBody>
                  <a:tcPr marL="54864" marR="54864" marT="27432" marB="27432" anchor="ctr">
                    <a:solidFill>
                      <a:srgbClr val="2F6D62"/>
                    </a:solidFill>
                  </a:tcPr>
                </a:tc>
              </a:tr>
              <a:tr h="329184">
                <a:tc>
                  <a:txBody>
                    <a:bodyPr/>
                    <a:lstStyle/>
                    <a:p>
                      <a:pPr algn="l"/>
                      <a:r>
                        <a:rPr sz="950" b="0">
                          <a:solidFill>
                            <a:srgbClr val="2B2622"/>
                          </a:solidFill>
                          <a:latin typeface="Calibri"/>
                        </a:rPr>
                        <a:t>Message</a:t>
                      </a:r>
                    </a:p>
                  </a:txBody>
                  <a:tcPr marL="54864" marR="54864" marT="27432" marB="27432" anchor="ctr">
                    <a:solidFill>
                      <a:srgbClr val="FFFFFF"/>
                    </a:solidFill>
                  </a:tcPr>
                </a:tc>
                <a:tc>
                  <a:txBody>
                    <a:bodyPr/>
                    <a:lstStyle/>
                    <a:p>
                      <a:pPr algn="l"/>
                      <a:r>
                        <a:rPr sz="950" b="0">
                          <a:solidFill>
                            <a:srgbClr val="2B2622"/>
                          </a:solidFill>
                          <a:latin typeface="Calibri"/>
                        </a:rPr>
                        <a:t>BitcoinEaterAddressDontSend</a:t>
                      </a:r>
                    </a:p>
                  </a:txBody>
                  <a:tcPr marL="54864" marR="54864" marT="27432" marB="27432" anchor="ctr">
                    <a:solidFill>
                      <a:srgbClr val="FFFFFF"/>
                    </a:solidFill>
                  </a:tcPr>
                </a:tc>
              </a:tr>
              <a:tr h="329184">
                <a:tc>
                  <a:txBody>
                    <a:bodyPr/>
                    <a:lstStyle/>
                    <a:p>
                      <a:pPr algn="l"/>
                      <a:r>
                        <a:rPr sz="950" b="0">
                          <a:solidFill>
                            <a:srgbClr val="2B2622"/>
                          </a:solidFill>
                          <a:latin typeface="Calibri"/>
                        </a:rPr>
                        <a:t>Closing letters</a:t>
                      </a:r>
                    </a:p>
                  </a:txBody>
                  <a:tcPr marL="54864" marR="54864" marT="27432" marB="27432" anchor="ctr">
                    <a:solidFill>
                      <a:srgbClr val="F2ECE1"/>
                    </a:solidFill>
                  </a:tcPr>
                </a:tc>
                <a:tc>
                  <a:txBody>
                    <a:bodyPr/>
                    <a:lstStyle/>
                    <a:p>
                      <a:pPr algn="l"/>
                      <a:r>
                        <a:rPr sz="950" b="0">
                          <a:solidFill>
                            <a:srgbClr val="2B2622"/>
                          </a:solidFill>
                          <a:latin typeface="Calibri"/>
                        </a:rPr>
                        <a:t>f59kuE</a:t>
                      </a:r>
                    </a:p>
                  </a:txBody>
                  <a:tcPr marL="54864" marR="54864" marT="27432" marB="27432" anchor="ctr">
                    <a:solidFill>
                      <a:srgbClr val="F2ECE1"/>
                    </a:solidFill>
                  </a:tcPr>
                </a:tc>
              </a:tr>
              <a:tr h="329184">
                <a:tc>
                  <a:txBody>
                    <a:bodyPr/>
                    <a:lstStyle/>
                    <a:p>
                      <a:pPr algn="l"/>
                      <a:r>
                        <a:rPr sz="950" b="0">
                          <a:solidFill>
                            <a:srgbClr val="2B2622"/>
                          </a:solidFill>
                          <a:latin typeface="Calibri"/>
                        </a:rPr>
                        <a:t>Checksum valid?</a:t>
                      </a:r>
                    </a:p>
                  </a:txBody>
                  <a:tcPr marL="54864" marR="54864" marT="27432" marB="27432" anchor="ctr">
                    <a:solidFill>
                      <a:srgbClr val="FFFFFF"/>
                    </a:solidFill>
                  </a:tcPr>
                </a:tc>
                <a:tc>
                  <a:txBody>
                    <a:bodyPr/>
                    <a:lstStyle/>
                    <a:p>
                      <a:pPr algn="l"/>
                      <a:r>
                        <a:rPr sz="950" b="0">
                          <a:solidFill>
                            <a:srgbClr val="2B2622"/>
                          </a:solidFill>
                          <a:latin typeface="Calibri"/>
                        </a:rPr>
                        <a:t>yes</a:t>
                      </a:r>
                    </a:p>
                  </a:txBody>
                  <a:tcPr marL="54864" marR="54864" marT="27432" marB="27432" anchor="ctr">
                    <a:solidFill>
                      <a:srgbClr val="FFFFFF"/>
                    </a:solidFill>
                  </a:tcPr>
                </a:tc>
              </a:tr>
              <a:tr h="329184">
                <a:tc>
                  <a:txBody>
                    <a:bodyPr/>
                    <a:lstStyle/>
                    <a:p>
                      <a:pPr algn="l"/>
                      <a:r>
                        <a:rPr sz="950" b="0">
                          <a:solidFill>
                            <a:srgbClr val="2B2622"/>
                          </a:solidFill>
                          <a:latin typeface="Calibri"/>
                        </a:rPr>
                        <a:t>Decoded bytes</a:t>
                      </a:r>
                    </a:p>
                  </a:txBody>
                  <a:tcPr marL="54864" marR="54864" marT="27432" marB="27432" anchor="ctr">
                    <a:solidFill>
                      <a:srgbClr val="EFE6D6"/>
                    </a:solidFill>
                  </a:tcPr>
                </a:tc>
                <a:tc>
                  <a:txBody>
                    <a:bodyPr/>
                    <a:lstStyle/>
                    <a:p>
                      <a:pPr algn="l"/>
                      <a:r>
                        <a:rPr sz="950" b="0">
                          <a:solidFill>
                            <a:srgbClr val="2B2622"/>
                          </a:solidFill>
                          <a:latin typeface="Calibri"/>
                        </a:rPr>
                        <a:t>21 = 1 + 20</a:t>
                      </a:r>
                    </a:p>
                  </a:txBody>
                  <a:tcPr marL="54864" marR="54864" marT="27432" marB="27432" anchor="ctr">
                    <a:solidFill>
                      <a:srgbClr val="EFE6D6"/>
                    </a:solidFill>
                  </a:tcPr>
                </a:tc>
              </a:tr>
            </a:tbl>
          </a:graphicData>
        </a:graphic>
      </p:graphicFrame>
      <p:sp>
        <p:nvSpPr>
          <p:cNvPr id="17" name="TextBox 16"/>
          <p:cNvSpPr txBox="1"/>
          <p:nvPr/>
        </p:nvSpPr>
        <p:spPr>
          <a:xfrm>
            <a:off x="5852160" y="344728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20-byte hash 759d6677... was never computed from a key.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Summary: the six answers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questions of slide 3, answered</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Entropy, a point, a hash, a checksum, a flag, no key</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45 / 47</a:t>
            </a:r>
          </a:p>
        </p:txBody>
      </p:sp>
      <p:graphicFrame>
        <p:nvGraphicFramePr>
          <p:cNvPr id="8" name="Table 7"/>
          <p:cNvGraphicFramePr>
            <a:graphicFrameLocks noGrp="1"/>
          </p:cNvGraphicFramePr>
          <p:nvPr/>
        </p:nvGraphicFramePr>
        <p:xfrm>
          <a:off x="457200" y="1280160"/>
          <a:ext cx="8229600" cy="2944368"/>
        </p:xfrm>
        <a:graphic>
          <a:graphicData uri="http://schemas.openxmlformats.org/drawingml/2006/table">
            <a:tbl>
              <a:tblPr firstRow="1" bandRow="1">
                <a:tableStyleId>{5C22544A-7EE6-4342-B048-85BDC9FD1C3A}</a:tableStyleId>
              </a:tblPr>
              <a:tblGrid>
                <a:gridCol w="2651760"/>
                <a:gridCol w="5577840"/>
              </a:tblGrid>
              <a:tr h="420624">
                <a:tc>
                  <a:txBody>
                    <a:bodyPr/>
                    <a:lstStyle/>
                    <a:p>
                      <a:pPr algn="l"/>
                      <a:r>
                        <a:rPr sz="1100" b="1">
                          <a:solidFill>
                            <a:srgbClr val="FFFFFF"/>
                          </a:solidFill>
                          <a:latin typeface="Calibri"/>
                        </a:rPr>
                        <a:t>Question</a:t>
                      </a:r>
                    </a:p>
                  </a:txBody>
                  <a:tcPr marL="54864" marR="54864" marT="27432" marB="27432" anchor="ctr">
                    <a:solidFill>
                      <a:srgbClr val="2F6D62"/>
                    </a:solidFill>
                  </a:tcPr>
                </a:tc>
                <a:tc>
                  <a:txBody>
                    <a:bodyPr/>
                    <a:lstStyle/>
                    <a:p>
                      <a:pPr algn="l"/>
                      <a:r>
                        <a:rPr sz="1100" b="1">
                          <a:solidFill>
                            <a:srgbClr val="FFFFFF"/>
                          </a:solidFill>
                          <a:latin typeface="Calibri"/>
                        </a:rPr>
                        <a:t>Answer in one line</a:t>
                      </a:r>
                    </a:p>
                  </a:txBody>
                  <a:tcPr marL="54864" marR="54864" marT="27432" marB="27432" anchor="ctr">
                    <a:solidFill>
                      <a:srgbClr val="2F6D62"/>
                    </a:solidFill>
                  </a:tcPr>
                </a:tc>
              </a:tr>
              <a:tr h="420624">
                <a:tc>
                  <a:txBody>
                    <a:bodyPr/>
                    <a:lstStyle/>
                    <a:p>
                      <a:pPr algn="l"/>
                      <a:r>
                        <a:rPr sz="1100" b="0">
                          <a:solidFill>
                            <a:srgbClr val="2B2622"/>
                          </a:solidFill>
                          <a:latin typeface="Calibri"/>
                        </a:rPr>
                        <a:t>1 What is a private key?</a:t>
                      </a:r>
                    </a:p>
                  </a:txBody>
                  <a:tcPr marL="54864" marR="54864" marT="27432" marB="27432" anchor="ctr">
                    <a:solidFill>
                      <a:srgbClr val="FFFFFF"/>
                    </a:solidFill>
                  </a:tcPr>
                </a:tc>
                <a:tc>
                  <a:txBody>
                    <a:bodyPr/>
                    <a:lstStyle/>
                    <a:p>
                      <a:pPr algn="l"/>
                      <a:r>
                        <a:rPr sz="1100" b="0">
                          <a:solidFill>
                            <a:srgbClr val="2B2622"/>
                          </a:solidFill>
                          <a:latin typeface="Calibri"/>
                        </a:rPr>
                        <a:t>A random number between 1 and n - 1 with 256 bits of entropy.</a:t>
                      </a:r>
                    </a:p>
                  </a:txBody>
                  <a:tcPr marL="54864" marR="54864" marT="27432" marB="27432" anchor="ctr">
                    <a:solidFill>
                      <a:srgbClr val="FFFFFF"/>
                    </a:solidFill>
                  </a:tcPr>
                </a:tc>
              </a:tr>
              <a:tr h="420624">
                <a:tc>
                  <a:txBody>
                    <a:bodyPr/>
                    <a:lstStyle/>
                    <a:p>
                      <a:pPr algn="l"/>
                      <a:r>
                        <a:rPr sz="1100" b="0">
                          <a:solidFill>
                            <a:srgbClr val="2B2622"/>
                          </a:solidFill>
                          <a:latin typeface="Calibri"/>
                        </a:rPr>
                        <a:t>2 How does it give a public key?</a:t>
                      </a:r>
                    </a:p>
                  </a:txBody>
                  <a:tcPr marL="54864" marR="54864" marT="27432" marB="27432" anchor="ctr">
                    <a:solidFill>
                      <a:srgbClr val="F2ECE1"/>
                    </a:solidFill>
                  </a:tcPr>
                </a:tc>
                <a:tc>
                  <a:txBody>
                    <a:bodyPr/>
                    <a:lstStyle/>
                    <a:p>
                      <a:pPr algn="l"/>
                      <a:r>
                        <a:rPr sz="1100" b="0">
                          <a:solidFill>
                            <a:srgbClr val="2B2622"/>
                          </a:solidFill>
                          <a:latin typeface="Calibri"/>
                        </a:rPr>
                        <a:t>Multiply G by k with doubling and adding; nobody can run it backwards.</a:t>
                      </a:r>
                    </a:p>
                  </a:txBody>
                  <a:tcPr marL="54864" marR="54864" marT="27432" marB="27432" anchor="ctr">
                    <a:solidFill>
                      <a:srgbClr val="F2ECE1"/>
                    </a:solidFill>
                  </a:tcPr>
                </a:tc>
              </a:tr>
              <a:tr h="420624">
                <a:tc>
                  <a:txBody>
                    <a:bodyPr/>
                    <a:lstStyle/>
                    <a:p>
                      <a:pPr algn="l"/>
                      <a:r>
                        <a:rPr sz="1100" b="0">
                          <a:solidFill>
                            <a:srgbClr val="2B2622"/>
                          </a:solidFill>
                          <a:latin typeface="Calibri"/>
                        </a:rPr>
                        <a:t>3 How does that give an address?</a:t>
                      </a:r>
                    </a:p>
                  </a:txBody>
                  <a:tcPr marL="54864" marR="54864" marT="27432" marB="27432" anchor="ctr">
                    <a:solidFill>
                      <a:srgbClr val="FFFFFF"/>
                    </a:solidFill>
                  </a:tcPr>
                </a:tc>
                <a:tc>
                  <a:txBody>
                    <a:bodyPr/>
                    <a:lstStyle/>
                    <a:p>
                      <a:pPr algn="l"/>
                      <a:r>
                        <a:rPr sz="1100" b="0">
                          <a:solidFill>
                            <a:srgbClr val="2B2622"/>
                          </a:solidFill>
                          <a:latin typeface="Calibri"/>
                        </a:rPr>
                        <a:t>HASH160, a version byte and four checksum bytes, written in base58.</a:t>
                      </a:r>
                    </a:p>
                  </a:txBody>
                  <a:tcPr marL="54864" marR="54864" marT="27432" marB="27432" anchor="ctr">
                    <a:solidFill>
                      <a:srgbClr val="FFFFFF"/>
                    </a:solidFill>
                  </a:tcPr>
                </a:tc>
              </a:tr>
              <a:tr h="420624">
                <a:tc>
                  <a:txBody>
                    <a:bodyPr/>
                    <a:lstStyle/>
                    <a:p>
                      <a:pPr algn="l"/>
                      <a:r>
                        <a:rPr sz="1100" b="0">
                          <a:solidFill>
                            <a:srgbClr val="2B2622"/>
                          </a:solidFill>
                          <a:latin typeface="Calibri"/>
                        </a:rPr>
                        <a:t>4 What do P2SH and Bech32 change?</a:t>
                      </a:r>
                    </a:p>
                  </a:txBody>
                  <a:tcPr marL="54864" marR="54864" marT="27432" marB="27432" anchor="ctr">
                    <a:solidFill>
                      <a:srgbClr val="F2ECE1"/>
                    </a:solidFill>
                  </a:tcPr>
                </a:tc>
                <a:tc>
                  <a:txBody>
                    <a:bodyPr/>
                    <a:lstStyle/>
                    <a:p>
                      <a:pPr algn="l"/>
                      <a:r>
                        <a:rPr sz="1100" b="0">
                          <a:solidFill>
                            <a:srgbClr val="2B2622"/>
                          </a:solidFill>
                          <a:latin typeface="Calibri"/>
                        </a:rPr>
                        <a:t>P2SH hashes a script; Bech32 and Bech32m add a version, a program, a stronger checksum.</a:t>
                      </a:r>
                    </a:p>
                  </a:txBody>
                  <a:tcPr marL="54864" marR="54864" marT="27432" marB="27432" anchor="ctr">
                    <a:solidFill>
                      <a:srgbClr val="F2ECE1"/>
                    </a:solidFill>
                  </a:tcPr>
                </a:tc>
              </a:tr>
              <a:tr h="420624">
                <a:tc>
                  <a:txBody>
                    <a:bodyPr/>
                    <a:lstStyle/>
                    <a:p>
                      <a:pPr algn="l"/>
                      <a:r>
                        <a:rPr sz="1100" b="0">
                          <a:solidFill>
                            <a:srgbClr val="2B2622"/>
                          </a:solidFill>
                          <a:latin typeface="Calibri"/>
                        </a:rPr>
                        <a:t>5 How is a key written down?</a:t>
                      </a:r>
                    </a:p>
                  </a:txBody>
                  <a:tcPr marL="54864" marR="54864" marT="27432" marB="27432" anchor="ctr">
                    <a:solidFill>
                      <a:srgbClr val="FFFFFF"/>
                    </a:solidFill>
                  </a:tcPr>
                </a:tc>
                <a:tc>
                  <a:txBody>
                    <a:bodyPr/>
                    <a:lstStyle/>
                    <a:p>
                      <a:pPr algn="l"/>
                      <a:r>
                        <a:rPr sz="1100" b="0">
                          <a:solidFill>
                            <a:srgbClr val="2B2622"/>
                          </a:solidFill>
                          <a:latin typeface="Calibri"/>
                        </a:rPr>
                        <a:t>WIF: Base58Check of version 80, the key and a final 01 when compressed.</a:t>
                      </a:r>
                    </a:p>
                  </a:txBody>
                  <a:tcPr marL="54864" marR="54864" marT="27432" marB="27432" anchor="ctr">
                    <a:solidFill>
                      <a:srgbClr val="FFFFFF"/>
                    </a:solidFill>
                  </a:tcPr>
                </a:tc>
              </a:tr>
              <a:tr h="420624">
                <a:tc>
                  <a:txBody>
                    <a:bodyPr/>
                    <a:lstStyle/>
                    <a:p>
                      <a:pPr algn="l"/>
                      <a:r>
                        <a:rPr sz="1100" b="0">
                          <a:solidFill>
                            <a:srgbClr val="2B2622"/>
                          </a:solidFill>
                          <a:latin typeface="Calibri"/>
                        </a:rPr>
                        <a:t>6 Valid address, no key?</a:t>
                      </a:r>
                    </a:p>
                  </a:txBody>
                  <a:tcPr marL="54864" marR="54864" marT="27432" marB="27432" anchor="ctr">
                    <a:solidFill>
                      <a:srgbClr val="F2ECE1"/>
                    </a:solidFill>
                  </a:tcPr>
                </a:tc>
                <a:tc>
                  <a:txBody>
                    <a:bodyPr/>
                    <a:lstStyle/>
                    <a:p>
                      <a:pPr algn="l"/>
                      <a:r>
                        <a:rPr sz="1100" b="0">
                          <a:solidFill>
                            <a:srgbClr val="2B2622"/>
                          </a:solidFill>
                          <a:latin typeface="Calibri"/>
                        </a:rPr>
                        <a:t>A checksum catches typos, not a missing key: the eater address holds coins nobody can spend.</a:t>
                      </a:r>
                    </a:p>
                  </a:txBody>
                  <a:tcPr marL="54864" marR="54864" marT="27432" marB="27432" anchor="ctr">
                    <a:solidFill>
                      <a:srgbClr val="F2ECE1"/>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Resources: read, try, watch, ask</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Every link was opened on 25 October 2026; free to use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Open the eater address tonight and watch nothing move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46 / 47</a:t>
            </a:r>
          </a:p>
        </p:txBody>
      </p:sp>
      <p:sp>
        <p:nvSpPr>
          <p:cNvPr id="8" name="TextBox 7"/>
          <p:cNvSpPr txBox="1"/>
          <p:nvPr/>
        </p:nvSpPr>
        <p:spPr>
          <a:xfrm>
            <a:off x="457200" y="1280160"/>
            <a:ext cx="4023360" cy="585216"/>
          </a:xfrm>
          <a:prstGeom prst="rect">
            <a:avLst/>
          </a:prstGeom>
          <a:noFill/>
        </p:spPr>
        <p:txBody>
          <a:bodyPr wrap="square" lIns="0" rIns="0" tIns="0" bIns="0" anchor="t">
            <a:spAutoFit/>
          </a:bodyPr>
          <a:lstStyle/>
          <a:p>
            <a:pPr algn="l"/>
            <a:r>
              <a:rPr sz="900" b="1" i="0">
                <a:solidFill>
                  <a:srgbClr val="D97A14"/>
                </a:solidFill>
                <a:latin typeface="Calibri"/>
              </a:rPr>
              <a:t>Read  </a:t>
            </a:r>
            <a:r>
              <a:rPr sz="1150" b="1" i="0" u="sng">
                <a:solidFill>
                  <a:srgbClr val="2F6D62"/>
                </a:solidFill>
                <a:latin typeface="Calibri"/>
                <a:hlinkClick r:id="rId3"/>
              </a:rPr>
              <a:t>Mastering Bitcoin, chapter 4 (source text)</a:t>
            </a:r>
          </a:p>
          <a:p>
            <a:pPr algn="l"/>
            <a:r>
              <a:rPr sz="1000" b="0" i="0">
                <a:solidFill>
                  <a:srgbClr val="6E655C"/>
                </a:solidFill>
                <a:latin typeface="Calibri"/>
              </a:rPr>
              <a:t>The chapter this deck follows.</a:t>
            </a:r>
          </a:p>
        </p:txBody>
      </p:sp>
      <p:sp>
        <p:nvSpPr>
          <p:cNvPr id="9" name="TextBox 8"/>
          <p:cNvSpPr txBox="1"/>
          <p:nvPr/>
        </p:nvSpPr>
        <p:spPr>
          <a:xfrm>
            <a:off x="457200" y="1938528"/>
            <a:ext cx="4023360" cy="585216"/>
          </a:xfrm>
          <a:prstGeom prst="rect">
            <a:avLst/>
          </a:prstGeom>
          <a:noFill/>
        </p:spPr>
        <p:txBody>
          <a:bodyPr wrap="square" lIns="0" rIns="0" tIns="0" bIns="0" anchor="t">
            <a:spAutoFit/>
          </a:bodyPr>
          <a:lstStyle/>
          <a:p>
            <a:pPr algn="l"/>
            <a:r>
              <a:rPr sz="900" b="1" i="0">
                <a:solidFill>
                  <a:srgbClr val="D97A14"/>
                </a:solidFill>
                <a:latin typeface="Calibri"/>
              </a:rPr>
              <a:t>Read  </a:t>
            </a:r>
            <a:r>
              <a:rPr sz="1150" b="1" i="0" u="sng">
                <a:solidFill>
                  <a:srgbClr val="2F6D62"/>
                </a:solidFill>
                <a:latin typeface="Calibri"/>
                <a:hlinkClick r:id="rId4"/>
              </a:rPr>
              <a:t>Elliptic curve cryptography: a gentle introduction</a:t>
            </a:r>
          </a:p>
          <a:p>
            <a:pPr algn="l"/>
            <a:r>
              <a:rPr sz="1000" b="0" i="0">
                <a:solidFill>
                  <a:srgbClr val="6E655C"/>
                </a:solidFill>
                <a:latin typeface="Calibri"/>
              </a:rPr>
              <a:t>Pictures of the curve, step by step.</a:t>
            </a:r>
          </a:p>
        </p:txBody>
      </p:sp>
      <p:sp>
        <p:nvSpPr>
          <p:cNvPr id="10" name="TextBox 9"/>
          <p:cNvSpPr txBox="1"/>
          <p:nvPr/>
        </p:nvSpPr>
        <p:spPr>
          <a:xfrm>
            <a:off x="457200" y="2596896"/>
            <a:ext cx="4023360" cy="585216"/>
          </a:xfrm>
          <a:prstGeom prst="rect">
            <a:avLst/>
          </a:prstGeom>
          <a:noFill/>
        </p:spPr>
        <p:txBody>
          <a:bodyPr wrap="square" lIns="0" rIns="0" tIns="0" bIns="0" anchor="t">
            <a:spAutoFit/>
          </a:bodyPr>
          <a:lstStyle/>
          <a:p>
            <a:pPr algn="l"/>
            <a:r>
              <a:rPr sz="900" b="1" i="0">
                <a:solidFill>
                  <a:srgbClr val="D97A14"/>
                </a:solidFill>
                <a:latin typeface="Calibri"/>
              </a:rPr>
              <a:t>Read  </a:t>
            </a:r>
            <a:r>
              <a:rPr sz="1150" b="1" i="0" u="sng">
                <a:solidFill>
                  <a:srgbClr val="2F6D62"/>
                </a:solidFill>
                <a:latin typeface="Calibri"/>
                <a:hlinkClick r:id="rId5"/>
              </a:rPr>
              <a:t>Bitcoin Wiki: technical background of addresses</a:t>
            </a:r>
          </a:p>
          <a:p>
            <a:pPr algn="l"/>
            <a:r>
              <a:rPr sz="1000" b="0" i="0">
                <a:solidFill>
                  <a:srgbClr val="6E655C"/>
                </a:solidFill>
                <a:latin typeface="Calibri"/>
              </a:rPr>
              <a:t>From key to address, in steps.</a:t>
            </a:r>
          </a:p>
        </p:txBody>
      </p:sp>
      <p:sp>
        <p:nvSpPr>
          <p:cNvPr id="11" name="TextBox 10"/>
          <p:cNvSpPr txBox="1"/>
          <p:nvPr/>
        </p:nvSpPr>
        <p:spPr>
          <a:xfrm>
            <a:off x="457200" y="3255264"/>
            <a:ext cx="4023360" cy="585216"/>
          </a:xfrm>
          <a:prstGeom prst="rect">
            <a:avLst/>
          </a:prstGeom>
          <a:noFill/>
        </p:spPr>
        <p:txBody>
          <a:bodyPr wrap="square" lIns="0" rIns="0" tIns="0" bIns="0" anchor="t">
            <a:spAutoFit/>
          </a:bodyPr>
          <a:lstStyle/>
          <a:p>
            <a:pPr algn="l"/>
            <a:r>
              <a:rPr sz="900" b="1" i="0">
                <a:solidFill>
                  <a:srgbClr val="D97A14"/>
                </a:solidFill>
                <a:latin typeface="Calibri"/>
              </a:rPr>
              <a:t>Standards and papers  </a:t>
            </a:r>
            <a:r>
              <a:rPr sz="1150" b="1" i="0" u="sng">
                <a:solidFill>
                  <a:srgbClr val="2F6D62"/>
                </a:solidFill>
                <a:latin typeface="Calibri"/>
                <a:hlinkClick r:id="rId6"/>
              </a:rPr>
              <a:t>Diffie and Hellman: New Directions (PDF)</a:t>
            </a:r>
          </a:p>
          <a:p>
            <a:pPr algn="l"/>
            <a:r>
              <a:rPr sz="1000" b="0" i="0">
                <a:solidFill>
                  <a:srgbClr val="6E655C"/>
                </a:solidFill>
                <a:latin typeface="Calibri"/>
              </a:rPr>
              <a:t>The 1976 paper behind the key pair.</a:t>
            </a:r>
          </a:p>
        </p:txBody>
      </p:sp>
      <p:sp>
        <p:nvSpPr>
          <p:cNvPr id="12" name="TextBox 11"/>
          <p:cNvSpPr txBox="1"/>
          <p:nvPr/>
        </p:nvSpPr>
        <p:spPr>
          <a:xfrm>
            <a:off x="457200" y="3913631"/>
            <a:ext cx="4023360" cy="585216"/>
          </a:xfrm>
          <a:prstGeom prst="rect">
            <a:avLst/>
          </a:prstGeom>
          <a:noFill/>
        </p:spPr>
        <p:txBody>
          <a:bodyPr wrap="square" lIns="0" rIns="0" tIns="0" bIns="0" anchor="t">
            <a:spAutoFit/>
          </a:bodyPr>
          <a:lstStyle/>
          <a:p>
            <a:pPr algn="l"/>
            <a:r>
              <a:rPr sz="900" b="1" i="0">
                <a:solidFill>
                  <a:srgbClr val="D97A14"/>
                </a:solidFill>
                <a:latin typeface="Calibri"/>
              </a:rPr>
              <a:t>Standards and papers  </a:t>
            </a:r>
            <a:r>
              <a:rPr sz="1150" b="1" i="0" u="sng">
                <a:solidFill>
                  <a:srgbClr val="2F6D62"/>
                </a:solidFill>
                <a:latin typeface="Calibri"/>
                <a:hlinkClick r:id="rId7"/>
              </a:rPr>
              <a:t>BIP 173: Bech32 addresses</a:t>
            </a:r>
          </a:p>
          <a:p>
            <a:pPr algn="l"/>
            <a:r>
              <a:rPr sz="1000" b="0" i="0">
                <a:solidFill>
                  <a:srgbClr val="6E655C"/>
                </a:solidFill>
                <a:latin typeface="Calibri"/>
              </a:rPr>
              <a:t>The format of native SegWit addresses.</a:t>
            </a:r>
          </a:p>
        </p:txBody>
      </p:sp>
      <p:sp>
        <p:nvSpPr>
          <p:cNvPr id="13" name="TextBox 12"/>
          <p:cNvSpPr txBox="1"/>
          <p:nvPr/>
        </p:nvSpPr>
        <p:spPr>
          <a:xfrm>
            <a:off x="4663440" y="1280160"/>
            <a:ext cx="4023360" cy="585216"/>
          </a:xfrm>
          <a:prstGeom prst="rect">
            <a:avLst/>
          </a:prstGeom>
          <a:noFill/>
        </p:spPr>
        <p:txBody>
          <a:bodyPr wrap="square" lIns="0" rIns="0" tIns="0" bIns="0" anchor="t">
            <a:spAutoFit/>
          </a:bodyPr>
          <a:lstStyle/>
          <a:p>
            <a:pPr algn="l"/>
            <a:r>
              <a:rPr sz="900" b="1" i="0">
                <a:solidFill>
                  <a:srgbClr val="D97A14"/>
                </a:solidFill>
                <a:latin typeface="Calibri"/>
              </a:rPr>
              <a:t>Standards and papers  </a:t>
            </a:r>
            <a:r>
              <a:rPr sz="1150" b="1" i="0" u="sng">
                <a:solidFill>
                  <a:srgbClr val="2F6D62"/>
                </a:solidFill>
                <a:latin typeface="Calibri"/>
                <a:hlinkClick r:id="rId8"/>
              </a:rPr>
              <a:t>BIP 350: Bech32m addresses</a:t>
            </a:r>
          </a:p>
          <a:p>
            <a:pPr algn="l"/>
            <a:r>
              <a:rPr sz="1000" b="0" i="0">
                <a:solidFill>
                  <a:srgbClr val="6E655C"/>
                </a:solidFill>
                <a:latin typeface="Calibri"/>
              </a:rPr>
              <a:t>The fix used from witness version 1.</a:t>
            </a:r>
          </a:p>
        </p:txBody>
      </p:sp>
      <p:sp>
        <p:nvSpPr>
          <p:cNvPr id="14" name="TextBox 13"/>
          <p:cNvSpPr txBox="1"/>
          <p:nvPr/>
        </p:nvSpPr>
        <p:spPr>
          <a:xfrm>
            <a:off x="4663440" y="1938528"/>
            <a:ext cx="4023360" cy="585216"/>
          </a:xfrm>
          <a:prstGeom prst="rect">
            <a:avLst/>
          </a:prstGeom>
          <a:noFill/>
        </p:spPr>
        <p:txBody>
          <a:bodyPr wrap="square" lIns="0" rIns="0" tIns="0" bIns="0" anchor="t">
            <a:spAutoFit/>
          </a:bodyPr>
          <a:lstStyle/>
          <a:p>
            <a:pPr algn="l"/>
            <a:r>
              <a:rPr sz="900" b="1" i="0">
                <a:solidFill>
                  <a:srgbClr val="D97A14"/>
                </a:solidFill>
                <a:latin typeface="Calibri"/>
              </a:rPr>
              <a:t>Try  </a:t>
            </a:r>
            <a:r>
              <a:rPr sz="1150" b="1" i="0" u="sng">
                <a:solidFill>
                  <a:srgbClr val="2F6D62"/>
                </a:solidFill>
                <a:latin typeface="Calibri"/>
                <a:hlinkClick r:id="rId9"/>
              </a:rPr>
              <a:t>The eater address on blockstream.info</a:t>
            </a:r>
          </a:p>
          <a:p>
            <a:pPr algn="l"/>
            <a:r>
              <a:rPr sz="1000" b="0" i="0">
                <a:solidFill>
                  <a:srgbClr val="6E655C"/>
                </a:solidFill>
                <a:latin typeface="Calibri"/>
              </a:rPr>
              <a:t>Open it and watch nothing move.</a:t>
            </a:r>
          </a:p>
        </p:txBody>
      </p:sp>
      <p:sp>
        <p:nvSpPr>
          <p:cNvPr id="15" name="TextBox 14"/>
          <p:cNvSpPr txBox="1"/>
          <p:nvPr/>
        </p:nvSpPr>
        <p:spPr>
          <a:xfrm>
            <a:off x="4663440" y="2596896"/>
            <a:ext cx="4023360" cy="585216"/>
          </a:xfrm>
          <a:prstGeom prst="rect">
            <a:avLst/>
          </a:prstGeom>
          <a:noFill/>
        </p:spPr>
        <p:txBody>
          <a:bodyPr wrap="square" lIns="0" rIns="0" tIns="0" bIns="0" anchor="t">
            <a:spAutoFit/>
          </a:bodyPr>
          <a:lstStyle/>
          <a:p>
            <a:pPr algn="l"/>
            <a:r>
              <a:rPr sz="900" b="1" i="0">
                <a:solidFill>
                  <a:srgbClr val="D97A14"/>
                </a:solidFill>
                <a:latin typeface="Calibri"/>
              </a:rPr>
              <a:t>Try  </a:t>
            </a:r>
            <a:r>
              <a:rPr sz="1150" b="1" i="0" u="sng">
                <a:solidFill>
                  <a:srgbClr val="2F6D62"/>
                </a:solidFill>
                <a:latin typeface="Calibri"/>
                <a:hlinkClick r:id="rId10"/>
              </a:rPr>
              <a:t>base58.h in bitcoin/bitcoin (source)</a:t>
            </a:r>
          </a:p>
          <a:p>
            <a:pPr algn="l"/>
            <a:r>
              <a:rPr sz="1000" b="0" i="0">
                <a:solidFill>
                  <a:srgbClr val="6E655C"/>
                </a:solidFill>
                <a:latin typeface="Calibri"/>
              </a:rPr>
              <a:t>Satoshi's four reasons, in the code.</a:t>
            </a:r>
          </a:p>
        </p:txBody>
      </p:sp>
      <p:sp>
        <p:nvSpPr>
          <p:cNvPr id="16" name="TextBox 15"/>
          <p:cNvSpPr txBox="1"/>
          <p:nvPr/>
        </p:nvSpPr>
        <p:spPr>
          <a:xfrm>
            <a:off x="4663440" y="3255264"/>
            <a:ext cx="4023360" cy="585216"/>
          </a:xfrm>
          <a:prstGeom prst="rect">
            <a:avLst/>
          </a:prstGeom>
          <a:noFill/>
        </p:spPr>
        <p:txBody>
          <a:bodyPr wrap="square" lIns="0" rIns="0" tIns="0" bIns="0" anchor="t">
            <a:spAutoFit/>
          </a:bodyPr>
          <a:lstStyle/>
          <a:p>
            <a:pPr algn="l"/>
            <a:r>
              <a:rPr sz="900" b="1" i="0">
                <a:solidFill>
                  <a:srgbClr val="D97A14"/>
                </a:solidFill>
                <a:latin typeface="Calibri"/>
              </a:rPr>
              <a:t>Watch  </a:t>
            </a:r>
            <a:r>
              <a:rPr sz="1150" b="1" i="0" u="sng">
                <a:solidFill>
                  <a:srgbClr val="2F6D62"/>
                </a:solidFill>
                <a:latin typeface="Calibri"/>
                <a:hlinkClick r:id="rId11"/>
              </a:rPr>
              <a:t>Elliptic Curves - Computerphile (video)</a:t>
            </a:r>
          </a:p>
          <a:p>
            <a:pPr algn="l"/>
            <a:r>
              <a:rPr sz="1000" b="0" i="0">
                <a:solidFill>
                  <a:srgbClr val="6E655C"/>
                </a:solidFill>
                <a:latin typeface="Calibri"/>
              </a:rPr>
              <a:t>The curve behind every public key.</a:t>
            </a:r>
          </a:p>
        </p:txBody>
      </p:sp>
      <p:sp>
        <p:nvSpPr>
          <p:cNvPr id="17" name="TextBox 16"/>
          <p:cNvSpPr txBox="1"/>
          <p:nvPr/>
        </p:nvSpPr>
        <p:spPr>
          <a:xfrm>
            <a:off x="4663440" y="3913631"/>
            <a:ext cx="4023360" cy="585216"/>
          </a:xfrm>
          <a:prstGeom prst="rect">
            <a:avLst/>
          </a:prstGeom>
          <a:noFill/>
        </p:spPr>
        <p:txBody>
          <a:bodyPr wrap="square" lIns="0" rIns="0" tIns="0" bIns="0" anchor="t">
            <a:spAutoFit/>
          </a:bodyPr>
          <a:lstStyle/>
          <a:p>
            <a:pPr algn="l"/>
            <a:r>
              <a:rPr sz="900" b="1" i="0">
                <a:solidFill>
                  <a:srgbClr val="D97A14"/>
                </a:solidFill>
                <a:latin typeface="Calibri"/>
              </a:rPr>
              <a:t>Community  </a:t>
            </a:r>
            <a:r>
              <a:rPr sz="1150" b="1" i="0" u="sng">
                <a:solidFill>
                  <a:srgbClr val="2F6D62"/>
                </a:solidFill>
                <a:latin typeface="Calibri"/>
                <a:hlinkClick r:id="rId12"/>
              </a:rPr>
              <a:t>Bitcoin Stack Exchange</a:t>
            </a:r>
          </a:p>
          <a:p>
            <a:pPr algn="l"/>
            <a:r>
              <a:rPr sz="1000" b="0" i="0">
                <a:solidFill>
                  <a:srgbClr val="6E655C"/>
                </a:solidFill>
                <a:latin typeface="Calibri"/>
              </a:rPr>
              <a:t>Ask a question, read the answers.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822960"/>
            <a:ext cx="8229600" cy="3383280"/>
          </a:xfrm>
          <a:prstGeom prst="roundRect">
            <a:avLst>
              <a:gd name="adj" fmla="val 4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3" name="TextBox 2"/>
          <p:cNvSpPr txBox="1"/>
          <p:nvPr/>
        </p:nvSpPr>
        <p:spPr>
          <a:xfrm>
            <a:off x="822960" y="1188720"/>
            <a:ext cx="7498079" cy="1005840"/>
          </a:xfrm>
          <a:prstGeom prst="rect">
            <a:avLst/>
          </a:prstGeom>
          <a:noFill/>
        </p:spPr>
        <p:txBody>
          <a:bodyPr wrap="square" lIns="0" rIns="0" tIns="0" bIns="0" anchor="ctr">
            <a:spAutoFit/>
          </a:bodyPr>
          <a:lstStyle/>
          <a:p>
            <a:pPr algn="l"/>
            <a:r>
              <a:rPr sz="4400" b="0" i="0">
                <a:solidFill>
                  <a:srgbClr val="FFFFFF"/>
                </a:solidFill>
                <a:latin typeface="Cambria"/>
              </a:rPr>
              <a:t>Questions?</a:t>
            </a:r>
          </a:p>
        </p:txBody>
      </p:sp>
      <p:sp>
        <p:nvSpPr>
          <p:cNvPr id="4" name="TextBox 3"/>
          <p:cNvSpPr txBox="1"/>
          <p:nvPr/>
        </p:nvSpPr>
        <p:spPr>
          <a:xfrm>
            <a:off x="822960" y="2286000"/>
            <a:ext cx="7498079" cy="457200"/>
          </a:xfrm>
          <a:prstGeom prst="rect">
            <a:avLst/>
          </a:prstGeom>
          <a:noFill/>
        </p:spPr>
        <p:txBody>
          <a:bodyPr wrap="square" lIns="0" rIns="0" tIns="0" bIns="0" anchor="t">
            <a:spAutoFit/>
          </a:bodyPr>
          <a:lstStyle/>
          <a:p>
            <a:pPr algn="l"/>
            <a:r>
              <a:rPr sz="1800" b="0" i="1">
                <a:solidFill>
                  <a:srgbClr val="FFD28A"/>
                </a:solidFill>
                <a:latin typeface="Calibri"/>
              </a:rPr>
              <a:t>From a secret number to an address you can read aloud</a:t>
            </a:r>
          </a:p>
        </p:txBody>
      </p:sp>
      <p:sp>
        <p:nvSpPr>
          <p:cNvPr id="5" name="TextBox 4"/>
          <p:cNvSpPr txBox="1"/>
          <p:nvPr/>
        </p:nvSpPr>
        <p:spPr>
          <a:xfrm>
            <a:off x="822960" y="3017520"/>
            <a:ext cx="7498079" cy="411480"/>
          </a:xfrm>
          <a:prstGeom prst="rect">
            <a:avLst/>
          </a:prstGeom>
          <a:noFill/>
        </p:spPr>
        <p:txBody>
          <a:bodyPr wrap="square" lIns="0" rIns="0" tIns="0" bIns="0" anchor="t">
            <a:spAutoFit/>
          </a:bodyPr>
          <a:lstStyle/>
          <a:p>
            <a:pPr algn="l"/>
            <a:r>
              <a:rPr sz="1500" b="0" i="0">
                <a:solidFill>
                  <a:srgbClr val="F2A860"/>
                </a:solidFill>
                <a:latin typeface="Cambria"/>
              </a:rPr>
              <a:t>Next: chapter 5, Wallet Recovery: from a word list back to every key</a:t>
            </a:r>
          </a:p>
        </p:txBody>
      </p:sp>
      <p:sp>
        <p:nvSpPr>
          <p:cNvPr id="6" name="TextBox 5"/>
          <p:cNvSpPr txBox="1"/>
          <p:nvPr/>
        </p:nvSpPr>
        <p:spPr>
          <a:xfrm>
            <a:off x="822960" y="3657600"/>
            <a:ext cx="7498079" cy="365760"/>
          </a:xfrm>
          <a:prstGeom prst="rect">
            <a:avLst/>
          </a:prstGeom>
          <a:noFill/>
        </p:spPr>
        <p:txBody>
          <a:bodyPr wrap="square" lIns="0" rIns="0" tIns="0" bIns="0" anchor="t">
            <a:spAutoFit/>
          </a:bodyPr>
          <a:lstStyle/>
          <a:p>
            <a:pPr algn="l"/>
            <a:r>
              <a:rPr sz="1100" b="0" i="0">
                <a:solidFill>
                  <a:srgbClr val="E6EDF3"/>
                </a:solidFill>
                <a:latin typeface="Calibri"/>
              </a:rPr>
              <a:t>Python 3.14.6; every result in this deck was computed by the chapter library, not typed</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47 / 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