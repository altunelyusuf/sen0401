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gave you the node; chapter 4 gives you ownership: one secret number, the curve that hides it, and the address formats that carry it in public. The full explanation is on the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key, its public face, its travel clothes, its addresses, and the habits - every claim arrives with its receipt, and one slide is signed by Satoshi's own source comment. A question to think about is this: which part do you expect to be hardest? The full explanation is on the course page, chapter 4,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the chapter answers, from how a private key becomes a public key to where its printed statements differ from the standards and from a run of Bitcoin Core 31.1. Each is taken up in turn on the slides that follow. If you can answer them, chapter 4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of the chapter starts from a payment. Alice wants to pay Bob, but the thousands of full nodes that will verify her transaction do not know who Alice or Bob are, and the design is meant to keep it that way, to protect their privacy (Antonopoulos and Harding, 2023). The full explanation is on the course page, chapter 4, in Keys, Format and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of the chapter starts from a payment. Alice wants to pay Bob, but the thousands of full nodes that will verify her transaction do not know who Alice or Bob are, and the design is meant to keep it that way, to protect their privacy (Antonopoulos and Harding, 2023). The full explanation is on the course page, chapter 4, in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1976-11. In November 1976 two Stanford researchers published 'New Directions in Cryptography', opening with a sentence that aged well: 'We stand today on the brink of a revolution in cryptography.' Their idea - a key split into a public half and a private half, tied by a one-way computation - is the exact machinery this chapter runs: multiply a point, publish the result, keep the multiplier. The source is Diffie and Hellman, 'New Directions in Cryptography', IEEE Transactions on Information Theory 22(6), November 1976; ACM A.M. Turing Award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private key is simply a number, picked at random. Control over the private key is the root of user control over all funds associated with the corresponding public key: the key is used to create the signatures that spend bitcoins by proving control of the funds used in a transaction (Antonopoulos and Harding, 2023). A question to think about is this: why is a password a bad private key even if it is long? The full explanation is on the course page, chapter 4, in Private key and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secp256k1 identifies the specific elliptic curve and the set of constants that Bitcoin uses. The curve is y squared = x cubed + 7 over a finite field of prime order p, with p = 2 to the 256 minus 2 to the 32 minus 2 to the 9 minus 2 to the 8 minus 2 to the 7 minus 2 to the 6 minus 2 to the 4 minus 1 (Antonopoulos and Harding, 2023). The full explanation is on the course page, chapter 4, in Secp256k1 and Generator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Elliptic curve multiplication takes a point P and a whole number k and produces kP, which is defined as P + P + P + ... + P with k terms. A question to think about is this: where exactly does 'easy forward, hard backward' live in these 13 lines? The full explanation is on the course page, chapter 4, in Point multiplication and Discrete logarithm.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signature is a number that a signer computes from a message and from a private key. Anyone who has the message, the signature and the matching public key can verify the signature, that is, can check that it was produced by the holder of the private key and that the message has not been altered since. A question to think about is this: what would 'showing the key' even mean here? The full explanation is on the course page, chapter 4, in Digital signature and Key control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is about writing the same information down in different ways. A private key, a public key and a hash commitment are all numbers, and a number can be shown in binary, in hexadecimal, in a compact alphabet with a built-in checksum, or in a two-dimensional barcode. The full explanation is on the course page, chapter 4, in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2009-2010. Open src/base58.h in the source tree this course pins and the first thing after the copyright lines - 'Copyright (c) 2009-2010 Satoshi Nakamoto' - is a design memo. Why base-58 and not base-64? The source is src/base58.h at the corpus-pinned commit 05bc2f53 of bitcoin/bitcoin: the copyright line naming Satoshi Nakamoto (2009-2010) and the 'Why base-58 instead of standard base-64' comment, quoted verbatim on the slide (MIT).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wallet import format, abbreviated WIF, is the text form in which a private key is exported from one wallet and imported into another. It is the base58check encoding of the version byte 0x80 followed by the 32-byte private key, and, for keys that produce compressed public keys, an extra byte 01 at the end (Antonopoulos and Harding, 2023). Think about this case: decode a WIF by eye: which characters can never appear? The full explanation is on the course page, chapter 4, in Wallet import format and Compressed private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checksum is a short value derived from a piece of data and attached to it. Anyone who has the data and the attached value can recompute the check and see whether they still agree; if the data was altered, they will with overwhelming probability disagree. A question to think about is this: what does the checksum NOT protect you from? The full explanation is on the course page, chapter 4, in Checksum and Base58Check.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turns the keys of the first branch into something one person can hand to another. An address is a short string that a receiver gives to a payer so that the payer's wallet can build a transaction output that only the receiver can spend. The full explanation is on the course page, chapter 4, in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 to public key hash address, abbreviated P2PKH, is the legacy address in which the output script commits to the HASH160 of the receiver's public key. The output script is OP_DUP OP_HASH160 &lt;commitment&gt; OP_EQUALVERIFY OP_CHECKSIG and the spender's input script is the signature followed by the public key (Antonopoulos and Harding, 2023). A question to think about is this: why hash the key at all? The full explanation is on the course page, chapter 4, in P2pkh address and Hash160.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since 2011; balance fetched 2026-10-06. Spell a message inside an address, append a valid checksum, and you get 1BitcoinEaterAddressDontSendf59kuE - a perfectly valid address whose matching key nobody has, because it was chosen as text, not derived from a key. People send coins to it anyway: at this build it held 13.41747849 BTC across 5,832 deposits, and not one satoshi has ever left. The source is blockstream.info API, address 1BitcoinEaterAddressDontSendf59kuE, fetched 2026-10-06 during this build: funded 1,341,747,849 sat over 5,832 outputs, spent 0 - the figures pinned in EATER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or segwit, is an upgrade that moves signatures and scripts into a separate structure called the witness, committed to blocks apart from the tree of transactions (Lombrozo et al., 2015). The witness holds the data needed to check that a transaction is valid, but not the data that decides what the transaction does. Bech32 gives these outputs an alphabet without look-alike characters, so reading an address aloud no longer invites the old mistakes. The full explanation is on the course page, chapter 4, in Segwit upgrade and Bech32Address.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detection is the property of a format that lets software notice that a string has been altered by an accident, such as a mistyped character. A question to think about is this: why does 'provably catches' beat 'has never missed so far'? The full explanation is on the course page, chapter 4, in Error detection and Bch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 to taproot, abbreviated P2TR, is the output kind of segwit version 1. For a P2TR output the witness program is a point on the secp256k1 curve. A question to think about is this: which prefix will your first wallet hand you? The full explanation is on the course page, chapter 4, in P2tr and Default address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asks what a user or a developer should do with the material of the earlier branches today. The chapter ends with advanced keys and addresses, vanity addresses and paper wallets, and it surrounds them with remarks about how practice has changed since the first Bitcoin software. The full explanation is on the course page, chapter 4,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reuse is the practice of receiving more than one payment to the same address. Because all the transactions are public, every payment to an address is visible together with every other payment to it. Think about this case: if one seed makes every address, what single thing must you back up? The full explanation is on the course page, chapter 4, in Address reuse and Deterministic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the agenda names the slides that prove each. A question to think about is this: which line would you defend first, and with which slide? The full explanation is on the course page, chapter 4,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Open the eater address tonight and watch nothing move, because that standstill is this chapter's whole lesson about commitments. Ask yourself who could explain to a parent why bc1p addresses beat old 1-addresses for reading aloud. The full explanation is on the course page, chapter 4,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you watched run. Next: the wallets that manage these keys for Alice. The full explanation is on the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www-ee.stanford.edu/~hellman/publications/24.pdf"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raw.githubusercontent.com/bitcoin/bitcoin/master/src/base58.h"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blockstream.info/address/1BitcoinEaterAddressDontSendf59kuE"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raw.githubusercontent.com/bitcoinbook/bitcoinbook/develop/ch04_keys.adoc" TargetMode="External"/><Relationship Id="rId2" Type="http://schemas.openxmlformats.org/officeDocument/2006/relationships/hyperlink" Target="https://www-ee.stanford.edu/~hellman/publications/24.pdf" TargetMode="External"/><Relationship Id="rId3" Type="http://schemas.openxmlformats.org/officeDocument/2006/relationships/hyperlink" Target="https://raw.githubusercontent.com/bitcoin/bitcoin/master/src/base58.h" TargetMode="External"/><Relationship Id="rId4" Type="http://schemas.openxmlformats.org/officeDocument/2006/relationships/hyperlink" Target="https://bips.dev/173/" TargetMode="External"/><Relationship Id="rId5" Type="http://schemas.openxmlformats.org/officeDocument/2006/relationships/hyperlink" Target="https://bips.dev/350/" TargetMode="External"/><Relationship Id="rId6" Type="http://schemas.openxmlformats.org/officeDocument/2006/relationships/hyperlink" Target="https://blockstream.info/address/1BitcoinEaterAddressDontSendf59kuE" TargetMode="External"/><Relationship Id="rId7" Type="http://schemas.openxmlformats.org/officeDocument/2006/relationships/hyperlink" Target="https://learnmeabitcoin.com/technical/keys/" TargetMode="External"/><Relationship Id="rId8" Type="http://schemas.openxmlformats.org/officeDocument/2006/relationships/hyperlink" Target="https://bitcoin.stackexchange.com" TargetMode="External"/><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4: Keys and Addresses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From a secret number to the string you can safely read out loud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4/assets/mbc3_0407.png">    </p:cNvPr>
          <p:cNvPicPr>
            <a:picLocks noChangeAspect="1"/>
          </p:cNvPicPr>
          <p:nvPr/>
        </p:nvPicPr>
        <p:blipFill>
          <a:blip r:embed="rId1"/>
          <a:srcRect l="0" r="0" t="0" b="0"/>
          <a:stretch/>
        </p:blipFill>
        <p:spPr>
          <a:xfrm>
            <a:off x="5806440" y="914400"/>
            <a:ext cx="2834640" cy="2743200"/>
          </a:xfrm>
          <a:prstGeom prst="rect">
            <a:avLst/>
          </a:prstGeom>
        </p:spPr>
      </p:pic>
      <p:sp>
        <p:nvSpPr>
          <p:cNvPr id="12" name="Text 9"/>
          <p:cNvSpPr txBox="1"/>
          <p:nvPr/>
        </p:nvSpPr>
        <p:spPr>
          <a:xfrm>
            <a:off x="5806440" y="367588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key to address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 the number, the curve, the proof  (slides 5-10)</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Formats - base58, WIF, checksums  (slides 11-14)</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Addresses - P2PKH to taproot, measured  (slides 15-20)</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Practice, summary, and resources  (slides 21-25)</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from one secret number to safe habits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private key become a public key?</a:t>
            </a:r>
            <a:endParaRPr lang="en-US" sz="12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encodings can one and the same key or commitment appear in?</a:t>
            </a:r>
            <a:endParaRPr lang="en-US" sz="12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output script does each kind of address stand for?</a:t>
            </a:r>
            <a:endParaRPr lang="en-US" sz="12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does the checksum of each address format guarantee?</a:t>
            </a:r>
            <a:endParaRPr lang="en-US" sz="12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statements and numbers of the 3rd edition's chapter 4 differ from the primary standards and from a run of Bitcoin Core 31.1?</a:t>
            </a:r>
            <a:endParaRPr lang="en-US" sz="12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4 is yours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4</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Keys</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Key Pair  ·  Random Source  ·  Curve  ·  Hashing</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Representation  ·  Key Encoding  ·  Checksummed</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Address</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Scripts  ·  Legacy  ·  Segwit</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Modern  ·  Assurance</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Identifiers</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Keys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number, a curve, and a one-way multiplication</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Private key</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curve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Public key</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 by signature</a:t>
            </a:r>
            <a:endParaRPr lang="en-US" sz="1400" dirty="0"/>
          </a:p>
        </p:txBody>
      </p:sp>
      <p:pic>
        <p:nvPicPr>
          <p:cNvPr id="14" name="Image 0" descr="../../03-materials/ch04/assets/mbc3_0402.png">    </p:cNvPr>
          <p:cNvPicPr>
            <a:picLocks noChangeAspect="1"/>
          </p:cNvPicPr>
          <p:nvPr/>
        </p:nvPicPr>
        <p:blipFill>
          <a:blip r:embed="rId1"/>
          <a:srcRect l="0" r="0" t="0" b="0"/>
          <a:stretch/>
        </p:blipFill>
        <p:spPr>
          <a:xfrm>
            <a:off x="5943600" y="1691640"/>
            <a:ext cx="2651760" cy="2651760"/>
          </a:xfrm>
          <a:prstGeom prst="rect">
            <a:avLst/>
          </a:prstGeom>
        </p:spPr>
      </p:pic>
      <p:sp>
        <p:nvSpPr>
          <p:cNvPr id="15" name="Text 12"/>
          <p:cNvSpPr txBox="1"/>
          <p:nvPr/>
        </p:nvSpPr>
        <p:spPr>
          <a:xfrm>
            <a:off x="5943600" y="436168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curve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1976 paper that split the key in two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1976-11</a:t>
            </a:r>
            <a:endParaRPr lang="en-US" sz="1300" dirty="0"/>
          </a:p>
        </p:txBody>
      </p:sp>
      <p:pic>
        <p:nvPicPr>
          <p:cNvPr id="6" name="Image 0" descr="../../03-materials/ch04/assets/photo_diffie_hellman.jpg">    </p:cNvPr>
          <p:cNvPicPr>
            <a:picLocks noChangeAspect="1"/>
          </p:cNvPicPr>
          <p:nvPr/>
        </p:nvPicPr>
        <p:blipFill>
          <a:blip r:embed="rId1"/>
          <a:srcRect l="0" r="0" t="0" b="0"/>
          <a:stretch/>
        </p:blipFill>
        <p:spPr>
          <a:xfrm>
            <a:off x="457200" y="1371600"/>
            <a:ext cx="2926080" cy="1920240"/>
          </a:xfrm>
          <a:prstGeom prst="rect">
            <a:avLst/>
          </a:prstGeom>
        </p:spPr>
      </p:pic>
      <p:sp>
        <p:nvSpPr>
          <p:cNvPr id="7" name="Text 4"/>
          <p:cNvSpPr txBox="1"/>
          <p:nvPr/>
        </p:nvSpPr>
        <p:spPr>
          <a:xfrm>
            <a:off x="457200" y="331012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Diffie and Hellman - Wikimedia Commons, CC BY-SA 3.0</a:t>
            </a:r>
            <a:endParaRPr lang="en-US" sz="900" dirty="0"/>
          </a:p>
        </p:txBody>
      </p:sp>
      <p:sp>
        <p:nvSpPr>
          <p:cNvPr id="8" name="Shape 5"/>
          <p:cNvSpPr/>
          <p:nvPr/>
        </p:nvSpPr>
        <p:spPr>
          <a:xfrm>
            <a:off x="374904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37160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'We stand today on the brink of a revolution in cryptography'</a:t>
            </a:r>
            <a:endParaRPr lang="en-US" sz="1300" dirty="0"/>
          </a:p>
        </p:txBody>
      </p:sp>
      <p:sp>
        <p:nvSpPr>
          <p:cNvPr id="10" name="Shape 7"/>
          <p:cNvSpPr/>
          <p:nvPr/>
        </p:nvSpPr>
        <p:spPr>
          <a:xfrm>
            <a:off x="374904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key splits in two: publish one half, keep the other</a:t>
            </a:r>
            <a:endParaRPr lang="en-US" sz="1300" dirty="0"/>
          </a:p>
        </p:txBody>
      </p:sp>
      <p:sp>
        <p:nvSpPr>
          <p:cNvPr id="12" name="Shape 9"/>
          <p:cNvSpPr/>
          <p:nvPr/>
        </p:nvSpPr>
        <p:spPr>
          <a:xfrm>
            <a:off x="374904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42316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Tied by a computation easy forward, infeasible backward</a:t>
            </a:r>
            <a:endParaRPr lang="en-US" sz="1300" dirty="0"/>
          </a:p>
        </p:txBody>
      </p:sp>
      <p:sp>
        <p:nvSpPr>
          <p:cNvPr id="14" name="Shape 11"/>
          <p:cNvSpPr/>
          <p:nvPr/>
        </p:nvSpPr>
        <p:spPr>
          <a:xfrm>
            <a:off x="374904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294894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Turing Award, 2015 - this chapter runs their idea</a:t>
            </a:r>
            <a:endParaRPr lang="en-US" sz="1300" dirty="0"/>
          </a:p>
        </p:txBody>
      </p:sp>
      <p:sp>
        <p:nvSpPr>
          <p:cNvPr id="16" name="Shape 13"/>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Whitfield Diffie and Mar…</a:t>
            </a:r>
            <a:endParaRPr lang="en-US" sz="750" dirty="0"/>
          </a:p>
        </p:txBody>
      </p:sp>
      <p:sp>
        <p:nvSpPr>
          <p:cNvPr id="18" name="Shape 15"/>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IEEE Transactions on I…</a:t>
            </a:r>
            <a:endParaRPr lang="en-US" sz="750" dirty="0"/>
          </a:p>
        </p:txBody>
      </p:sp>
      <p:sp>
        <p:nvSpPr>
          <p:cNvPr id="20" name="Shape 17"/>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1976-11</a:t>
            </a:r>
            <a:endParaRPr lang="en-US" sz="750" dirty="0"/>
          </a:p>
        </p:txBody>
      </p:sp>
      <p:sp>
        <p:nvSpPr>
          <p:cNvPr id="22" name="Shape 19"/>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Diffie, Hellman: New Directions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www-ee.stanford.edu</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Public and private halves - one 1976 idea under every address</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private key is just a number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Any 256-bit number - and the run shows the edges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Pick a number below the curve order n - that is the whole secret</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256 bits of honest randomness; dice work, habits do not</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too large and the arithmetic itself refuses</a:t>
            </a:r>
            <a:endParaRPr lang="en-US" sz="1050" dirty="0"/>
          </a:p>
        </p:txBody>
      </p:sp>
      <p:sp>
        <p:nvSpPr>
          <p:cNvPr id="15" name="Text 13"/>
          <p:cNvSpPr txBox="1"/>
          <p:nvPr/>
        </p:nvSpPr>
        <p:spPr>
          <a:xfrm>
            <a:off x="3931920" y="1188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edges, probed - the error is real</a:t>
            </a:r>
            <a:endParaRPr lang="en-US" sz="1150" dirty="0"/>
          </a:p>
        </p:txBody>
      </p:sp>
      <p:sp>
        <p:nvSpPr>
          <p:cNvPr id="16" name="Shape 14"/>
          <p:cNvSpPr/>
          <p:nvPr/>
        </p:nvSpPr>
        <p:spPr>
          <a:xfrm>
            <a:off x="3931920" y="1463040"/>
            <a:ext cx="4754880" cy="1371600"/>
          </a:xfrm>
          <a:prstGeom prst="roundRect">
            <a:avLst>
              <a:gd name="adj" fmla="val 6667"/>
            </a:avLst>
          </a:prstGeom>
          <a:solidFill>
            <a:srgbClr val="23272E"/>
          </a:solidFill>
          <a:ln w="12700">
            <a:solidFill>
              <a:srgbClr val="23272E"/>
            </a:solidFill>
            <a:prstDash val="solid"/>
          </a:ln>
        </p:spPr>
      </p:sp>
      <p:sp>
        <p:nvSpPr>
          <p:cNvPr id="17" name="Text 15"/>
          <p:cNvSpPr txBox="1"/>
          <p:nvPr/>
        </p:nvSpPr>
        <p:spPr>
          <a:xfrm>
            <a:off x="4114800" y="1581912"/>
            <a:ext cx="438912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 N</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432420386565659656852420866394968145599</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&lt; k &lt; N</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).to_bytes(</a:t>
            </a:r>
            <a:r>
              <a:rPr lang="en-US" sz="950" dirty="0">
                <a:solidFill>
                  <a:srgbClr val="FFD28A"/>
                </a:solidFill>
                <a:latin typeface="Courier New" pitchFamily="34" charset="0"/>
                <a:ea typeface="Courier New" pitchFamily="34" charset="-122"/>
                <a:cs typeface="Courier New" pitchFamily="34" charset="-120"/>
              </a:rPr>
              <a:t>32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'big'</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OverflowError: int too big to convert</a:t>
            </a:r>
            <a:endParaRPr lang="en-US" sz="950" dirty="0"/>
          </a:p>
        </p:txBody>
      </p:sp>
      <p:sp>
        <p:nvSpPr>
          <p:cNvPr id="18" name="Text 16"/>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3931920" y="288036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how big 2^256 - 1 is</a:t>
            </a:r>
            <a:endParaRPr lang="en-US" sz="1150" dirty="0"/>
          </a:p>
        </p:txBody>
      </p:sp>
      <p:sp>
        <p:nvSpPr>
          <p:cNvPr id="20" name="Shape 18"/>
          <p:cNvSpPr/>
          <p:nvPr/>
        </p:nvSpPr>
        <p:spPr>
          <a:xfrm>
            <a:off x="3931920" y="3154680"/>
            <a:ext cx="4754880" cy="1005840"/>
          </a:xfrm>
          <a:prstGeom prst="roundRect">
            <a:avLst>
              <a:gd name="adj" fmla="val 9091"/>
            </a:avLst>
          </a:prstGeom>
          <a:solidFill>
            <a:srgbClr val="23272E"/>
          </a:solidFill>
          <a:ln w="12700">
            <a:solidFill>
              <a:srgbClr val="23272E"/>
            </a:solidFill>
            <a:prstDash val="solid"/>
          </a:ln>
        </p:spPr>
      </p:sp>
      <p:sp>
        <p:nvSpPr>
          <p:cNvPr id="21" name="Text 19"/>
          <p:cNvSpPr txBox="1"/>
          <p:nvPr/>
        </p:nvSpPr>
        <p:spPr>
          <a:xfrm>
            <a:off x="4114800" y="3273552"/>
            <a:ext cx="438912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round(math.log10(</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77.06</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).bit_length()</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256</a:t>
            </a:r>
            <a:endParaRPr lang="en-US" sz="950" dirty="0"/>
          </a:p>
        </p:txBody>
      </p:sp>
      <p:sp>
        <p:nvSpPr>
          <p:cNvPr id="22" name="Text 20"/>
          <p:cNvSpPr txBox="1"/>
          <p:nvPr/>
        </p:nvSpPr>
        <p:spPr>
          <a:xfrm>
            <a:off x="7040880" y="28803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256-bit number - the hard part is choosing it unpredictably</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curve everyone agreed 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secp256k1 - checked live, not taken on faith</a:t>
            </a:r>
            <a:endParaRPr lang="en-US" sz="1300" dirty="0"/>
          </a:p>
        </p:txBody>
      </p:sp>
      <p:pic>
        <p:nvPicPr>
          <p:cNvPr id="6" name="Image 0" descr="../../03-materials/ch04/assets/mbc3_0404.png">    </p:cNvPr>
          <p:cNvPicPr>
            <a:picLocks noChangeAspect="1"/>
          </p:cNvPicPr>
          <p:nvPr/>
        </p:nvPicPr>
        <p:blipFill>
          <a:blip r:embed="rId1"/>
          <a:srcRect l="0" r="0" t="0" b="0"/>
          <a:stretch/>
        </p:blipFill>
        <p:spPr>
          <a:xfrm>
            <a:off x="457200" y="1371600"/>
            <a:ext cx="2651760" cy="2651760"/>
          </a:xfrm>
          <a:prstGeom prst="rect">
            <a:avLst/>
          </a:prstGeom>
        </p:spPr>
      </p:pic>
      <p:sp>
        <p:nvSpPr>
          <p:cNvPr id="7" name="Text 4"/>
          <p:cNvSpPr txBox="1"/>
          <p:nvPr/>
        </p:nvSpPr>
        <p:spPr>
          <a:xfrm>
            <a:off x="457200" y="404164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point addition - Mastering Bitcoin 3e, CC BY-SA</a:t>
            </a:r>
            <a:endParaRPr lang="en-US" sz="900" dirty="0"/>
          </a:p>
        </p:txBody>
      </p:sp>
      <p:sp>
        <p:nvSpPr>
          <p:cNvPr id="8" name="Text 5"/>
          <p:cNvSpPr txBox="1"/>
          <p:nvPr/>
        </p:nvSpPr>
        <p:spPr>
          <a:xfrm>
            <a:off x="3429000" y="1143000"/>
            <a:ext cx="3520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two primes, re-tested in the build</a:t>
            </a:r>
            <a:endParaRPr lang="en-US" sz="1150" dirty="0"/>
          </a:p>
        </p:txBody>
      </p:sp>
      <p:sp>
        <p:nvSpPr>
          <p:cNvPr id="9" name="Shape 6"/>
          <p:cNvSpPr/>
          <p:nvPr/>
        </p:nvSpPr>
        <p:spPr>
          <a:xfrm>
            <a:off x="3429000" y="1417320"/>
            <a:ext cx="5257800" cy="1325880"/>
          </a:xfrm>
          <a:prstGeom prst="roundRect">
            <a:avLst>
              <a:gd name="adj" fmla="val 6897"/>
            </a:avLst>
          </a:prstGeom>
          <a:solidFill>
            <a:srgbClr val="23272E"/>
          </a:solidFill>
          <a:ln w="12700">
            <a:solidFill>
              <a:srgbClr val="23272E"/>
            </a:solidFill>
            <a:prstDash val="solid"/>
          </a:ln>
        </p:spPr>
      </p:sp>
      <p:sp>
        <p:nvSpPr>
          <p:cNvPr id="10" name="Text 7"/>
          <p:cNvSpPr txBox="1"/>
          <p:nvPr/>
        </p:nvSpPr>
        <p:spPr>
          <a:xfrm>
            <a:off x="3611880" y="1536192"/>
            <a:ext cx="4892040" cy="10881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256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32</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977</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256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32</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9</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7</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4</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is_probable_prime(P), is_probable_prime(N)</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p:txBody>
      </p:sp>
      <p:sp>
        <p:nvSpPr>
          <p:cNvPr id="11" name="Text 8"/>
          <p:cNvSpPr txBox="1"/>
          <p:nvPr/>
        </p:nvSpPr>
        <p:spPr>
          <a:xfrm>
            <a:off x="7040880" y="11430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3429000" y="2834640"/>
            <a:ext cx="3520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G generates; after n steps the cycle closes</a:t>
            </a:r>
            <a:endParaRPr lang="en-US" sz="1150" dirty="0"/>
          </a:p>
        </p:txBody>
      </p:sp>
      <p:sp>
        <p:nvSpPr>
          <p:cNvPr id="13" name="Shape 10"/>
          <p:cNvSpPr/>
          <p:nvPr/>
        </p:nvSpPr>
        <p:spPr>
          <a:xfrm>
            <a:off x="3429000" y="3108960"/>
            <a:ext cx="5257800" cy="1188720"/>
          </a:xfrm>
          <a:prstGeom prst="roundRect">
            <a:avLst>
              <a:gd name="adj" fmla="val 7692"/>
            </a:avLst>
          </a:prstGeom>
          <a:solidFill>
            <a:srgbClr val="23272E"/>
          </a:solidFill>
          <a:ln w="12700">
            <a:solidFill>
              <a:srgbClr val="23272E"/>
            </a:solidFill>
            <a:prstDash val="solid"/>
          </a:ln>
        </p:spPr>
      </p:sp>
      <p:sp>
        <p:nvSpPr>
          <p:cNvPr id="14" name="Text 11"/>
          <p:cNvSpPr txBox="1"/>
          <p:nvPr/>
        </p:nvSpPr>
        <p:spPr>
          <a:xfrm>
            <a:off x="3611880" y="3227832"/>
            <a:ext cx="48920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pub_bytes(G).hex()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'0279be667ef9dcbbac55a06295ce870b07029bfcdb2dce28d959f2815b16f81798'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ec_add(ec_mul(N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G) is </a:t>
            </a:r>
            <a:r>
              <a:rPr lang="en-US" sz="900" b="1" dirty="0">
                <a:solidFill>
                  <a:srgbClr val="F2A860"/>
                </a:solidFill>
                <a:latin typeface="Courier New" pitchFamily="34" charset="0"/>
                <a:ea typeface="Courier New" pitchFamily="34" charset="-122"/>
                <a:cs typeface="Courier New" pitchFamily="34" charset="-120"/>
              </a:rPr>
              <a:t>None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5" name="Text 12"/>
          <p:cNvSpPr txBox="1"/>
          <p:nvPr/>
        </p:nvSpPr>
        <p:spPr>
          <a:xfrm>
            <a:off x="7040880" y="28346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secp256k1: two primes, one base point, shared by all</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Double-and-add: the one-way street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exact code that computed every key on these slides</a:t>
            </a:r>
            <a:endParaRPr lang="en-US" sz="1300" dirty="0"/>
          </a:p>
        </p:txBody>
      </p:sp>
      <p:sp>
        <p:nvSpPr>
          <p:cNvPr id="6" name="Shape 4"/>
          <p:cNvSpPr/>
          <p:nvPr/>
        </p:nvSpPr>
        <p:spPr>
          <a:xfrm>
            <a:off x="457200" y="1371600"/>
            <a:ext cx="6126480" cy="2103120"/>
          </a:xfrm>
          <a:prstGeom prst="roundRect">
            <a:avLst>
              <a:gd name="adj" fmla="val 4348"/>
            </a:avLst>
          </a:prstGeom>
          <a:solidFill>
            <a:srgbClr val="23272E"/>
          </a:solidFill>
          <a:ln w="12700">
            <a:solidFill>
              <a:srgbClr val="23272E"/>
            </a:solidFill>
            <a:prstDash val="solid"/>
          </a:ln>
        </p:spPr>
      </p:sp>
      <p:sp>
        <p:nvSpPr>
          <p:cNvPr id="7" name="Text 5"/>
          <p:cNvSpPr txBox="1"/>
          <p:nvPr/>
        </p:nvSpPr>
        <p:spPr>
          <a:xfrm>
            <a:off x="640080" y="1490472"/>
            <a:ext cx="5760720" cy="166420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ec_add(a,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a is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b is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P ==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 =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pow(</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a == b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pow(b[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P)) %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x = (m * m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(x, (m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x) -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P)</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ec_mul(k, pt=G):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out = </a:t>
            </a: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k &amp;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out = ec_add(out, pt)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pt = ec_add(pt, pt); k &gt;&gt;=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out</a:t>
            </a:r>
            <a:endParaRPr lang="en-US" sz="700" dirty="0"/>
          </a:p>
        </p:txBody>
      </p:sp>
      <p:sp>
        <p:nvSpPr>
          <p:cNvPr id="8" name="Text 6"/>
          <p:cNvSpPr txBox="1"/>
          <p:nvPr/>
        </p:nvSpPr>
        <p:spPr>
          <a:xfrm>
            <a:off x="640080" y="3236976"/>
            <a:ext cx="576072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sen0401_ch04_keys - the deck_check gate requires this source, verbatim</a:t>
            </a:r>
            <a:endParaRPr lang="en-US" sz="800" dirty="0"/>
          </a:p>
        </p:txBody>
      </p:sp>
      <p:sp>
        <p:nvSpPr>
          <p:cNvPr id="9" name="Shape 7"/>
          <p:cNvSpPr/>
          <p:nvPr/>
        </p:nvSpPr>
        <p:spPr>
          <a:xfrm>
            <a:off x="6812280" y="1417320"/>
            <a:ext cx="1874520" cy="1056132"/>
          </a:xfrm>
          <a:prstGeom prst="roundRect">
            <a:avLst>
              <a:gd name="adj" fmla="val 6926"/>
            </a:avLst>
          </a:prstGeom>
          <a:solidFill>
            <a:srgbClr val="F2ECE1"/>
          </a:solidFill>
          <a:ln w="12700">
            <a:solidFill>
              <a:srgbClr val="DFD6C7"/>
            </a:solidFill>
            <a:prstDash val="solid"/>
          </a:ln>
        </p:spPr>
      </p:sp>
      <p:sp>
        <p:nvSpPr>
          <p:cNvPr id="10" name="Text 8"/>
          <p:cNvSpPr txBox="1"/>
          <p:nvPr/>
        </p:nvSpPr>
        <p:spPr>
          <a:xfrm>
            <a:off x="6922008" y="1453896"/>
            <a:ext cx="1655064" cy="512613"/>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256</a:t>
            </a:r>
            <a:endParaRPr lang="en-US" sz="2600" dirty="0"/>
          </a:p>
        </p:txBody>
      </p:sp>
      <p:sp>
        <p:nvSpPr>
          <p:cNvPr id="11" name="Text 9"/>
          <p:cNvSpPr txBox="1"/>
          <p:nvPr/>
        </p:nvSpPr>
        <p:spPr>
          <a:xfrm>
            <a:off x="6922008" y="1966509"/>
            <a:ext cx="1655064" cy="46469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doublings to walk k*G</a:t>
            </a:r>
            <a:endParaRPr lang="en-US" sz="1100" dirty="0"/>
          </a:p>
        </p:txBody>
      </p:sp>
      <p:sp>
        <p:nvSpPr>
          <p:cNvPr id="12" name="Shape 10"/>
          <p:cNvSpPr/>
          <p:nvPr/>
        </p:nvSpPr>
        <p:spPr>
          <a:xfrm>
            <a:off x="6812280" y="2601468"/>
            <a:ext cx="1874520" cy="1056132"/>
          </a:xfrm>
          <a:prstGeom prst="roundRect">
            <a:avLst>
              <a:gd name="adj" fmla="val 6926"/>
            </a:avLst>
          </a:prstGeom>
          <a:solidFill>
            <a:srgbClr val="F2ECE1"/>
          </a:solidFill>
          <a:ln w="12700">
            <a:solidFill>
              <a:srgbClr val="DFD6C7"/>
            </a:solidFill>
            <a:prstDash val="solid"/>
          </a:ln>
        </p:spPr>
      </p:sp>
      <p:sp>
        <p:nvSpPr>
          <p:cNvPr id="13" name="Text 11"/>
          <p:cNvSpPr txBox="1"/>
          <p:nvPr/>
        </p:nvSpPr>
        <p:spPr>
          <a:xfrm>
            <a:off x="6922008" y="2638044"/>
            <a:ext cx="1655064" cy="512613"/>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~2^128</a:t>
            </a:r>
            <a:endParaRPr lang="en-US" sz="2600" dirty="0"/>
          </a:p>
        </p:txBody>
      </p:sp>
      <p:sp>
        <p:nvSpPr>
          <p:cNvPr id="14" name="Text 12"/>
          <p:cNvSpPr txBox="1"/>
          <p:nvPr/>
        </p:nvSpPr>
        <p:spPr>
          <a:xfrm>
            <a:off x="6922008" y="3150657"/>
            <a:ext cx="1655064" cy="46469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work to walk back (best known)</a:t>
            </a:r>
            <a:endParaRPr lang="en-US" sz="1100" dirty="0"/>
          </a:p>
        </p:txBody>
      </p:sp>
      <p:sp>
        <p:nvSpPr>
          <p:cNvPr id="15" name="Text 13"/>
          <p:cNvSpPr txBox="1"/>
          <p:nvPr/>
        </p:nvSpPr>
        <p:spPr>
          <a:xfrm>
            <a:off x="457200" y="3456432"/>
            <a:ext cx="43891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3G = G+G+G - the homework check</a:t>
            </a:r>
            <a:endParaRPr lang="en-US" sz="1150" dirty="0"/>
          </a:p>
        </p:txBody>
      </p:sp>
      <p:sp>
        <p:nvSpPr>
          <p:cNvPr id="16" name="Shape 14"/>
          <p:cNvSpPr/>
          <p:nvPr/>
        </p:nvSpPr>
        <p:spPr>
          <a:xfrm>
            <a:off x="457200" y="3730752"/>
            <a:ext cx="6126480" cy="804672"/>
          </a:xfrm>
          <a:prstGeom prst="roundRect">
            <a:avLst>
              <a:gd name="adj" fmla="val 11364"/>
            </a:avLst>
          </a:prstGeom>
          <a:solidFill>
            <a:srgbClr val="23272E"/>
          </a:solidFill>
          <a:ln w="12700">
            <a:solidFill>
              <a:srgbClr val="23272E"/>
            </a:solidFill>
            <a:prstDash val="solid"/>
          </a:ln>
        </p:spPr>
      </p:sp>
      <p:sp>
        <p:nvSpPr>
          <p:cNvPr id="17" name="Text 15"/>
          <p:cNvSpPr txBox="1"/>
          <p:nvPr/>
        </p:nvSpPr>
        <p:spPr>
          <a:xfrm>
            <a:off x="640080" y="3849624"/>
            <a:ext cx="5760720" cy="5669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(k.bit_length() - </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 bin(k).count(</a:t>
            </a:r>
            <a:r>
              <a:rPr lang="en-US" sz="800" dirty="0">
                <a:solidFill>
                  <a:srgbClr val="9ECBFF"/>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(252, 123)</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ec_mul(</a:t>
            </a:r>
            <a:r>
              <a:rPr lang="en-US" sz="800" dirty="0">
                <a:solidFill>
                  <a:srgbClr val="FFD28A"/>
                </a:solidFill>
                <a:latin typeface="Courier New" pitchFamily="34" charset="0"/>
                <a:ea typeface="Courier New" pitchFamily="34" charset="-122"/>
                <a:cs typeface="Courier New" pitchFamily="34" charset="-120"/>
              </a:rPr>
              <a:t>3</a:t>
            </a:r>
            <a:r>
              <a:rPr lang="en-US" sz="800" dirty="0">
                <a:solidFill>
                  <a:srgbClr val="E6EDF3"/>
                </a:solidFill>
                <a:latin typeface="Courier New" pitchFamily="34" charset="0"/>
                <a:ea typeface="Courier New" pitchFamily="34" charset="-122"/>
                <a:cs typeface="Courier New" pitchFamily="34" charset="-120"/>
              </a:rPr>
              <a:t>) == ec_add(ec_add(G, G), G)</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p:txBody>
      </p:sp>
      <p:sp>
        <p:nvSpPr>
          <p:cNvPr id="18" name="Text 16"/>
          <p:cNvSpPr txBox="1"/>
          <p:nvPr/>
        </p:nvSpPr>
        <p:spPr>
          <a:xfrm>
            <a:off x="4937760" y="345643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256 doublings forward - and no known road back</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Prove the key without showing 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Chapter 1's house-key analogy, now executable</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signature answers a challenge using k, revealing only K; verify needs the public half alone</a:t>
            </a:r>
            <a:endParaRPr lang="en-US" sz="95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wrong key fails - the run shows both verdicts</a:t>
            </a:r>
            <a:endParaRPr lang="en-US" sz="950" dirty="0"/>
          </a:p>
        </p:txBody>
      </p:sp>
      <p:sp>
        <p:nvSpPr>
          <p:cNvPr id="10" name="Text 8"/>
          <p:cNvSpPr txBox="1"/>
          <p:nvPr/>
        </p:nvSpPr>
        <p:spPr>
          <a:xfrm>
            <a:off x="457200" y="21031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sign, verify, then try the neighbour's key</a:t>
            </a:r>
            <a:endParaRPr lang="en-US" sz="1150" dirty="0"/>
          </a:p>
        </p:txBody>
      </p:sp>
      <p:sp>
        <p:nvSpPr>
          <p:cNvPr id="11" name="Shape 9"/>
          <p:cNvSpPr/>
          <p:nvPr/>
        </p:nvSpPr>
        <p:spPr>
          <a:xfrm>
            <a:off x="457200" y="2377440"/>
            <a:ext cx="8229600" cy="1234440"/>
          </a:xfrm>
          <a:prstGeom prst="roundRect">
            <a:avLst>
              <a:gd name="adj" fmla="val 7407"/>
            </a:avLst>
          </a:prstGeom>
          <a:solidFill>
            <a:srgbClr val="23272E"/>
          </a:solidFill>
          <a:ln w="12700">
            <a:solidFill>
              <a:srgbClr val="23272E"/>
            </a:solidFill>
            <a:prstDash val="solid"/>
          </a:ln>
        </p:spPr>
      </p:sp>
      <p:sp>
        <p:nvSpPr>
          <p:cNvPr id="12" name="Text 10"/>
          <p:cNvSpPr txBox="1"/>
          <p:nvPr/>
        </p:nvSpPr>
        <p:spPr>
          <a:xfrm>
            <a:off x="640080" y="2496312"/>
            <a:ext cx="7863840" cy="9966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challenge = int.from_bytes(hashlib.sha256(b</a:t>
            </a:r>
            <a:r>
              <a:rPr lang="en-US" sz="900" dirty="0">
                <a:solidFill>
                  <a:srgbClr val="9ECBFF"/>
                </a:solidFill>
                <a:latin typeface="Courier New" pitchFamily="34" charset="0"/>
                <a:ea typeface="Courier New" pitchFamily="34" charset="-122"/>
                <a:cs typeface="Courier New" pitchFamily="34" charset="-120"/>
              </a:rPr>
              <a:t>'a fresh challenge'</a:t>
            </a:r>
            <a:r>
              <a:rPr lang="en-US" sz="900" dirty="0">
                <a:solidFill>
                  <a:srgbClr val="E6EDF3"/>
                </a:solidFill>
                <a:latin typeface="Courier New" pitchFamily="34" charset="0"/>
                <a:ea typeface="Courier New" pitchFamily="34" charset="-122"/>
                <a:cs typeface="Courier New" pitchFamily="34" charset="-120"/>
              </a:rPr>
              <a:t>).digest(), </a:t>
            </a:r>
            <a:r>
              <a:rPr lang="en-US" sz="900" dirty="0">
                <a:solidFill>
                  <a:srgbClr val="9ECBFF"/>
                </a:solidFill>
                <a:latin typeface="Courier New" pitchFamily="34" charset="0"/>
                <a:ea typeface="Courier New" pitchFamily="34" charset="-122"/>
                <a:cs typeface="Courier New" pitchFamily="34" charset="-120"/>
              </a:rPr>
              <a:t>'big'</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sig = ecdsa_sign(k, challenge, 0x27182818284590452353602874713526)</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ecdsa_verify(K, challenge, sig)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ecdsa_verify(ec_mul(k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challenge, sig)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a:t>
            </a:r>
            <a:endParaRPr lang="en-US" sz="900" dirty="0"/>
          </a:p>
        </p:txBody>
      </p:sp>
      <p:sp>
        <p:nvSpPr>
          <p:cNvPr id="13" name="Text 11"/>
          <p:cNvSpPr txBox="1"/>
          <p:nvPr/>
        </p:nvSpPr>
        <p:spPr>
          <a:xfrm>
            <a:off x="7040880" y="21031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703320"/>
            <a:ext cx="2224278" cy="3063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703320"/>
            <a:ext cx="2224278" cy="3063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car key: opens</a:t>
            </a:r>
            <a:endParaRPr lang="en-US" sz="1250" dirty="0"/>
          </a:p>
        </p:txBody>
      </p:sp>
      <p:sp>
        <p:nvSpPr>
          <p:cNvPr id="16" name="Shape 14"/>
          <p:cNvSpPr/>
          <p:nvPr/>
        </p:nvSpPr>
        <p:spPr>
          <a:xfrm>
            <a:off x="2882646" y="3703320"/>
            <a:ext cx="2750058" cy="3063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882646" y="3703320"/>
            <a:ext cx="2750058" cy="3063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house deed: proves</a:t>
            </a:r>
            <a:endParaRPr lang="en-US" sz="1250" dirty="0"/>
          </a:p>
        </p:txBody>
      </p:sp>
      <p:sp>
        <p:nvSpPr>
          <p:cNvPr id="18" name="Shape 16"/>
          <p:cNvSpPr/>
          <p:nvPr/>
        </p:nvSpPr>
        <p:spPr>
          <a:xfrm>
            <a:off x="457200" y="4082796"/>
            <a:ext cx="5116068" cy="3063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082796"/>
            <a:ext cx="5116068" cy="3063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bitcoin key: both - so never show it</a:t>
            </a:r>
            <a:endParaRPr lang="en-US" sz="12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Chapter 1's house key, kept honest: sign, never reveal</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Formats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same numbers, dressed to travel</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Base58Check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WIF</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Compression</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Checksums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Why 58? Satoshi left the reasons in the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2009-2010</a:t>
            </a:r>
            <a:endParaRPr lang="en-US" sz="1300" dirty="0"/>
          </a:p>
        </p:txBody>
      </p:sp>
      <p:sp>
        <p:nvSpPr>
          <p:cNvPr id="6" name="Shape 4"/>
          <p:cNvSpPr/>
          <p:nvPr/>
        </p:nvSpPr>
        <p:spPr>
          <a:xfrm>
            <a:off x="457200" y="1371600"/>
            <a:ext cx="8229600" cy="1600200"/>
          </a:xfrm>
          <a:prstGeom prst="roundRect">
            <a:avLst>
              <a:gd name="adj" fmla="val 5714"/>
            </a:avLst>
          </a:prstGeom>
          <a:solidFill>
            <a:srgbClr val="23272E"/>
          </a:solidFill>
          <a:ln w="12700">
            <a:solidFill>
              <a:srgbClr val="23272E"/>
            </a:solidFill>
            <a:prstDash val="solid"/>
          </a:ln>
        </p:spPr>
      </p:sp>
      <p:sp>
        <p:nvSpPr>
          <p:cNvPr id="7" name="Text 5"/>
          <p:cNvSpPr txBox="1"/>
          <p:nvPr/>
        </p:nvSpPr>
        <p:spPr>
          <a:xfrm>
            <a:off x="640080" y="1490472"/>
            <a:ext cx="7863840" cy="1161288"/>
          </a:xfrm>
          <a:prstGeom prst="rect">
            <a:avLst/>
          </a:prstGeom>
          <a:noFill/>
          <a:ln/>
        </p:spPr>
        <p:txBody>
          <a:bodyPr wrap="square" lIns="0" tIns="0" rIns="0" bIns="0" rtlCol="0" anchor="t"/>
          <a:lstStyle/>
          <a:p>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Why base-</a:t>
            </a:r>
            <a:r>
              <a:rPr lang="en-US" sz="850" dirty="0">
                <a:solidFill>
                  <a:srgbClr val="FFD28A"/>
                </a:solidFill>
                <a:latin typeface="Courier New" pitchFamily="34" charset="0"/>
                <a:ea typeface="Courier New" pitchFamily="34" charset="-122"/>
                <a:cs typeface="Courier New" pitchFamily="34" charset="-120"/>
              </a:rPr>
              <a:t>58</a:t>
            </a:r>
            <a:r>
              <a:rPr lang="en-US" sz="850" dirty="0">
                <a:solidFill>
                  <a:srgbClr val="E6EDF3"/>
                </a:solidFill>
                <a:latin typeface="Courier New" pitchFamily="34" charset="0"/>
                <a:ea typeface="Courier New" pitchFamily="34" charset="-122"/>
                <a:cs typeface="Courier New" pitchFamily="34" charset="-120"/>
              </a:rPr>
              <a:t> instead of standard base-</a:t>
            </a:r>
            <a:r>
              <a:rPr lang="en-US" sz="850" dirty="0">
                <a:solidFill>
                  <a:srgbClr val="FFD28A"/>
                </a:solidFill>
                <a:latin typeface="Courier New" pitchFamily="34" charset="0"/>
                <a:ea typeface="Courier New" pitchFamily="34" charset="-122"/>
                <a:cs typeface="Courier New" pitchFamily="34" charset="-120"/>
              </a:rPr>
              <a:t>64</a:t>
            </a:r>
            <a:r>
              <a:rPr lang="en-US" sz="850" dirty="0">
                <a:solidFill>
                  <a:srgbClr val="E6EDF3"/>
                </a:solidFill>
                <a:latin typeface="Courier New" pitchFamily="34" charset="0"/>
                <a:ea typeface="Courier New" pitchFamily="34" charset="-122"/>
                <a:cs typeface="Courier New" pitchFamily="34" charset="-120"/>
              </a:rPr>
              <a:t> encoding?</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Don't want 0OIl characters that look the same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some fonts </a:t>
            </a:r>
            <a:r>
              <a:rPr lang="en-US" sz="850" b="1" dirty="0">
                <a:solidFill>
                  <a:srgbClr val="F2A860"/>
                </a:solidFill>
                <a:latin typeface="Courier New" pitchFamily="34" charset="0"/>
                <a:ea typeface="Courier New" pitchFamily="34" charset="-122"/>
                <a:cs typeface="Courier New" pitchFamily="34" charset="-120"/>
              </a:rPr>
              <a:t>and</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could be used to create visually identical looking data.</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A string with non-alphanumeric characters is </a:t>
            </a:r>
            <a:r>
              <a:rPr lang="en-US" sz="850" b="1" dirty="0">
                <a:solidFill>
                  <a:srgbClr val="F2A860"/>
                </a:solidFill>
                <a:latin typeface="Courier New" pitchFamily="34" charset="0"/>
                <a:ea typeface="Courier New" pitchFamily="34" charset="-122"/>
                <a:cs typeface="Courier New" pitchFamily="34" charset="-120"/>
              </a:rPr>
              <a:t>not</a:t>
            </a:r>
            <a:r>
              <a:rPr lang="en-US" sz="850" dirty="0">
                <a:solidFill>
                  <a:srgbClr val="E6EDF3"/>
                </a:solidFill>
                <a:latin typeface="Courier New" pitchFamily="34" charset="0"/>
                <a:ea typeface="Courier New" pitchFamily="34" charset="-122"/>
                <a:cs typeface="Courier New" pitchFamily="34" charset="-120"/>
              </a:rPr>
              <a:t> as easily accepted as input.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E-mail usually won</a:t>
            </a:r>
            <a:r>
              <a:rPr lang="en-US" sz="850" dirty="0">
                <a:solidFill>
                  <a:srgbClr val="9ECBFF"/>
                </a:solidFill>
                <a:latin typeface="Courier New" pitchFamily="34" charset="0"/>
                <a:ea typeface="Courier New" pitchFamily="34" charset="-122"/>
                <a:cs typeface="Courier New" pitchFamily="34" charset="-120"/>
              </a:rPr>
              <a:t>'t line-break if there'</a:t>
            </a:r>
            <a:r>
              <a:rPr lang="en-US" sz="850" dirty="0">
                <a:solidFill>
                  <a:srgbClr val="E6EDF3"/>
                </a:solidFill>
                <a:latin typeface="Courier New" pitchFamily="34" charset="0"/>
                <a:ea typeface="Courier New" pitchFamily="34" charset="-122"/>
                <a:cs typeface="Courier New" pitchFamily="34" charset="-120"/>
              </a:rPr>
              <a:t>s no punctuation to break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Double-clicking selects the whole string as one word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it's all alphanumeric.</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endParaRPr lang="en-US" sz="850" dirty="0"/>
          </a:p>
        </p:txBody>
      </p:sp>
      <p:sp>
        <p:nvSpPr>
          <p:cNvPr id="8" name="Text 6"/>
          <p:cNvSpPr txBox="1"/>
          <p:nvPr/>
        </p:nvSpPr>
        <p:spPr>
          <a:xfrm>
            <a:off x="640080" y="273405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src/base58.h at the pinned commit - the file's copyright line names Satoshi Nakamoto, 2009-2010 (MIT)</a:t>
            </a:r>
            <a:endParaRPr lang="en-US" sz="800" dirty="0"/>
          </a:p>
        </p:txBody>
      </p:sp>
      <p:sp>
        <p:nvSpPr>
          <p:cNvPr id="9" name="Text 7"/>
          <p:cNvSpPr txBox="1"/>
          <p:nvPr/>
        </p:nvSpPr>
        <p:spPr>
          <a:xfrm>
            <a:off x="457200" y="2944368"/>
            <a:ext cx="3383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why keys start with 5 or K</a:t>
            </a:r>
            <a:endParaRPr lang="en-US" sz="1150" dirty="0"/>
          </a:p>
        </p:txBody>
      </p:sp>
      <p:sp>
        <p:nvSpPr>
          <p:cNvPr id="10" name="Shape 8"/>
          <p:cNvSpPr/>
          <p:nvPr/>
        </p:nvSpPr>
        <p:spPr>
          <a:xfrm>
            <a:off x="457200" y="3218688"/>
            <a:ext cx="5120640" cy="777240"/>
          </a:xfrm>
          <a:prstGeom prst="roundRect">
            <a:avLst>
              <a:gd name="adj" fmla="val 11765"/>
            </a:avLst>
          </a:prstGeom>
          <a:solidFill>
            <a:srgbClr val="23272E"/>
          </a:solidFill>
          <a:ln w="12700">
            <a:solidFill>
              <a:srgbClr val="23272E"/>
            </a:solidFill>
            <a:prstDash val="solid"/>
          </a:ln>
        </p:spPr>
      </p:sp>
      <p:sp>
        <p:nvSpPr>
          <p:cNvPr id="11" name="Text 9"/>
          <p:cNvSpPr txBox="1"/>
          <p:nvPr/>
        </p:nvSpPr>
        <p:spPr>
          <a:xfrm>
            <a:off x="640080" y="3337560"/>
            <a:ext cx="475488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[b58check(bytes([v]) + bytes(</a:t>
            </a:r>
            <a:r>
              <a:rPr lang="en-US" sz="760" dirty="0">
                <a:solidFill>
                  <a:srgbClr val="FFD28A"/>
                </a:solidFill>
                <a:latin typeface="Courier New" pitchFamily="34" charset="0"/>
                <a:ea typeface="Courier New" pitchFamily="34" charset="-122"/>
                <a:cs typeface="Courier New" pitchFamily="34" charset="-120"/>
              </a:rPr>
              <a:t>20</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v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(0x00, 0x05, 0x6f, 0xc4)]</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'3', 'm', '2']</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b58check(b</a:t>
            </a:r>
            <a:r>
              <a:rPr lang="en-US" sz="760" dirty="0">
                <a:solidFill>
                  <a:srgbClr val="9ECBFF"/>
                </a:solidFill>
                <a:latin typeface="Courier New" pitchFamily="34" charset="0"/>
                <a:ea typeface="Courier New" pitchFamily="34" charset="-122"/>
                <a:cs typeface="Courier New" pitchFamily="34" charset="-120"/>
              </a:rPr>
              <a:t>'\x80'</a:t>
            </a:r>
            <a:r>
              <a:rPr lang="en-US" sz="760" dirty="0">
                <a:solidFill>
                  <a:srgbClr val="E6EDF3"/>
                </a:solidFill>
                <a:latin typeface="Courier New" pitchFamily="34" charset="0"/>
                <a:ea typeface="Courier New" pitchFamily="34" charset="-122"/>
                <a:cs typeface="Courier New" pitchFamily="34" charset="-120"/>
              </a:rPr>
              <a:t> + bytes(</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b58check(b</a:t>
            </a:r>
            <a:r>
              <a:rPr lang="en-US" sz="760" dirty="0">
                <a:solidFill>
                  <a:srgbClr val="9ECBFF"/>
                </a:solidFill>
                <a:latin typeface="Courier New" pitchFamily="34" charset="0"/>
                <a:ea typeface="Courier New" pitchFamily="34" charset="-122"/>
                <a:cs typeface="Courier New" pitchFamily="34" charset="-120"/>
              </a:rPr>
              <a:t>'\x80'</a:t>
            </a:r>
            <a:r>
              <a:rPr lang="en-US" sz="760" dirty="0">
                <a:solidFill>
                  <a:srgbClr val="E6EDF3"/>
                </a:solidFill>
                <a:latin typeface="Courier New" pitchFamily="34" charset="0"/>
                <a:ea typeface="Courier New" pitchFamily="34" charset="-122"/>
                <a:cs typeface="Courier New" pitchFamily="34" charset="-120"/>
              </a:rPr>
              <a:t> + bytes(</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b</a:t>
            </a:r>
            <a:r>
              <a:rPr lang="en-US" sz="760" dirty="0">
                <a:solidFill>
                  <a:srgbClr val="9ECBFF"/>
                </a:solidFill>
                <a:latin typeface="Courier New" pitchFamily="34" charset="0"/>
                <a:ea typeface="Courier New" pitchFamily="34" charset="-122"/>
                <a:cs typeface="Courier New" pitchFamily="34" charset="-120"/>
              </a:rPr>
              <a:t>'\x01'</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 'K')</a:t>
            </a:r>
            <a:endParaRPr lang="en-US" sz="760" dirty="0"/>
          </a:p>
        </p:txBody>
      </p:sp>
      <p:sp>
        <p:nvSpPr>
          <p:cNvPr id="12" name="Text 10"/>
          <p:cNvSpPr txBox="1"/>
          <p:nvPr/>
        </p:nvSpPr>
        <p:spPr>
          <a:xfrm>
            <a:off x="3931920" y="294436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3"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4"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 named…</a:t>
            </a:r>
            <a:endParaRPr lang="en-US" sz="750" dirty="0"/>
          </a:p>
        </p:txBody>
      </p:sp>
      <p:sp>
        <p:nvSpPr>
          <p:cNvPr id="15"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6"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src/base58.h in the bi…</a:t>
            </a:r>
            <a:endParaRPr lang="en-US" sz="750" dirty="0"/>
          </a:p>
        </p:txBody>
      </p:sp>
      <p:sp>
        <p:nvSpPr>
          <p:cNvPr id="17"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2009-2010</a:t>
            </a:r>
            <a:endParaRPr lang="en-US" sz="750" dirty="0"/>
          </a:p>
        </p:txBody>
      </p:sp>
      <p:sp>
        <p:nvSpPr>
          <p:cNvPr id="19"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0"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base58.h in bitcoin/bitcoin (source)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raw.githubusercontent.com</a:t>
            </a:r>
            <a:endParaRPr lang="en-US" sz="7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address alphabet is usability engineering, documented</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 to WIF and back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Wallet Import Format - transport clothing for k</a:t>
            </a:r>
            <a:endParaRPr lang="en-US" sz="1300" dirty="0"/>
          </a:p>
        </p:txBody>
      </p:sp>
      <p:sp>
        <p:nvSpPr>
          <p:cNvPr id="6" name="Shape 4"/>
          <p:cNvSpPr/>
          <p:nvPr/>
        </p:nvSpPr>
        <p:spPr>
          <a:xfrm>
            <a:off x="457200" y="146304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 32 bytes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number itself</a:t>
            </a:r>
            <a:endParaRPr lang="en-US" sz="1250" dirty="0"/>
          </a:p>
        </p:txBody>
      </p:sp>
      <p:sp>
        <p:nvSpPr>
          <p:cNvPr id="8" name="Shape 6"/>
          <p:cNvSpPr/>
          <p:nvPr/>
        </p:nvSpPr>
        <p:spPr>
          <a:xfrm>
            <a:off x="2212848" y="198882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0x80 prefix</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+ 0x01 if compressed</a:t>
            </a:r>
            <a:endParaRPr lang="en-US" sz="1250" dirty="0"/>
          </a:p>
        </p:txBody>
      </p:sp>
      <p:sp>
        <p:nvSpPr>
          <p:cNvPr id="11" name="Shape 9"/>
          <p:cNvSpPr/>
          <p:nvPr/>
        </p:nvSpPr>
        <p:spPr>
          <a:xfrm>
            <a:off x="4389120" y="198882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checksum</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4 bytes of SHA256^2</a:t>
            </a:r>
            <a:endParaRPr lang="en-US" sz="1250" dirty="0"/>
          </a:p>
        </p:txBody>
      </p:sp>
      <p:sp>
        <p:nvSpPr>
          <p:cNvPr id="14" name="Shape 12"/>
          <p:cNvSpPr/>
          <p:nvPr/>
        </p:nvSpPr>
        <p:spPr>
          <a:xfrm>
            <a:off x="6565392" y="198882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base58</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string you export</a:t>
            </a:r>
            <a:endParaRPr lang="en-US" sz="1250" dirty="0"/>
          </a:p>
        </p:txBody>
      </p:sp>
      <p:sp>
        <p:nvSpPr>
          <p:cNvPr id="17" name="Text 15"/>
          <p:cNvSpPr txBox="1"/>
          <p:nvPr/>
        </p:nvSpPr>
        <p:spPr>
          <a:xfrm>
            <a:off x="457200" y="25603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round trip: encode, decode, same bytes</a:t>
            </a:r>
            <a:endParaRPr lang="en-US" sz="1150" dirty="0"/>
          </a:p>
        </p:txBody>
      </p:sp>
      <p:sp>
        <p:nvSpPr>
          <p:cNvPr id="18" name="Shape 16"/>
          <p:cNvSpPr/>
          <p:nvPr/>
        </p:nvSpPr>
        <p:spPr>
          <a:xfrm>
            <a:off x="457200" y="2834640"/>
            <a:ext cx="8229600" cy="1005840"/>
          </a:xfrm>
          <a:prstGeom prst="roundRect">
            <a:avLst>
              <a:gd name="adj" fmla="val 9091"/>
            </a:avLst>
          </a:prstGeom>
          <a:solidFill>
            <a:srgbClr val="23272E"/>
          </a:solidFill>
          <a:ln w="12700">
            <a:solidFill>
              <a:srgbClr val="23272E"/>
            </a:solidFill>
            <a:prstDash val="solid"/>
          </a:ln>
        </p:spPr>
      </p:sp>
      <p:sp>
        <p:nvSpPr>
          <p:cNvPr id="19" name="Text 17"/>
          <p:cNvSpPr txBox="1"/>
          <p:nvPr/>
        </p:nvSpPr>
        <p:spPr>
          <a:xfrm>
            <a:off x="640080" y="2953512"/>
            <a:ext cx="7863840" cy="768096"/>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wif(k, </a:t>
            </a:r>
            <a:r>
              <a:rPr lang="en-US" sz="740" b="1" dirty="0">
                <a:solidFill>
                  <a:srgbClr val="F2A860"/>
                </a:solidFill>
                <a:latin typeface="Courier New" pitchFamily="34" charset="0"/>
                <a:ea typeface="Courier New" pitchFamily="34" charset="-122"/>
                <a:cs typeface="Courier New" pitchFamily="34" charset="-120"/>
              </a:rPr>
              <a:t>False</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'5J3mBbAH58CpQ3Y5RNJpUKPE62SQ5tfcvU2JpbnkeyhfsYB1Jcn'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wif(k)</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'KxFC1jmwwCoACiCAWZ3eXa96mBM6tb3TYzGmf6YwgdGWZgawvrtJ'</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b58check_decode(wif(k)).hex()</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'801e99423a4ed27608a15a2616a2b0e9e52ced330ac530edcc32c8ffc6a526aedd01'</a:t>
            </a:r>
            <a:endParaRPr lang="en-US" sz="740" dirty="0"/>
          </a:p>
        </p:txBody>
      </p:sp>
      <p:sp>
        <p:nvSpPr>
          <p:cNvPr id="20" name="Text 18"/>
          <p:cNvSpPr txBox="1"/>
          <p:nvPr/>
        </p:nvSpPr>
        <p:spPr>
          <a:xfrm>
            <a:off x="7040880" y="25603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WIF is the same number, dressed for transport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checksum that catches your typo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bytes between you and a lost payment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Hash the payload twice, keep four bytes, append</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single typo breaks the match</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flips one character - and is refused</a:t>
            </a:r>
            <a:endParaRPr lang="en-US" sz="1050" dirty="0"/>
          </a:p>
        </p:txBody>
      </p:sp>
      <p:sp>
        <p:nvSpPr>
          <p:cNvPr id="15" name="Text 13"/>
          <p:cNvSpPr txBox="1"/>
          <p:nvPr/>
        </p:nvSpPr>
        <p:spPr>
          <a:xfrm>
            <a:off x="3931920" y="1188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typo, a real refusal</a:t>
            </a:r>
            <a:endParaRPr lang="en-US" sz="1150" dirty="0"/>
          </a:p>
        </p:txBody>
      </p:sp>
      <p:sp>
        <p:nvSpPr>
          <p:cNvPr id="16" name="Shape 14"/>
          <p:cNvSpPr/>
          <p:nvPr/>
        </p:nvSpPr>
        <p:spPr>
          <a:xfrm>
            <a:off x="3931920" y="1463040"/>
            <a:ext cx="4754880" cy="1600200"/>
          </a:xfrm>
          <a:prstGeom prst="roundRect">
            <a:avLst>
              <a:gd name="adj" fmla="val 5714"/>
            </a:avLst>
          </a:prstGeom>
          <a:solidFill>
            <a:srgbClr val="23272E"/>
          </a:solidFill>
          <a:ln w="12700">
            <a:solidFill>
              <a:srgbClr val="23272E"/>
            </a:solidFill>
            <a:prstDash val="solid"/>
          </a:ln>
        </p:spPr>
      </p:sp>
      <p:sp>
        <p:nvSpPr>
          <p:cNvPr id="17" name="Text 15"/>
          <p:cNvSpPr txBox="1"/>
          <p:nvPr/>
        </p:nvSpPr>
        <p:spPr>
          <a:xfrm>
            <a:off x="4114800" y="1581912"/>
            <a:ext cx="4389120" cy="13624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dsha(b</a:t>
            </a:r>
            <a:r>
              <a:rPr lang="en-US" sz="850" dirty="0">
                <a:solidFill>
                  <a:srgbClr val="9ECBFF"/>
                </a:solidFill>
                <a:latin typeface="Courier New" pitchFamily="34" charset="0"/>
                <a:ea typeface="Courier New" pitchFamily="34" charset="-122"/>
                <a:cs typeface="Courier New" pitchFamily="34" charset="-120"/>
              </a:rPr>
              <a:t>'\x00'</a:t>
            </a:r>
            <a:r>
              <a:rPr lang="en-US" sz="850" dirty="0">
                <a:solidFill>
                  <a:srgbClr val="E6EDF3"/>
                </a:solidFill>
                <a:latin typeface="Courier New" pitchFamily="34" charset="0"/>
                <a:ea typeface="Courier New" pitchFamily="34" charset="-122"/>
                <a:cs typeface="Courier New" pitchFamily="34" charset="-120"/>
              </a:rPr>
              <a:t> + H160)[:</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'37fefcd0'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b58check_decode(</a:t>
            </a:r>
            <a:r>
              <a:rPr lang="en-US" sz="850" dirty="0">
                <a:solidFill>
                  <a:srgbClr val="9ECBFF"/>
                </a:solidFill>
                <a:latin typeface="Courier New" pitchFamily="34" charset="0"/>
                <a:ea typeface="Courier New" pitchFamily="34" charset="-122"/>
                <a:cs typeface="Courier New" pitchFamily="34" charset="-120"/>
              </a:rPr>
              <a:t>'1J7mdg5rbQyUHENYdx39WVWK7fsLpEoXZy'</a:t>
            </a:r>
            <a:r>
              <a:rPr lang="en-US" sz="850" dirty="0">
                <a:solidFill>
                  <a:srgbClr val="E6EDF3"/>
                </a:solidFill>
                <a:latin typeface="Courier New" pitchFamily="34" charset="0"/>
                <a:ea typeface="Courier New" pitchFamily="34" charset="-122"/>
                <a:cs typeface="Courier New" pitchFamily="34" charset="-120"/>
              </a:rPr>
              <a:t>).hex()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'00bbc1e42a39d05a4cc61752d6963b7f69d09bb27b'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b58check_decode(</a:t>
            </a:r>
            <a:r>
              <a:rPr lang="en-US" sz="850" dirty="0">
                <a:solidFill>
                  <a:srgbClr val="9ECBFF"/>
                </a:solidFill>
                <a:latin typeface="Courier New" pitchFamily="34" charset="0"/>
                <a:ea typeface="Courier New" pitchFamily="34" charset="-122"/>
                <a:cs typeface="Courier New" pitchFamily="34" charset="-120"/>
              </a:rPr>
              <a:t>'1J7mdg5rbQyUHENYdx39WVWK7fsLpEoXZz'</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AssertionError: checksum does not match</a:t>
            </a:r>
            <a:endParaRPr lang="en-US" sz="850" dirty="0"/>
          </a:p>
        </p:txBody>
      </p:sp>
      <p:sp>
        <p:nvSpPr>
          <p:cNvPr id="18" name="Text 16"/>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57200" y="32004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encoder, applied to the book's hash160</a:t>
            </a:r>
            <a:endParaRPr lang="en-US" sz="1150" dirty="0"/>
          </a:p>
        </p:txBody>
      </p:sp>
      <p:sp>
        <p:nvSpPr>
          <p:cNvPr id="20" name="Shape 18"/>
          <p:cNvSpPr/>
          <p:nvPr/>
        </p:nvSpPr>
        <p:spPr>
          <a:xfrm>
            <a:off x="457200" y="3474720"/>
            <a:ext cx="822960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640080" y="359359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len(B58), </a:t>
            </a:r>
            <a:r>
              <a:rPr lang="en-US" sz="900" dirty="0">
                <a:solidFill>
                  <a:srgbClr val="9ECBFF"/>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 </a:t>
            </a:r>
            <a:r>
              <a:rPr lang="en-US" sz="900" dirty="0">
                <a:solidFill>
                  <a:srgbClr val="9ECBFF"/>
                </a:solidFill>
                <a:latin typeface="Courier New" pitchFamily="34" charset="0"/>
                <a:ea typeface="Courier New" pitchFamily="34" charset="-122"/>
                <a:cs typeface="Courier New" pitchFamily="34" charset="-120"/>
              </a:rPr>
              <a:t>'O'</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 </a:t>
            </a:r>
            <a:r>
              <a:rPr lang="en-US" sz="900" dirty="0">
                <a:solidFill>
                  <a:srgbClr val="9ECBFF"/>
                </a:solidFill>
                <a:latin typeface="Courier New" pitchFamily="34" charset="0"/>
                <a:ea typeface="Courier New" pitchFamily="34" charset="-122"/>
                <a:cs typeface="Courier New" pitchFamily="34" charset="-120"/>
              </a:rPr>
              <a:t>'l'</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 </a:t>
            </a:r>
            <a:r>
              <a:rPr lang="en-US" sz="900" dirty="0">
                <a:solidFill>
                  <a:srgbClr val="9ECBFF"/>
                </a:solidFill>
                <a:latin typeface="Courier New" pitchFamily="34" charset="0"/>
                <a:ea typeface="Courier New" pitchFamily="34" charset="-122"/>
                <a:cs typeface="Courier New" pitchFamily="34" charset="-120"/>
              </a:rPr>
              <a:t>'I'</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(58, False, False, False, 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b58check(b</a:t>
            </a:r>
            <a:r>
              <a:rPr lang="en-US" sz="900" dirty="0">
                <a:solidFill>
                  <a:srgbClr val="9ECBFF"/>
                </a:solidFill>
                <a:latin typeface="Courier New" pitchFamily="34" charset="0"/>
                <a:ea typeface="Courier New" pitchFamily="34" charset="-122"/>
                <a:cs typeface="Courier New" pitchFamily="34" charset="-120"/>
              </a:rPr>
              <a:t>'\x00'</a:t>
            </a:r>
            <a:r>
              <a:rPr lang="en-US" sz="900" dirty="0">
                <a:solidFill>
                  <a:srgbClr val="E6EDF3"/>
                </a:solidFill>
                <a:latin typeface="Courier New" pitchFamily="34" charset="0"/>
                <a:ea typeface="Courier New" pitchFamily="34" charset="-122"/>
                <a:cs typeface="Courier New" pitchFamily="34" charset="-120"/>
              </a:rPr>
              <a:t> + H160)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'1J7mdg5rbQyUHENYdx39WVWK7fsLpEoXZy'</a:t>
            </a:r>
            <a:endParaRPr lang="en-US" sz="900" dirty="0"/>
          </a:p>
        </p:txBody>
      </p:sp>
      <p:sp>
        <p:nvSpPr>
          <p:cNvPr id="22" name="Text 20"/>
          <p:cNvSpPr txBox="1"/>
          <p:nvPr/>
        </p:nvSpPr>
        <p:spPr>
          <a:xfrm>
            <a:off x="7040880" y="32004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bytes stop a mistyped address from costing coins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Addresses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Commitments you can read out loud</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P2PKH</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SegWit / bech32</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Taproot</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wallets pick</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public key to address, exactly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hashes and an alphabet - executed, then validated by the node</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 33 bytes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compressed point</a:t>
            </a:r>
            <a:endParaRPr lang="en-US" sz="120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SHA256</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then RIPEMD160</a:t>
            </a:r>
            <a:endParaRPr lang="en-US" sz="120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hash160</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20 bytes</a:t>
            </a:r>
            <a:endParaRPr lang="en-US" sz="120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Base58Check</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1... address</a:t>
            </a:r>
            <a:endParaRPr lang="en-US" sz="1200" dirty="0"/>
          </a:p>
        </p:txBody>
      </p:sp>
      <p:sp>
        <p:nvSpPr>
          <p:cNvPr id="17" name="Text 15"/>
          <p:cNvSpPr txBox="1"/>
          <p:nvPr/>
        </p:nvSpPr>
        <p:spPr>
          <a:xfrm>
            <a:off x="457200" y="2377440"/>
            <a:ext cx="2194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both hashes, compressed key</a:t>
            </a:r>
            <a:endParaRPr lang="en-US" sz="1150" dirty="0"/>
          </a:p>
        </p:txBody>
      </p:sp>
      <p:sp>
        <p:nvSpPr>
          <p:cNvPr id="18" name="Shape 16"/>
          <p:cNvSpPr/>
          <p:nvPr/>
        </p:nvSpPr>
        <p:spPr>
          <a:xfrm>
            <a:off x="457200" y="2651760"/>
            <a:ext cx="3931920" cy="1188720"/>
          </a:xfrm>
          <a:prstGeom prst="roundRect">
            <a:avLst>
              <a:gd name="adj" fmla="val 7692"/>
            </a:avLst>
          </a:prstGeom>
          <a:solidFill>
            <a:srgbClr val="23272E"/>
          </a:solidFill>
          <a:ln w="12700">
            <a:solidFill>
              <a:srgbClr val="23272E"/>
            </a:solidFill>
            <a:prstDash val="solid"/>
          </a:ln>
        </p:spPr>
      </p:sp>
      <p:sp>
        <p:nvSpPr>
          <p:cNvPr id="19" name="Text 17"/>
          <p:cNvSpPr txBox="1"/>
          <p:nvPr/>
        </p:nvSpPr>
        <p:spPr>
          <a:xfrm>
            <a:off x="640080" y="2770632"/>
            <a:ext cx="356616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hash160(PUB).hex()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'bbc1e42a39d05a4cc61752d6963b7f69d09bb27b'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hash160(PUBU).hex()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'211b74ca4686f81efda5641767fc84ef16dafe0b'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hash160(PUB) == hash160(PUBU)</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20" name="Text 18"/>
          <p:cNvSpPr txBox="1"/>
          <p:nvPr/>
        </p:nvSpPr>
        <p:spPr>
          <a:xfrm>
            <a:off x="2743200" y="23774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Text 19"/>
          <p:cNvSpPr txBox="1"/>
          <p:nvPr/>
        </p:nvSpPr>
        <p:spPr>
          <a:xfrm>
            <a:off x="4663440" y="2377440"/>
            <a:ext cx="2286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node validates the result</a:t>
            </a:r>
            <a:endParaRPr lang="en-US" sz="1150" dirty="0"/>
          </a:p>
        </p:txBody>
      </p:sp>
      <p:sp>
        <p:nvSpPr>
          <p:cNvPr id="22" name="Shape 20"/>
          <p:cNvSpPr/>
          <p:nvPr/>
        </p:nvSpPr>
        <p:spPr>
          <a:xfrm>
            <a:off x="4663440" y="2651760"/>
            <a:ext cx="4023360" cy="1188720"/>
          </a:xfrm>
          <a:prstGeom prst="roundRect">
            <a:avLst>
              <a:gd name="adj" fmla="val 7692"/>
            </a:avLst>
          </a:prstGeom>
          <a:solidFill>
            <a:srgbClr val="23272E"/>
          </a:solidFill>
          <a:ln w="12700">
            <a:solidFill>
              <a:srgbClr val="23272E"/>
            </a:solidFill>
            <a:prstDash val="solid"/>
          </a:ln>
        </p:spPr>
      </p:sp>
      <p:sp>
        <p:nvSpPr>
          <p:cNvPr id="23" name="Text 21"/>
          <p:cNvSpPr txBox="1"/>
          <p:nvPr/>
        </p:nvSpPr>
        <p:spPr>
          <a:xfrm>
            <a:off x="4846320" y="2770632"/>
            <a:ext cx="365760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p2pkh(PUB)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'1J7mdg5rbQyUHENYdx39WVWK7fsLpEoXZy'</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p2pkh(PUBU)</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'1424C2F4bC9JidNjjTUZCbUxv6Sa1Mt62x'</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CORE_VALIDATE[p2pkh(PUB)][</a:t>
            </a:r>
            <a:r>
              <a:rPr lang="en-US" sz="850" dirty="0">
                <a:solidFill>
                  <a:srgbClr val="9ECBFF"/>
                </a:solidFill>
                <a:latin typeface="Courier New" pitchFamily="34" charset="0"/>
                <a:ea typeface="Courier New" pitchFamily="34" charset="-122"/>
                <a:cs typeface="Courier New" pitchFamily="34" charset="-120"/>
              </a:rPr>
              <a:t>'scriptPubKey'</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'76a914bbc1e42a39d05a4cc61752d6963b7f69d09bb27b88ac'</a:t>
            </a:r>
            <a:endParaRPr lang="en-US" sz="850" dirty="0"/>
          </a:p>
        </p:txBody>
      </p:sp>
      <p:sp>
        <p:nvSpPr>
          <p:cNvPr id="24" name="Text 22"/>
          <p:cNvSpPr txBox="1"/>
          <p:nvPr/>
        </p:nvSpPr>
        <p:spPr>
          <a:xfrm>
            <a:off x="7040880" y="23774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5" name="Shape 23"/>
          <p:cNvSpPr/>
          <p:nvPr/>
        </p:nvSpPr>
        <p:spPr>
          <a:xfrm>
            <a:off x="2560320" y="4023360"/>
            <a:ext cx="4023360" cy="402336"/>
          </a:xfrm>
          <a:prstGeom prst="roundRect">
            <a:avLst>
              <a:gd name="adj" fmla="val 50000"/>
            </a:avLst>
          </a:prstGeom>
          <a:solidFill>
            <a:srgbClr val="2F6D62"/>
          </a:solidFill>
          <a:ln w="12700">
            <a:solidFill>
              <a:srgbClr val="2F6D62"/>
            </a:solidFill>
            <a:prstDash val="solid"/>
          </a:ln>
        </p:spPr>
      </p:sp>
      <p:sp>
        <p:nvSpPr>
          <p:cNvPr id="26" name="Text 24"/>
          <p:cNvSpPr txBox="1"/>
          <p:nvPr/>
        </p:nvSpPr>
        <p:spPr>
          <a:xfrm>
            <a:off x="2560320" y="402336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address: 1J7mdg5rbQyUHENYdx39WVWK7fsLpEoXZy</a:t>
            </a:r>
            <a:endParaRPr lang="en-US" sz="13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hashes and an alphabet - the pipeline, executed</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address that eats coins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since 2011; balance fetched 2026-10-06</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13.41747849</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BTC sent to it, as of this build's live fetch</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5,832</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separate deposits over the years</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satoshis ever spent from it - no key exists</a:t>
            </a:r>
            <a:endParaRPr lang="en-US" sz="1150" dirty="0"/>
          </a:p>
        </p:txBody>
      </p:sp>
      <p:sp>
        <p:nvSpPr>
          <p:cNvPr id="15" name="Shape 13"/>
          <p:cNvSpPr/>
          <p:nvPr/>
        </p:nvSpPr>
        <p:spPr>
          <a:xfrm>
            <a:off x="457200" y="28696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743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address spells a sentence - chosen as text, so no private key was ever behind it</a:t>
            </a:r>
            <a:endParaRPr lang="en-US" sz="1250" dirty="0"/>
          </a:p>
        </p:txBody>
      </p:sp>
      <p:sp>
        <p:nvSpPr>
          <p:cNvPr id="17" name="Shape 15"/>
          <p:cNvSpPr/>
          <p:nvPr/>
        </p:nvSpPr>
        <p:spPr>
          <a:xfrm>
            <a:off x="457200" y="32506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124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Checksum valid, coins accepted, coins gone: commitment is not existence</a:t>
            </a:r>
            <a:endParaRPr lang="en-US" sz="1250" dirty="0"/>
          </a:p>
        </p:txBody>
      </p:sp>
      <p:sp>
        <p:nvSpPr>
          <p:cNvPr id="19" name="Shape 17"/>
          <p:cNvSpPr/>
          <p:nvPr/>
        </p:nvSpPr>
        <p:spPr>
          <a:xfrm>
            <a:off x="457200" y="363169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505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Vanity addresses differ only in effort: 58^11 tries for eleven chosen characters</a:t>
            </a:r>
            <a:endParaRPr lang="en-US" sz="1250" dirty="0"/>
          </a:p>
        </p:txBody>
      </p:sp>
      <p:sp>
        <p:nvSpPr>
          <p:cNvPr id="21" name="Shape 19"/>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thousands of senders; no…</a:t>
            </a:r>
            <a:endParaRPr lang="en-US" sz="750" dirty="0"/>
          </a:p>
        </p:txBody>
      </p:sp>
      <p:sp>
        <p:nvSpPr>
          <p:cNvPr id="23" name="Shape 21"/>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address 1BitcoinEaterA…</a:t>
            </a:r>
            <a:endParaRPr lang="en-US" sz="750" dirty="0"/>
          </a:p>
        </p:txBody>
      </p:sp>
      <p:sp>
        <p:nvSpPr>
          <p:cNvPr id="25" name="Shape 23"/>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since 2011; bala…</a:t>
            </a:r>
            <a:endParaRPr lang="en-US" sz="750" dirty="0"/>
          </a:p>
        </p:txBody>
      </p:sp>
      <p:sp>
        <p:nvSpPr>
          <p:cNvPr id="27" name="Shape 25"/>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eater address on blockstream.info</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blockstream.info</a:t>
            </a:r>
            <a:endParaRPr lang="en-US" sz="7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address commits to a key - it cannot conjure one</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and bech32: the second alphabet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Move the witness; drop the look-alikes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663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SegWit moves signatures out of the txid's reach</a:t>
            </a:r>
            <a:endParaRPr lang="en-US" sz="1000" dirty="0"/>
          </a:p>
        </p:txBody>
      </p:sp>
      <p:sp>
        <p:nvSpPr>
          <p:cNvPr id="9" name="Shape 7"/>
          <p:cNvSpPr/>
          <p:nvPr/>
        </p:nvSpPr>
        <p:spPr>
          <a:xfrm>
            <a:off x="457200" y="20025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02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65960"/>
            <a:ext cx="2679192" cy="4663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bech32: one case, no 1/b/i/o - QR-friendly</a:t>
            </a:r>
            <a:endParaRPr lang="en-US" sz="1000" dirty="0"/>
          </a:p>
        </p:txBody>
      </p:sp>
      <p:sp>
        <p:nvSpPr>
          <p:cNvPr id="12" name="Shape 10"/>
          <p:cNvSpPr/>
          <p:nvPr/>
        </p:nvSpPr>
        <p:spPr>
          <a:xfrm>
            <a:off x="457200" y="25054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05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68880"/>
            <a:ext cx="2679192" cy="4663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witness program is version + bytes, re-encoded</a:t>
            </a:r>
            <a:endParaRPr lang="en-US" sz="1000" dirty="0"/>
          </a:p>
        </p:txBody>
      </p:sp>
      <p:sp>
        <p:nvSpPr>
          <p:cNvPr id="15" name="Text 13"/>
          <p:cNvSpPr txBox="1"/>
          <p:nvPr/>
        </p:nvSpPr>
        <p:spPr>
          <a:xfrm>
            <a:off x="3931920" y="114300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txid steady while the witness moves</a:t>
            </a:r>
            <a:endParaRPr lang="en-US" sz="1150" dirty="0"/>
          </a:p>
        </p:txBody>
      </p:sp>
      <p:sp>
        <p:nvSpPr>
          <p:cNvPr id="16" name="Shape 14"/>
          <p:cNvSpPr/>
          <p:nvPr/>
        </p:nvSpPr>
        <p:spPr>
          <a:xfrm>
            <a:off x="3931920" y="1417320"/>
            <a:ext cx="4754880" cy="1463040"/>
          </a:xfrm>
          <a:prstGeom prst="roundRect">
            <a:avLst>
              <a:gd name="adj" fmla="val 6250"/>
            </a:avLst>
          </a:prstGeom>
          <a:solidFill>
            <a:srgbClr val="23272E"/>
          </a:solidFill>
          <a:ln w="12700">
            <a:solidFill>
              <a:srgbClr val="23272E"/>
            </a:solidFill>
            <a:prstDash val="solid"/>
          </a:ln>
        </p:spPr>
      </p:sp>
      <p:sp>
        <p:nvSpPr>
          <p:cNvPr id="17" name="Text 15"/>
          <p:cNvSpPr txBox="1"/>
          <p:nvPr/>
        </p:nvSpPr>
        <p:spPr>
          <a:xfrm>
            <a:off x="4114800" y="1536192"/>
            <a:ext cx="4389120" cy="12252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body, witness = b</a:t>
            </a:r>
            <a:r>
              <a:rPr lang="en-US" sz="700" dirty="0">
                <a:solidFill>
                  <a:srgbClr val="9ECBFF"/>
                </a:solidFill>
                <a:latin typeface="Courier New" pitchFamily="34" charset="0"/>
                <a:ea typeface="Courier New" pitchFamily="34" charset="-122"/>
                <a:cs typeface="Courier New" pitchFamily="34" charset="-120"/>
              </a:rPr>
              <a:t>'transaction without its witness'</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9ECBFF"/>
                </a:solidFill>
                <a:latin typeface="Courier New" pitchFamily="34" charset="0"/>
                <a:ea typeface="Courier New" pitchFamily="34" charset="-122"/>
                <a:cs typeface="Courier New" pitchFamily="34" charset="-120"/>
              </a:rPr>
              <a:t>' and the witness bytes'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dsha(body).hex()[:</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'1bbba9e8d2ce607d'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dsha(body + witness).hex()[:</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'bf5cec85a6365a79'</a:t>
            </a:r>
            <a:endParaRPr lang="en-US" sz="700" dirty="0"/>
          </a:p>
        </p:txBody>
      </p:sp>
      <p:sp>
        <p:nvSpPr>
          <p:cNvPr id="18" name="Text 16"/>
          <p:cNvSpPr txBox="1"/>
          <p:nvPr/>
        </p:nvSpPr>
        <p:spPr>
          <a:xfrm>
            <a:off x="7040880" y="11430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57200" y="30358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encode, decode, same program - version 0</a:t>
            </a:r>
            <a:endParaRPr lang="en-US" sz="1150" dirty="0"/>
          </a:p>
        </p:txBody>
      </p:sp>
      <p:sp>
        <p:nvSpPr>
          <p:cNvPr id="20" name="Shape 18"/>
          <p:cNvSpPr/>
          <p:nvPr/>
        </p:nvSpPr>
        <p:spPr>
          <a:xfrm>
            <a:off x="457200" y="3310128"/>
            <a:ext cx="8229600" cy="1188720"/>
          </a:xfrm>
          <a:prstGeom prst="roundRect">
            <a:avLst>
              <a:gd name="adj" fmla="val 7692"/>
            </a:avLst>
          </a:prstGeom>
          <a:solidFill>
            <a:srgbClr val="23272E"/>
          </a:solidFill>
          <a:ln w="12700">
            <a:solidFill>
              <a:srgbClr val="23272E"/>
            </a:solidFill>
            <a:prstDash val="solid"/>
          </a:ln>
        </p:spPr>
      </p:sp>
      <p:sp>
        <p:nvSpPr>
          <p:cNvPr id="21" name="Text 19"/>
          <p:cNvSpPr txBox="1"/>
          <p:nvPr/>
        </p:nvSpPr>
        <p:spPr>
          <a:xfrm>
            <a:off x="640080" y="3429000"/>
            <a:ext cx="78638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bytes.fromhex(PROG_WPKH))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'bc1q9d3xa5gg45q2j39m9y32xzvygcgay4rgc6aaee'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bytes.fromhex(PROG_WPKH)))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segwit_decode(</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bytes.fromhex(PROG_WPKH)))[</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t>
            </a:r>
            <a:endParaRPr lang="en-US" sz="900" dirty="0"/>
          </a:p>
        </p:txBody>
      </p:sp>
      <p:sp>
        <p:nvSpPr>
          <p:cNvPr id="22" name="Text 20"/>
          <p:cNvSpPr txBox="1"/>
          <p:nvPr/>
        </p:nvSpPr>
        <p:spPr>
          <a:xfrm>
            <a:off x="7040880" y="30358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New addresses move the witness and drop the look-alikes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Error detection,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claimed - counted, against the standards' own vectors</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Base58's checksum is strong but unstructured; bech32's BCH code GUARANTEES small errors are caught</a:t>
            </a:r>
            <a:endParaRPr lang="en-US" sz="95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run mutates addresses and counts the escapes: zero</a:t>
            </a:r>
            <a:endParaRPr lang="en-US" sz="950" dirty="0"/>
          </a:p>
        </p:txBody>
      </p:sp>
      <p:sp>
        <p:nvSpPr>
          <p:cNvPr id="10" name="Text 8"/>
          <p:cNvSpPr txBox="1"/>
          <p:nvPr/>
        </p:nvSpPr>
        <p:spPr>
          <a:xfrm>
            <a:off x="457200" y="20574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two, three flips - none slip through</a:t>
            </a:r>
            <a:endParaRPr lang="en-US" sz="1150" dirty="0"/>
          </a:p>
        </p:txBody>
      </p:sp>
      <p:sp>
        <p:nvSpPr>
          <p:cNvPr id="11" name="Shape 9"/>
          <p:cNvSpPr/>
          <p:nvPr/>
        </p:nvSpPr>
        <p:spPr>
          <a:xfrm>
            <a:off x="457200" y="2331720"/>
            <a:ext cx="8229600" cy="1280160"/>
          </a:xfrm>
          <a:prstGeom prst="roundRect">
            <a:avLst>
              <a:gd name="adj" fmla="val 7143"/>
            </a:avLst>
          </a:prstGeom>
          <a:solidFill>
            <a:srgbClr val="23272E"/>
          </a:solidFill>
          <a:ln w="12700">
            <a:solidFill>
              <a:srgbClr val="23272E"/>
            </a:solidFill>
            <a:prstDash val="solid"/>
          </a:ln>
        </p:spPr>
      </p:sp>
      <p:sp>
        <p:nvSpPr>
          <p:cNvPr id="12" name="Text 10"/>
          <p:cNvSpPr txBox="1"/>
          <p:nvPr/>
        </p:nvSpPr>
        <p:spPr>
          <a:xfrm>
            <a:off x="640080" y="2450592"/>
            <a:ext cx="7863840" cy="104241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[i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 b)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enumerate(zip(TYPED_OK, TYPED_BAD))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a != 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[25, 40]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segwit_decode(</a:t>
            </a:r>
            <a:r>
              <a:rPr lang="en-US" sz="850" dirty="0">
                <a:solidFill>
                  <a:srgbClr val="9ECBFF"/>
                </a:solidFill>
                <a:latin typeface="Courier New" pitchFamily="34" charset="0"/>
                <a:ea typeface="Courier New" pitchFamily="34" charset="-122"/>
                <a:cs typeface="Courier New" pitchFamily="34" charset="-120"/>
              </a:rPr>
              <a:t>'bc'</a:t>
            </a:r>
            <a:r>
              <a:rPr lang="en-US" sz="850" dirty="0">
                <a:solidFill>
                  <a:srgbClr val="E6EDF3"/>
                </a:solidFill>
                <a:latin typeface="Courier New" pitchFamily="34" charset="0"/>
                <a:ea typeface="Courier New" pitchFamily="34" charset="-122"/>
                <a:cs typeface="Courier New" pitchFamily="34" charset="-120"/>
              </a:rPr>
              <a:t>, TYPED_BAD) is </a:t>
            </a:r>
            <a:r>
              <a:rPr lang="en-US" sz="850" b="1" dirty="0">
                <a:solidFill>
                  <a:srgbClr val="F2A860"/>
                </a:solidFill>
                <a:latin typeface="Courier New" pitchFamily="34" charset="0"/>
                <a:ea typeface="Courier New" pitchFamily="34" charset="-122"/>
                <a:cs typeface="Courier New" pitchFamily="34" charset="-120"/>
              </a:rPr>
              <a:t>None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UNDETECTED = VERIFY[</a:t>
            </a:r>
            <a:r>
              <a:rPr lang="en-US" sz="850" dirty="0">
                <a:solidFill>
                  <a:srgbClr val="9ECBFF"/>
                </a:solidFill>
                <a:latin typeface="Courier New" pitchFamily="34" charset="0"/>
                <a:ea typeface="Courier New" pitchFamily="34" charset="-122"/>
                <a:cs typeface="Courier New" pitchFamily="34" charset="-120"/>
              </a:rPr>
              <a:t>'substitution_errors_undetected'</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UNDETECTED[</a:t>
            </a:r>
            <a:r>
              <a:rPr lang="en-US" sz="850" dirty="0">
                <a:solidFill>
                  <a:srgbClr val="9ECBFF"/>
                </a:solidFill>
                <a:latin typeface="Courier New" pitchFamily="34" charset="0"/>
                <a:ea typeface="Courier New" pitchFamily="34" charset="-122"/>
                <a:cs typeface="Courier New" pitchFamily="34" charset="-120"/>
              </a:rPr>
              <a:t>'one'</a:t>
            </a:r>
            <a:r>
              <a:rPr lang="en-US" sz="850" dirty="0">
                <a:solidFill>
                  <a:srgbClr val="E6EDF3"/>
                </a:solidFill>
                <a:latin typeface="Courier New" pitchFamily="34" charset="0"/>
                <a:ea typeface="Courier New" pitchFamily="34" charset="-122"/>
                <a:cs typeface="Courier New" pitchFamily="34" charset="-120"/>
              </a:rPr>
              <a:t>], UNDETECTED[</a:t>
            </a:r>
            <a:r>
              <a:rPr lang="en-US" sz="850" dirty="0">
                <a:solidFill>
                  <a:srgbClr val="9ECBFF"/>
                </a:solidFill>
                <a:latin typeface="Courier New" pitchFamily="34" charset="0"/>
                <a:ea typeface="Courier New" pitchFamily="34" charset="-122"/>
                <a:cs typeface="Courier New" pitchFamily="34" charset="-120"/>
              </a:rPr>
              <a:t>'two'</a:t>
            </a:r>
            <a:r>
              <a:rPr lang="en-US" sz="850" dirty="0">
                <a:solidFill>
                  <a:srgbClr val="E6EDF3"/>
                </a:solidFill>
                <a:latin typeface="Courier New" pitchFamily="34" charset="0"/>
                <a:ea typeface="Courier New" pitchFamily="34" charset="-122"/>
                <a:cs typeface="Courier New" pitchFamily="34" charset="-120"/>
              </a:rPr>
              <a:t>], UNDETECTED[</a:t>
            </a:r>
            <a:r>
              <a:rPr lang="en-US" sz="850" dirty="0">
                <a:solidFill>
                  <a:srgbClr val="9ECBFF"/>
                </a:solidFill>
                <a:latin typeface="Courier New" pitchFamily="34" charset="0"/>
                <a:ea typeface="Courier New" pitchFamily="34" charset="-122"/>
                <a:cs typeface="Courier New" pitchFamily="34" charset="-120"/>
              </a:rPr>
              <a:t>'three_or_four_random_of_200000'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(0, 0, 0)</a:t>
            </a:r>
            <a:endParaRPr lang="en-US" sz="850" dirty="0"/>
          </a:p>
        </p:txBody>
      </p:sp>
      <p:sp>
        <p:nvSpPr>
          <p:cNvPr id="13" name="Text 11"/>
          <p:cNvSpPr txBox="1"/>
          <p:nvPr/>
        </p:nvSpPr>
        <p:spPr>
          <a:xfrm>
            <a:off x="7040880" y="20574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Text 12"/>
          <p:cNvSpPr txBox="1"/>
          <p:nvPr/>
        </p:nvSpPr>
        <p:spPr>
          <a:xfrm>
            <a:off x="457200" y="363931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all BIP-350 vectors pass, valid and invalid</a:t>
            </a:r>
            <a:endParaRPr lang="en-US" sz="1150" dirty="0"/>
          </a:p>
        </p:txBody>
      </p:sp>
      <p:sp>
        <p:nvSpPr>
          <p:cNvPr id="15" name="Shape 13"/>
          <p:cNvSpPr/>
          <p:nvPr/>
        </p:nvSpPr>
        <p:spPr>
          <a:xfrm>
            <a:off x="457200" y="3913632"/>
            <a:ext cx="8229600" cy="685800"/>
          </a:xfrm>
          <a:prstGeom prst="roundRect">
            <a:avLst>
              <a:gd name="adj" fmla="val 13333"/>
            </a:avLst>
          </a:prstGeom>
          <a:solidFill>
            <a:srgbClr val="23272E"/>
          </a:solidFill>
          <a:ln w="12700">
            <a:solidFill>
              <a:srgbClr val="23272E"/>
            </a:solidFill>
            <a:prstDash val="solid"/>
          </a:ln>
        </p:spPr>
      </p:sp>
      <p:sp>
        <p:nvSpPr>
          <p:cNvPr id="16" name="Text 14"/>
          <p:cNvSpPr txBox="1"/>
          <p:nvPr/>
        </p:nvSpPr>
        <p:spPr>
          <a:xfrm>
            <a:off x="640080" y="4032504"/>
            <a:ext cx="7863840" cy="4480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V = VECTORS</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VERIFY[</a:t>
            </a:r>
            <a:r>
              <a:rPr lang="en-US" sz="900" dirty="0">
                <a:solidFill>
                  <a:srgbClr val="9ECBFF"/>
                </a:solidFill>
                <a:latin typeface="Courier New" pitchFamily="34" charset="0"/>
                <a:ea typeface="Courier New" pitchFamily="34" charset="-122"/>
                <a:cs typeface="Courier New" pitchFamily="34" charset="-120"/>
              </a:rPr>
              <a:t>'bip350_valid_vectors'</a:t>
            </a:r>
            <a:r>
              <a:rPr lang="en-US" sz="900" dirty="0">
                <a:solidFill>
                  <a:srgbClr val="E6EDF3"/>
                </a:solidFill>
                <a:latin typeface="Courier New" pitchFamily="34" charset="0"/>
                <a:ea typeface="Courier New" pitchFamily="34" charset="-122"/>
                <a:cs typeface="Courier New" pitchFamily="34" charset="-120"/>
              </a:rPr>
              <a:t>], VERIFY[</a:t>
            </a:r>
            <a:r>
              <a:rPr lang="en-US" sz="900" dirty="0">
                <a:solidFill>
                  <a:srgbClr val="9ECBFF"/>
                </a:solidFill>
                <a:latin typeface="Courier New" pitchFamily="34" charset="0"/>
                <a:ea typeface="Courier New" pitchFamily="34" charset="-122"/>
                <a:cs typeface="Courier New" pitchFamily="34" charset="-120"/>
              </a:rPr>
              <a:t>'bip350_invalid_vectors'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 8], [15, 15])</a:t>
            </a:r>
            <a:endParaRPr lang="en-US" sz="900" dirty="0"/>
          </a:p>
        </p:txBody>
      </p:sp>
      <p:sp>
        <p:nvSpPr>
          <p:cNvPr id="17" name="Text 15"/>
          <p:cNvSpPr txBox="1"/>
          <p:nvPr/>
        </p:nvSpPr>
        <p:spPr>
          <a:xfrm>
            <a:off x="7040880" y="363931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bech32m catches what base58 provably misses</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what wallets do today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Version 1, and a real wallet's own defaults</a:t>
            </a:r>
            <a:endParaRPr lang="en-US" sz="1300" dirty="0"/>
          </a:p>
        </p:txBody>
      </p:sp>
      <p:sp>
        <p:nvSpPr>
          <p:cNvPr id="6" name="Text 4"/>
          <p:cNvSpPr txBox="1"/>
          <p:nvPr/>
        </p:nvSpPr>
        <p:spPr>
          <a:xfrm>
            <a:off x="457200" y="11887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version-1 address from the book's witness program</a:t>
            </a:r>
            <a:endParaRPr lang="en-US" sz="1150" dirty="0"/>
          </a:p>
        </p:txBody>
      </p:sp>
      <p:sp>
        <p:nvSpPr>
          <p:cNvPr id="7" name="Shape 5"/>
          <p:cNvSpPr/>
          <p:nvPr/>
        </p:nvSpPr>
        <p:spPr>
          <a:xfrm>
            <a:off x="457200" y="1463040"/>
            <a:ext cx="82296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81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len(bytes.fromhex(PROG_TR))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bytes.fromhex(PROG_TR))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'bc1p9nh05ha8wrljf7ru236awm4t2x0d5ctkkywmu9sclnm4t0av2vgs4k3au7'</a:t>
            </a:r>
            <a:endParaRPr lang="en-US" sz="900" dirty="0"/>
          </a:p>
        </p:txBody>
      </p:sp>
      <p:sp>
        <p:nvSpPr>
          <p:cNvPr id="9" name="Text 7"/>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2860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Core wallet, asked what it uses: wpkh by default</a:t>
            </a:r>
            <a:endParaRPr lang="en-US" sz="1150" dirty="0"/>
          </a:p>
        </p:txBody>
      </p:sp>
      <p:sp>
        <p:nvSpPr>
          <p:cNvPr id="11" name="Shape 9"/>
          <p:cNvSpPr/>
          <p:nvPr/>
        </p:nvSpPr>
        <p:spPr>
          <a:xfrm>
            <a:off x="457200" y="2560320"/>
            <a:ext cx="8229600" cy="1170432"/>
          </a:xfrm>
          <a:prstGeom prst="roundRect">
            <a:avLst>
              <a:gd name="adj" fmla="val 7813"/>
            </a:avLst>
          </a:prstGeom>
          <a:solidFill>
            <a:srgbClr val="23272E"/>
          </a:solidFill>
          <a:ln w="12700">
            <a:solidFill>
              <a:srgbClr val="23272E"/>
            </a:solidFill>
            <a:prstDash val="solid"/>
          </a:ln>
        </p:spPr>
      </p:sp>
      <p:sp>
        <p:nvSpPr>
          <p:cNvPr id="12" name="Text 10"/>
          <p:cNvSpPr txBox="1"/>
          <p:nvPr/>
        </p:nvSpPr>
        <p:spPr>
          <a:xfrm>
            <a:off x="640080" y="2679192"/>
            <a:ext cx="7863840" cy="93268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'legacy'</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'p2sh-segwit'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'bech32'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'bech32m'</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CORE_ADDRESSTYPE]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['legacy', 'p2sh-segwit', 'bech32', 'bech32m']</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9ECBFF"/>
                </a:solidFill>
                <a:latin typeface="Courier New" pitchFamily="34" charset="0"/>
                <a:ea typeface="Courier New" pitchFamily="34" charset="-122"/>
                <a:cs typeface="Courier New" pitchFamily="34" charset="-120"/>
              </a:rPr>
              <a:t>'default: "bech32"'</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 '</a:t>
            </a:r>
            <a:r>
              <a:rPr lang="en-US" sz="900" dirty="0">
                <a:solidFill>
                  <a:srgbClr val="E6EDF3"/>
                </a:solidFill>
                <a:latin typeface="Courier New" pitchFamily="34" charset="0"/>
                <a:ea typeface="Courier New" pitchFamily="34" charset="-122"/>
                <a:cs typeface="Courier New" pitchFamily="34" charset="-120"/>
              </a:rPr>
              <a:t>.join(CORE_ADDRESSTYPE.split())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{n: a[</a:t>
            </a:r>
            <a:r>
              <a:rPr lang="en-US" sz="900" dirty="0">
                <a:solidFill>
                  <a:srgbClr val="9ECBFF"/>
                </a:solidFill>
                <a:latin typeface="Courier New" pitchFamily="34" charset="0"/>
                <a:ea typeface="Courier New" pitchFamily="34" charset="-122"/>
                <a:cs typeface="Courier New" pitchFamily="34" charset="-120"/>
              </a:rPr>
              <a:t>'desc_kind'</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n, a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CORE_WALLET.items()}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{'default': 'wpkh', 'legacy': 'pkh', 'p2sh-segwit': 'sh', 'bech32': 'wpkh', 'bech32m': 'tr'}</a:t>
            </a:r>
            <a:endParaRPr lang="en-US" sz="900" dirty="0"/>
          </a:p>
        </p:txBody>
      </p:sp>
      <p:sp>
        <p:nvSpPr>
          <p:cNvPr id="13" name="Text 11"/>
          <p:cNvSpPr txBox="1"/>
          <p:nvPr/>
        </p:nvSpPr>
        <p:spPr>
          <a:xfrm>
            <a:off x="7040880" y="22860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931920"/>
            <a:ext cx="1829943" cy="274320"/>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931920"/>
            <a:ext cx="1829943"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1... legacy</a:t>
            </a:r>
            <a:endParaRPr lang="en-US" sz="1250" dirty="0"/>
          </a:p>
        </p:txBody>
      </p:sp>
      <p:sp>
        <p:nvSpPr>
          <p:cNvPr id="16" name="Shape 14"/>
          <p:cNvSpPr/>
          <p:nvPr/>
        </p:nvSpPr>
        <p:spPr>
          <a:xfrm>
            <a:off x="2488311" y="3931920"/>
            <a:ext cx="3012948" cy="274320"/>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488311" y="3931920"/>
            <a:ext cx="3012948"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3... script / nested</a:t>
            </a:r>
            <a:endParaRPr lang="en-US" sz="1250" dirty="0"/>
          </a:p>
        </p:txBody>
      </p:sp>
      <p:sp>
        <p:nvSpPr>
          <p:cNvPr id="18" name="Shape 16"/>
          <p:cNvSpPr/>
          <p:nvPr/>
        </p:nvSpPr>
        <p:spPr>
          <a:xfrm>
            <a:off x="5702427" y="3931920"/>
            <a:ext cx="2618613" cy="274320"/>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02427" y="3931920"/>
            <a:ext cx="2618613"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bc1q... segwit v0</a:t>
            </a:r>
            <a:endParaRPr lang="en-US" sz="1250" dirty="0"/>
          </a:p>
        </p:txBody>
      </p:sp>
      <p:sp>
        <p:nvSpPr>
          <p:cNvPr id="20" name="Shape 18"/>
          <p:cNvSpPr/>
          <p:nvPr/>
        </p:nvSpPr>
        <p:spPr>
          <a:xfrm>
            <a:off x="457200" y="4279392"/>
            <a:ext cx="2355723" cy="274320"/>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279392"/>
            <a:ext cx="2355723"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bc1p... taproot</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real wallet's defaults, read from the node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Practice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Habits that keep keys safe</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Fresh addresses</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One seed</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Export with care</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Habits the chapter prescribes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runnable reasons</a:t>
            </a:r>
            <a:endParaRPr lang="en-US" sz="1300" dirty="0"/>
          </a:p>
        </p:txBody>
      </p:sp>
      <p:sp>
        <p:nvSpPr>
          <p:cNvPr id="6" name="Shape 4"/>
          <p:cNvSpPr/>
          <p:nvPr/>
        </p:nvSpPr>
        <p:spPr>
          <a:xfrm>
            <a:off x="457200" y="1389888"/>
            <a:ext cx="3931920" cy="1536192"/>
          </a:xfrm>
          <a:prstGeom prst="roundRect">
            <a:avLst>
              <a:gd name="adj" fmla="val 5952"/>
            </a:avLst>
          </a:prstGeom>
          <a:solidFill>
            <a:srgbClr val="F2ECE1"/>
          </a:solidFill>
          <a:ln w="15875">
            <a:solidFill>
              <a:srgbClr val="D97A14"/>
            </a:solidFill>
            <a:prstDash val="solid"/>
          </a:ln>
        </p:spPr>
      </p:sp>
      <p:sp>
        <p:nvSpPr>
          <p:cNvPr id="7" name="Text 5"/>
          <p:cNvSpPr txBox="1"/>
          <p:nvPr/>
        </p:nvSpPr>
        <p:spPr>
          <a:xfrm>
            <a:off x="640080" y="1499616"/>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Reuse an address</a:t>
            </a:r>
            <a:endParaRPr lang="en-US" sz="1500" dirty="0"/>
          </a:p>
        </p:txBody>
      </p:sp>
      <p:sp>
        <p:nvSpPr>
          <p:cNvPr id="8" name="Text 6"/>
          <p:cNvSpPr txBox="1"/>
          <p:nvPr/>
        </p:nvSpPr>
        <p:spPr>
          <a:xfrm>
            <a:off x="640080" y="1920240"/>
            <a:ext cx="3566160" cy="877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One cluster: every payment publicly linked</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counts identities: 1</a:t>
            </a:r>
            <a:endParaRPr lang="en-US" sz="1200" dirty="0"/>
          </a:p>
        </p:txBody>
      </p:sp>
      <p:sp>
        <p:nvSpPr>
          <p:cNvPr id="9" name="Shape 7"/>
          <p:cNvSpPr/>
          <p:nvPr/>
        </p:nvSpPr>
        <p:spPr>
          <a:xfrm>
            <a:off x="4754880" y="1389888"/>
            <a:ext cx="3931920" cy="1536192"/>
          </a:xfrm>
          <a:prstGeom prst="roundRect">
            <a:avLst>
              <a:gd name="adj" fmla="val 5952"/>
            </a:avLst>
          </a:prstGeom>
          <a:solidFill>
            <a:srgbClr val="F2ECE1"/>
          </a:solidFill>
          <a:ln w="15875">
            <a:solidFill>
              <a:srgbClr val="2F6D62"/>
            </a:solidFill>
            <a:prstDash val="solid"/>
          </a:ln>
        </p:spPr>
      </p:sp>
      <p:sp>
        <p:nvSpPr>
          <p:cNvPr id="10" name="Text 8"/>
          <p:cNvSpPr txBox="1"/>
          <p:nvPr/>
        </p:nvSpPr>
        <p:spPr>
          <a:xfrm>
            <a:off x="4937760" y="1499616"/>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Fresh address each time</a:t>
            </a:r>
            <a:endParaRPr lang="en-US" sz="1500" dirty="0"/>
          </a:p>
        </p:txBody>
      </p:sp>
      <p:sp>
        <p:nvSpPr>
          <p:cNvPr id="11" name="Text 9"/>
          <p:cNvSpPr txBox="1"/>
          <p:nvPr/>
        </p:nvSpPr>
        <p:spPr>
          <a:xfrm>
            <a:off x="4937760" y="1920240"/>
            <a:ext cx="3566160" cy="877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Payments unlinked on the chain</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counts: 3 - and one seed derives them all</a:t>
            </a:r>
            <a:endParaRPr lang="en-US" sz="1200" dirty="0"/>
          </a:p>
        </p:txBody>
      </p:sp>
      <p:sp>
        <p:nvSpPr>
          <p:cNvPr id="12" name="Text 10"/>
          <p:cNvSpPr txBox="1"/>
          <p:nvPr/>
        </p:nvSpPr>
        <p:spPr>
          <a:xfrm>
            <a:off x="457200" y="276148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linkability, counted</a:t>
            </a:r>
            <a:endParaRPr lang="en-US" sz="1150" dirty="0"/>
          </a:p>
        </p:txBody>
      </p:sp>
      <p:sp>
        <p:nvSpPr>
          <p:cNvPr id="13" name="Shape 11"/>
          <p:cNvSpPr/>
          <p:nvPr/>
        </p:nvSpPr>
        <p:spPr>
          <a:xfrm>
            <a:off x="457200" y="3035808"/>
            <a:ext cx="822960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154680"/>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reused = [p2pkh(PUB)] * </a:t>
            </a:r>
            <a:r>
              <a:rPr lang="en-US" sz="900" dirty="0">
                <a:solidFill>
                  <a:srgbClr val="FFD28A"/>
                </a:solidFill>
                <a:latin typeface="Courier New" pitchFamily="34" charset="0"/>
                <a:ea typeface="Courier New" pitchFamily="34" charset="-122"/>
                <a:cs typeface="Courier New" pitchFamily="34" charset="-120"/>
              </a:rPr>
              <a:t>3</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fresh = [p2pkh(pub_bytes(ec_mul(k + i)))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i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(len(set(reused)), len(set(fresh)))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(1, 3)</a:t>
            </a:r>
            <a:endParaRPr lang="en-US" sz="900" dirty="0"/>
          </a:p>
        </p:txBody>
      </p:sp>
      <p:sp>
        <p:nvSpPr>
          <p:cNvPr id="15" name="Text 13"/>
          <p:cNvSpPr txBox="1"/>
          <p:nvPr/>
        </p:nvSpPr>
        <p:spPr>
          <a:xfrm>
            <a:off x="7040880" y="276148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74904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seed, address #0 - chapter 5 opens this door</a:t>
            </a:r>
            <a:endParaRPr lang="en-US" sz="1150" dirty="0"/>
          </a:p>
        </p:txBody>
      </p:sp>
      <p:sp>
        <p:nvSpPr>
          <p:cNvPr id="17" name="Shape 15"/>
          <p:cNvSpPr/>
          <p:nvPr/>
        </p:nvSpPr>
        <p:spPr>
          <a:xfrm>
            <a:off x="457200" y="4023360"/>
            <a:ext cx="8229600" cy="566928"/>
          </a:xfrm>
          <a:prstGeom prst="roundRect">
            <a:avLst>
              <a:gd name="adj" fmla="val 16129"/>
            </a:avLst>
          </a:prstGeom>
          <a:solidFill>
            <a:srgbClr val="23272E"/>
          </a:solidFill>
          <a:ln w="12700">
            <a:solidFill>
              <a:srgbClr val="23272E"/>
            </a:solidFill>
            <a:prstDash val="solid"/>
          </a:ln>
        </p:spPr>
      </p:sp>
      <p:sp>
        <p:nvSpPr>
          <p:cNvPr id="18" name="Text 16"/>
          <p:cNvSpPr txBox="1"/>
          <p:nvPr/>
        </p:nvSpPr>
        <p:spPr>
          <a:xfrm>
            <a:off x="640080" y="4142232"/>
            <a:ext cx="7863840" cy="329184"/>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hashlib.sha256((SEED + </a:t>
            </a:r>
            <a:r>
              <a:rPr lang="en-US" sz="890" dirty="0">
                <a:solidFill>
                  <a:srgbClr val="9ECBFF"/>
                </a:solidFill>
                <a:latin typeface="Courier New" pitchFamily="34" charset="0"/>
                <a:ea typeface="Courier New" pitchFamily="34" charset="-122"/>
                <a:cs typeface="Courier New" pitchFamily="34" charset="-120"/>
              </a:rPr>
              <a:t>' + 0\n'</a:t>
            </a:r>
            <a:r>
              <a:rPr lang="en-US" sz="890" dirty="0">
                <a:solidFill>
                  <a:srgbClr val="E6EDF3"/>
                </a:solidFill>
                <a:latin typeface="Courier New" pitchFamily="34" charset="0"/>
                <a:ea typeface="Courier New" pitchFamily="34" charset="-122"/>
                <a:cs typeface="Courier New" pitchFamily="34" charset="-120"/>
              </a:rPr>
              <a:t>).encode()).hexdigest()[:</a:t>
            </a:r>
            <a:r>
              <a:rPr lang="en-US" sz="890" dirty="0">
                <a:solidFill>
                  <a:srgbClr val="FFD28A"/>
                </a:solidFill>
                <a:latin typeface="Courier New" pitchFamily="34" charset="0"/>
                <a:ea typeface="Courier New" pitchFamily="34" charset="-122"/>
                <a:cs typeface="Courier New" pitchFamily="34" charset="-120"/>
              </a:rPr>
              <a:t>8</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'50b18e0b'</a:t>
            </a:r>
            <a:endParaRPr lang="en-US" sz="890" dirty="0"/>
          </a:p>
        </p:txBody>
      </p:sp>
      <p:sp>
        <p:nvSpPr>
          <p:cNvPr id="19" name="Text 17"/>
          <p:cNvSpPr txBox="1"/>
          <p:nvPr/>
        </p:nvSpPr>
        <p:spPr>
          <a:xfrm>
            <a:off x="7040880" y="37490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Fresh address every time; the wallet derives, you back up once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private key is a 256-bit number; the curve turns it into a public point, one way only</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13 lines of double-and-add on these slides computed every key we showed</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Formats are the same numbers dressed to travel - version byte, checksum, alphabet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address is a commitment: the eater address holds 13.4 BTC no key can ever spend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bech32m's error detection is proven, not anecdotal - and wallets default to segwit today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4: Keys and Addresses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Diffie, Hellman: New Directions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1976 paper that introduced public-key cryptography</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base58.h in bitcoin/bitcoin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Satoshi's comment on why 58 characters were chosen</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173: Base32 address format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bech32 addresses for native segwit outputs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350: Bech32m addresses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bech32m fix used by v1+ (taproot) addresses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1BitcoinEater... on blockstream.info (address)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unspendable address and every coin sent into it</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 Keys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Private keys, public keys and addresses, drawn stepwise</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secret number; everything else on these slides is derivation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private key is, and what makes one safe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 becomes K becomes an address - and never back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checksum catches, and what it cannot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address format to use today, and why</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4</dc:title>
  <dc:subject>PptxGenJS Presentation</dc:subject>
  <dc:creator>Yusuf Altunel</dc:creator>
  <cp:lastModifiedBy>Yusuf Altunel</cp:lastModifiedBy>
  <cp:revision>1</cp:revision>
  <dcterms:created xsi:type="dcterms:W3CDTF">2026-10-18T22:17:57Z</dcterms:created>
  <dcterms:modified xsi:type="dcterms:W3CDTF">2026-10-18T22:17:57Z</dcterms:modified>
  <cp:version>3.2.0</cp:version>
</cp:coreProperties>
</file>