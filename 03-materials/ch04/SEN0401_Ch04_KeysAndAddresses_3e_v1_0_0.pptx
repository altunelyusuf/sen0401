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free under CC BY-SA 4.0. Every number on these slides was computed under Python 3.14.4 by a toolkit written for this chapter (08-tooling/ch04-evidence), and checked against Bitcoin Core 31.1, the bech32 reference library the book runs, and the BIP350 test vectors. The toolkit is for reading, not for real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the introduction and Public Key Cryptography: the scheme of the original paper, in which a payment goes to a public key and is signed by the spender.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the sidebar Why Use Asymmetric Cryptography (Public/Private Keys)?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Private Keys: any number between 0 and n − 1; use a cryptographically secure generator. Python 3.14.4 documentation, the secrets module. Executed under Python 3.14.4; the value of k differs on every run and only the check 0 &lt; k &lt; n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Elliptic Curve Cryptography Explained, Example 4-1. P is defined in the chapter toolkit.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 2 version 2.0, 27 January 2010, Table 2, rows secp256k1 and secp256r1, columns ANSI X9.62, IEEE P1363, IPSec and NIST: for secp256k1 the NIST column is a dash, for secp256r1 it is r. Book statement: chapter 4, Elliptic Curve Cryptography Explained. SEC 2’s legend: a dash denotes parameters nonconformant with the standard, c conformant, r explicitly recommended. Recorded as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Public Keys. The two functions are the toolkit’s, shown exactly as they run; the check requires the slide to equal the source. Not constant-time and not for real funds; real software uses libsecp256k1.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Public Keys. The coordinates equal those printed.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Compressed Public Keys. The compressed key equals the one printed (prefix 03, y odd). The y coordinate is recovered with one modular exponentiation because p is 3 modulo 4.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Legacy Addresses for P2PKH: the SHA-256 commitment to the answer to the Satoshi question, and HASH160 = RIPEMD-160(SHA-256(K)). Executed under Python 3.14.4; RIPEMD-160 needs a Python built with an OpenSSL that provides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Core 31.1, downloaded, checked against its published checksums and run as an offline node with the book’s public keys; the outputs are in 08-tooling/ch04-evidence. getdescriptorinfo and deriveaddresses on pkh(public key) gave the two addresses; validateaddress accepts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Base58check Encoding and its table of version prefixes. The first characters were computed from the smallest and largest payloads of the right length: version 0x00 begins with 1, 0x05 with 3, 0xc4 with 2, and 0x80 with a suffix begins with K or L.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sections Private Key Formats and Compressed Private Keys: both strings equal the ones printed. Bitcoin Core 31.1 turns each of them into the matching address through the descriptors pkh(WIF): the uncompressed WIF gives 1424C2F4… and the compressed one 1J7mdg5r….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sections Legacy Pay to Script Hash (P2SH) and the sidebar P2SH Collision Attacks. Hash rate from the mempool.space API read on 2026-09-28 (a third party’s estimate). The P2SH example 3F6i6kwk… has a valid checksum and version byte 5.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Bech32m: the four addresses and the reference library it runs (sipa/bech32). The toolkit and the library produce the same four strings; Bitcoin Core 31.1 validates all four and reports witness versions 0, 0, 1 and 16.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Problems with Bech32 Addresses and Bech32m. EXT is the intended string and the five extended ones the book prints. Core 31.1 answered “Version 1+ witness address must use Bech32m checksum” for each.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Bech32 Addresses: any error affecting four characters or fewer is detected. The exhaustive and random tests are 08-tooling/ch04-evidence/sen0401_ch04_verify_v1_0_0.py; the typo example is the book’s bc1p9nh05… with two characters changed, whose positions Core reports as 25 and 40, the two letters the book underlines.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Core 31.1, downloaded, checked against its published checksums and run as an offline node with the book’s public keys; the outputs are in 08-tooling/ch04-evidence. The reference library and the BIP350 vectors were read on 2026-09-29 from github.com/sipa/bech32 and the BIPs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Core 31.1, downloaded, checked against its published checksums and run as an offline node with the book’s public keys; the outputs are in 08-tooling/ch04-evidence. getnewaddress with each type on a throw-away wallet, getaddressinfo for the kind of script. The addresstype option’s help gives the default as bech32.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Core 31.1, downloaded, checked against its published checksums and run as an offline node with the book’s public keys; the outputs are in 08-tooling/ch04-evidence. Bitcoin Core 30.0 release notes list dumpprivkey and importprivkey among the removed legacy wallet RPCs. The owner’s course notes, slides 31 and 32, run getnewaddress and dumpprivkey; slides 115 to 121 cover BIP38, which the 3rd edition’s chapter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Mastering Bitcoin, 3rd edition, chapter 4 (Antonopoulos and Harding, 2023), section Vanity Addresses, the table of pattern frequency and average search time. Recomputed with average time = 58^n / 2 / 100,000 keys per second: the book’s times agree through seven characters and are about a third shorter from eight. Executed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Decentralized Identifiers (DIDs) v1.0, W3C Recommendation, 19 July 2022, abstract. The project idea is a teaching suggestion within the term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prompts written for this deck from its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 that anyone can verify a signature that only the key’s owner could make; SEC 2 by Certicom Research, and no; the two keys hash to different commitments; the checksum constant, 1 against 0x2bc830a3, which stops a q added or removed before a final p passing unnoticed; a legacy P2PKH address of the compressed key, and a bech32 P2WPKH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03-materials/ch04/rdodi/sen0401_ch04_research_v1_0_0.ttl.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5 of the 3rd edition is Wallets.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371600"/>
            <a:ext cx="228600" cy="0"/>
          </a:xfrm>
          <a:prstGeom prst="line">
            <a:avLst/>
          </a:prstGeom>
          <a:noFill/>
          <a:ln w="1905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A4250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1371600"/>
            <a:ext cx="228600" cy="0"/>
          </a:xfrm>
          <a:prstGeom prst="line">
            <a:avLst/>
          </a:prstGeom>
          <a:noFill/>
          <a:ln w="19050">
            <a:solidFill>
              <a:srgbClr val="F79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7931A"/>
          </a:solidFill>
          <a:ln w="1905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4: Keys and Addresses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random number to a string a payer can type — recomputed, and checked three ways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SEN0401 Special Topics in Software Engineering: Block Chain · Fall 2026 · Yusuf Altunel, PhD · İstanbul Kültür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Paying Bob without naming him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is a key, not a person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key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accepts bitcoins to a public key. Anyone can read it; it names no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proves she may spend her earlier output by signing with the private key behind her public key.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typo-proof text that stands for the key, or for a script the key unlocks.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Signatures, not secrecy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Bitcoin uses asymmetric cryptography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for hiding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a transaction is encrypted. The blockchain is public.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proving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56232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private key’s owner can produce a signature; anyone with the public key and the transaction can check it. So everyone can verify every spend.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private key is a number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at random, below 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5029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 2**256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== 2**256 - 2**32 - 2**9 - 2**8 - 2**7 - 2**6 - 2**4 - 1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secrets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secrets.randbelow(n - 1) + 1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&lt; k &lt; 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8561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2801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secrets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10512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Python’s documentation: secrets is for security tokens and secrets; random is for simulation.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the order of the curve, about 1.1579 × 10⁷⁷. Never write your own random code for real keys.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curve: secp256k1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y² = x³ + 7 over a prime field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55066263022277343669578718895168534326250603453777594175500187360389116729240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32670510020758816978083085130507043184471273380659243275938904335757337482424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** 3 + 7 - y ** 2) % 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340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4-1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021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the book gives lies on the curve: the difference is 0 modulo 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9718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08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prime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021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2²⁵⁶ − 2³² − 977, which is the book’s longer sum of powers of two.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correction: who defined the curve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credits NIST; the standard does not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 X9.62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P1363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secp256k1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conformant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conformant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–: not in the NIST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secp256r1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r: recommended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conformant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r: recommended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9260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564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2 (Standards for Efficient Cryptography, Certicom Research, 2010), Table 2. The book says secp256k1 was “established by” NIST. Bitcoin’s curve is a Koblitz curve defined in SEC 2, and the NIST column of SEC 2’s table marks secp256r1 as recommended and secp256k1 with a dash: not in that list.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key = k × 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and add: about 256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2697480"/>
          </a:xfrm>
          <a:prstGeom prst="roundRect">
            <a:avLst>
              <a:gd name="adj" fmla="val 339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7863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ec_add(a, b):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 is None: return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 is None: return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a[0] == b[0] and (a[1] + b[1]) % P == 0: return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(3 * a[0] * a[0] * pow(2 * a[1], -1, P) if a == b else (b[1] - a[1]) * pow(b[0] - a[0], -1, P)) % 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(m * m - a[0] - b[0]) % 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(x, (m * (a[0] - x) - a[1]) % 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ec_mul(k, pt=G):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 &amp; 1: out = ec_add(out, pt)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pt = ec_add(pt, pt); k &gt;&gt;=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ec_add is the chord-and-tangent rule; ec_mul adds a point to itself by doubling. G is the fixed generator point of secp256k1.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book’s public key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× G for k = 1E99…AEDD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2148840"/>
          </a:xfrm>
          <a:prstGeom prst="roundRect">
            <a:avLst>
              <a:gd name="adj" fmla="val 4255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0x1E99423A4ED27608A15A2616A2B0E9E52CED330AC530EDCC32C8FFC6A526AEDD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ec_mul(k)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hex(K[0])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'0xf028892bad7ed57d2fb57bf33081d5cfcf6f9ed3d3d7f159c2e2fff579dc341a'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hex(K[1])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'0x7cf33da18bd734c600b96a72bbc4749d5141c90ec8ac328ae52ddfe2e505bdb'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ec_mul(N) is None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655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as the book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336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begins F028892B and y ends 2E505BDB. n × G is the point at infinity, so no key is n or more.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Compressed and uncompressed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two spellings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ec_mul(0x1E99423A4ED27608A15A2616A2B0E9E52CED330AC530EDCC32C8FFC6A526AEDD)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= pub_bytes(K)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pub.hex()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'03f028892bad7ed57d2fb57bf33081d5cfcf6f9ed3d3d7f159c2e2fff579dc341a'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len(pub), len(pub_bytes(K, False))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(33, 65)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decompress(pub) == 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369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3977640" cy="1005840"/>
          </a:xfrm>
          <a:prstGeom prst="roundRect">
            <a:avLst>
              <a:gd name="adj" fmla="val 909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or 03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050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prefix records whether y is even or odd; x alone fixes y up to sign.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474720"/>
            <a:ext cx="3977640" cy="1005840"/>
          </a:xfrm>
          <a:prstGeom prst="roundRect">
            <a:avLst>
              <a:gd name="adj" fmla="val 909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611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40050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form: x and y, 65 bytes.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hash is a commitment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hash now, reveal the input later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874520"/>
          </a:xfrm>
          <a:prstGeom prst="roundRect">
            <a:avLst>
              <a:gd name="adj" fmla="val 4878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hashlib.sha256(b'2007.  He said about a year and a half before Oct 2008\n').hexdigest()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'94d7a772612c8f2f2ec609d41f5bd3d04a5aa1dfe3582f04af517d396a302e4e'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ec_mul(0x1E99423A4ED27608A15A2616A2B0E9E52CED330AC530EDCC32C8FFC6A526AEDD)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hash160(pub_bytes(K)).hex()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'bbc1e42a39d05a4cc61752d6963b7f69d09bb27b'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hash160(pub_bytes(K)) == hash160(pub_bytes(K, False))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912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keys, two hashes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59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compressed and the uncompressed key of one private key hash to different 20-byte commitments, so they make different addresses.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P2PKH address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0x00, the commitment, base58check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ec_mul(0x1E99423A4ED27608A15A2616A2B0E9E52CED330AC530EDCC32C8FFC6A526AEDD)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p2pkh(pub_bytes(K))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'1J7mdg5rbQyUHENYdx39WVWK7fsLpEoXZy'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p2pkh(pub_bytes(K, False))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'1424C2F4bC9JidNjjTUZCbUxv6Sa1Mt62x'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797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 Core 31.1 says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1J7mdg5rbQyUHENYdx39WVWK7fsLpEoXZy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uncompressed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1424C2F4bC9JidNjjTUZCbUxv6Sa1Mt62x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Base58check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characters, a version byte, a checksum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[b58check(bytes([v]) + bytes(20))[0] for v in (0x00, 0x05, 0xc4)]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['1', '3', '2']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b58check(b'\x80' + bytes(32) + b'\x01')[0], b58check(b'\x80' + b'\xff' * 32 + b'\x01')[0]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('K', 'L')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b58check(bytes.fromhex('0488B21E') + bytes(74))[:4]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'xpub'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797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alphabet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4787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0, O, l, I: they look alike in many fonts. Plus and slash are dropped too.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0175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checksum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4787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four bytes of SHA-256 applied twice to the prefixed data, appended before encoding.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import format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private key, two exports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0x1E99423A4ED27608A15A2616A2B0E9E52CED330AC530EDCC32C8FFC6A526AEDD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wif(k, False)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'5J3mBbAH58CpQ3Y5RNJpUKPE62SQ5tfcvU2JpbnkeyhfsYB1Jcn'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wif(k)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'KxFC1jmwwCoACiCAWZ3eXa96mBM6tb3TYzGmf6YwgdGWZgawvrtJ'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b58check_decode(wif(k)).hex()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'801e99423a4ed27608a15a2616a2b0e9e52ced330ac530edcc32c8ffc6a526aedd01'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284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compressed key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9651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01 suffix says: only derive compressed public keys from this key. That one byte moves the first character from 5 to K.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P2SH, and the collision numbers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commitment to a script; numbers to refresh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4480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= 9.5e20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round(hr * 3600 / 2**80, 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round(2**128 / hr / 31_557_600 / 1e9)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round(2**128 / (2**80 / 3600) / 31_557_600 / 1e9)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455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32120" y="1280160"/>
            <a:ext cx="3154680" cy="182880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0" y="1417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book, 2023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181051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miners: about 2⁸⁰ hashes an hour; 2¹²⁸ hashes would take about 32 billion years.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679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party’s hash-rate estimate is 9.5 × 10²⁰ hashes a second: 2.8 times the hourly figure, and about 11 billion years for 2¹²⁸ hashes. The conclusion stands; the numbers moved.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Bech32 addresses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HRP, 1, version, program, checksum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segwit_address('bc', 0, bytes.fromhex(PROG_WPKH))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'bc1q9d3xa5gg45q2j39m9y32xzvygcgay4rgc6aaee'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segwit_address('bc', 0, bytes.fromhex(PROG_WSH))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'bc1qvj9r9egtd7mu2gemy28kpf4zefq4ssqzdzzycj7zjhk4arpavfhsct5a3p'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segwit_address('bc', 1, bytes.fromhex(PROG_TR))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'bc1p9nh05ha8wrljf7ru236awm4t2x0d5ctkkywmu9sclnm4t0av2vgs4k3au7'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segwit_address('bc', 16, bytes.fromhex('0000'))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'bc1sqqqqkfw08p'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083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383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764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bc, the separator 1, then q for version 0 or p for 1, the witness program, and six checksum characters.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24612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383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four as the book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7764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the book’s own library and, for the first three, Bitcoin Core’s validation all agree.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PROG_WPKH, PROG_WSH and PROG_TR are the three programs the book prints.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Bech32 and bech32m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constant apart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78638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BECH32, hex(BECH32M)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'0x2bc830a3')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[bech_check(a) == BECH32 for a in EXT]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[True, True, True, True, True, True]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[bech_check(a) == BECH32M for a in EXT]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[False, False, False, False, False, False]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169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bech32m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850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old constant, adding or removing q before a final p kept the checksum valid. All six strings the book lists pass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15468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291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 Core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850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all six: a version 1 witness must use a bech32m checksum.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Errors: detected, and located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guarantees, tested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on the book’s bc1q9d3x… 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Undetected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one-character substitution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two-character substitution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random three- or four-character substitutions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book’s typo example, in Bitcoin Core 31.1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located at 25 and 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test, not a proof: the guarantee for up to four characters is a property of the code, which the tests do not replace.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checks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down, so you can rerun them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1645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book’s bech32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four addresses, 8 valid and 15 invalid BIP350 vectors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 Core 31.1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key to address, WIF to address, validation of every printed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chapter’s toolkit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key, addresses, WIF, checksums, vectors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BIP173 and BIP350, which define bech32 and bech32m, are both marked Deployed in the BIPs repository.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new wallet hands out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Core 31.1: four types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like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bc1q…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P2WPKH, witness v0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P2PKH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p2sh-segwit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P2SH wrapping P2WPKH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bech32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bc1q…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P2WPKH, witness v0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bech32m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bc1p…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taproot, witness 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is bech32; the book’s 1J7… address is the legacy type.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Exporting one key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notes’ commands, on 31.1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9377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bitcoin-cli getnewaddress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bc1q…            # not 1J7… any more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bitcoin-cli dumpprivkey &lt;address&gt;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help: unknown command: dumpprivkey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bitcoin-cli importprivkey &lt;WIF&gt;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help: unknown command: importprivkey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7413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31.1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0" y="132588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possible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85623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WIF key inside a descriptor: pkh(WIF) gives its address. Wallets are descriptor wallets.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BIP38 encrypts a key under a passphrase; the BIPs repository marks it Deployed with the comment “Unanimously Discourage for implementation”.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Vanity addresses, recomputed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character multiplies the work by 58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41148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[58**n for n in (2, 3, 4)]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[3364, 195112, 11316496]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round(58**8 / 2 / 100_000 / 31_557_600, 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79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58**11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24986644000165537792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8833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80160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seconds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13–18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1,180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million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million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100,000 keys a second, average time = half the frequency. The book’s frequencies are exact except 23 quintillion for eleven: 58¹¹ is 25 quintillion.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theme: keys and identifiers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pair proves control without asking anyone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pair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proves control by signing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6898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what a key controls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3716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URI for a subject and its keys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W3C’s Decentralized Identifiers are URIs that associate a subject with a DID document carrying cryptographic material such as verification methods; the controller can prove control without permission from any other party.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idea: describe a Bitcoin address as a DID document and list what a verifier would check.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what you got so far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reproduced a book’s numbers three ways. Which of the three would you trust least, and why?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or number in the chapter has aged, or was never right?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key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56232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export a single private key today? What would you use instead?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before you open the interactive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Bitcoin use asymmetric cryptography, if not to keep transactions secret?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standard defines secp256k1, and is it a NIST curve?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one private key’s compressed and uncompressed public keys give different addresses?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change separates bech32 from bech32m, and what does it protect against?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1J7… address: what type is it, and what does a 31.1 wallet give you by default?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Antonopoulos, A. M., Harding, D. A. (2023). Mastering Bitcoin, 3rd ed., ch. 4. O’Reilly. CC BY-SA 4.0. github.com/bitcoinbook/bitcoinbook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Certicom Research (2010). SEC 2: Recommended Elliptic Curve Domain Parameters, version 2.0, Table 2. secg.org/sec2-v2.pdf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Wuille, P. (2020). BIP173, BIP350 and the bech32 reference code. github.com/bitcoin/bips, github.com/sipa/bech32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Core (2026). Release 31.1 run as an offline node; release notes 30.0. bitcoincore.org, github.com/bitcoin/bitcoin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Mempool Space (2026). Hash rate. mempool.space/api. A third party’s estimate.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(2022). Decentralized Identifiers (DIDs) v1.0. w3.org/TR/did-core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(2026). secrets, Python 3.14.4 documentation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Altunel, Y. (2021). Course notes, chapter 4, after Mastering Bitcoin 2nd ed. — checked against the 3rd edition and 31.1 before use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Mastering Bitcoin, 3rd edition, under CC BY-SA 4.0; this deck is shared under the same licence.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5 — Wallets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4 page, and edit its examples in the playground.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1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SEN0401 Chapter 4 - Keys and Addresses</dc:title>
  <dc:subject>PptxGenJS Presentation</dc:subject>
  <dc:creator>Yusuf Altunel</dc:creator>
  <cp:lastModifiedBy>Yusuf Altunel</cp:lastModifiedBy>
  <cp:revision>1</cp:revision>
  <dcterms:created xsi:type="dcterms:W3CDTF">2026-09-28T22:49:56Z</dcterms:created>
  <dcterms:modified xsi:type="dcterms:W3CDTF">2026-09-28T22:49:56Z</dcterms:modified>
  <cp:version>1.0.0</cp:version>
</cp:coreProperties>
</file>