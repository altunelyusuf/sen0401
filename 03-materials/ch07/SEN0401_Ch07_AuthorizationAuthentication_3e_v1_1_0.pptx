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22-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Inputs of block 775,072 by the script they spend</a:t>
            </a:r>
          </a:p>
        </c:rich>
      </c:tx>
      <c:layout/>
      <c:overlay val="0"/>
    </c:title>
    <c:autoTitleDeleted val="0"/>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Sibling hashes needed to prove one script</a:t>
            </a:r>
          </a:p>
        </c:rich>
      </c:tx>
      <c:layout/>
      <c:overlay val="0"/>
    </c:title>
    <c:autoTitleDeleted val="0"/>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 scripts</c:v>
                  </c:pt>
                  <c:pt idx="1">
                    <c:v>8 scripts</c:v>
                  </c:pt>
                  <c:pt idx="2">
                    <c:v>1,024 scripts</c:v>
                  </c:pt>
                  <c:pt idx="3">
                    <c:v>1,048,576 scripts</c:v>
                  </c:pt>
                </c:lvl>
              </c:multiLvlStrCache>
            </c:multiLvlStrRef>
          </c:cat>
          <c:val>
            <c:numRef>
              <c:f>Sheet1!$B$2:$B$5</c:f>
              <c:numCache>
                <c:formatCode>General</c:formatCode>
                <c:ptCount val="4"/>
                <c:pt idx="0">
                  <c:v>2</c:v>
                </c:pt>
                <c:pt idx="1">
                  <c:v>3</c:v>
                </c:pt>
                <c:pt idx="2">
                  <c:v>10</c:v>
                </c:pt>
                <c:pt idx="3">
                  <c:v>20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the three paths of one contract (weight units)</a:t>
            </a:r>
          </a:p>
        </c:rich>
      </c:tx>
      <c:layout/>
      <c:overlay val="0"/>
    </c:title>
    <c:autoTitleDeleted val="0"/>
    <c:plotArea>
      <c:layout/>
      <c:barChart>
        <c:barDir val="col"/>
        <c:grouping val="clustered"/>
        <c:varyColors val="0"/>
        <c:ser>
          <c:idx val="0"/>
          <c:order val="0"/>
          <c:tx>
            <c:strRef>
              <c:f>Sheet1!$B$1</c:f>
              <c:strCache>
                <c:ptCount val="1"/>
                <c:pt idx="0">
                  <c:v>tapscript leaf</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P2WSH script</c:v>
                </c:pt>
              </c:strCache>
            </c:strRef>
          </c:tx>
          <c:spPr>
            <a:solidFill>
              <a:srgbClr val="2F6D62"/>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Sheet1!$C$2:$C$4</c:f>
              <c:numCache>
                <c:formatCode>General</c:formatCode>
                <c:ptCount val="3"/>
                <c:pt idx="0">
                  <c:v>585</c:v>
                </c:pt>
                <c:pt idx="1">
                  <c:v>584</c:v>
                </c:pt>
                <c:pt idx="2">
                  <c:v>509</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locking script, the spender supplies an unlocking script, and a node runs the two and accepts the spend only if the result is true. The full text of every slide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taproot spend the reader has examined alone. One story is the bug of 2010 in which an input script of one number and OP_RETURN could spend any output, one is the fork of July 2015 that followed a rule about the encoding of signatures, and one is the path of a signature scheme from a patent to the soft fork of November 2021.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full explanation is on the course page, chapter 7, under From a public key to its hash and The language and its limits, in the concepts Script,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concepts Script, The script execution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a very simple data structure that the book compares to a stack of cards. It has two base operations: push adds an item on top of the stack and pop removes the top item. The full explanation is on the course page, chapter 7, under From a public key to its hash and The language and its limits, in the concepts The script execution stack,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One of them, recorded as CVE-2010-5141, let an attacker spend coins that they did not own: the first software joined the input script and the output script into one program and treated OP_RETURN as a jump to the end, so an input script of 1 followed by OP_RETURN ended the run with a true value and the output script never ran. The lesson is this: Run the two scripts separately, and fail closed on anything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and The t-of-k script and its limits, in the concepts Signature encoding (DER), Scripted multisignature.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in the concepts Signature encoding (DER), The signature hash and its hash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A small miner that had not upgraded then produced an invalid block, as was expected, but roughly half of the network's hash rate was mining without fully validating blocks and built on top of it, so a fork of 6 blocks lasted from 02:10 to 03:50 UTC and a second of 3 blocks followed on 5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scripted multisignature is an output script that sets a condition where k public keys are recorded in the script and at least t of them must provide signatures to spend the funds. The book calls this t-of-k and notes that earlier editions, and much other documentation, write m-of-n, which is hard to say aloud because m and n sound alike (Antonopoulos and Harding, 2023). The full explanation is on the course page, chapter 7, under The t-of-k script and its limits, in the concepts Scripted multisignature, Multisignature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redeem script is the script that a pay to script hash output stands for. The book says it is called that because it is presented to the system at redemption time rather than as an output script. The console hashes the 105-byte script into a 23-byte output and a 34-character address starting with 3, spends it with two real signatures, and then shows that presenting a script that hashes to a different value fails. The full explanation is on the course page, chapter 7, under Hashing the script, in the concepts Redeem script, Pay to script hash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capital-account script is the book's combined example. The full explanation is on the course page, chapter 7, under Conditionals and guards and Script with timelocks and signers, in the concepts Capital account script, Scripts with several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Trees of alternative scripts and Witness programs and addresses, in the concepts Witness program, Merklized alternative script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Witness programs and addresses, in the concepts Witness program, Pay to witness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Merklized alternative script tree, MAST for short, is the way to use a merkle tree to authorize many different spending conditions. The full explanation is on the course page, chapter 7, under Trees of alternative scripts, in the concepts Merklized alternative script tree, Two meanings of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figure is the book's picture of a taproot output in which the public key commits to the Merkle root of a script tree.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path spending is the spending of a taproot output by one of its scripts. The book lists what the witness holds: a version number; the underlying key, the taproot internal key; the script to execute, called the leaf script; one 32-byte hash for each junction in the Merkle tree along the path that connects the leaf to the root; and any data needed to satisfy the script, such as signatures or preimages (Antonopoulos and Harding, 2023). The full explanation is on the course page, chapter 7, under Taproot outputs, in the concepts Script path spending, Control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 BIP340 was assigned in January 2020 to standardise Schnorr signatures on Bitcoin's curve, BIP341 and BIP342 added the taproot output and tapscript, and the rules took effect at block 709,632 on 14 November 2021, a block of 2,043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OP_CHECKSIGADD is the opcode that replaces OP_CHECKMULTISIG. The book says that it increments a counter by one when it successfully verifies a signature, which makes it possible to count how many signatures passed and compare the count with the number wanted. The full explanation is on the course page, chapter 7, under Tapscript, in the concepts OP_CHECKSIGADD, OP_SUCCESS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with the chapter's own interpreter. The full text behind all five lines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read the source of the first script engine next to today's rules and find the line where OP_RETURN changed meaning, then run the same script in the chapter's library on the course page. The course page for chapter 7 carries the full resource list, including the chapter itself and Bitcoin Core's interpreter,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with the chapter's own interpreter, which is checked against Bitcoin Core's published script tests and against every input of a real block. The course page for chapter 7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en.bitcoin.it/wiki/Common_Vulnerabilities_and_Exposures"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raw.githubusercontent.com/bitcoin/bips/master/bip-0066.mediawiki" TargetMode="External"/><Relationship Id="rId4" Type="http://schemas.openxmlformats.org/officeDocument/2006/relationships/hyperlink" Target="https://raw.githubusercontent.com/bitcoin/bips/master/bip-0141.mediawiki" TargetMode="External"/><Relationship Id="rId5" Type="http://schemas.openxmlformats.org/officeDocument/2006/relationships/hyperlink" Target="https://raw.githubusercontent.com/bitcoin/bips/master/bip-0341.mediawiki" TargetMode="External"/><Relationship Id="rId6" Type="http://schemas.openxmlformats.org/officeDocument/2006/relationships/hyperlink" Target="https://raw.githubusercontent.com/bitcoin/bips/master/bip-0342.mediawiki" TargetMode="External"/><Relationship Id="rId7" Type="http://schemas.openxmlformats.org/officeDocument/2006/relationships/hyperlink" Target="https://raw.githubusercontent.com/bitcoin/bitcoin/v0.3.0/script.cpp" TargetMode="External"/><Relationship Id="rId8" Type="http://schemas.openxmlformats.org/officeDocument/2006/relationships/hyperlink" Target="https://en.bitcoin.it/wiki/Common_Vulnerabilities_and_Exposures" TargetMode="External"/><Relationship Id="rId9" Type="http://schemas.openxmlformats.org/officeDocument/2006/relationships/hyperlink" Target="https://bitcoin.org/en/alert/2015-07-04-spv-mining" TargetMode="External"/><Relationship Id="rId10" Type="http://schemas.openxmlformats.org/officeDocument/2006/relationships/hyperlink" Target="https://bitcoinops.org/en/topics/taproot/" TargetMode="External"/><Relationship Id="rId11" Type="http://schemas.openxmlformats.org/officeDocument/2006/relationships/hyperlink" Target="https://en.bitcoin.it/wiki/Taproot"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 every spend run in a real interpreter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731520"/>
            <a:ext cx="4846320" cy="1005840"/>
          </a:xfrm>
          <a:prstGeom prst="rect">
            <a:avLst/>
          </a:prstGeom>
        </p:spPr>
      </p:pic>
      <p:sp>
        <p:nvSpPr>
          <p:cNvPr id="12" name="Text 9"/>
          <p:cNvSpPr txBox="1"/>
          <p:nvPr/>
        </p:nvSpPr>
        <p:spPr>
          <a:xfrm>
            <a:off x="3749040" y="1755648"/>
            <a:ext cx="4846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locking and unlocking scripts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and the stack - the OP_RETURN bug of 2010  (slides 5-7)</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Signatures, multisig and script hash - the 2015 DER fork  (slides 8-12)</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Time and flow control - timelocks and the three paths  (slides 13-15)</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Witness programs and script trees  (slides 16-18)</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Taproot and tapscript - the 2021 soft fork, summary and resources  (slides 19-26)</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taproot spend you have read yourself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a Bitcoin output ask of its spender, and how do the input script and the output script together decide whether a spend is authorized?</a:t>
            </a:r>
            <a:endParaRPr lang="en-US" sz="1050" dirty="0"/>
          </a:p>
        </p:txBody>
      </p:sp>
      <p:sp>
        <p:nvSpPr>
          <p:cNvPr id="9" name="Shape 7"/>
          <p:cNvSpPr/>
          <p:nvPr/>
        </p:nvSpPr>
        <p:spPr>
          <a:xfrm>
            <a:off x="457200" y="1786999"/>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6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50423"/>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a script run on a stack, why is the language deliberately not Turing complete, and why can every node verify a spend without knowing anything but the transaction and the outputs it spends?</a:t>
            </a:r>
            <a:endParaRPr lang="en-US" sz="1050" dirty="0"/>
          </a:p>
        </p:txBody>
      </p:sp>
      <p:sp>
        <p:nvSpPr>
          <p:cNvPr id="12" name="Shape 10"/>
          <p:cNvSpPr/>
          <p:nvPr/>
        </p:nvSpPr>
        <p:spPr>
          <a:xfrm>
            <a:off x="457200" y="225726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72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20686"/>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pay to public key hash, scripted multisignatures and pay to script hash move the cost of a complicated condition from the payer to the spender, and what does the signature check count?</a:t>
            </a:r>
            <a:endParaRPr lang="en-US" sz="1050" dirty="0"/>
          </a:p>
        </p:txBody>
      </p:sp>
      <p:sp>
        <p:nvSpPr>
          <p:cNvPr id="15" name="Shape 13"/>
          <p:cNvSpPr/>
          <p:nvPr/>
        </p:nvSpPr>
        <p:spPr>
          <a:xfrm>
            <a:off x="457200" y="2727525"/>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75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90949"/>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lock time, OP_CHECKLOCKTIMEVERIFY, the sequence field and OP_CHECKSEQUENCEVERIFY make a spend wait, and where do the book and Bitcoin Core's rules differ by one block?</a:t>
            </a:r>
            <a:endParaRPr lang="en-US" sz="1050" dirty="0"/>
          </a:p>
        </p:txBody>
      </p:sp>
      <p:sp>
        <p:nvSpPr>
          <p:cNvPr id="18" name="Shape 16"/>
          <p:cNvSpPr/>
          <p:nvPr/>
        </p:nvSpPr>
        <p:spPr>
          <a:xfrm>
            <a:off x="457200" y="3197787"/>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977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1211"/>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segregated witness fix signature malleability and add a version byte for later upgrades, and what do P2WPKH, P2WSH and the nested forms look like on the chain?</a:t>
            </a:r>
            <a:endParaRPr lang="en-US" sz="1050" dirty="0"/>
          </a:p>
        </p:txBody>
      </p:sp>
      <p:sp>
        <p:nvSpPr>
          <p:cNvPr id="21" name="Shape 19"/>
          <p:cNvSpPr/>
          <p:nvPr/>
        </p:nvSpPr>
        <p:spPr>
          <a:xfrm>
            <a:off x="457200" y="3668050"/>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680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31474"/>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a script tree, a tweaked key and a scriptless multisignature combine into taproot, and what does a key path spend or a script path spend reveal?</a:t>
            </a:r>
            <a:endParaRPr lang="en-US" sz="1050" dirty="0"/>
          </a:p>
        </p:txBody>
      </p:sp>
      <p:sp>
        <p:nvSpPr>
          <p:cNvPr id="24" name="Shape 22"/>
          <p:cNvSpPr/>
          <p:nvPr/>
        </p:nvSpPr>
        <p:spPr>
          <a:xfrm>
            <a:off x="457200" y="4138313"/>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38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01737"/>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tapscript change in the language, and which statements of the book differ from the BIPs and from Bitcoin Core's sources?</a:t>
            </a:r>
            <a:endParaRPr lang="en-US" sz="10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branches, one per family of spending conditions; the deck walks them in the order Bitcoin gained them.</a:t>
            </a:r>
            <a:endParaRPr lang="en-US" sz="1250" dirty="0"/>
          </a:p>
        </p:txBody>
      </p:sp>
      <p:sp>
        <p:nvSpPr>
          <p:cNvPr id="7" name="Shape 5"/>
          <p:cNvSpPr/>
          <p:nvPr/>
        </p:nvSpPr>
        <p:spPr>
          <a:xfrm>
            <a:off x="457200" y="1554480"/>
            <a:ext cx="1528877"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Transaction scripts and the Script language</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150" dirty="0"/>
          </a:p>
        </p:txBody>
      </p:sp>
      <p:sp>
        <p:nvSpPr>
          <p:cNvPr id="9" name="Shape 7"/>
          <p:cNvSpPr/>
          <p:nvPr/>
        </p:nvSpPr>
        <p:spPr>
          <a:xfrm>
            <a:off x="2132381" y="1554480"/>
            <a:ext cx="1528877"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223821"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Locking to a key</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1" name="Shape 9"/>
          <p:cNvSpPr/>
          <p:nvPr/>
        </p:nvSpPr>
        <p:spPr>
          <a:xfrm>
            <a:off x="3807562" y="1554480"/>
            <a:ext cx="1528877"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389900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Scripted multisignatures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150" dirty="0"/>
          </a:p>
        </p:txBody>
      </p:sp>
      <p:sp>
        <p:nvSpPr>
          <p:cNvPr id="13" name="Shape 11"/>
          <p:cNvSpPr/>
          <p:nvPr/>
        </p:nvSpPr>
        <p:spPr>
          <a:xfrm>
            <a:off x="5482742" y="1554480"/>
            <a:ext cx="1528877"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57418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Pay to script hash</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5" name="Shape 13"/>
          <p:cNvSpPr/>
          <p:nvPr/>
        </p:nvSpPr>
        <p:spPr>
          <a:xfrm>
            <a:off x="7157923" y="1554480"/>
            <a:ext cx="1528877"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7249363"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Data output and timelocks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7" name="Shape 15"/>
          <p:cNvSpPr/>
          <p:nvPr/>
        </p:nvSpPr>
        <p:spPr>
          <a:xfrm>
            <a:off x="457200" y="2944368"/>
            <a:ext cx="1528877"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548640"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Flow control and complex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9" name="Shape 17"/>
          <p:cNvSpPr/>
          <p:nvPr/>
        </p:nvSpPr>
        <p:spPr>
          <a:xfrm>
            <a:off x="2132381" y="2944368"/>
            <a:ext cx="1528877"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2223821"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Segregated witness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150" dirty="0"/>
          </a:p>
        </p:txBody>
      </p:sp>
      <p:sp>
        <p:nvSpPr>
          <p:cNvPr id="21" name="Shape 19"/>
          <p:cNvSpPr/>
          <p:nvPr/>
        </p:nvSpPr>
        <p:spPr>
          <a:xfrm>
            <a:off x="3807562" y="2944368"/>
            <a:ext cx="1528877"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3899002"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 trees and key tweaks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23" name="Shape 21"/>
          <p:cNvSpPr/>
          <p:nvPr/>
        </p:nvSpPr>
        <p:spPr>
          <a:xfrm>
            <a:off x="5482742" y="2944368"/>
            <a:ext cx="1528877" cy="1261872"/>
          </a:xfrm>
          <a:prstGeom prst="roundRect">
            <a:avLst>
              <a:gd name="adj" fmla="val 5797"/>
            </a:avLst>
          </a:prstGeom>
          <a:solidFill>
            <a:srgbClr val="D97A14"/>
          </a:solidFill>
          <a:ln w="12700">
            <a:solidFill>
              <a:srgbClr val="D97A14"/>
            </a:solidFill>
            <a:prstDash val="solid"/>
          </a:ln>
        </p:spPr>
      </p:sp>
      <p:sp>
        <p:nvSpPr>
          <p:cNvPr id="24" name="Text 22"/>
          <p:cNvSpPr txBox="1"/>
          <p:nvPr/>
        </p:nvSpPr>
        <p:spPr>
          <a:xfrm>
            <a:off x="5574182" y="2999232"/>
            <a:ext cx="1345997" cy="11521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Taproot and tapscript</a:t>
            </a:r>
            <a:endParaRPr lang="en-US" sz="1150" dirty="0"/>
          </a:p>
          <a:p>
            <a:pPr algn="ctr" indent="0" marL="0">
              <a:buNone/>
            </a:pPr>
            <a:r>
              <a:rPr lang="en-US" sz="1000" dirty="0">
                <a:solidFill>
                  <a:srgbClr val="FFFFFF"/>
                </a:solidFill>
                <a:latin typeface="Calibri" pitchFamily="34" charset="0"/>
                <a:ea typeface="Calibri" pitchFamily="34" charset="-122"/>
                <a:cs typeface="Calibri" pitchFamily="34" charset="-120"/>
              </a:rPr>
              <a:t>7 concepts</a:t>
            </a:r>
            <a:endParaRPr lang="en-US" sz="11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branches - every slide today lives on this map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stack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language, its two scripts and a bug of 2010</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stack machine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and unlock</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key hash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OP_RETURN, 2010</a:t>
            </a:r>
            <a:endParaRPr lang="en-US" sz="1400" dirty="0"/>
          </a:p>
        </p:txBody>
      </p:sp>
      <p:pic>
        <p:nvPicPr>
          <p:cNvPr id="14" name="Image 0" descr="../../03-materials/ch07/assets/mbc3_0702.png">    </p:cNvPr>
          <p:cNvPicPr>
            <a:picLocks noChangeAspect="1"/>
          </p:cNvPicPr>
          <p:nvPr/>
        </p:nvPicPr>
        <p:blipFill>
          <a:blip r:embed="rId1"/>
          <a:srcRect l="0" r="0" t="0" b="0"/>
          <a:stretch/>
        </p:blipFill>
        <p:spPr>
          <a:xfrm>
            <a:off x="6172200" y="1691640"/>
            <a:ext cx="1828800" cy="2441448"/>
          </a:xfrm>
          <a:prstGeom prst="rect">
            <a:avLst/>
          </a:prstGeom>
        </p:spPr>
      </p:pic>
      <p:sp>
        <p:nvSpPr>
          <p:cNvPr id="15" name="Text 12"/>
          <p:cNvSpPr txBox="1"/>
          <p:nvPr/>
        </p:nvSpPr>
        <p:spPr>
          <a:xfrm>
            <a:off x="6172200" y="4151376"/>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simple stack calculation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script is a short program for a stack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data, or pop inputs and push a result; the top of the stack is the verdict</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pushes the proof, usually a signature and a key</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runs on the same stack and checks the proof</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 of the stack</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non-zero: the spend is valid</a:t>
            </a:r>
            <a:endParaRPr lang="en-US" sz="1150" dirty="0"/>
          </a:p>
        </p:txBody>
      </p:sp>
      <p:sp>
        <p:nvSpPr>
          <p:cNvPr id="14" name="Text 12"/>
          <p:cNvSpPr txBox="1"/>
          <p:nvPr/>
        </p:nvSpPr>
        <p:spPr>
          <a:xfrm>
            <a:off x="45720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3 ADD 5 EQUAL, run; then its bytes</a:t>
            </a:r>
            <a:endParaRPr lang="en-US" sz="1150" dirty="0"/>
          </a:p>
        </p:txBody>
      </p:sp>
      <p:sp>
        <p:nvSpPr>
          <p:cNvPr id="15" name="Shape 13"/>
          <p:cNvSpPr/>
          <p:nvPr/>
        </p:nvSpPr>
        <p:spPr>
          <a:xfrm>
            <a:off x="457200" y="2468880"/>
            <a:ext cx="402336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587752"/>
            <a:ext cx="365760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5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6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'EVAL_FALSE'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L.assemble(</a:t>
            </a:r>
            <a:r>
              <a:rPr lang="en-US" sz="900" dirty="0">
                <a:solidFill>
                  <a:srgbClr val="9ECBFF"/>
                </a:solidFill>
                <a:latin typeface="Courier New" pitchFamily="34" charset="0"/>
                <a:ea typeface="Courier New" pitchFamily="34" charset="-122"/>
                <a:cs typeface="Courier New" pitchFamily="34" charset="-120"/>
              </a:rPr>
              <a:t>'2 3 OP_ADD 5 OP_EQUAL'</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'5253935587'</a:t>
            </a:r>
            <a:endParaRPr lang="en-US" sz="900" dirty="0"/>
          </a:p>
        </p:txBody>
      </p:sp>
      <p:sp>
        <p:nvSpPr>
          <p:cNvPr id="17" name="Text 15"/>
          <p:cNvSpPr txBox="1"/>
          <p:nvPr/>
        </p:nvSpPr>
        <p:spPr>
          <a:xfrm>
            <a:off x="45720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key-hash spend, then two broken ones</a:t>
            </a:r>
            <a:endParaRPr lang="en-US" sz="1150" dirty="0"/>
          </a:p>
        </p:txBody>
      </p:sp>
      <p:sp>
        <p:nvSpPr>
          <p:cNvPr id="19" name="Shape 17"/>
          <p:cNvSpPr/>
          <p:nvPr/>
        </p:nvSpPr>
        <p:spPr>
          <a:xfrm>
            <a:off x="4663440" y="2468880"/>
            <a:ext cx="4023360" cy="1371600"/>
          </a:xfrm>
          <a:prstGeom prst="roundRect">
            <a:avLst>
              <a:gd name="adj" fmla="val 6667"/>
            </a:avLst>
          </a:prstGeom>
          <a:solidFill>
            <a:srgbClr val="23272E"/>
          </a:solidFill>
          <a:ln w="12700">
            <a:solidFill>
              <a:srgbClr val="23272E"/>
            </a:solidFill>
            <a:prstDash val="solid"/>
          </a:ln>
        </p:spPr>
      </p:sp>
      <p:sp>
        <p:nvSpPr>
          <p:cNvPr id="20" name="Text 18"/>
          <p:cNvSpPr txBox="1"/>
          <p:nvPr/>
        </p:nvSpPr>
        <p:spPr>
          <a:xfrm>
            <a:off x="4846320" y="2587752"/>
            <a:ext cx="3657600" cy="113385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spk = L.p2pkh_script(L.hash160(K.pub(</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len(spk), L.classify(spk)[</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(25, 'pubkeyhash')</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p2pkh(), p2pkh(signer=</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p2pkh(amount_after=</a:t>
            </a:r>
            <a:r>
              <a:rPr lang="en-US" sz="860" dirty="0">
                <a:solidFill>
                  <a:srgbClr val="FFD28A"/>
                </a:solidFill>
                <a:latin typeface="Courier New" pitchFamily="34" charset="0"/>
                <a:ea typeface="Courier New" pitchFamily="34" charset="-122"/>
                <a:cs typeface="Courier New" pitchFamily="34" charset="-120"/>
              </a:rPr>
              <a:t>99999</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('OK', 'EVAL_FALSE', 'EVAL_FALSE')</a:t>
            </a:r>
            <a:endParaRPr lang="en-US" sz="860" dirty="0"/>
          </a:p>
        </p:txBody>
      </p:sp>
      <p:sp>
        <p:nvSpPr>
          <p:cNvPr id="21" name="Text 19"/>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160520"/>
            <a:ext cx="130942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loops</a:t>
            </a:r>
            <a:endParaRPr lang="en-US" sz="1100" dirty="0"/>
          </a:p>
        </p:txBody>
      </p:sp>
      <p:sp>
        <p:nvSpPr>
          <p:cNvPr id="24" name="Shape 22"/>
          <p:cNvSpPr/>
          <p:nvPr/>
        </p:nvSpPr>
        <p:spPr>
          <a:xfrm>
            <a:off x="1967789" y="4160520"/>
            <a:ext cx="1309421"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967789"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state</a:t>
            </a:r>
            <a:endParaRPr lang="en-US" sz="1100" dirty="0"/>
          </a:p>
        </p:txBody>
      </p:sp>
      <p:sp>
        <p:nvSpPr>
          <p:cNvPr id="26" name="Shape 24"/>
          <p:cNvSpPr/>
          <p:nvPr/>
        </p:nvSpPr>
        <p:spPr>
          <a:xfrm>
            <a:off x="3478378" y="4160520"/>
            <a:ext cx="3854196"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478378" y="4160520"/>
            <a:ext cx="385419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 Python port of Core's engine</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spend is a proof run against a condition, and the verdict is one value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2010-07-28</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325880"/>
            <a:ext cx="2103120" cy="2743200"/>
          </a:xfrm>
          <a:prstGeom prst="rect">
            <a:avLst/>
          </a:prstGeom>
        </p:spPr>
      </p:pic>
      <p:sp>
        <p:nvSpPr>
          <p:cNvPr id="7" name="Text 4"/>
          <p:cNvSpPr txBox="1"/>
          <p:nvPr/>
        </p:nvSpPr>
        <p:spPr>
          <a:xfrm>
            <a:off x="457200" y="40873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2834640" y="14904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3258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 July 2010: two bugs are found and shown on the test network</a:t>
            </a:r>
            <a:endParaRPr lang="en-US" sz="1200" dirty="0"/>
          </a:p>
        </p:txBody>
      </p:sp>
      <p:sp>
        <p:nvSpPr>
          <p:cNvPr id="10" name="Shape 7"/>
          <p:cNvSpPr/>
          <p:nvPr/>
        </p:nvSpPr>
        <p:spPr>
          <a:xfrm>
            <a:off x="2834640" y="19476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7830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Version 0.3.0 joined the two scripts, and OP_RETURN jumped to the end</a:t>
            </a:r>
            <a:endParaRPr lang="en-US" sz="1200" dirty="0"/>
          </a:p>
        </p:txBody>
      </p:sp>
      <p:sp>
        <p:nvSpPr>
          <p:cNvPr id="12" name="Shape 9"/>
          <p:cNvSpPr/>
          <p:nvPr/>
        </p:nvSpPr>
        <p:spPr>
          <a:xfrm>
            <a:off x="2834640" y="2404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2402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 1 OP_RETURN ended the run true; fixed in 0.3.5</a:t>
            </a:r>
            <a:endParaRPr lang="en-US" sz="1200" dirty="0"/>
          </a:p>
        </p:txBody>
      </p:sp>
      <p:sp>
        <p:nvSpPr>
          <p:cNvPr id="14" name="Text 11"/>
          <p:cNvSpPr txBox="1"/>
          <p:nvPr/>
        </p:nvSpPr>
        <p:spPr>
          <a:xfrm>
            <a:off x="2834640" y="2606040"/>
            <a:ext cx="5852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2010 model accepts 1 OP_RETURN; today's engine refuses; the owner still spends</a:t>
            </a:r>
            <a:endParaRPr lang="en-US" sz="1150" dirty="0"/>
          </a:p>
        </p:txBody>
      </p:sp>
      <p:sp>
        <p:nvSpPr>
          <p:cNvPr id="15" name="Shape 12"/>
          <p:cNvSpPr/>
          <p:nvPr/>
        </p:nvSpPr>
        <p:spPr>
          <a:xfrm>
            <a:off x="2834640" y="2880360"/>
            <a:ext cx="58521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017520" y="2999232"/>
            <a:ext cx="54864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old_joined(</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'OP_RETURN'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'0x06'</a:t>
            </a:r>
            <a:r>
              <a:rPr lang="en-US" sz="830" dirty="0">
                <a:solidFill>
                  <a:srgbClr val="E6EDF3"/>
                </a:solidFill>
                <a:latin typeface="Courier New" pitchFamily="34" charset="0"/>
                <a:ea typeface="Courier New" pitchFamily="34" charset="-122"/>
                <a:cs typeface="Courier New" pitchFamily="34" charset="-120"/>
              </a:rPr>
              <a:t> + b</a:t>
            </a:r>
            <a:r>
              <a:rPr lang="en-US" sz="830" dirty="0">
                <a:solidFill>
                  <a:srgbClr val="9ECBFF"/>
                </a:solidFill>
                <a:latin typeface="Courier New" pitchFamily="34" charset="0"/>
                <a:ea typeface="Courier New" pitchFamily="34" charset="-122"/>
                <a:cs typeface="Courier New" pitchFamily="34" charset="-120"/>
              </a:rPr>
              <a:t>'secret'</a:t>
            </a:r>
            <a:r>
              <a:rPr lang="en-US" sz="830" dirty="0">
                <a:solidFill>
                  <a:srgbClr val="E6EDF3"/>
                </a:solidFill>
                <a:latin typeface="Courier New" pitchFamily="34" charset="0"/>
                <a:ea typeface="Courier New" pitchFamily="34" charset="-122"/>
                <a:cs typeface="Courier New" pitchFamily="34" charset="-120"/>
              </a:rPr>
              <a:t>.hex(),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p:txBody>
      </p:sp>
      <p:sp>
        <p:nvSpPr>
          <p:cNvPr id="17" name="Text 14"/>
          <p:cNvSpPr txBox="1"/>
          <p:nvPr/>
        </p:nvSpPr>
        <p:spPr>
          <a:xfrm>
            <a:off x="2834640" y="3995928"/>
            <a:ext cx="58521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834640" y="4224528"/>
            <a:ext cx="1712123"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926080"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the a…</a:t>
            </a:r>
            <a:endParaRPr lang="en-US" sz="750" dirty="0"/>
          </a:p>
        </p:txBody>
      </p:sp>
      <p:sp>
        <p:nvSpPr>
          <p:cNvPr id="20" name="Shape 17"/>
          <p:cNvSpPr/>
          <p:nvPr/>
        </p:nvSpPr>
        <p:spPr>
          <a:xfrm>
            <a:off x="4656491" y="4224528"/>
            <a:ext cx="171212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747931"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test networ…</a:t>
            </a:r>
            <a:endParaRPr lang="en-US" sz="750" dirty="0"/>
          </a:p>
        </p:txBody>
      </p:sp>
      <p:sp>
        <p:nvSpPr>
          <p:cNvPr id="22" name="Shape 19"/>
          <p:cNvSpPr/>
          <p:nvPr/>
        </p:nvSpPr>
        <p:spPr>
          <a:xfrm>
            <a:off x="6478341" y="4224528"/>
            <a:ext cx="938906"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69781" y="4224528"/>
            <a:ext cx="79260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a:t>
            </a:r>
            <a:endParaRPr lang="en-US" sz="750" dirty="0"/>
          </a:p>
        </p:txBody>
      </p:sp>
      <p:sp>
        <p:nvSpPr>
          <p:cNvPr id="24" name="Shape 21"/>
          <p:cNvSpPr/>
          <p:nvPr/>
        </p:nvSpPr>
        <p:spPr>
          <a:xfrm>
            <a:off x="7526975" y="4224528"/>
            <a:ext cx="1159825"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18415" y="4224528"/>
            <a:ext cx="101352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Signatures, multisig and script hash</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Signatures, t of k keys and script hashes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DER and the hash type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Strict DER, 2015</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2-of-3 multisig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to script hash</a:t>
            </a:r>
            <a:endParaRPr lang="en-US" sz="1400" dirty="0"/>
          </a:p>
        </p:txBody>
      </p:sp>
      <p:pic>
        <p:nvPicPr>
          <p:cNvPr id="14" name="Image 0" descr="../../03-materials/ch07/assets/mbc3_0703.png">    </p:cNvPr>
          <p:cNvPicPr>
            <a:picLocks noChangeAspect="1"/>
          </p:cNvPicPr>
          <p:nvPr/>
        </p:nvPicPr>
        <p:blipFill>
          <a:blip r:embed="rId1"/>
          <a:srcRect l="0" r="0" t="0" b="0"/>
          <a:stretch/>
        </p:blipFill>
        <p:spPr>
          <a:xfrm>
            <a:off x="5943600" y="1691640"/>
            <a:ext cx="2651760" cy="2212848"/>
          </a:xfrm>
          <a:prstGeom prst="rect">
            <a:avLst/>
          </a:prstGeom>
        </p:spPr>
      </p:pic>
      <p:sp>
        <p:nvSpPr>
          <p:cNvPr id="15" name="Text 12"/>
          <p:cNvSpPr txBox="1"/>
          <p:nvPr/>
        </p:nvSpPr>
        <p:spPr>
          <a:xfrm>
            <a:off x="5943600" y="3922776"/>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validating a P2PKH script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signature is two numbers, written in strict DER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encoding is a consensus rule since BIP66; the low form of s is only a relay policy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same signature, padded with a zero byte, passes without the DERSIG rule and fails with it.</a:t>
            </a:r>
            <a:endParaRPr lang="en-US" sz="1250" dirty="0"/>
          </a:p>
        </p:txBody>
      </p:sp>
      <p:sp>
        <p:nvSpPr>
          <p:cNvPr id="7" name="Text 5"/>
          <p:cNvSpPr txBox="1"/>
          <p:nvPr/>
        </p:nvSpPr>
        <p:spPr>
          <a:xfrm>
            <a:off x="457200" y="1554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signature of 72 bytes, strictly encoded and low-s; a padded copy is refused only when DERSIG applies</a:t>
            </a:r>
            <a:endParaRPr lang="en-US" sz="1150" dirty="0"/>
          </a:p>
        </p:txBody>
      </p:sp>
      <p:sp>
        <p:nvSpPr>
          <p:cNvPr id="8" name="Shape 6"/>
          <p:cNvSpPr/>
          <p:nvPr/>
        </p:nvSpPr>
        <p:spPr>
          <a:xfrm>
            <a:off x="457200" y="1828800"/>
            <a:ext cx="8229600" cy="1280160"/>
          </a:xfrm>
          <a:prstGeom prst="roundRect">
            <a:avLst>
              <a:gd name="adj" fmla="val 7143"/>
            </a:avLst>
          </a:prstGeom>
          <a:solidFill>
            <a:srgbClr val="23272E"/>
          </a:solidFill>
          <a:ln w="12700">
            <a:solidFill>
              <a:srgbClr val="23272E"/>
            </a:solidFill>
            <a:prstDash val="solid"/>
          </a:ln>
        </p:spPr>
      </p:sp>
      <p:sp>
        <p:nvSpPr>
          <p:cNvPr id="9" name="Text 7"/>
          <p:cNvSpPr txBox="1"/>
          <p:nvPr/>
        </p:nvSpPr>
        <p:spPr>
          <a:xfrm>
            <a:off x="640080" y="194767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sig = L.ecdsa_sign(K.secret(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L.sha256(b</a:t>
            </a:r>
            <a:r>
              <a:rPr lang="en-US" sz="950" dirty="0">
                <a:solidFill>
                  <a:srgbClr val="9ECBFF"/>
                </a:solidFill>
                <a:latin typeface="Courier New" pitchFamily="34" charset="0"/>
                <a:ea typeface="Courier New" pitchFamily="34" charset="-122"/>
                <a:cs typeface="Courier New" pitchFamily="34" charset="-120"/>
              </a:rPr>
              <a:t>'pay Bob'</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len(sig)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sig[</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L.is_valid_der(sig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 L.is_low_s(sig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(72, 48, True,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flags=L.MAINNET_FLAGS - {</a:t>
            </a:r>
            <a:r>
              <a:rPr lang="en-US" sz="950" dirty="0">
                <a:solidFill>
                  <a:srgbClr val="9ECBFF"/>
                </a:solidFill>
                <a:latin typeface="Courier New" pitchFamily="34" charset="0"/>
                <a:ea typeface="Courier New" pitchFamily="34" charset="-122"/>
                <a:cs typeface="Courier New" pitchFamily="34" charset="-120"/>
              </a:rPr>
              <a:t>'DERSIG'</a:t>
            </a:r>
            <a:r>
              <a:rPr lang="en-US" sz="950" dirty="0">
                <a:solidFill>
                  <a:srgbClr val="E6EDF3"/>
                </a:solidFill>
                <a:latin typeface="Courier New" pitchFamily="34" charset="0"/>
                <a:ea typeface="Courier New" pitchFamily="34" charset="-122"/>
                <a:cs typeface="Courier New" pitchFamily="34" charset="-120"/>
              </a:rPr>
              <a:t>}), 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'SIG_DER')</a:t>
            </a:r>
            <a:endParaRPr lang="en-US" sz="950" dirty="0"/>
          </a:p>
        </p:txBody>
      </p:sp>
      <p:sp>
        <p:nvSpPr>
          <p:cNvPr id="10" name="Text 8"/>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457200" y="347929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731520" y="333756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signature is the pair r and s in DER, followed by one hash-type byte</a:t>
            </a:r>
            <a:endParaRPr lang="en-US" sz="1200" dirty="0"/>
          </a:p>
        </p:txBody>
      </p:sp>
      <p:sp>
        <p:nvSpPr>
          <p:cNvPr id="13" name="Shape 11"/>
          <p:cNvSpPr/>
          <p:nvPr/>
        </p:nvSpPr>
        <p:spPr>
          <a:xfrm>
            <a:off x="457200" y="389077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731520" y="374904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hash type says which parts of the transaction the signature commits to</a:t>
            </a:r>
            <a:endParaRPr lang="en-US" sz="1200" dirty="0"/>
          </a:p>
        </p:txBody>
      </p:sp>
      <p:sp>
        <p:nvSpPr>
          <p:cNvPr id="15" name="Shape 13"/>
          <p:cNvSpPr/>
          <p:nvPr/>
        </p:nvSpPr>
        <p:spPr>
          <a:xfrm>
            <a:off x="457200" y="4206240"/>
            <a:ext cx="731063"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206240"/>
            <a:ext cx="73106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ALL</a:t>
            </a:r>
            <a:endParaRPr lang="en-US" sz="1100" dirty="0"/>
          </a:p>
        </p:txBody>
      </p:sp>
      <p:sp>
        <p:nvSpPr>
          <p:cNvPr id="17" name="Shape 15"/>
          <p:cNvSpPr/>
          <p:nvPr/>
        </p:nvSpPr>
        <p:spPr>
          <a:xfrm>
            <a:off x="1389431" y="4206240"/>
            <a:ext cx="84673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1389431" y="420624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NONE</a:t>
            </a:r>
            <a:endParaRPr lang="en-US" sz="1100" dirty="0"/>
          </a:p>
        </p:txBody>
      </p:sp>
      <p:sp>
        <p:nvSpPr>
          <p:cNvPr id="19" name="Shape 17"/>
          <p:cNvSpPr/>
          <p:nvPr/>
        </p:nvSpPr>
        <p:spPr>
          <a:xfrm>
            <a:off x="2437333" y="4206240"/>
            <a:ext cx="107807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437333" y="4206240"/>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SINGLE</a:t>
            </a:r>
            <a:endParaRPr lang="en-US" sz="1100" dirty="0"/>
          </a:p>
        </p:txBody>
      </p:sp>
      <p:sp>
        <p:nvSpPr>
          <p:cNvPr id="21" name="Shape 19"/>
          <p:cNvSpPr/>
          <p:nvPr/>
        </p:nvSpPr>
        <p:spPr>
          <a:xfrm>
            <a:off x="3716579" y="4206240"/>
            <a:ext cx="2350465"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16579"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plus ANYONECANPAY</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valid-looking encodings of one signature must not both be valid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2015-07-04</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325880"/>
            <a:ext cx="2743200" cy="1545336"/>
          </a:xfrm>
          <a:prstGeom prst="rect">
            <a:avLst/>
          </a:prstGeom>
        </p:spPr>
      </p:pic>
      <p:sp>
        <p:nvSpPr>
          <p:cNvPr id="7" name="Text 4"/>
          <p:cNvSpPr txBox="1"/>
          <p:nvPr/>
        </p:nvSpPr>
        <p:spPr>
          <a:xfrm>
            <a:off x="457200" y="2889504"/>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429000" y="15209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32588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BIP66 made strict DER the only valid signature encoding, from block 363,725 on 4 July 2015</a:t>
            </a:r>
            <a:endParaRPr lang="en-US" sz="1200" dirty="0"/>
          </a:p>
        </p:txBody>
      </p:sp>
      <p:sp>
        <p:nvSpPr>
          <p:cNvPr id="10" name="Shape 7"/>
          <p:cNvSpPr/>
          <p:nvPr/>
        </p:nvSpPr>
        <p:spPr>
          <a:xfrm>
            <a:off x="3429000" y="20391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84404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About half of the hash rate mined without fully validating and built on an invalid block</a:t>
            </a:r>
            <a:endParaRPr lang="en-US" sz="1200" dirty="0"/>
          </a:p>
        </p:txBody>
      </p:sp>
      <p:sp>
        <p:nvSpPr>
          <p:cNvPr id="12" name="Shape 9"/>
          <p:cNvSpPr/>
          <p:nvPr/>
        </p:nvSpPr>
        <p:spPr>
          <a:xfrm>
            <a:off x="3429000" y="2557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236220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fork of 6 blocks lasted from 02:10 to 03:50 UTC; a second, of 3 blocks, followed on 5 July</a:t>
            </a:r>
            <a:endParaRPr lang="en-US" sz="1200" dirty="0"/>
          </a:p>
        </p:txBody>
      </p:sp>
      <p:sp>
        <p:nvSpPr>
          <p:cNvPr id="14" name="Text 11"/>
          <p:cNvSpPr txBox="1"/>
          <p:nvPr/>
        </p:nvSpPr>
        <p:spPr>
          <a:xfrm>
            <a:off x="3429000" y="278892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same padded signature: accepted before the rule, SIG_DER under it</a:t>
            </a:r>
            <a:endParaRPr lang="en-US" sz="1150" dirty="0"/>
          </a:p>
        </p:txBody>
      </p:sp>
      <p:sp>
        <p:nvSpPr>
          <p:cNvPr id="15" name="Shape 12"/>
          <p:cNvSpPr/>
          <p:nvPr/>
        </p:nvSpPr>
        <p:spPr>
          <a:xfrm>
            <a:off x="3429000" y="3063240"/>
            <a:ext cx="5257800" cy="868680"/>
          </a:xfrm>
          <a:prstGeom prst="roundRect">
            <a:avLst>
              <a:gd name="adj" fmla="val 10526"/>
            </a:avLst>
          </a:prstGeom>
          <a:solidFill>
            <a:srgbClr val="23272E"/>
          </a:solidFill>
          <a:ln w="12700">
            <a:solidFill>
              <a:srgbClr val="23272E"/>
            </a:solidFill>
            <a:prstDash val="solid"/>
          </a:ln>
        </p:spPr>
      </p:sp>
      <p:sp>
        <p:nvSpPr>
          <p:cNvPr id="16" name="Text 13"/>
          <p:cNvSpPr txBox="1"/>
          <p:nvPr/>
        </p:nvSpPr>
        <p:spPr>
          <a:xfrm>
            <a:off x="3611880" y="3182112"/>
            <a:ext cx="48920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sig = L.ecdsa_sign(K.secret(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L.sha256(b</a:t>
            </a:r>
            <a:r>
              <a:rPr lang="en-US" sz="720" dirty="0">
                <a:solidFill>
                  <a:srgbClr val="9ECBFF"/>
                </a:solidFill>
                <a:latin typeface="Courier New" pitchFamily="34" charset="0"/>
                <a:ea typeface="Courier New" pitchFamily="34" charset="-122"/>
                <a:cs typeface="Courier New" pitchFamily="34" charset="-120"/>
              </a:rPr>
              <a:t>'pay Bob'</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len(sig)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sig[</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L.is_valid_der(sig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 L.is_low_s(sig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(72, 48, True,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 flags=L.MAINNET_FLAGS - {</a:t>
            </a:r>
            <a:r>
              <a:rPr lang="en-US" sz="720" dirty="0">
                <a:solidFill>
                  <a:srgbClr val="9ECBFF"/>
                </a:solidFill>
                <a:latin typeface="Courier New" pitchFamily="34" charset="0"/>
                <a:ea typeface="Courier New" pitchFamily="34" charset="-122"/>
                <a:cs typeface="Courier New" pitchFamily="34" charset="-120"/>
              </a:rPr>
              <a:t>'DERSIG'</a:t>
            </a:r>
            <a:r>
              <a:rPr lang="en-US" sz="720" dirty="0">
                <a:solidFill>
                  <a:srgbClr val="E6EDF3"/>
                </a:solidFill>
                <a:latin typeface="Courier New" pitchFamily="34" charset="0"/>
                <a:ea typeface="Courier New" pitchFamily="34" charset="-122"/>
                <a:cs typeface="Courier New" pitchFamily="34" charset="-120"/>
              </a:rPr>
              <a:t>}), 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('OK', 'SIG_DER')</a:t>
            </a:r>
            <a:endParaRPr lang="en-US" sz="720" dirty="0"/>
          </a:p>
        </p:txBody>
      </p:sp>
      <p:sp>
        <p:nvSpPr>
          <p:cNvPr id="17" name="Text 14"/>
          <p:cNvSpPr txBox="1"/>
          <p:nvPr/>
        </p:nvSpPr>
        <p:spPr>
          <a:xfrm>
            <a:off x="3429000" y="395020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3429000" y="4224528"/>
            <a:ext cx="1527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520440"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miners who enfor…</a:t>
            </a:r>
            <a:endParaRPr lang="en-US" sz="750" dirty="0"/>
          </a:p>
        </p:txBody>
      </p:sp>
      <p:sp>
        <p:nvSpPr>
          <p:cNvPr id="20" name="Shape 17"/>
          <p:cNvSpPr/>
          <p:nvPr/>
        </p:nvSpPr>
        <p:spPr>
          <a:xfrm>
            <a:off x="5066599" y="4224528"/>
            <a:ext cx="15278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158039"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Bitcoin network …</a:t>
            </a:r>
            <a:endParaRPr lang="en-US" sz="750" dirty="0"/>
          </a:p>
        </p:txBody>
      </p:sp>
      <p:sp>
        <p:nvSpPr>
          <p:cNvPr id="22" name="Shape 19"/>
          <p:cNvSpPr/>
          <p:nvPr/>
        </p:nvSpPr>
        <p:spPr>
          <a:xfrm>
            <a:off x="6704198" y="4224528"/>
            <a:ext cx="837865"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795638" y="4224528"/>
            <a:ext cx="69156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a:t>
            </a:r>
            <a:endParaRPr lang="en-US" sz="750" dirty="0"/>
          </a:p>
        </p:txBody>
      </p:sp>
      <p:sp>
        <p:nvSpPr>
          <p:cNvPr id="24" name="Shape 21"/>
          <p:cNvSpPr/>
          <p:nvPr/>
        </p:nvSpPr>
        <p:spPr>
          <a:xfrm>
            <a:off x="7651791" y="4224528"/>
            <a:ext cx="1035009"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743231" y="4224528"/>
            <a:ext cx="888705"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Multisignature: t of k keys, in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105-byte script for 2 of 3; the signatures must follow the order of the keys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real signatures: the right order, the wrong order, one signature short, and the extra element</a:t>
            </a:r>
            <a:endParaRPr lang="en-US" sz="1150" dirty="0"/>
          </a:p>
        </p:txBody>
      </p:sp>
      <p:sp>
        <p:nvSpPr>
          <p:cNvPr id="7" name="Shape 5"/>
          <p:cNvSpPr/>
          <p:nvPr/>
        </p:nvSpPr>
        <p:spPr>
          <a:xfrm>
            <a:off x="457200" y="1691640"/>
            <a:ext cx="8229600" cy="1463040"/>
          </a:xfrm>
          <a:prstGeom prst="roundRect">
            <a:avLst>
              <a:gd name="adj" fmla="val 6250"/>
            </a:avLst>
          </a:prstGeom>
          <a:solidFill>
            <a:srgbClr val="23272E"/>
          </a:solidFill>
          <a:ln w="12700">
            <a:solidFill>
              <a:srgbClr val="23272E"/>
            </a:solidFill>
            <a:prstDash val="solid"/>
          </a:ln>
        </p:spPr>
      </p:sp>
      <p:sp>
        <p:nvSpPr>
          <p:cNvPr id="8" name="Text 6"/>
          <p:cNvSpPr txBox="1"/>
          <p:nvPr/>
        </p:nvSpPr>
        <p:spPr>
          <a:xfrm>
            <a:off x="640080" y="1810512"/>
            <a:ext cx="7863840" cy="122529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len(RED), L.classify(RED)[</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(105, 'multisig')</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 'EVAL_FALSE', 'INVALID_STACK_OPERATION')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flags=L.MAINNET_FLAGS - {</a:t>
            </a:r>
            <a:r>
              <a:rPr lang="en-US" sz="830" dirty="0">
                <a:solidFill>
                  <a:srgbClr val="9ECBFF"/>
                </a:solidFill>
                <a:latin typeface="Courier New" pitchFamily="34" charset="0"/>
                <a:ea typeface="Courier New" pitchFamily="34" charset="-122"/>
                <a:cs typeface="Courier New" pitchFamily="34" charset="-120"/>
              </a:rPr>
              <a:t>'NULLDUMMY'</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('SIG_NULLDUMMY', 'OK')</a:t>
            </a:r>
            <a:endParaRPr lang="en-US" sz="83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29000"/>
            <a:ext cx="304449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429000"/>
            <a:ext cx="3044495"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bare: 3 keys by policy</a:t>
            </a:r>
            <a:endParaRPr lang="en-US" sz="1150" dirty="0"/>
          </a:p>
        </p:txBody>
      </p:sp>
      <p:sp>
        <p:nvSpPr>
          <p:cNvPr id="12" name="Shape 10"/>
          <p:cNvSpPr/>
          <p:nvPr/>
        </p:nvSpPr>
        <p:spPr>
          <a:xfrm>
            <a:off x="3702863" y="3429000"/>
            <a:ext cx="2802636"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702863" y="3429000"/>
            <a:ext cx="2802636"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script hash: 15 keys</a:t>
            </a:r>
            <a:endParaRPr lang="en-US" sz="1150" dirty="0"/>
          </a:p>
        </p:txBody>
      </p:sp>
      <p:sp>
        <p:nvSpPr>
          <p:cNvPr id="14" name="Shape 12"/>
          <p:cNvSpPr/>
          <p:nvPr/>
        </p:nvSpPr>
        <p:spPr>
          <a:xfrm>
            <a:off x="457200" y="4014216"/>
            <a:ext cx="2560777"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014216"/>
            <a:ext cx="2560777"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consensus: 20 keys</a:t>
            </a:r>
            <a:endParaRPr lang="en-US" sz="1150" dirty="0"/>
          </a:p>
        </p:txBody>
      </p:sp>
      <p:sp>
        <p:nvSpPr>
          <p:cNvPr id="16" name="Shape 14"/>
          <p:cNvSpPr/>
          <p:nvPr/>
        </p:nvSpPr>
        <p:spPr>
          <a:xfrm>
            <a:off x="457200" y="414223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886200"/>
            <a:ext cx="7955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opcode pops one extra stack element, which must be empty since BIP147</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follow the order of the keys, and the odd extra element must be empty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the payer sees only a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23-byte output, a 3-address, and a redeem script that the spender reveals</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pays to a 23-byte hash: any script looks alike</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Spender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reveals the redeem script as the last item</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hashes it, compares, then runs it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2-of-3 script as an output: its address, a real spend, and a spend whose script hashes to something else</a:t>
            </a:r>
            <a:endParaRPr lang="en-US" sz="1150" dirty="0"/>
          </a:p>
        </p:txBody>
      </p:sp>
      <p:sp>
        <p:nvSpPr>
          <p:cNvPr id="15" name="Shape 13"/>
          <p:cNvSpPr/>
          <p:nvPr/>
        </p:nvSpPr>
        <p:spPr>
          <a:xfrm>
            <a:off x="457200" y="260604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27249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spk = L.p2sh_script(L.hash160(RED))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L.script_to_address(spk)[:</a:t>
            </a:r>
            <a:r>
              <a:rPr lang="en-US" sz="950" dirty="0">
                <a:solidFill>
                  <a:srgbClr val="FFD28A"/>
                </a:solidFill>
                <a:latin typeface="Courier New" pitchFamily="34" charset="0"/>
                <a:ea typeface="Courier New" pitchFamily="34" charset="-122"/>
                <a:cs typeface="Courier New" pitchFamily="34" charset="-120"/>
              </a:rPr>
              <a:t>6</a:t>
            </a:r>
            <a:r>
              <a:rPr lang="en-US" sz="950" dirty="0">
                <a:solidFill>
                  <a:srgbClr val="E6EDF3"/>
                </a:solidFill>
                <a:latin typeface="Courier New" pitchFamily="34" charset="0"/>
                <a:ea typeface="Courier New" pitchFamily="34" charset="-122"/>
                <a:cs typeface="Courier New" pitchFamily="34" charset="-120"/>
              </a:rPr>
              <a:t>], len(spk)</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('3BuKam', 23)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K.ms_spend(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wrap=</a:t>
            </a:r>
            <a:r>
              <a:rPr lang="en-US" sz="950" dirty="0">
                <a:solidFill>
                  <a:srgbClr val="9ECBFF"/>
                </a:solidFill>
                <a:latin typeface="Courier New" pitchFamily="34" charset="0"/>
                <a:ea typeface="Courier New" pitchFamily="34" charset="-122"/>
                <a:cs typeface="Courier New" pitchFamily="34" charset="-120"/>
              </a:rPr>
              <a:t>'p2sh'</a:t>
            </a:r>
            <a:r>
              <a:rPr lang="en-US" sz="950" dirty="0">
                <a:solidFill>
                  <a:srgbClr val="E6EDF3"/>
                </a:solidFill>
                <a:latin typeface="Courier New" pitchFamily="34" charset="0"/>
                <a:ea typeface="Courier New" pitchFamily="34" charset="-122"/>
                <a:cs typeface="Courier New" pitchFamily="34" charset="-120"/>
              </a:rPr>
              <a:t>), K.p2sh_spend(RED, hashed=RED + b</a:t>
            </a:r>
            <a:r>
              <a:rPr lang="en-US" sz="950" dirty="0">
                <a:solidFill>
                  <a:srgbClr val="9ECBFF"/>
                </a:solidFill>
                <a:latin typeface="Courier New" pitchFamily="34" charset="0"/>
                <a:ea typeface="Courier New" pitchFamily="34" charset="-122"/>
                <a:cs typeface="Courier New" pitchFamily="34" charset="-120"/>
              </a:rPr>
              <a:t>'\x00'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'EVAL_FALSE')</a:t>
            </a:r>
            <a:endParaRPr lang="en-US" sz="950" dirty="0"/>
          </a:p>
        </p:txBody>
      </p:sp>
      <p:sp>
        <p:nvSpPr>
          <p:cNvPr id="17" name="Text 15"/>
          <p:cNvSpPr txBox="1"/>
          <p:nvPr/>
        </p:nvSpPr>
        <p:spPr>
          <a:xfrm>
            <a:off x="457200" y="39502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58180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58180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payer: short output</a:t>
            </a:r>
            <a:endParaRPr lang="en-US" sz="1100" dirty="0"/>
          </a:p>
        </p:txBody>
      </p:sp>
      <p:sp>
        <p:nvSpPr>
          <p:cNvPr id="20" name="Shape 18"/>
          <p:cNvSpPr/>
          <p:nvPr/>
        </p:nvSpPr>
        <p:spPr>
          <a:xfrm>
            <a:off x="3240176" y="416052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240176" y="416052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spender: the script and fee</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to script hash moves the size and the fee of the script to its spender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Time and flow control</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Making a spend wait, and letting one output have several ways out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Absolute lock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Relative 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and VERIFY</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timelocks, both enforced by the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Absolute: the lock time field. Relative: the age in the sequence field</a:t>
            </a:r>
            <a:endParaRPr lang="en-US" sz="1300" dirty="0"/>
          </a:p>
        </p:txBody>
      </p:sp>
      <p:sp>
        <p:nvSpPr>
          <p:cNvPr id="6" name="Text 4"/>
          <p:cNvSpPr txBox="1"/>
          <p:nvPr/>
        </p:nvSpPr>
        <p:spPr>
          <a:xfrm>
            <a:off x="457200" y="13716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until height 800,000: the lock time must be at least that, and the input must not be final</a:t>
            </a:r>
            <a:endParaRPr lang="en-US" sz="1150" dirty="0"/>
          </a:p>
        </p:txBody>
      </p:sp>
      <p:sp>
        <p:nvSpPr>
          <p:cNvPr id="7" name="Shape 5"/>
          <p:cNvSpPr/>
          <p:nvPr/>
        </p:nvSpPr>
        <p:spPr>
          <a:xfrm>
            <a:off x="457200" y="1645920"/>
            <a:ext cx="822960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7647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sequence=0xfffffffe)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799999</a:t>
            </a:r>
            <a:r>
              <a:rPr lang="en-US" sz="950" dirty="0">
                <a:solidFill>
                  <a:srgbClr val="E6EDF3"/>
                </a:solidFill>
                <a:latin typeface="Courier New" pitchFamily="34" charset="0"/>
                <a:ea typeface="Courier New" pitchFamily="34" charset="-122"/>
                <a:cs typeface="Courier New" pitchFamily="34" charset="-120"/>
              </a:rPr>
              <a:t>, sequence=0xfffffffe), 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('UNSATISFIED_LOCKTIME',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 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4,320 blocks (30 days): version 2, the same kind, an age at least as large</a:t>
            </a:r>
            <a:endParaRPr lang="en-US" sz="1150" dirty="0"/>
          </a:p>
        </p:txBody>
      </p:sp>
      <p:sp>
        <p:nvSpPr>
          <p:cNvPr id="11" name="Shape 9"/>
          <p:cNvSpPr/>
          <p:nvPr/>
        </p:nvSpPr>
        <p:spPr>
          <a:xfrm>
            <a:off x="457200" y="32461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3364992"/>
            <a:ext cx="786384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4319</a:t>
            </a:r>
            <a:r>
              <a:rPr lang="en-US" sz="920" dirty="0">
                <a:solidFill>
                  <a:srgbClr val="E6EDF3"/>
                </a:solidFill>
                <a:latin typeface="Courier New" pitchFamily="34" charset="0"/>
                <a:ea typeface="Courier New" pitchFamily="34" charset="-122"/>
                <a:cs typeface="Courier New" pitchFamily="34" charset="-120"/>
              </a:rPr>
              <a:t>), K.key_spend(CSV, version=</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 'UNSATISFIED_LOCKTIME')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sequence=0x80000000 | </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a:t>
            </a:r>
            <a:endParaRPr lang="en-US" sz="920" dirty="0"/>
          </a:p>
        </p:txBody>
      </p:sp>
      <p:sp>
        <p:nvSpPr>
          <p:cNvPr id="13" name="Text 11"/>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Scripts check the transaction's own fields, so consensus enforces the wait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output, three ways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any time, the lawyer with one after 30 days, alone after 90</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1</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two of three partners, any time</a:t>
            </a:r>
            <a:endParaRPr lang="en-US" sz="110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2</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and one partner, after 30 days</a:t>
            </a:r>
            <a:endParaRPr lang="en-US" sz="110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3</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alone, after 90 days</a:t>
            </a:r>
            <a:endParaRPr lang="en-US" sz="110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192-byte script spent through each path with real signatures; too young an age fails</a:t>
            </a:r>
            <a:endParaRPr lang="en-US" sz="1150" dirty="0"/>
          </a:p>
        </p:txBody>
      </p:sp>
      <p:sp>
        <p:nvSpPr>
          <p:cNvPr id="15" name="Shape 13"/>
          <p:cNvSpPr/>
          <p:nvPr/>
        </p:nvSpPr>
        <p:spPr>
          <a:xfrm>
            <a:off x="457200" y="2514600"/>
            <a:ext cx="822960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63347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len(K.moh_script()), K.moh_spend(</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(192, 'OK')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4319</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12960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p:txBody>
      </p:sp>
      <p:sp>
        <p:nvSpPr>
          <p:cNvPr id="17" name="Text 15"/>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92882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92882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30 days = 4,320 blocks</a:t>
            </a:r>
            <a:endParaRPr lang="en-US" sz="1100" dirty="0"/>
          </a:p>
        </p:txBody>
      </p:sp>
      <p:sp>
        <p:nvSpPr>
          <p:cNvPr id="20" name="Shape 18"/>
          <p:cNvSpPr/>
          <p:nvPr/>
        </p:nvSpPr>
        <p:spPr>
          <a:xfrm>
            <a:off x="3587191" y="4160520"/>
            <a:ext cx="304449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587191" y="416052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90 days = 12,960 blocks</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output, several redemption paths, each with its own terms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 programs and script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moved to, what a real block spends, and how alternatives hide in a hash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Witness programs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addresses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real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 of scripts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Witness programs, and what 1,022 real inputs spend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599 transactions of block 775,072, classified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come from executed code over a saved block; the checker re-runs the console off this file.</a:t>
            </a:r>
            <a:endParaRPr lang="en-US" sz="1250" dirty="0"/>
          </a:p>
        </p:txBody>
      </p:sp>
      <p:graphicFrame>
        <p:nvGraphicFramePr>
          <p:cNvPr id="7" name="Chart 0" descr=""/>
          <p:cNvGraphicFramePr/>
          <p:nvPr/>
        </p:nvGraphicFramePr>
        <p:xfrm>
          <a:off x="411480" y="17830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native and nested spends; a wrong amount fails</a:t>
            </a:r>
            <a:endParaRPr lang="en-US" sz="1150" dirty="0"/>
          </a:p>
        </p:txBody>
      </p:sp>
      <p:sp>
        <p:nvSpPr>
          <p:cNvPr id="9" name="Shape 6"/>
          <p:cNvSpPr/>
          <p:nvPr/>
        </p:nvSpPr>
        <p:spPr>
          <a:xfrm>
            <a:off x="4754880" y="1828800"/>
            <a:ext cx="393192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937760" y="1947672"/>
            <a:ext cx="3566160" cy="12252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 K.wpkh_spend(nested=</a:t>
            </a:r>
            <a:r>
              <a:rPr lang="en-US" sz="760" b="1" dirty="0">
                <a:solidFill>
                  <a:srgbClr val="F2A860"/>
                </a:solidFill>
                <a:latin typeface="Courier New" pitchFamily="34" charset="0"/>
                <a:ea typeface="Courier New" pitchFamily="34" charset="-122"/>
                <a:cs typeface="Courier New" pitchFamily="34" charset="-120"/>
              </a:rPr>
              <a:t>True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('OK', 'OK')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K.wpkh_spend(signed_amount=</a:t>
            </a:r>
            <a:r>
              <a:rPr lang="en-US" sz="760" dirty="0">
                <a:solidFill>
                  <a:srgbClr val="FFD28A"/>
                </a:solidFill>
                <a:latin typeface="Courier New" pitchFamily="34" charset="0"/>
                <a:ea typeface="Courier New" pitchFamily="34" charset="-122"/>
                <a:cs typeface="Courier New" pitchFamily="34" charset="-120"/>
              </a:rPr>
              <a:t>99999</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'EVAL_FALSE'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L.script_to_address(L.p2wpkh_script(L.hash160(K.pub(</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'bc1qm5gqhe7e46jhyy2ca00x66slmrlljwa33n9fts'</a:t>
            </a:r>
            <a:endParaRPr lang="en-US" sz="760" dirty="0"/>
          </a:p>
        </p:txBody>
      </p:sp>
      <p:sp>
        <p:nvSpPr>
          <p:cNvPr id="11" name="Text 8"/>
          <p:cNvSpPr txBox="1"/>
          <p:nvPr/>
        </p:nvSpPr>
        <p:spPr>
          <a:xfrm>
            <a:off x="4754880" y="33101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75488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321808" y="342900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a version byte and a push of 2 to 40 bytes</a:t>
            </a:r>
            <a:endParaRPr lang="en-US" sz="1000" dirty="0"/>
          </a:p>
        </p:txBody>
      </p:sp>
      <p:sp>
        <p:nvSpPr>
          <p:cNvPr id="15" name="Shape 12"/>
          <p:cNvSpPr/>
          <p:nvPr/>
        </p:nvSpPr>
        <p:spPr>
          <a:xfrm>
            <a:off x="4754880" y="401421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754880"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321808" y="397764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Version 0 is P2WPKH and P2WSH, version 1 is taproot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inputs spend witness programs, and the signature commits to the amount</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tree of scripts hides every script you do not use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commits to all scripts; the spender shows one and its proof</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Only the depth of the tree matters: 20 hashes of 32 bytes prove one script out of a million.</a:t>
            </a:r>
            <a:endParaRPr lang="en-US" sz="1250" dirty="0"/>
          </a:p>
        </p:txBody>
      </p:sp>
      <p:pic>
        <p:nvPicPr>
          <p:cNvPr id="7" name="Image 0" descr="../../03-materials/ch07/assets/mbc3_0705.png">    </p:cNvPr>
          <p:cNvPicPr>
            <a:picLocks noChangeAspect="1"/>
          </p:cNvPicPr>
          <p:nvPr/>
        </p:nvPicPr>
        <p:blipFill>
          <a:blip r:embed="rId1"/>
          <a:srcRect l="0" r="0" t="0" b="0"/>
          <a:stretch/>
        </p:blipFill>
        <p:spPr>
          <a:xfrm>
            <a:off x="411480" y="1600200"/>
            <a:ext cx="4023360" cy="1463040"/>
          </a:xfrm>
          <a:prstGeom prst="rect">
            <a:avLst/>
          </a:prstGeom>
        </p:spPr>
      </p:pic>
      <p:sp>
        <p:nvSpPr>
          <p:cNvPr id="8" name="Text 5"/>
          <p:cNvSpPr txBox="1"/>
          <p:nvPr/>
        </p:nvSpPr>
        <p:spPr>
          <a:xfrm>
            <a:off x="411480" y="308152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MAST with three sub-scripts - Mastering Bitcoin 3e, CC BY-SA</a:t>
            </a:r>
            <a:endParaRPr lang="en-US" sz="900" dirty="0"/>
          </a:p>
        </p:txBody>
      </p:sp>
      <p:sp>
        <p:nvSpPr>
          <p:cNvPr id="9" name="Text 6"/>
          <p:cNvSpPr txBox="1"/>
          <p:nvPr/>
        </p:nvSpPr>
        <p:spPr>
          <a:xfrm>
            <a:off x="411480" y="3474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contract as a tree: proofs, then larger trees</a:t>
            </a:r>
            <a:endParaRPr lang="en-US" sz="1150" dirty="0"/>
          </a:p>
        </p:txBody>
      </p:sp>
      <p:sp>
        <p:nvSpPr>
          <p:cNvPr id="10" name="Shape 7"/>
          <p:cNvSpPr/>
          <p:nvPr/>
        </p:nvSpPr>
        <p:spPr>
          <a:xfrm>
            <a:off x="411480" y="3749040"/>
            <a:ext cx="4023360" cy="777240"/>
          </a:xfrm>
          <a:prstGeom prst="roundRect">
            <a:avLst>
              <a:gd name="adj" fmla="val 11765"/>
            </a:avLst>
          </a:prstGeom>
          <a:solidFill>
            <a:srgbClr val="23272E"/>
          </a:solidFill>
          <a:ln w="12700">
            <a:solidFill>
              <a:srgbClr val="23272E"/>
            </a:solidFill>
            <a:prstDash val="solid"/>
          </a:ln>
        </p:spPr>
      </p:sp>
      <p:sp>
        <p:nvSpPr>
          <p:cNvPr id="11" name="Text 8"/>
          <p:cNvSpPr txBox="1"/>
          <p:nvPr/>
        </p:nvSpPr>
        <p:spPr>
          <a:xfrm>
            <a:off x="594360" y="3867912"/>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[len(p)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p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K.tap_tree(MOH_LEAVES)[</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 2,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[(n, (n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).bit_length())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8</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1024</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 2), (8, 3), (1024, 10), (1048576, 20)]</a:t>
            </a:r>
            <a:endParaRPr lang="en-US" sz="760" dirty="0"/>
          </a:p>
        </p:txBody>
      </p:sp>
      <p:sp>
        <p:nvSpPr>
          <p:cNvPr id="12" name="Text 9"/>
          <p:cNvSpPr txBox="1"/>
          <p:nvPr/>
        </p:nvSpPr>
        <p:spPr>
          <a:xfrm>
            <a:off x="411480" y="45445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3" name="Chart 0" descr=""/>
          <p:cNvGraphicFramePr/>
          <p:nvPr/>
        </p:nvGraphicFramePr>
        <p:xfrm>
          <a:off x="4572000" y="1600200"/>
          <a:ext cx="4160520" cy="29260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cost grows with the depth of the tree, not with the number of scripts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key for agreement, one script for the rest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path</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 path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Tapscript</a:t>
            </a:r>
            <a:endParaRPr lang="en-US" sz="1400" dirty="0"/>
          </a:p>
        </p:txBody>
      </p:sp>
      <p:pic>
        <p:nvPicPr>
          <p:cNvPr id="14" name="Image 0" descr="../../03-materials/ch07/assets/mbc3_0710.png">    </p:cNvPr>
          <p:cNvPicPr>
            <a:picLocks noChangeAspect="1"/>
          </p:cNvPicPr>
          <p:nvPr/>
        </p:nvPicPr>
        <p:blipFill>
          <a:blip r:embed="rId1"/>
          <a:srcRect l="0" r="0" t="0" b="0"/>
          <a:stretch/>
        </p:blipFill>
        <p:spPr>
          <a:xfrm>
            <a:off x="5989320" y="1691640"/>
            <a:ext cx="2651760" cy="2340864"/>
          </a:xfrm>
          <a:prstGeom prst="rect">
            <a:avLst/>
          </a:prstGeom>
        </p:spPr>
      </p:pic>
      <p:sp>
        <p:nvSpPr>
          <p:cNvPr id="15" name="Text 12"/>
          <p:cNvSpPr txBox="1"/>
          <p:nvPr/>
        </p:nvSpPr>
        <p:spPr>
          <a:xfrm>
            <a:off x="5989320" y="4050792"/>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taproot output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Taproot: one 32-byte key that commits to a tree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 key = internal key + tweak; the key path shows one 64-byte signature</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 key P</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possibly the sum of many keys</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Tweak by the tree root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Q = P + hash(P, root) x G</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key Q</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32 bytes, in a bc1p address</a:t>
            </a:r>
            <a:endParaRPr lang="en-US" sz="1150" dirty="0"/>
          </a:p>
        </p:txBody>
      </p:sp>
      <p:sp>
        <p:nvSpPr>
          <p:cNvPr id="14" name="Text 12"/>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output key and address; a 64-byte key path spend of 308 units; an untweaked key fails</a:t>
            </a:r>
            <a:endParaRPr lang="en-US" sz="1150" dirty="0"/>
          </a:p>
        </p:txBody>
      </p:sp>
      <p:sp>
        <p:nvSpPr>
          <p:cNvPr id="15" name="Shape 13"/>
          <p:cNvSpPr/>
          <p:nvPr/>
        </p:nvSpPr>
        <p:spPr>
          <a:xfrm>
            <a:off x="457200" y="2468880"/>
            <a:ext cx="8229600" cy="1508760"/>
          </a:xfrm>
          <a:prstGeom prst="roundRect">
            <a:avLst>
              <a:gd name="adj" fmla="val 6061"/>
            </a:avLst>
          </a:prstGeom>
          <a:solidFill>
            <a:srgbClr val="23272E"/>
          </a:solidFill>
          <a:ln w="12700">
            <a:solidFill>
              <a:srgbClr val="23272E"/>
            </a:solidFill>
            <a:prstDash val="solid"/>
          </a:ln>
        </p:spPr>
      </p:sp>
      <p:sp>
        <p:nvSpPr>
          <p:cNvPr id="16" name="Text 14"/>
          <p:cNvSpPr txBox="1"/>
          <p:nvPr/>
        </p:nvSpPr>
        <p:spPr>
          <a:xfrm>
            <a:off x="640080" y="2587752"/>
            <a:ext cx="7863840" cy="127101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par, q = L.taproot_tweak_pubkey(K.xpub(</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b</a:t>
            </a:r>
            <a:r>
              <a:rPr lang="en-US" sz="930" dirty="0">
                <a:solidFill>
                  <a:srgbClr val="9ECBFF"/>
                </a:solidFill>
                <a:latin typeface="Courier New" pitchFamily="34" charset="0"/>
                <a:ea typeface="Courier New" pitchFamily="34" charset="-122"/>
                <a:cs typeface="Courier New" pitchFamily="34" charset="-120"/>
              </a:rPr>
              <a: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L.script_to_address(L.p2tr_script(q))[:</a:t>
            </a:r>
            <a:r>
              <a:rPr lang="en-US" sz="930" dirty="0">
                <a:solidFill>
                  <a:srgbClr val="FFD28A"/>
                </a:solidFill>
                <a:latin typeface="Courier New" pitchFamily="34" charset="0"/>
                <a:ea typeface="Courier New" pitchFamily="34" charset="-122"/>
                <a:cs typeface="Courier New" pitchFamily="34" charset="-120"/>
              </a:rPr>
              <a:t>6</a:t>
            </a:r>
            <a:r>
              <a:rPr lang="en-US" sz="930" dirty="0">
                <a:solidFill>
                  <a:srgbClr val="E6EDF3"/>
                </a:solidFill>
                <a:latin typeface="Courier New" pitchFamily="34" charset="0"/>
                <a:ea typeface="Courier New" pitchFamily="34" charset="-122"/>
                <a:cs typeface="Courier New" pitchFamily="34" charset="-120"/>
              </a:rPr>
              <a:t>], len(q)</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('bc1pwd', 32)</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wit, wt =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len(wit[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wt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64, 308)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 tamper=</a:t>
            </a:r>
            <a:r>
              <a:rPr lang="en-US" sz="930" dirty="0">
                <a:solidFill>
                  <a:srgbClr val="9ECBFF"/>
                </a:solidFill>
                <a:latin typeface="Courier New" pitchFamily="34" charset="0"/>
                <a:ea typeface="Courier New" pitchFamily="34" charset="-122"/>
                <a:cs typeface="Courier New" pitchFamily="34" charset="-120"/>
              </a:rPr>
              <a:t>'untweaked'</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'SCHNORR_SIG')</a:t>
            </a:r>
            <a:endParaRPr lang="en-US" sz="930" dirty="0"/>
          </a:p>
        </p:txBody>
      </p:sp>
      <p:sp>
        <p:nvSpPr>
          <p:cNvPr id="17" name="Text 15"/>
          <p:cNvSpPr txBox="1"/>
          <p:nvPr/>
        </p:nvSpPr>
        <p:spPr>
          <a:xfrm>
            <a:off x="457200" y="39959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206240"/>
            <a:ext cx="3044495"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20624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key path: one signature</a:t>
            </a:r>
            <a:endParaRPr lang="en-US" sz="1100" dirty="0"/>
          </a:p>
        </p:txBody>
      </p:sp>
      <p:sp>
        <p:nvSpPr>
          <p:cNvPr id="20" name="Shape 18"/>
          <p:cNvSpPr/>
          <p:nvPr/>
        </p:nvSpPr>
        <p:spPr>
          <a:xfrm>
            <a:off x="3702863" y="4206240"/>
            <a:ext cx="235046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702863"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witness version 1</a:t>
            </a:r>
            <a:endParaRPr lang="en-US" sz="1100" dirty="0"/>
          </a:p>
        </p:txBody>
      </p:sp>
      <p:sp>
        <p:nvSpPr>
          <p:cNvPr id="22" name="Shape 20"/>
          <p:cNvSpPr/>
          <p:nvPr/>
        </p:nvSpPr>
        <p:spPr>
          <a:xfrm>
            <a:off x="6254496" y="4206240"/>
            <a:ext cx="200345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4496"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BIP340, BIP341</a:t>
            </a:r>
            <a:endParaRPr lang="en-US" sz="11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everyone agrees, the chain shows one signature and no script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script path: reveal one script, hide the rest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Witness = inputs, script, and a control block linking it to the output key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Revealing a script costs about what P2WSH costs; the cooperative key path costs half.</a:t>
            </a:r>
            <a:endParaRPr lang="en-US" sz="1250" dirty="0"/>
          </a:p>
        </p:txBody>
      </p:sp>
      <p:graphicFrame>
        <p:nvGraphicFramePr>
          <p:cNvPr id="7" name="Chart 0" descr=""/>
          <p:cNvGraphicFramePr/>
          <p:nvPr/>
        </p:nvGraphicFramePr>
        <p:xfrm>
          <a:off x="411480" y="1572768"/>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per-leaf results, weights and control blocks</a:t>
            </a:r>
            <a:endParaRPr lang="en-US" sz="1150" dirty="0"/>
          </a:p>
        </p:txBody>
      </p:sp>
      <p:sp>
        <p:nvSpPr>
          <p:cNvPr id="9" name="Shape 6"/>
          <p:cNvSpPr/>
          <p:nvPr/>
        </p:nvSpPr>
        <p:spPr>
          <a:xfrm>
            <a:off x="4754880" y="1828800"/>
            <a:ext cx="3931920" cy="1691640"/>
          </a:xfrm>
          <a:prstGeom prst="roundRect">
            <a:avLst>
              <a:gd name="adj" fmla="val 5405"/>
            </a:avLst>
          </a:prstGeom>
          <a:solidFill>
            <a:srgbClr val="23272E"/>
          </a:solidFill>
          <a:ln w="12700">
            <a:solidFill>
              <a:srgbClr val="23272E"/>
            </a:solidFill>
            <a:prstDash val="solid"/>
          </a:ln>
        </p:spPr>
      </p:sp>
      <p:sp>
        <p:nvSpPr>
          <p:cNvPr id="10" name="Text 7"/>
          <p:cNvSpPr txBox="1"/>
          <p:nvPr/>
        </p:nvSpPr>
        <p:spPr>
          <a:xfrm>
            <a:off x="4937760" y="1947672"/>
            <a:ext cx="3566160" cy="14538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['OK', 'OK', 'OK']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[577, 617, 414]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[moh_wsh(p)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[585, 584, 509]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[len(moh_tap(i)[</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[97, 97, 65]</a:t>
            </a:r>
            <a:endParaRPr lang="en-US" sz="850" dirty="0"/>
          </a:p>
        </p:txBody>
      </p:sp>
      <p:sp>
        <p:nvSpPr>
          <p:cNvPr id="11" name="Text 8"/>
          <p:cNvSpPr txBox="1"/>
          <p:nvPr/>
        </p:nvSpPr>
        <p:spPr>
          <a:xfrm>
            <a:off x="475488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94792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029200" y="38404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key path of the same output weighs 308 units</a:t>
            </a:r>
            <a:endParaRPr lang="en-US" sz="1050" dirty="0"/>
          </a:p>
        </p:txBody>
      </p:sp>
      <p:sp>
        <p:nvSpPr>
          <p:cNvPr id="14" name="Shape 11"/>
          <p:cNvSpPr/>
          <p:nvPr/>
        </p:nvSpPr>
        <p:spPr>
          <a:xfrm>
            <a:off x="4754880" y="4290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029200" y="41833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control block is 33 + 32 x depth bytes</a:t>
            </a:r>
            <a:endParaRPr lang="en-US" sz="10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path spend shows one script and nothing about the others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2021-11-14</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325880"/>
            <a:ext cx="2194560" cy="2011680"/>
          </a:xfrm>
          <a:prstGeom prst="rect">
            <a:avLst/>
          </a:prstGeom>
        </p:spPr>
      </p:pic>
      <p:sp>
        <p:nvSpPr>
          <p:cNvPr id="7" name="Text 4"/>
          <p:cNvSpPr txBox="1"/>
          <p:nvPr/>
        </p:nvSpPr>
        <p:spPr>
          <a:xfrm>
            <a:off x="457200" y="33558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a:t>
            </a:r>
            <a:endParaRPr lang="en-US" sz="900" dirty="0"/>
          </a:p>
        </p:txBody>
      </p:sp>
      <p:sp>
        <p:nvSpPr>
          <p:cNvPr id="8" name="Shape 5"/>
          <p:cNvSpPr/>
          <p:nvPr/>
        </p:nvSpPr>
        <p:spPr>
          <a:xfrm>
            <a:off x="2926080" y="15133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Claus Schnorr patented his signature scheme and kept it out of open standards for almost two decades</a:t>
            </a:r>
            <a:endParaRPr lang="en-US" sz="1200" dirty="0"/>
          </a:p>
        </p:txBody>
      </p:sp>
      <p:sp>
        <p:nvSpPr>
          <p:cNvPr id="10" name="Shape 7"/>
          <p:cNvSpPr/>
          <p:nvPr/>
        </p:nvSpPr>
        <p:spPr>
          <a:xfrm>
            <a:off x="2926080" y="20162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82880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BIP340, BIP341 and BIP342 specified Schnorr signatures, taproot and tapscript</a:t>
            </a:r>
            <a:endParaRPr lang="en-US" sz="1200" dirty="0"/>
          </a:p>
        </p:txBody>
      </p:sp>
      <p:sp>
        <p:nvSpPr>
          <p:cNvPr id="12" name="Shape 9"/>
          <p:cNvSpPr/>
          <p:nvPr/>
        </p:nvSpPr>
        <p:spPr>
          <a:xfrm>
            <a:off x="2926080" y="25191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33172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rules took effect at block 709,632 on 14 November 2021</a:t>
            </a:r>
            <a:endParaRPr lang="en-US" sz="1200" dirty="0"/>
          </a:p>
        </p:txBody>
      </p:sp>
      <p:sp>
        <p:nvSpPr>
          <p:cNvPr id="14" name="Text 11"/>
          <p:cNvSpPr txBox="1"/>
          <p:nvPr/>
        </p:nvSpPr>
        <p:spPr>
          <a:xfrm>
            <a:off x="2926080" y="278892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taproot key path spend: one 64-byte Schnorr signature, 308 weight units</a:t>
            </a:r>
            <a:endParaRPr lang="en-US" sz="1150" dirty="0"/>
          </a:p>
        </p:txBody>
      </p:sp>
      <p:sp>
        <p:nvSpPr>
          <p:cNvPr id="15" name="Shape 12"/>
          <p:cNvSpPr/>
          <p:nvPr/>
        </p:nvSpPr>
        <p:spPr>
          <a:xfrm>
            <a:off x="2926080" y="3063240"/>
            <a:ext cx="5760720" cy="777240"/>
          </a:xfrm>
          <a:prstGeom prst="roundRect">
            <a:avLst>
              <a:gd name="adj" fmla="val 11765"/>
            </a:avLst>
          </a:prstGeom>
          <a:solidFill>
            <a:srgbClr val="23272E"/>
          </a:solidFill>
          <a:ln w="12700">
            <a:solidFill>
              <a:srgbClr val="23272E"/>
            </a:solidFill>
            <a:prstDash val="solid"/>
          </a:ln>
        </p:spPr>
      </p:sp>
      <p:sp>
        <p:nvSpPr>
          <p:cNvPr id="16" name="Text 13"/>
          <p:cNvSpPr txBox="1"/>
          <p:nvPr/>
        </p:nvSpPr>
        <p:spPr>
          <a:xfrm>
            <a:off x="3108960" y="3182112"/>
            <a:ext cx="5394960" cy="5394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wit, wt = K.tr_keypath(</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len(wit[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wt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 64, 308)</a:t>
            </a:r>
            <a:endParaRPr lang="en-US" sz="90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224528"/>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 wh…</a:t>
            </a:r>
            <a:endParaRPr lang="en-US" sz="750" dirty="0"/>
          </a:p>
        </p:txBody>
      </p:sp>
      <p:sp>
        <p:nvSpPr>
          <p:cNvPr id="20" name="Shape 17"/>
          <p:cNvSpPr/>
          <p:nvPr/>
        </p:nvSpPr>
        <p:spPr>
          <a:xfrm>
            <a:off x="4719584" y="4224528"/>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709,632, mined on…</a:t>
            </a:r>
            <a:endParaRPr lang="en-US" sz="750" dirty="0"/>
          </a:p>
        </p:txBody>
      </p:sp>
      <p:sp>
        <p:nvSpPr>
          <p:cNvPr id="22" name="Shape 19"/>
          <p:cNvSpPr/>
          <p:nvPr/>
        </p:nvSpPr>
        <p:spPr>
          <a:xfrm>
            <a:off x="6513088" y="4224528"/>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224528"/>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a:t>
            </a:r>
            <a:endParaRPr lang="en-US" sz="750" dirty="0"/>
          </a:p>
        </p:txBody>
      </p:sp>
      <p:sp>
        <p:nvSpPr>
          <p:cNvPr id="24" name="Shape 21"/>
          <p:cNvSpPr/>
          <p:nvPr/>
        </p:nvSpPr>
        <p:spPr>
          <a:xfrm>
            <a:off x="7546177" y="4224528"/>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224528"/>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Tapscript: three small changes to the language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OP_CHECKSIGADD counts signatures; unknown opcodes succeed for upgrades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OP_CHECKSIGADD: 104 bytes, spent with one empty signature; with only one signature it fails</a:t>
            </a:r>
            <a:endParaRPr lang="en-US" sz="1150" dirty="0"/>
          </a:p>
        </p:txBody>
      </p:sp>
      <p:sp>
        <p:nvSpPr>
          <p:cNvPr id="7" name="Shape 5"/>
          <p:cNvSpPr/>
          <p:nvPr/>
        </p:nvSpPr>
        <p:spPr>
          <a:xfrm>
            <a:off x="457200" y="169164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8105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len(RED)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(104, 105)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'EVAL_FALSE'</a:t>
            </a:r>
            <a:endParaRPr lang="en-US" sz="950" dirty="0"/>
          </a:p>
        </p:txBody>
      </p:sp>
      <p:sp>
        <p:nvSpPr>
          <p:cNvPr id="9" name="Text 7"/>
          <p:cNvSpPr txBox="1"/>
          <p:nvPr/>
        </p:nvSpPr>
        <p:spPr>
          <a:xfrm>
            <a:off x="457200" y="30358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87 opcode values are OP_SUCCESS; a script that contains OP_LSHIFT succeeds, and the legacy engine refuses it</a:t>
            </a:r>
            <a:endParaRPr lang="en-US" sz="1150" dirty="0"/>
          </a:p>
        </p:txBody>
      </p:sp>
      <p:sp>
        <p:nvSpPr>
          <p:cNvPr id="11" name="Shape 9"/>
          <p:cNvSpPr/>
          <p:nvPr/>
        </p:nvSpPr>
        <p:spPr>
          <a:xfrm>
            <a:off x="457200" y="32461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33649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range(</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L.is_op_success(o))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87</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K.tr_spend([bytes([0x51, </a:t>
            </a:r>
            <a:r>
              <a:rPr lang="en-US" sz="950" dirty="0">
                <a:solidFill>
                  <a:srgbClr val="FFD28A"/>
                </a:solidFill>
                <a:latin typeface="Courier New" pitchFamily="34" charset="0"/>
                <a:ea typeface="Courier New" pitchFamily="34" charset="-122"/>
                <a:cs typeface="Courier New" pitchFamily="34" charset="-120"/>
              </a:rPr>
              <a:t>152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L.run(</a:t>
            </a:r>
            <a:r>
              <a:rPr lang="en-US" sz="950" dirty="0">
                <a:solidFill>
                  <a:srgbClr val="9ECBFF"/>
                </a:solidFill>
                <a:latin typeface="Courier New" pitchFamily="34" charset="0"/>
                <a:ea typeface="Courier New" pitchFamily="34" charset="-122"/>
                <a:cs typeface="Courier New" pitchFamily="34" charset="-120"/>
              </a:rPr>
              <a:t>'OP_1 OP_LSHIFT'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'OP_1'</a:t>
            </a:r>
            <a:r>
              <a:rPr lang="en-US" sz="950" dirty="0">
                <a:solidFill>
                  <a:srgbClr val="E6EDF3"/>
                </a:solidFill>
                <a:latin typeface="Courier New" pitchFamily="34" charset="0"/>
                <a:ea typeface="Courier New" pitchFamily="34" charset="-122"/>
                <a:cs typeface="Courier New" pitchFamily="34" charset="-120"/>
              </a:rPr>
              <a:t>, flags=())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'DISABLED_OPCODE'</a:t>
            </a:r>
            <a:endParaRPr lang="en-US" sz="950" dirty="0"/>
          </a:p>
        </p:txBody>
      </p:sp>
      <p:sp>
        <p:nvSpPr>
          <p:cNvPr id="13" name="Text 11"/>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Tapscript counts signatures one at a time and leaves room for upgrades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script is a stack program with no loops and no state: the unlocking script proves, the locking script checks, and the top value is the verdict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two numbers in strict DER; multisignatures count them in key order, and pay to script hash moves a long script to its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let a spend wait, and conditionals give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moved the proof into a witness program with a version, and a tree of scripts hides every alternative that is not used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a key to a tree: the key path shows one signature, the script path one script, and tapscript counts signatures one by one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nine pages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Wiki's Script page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en.bitcoin.it/wiki/Script</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66 - strict DER signatures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raw.githubusercontent.com/bitcoin/bips/master/bip-0066.mediawiki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341 - taproot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raw.githubusercontent.com/bitcoin/bips/master/bip-0341.mediawiki</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342 - tapscript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raw.githubusercontent.com/bitcoin/bips/master/bip-0342.mediawiki</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0.3.0, the first script engine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raw.githubusercontent.com/bitcoin/bitcoin/v0.3.0/script.cpp</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early bugs, CVE-2010-5141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en.bitcoin.it/wiki/Common_Vulnerabilities_and_Exposures</a:t>
            </a:r>
            <a:endParaRPr lang="en-US" sz="1000" dirty="0"/>
          </a:p>
        </p:txBody>
      </p:sp>
      <p:sp>
        <p:nvSpPr>
          <p:cNvPr id="25" name="Shape 23"/>
          <p:cNvSpPr/>
          <p:nvPr/>
        </p:nvSpPr>
        <p:spPr>
          <a:xfrm>
            <a:off x="4768596" y="237744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July 2015 network alert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bitcoin.org/en/alert/2015-07-04-spv-mining</a:t>
            </a:r>
            <a:endParaRPr lang="en-US" sz="1000" dirty="0"/>
          </a:p>
        </p:txBody>
      </p:sp>
      <p:sp>
        <p:nvSpPr>
          <p:cNvPr id="27" name="Text 25"/>
          <p:cNvSpPr txBox="1"/>
          <p:nvPr/>
        </p:nvSpPr>
        <p:spPr>
          <a:xfrm>
            <a:off x="473202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 taproot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bitcoinops.org/en/topics/taproot/</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 on taproot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en.bitcoin.it/wiki/Taproot</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first engine beside today's rules and find where OP_RETURN changed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locking and an unlocking script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signature, a multisignature and a script hash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and conditionals shape who can spend,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 and what a key path or script path reveals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2026-10-15T00:39:10Z</dcterms:created>
  <dcterms:modified xsi:type="dcterms:W3CDTF">2026-10-15T00:39:10Z</dcterms:modified>
  <cp:version>1.1.0</cp:version>
</cp:coreProperties>
</file>