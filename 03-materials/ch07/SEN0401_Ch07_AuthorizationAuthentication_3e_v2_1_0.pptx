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0-1.jpg" ContentType="image/jpg"/>
  <Override PartName="/ppt/media/image-18-1.jpg" ContentType="image/jpg"/>
  <Override PartName="/ppt/media/image-53-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inputs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P2WPKH</c:v>
                  </c:pt>
                  <c:pt idx="1">
                    <c:v>P2PKH</c:v>
                  </c:pt>
                  <c:pt idx="2">
                    <c:v>P2SH-P2WPKH</c:v>
                  </c:pt>
                  <c:pt idx="3">
                    <c:v>P2WSH</c:v>
                  </c:pt>
                  <c:pt idx="4">
                    <c:v>P2SH-P2WSH</c:v>
                  </c:pt>
                  <c:pt idx="5">
                    <c:v>P2SH multisig</c:v>
                  </c:pt>
                  <c:pt idx="6">
                    <c:v>taproot</c:v>
                  </c:pt>
                </c:lvl>
              </c:multiLvlStrCache>
            </c:multiLvlStrRef>
          </c:cat>
          <c:val>
            <c:numRef>
              <c:f>Sheet1!$B$2:$B$8</c:f>
              <c:numCache>
                <c:formatCode>General</c:formatCode>
                <c:ptCount val="7"/>
                <c:pt idx="0">
                  <c:v>626</c:v>
                </c:pt>
                <c:pt idx="1">
                  <c:v>194</c:v>
                </c:pt>
                <c:pt idx="2">
                  <c:v>95</c:v>
                </c:pt>
                <c:pt idx="3">
                  <c:v>57</c:v>
                </c:pt>
                <c:pt idx="4">
                  <c:v>34</c:v>
                </c:pt>
                <c:pt idx="5">
                  <c:v>10</c:v>
                </c:pt>
                <c:pt idx="6">
                  <c:v>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hashes in the proof</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3</c:v>
                  </c:pt>
                  <c:pt idx="1">
                    <c:v>8</c:v>
                  </c:pt>
                  <c:pt idx="2">
                    <c:v>1,024</c:v>
                  </c:pt>
                  <c:pt idx="3">
                    <c:v>1,048,576</c:v>
                  </c:pt>
                </c:lvl>
              </c:multiLvlStrCache>
            </c:multiLvlStrRef>
          </c:cat>
          <c:val>
            <c:numRef>
              <c:f>Sheet1!$B$2:$B$5</c:f>
              <c:numCache>
                <c:formatCode>General</c:formatCode>
                <c:ptCount val="4"/>
                <c:pt idx="0">
                  <c:v>2</c:v>
                </c:pt>
                <c:pt idx="1">
                  <c:v>3</c:v>
                </c:pt>
                <c:pt idx="2">
                  <c:v>10</c:v>
                </c:pt>
                <c:pt idx="3">
                  <c:v>20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taproot script path</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path 1</c:v>
                  </c:pt>
                  <c:pt idx="1">
                    <c:v>path 2</c:v>
                  </c:pt>
                  <c:pt idx="2">
                    <c:v>path 3</c:v>
                  </c:pt>
                </c:lvl>
              </c:multiLvlStrCache>
            </c:multiLvlStrRef>
          </c:cat>
          <c:val>
            <c:numRef>
              <c:f>Sheet1!$B$2:$B$4</c:f>
              <c:numCache>
                <c:formatCode>General</c:formatCode>
                <c:ptCount val="3"/>
                <c:pt idx="0">
                  <c:v>577</c:v>
                </c:pt>
                <c:pt idx="1">
                  <c:v>617</c:v>
                </c:pt>
                <c:pt idx="2">
                  <c:v>414</c:v>
                </c:pt>
              </c:numCache>
            </c:numRef>
          </c:val>
        </c:ser>
        <c:ser>
          <c:idx val="1"/>
          <c:order val="1"/>
          <c:tx>
            <c:strRef>
              <c:f>Sheet1!$C$1</c:f>
              <c:strCache>
                <c:ptCount val="1"/>
                <c:pt idx="0">
                  <c:v>witness script hash</c:v>
                </c:pt>
              </c:strCache>
            </c:strRef>
          </c:tx>
          <c:spPr>
            <a:solidFill>
              <a:srgbClr val="2F6D62"/>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cat>
            <c:multiLvlStrRef>
              <c:f>Sheet1!$A$2:$A$4</c:f>
              <c:multiLvlStrCache>
                <c:ptCount val="3"/>
                <c:lvl>
                  <c:pt idx="0">
                    <c:v>path 1</c:v>
                  </c:pt>
                  <c:pt idx="1">
                    <c:v>path 2</c:v>
                  </c:pt>
                  <c:pt idx="2">
                    <c:v>path 3</c:v>
                  </c:pt>
                </c:lvl>
              </c:multiLvlStrCache>
            </c:multiLvlStrRef>
          </c:cat>
          <c:val>
            <c:numRef>
              <c:f>Sheet1!$C$2:$C$4</c:f>
              <c:numCache>
                <c:formatCode>General</c:formatCode>
                <c:ptCount val="3"/>
                <c:pt idx="0">
                  <c:v>585</c:v>
                </c:pt>
                <c:pt idx="1">
                  <c:v>584</c:v>
                </c:pt>
                <c:pt idx="2">
                  <c:v>509</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how Bitcoin decides who may spend an output. The output carries a lock, the spender supplies the key, and every node runs both and accepts only a true result. Every spend shown ran in the chapter's own interpreter; no Bitcoin Core node was available where it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nine parts that follow the order in which Bitcoin gained its spending conditions. Three true stories and fifteen code examples are spread across them. The examples are listed in the same order in the chapter code tab of the course page, so every slide can be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shortened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nine parts and 87 concepts. Each part gets a divider, concept cards with everyday comparisons and code that runs, and some parts a true story. The deck follows the order in which Bitcoin gained its spending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coin is locked by a small program. This part shows the language, its stack and the two scripts that run one after the other. A bug of 2010 shows why they must run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 Scripts and Script Language, Turing Incompleteness, Stateless Verification and Script Construction.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reads its words from left to right. Numbers are pushed on the stack, and OP_ADD replaces the top two by their sum. OP_EQUAL compares the sum with five, so the spend is true with five and false with six.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script execution stack, A simple script, Separate execution of output and input scripts and script.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2010 the software joined the input script and the output script into one program. An input script of 1 then OP_RETURN ended the run with a true value before the lock ran. Today the scripts run apart.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2010-07-28. On 28 July 2010 two bugs were discovered and demonstrated on the test network. The lesson: run the two scripts separately, and fail closed on anything unknown.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stack, Turing complete, output script and input script.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scriptSig and scriptPubKey.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common lock asks for a signature from one key. We lock a coin to the hash of a public key, check a signature, and see why the strict signature format caused a fork in 2015.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Pay to Public Key Hash, public key hash and OP_CHECKSIG.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lock holds the hash of a public key. The spender shows the key and a signature over the transaction. A wrong key fails, and so does a changed amount, because the signature covers the amount.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signature hash, hash type and DER.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signature is two numbers, r and s, written in DER with a hash type at the end. A padded form was once accepted. Since BIP66 only the strict form is valid, which is the rule behind the fork of 2015.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2015-07-04. BIP66 made strict DER the only valid encoding of a signature, and it took effect once 950 of the last 1,000 blocks were version 3, which happened early on 4 July 2015, at block 363,725. The lesson: a rule that you do not check for yourself protects nobody.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lock can ask for t signatures out of k keys. We run a real two-of-three spend, see why the signatures must follow the order of the keys, and meet the extra element that the opcode pops.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Scripted Multisignatures, An Oddity in CHECKMULTISIG Execution and multisignature.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two-of-three lock lists three keys and wants two signatures in the same order. A single signature fails. The opcode also pops one item too many, so a dummy sits in front and must be empty.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OP_CHECKMULTISIG and dummy element.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long lock is costly for the payer. Pay to script hash puts only a hash in the output and lets the spender reveal the script. We build one and watch a wrong script 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Pay to Script Hash, P2SH Addresses and Benefits of P2SH.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output holds only the 20-byte hash of the script, so the payer pays for a short lock. The spender reveals the script, nodes hash it, compare, and then run it. A script that hashes differently fails.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Redeem Script and Validation, redeem script and P2SH address.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special locks. One records a few bytes of data and can never be spent. The others make a coin wait, until a time or block, or for an age counted from the day it was mined.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Data Recording Output (OP_RETURN), Transaction Lock Time Limitations, Check Lock Time Verify (OP_CLTV) and Relative Timelocks.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script holds a block number. The spending transaction must carry a lock time of at least that number, and its sequence must not be final. One block too early fails, and so does a final sequence.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Relative Timelocks with OP_CSV, OP_RETURN, data carrier output and lock time.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relative lock counts from the block that confirmed the coin. The input's sequence must reach 4,320 blocks, about thirty days, and the transaction must be version 2. Setting bit 31 turns the lock off.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OP_CHECKLOCKTIMEVERIFY, sequence and OP_CHECKSEQUENCEVERIFY.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script can choose between paths, and a check can stop it early. We combine both in a capital account that partners open at once, a lawyer opens after thirty days, and the lawyer alone after ninety.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Scripts with Flow Control (Conditional Clauses), Conditional Clauses with VERIFY Opcodes, Using Flow Control in Scripts and Complex Script Example.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Mohammed's capital account uses OP_IF to pick a path. Two of three partners may spend at once. The lawyer with one partner must wait 4,320 blocks, and the lawyer alone 12,960. Each path runs for real.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OP_IF, conditional clause, OP_VERIFY and Miniscript.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moves the proof out of the transaction identifier. We spend a witness key hash, look at what real inputs of one block spend, and see why this upgrade was a soft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Segregated Witness Output and Transaction Examples, Pay to witness public key hash (P2WPKH), Wallet construction of P2WPKH and Pay to witness script hash (P2WSH).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key-hash output is 22 bytes. The signature and the key travel in the witness, not in the input script. They work directly and nested in a script hash, and the signature covers the amount.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599 transactions of block 775,072 hold 1,022 inputs. Our interpreter verified each of them and sorted them by spending type. Segwit key hashes dominate, legacy key hashes follow, and taproot is still a handful.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Differentiating between P2WPKH and P2WSH, Upgrading to Segregated Witness, Embedding segregated witness inside P2SH and Nested pay to witness public key hash.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Nested pay to witness script hash, segregated witness, witness program and P2WPKH.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P2WSH, bech32, nested segregated witness and soft fork.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was a soft fork. Old nodes saw the new outputs as anyone-can-spend scripts and accepted the blocks, while upgraded nodes enforced the witness rules. That is why it could be activated without a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ideas that taproot combines. A tree of scripts is committed to by one hash, and a key can be tweaked to commit to hidden data, so many signers look like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Merklized Alternative Script Trees (MAST), Pay to Contract (P2C), Scriptless Multisignatures and Threshold Signatures and MAST.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spender reveals one script and the sibling hashes up to the root. Our three scripts need two, two and one. Every doubling of the tree adds one hash, so a tree of a million scripts needs twenty.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merkle root, membership proof, key tweak and scriptless multisignature.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threshold signature and partial public key.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Taproot gives an output one key that hides a tree. We spend it by key and by script, count signatures with a new opcode, and end with a story of a patented signature.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Taproot, Tapscript, keypath spending and scriptpath spending.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taproot output holds one 32-byte key. Spending by key path needs a single 64-byte Schnorr signature, and nothing about the hidden scripts is revealed. A key that was not tweaked correctly is refused.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2021-11-14. Claus Schnorr patented the signature algorithm he discovered and kept it out of open standards and open-source software for almost two decades, so cryptographers of the early 1990s built the DSA family that led to the ECDSA signatures Bitcoin used from its first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taproot internal key, taproot output key, leaf script and OP_CHECKSIGADD.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Spending by script path reveals one leaf script, its data and a control block with the proof. All three paths of the account script verify. Their weights are close to those of the same paths in a witness script hash.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schnorr signature, OP_SUCCESS and mutual satisfaction. Each pairs a short meaning with something from everyday life, so that the idea can be retold in your own words. The full explanation is on the course page, chapter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Tapscript drops the old multisignature opcode. A script checks each key in turn and adds one to a counter per valid signature, then compares the counter with t. The script is a byte shorter than before.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tapscript 87 opcode values are OP_SUCCESS: a script that contains one succeeds on sight. This leaves room for future soft forks. The disabled shift of the old language still fails in an old script.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A line that feels unproven should send you back to its code slide, because every result in it was computed there. The chapter code tab of the course page lets you rerun all fifteen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 good exercise is to take any spend from the explorer and run it through the chapter's interpreter. The course page for chapter 7 carries the full resource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runs of the chapter's own interpreter on slides of this deck. The course page for chapter 7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en.bitcoin.it/wiki/Common_Vulnerabilities_and_Exposures#CVE-2010-5141"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hyperlink" Target="https://bitcoin.org/en/alert/2015-07-04-spv-mining"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jpg"/><Relationship Id="rId2" Type="http://schemas.openxmlformats.org/officeDocument/2006/relationships/hyperlink" Target="https://mempool.space/block/0000000000000000000687bca986194dc2c1f949318629b44bb54ec0a94d8244" TargetMode="External"/><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hyperlink" Target="https://bitcoin.org/bitcoin.pdf" TargetMode="External"/><Relationship Id="rId2" Type="http://schemas.openxmlformats.org/officeDocument/2006/relationships/hyperlink" Target="https://en.bitcoin.it/wiki/Script" TargetMode="External"/><Relationship Id="rId3" Type="http://schemas.openxmlformats.org/officeDocument/2006/relationships/hyperlink" Target="https://bitcoinops.org/en/topics/taproot/" TargetMode="External"/><Relationship Id="rId4" Type="http://schemas.openxmlformats.org/officeDocument/2006/relationships/hyperlink" Target="https://en.bitcoin.it/wiki/Taproot" TargetMode="External"/><Relationship Id="rId5" Type="http://schemas.openxmlformats.org/officeDocument/2006/relationships/hyperlink" Target="https://bips.dev/66/" TargetMode="External"/><Relationship Id="rId6" Type="http://schemas.openxmlformats.org/officeDocument/2006/relationships/hyperlink" Target="https://bips.dev/141/" TargetMode="External"/><Relationship Id="rId7" Type="http://schemas.openxmlformats.org/officeDocument/2006/relationships/hyperlink" Target="https://bips.dev/341/" TargetMode="External"/><Relationship Id="rId8" Type="http://schemas.openxmlformats.org/officeDocument/2006/relationships/hyperlink" Target="https://bips.dev/342/" TargetMode="External"/><Relationship Id="rId9" Type="http://schemas.openxmlformats.org/officeDocument/2006/relationships/hyperlink" Target="https://raw.githubusercontent.com/bitcoin/bitcoin/v0.3.0/script.cpp" TargetMode="External"/><Relationship Id="rId10" Type="http://schemas.openxmlformats.org/officeDocument/2006/relationships/hyperlink" Target="https://en.bitcoin.it/wiki/Common_Vulnerabilities_and_Exposures#CVE-2010-5141" TargetMode="External"/><Relationship Id="rId11" Type="http://schemas.openxmlformats.org/officeDocument/2006/relationships/hyperlink" Target="https://bitcoin.org/en/alert/2015-07-04-spv-mining" TargetMode="External"/><Relationship Id="rId12" Type="http://schemas.openxmlformats.org/officeDocument/2006/relationships/hyperlink" Target="https://bitcoin.stackexchange.com" TargetMode="External"/><Relationship Id="rId13" Type="http://schemas.openxmlformats.org/officeDocument/2006/relationships/hyperlink" Target="https://delvingbitcoin.org/" TargetMode="External"/><Relationship Id="rId14" Type="http://schemas.openxmlformats.org/officeDocument/2006/relationships/hyperlink" Target="https://www.youtube.com/embed/wybiVFdknhg" TargetMode="External"/><Relationship Id="rId15" Type="http://schemas.openxmlformats.org/officeDocument/2006/relationships/hyperlink" Target="https://www.youtube.com/embed/nXGe9_M5pjk" TargetMode="External"/><Relationship Id="rId16" Type="http://schemas.openxmlformats.org/officeDocument/2006/relationships/slideLayout" Target="../slideLayouts/slideLayout1.xml"/><Relationship Id="rId17"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Scripts and Signatures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Authorization and authentication: scripts that lock coins, signatures that unlock them</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7/assets/mbc3_0701.png">    </p:cNvPr>
          <p:cNvPicPr>
            <a:picLocks noChangeAspect="1"/>
          </p:cNvPicPr>
          <p:nvPr/>
        </p:nvPicPr>
        <p:blipFill>
          <a:blip r:embed="rId1"/>
          <a:srcRect l="0" r="0" t="0" b="0"/>
          <a:stretch/>
        </p:blipFill>
        <p:spPr>
          <a:xfrm>
            <a:off x="3749040" y="411480"/>
            <a:ext cx="4937760" cy="109728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Figure: locking and unlocking scripts, Antonopoulos and Harding, Mastering Bitcoin 3e, CC BY-SA 4.0. Python 3.14.6, no Bitcoin Core node.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61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Nine parts; every number is a slide you can jump to</a:t>
            </a:r>
            <a:endParaRPr lang="en-US" sz="1300" dirty="0"/>
          </a:p>
        </p:txBody>
      </p:sp>
      <p:sp>
        <p:nvSpPr>
          <p:cNvPr id="6" name="Shape 4"/>
          <p:cNvSpPr/>
          <p:nvPr/>
        </p:nvSpPr>
        <p:spPr>
          <a:xfrm>
            <a:off x="457200" y="1280160"/>
            <a:ext cx="1822704" cy="704088"/>
          </a:xfrm>
          <a:prstGeom prst="roundRect">
            <a:avLst>
              <a:gd name="adj" fmla="val 10390"/>
            </a:avLst>
          </a:prstGeom>
          <a:solidFill>
            <a:srgbClr val="F2ECE1"/>
          </a:solidFill>
          <a:ln w="12700">
            <a:solidFill>
              <a:srgbClr val="DFD6C7"/>
            </a:solidFill>
            <a:prstDash val="solid"/>
          </a:ln>
        </p:spPr>
      </p:sp>
      <p:sp>
        <p:nvSpPr>
          <p:cNvPr id="7" name="Text 5"/>
          <p:cNvSpPr txBox="1"/>
          <p:nvPr/>
        </p:nvSpPr>
        <p:spPr>
          <a:xfrm>
            <a:off x="548640" y="1335024"/>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 Questions and the chapter map</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3-4)</a:t>
            </a:r>
            <a:endParaRPr lang="en-US" sz="1100" dirty="0"/>
          </a:p>
        </p:txBody>
      </p:sp>
      <p:sp>
        <p:nvSpPr>
          <p:cNvPr id="8" name="Shape 6"/>
          <p:cNvSpPr/>
          <p:nvPr/>
        </p:nvSpPr>
        <p:spPr>
          <a:xfrm>
            <a:off x="2426208" y="1280160"/>
            <a:ext cx="1822704" cy="704088"/>
          </a:xfrm>
          <a:prstGeom prst="roundRect">
            <a:avLst>
              <a:gd name="adj" fmla="val 10390"/>
            </a:avLst>
          </a:prstGeom>
          <a:solidFill>
            <a:srgbClr val="F2ECE1"/>
          </a:solidFill>
          <a:ln w="12700">
            <a:solidFill>
              <a:srgbClr val="DFD6C7"/>
            </a:solidFill>
            <a:prstDash val="solid"/>
          </a:ln>
        </p:spPr>
      </p:sp>
      <p:sp>
        <p:nvSpPr>
          <p:cNvPr id="9" name="Text 7"/>
          <p:cNvSpPr txBox="1"/>
          <p:nvPr/>
        </p:nvSpPr>
        <p:spPr>
          <a:xfrm>
            <a:off x="2517648" y="1335024"/>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2. Scripts and the Script language</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5-12)</a:t>
            </a:r>
            <a:endParaRPr lang="en-US" sz="1100" dirty="0"/>
          </a:p>
        </p:txBody>
      </p:sp>
      <p:sp>
        <p:nvSpPr>
          <p:cNvPr id="10" name="Shape 8"/>
          <p:cNvSpPr/>
          <p:nvPr/>
        </p:nvSpPr>
        <p:spPr>
          <a:xfrm>
            <a:off x="4395216" y="1280160"/>
            <a:ext cx="1822704" cy="704088"/>
          </a:xfrm>
          <a:prstGeom prst="roundRect">
            <a:avLst>
              <a:gd name="adj" fmla="val 10390"/>
            </a:avLst>
          </a:prstGeom>
          <a:solidFill>
            <a:srgbClr val="F2ECE1"/>
          </a:solidFill>
          <a:ln w="12700">
            <a:solidFill>
              <a:srgbClr val="DFD6C7"/>
            </a:solidFill>
            <a:prstDash val="solid"/>
          </a:ln>
        </p:spPr>
      </p:sp>
      <p:sp>
        <p:nvSpPr>
          <p:cNvPr id="11" name="Text 9"/>
          <p:cNvSpPr txBox="1"/>
          <p:nvPr/>
        </p:nvSpPr>
        <p:spPr>
          <a:xfrm>
            <a:off x="4486656" y="1335024"/>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3. Locking a coin to a key</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13-18)</a:t>
            </a:r>
            <a:endParaRPr lang="en-US" sz="1100" dirty="0"/>
          </a:p>
        </p:txBody>
      </p:sp>
      <p:sp>
        <p:nvSpPr>
          <p:cNvPr id="12" name="Shape 10"/>
          <p:cNvSpPr/>
          <p:nvPr/>
        </p:nvSpPr>
        <p:spPr>
          <a:xfrm>
            <a:off x="457200" y="2112264"/>
            <a:ext cx="1822704" cy="704088"/>
          </a:xfrm>
          <a:prstGeom prst="roundRect">
            <a:avLst>
              <a:gd name="adj" fmla="val 10390"/>
            </a:avLst>
          </a:prstGeom>
          <a:solidFill>
            <a:srgbClr val="F2ECE1"/>
          </a:solidFill>
          <a:ln w="12700">
            <a:solidFill>
              <a:srgbClr val="DFD6C7"/>
            </a:solidFill>
            <a:prstDash val="solid"/>
          </a:ln>
        </p:spPr>
      </p:sp>
      <p:sp>
        <p:nvSpPr>
          <p:cNvPr id="13" name="Text 11"/>
          <p:cNvSpPr txBox="1"/>
          <p:nvPr/>
        </p:nvSpPr>
        <p:spPr>
          <a:xfrm>
            <a:off x="548640" y="2167128"/>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4. Scripted multisignatures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19-22)</a:t>
            </a:r>
            <a:endParaRPr lang="en-US" sz="1100" dirty="0"/>
          </a:p>
        </p:txBody>
      </p:sp>
      <p:sp>
        <p:nvSpPr>
          <p:cNvPr id="14" name="Shape 12"/>
          <p:cNvSpPr/>
          <p:nvPr/>
        </p:nvSpPr>
        <p:spPr>
          <a:xfrm>
            <a:off x="2426208" y="2112264"/>
            <a:ext cx="1822704" cy="704088"/>
          </a:xfrm>
          <a:prstGeom prst="roundRect">
            <a:avLst>
              <a:gd name="adj" fmla="val 10390"/>
            </a:avLst>
          </a:prstGeom>
          <a:solidFill>
            <a:srgbClr val="F2ECE1"/>
          </a:solidFill>
          <a:ln w="12700">
            <a:solidFill>
              <a:srgbClr val="DFD6C7"/>
            </a:solidFill>
            <a:prstDash val="solid"/>
          </a:ln>
        </p:spPr>
      </p:sp>
      <p:sp>
        <p:nvSpPr>
          <p:cNvPr id="15" name="Text 13"/>
          <p:cNvSpPr txBox="1"/>
          <p:nvPr/>
        </p:nvSpPr>
        <p:spPr>
          <a:xfrm>
            <a:off x="2517648" y="2167128"/>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5. Pay to script hash</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23-26)</a:t>
            </a:r>
            <a:endParaRPr lang="en-US" sz="1100" dirty="0"/>
          </a:p>
        </p:txBody>
      </p:sp>
      <p:sp>
        <p:nvSpPr>
          <p:cNvPr id="16" name="Shape 14"/>
          <p:cNvSpPr/>
          <p:nvPr/>
        </p:nvSpPr>
        <p:spPr>
          <a:xfrm>
            <a:off x="4395216" y="2112264"/>
            <a:ext cx="1822704" cy="704088"/>
          </a:xfrm>
          <a:prstGeom prst="roundRect">
            <a:avLst>
              <a:gd name="adj" fmla="val 10390"/>
            </a:avLst>
          </a:prstGeom>
          <a:solidFill>
            <a:srgbClr val="F2ECE1"/>
          </a:solidFill>
          <a:ln w="12700">
            <a:solidFill>
              <a:srgbClr val="DFD6C7"/>
            </a:solidFill>
            <a:prstDash val="solid"/>
          </a:ln>
        </p:spPr>
      </p:sp>
      <p:sp>
        <p:nvSpPr>
          <p:cNvPr id="17" name="Text 15"/>
          <p:cNvSpPr txBox="1"/>
          <p:nvPr/>
        </p:nvSpPr>
        <p:spPr>
          <a:xfrm>
            <a:off x="4486656" y="2167128"/>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6. Data and timelocks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27-32)</a:t>
            </a:r>
            <a:endParaRPr lang="en-US" sz="1100" dirty="0"/>
          </a:p>
        </p:txBody>
      </p:sp>
      <p:sp>
        <p:nvSpPr>
          <p:cNvPr id="18" name="Shape 16"/>
          <p:cNvSpPr/>
          <p:nvPr/>
        </p:nvSpPr>
        <p:spPr>
          <a:xfrm>
            <a:off x="457200" y="2944368"/>
            <a:ext cx="1822704" cy="704088"/>
          </a:xfrm>
          <a:prstGeom prst="roundRect">
            <a:avLst>
              <a:gd name="adj" fmla="val 10390"/>
            </a:avLst>
          </a:prstGeom>
          <a:solidFill>
            <a:srgbClr val="F2ECE1"/>
          </a:solidFill>
          <a:ln w="12700">
            <a:solidFill>
              <a:srgbClr val="DFD6C7"/>
            </a:solidFill>
            <a:prstDash val="solid"/>
          </a:ln>
        </p:spPr>
      </p:sp>
      <p:sp>
        <p:nvSpPr>
          <p:cNvPr id="19" name="Text 17"/>
          <p:cNvSpPr txBox="1"/>
          <p:nvPr/>
        </p:nvSpPr>
        <p:spPr>
          <a:xfrm>
            <a:off x="548640" y="2999232"/>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7. Flow control and complex scripts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33-36)</a:t>
            </a:r>
            <a:endParaRPr lang="en-US" sz="1100" dirty="0"/>
          </a:p>
        </p:txBody>
      </p:sp>
      <p:sp>
        <p:nvSpPr>
          <p:cNvPr id="20" name="Shape 18"/>
          <p:cNvSpPr/>
          <p:nvPr/>
        </p:nvSpPr>
        <p:spPr>
          <a:xfrm>
            <a:off x="2426208" y="2944368"/>
            <a:ext cx="1822704" cy="704088"/>
          </a:xfrm>
          <a:prstGeom prst="roundRect">
            <a:avLst>
              <a:gd name="adj" fmla="val 10390"/>
            </a:avLst>
          </a:prstGeom>
          <a:solidFill>
            <a:srgbClr val="F2ECE1"/>
          </a:solidFill>
          <a:ln w="12700">
            <a:solidFill>
              <a:srgbClr val="DFD6C7"/>
            </a:solidFill>
            <a:prstDash val="solid"/>
          </a:ln>
        </p:spPr>
      </p:sp>
      <p:sp>
        <p:nvSpPr>
          <p:cNvPr id="21" name="Text 19"/>
          <p:cNvSpPr txBox="1"/>
          <p:nvPr/>
        </p:nvSpPr>
        <p:spPr>
          <a:xfrm>
            <a:off x="2517648" y="2999232"/>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8. Segregated witness scripts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37-44)</a:t>
            </a:r>
            <a:endParaRPr lang="en-US" sz="1100" dirty="0"/>
          </a:p>
        </p:txBody>
      </p:sp>
      <p:sp>
        <p:nvSpPr>
          <p:cNvPr id="22" name="Shape 20"/>
          <p:cNvSpPr/>
          <p:nvPr/>
        </p:nvSpPr>
        <p:spPr>
          <a:xfrm>
            <a:off x="4395216" y="2944368"/>
            <a:ext cx="1822704" cy="704088"/>
          </a:xfrm>
          <a:prstGeom prst="roundRect">
            <a:avLst>
              <a:gd name="adj" fmla="val 10390"/>
            </a:avLst>
          </a:prstGeom>
          <a:solidFill>
            <a:srgbClr val="F2ECE1"/>
          </a:solidFill>
          <a:ln w="12700">
            <a:solidFill>
              <a:srgbClr val="DFD6C7"/>
            </a:solidFill>
            <a:prstDash val="solid"/>
          </a:ln>
        </p:spPr>
      </p:sp>
      <p:sp>
        <p:nvSpPr>
          <p:cNvPr id="23" name="Text 21"/>
          <p:cNvSpPr txBox="1"/>
          <p:nvPr/>
        </p:nvSpPr>
        <p:spPr>
          <a:xfrm>
            <a:off x="4486656" y="2999232"/>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9. Script trees and key tweaks</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45-49)</a:t>
            </a:r>
            <a:endParaRPr lang="en-US" sz="1100" dirty="0"/>
          </a:p>
        </p:txBody>
      </p:sp>
      <p:sp>
        <p:nvSpPr>
          <p:cNvPr id="24" name="Shape 22"/>
          <p:cNvSpPr/>
          <p:nvPr/>
        </p:nvSpPr>
        <p:spPr>
          <a:xfrm>
            <a:off x="457200" y="3776472"/>
            <a:ext cx="1822704" cy="704088"/>
          </a:xfrm>
          <a:prstGeom prst="roundRect">
            <a:avLst>
              <a:gd name="adj" fmla="val 10390"/>
            </a:avLst>
          </a:prstGeom>
          <a:solidFill>
            <a:srgbClr val="F2ECE1"/>
          </a:solidFill>
          <a:ln w="12700">
            <a:solidFill>
              <a:srgbClr val="DFD6C7"/>
            </a:solidFill>
            <a:prstDash val="solid"/>
          </a:ln>
        </p:spPr>
      </p:sp>
      <p:sp>
        <p:nvSpPr>
          <p:cNvPr id="25" name="Text 23"/>
          <p:cNvSpPr txBox="1"/>
          <p:nvPr/>
        </p:nvSpPr>
        <p:spPr>
          <a:xfrm>
            <a:off x="548640" y="3831336"/>
            <a:ext cx="1639824" cy="59436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10. Taproot and tapscript</a:t>
            </a:r>
            <a:endParaRPr lang="en-US" sz="1100" dirty="0"/>
          </a:p>
          <a:p>
            <a:pPr algn="ctr" indent="0" marL="0">
              <a:buNone/>
            </a:pPr>
            <a:r>
              <a:rPr lang="en-US" sz="1000" dirty="0">
                <a:solidFill>
                  <a:srgbClr val="6E655C"/>
                </a:solidFill>
                <a:latin typeface="Calibri" pitchFamily="34" charset="0"/>
                <a:ea typeface="Calibri" pitchFamily="34" charset="-122"/>
                <a:cs typeface="Calibri" pitchFamily="34" charset="-120"/>
              </a:rPr>
              <a:t>(slides 50-61)</a:t>
            </a:r>
            <a:endParaRPr lang="en-US" sz="1100" dirty="0"/>
          </a:p>
        </p:txBody>
      </p:sp>
      <p:sp>
        <p:nvSpPr>
          <p:cNvPr id="26" name="Shape 24"/>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7" name="Text 25"/>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61</a:t>
            </a:r>
            <a:endParaRPr lang="en-US" sz="2600" dirty="0"/>
          </a:p>
        </p:txBody>
      </p:sp>
      <p:sp>
        <p:nvSpPr>
          <p:cNvPr id="28" name="Text 26"/>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9" name="Shape 27"/>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30" name="Text 28"/>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a:t>
            </a:r>
            <a:endParaRPr lang="en-US" sz="2600" dirty="0"/>
          </a:p>
        </p:txBody>
      </p:sp>
      <p:sp>
        <p:nvSpPr>
          <p:cNvPr id="31" name="Text 29"/>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32" name="Shape 30"/>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33" name="Text 31"/>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15</a:t>
            </a:r>
            <a:endParaRPr lang="en-US" sz="2600" dirty="0"/>
          </a:p>
        </p:txBody>
      </p:sp>
      <p:sp>
        <p:nvSpPr>
          <p:cNvPr id="34" name="Text 32"/>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parts, fifteen runs and three true stories</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61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an output script and an input script together decide a spend?</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is Script not Turing complete, and why can every node verify it?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key hashes, multisignatures and script hashes move cost to the spender?</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 lock time and sequence make a spend wait?</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does segregated witness fix malleability without splitting the network?</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taproot hide, and what does a key path or script path reveal?</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tapscript change in the language?</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61</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nine parts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2645664" cy="950976"/>
          </a:xfrm>
          <a:prstGeom prst="roundRect">
            <a:avLst>
              <a:gd name="adj" fmla="val 7692"/>
            </a:avLst>
          </a:prstGeom>
          <a:solidFill>
            <a:srgbClr val="F2ECE1"/>
          </a:solidFill>
          <a:ln w="12700">
            <a:solidFill>
              <a:srgbClr val="DFD6C7"/>
            </a:solidFill>
            <a:prstDash val="solid"/>
          </a:ln>
        </p:spPr>
      </p:sp>
      <p:sp>
        <p:nvSpPr>
          <p:cNvPr id="7" name="Text 5"/>
          <p:cNvSpPr txBox="1"/>
          <p:nvPr/>
        </p:nvSpPr>
        <p:spPr>
          <a:xfrm>
            <a:off x="548640" y="1335024"/>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Scripts and the Script language</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8" name="Shape 6"/>
          <p:cNvSpPr/>
          <p:nvPr/>
        </p:nvSpPr>
        <p:spPr>
          <a:xfrm>
            <a:off x="3249168" y="1280160"/>
            <a:ext cx="2645664" cy="950976"/>
          </a:xfrm>
          <a:prstGeom prst="roundRect">
            <a:avLst>
              <a:gd name="adj" fmla="val 7692"/>
            </a:avLst>
          </a:prstGeom>
          <a:solidFill>
            <a:srgbClr val="F2ECE1"/>
          </a:solidFill>
          <a:ln w="12700">
            <a:solidFill>
              <a:srgbClr val="DFD6C7"/>
            </a:solidFill>
            <a:prstDash val="solid"/>
          </a:ln>
        </p:spPr>
      </p:sp>
      <p:sp>
        <p:nvSpPr>
          <p:cNvPr id="9" name="Text 7"/>
          <p:cNvSpPr txBox="1"/>
          <p:nvPr/>
        </p:nvSpPr>
        <p:spPr>
          <a:xfrm>
            <a:off x="3340608" y="1335024"/>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Locking a coin to a key</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concepts</a:t>
            </a:r>
            <a:endParaRPr lang="en-US" sz="1250" dirty="0"/>
          </a:p>
        </p:txBody>
      </p:sp>
      <p:sp>
        <p:nvSpPr>
          <p:cNvPr id="10" name="Shape 8"/>
          <p:cNvSpPr/>
          <p:nvPr/>
        </p:nvSpPr>
        <p:spPr>
          <a:xfrm>
            <a:off x="6041136" y="1280160"/>
            <a:ext cx="2645664" cy="950976"/>
          </a:xfrm>
          <a:prstGeom prst="roundRect">
            <a:avLst>
              <a:gd name="adj" fmla="val 7692"/>
            </a:avLst>
          </a:prstGeom>
          <a:solidFill>
            <a:srgbClr val="F2ECE1"/>
          </a:solidFill>
          <a:ln w="12700">
            <a:solidFill>
              <a:srgbClr val="DFD6C7"/>
            </a:solidFill>
            <a:prstDash val="solid"/>
          </a:ln>
        </p:spPr>
      </p:sp>
      <p:sp>
        <p:nvSpPr>
          <p:cNvPr id="11" name="Text 9"/>
          <p:cNvSpPr txBox="1"/>
          <p:nvPr/>
        </p:nvSpPr>
        <p:spPr>
          <a:xfrm>
            <a:off x="6132576" y="1335024"/>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Scripted multisignatures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5 concepts</a:t>
            </a:r>
            <a:endParaRPr lang="en-US" sz="1250" dirty="0"/>
          </a:p>
        </p:txBody>
      </p:sp>
      <p:sp>
        <p:nvSpPr>
          <p:cNvPr id="12" name="Shape 10"/>
          <p:cNvSpPr/>
          <p:nvPr/>
        </p:nvSpPr>
        <p:spPr>
          <a:xfrm>
            <a:off x="457200" y="2359152"/>
            <a:ext cx="2645664" cy="950976"/>
          </a:xfrm>
          <a:prstGeom prst="roundRect">
            <a:avLst>
              <a:gd name="adj" fmla="val 7692"/>
            </a:avLst>
          </a:prstGeom>
          <a:solidFill>
            <a:srgbClr val="F2ECE1"/>
          </a:solidFill>
          <a:ln w="12700">
            <a:solidFill>
              <a:srgbClr val="DFD6C7"/>
            </a:solidFill>
            <a:prstDash val="solid"/>
          </a:ln>
        </p:spPr>
      </p:sp>
      <p:sp>
        <p:nvSpPr>
          <p:cNvPr id="13" name="Text 11"/>
          <p:cNvSpPr txBox="1"/>
          <p:nvPr/>
        </p:nvSpPr>
        <p:spPr>
          <a:xfrm>
            <a:off x="548640" y="2414016"/>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Pay to script hash</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6 concepts</a:t>
            </a:r>
            <a:endParaRPr lang="en-US" sz="1250" dirty="0"/>
          </a:p>
        </p:txBody>
      </p:sp>
      <p:sp>
        <p:nvSpPr>
          <p:cNvPr id="14" name="Shape 12"/>
          <p:cNvSpPr/>
          <p:nvPr/>
        </p:nvSpPr>
        <p:spPr>
          <a:xfrm>
            <a:off x="3249168" y="2359152"/>
            <a:ext cx="2645664" cy="950976"/>
          </a:xfrm>
          <a:prstGeom prst="roundRect">
            <a:avLst>
              <a:gd name="adj" fmla="val 7692"/>
            </a:avLst>
          </a:prstGeom>
          <a:solidFill>
            <a:srgbClr val="F2ECE1"/>
          </a:solidFill>
          <a:ln w="12700">
            <a:solidFill>
              <a:srgbClr val="DFD6C7"/>
            </a:solidFill>
            <a:prstDash val="solid"/>
          </a:ln>
        </p:spPr>
      </p:sp>
      <p:sp>
        <p:nvSpPr>
          <p:cNvPr id="15" name="Text 13"/>
          <p:cNvSpPr txBox="1"/>
          <p:nvPr/>
        </p:nvSpPr>
        <p:spPr>
          <a:xfrm>
            <a:off x="3340608" y="2414016"/>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Data and timelocks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11 concepts</a:t>
            </a:r>
            <a:endParaRPr lang="en-US" sz="1250" dirty="0"/>
          </a:p>
        </p:txBody>
      </p:sp>
      <p:sp>
        <p:nvSpPr>
          <p:cNvPr id="16" name="Shape 14"/>
          <p:cNvSpPr/>
          <p:nvPr/>
        </p:nvSpPr>
        <p:spPr>
          <a:xfrm>
            <a:off x="6041136" y="2359152"/>
            <a:ext cx="2645664" cy="950976"/>
          </a:xfrm>
          <a:prstGeom prst="roundRect">
            <a:avLst>
              <a:gd name="adj" fmla="val 7692"/>
            </a:avLst>
          </a:prstGeom>
          <a:solidFill>
            <a:srgbClr val="F2ECE1"/>
          </a:solidFill>
          <a:ln w="12700">
            <a:solidFill>
              <a:srgbClr val="DFD6C7"/>
            </a:solidFill>
            <a:prstDash val="solid"/>
          </a:ln>
        </p:spPr>
      </p:sp>
      <p:sp>
        <p:nvSpPr>
          <p:cNvPr id="17" name="Text 15"/>
          <p:cNvSpPr txBox="1"/>
          <p:nvPr/>
        </p:nvSpPr>
        <p:spPr>
          <a:xfrm>
            <a:off x="6132576" y="2414016"/>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Flow control and complex scripts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8" name="Shape 16"/>
          <p:cNvSpPr/>
          <p:nvPr/>
        </p:nvSpPr>
        <p:spPr>
          <a:xfrm>
            <a:off x="457200" y="3438144"/>
            <a:ext cx="2645664"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548640" y="3493008"/>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Segregated witness scripts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16 concepts</a:t>
            </a:r>
            <a:endParaRPr lang="en-US" sz="1250" dirty="0"/>
          </a:p>
        </p:txBody>
      </p:sp>
      <p:sp>
        <p:nvSpPr>
          <p:cNvPr id="20" name="Shape 18"/>
          <p:cNvSpPr/>
          <p:nvPr/>
        </p:nvSpPr>
        <p:spPr>
          <a:xfrm>
            <a:off x="3249168" y="3438144"/>
            <a:ext cx="2645664" cy="950976"/>
          </a:xfrm>
          <a:prstGeom prst="roundRect">
            <a:avLst>
              <a:gd name="adj" fmla="val 7692"/>
            </a:avLst>
          </a:prstGeom>
          <a:solidFill>
            <a:srgbClr val="F2ECE1"/>
          </a:solidFill>
          <a:ln w="12700">
            <a:solidFill>
              <a:srgbClr val="DFD6C7"/>
            </a:solidFill>
            <a:prstDash val="solid"/>
          </a:ln>
        </p:spPr>
      </p:sp>
      <p:sp>
        <p:nvSpPr>
          <p:cNvPr id="21" name="Text 19"/>
          <p:cNvSpPr txBox="1"/>
          <p:nvPr/>
        </p:nvSpPr>
        <p:spPr>
          <a:xfrm>
            <a:off x="3340608" y="3493008"/>
            <a:ext cx="2462784" cy="841248"/>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Script trees and key tweaks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22" name="Shape 20"/>
          <p:cNvSpPr/>
          <p:nvPr/>
        </p:nvSpPr>
        <p:spPr>
          <a:xfrm>
            <a:off x="6041136" y="3438144"/>
            <a:ext cx="2645664" cy="950976"/>
          </a:xfrm>
          <a:prstGeom prst="roundRect">
            <a:avLst>
              <a:gd name="adj" fmla="val 7692"/>
            </a:avLst>
          </a:prstGeom>
          <a:solidFill>
            <a:srgbClr val="D97A14"/>
          </a:solidFill>
          <a:ln w="12700">
            <a:solidFill>
              <a:srgbClr val="D97A14"/>
            </a:solidFill>
            <a:prstDash val="solid"/>
          </a:ln>
        </p:spPr>
      </p:sp>
      <p:sp>
        <p:nvSpPr>
          <p:cNvPr id="23" name="Text 21"/>
          <p:cNvSpPr txBox="1"/>
          <p:nvPr/>
        </p:nvSpPr>
        <p:spPr>
          <a:xfrm>
            <a:off x="6132576" y="3493008"/>
            <a:ext cx="2462784" cy="84124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Taproot and tapscript</a:t>
            </a:r>
            <a:endParaRPr lang="en-US" sz="1250" dirty="0"/>
          </a:p>
          <a:p>
            <a:pPr algn="ctr" indent="0" marL="0">
              <a:buNone/>
            </a:pPr>
            <a:r>
              <a:rPr lang="en-US" sz="1050" dirty="0">
                <a:solidFill>
                  <a:srgbClr val="FFFFFF"/>
                </a:solidFill>
                <a:latin typeface="Calibri" pitchFamily="34" charset="0"/>
                <a:ea typeface="Calibri" pitchFamily="34" charset="-122"/>
                <a:cs typeface="Calibri" pitchFamily="34" charset="-120"/>
              </a:rPr>
              <a:t>11 concepts</a:t>
            </a:r>
            <a:endParaRPr lang="en-US" sz="12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Nine parts; every slide today lives on this map</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61</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Scripts and the Script language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script is a lock and key recipe that every node checks the same way.</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Language and limits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What Script is, and why it is kept small and free of loops.</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pocket calculator rather than a full computer.</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Locking and running</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an output script and an input script run one after the other.</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padlock and the key that must be shown to it.</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61</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Scripts and the Script language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Scripts and Script Language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small language in which every coin's spending rule is written.</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rulebook that every cashier in the world reads the same way.</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Turing Incompleteness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Script has no loops, so every program ends.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recipe without a repeat-forever step.</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Stateless Verification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script's result depends only on the script and its inputs.</a:t>
            </a:r>
            <a:endParaRPr lang="en-US" sz="1300" dirty="0"/>
          </a:p>
        </p:txBody>
      </p:sp>
      <p:sp>
        <p:nvSpPr>
          <p:cNvPr id="17" name="Text 15"/>
          <p:cNvSpPr txBox="1"/>
          <p:nvPr/>
        </p:nvSpPr>
        <p:spPr>
          <a:xfrm>
            <a:off x="640080"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sum whose answer never depends on the day or the machine.</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 Construction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lock and the unlocking data are built separately and checked together.</a:t>
            </a:r>
            <a:endParaRPr lang="en-US" sz="1300" dirty="0"/>
          </a:p>
        </p:txBody>
      </p:sp>
      <p:sp>
        <p:nvSpPr>
          <p:cNvPr id="21" name="Text 19"/>
          <p:cNvSpPr txBox="1"/>
          <p:nvPr/>
        </p:nvSpPr>
        <p:spPr>
          <a:xfrm>
            <a:off x="4828032"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made by one person and a key cut by another.</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61</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Script is arithmetic on a stack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smallest script of the chapter, run in the chapter's interpreter</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L.run(</a:t>
            </a:r>
            <a:r>
              <a:rPr lang="en-US" sz="1000" dirty="0">
                <a:solidFill>
                  <a:srgbClr val="9ECBFF"/>
                </a:solidFill>
                <a:latin typeface="Courier New" pitchFamily="34" charset="0"/>
                <a:ea typeface="Courier New" pitchFamily="34" charset="-122"/>
                <a:cs typeface="Courier New" pitchFamily="34" charset="-120"/>
              </a:rPr>
              <a:t>'2 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'OP_ADD 5 OP_EQUAL'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L.run(</a:t>
            </a:r>
            <a:r>
              <a:rPr lang="en-US" sz="1000" dirty="0">
                <a:solidFill>
                  <a:srgbClr val="9ECBFF"/>
                </a:solidFill>
                <a:latin typeface="Courier New" pitchFamily="34" charset="0"/>
                <a:ea typeface="Courier New" pitchFamily="34" charset="-122"/>
                <a:cs typeface="Courier New" pitchFamily="34" charset="-120"/>
              </a:rPr>
              <a:t>'2 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'OP_ADD 6 OP_EQUAL'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code = L.assemble(</a:t>
            </a:r>
            <a:r>
              <a:rPr lang="en-US" sz="1000" dirty="0">
                <a:solidFill>
                  <a:srgbClr val="9ECBFF"/>
                </a:solidFill>
                <a:latin typeface="Courier New" pitchFamily="34" charset="0"/>
                <a:ea typeface="Courier New" pitchFamily="34" charset="-122"/>
                <a:cs typeface="Courier New" pitchFamily="34" charset="-120"/>
              </a:rPr>
              <a:t>'2 3 OP_ADD 5 OP_EQUAL'</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[ok, bad, code]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'EVAL_FALSE', '5253935587']</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script is read left to right; numbers are pushed and operations use the top items.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Change the five to a six and the same script fails.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assembler turns the five words into five bytes.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names as in the chapter setup</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script with a five and a six</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Program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3 OP_ADD 5 OP_EQUAL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 3 OP_ADD 6 OP_EQUAL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Assembled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5253935587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sum is five, so the first script ends true and the second false. The five words assemble to five bytes.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Numbers are pushed; an operation takes its inputs from the top</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61</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Scripts and the Script language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script execution stack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Items are pushed and popped in last-in, first-out order.</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pile of plates where you touch only the top one.</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 simple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 3 OP_ADD 5 OP_EQUAL adds two numbers and compares the sum.</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till that adds two prices and checks the total.</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Separate execution of output and input scripts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two scripts run apart; only the stack passes between them.</a:t>
            </a:r>
            <a:endParaRPr lang="en-US" sz="1300" dirty="0"/>
          </a:p>
        </p:txBody>
      </p:sp>
      <p:sp>
        <p:nvSpPr>
          <p:cNvPr id="17" name="Text 15"/>
          <p:cNvSpPr txBox="1"/>
          <p:nvPr/>
        </p:nvSpPr>
        <p:spPr>
          <a:xfrm>
            <a:off x="640080" y="367588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people in two rooms passing one tray through a hatch.</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list of data items and operation words.</a:t>
            </a:r>
            <a:endParaRPr lang="en-US" sz="1300" dirty="0"/>
          </a:p>
        </p:txBody>
      </p:sp>
      <p:sp>
        <p:nvSpPr>
          <p:cNvPr id="21" name="Text 19"/>
          <p:cNvSpPr txBox="1"/>
          <p:nvPr/>
        </p:nvSpPr>
        <p:spPr>
          <a:xfrm>
            <a:off x="4828032" y="329641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shopping list that also says what to do with each item.</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61</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OP_RETURN bug of 2010</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Joined scripts against separate scripts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joined = old_joined(</a:t>
            </a:r>
            <a:r>
              <a:rPr lang="en-US" sz="1000" dirty="0">
                <a:solidFill>
                  <a:srgbClr val="9ECBFF"/>
                </a:solidFill>
                <a:latin typeface="Courier New" pitchFamily="34" charset="0"/>
                <a:ea typeface="Courier New" pitchFamily="34" charset="-122"/>
                <a:cs typeface="Courier New" pitchFamily="34" charset="-120"/>
              </a:rPr>
              <a:t>'OP_1 OP_RETURN'</a:t>
            </a:r>
            <a:r>
              <a:rPr lang="en-US" sz="1000" dirty="0">
                <a:solidFill>
                  <a:srgbClr val="E6EDF3"/>
                </a:solidFill>
                <a:latin typeface="Courier New" pitchFamily="34" charset="0"/>
                <a:ea typeface="Courier New" pitchFamily="34" charset="-122"/>
                <a:cs typeface="Courier New" pitchFamily="34" charset="-120"/>
              </a:rPr>
              <a:t>, LOCK)</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now = L.run(</a:t>
            </a:r>
            <a:r>
              <a:rPr lang="en-US" sz="1000" dirty="0">
                <a:solidFill>
                  <a:srgbClr val="9ECBFF"/>
                </a:solidFill>
                <a:latin typeface="Courier New" pitchFamily="34" charset="0"/>
                <a:ea typeface="Courier New" pitchFamily="34" charset="-122"/>
                <a:cs typeface="Courier New" pitchFamily="34" charset="-120"/>
              </a:rPr>
              <a:t>'OP_1 OP_RETURN'</a:t>
            </a:r>
            <a:r>
              <a:rPr lang="en-US" sz="1000" dirty="0">
                <a:solidFill>
                  <a:srgbClr val="E6EDF3"/>
                </a:solidFill>
                <a:latin typeface="Courier New" pitchFamily="34" charset="0"/>
                <a:ea typeface="Courier New" pitchFamily="34" charset="-122"/>
                <a:cs typeface="Courier New" pitchFamily="34" charset="-120"/>
              </a:rPr>
              <a:t>, LOCK, flags=())</a:t>
            </a:r>
            <a:endParaRPr lang="en-US" sz="1000" dirty="0"/>
          </a:p>
        </p:txBody>
      </p:sp>
      <p:sp>
        <p:nvSpPr>
          <p:cNvPr id="10" name="Shape 8"/>
          <p:cNvSpPr/>
          <p:nvPr/>
        </p:nvSpPr>
        <p:spPr>
          <a:xfrm>
            <a:off x="457200" y="2754173"/>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827325"/>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 = </a:t>
            </a:r>
            <a:r>
              <a:rPr lang="en-US" sz="1000" dirty="0">
                <a:solidFill>
                  <a:srgbClr val="9ECBFF"/>
                </a:solidFill>
                <a:latin typeface="Courier New" pitchFamily="34" charset="0"/>
                <a:ea typeface="Courier New" pitchFamily="34" charset="-122"/>
                <a:cs typeface="Courier New" pitchFamily="34" charset="-120"/>
              </a:rPr>
              <a:t>'0x06'</a:t>
            </a:r>
            <a:r>
              <a:rPr lang="en-US" sz="1000" dirty="0">
                <a:solidFill>
                  <a:srgbClr val="E6EDF3"/>
                </a:solidFill>
                <a:latin typeface="Courier New" pitchFamily="34" charset="0"/>
                <a:ea typeface="Courier New" pitchFamily="34" charset="-122"/>
                <a:cs typeface="Courier New" pitchFamily="34" charset="-120"/>
              </a:rPr>
              <a:t> + b</a:t>
            </a:r>
            <a:r>
              <a:rPr lang="en-US" sz="1000" dirty="0">
                <a:solidFill>
                  <a:srgbClr val="9ECBFF"/>
                </a:solidFill>
                <a:latin typeface="Courier New" pitchFamily="34" charset="0"/>
                <a:ea typeface="Courier New" pitchFamily="34" charset="-122"/>
                <a:cs typeface="Courier New" pitchFamily="34" charset="-120"/>
              </a:rPr>
              <a:t>'secret'</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real = L.run(key, LOCK, flags=())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[joined, now, real]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'OP_RETURN', 'OK']</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software joined both scripts into one program that stopped at OP_RETURN.</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Today the scripts run apart, and OP_RETURN makes the spend fail.</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Only the real secret opens the lock, in both engines.</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spend that has no secret, and one that has</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Engine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2010: joined scripts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Today: scripts apart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OP_RETURN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Real secret, today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In the old engine OK means that anyone could spend the coin. Today the same input fails with OP_RETURN.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Run the two scripts apart, and fail closed on anything unknown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61</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script that ended with a true result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bug of 2010 that let anyone spend any output</a:t>
            </a:r>
            <a:endParaRPr lang="en-US" sz="1300" dirty="0"/>
          </a:p>
        </p:txBody>
      </p:sp>
      <p:pic>
        <p:nvPicPr>
          <p:cNvPr id="6" name="Image 0" descr="../../03-materials/ch07/assets/photo_satoshi_bust_budapest.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Bust of Satoshi Nakamoto, Budapest - Fekist, CC BY-SA 4.0</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28 July 2010 two bugs were shown on the test network; one let a stranger spend coins that were not theirs.</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The first software joined input and output script into one program, and OP_RETURN jumped to its end with a true result.</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An input script of 1 then OP_RETURN ended the run true; version 0.3.5 fixed it, and later versions run the scripts apart.</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Many unused opcodes were disabled; in tapscript such values, like OP_LSHIFT (152), are now OP_SUCCESS.</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Bitcoin test network</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2010-07-28</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en.bitcoin.it</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61</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Scripts and the Script language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pile of items on which a script works.</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spike on a desk where notes are pushed on top.</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Turing complete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language that can compute anything given time; Script cannot.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full workshop, where Script offers one screwdriver.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lock that the payer places on a coin.</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padlock a payer fastens onto a box.</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input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data a spender shows to open the lock.</a:t>
            </a:r>
            <a:endParaRPr lang="en-US" sz="1300" dirty="0"/>
          </a:p>
        </p:txBody>
      </p:sp>
      <p:sp>
        <p:nvSpPr>
          <p:cNvPr id="21" name="Text 19"/>
          <p:cNvSpPr txBox="1"/>
          <p:nvPr/>
        </p:nvSpPr>
        <p:spPr>
          <a:xfrm>
            <a:off x="4828032"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key that is held up to the padlock.</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61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Scripts and the Script language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scriptSig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older name of the input script.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signature card that is presented at the counter.</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scriptPubKey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older name of the output script.</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plate on a mailbox that says who may open it.</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61</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Locking a coin to a key</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key lock is a safe-deposit box labelled with a fingerprint.</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Key and key hash</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a coin is locked to a key, or to the hash of a key.</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locking a door with the fingerprint of the key.</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Checking signatures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a signature is tied to the transaction and written down.</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cashier comparing your signature with your card.</a:t>
            </a:r>
            <a:endParaRPr lang="en-US" sz="11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61</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Locking a coin to a key (1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Public Key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coin locked to the hash of a public key.</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deposit box labelled with a fingerprint instead of a face.</a:t>
            </a:r>
            <a:endParaRPr lang="en-US" sz="1150" dirty="0"/>
          </a:p>
        </p:txBody>
      </p:sp>
      <p:sp>
        <p:nvSpPr>
          <p:cNvPr id="10" name="Shape 8"/>
          <p:cNvSpPr/>
          <p:nvPr/>
        </p:nvSpPr>
        <p:spPr>
          <a:xfrm>
            <a:off x="3249168" y="1280160"/>
            <a:ext cx="2645664"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3267456"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public key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20-byte fingerprint of a public key.</a:t>
            </a:r>
            <a:endParaRPr lang="en-US" sz="1300" dirty="0"/>
          </a:p>
        </p:txBody>
      </p:sp>
      <p:sp>
        <p:nvSpPr>
          <p:cNvPr id="13" name="Text 11"/>
          <p:cNvSpPr txBox="1"/>
          <p:nvPr/>
        </p:nvSpPr>
        <p:spPr>
          <a:xfrm>
            <a:off x="3432048"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library card number instead of the reader's full name.</a:t>
            </a:r>
            <a:endParaRPr lang="en-US" sz="1150" dirty="0"/>
          </a:p>
        </p:txBody>
      </p:sp>
      <p:sp>
        <p:nvSpPr>
          <p:cNvPr id="14" name="Shape 12"/>
          <p:cNvSpPr/>
          <p:nvPr/>
        </p:nvSpPr>
        <p:spPr>
          <a:xfrm>
            <a:off x="6041136" y="1280160"/>
            <a:ext cx="2645664"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6059424" y="1408176"/>
            <a:ext cx="64008" cy="1083564"/>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OP_CHECKSIG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Checks one signature against one public key.</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guard comparing the signature on a form with the one on file.</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61</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key-hash lock, tried three ways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 to public key hash with a real signature</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spk = L.p2pkh_script(L.hash160(K.pub(</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kind = (len(spk), L.classify(spk)[</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1136599"/>
          </a:xfrm>
          <a:prstGeom prst="roundRect">
            <a:avLst>
              <a:gd name="adj" fmla="val 6436"/>
            </a:avLst>
          </a:prstGeom>
          <a:solidFill>
            <a:srgbClr val="23272E"/>
          </a:solidFill>
          <a:ln w="12700">
            <a:solidFill>
              <a:srgbClr val="23272E"/>
            </a:solidFill>
            <a:prstDash val="solid"/>
          </a:ln>
        </p:spPr>
      </p:sp>
      <p:sp>
        <p:nvSpPr>
          <p:cNvPr id="9" name="Text 7"/>
          <p:cNvSpPr txBox="1"/>
          <p:nvPr/>
        </p:nvSpPr>
        <p:spPr>
          <a:xfrm>
            <a:off x="603504" y="2195474"/>
            <a:ext cx="4800600" cy="100858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 p2pkh()</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 = p2pkh(signer=</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p2pkh(amount_after=</a:t>
            </a:r>
            <a:r>
              <a:rPr lang="en-US" sz="1000" dirty="0">
                <a:solidFill>
                  <a:srgbClr val="FFD28A"/>
                </a:solidFill>
                <a:latin typeface="Courier New" pitchFamily="34" charset="0"/>
                <a:ea typeface="Courier New" pitchFamily="34" charset="-122"/>
                <a:cs typeface="Courier New" pitchFamily="34" charset="-120"/>
              </a:rPr>
              <a:t>99999</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(a, b, c)</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'EVAL_FALSE', 'EVAL_FALSE')</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lock holds a 20-byte hash of the public key and fills 25 bytes.</a:t>
            </a:r>
            <a:endParaRPr lang="en-US" sz="1050" dirty="0"/>
          </a:p>
        </p:txBody>
      </p:sp>
      <p:sp>
        <p:nvSpPr>
          <p:cNvPr id="13" name="Shape 11"/>
          <p:cNvSpPr/>
          <p:nvPr/>
        </p:nvSpPr>
        <p:spPr>
          <a:xfrm>
            <a:off x="365760" y="2049170"/>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28635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spends are tried: the right key, a wrong key, a changed amount.</a:t>
            </a:r>
            <a:endParaRPr lang="en-US" sz="1050" dirty="0"/>
          </a:p>
        </p:txBody>
      </p:sp>
      <p:sp>
        <p:nvSpPr>
          <p:cNvPr id="16" name="Text 14"/>
          <p:cNvSpPr txBox="1"/>
          <p:nvPr/>
        </p:nvSpPr>
        <p:spPr>
          <a:xfrm>
            <a:off x="457200" y="354238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17" name="Text 15"/>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trials of one lock</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325880"/>
                <a:gridCol w="16459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Lock: bytes, kind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25, pubkeyhash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Right key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Wrong key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 changed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19" name="Text 16"/>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right key signing the real amount opens it; the other two fail with EVAL_FALSE.</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Only the owner of the key, signing this exact transaction, opens the lock</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61</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Locking a coin to a key (2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signature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digest of the transaction that a signature really signs.</a:t>
            </a:r>
            <a:endParaRPr lang="en-US" sz="1300" dirty="0"/>
          </a:p>
        </p:txBody>
      </p:sp>
      <p:sp>
        <p:nvSpPr>
          <p:cNvPr id="9" name="Text 7"/>
          <p:cNvSpPr txBox="1"/>
          <p:nvPr/>
        </p:nvSpPr>
        <p:spPr>
          <a:xfrm>
            <a:off x="640080"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summary page that is initialled instead of the whole contract.</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hash type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flag that says which parts of the transaction are signed.</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stamp saying which pages of the contract the signature covers.</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strict byte format in which a signature is written.</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with fixed boxes where each number must go.</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61</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DER signature, strict and loose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the encoding of a signature is a consensus rule</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sig = L.ecdsa_sign(K.secret(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L.sha256(b</a:t>
            </a:r>
            <a:r>
              <a:rPr lang="en-US" sz="1000" dirty="0">
                <a:solidFill>
                  <a:srgbClr val="9ECBFF"/>
                </a:solidFill>
                <a:latin typeface="Courier New" pitchFamily="34" charset="0"/>
                <a:ea typeface="Courier New" pitchFamily="34" charset="-122"/>
                <a:cs typeface="Courier New" pitchFamily="34" charset="-120"/>
              </a:rPr>
              <a:t>'pay Bob'</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full = sig + b</a:t>
            </a:r>
            <a:r>
              <a:rPr lang="en-US" sz="1000" dirty="0">
                <a:solidFill>
                  <a:srgbClr val="9ECBFF"/>
                </a:solidFill>
                <a:latin typeface="Courier New" pitchFamily="34" charset="0"/>
                <a:ea typeface="Courier New" pitchFamily="34" charset="-122"/>
                <a:cs typeface="Courier New" pitchFamily="34" charset="-120"/>
              </a:rPr>
              <a:t>'\x01'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facts = [len(full), full[</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L.is_low_s(full)]</a:t>
            </a:r>
            <a:endParaRPr lang="en-US" sz="1000" dirty="0"/>
          </a:p>
        </p:txBody>
      </p:sp>
      <p:sp>
        <p:nvSpPr>
          <p:cNvPr id="10" name="Shape 8"/>
          <p:cNvSpPr/>
          <p:nvPr/>
        </p:nvSpPr>
        <p:spPr>
          <a:xfrm>
            <a:off x="457200" y="2754173"/>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827325"/>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nod = L.MAINNET_FLAGS - {</a:t>
            </a:r>
            <a:r>
              <a:rPr lang="en-US" sz="1000" dirty="0">
                <a:solidFill>
                  <a:srgbClr val="9ECBFF"/>
                </a:solidFill>
                <a:latin typeface="Courier New" pitchFamily="34" charset="0"/>
                <a:ea typeface="Courier New" pitchFamily="34" charset="-122"/>
                <a:cs typeface="Courier New" pitchFamily="34" charset="-120"/>
              </a:rPr>
              <a:t>'DERSIG'</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old = p2pkh(loose=</a:t>
            </a:r>
            <a:r>
              <a:rPr lang="en-US" sz="1000" b="1" dirty="0">
                <a:solidFill>
                  <a:srgbClr val="F2A860"/>
                </a:solidFill>
                <a:latin typeface="Courier New" pitchFamily="34" charset="0"/>
                <a:ea typeface="Courier New" pitchFamily="34" charset="-122"/>
                <a:cs typeface="Courier New" pitchFamily="34" charset="-120"/>
              </a:rPr>
              <a:t>True</a:t>
            </a:r>
            <a:r>
              <a:rPr lang="en-US" sz="1000" dirty="0">
                <a:solidFill>
                  <a:srgbClr val="E6EDF3"/>
                </a:solidFill>
                <a:latin typeface="Courier New" pitchFamily="34" charset="0"/>
                <a:ea typeface="Courier New" pitchFamily="34" charset="-122"/>
                <a:cs typeface="Courier New" pitchFamily="34" charset="-120"/>
              </a:rPr>
              <a:t>, flags=nod)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[old, p2pkh(loose=</a:t>
            </a:r>
            <a:r>
              <a:rPr lang="en-US" sz="1000" b="1" dirty="0">
                <a:solidFill>
                  <a:srgbClr val="F2A860"/>
                </a:solidFill>
                <a:latin typeface="Courier New" pitchFamily="34" charset="0"/>
                <a:ea typeface="Courier New" pitchFamily="34" charset="-122"/>
                <a:cs typeface="Courier New" pitchFamily="34" charset="-120"/>
              </a:rPr>
              <a:t>True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'SIG_DER']</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signature is made over the hash of a message.</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its hash type it is 72 bytes, starts with 0x30 and has a low 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padded signature passes old rules but fails the strict DER rule.</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signature, two rule sets</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Length with hash type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First byte (0x30 = 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Low 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Padded, old rules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Padded, DER rule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SIG_DER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same padded signature passes without the DER rule and fails with it, with the error SIG_DER.</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rule that nodes check for themselves cannot be skipped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61</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Half the miners did not check the block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Strict DER signatures, and the fork of 4 July 2015</a:t>
            </a:r>
            <a:endParaRPr lang="en-US" sz="1300" dirty="0"/>
          </a:p>
        </p:txBody>
      </p:sp>
      <p:pic>
        <p:nvPicPr>
          <p:cNvPr id="6" name="Image 0" descr="../../03-materials/ch07/assets/photo_bitcoin_mining_farm.jpg">    </p:cNvPr>
          <p:cNvPicPr>
            <a:picLocks noChangeAspect="1"/>
          </p:cNvPicPr>
          <p:nvPr/>
        </p:nvPicPr>
        <p:blipFill>
          <a:blip r:embed="rId1"/>
          <a:srcRect l="0" r="0" t="0" b="0"/>
          <a:stretch/>
        </p:blipFill>
        <p:spPr>
          <a:xfrm>
            <a:off x="457200" y="1280160"/>
            <a:ext cx="3200400" cy="2331720"/>
          </a:xfrm>
          <a:prstGeom prst="rect">
            <a:avLst/>
          </a:prstGeom>
        </p:spPr>
      </p:pic>
      <p:sp>
        <p:nvSpPr>
          <p:cNvPr id="7" name="Text 4"/>
          <p:cNvSpPr txBox="1"/>
          <p:nvPr/>
        </p:nvSpPr>
        <p:spPr>
          <a:xfrm>
            <a:off x="457200" y="3630168"/>
            <a:ext cx="320040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bitcoin mining farm, 2014 - Marko Ahtisaari, CC BY 2.0</a:t>
            </a:r>
            <a:endParaRPr lang="en-US" sz="900" dirty="0"/>
          </a:p>
        </p:txBody>
      </p:sp>
      <p:sp>
        <p:nvSpPr>
          <p:cNvPr id="8" name="Shape 5"/>
          <p:cNvSpPr/>
          <p:nvPr/>
        </p:nvSpPr>
        <p:spPr>
          <a:xfrm>
            <a:off x="393192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06240" y="1280160"/>
            <a:ext cx="448056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On 4 July 2015, at block 363,725, strict DER signatures (BIP66) took effect, and a fork of six blocks followed.</a:t>
            </a:r>
            <a:endParaRPr lang="en-US" sz="1150" dirty="0"/>
          </a:p>
        </p:txBody>
      </p:sp>
      <p:sp>
        <p:nvSpPr>
          <p:cNvPr id="10" name="Shape 7"/>
          <p:cNvSpPr/>
          <p:nvPr/>
        </p:nvSpPr>
        <p:spPr>
          <a:xfrm>
            <a:off x="393192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06240" y="1897380"/>
            <a:ext cx="448056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About half of the hash rate mined without fully validating, so it built on an invalid block of a miner that had not upgraded.</a:t>
            </a:r>
            <a:endParaRPr lang="en-US" sz="1150" dirty="0"/>
          </a:p>
        </p:txBody>
      </p:sp>
      <p:sp>
        <p:nvSpPr>
          <p:cNvPr id="12" name="Shape 9"/>
          <p:cNvSpPr/>
          <p:nvPr/>
        </p:nvSpPr>
        <p:spPr>
          <a:xfrm>
            <a:off x="393192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06240" y="2514600"/>
            <a:ext cx="448056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fork lasted from 02:10 to 03:50 UTC, a second of three blocks followed on 5 July, and the first showed no double spend.</a:t>
            </a:r>
            <a:endParaRPr lang="en-US" sz="1150" dirty="0"/>
          </a:p>
        </p:txBody>
      </p:sp>
      <p:sp>
        <p:nvSpPr>
          <p:cNvPr id="14" name="Shape 11"/>
          <p:cNvSpPr/>
          <p:nvPr/>
        </p:nvSpPr>
        <p:spPr>
          <a:xfrm>
            <a:off x="393192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06240" y="3131820"/>
            <a:ext cx="448056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Bitcoin Core 0.9.5 and later checked the rule and were unaffected: a rule you do not check protects nobody.</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Pieter Wuille, miners</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363,725</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2015-07-04</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bitcoin.org</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61</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Scripted multisignatures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multisignature is a vault that opens when enough directors turn their keys.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t-of-k script</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shape of a lock that needs t of k keys, and how large it may grow.</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with several keyholes.</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extra element</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Why one useless item must sit in front of the signatures.</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turnstile that swallows one token too many.</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61</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Scripted multisignatures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40764"/>
          </a:xfrm>
          <a:prstGeom prst="roundRect">
            <a:avLst>
              <a:gd name="adj" fmla="val 4748"/>
            </a:avLst>
          </a:prstGeom>
          <a:solidFill>
            <a:srgbClr val="F2ECE1"/>
          </a:solidFill>
          <a:ln w="12700">
            <a:solidFill>
              <a:srgbClr val="DFD6C7"/>
            </a:solidFill>
            <a:prstDash val="solid"/>
          </a:ln>
        </p:spPr>
      </p:sp>
      <p:sp>
        <p:nvSpPr>
          <p:cNvPr id="7" name="Shape 5"/>
          <p:cNvSpPr/>
          <p:nvPr/>
        </p:nvSpPr>
        <p:spPr>
          <a:xfrm>
            <a:off x="475488" y="1408176"/>
            <a:ext cx="64008" cy="1284732"/>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Scripted Multisignatures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that wants t signatures out of k keys.</a:t>
            </a:r>
            <a:endParaRPr lang="en-US" sz="1300" dirty="0"/>
          </a:p>
        </p:txBody>
      </p:sp>
      <p:sp>
        <p:nvSpPr>
          <p:cNvPr id="9" name="Text 7"/>
          <p:cNvSpPr txBox="1"/>
          <p:nvPr/>
        </p:nvSpPr>
        <p:spPr>
          <a:xfrm>
            <a:off x="640080"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vault that opens when two of three directors turn their keys.</a:t>
            </a:r>
            <a:endParaRPr lang="en-US" sz="1150" dirty="0"/>
          </a:p>
        </p:txBody>
      </p:sp>
      <p:sp>
        <p:nvSpPr>
          <p:cNvPr id="10" name="Shape 8"/>
          <p:cNvSpPr/>
          <p:nvPr/>
        </p:nvSpPr>
        <p:spPr>
          <a:xfrm>
            <a:off x="3249168" y="1280160"/>
            <a:ext cx="2645664" cy="1540764"/>
          </a:xfrm>
          <a:prstGeom prst="roundRect">
            <a:avLst>
              <a:gd name="adj" fmla="val 4748"/>
            </a:avLst>
          </a:prstGeom>
          <a:solidFill>
            <a:srgbClr val="F2ECE1"/>
          </a:solidFill>
          <a:ln w="12700">
            <a:solidFill>
              <a:srgbClr val="DFD6C7"/>
            </a:solidFill>
            <a:prstDash val="solid"/>
          </a:ln>
        </p:spPr>
      </p:sp>
      <p:sp>
        <p:nvSpPr>
          <p:cNvPr id="11" name="Shape 9"/>
          <p:cNvSpPr/>
          <p:nvPr/>
        </p:nvSpPr>
        <p:spPr>
          <a:xfrm>
            <a:off x="3267456" y="1408176"/>
            <a:ext cx="64008" cy="1284732"/>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An Oddity in CHECKMULTISIG Execution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opcode pops one item too many, so a dummy is needed.</a:t>
            </a:r>
            <a:endParaRPr lang="en-US" sz="1300" dirty="0"/>
          </a:p>
        </p:txBody>
      </p:sp>
      <p:sp>
        <p:nvSpPr>
          <p:cNvPr id="13" name="Text 11"/>
          <p:cNvSpPr txBox="1"/>
          <p:nvPr/>
        </p:nvSpPr>
        <p:spPr>
          <a:xfrm>
            <a:off x="3432048" y="218541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vending machine that always takes one coin more than the price.</a:t>
            </a:r>
            <a:endParaRPr lang="en-US" sz="1150" dirty="0"/>
          </a:p>
        </p:txBody>
      </p:sp>
      <p:sp>
        <p:nvSpPr>
          <p:cNvPr id="14" name="Shape 12"/>
          <p:cNvSpPr/>
          <p:nvPr/>
        </p:nvSpPr>
        <p:spPr>
          <a:xfrm>
            <a:off x="6041136" y="1280160"/>
            <a:ext cx="2645664" cy="1540764"/>
          </a:xfrm>
          <a:prstGeom prst="roundRect">
            <a:avLst>
              <a:gd name="adj" fmla="val 4748"/>
            </a:avLst>
          </a:prstGeom>
          <a:solidFill>
            <a:srgbClr val="F2ECE1"/>
          </a:solidFill>
          <a:ln w="12700">
            <a:solidFill>
              <a:srgbClr val="DFD6C7"/>
            </a:solidFill>
            <a:prstDash val="solid"/>
          </a:ln>
        </p:spPr>
      </p:sp>
      <p:sp>
        <p:nvSpPr>
          <p:cNvPr id="15" name="Shape 13"/>
          <p:cNvSpPr/>
          <p:nvPr/>
        </p:nvSpPr>
        <p:spPr>
          <a:xfrm>
            <a:off x="6059424" y="1408176"/>
            <a:ext cx="64008" cy="1284732"/>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multisignature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More than one key must approve a spend.</a:t>
            </a:r>
            <a:endParaRPr lang="en-US" sz="1300" dirty="0"/>
          </a:p>
        </p:txBody>
      </p:sp>
      <p:sp>
        <p:nvSpPr>
          <p:cNvPr id="17" name="Text 15"/>
          <p:cNvSpPr txBox="1"/>
          <p:nvPr/>
        </p:nvSpPr>
        <p:spPr>
          <a:xfrm>
            <a:off x="6224016"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that needs two signatures.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61</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2-of-3 multisignature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Signatures in key order, and the extra element</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swap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few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452421"/>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525573"/>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dummy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dummy=b</a:t>
            </a:r>
            <a:r>
              <a:rPr lang="en-US" sz="1000" dirty="0">
                <a:solidFill>
                  <a:srgbClr val="9ECBFF"/>
                </a:solidFill>
                <a:latin typeface="Courier New" pitchFamily="34" charset="0"/>
                <a:ea typeface="Courier New" pitchFamily="34" charset="-122"/>
                <a:cs typeface="Courier New" pitchFamily="34" charset="-120"/>
              </a:rPr>
              <a:t>'\x01'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427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742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[ok, swap, few]</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'EVAL_FALSE', 'INVALID_STACK_OPERATION']</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Signatures must follow the order of the keys; one signature is too few.</a:t>
            </a:r>
            <a:endParaRPr lang="en-US" sz="1050" dirty="0"/>
          </a:p>
        </p:txBody>
      </p:sp>
      <p:sp>
        <p:nvSpPr>
          <p:cNvPr id="15" name="Shape 13"/>
          <p:cNvSpPr/>
          <p:nvPr/>
        </p:nvSpPr>
        <p:spPr>
          <a:xfrm>
            <a:off x="365760" y="2379269"/>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37926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CHECKMULTISIG pops one item too many; a non-empty dummy is refused.</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361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script itself is 105 bytes, mostly three public keys.</a:t>
            </a:r>
            <a:endParaRPr lang="en-US" sz="1050" dirty="0"/>
          </a:p>
        </p:txBody>
      </p:sp>
      <p:sp>
        <p:nvSpPr>
          <p:cNvPr id="21" name="Text 19"/>
          <p:cNvSpPr txBox="1"/>
          <p:nvPr/>
        </p:nvSpPr>
        <p:spPr>
          <a:xfrm>
            <a:off x="457200" y="400964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five trials of a 2-of-3 lock</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80160"/>
                <a:gridCol w="169164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Spend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Keys 0 and 2, in order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Keys 2 and 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EVAL_FALSE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Only key 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INVALID_STACK_OPERATION</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Dummy not empty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SIG_NULLDUMMY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script is 105 bytes long. Only signatures in the order of the keys, behind an empty dummy, pass.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signatures must follow the order of the keys, after one empty dummy</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61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Scripted multisignatures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OP_CHECKMULTISIG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Checks t signatures against k keys, in order.</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panel that checks signatures in the order of the names.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dummy element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unused item that the extra pop consumes.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blank page that the form insists on.</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61</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Pay to script hash</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script hash is a sealed envelope that shows only a code number.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Hashing the script</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lock holds only the hash; the script is revealed at spending.</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sealing a contract in an envelope.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What the hash changes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Who pays for the size of the script, and which rules apply.</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 office that charges by the envelope.</a:t>
            </a:r>
            <a:endParaRPr lang="en-US" sz="11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61</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 to script hash: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Script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coin locked to the hash of a whole script.</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sealed envelope whose outside shows only a code number.</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P2SH Addresses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Addresses that start with a 3 and stand for a script hash.</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box number at the post office that stands for a whole office.</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Benefits of P2SH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payer writes a short lock; the spender carries the long script.</a:t>
            </a:r>
            <a:endParaRPr lang="en-US" sz="1300" dirty="0"/>
          </a:p>
        </p:txBody>
      </p:sp>
      <p:sp>
        <p:nvSpPr>
          <p:cNvPr id="17" name="Text 15"/>
          <p:cNvSpPr txBox="1"/>
          <p:nvPr/>
        </p:nvSpPr>
        <p:spPr>
          <a:xfrm>
            <a:off x="6224016"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sender writes a short address and the receiver carries the key ring.</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61</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Pay to script hash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payer sees a hash, the spender shows the script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spk = L.p2sh_script(L.hash160(RED))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 = L.script_to_address(spk)</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K.ms_spend(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wrap=</a:t>
            </a:r>
            <a:r>
              <a:rPr lang="en-US" sz="1000" dirty="0">
                <a:solidFill>
                  <a:srgbClr val="9ECBFF"/>
                </a:solidFill>
                <a:latin typeface="Courier New" pitchFamily="34" charset="0"/>
                <a:ea typeface="Courier New" pitchFamily="34" charset="-122"/>
                <a:cs typeface="Courier New" pitchFamily="34" charset="-120"/>
              </a:rPr>
              <a:t>'p2sh'</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K.p2sh_spend(RED, hashed=RED + b</a:t>
            </a:r>
            <a:r>
              <a:rPr lang="en-US" sz="1000" dirty="0">
                <a:solidFill>
                  <a:srgbClr val="9ECBFF"/>
                </a:solidFill>
                <a:latin typeface="Courier New" pitchFamily="34" charset="0"/>
                <a:ea typeface="Courier New" pitchFamily="34" charset="-122"/>
                <a:cs typeface="Courier New" pitchFamily="34" charset="-120"/>
              </a:rPr>
              <a:t>'\x00'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[addr[:</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 len(spk), ok, bad]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['3BuKam', 23, 'OK', 'EVAL_FALSE']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lock holds only the 20-byte hash of the script: 23 bytes.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spender reveals the script; a script that does not hash to the lock fails.</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Addresses of this kind start with a 3.</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hash lock and two reveals</a:t>
            </a:r>
            <a:endParaRPr lang="en-US" sz="11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463040"/>
                <a:gridCol w="15087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Address begins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3BuKam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Lock,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Right script shown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Other script shown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lock is 23 bytes however long the script is. A script that does not match the hash fails.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long lock moves from the payer to the spender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61</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Pay to script hash: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719072"/>
          </a:xfrm>
          <a:prstGeom prst="roundRect">
            <a:avLst>
              <a:gd name="adj" fmla="val 4255"/>
            </a:avLst>
          </a:prstGeom>
          <a:solidFill>
            <a:srgbClr val="F2ECE1"/>
          </a:solidFill>
          <a:ln w="12700">
            <a:solidFill>
              <a:srgbClr val="DFD6C7"/>
            </a:solidFill>
            <a:prstDash val="solid"/>
          </a:ln>
        </p:spPr>
      </p:sp>
      <p:sp>
        <p:nvSpPr>
          <p:cNvPr id="7" name="Shape 5"/>
          <p:cNvSpPr/>
          <p:nvPr/>
        </p:nvSpPr>
        <p:spPr>
          <a:xfrm>
            <a:off x="475488" y="1408176"/>
            <a:ext cx="64008" cy="1463040"/>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992124"/>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Redeem Script and Validation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spender reveals the script; nodes hash it and then run it.</a:t>
            </a:r>
            <a:endParaRPr lang="en-US" sz="1300" dirty="0"/>
          </a:p>
        </p:txBody>
      </p:sp>
      <p:sp>
        <p:nvSpPr>
          <p:cNvPr id="9" name="Text 7"/>
          <p:cNvSpPr txBox="1"/>
          <p:nvPr/>
        </p:nvSpPr>
        <p:spPr>
          <a:xfrm>
            <a:off x="640080" y="2363724"/>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opening the envelope at the counter so the clerk can read it.</a:t>
            </a:r>
            <a:endParaRPr lang="en-US" sz="1150" dirty="0"/>
          </a:p>
        </p:txBody>
      </p:sp>
      <p:sp>
        <p:nvSpPr>
          <p:cNvPr id="10" name="Shape 8"/>
          <p:cNvSpPr/>
          <p:nvPr/>
        </p:nvSpPr>
        <p:spPr>
          <a:xfrm>
            <a:off x="3249168" y="1280160"/>
            <a:ext cx="2645664" cy="1719072"/>
          </a:xfrm>
          <a:prstGeom prst="roundRect">
            <a:avLst>
              <a:gd name="adj" fmla="val 4255"/>
            </a:avLst>
          </a:prstGeom>
          <a:solidFill>
            <a:srgbClr val="F2ECE1"/>
          </a:solidFill>
          <a:ln w="12700">
            <a:solidFill>
              <a:srgbClr val="DFD6C7"/>
            </a:solidFill>
            <a:prstDash val="solid"/>
          </a:ln>
        </p:spPr>
      </p:sp>
      <p:sp>
        <p:nvSpPr>
          <p:cNvPr id="11" name="Shape 9"/>
          <p:cNvSpPr/>
          <p:nvPr/>
        </p:nvSpPr>
        <p:spPr>
          <a:xfrm>
            <a:off x="3267456" y="1408176"/>
            <a:ext cx="64008" cy="1463040"/>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redeem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script whose hash locked the coin.</a:t>
            </a:r>
            <a:endParaRPr lang="en-US" sz="1300" dirty="0"/>
          </a:p>
        </p:txBody>
      </p:sp>
      <p:sp>
        <p:nvSpPr>
          <p:cNvPr id="13" name="Text 11"/>
          <p:cNvSpPr txBox="1"/>
          <p:nvPr/>
        </p:nvSpPr>
        <p:spPr>
          <a:xfrm>
            <a:off x="3432048"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letter inside the sealed envelope.</a:t>
            </a:r>
            <a:endParaRPr lang="en-US" sz="1150" dirty="0"/>
          </a:p>
        </p:txBody>
      </p:sp>
      <p:sp>
        <p:nvSpPr>
          <p:cNvPr id="14" name="Shape 12"/>
          <p:cNvSpPr/>
          <p:nvPr/>
        </p:nvSpPr>
        <p:spPr>
          <a:xfrm>
            <a:off x="6041136" y="1280160"/>
            <a:ext cx="2645664" cy="1719072"/>
          </a:xfrm>
          <a:prstGeom prst="roundRect">
            <a:avLst>
              <a:gd name="adj" fmla="val 4255"/>
            </a:avLst>
          </a:prstGeom>
          <a:solidFill>
            <a:srgbClr val="F2ECE1"/>
          </a:solidFill>
          <a:ln w="12700">
            <a:solidFill>
              <a:srgbClr val="DFD6C7"/>
            </a:solidFill>
            <a:prstDash val="solid"/>
          </a:ln>
        </p:spPr>
      </p:sp>
      <p:sp>
        <p:nvSpPr>
          <p:cNvPr id="15" name="Shape 13"/>
          <p:cNvSpPr/>
          <p:nvPr/>
        </p:nvSpPr>
        <p:spPr>
          <a:xfrm>
            <a:off x="6059424" y="1408176"/>
            <a:ext cx="64008" cy="1463040"/>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P2SH address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such address, written in Base58Check with a checksum.</a:t>
            </a:r>
            <a:endParaRPr lang="en-US" sz="1300" dirty="0"/>
          </a:p>
        </p:txBody>
      </p:sp>
      <p:sp>
        <p:nvSpPr>
          <p:cNvPr id="17" name="Text 15"/>
          <p:cNvSpPr txBox="1"/>
          <p:nvPr/>
        </p:nvSpPr>
        <p:spPr>
          <a:xfrm>
            <a:off x="6224016"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one box number with a check digit.</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61</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Data and timelocks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timelock is a post-dated cheque; a data output is a note on a noticeboard.</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Recording data</a:t>
            </a:r>
            <a:endParaRPr lang="en-US" sz="1200" dirty="0"/>
          </a:p>
        </p:txBody>
      </p:sp>
      <p:sp>
        <p:nvSpPr>
          <p:cNvPr id="8" name="Text 6"/>
          <p:cNvSpPr txBox="1"/>
          <p:nvPr/>
        </p:nvSpPr>
        <p:spPr>
          <a:xfrm>
            <a:off x="777240" y="2487168"/>
            <a:ext cx="249936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few bytes of data go on chain without a spendable coin.</a:t>
            </a:r>
            <a:endParaRPr lang="en-US" sz="1100" dirty="0"/>
          </a:p>
        </p:txBody>
      </p:sp>
      <p:sp>
        <p:nvSpPr>
          <p:cNvPr id="9" name="Text 7"/>
          <p:cNvSpPr txBox="1"/>
          <p:nvPr/>
        </p:nvSpPr>
        <p:spPr>
          <a:xfrm>
            <a:off x="777240" y="2892247"/>
            <a:ext cx="249936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noticeboard that nobody can walk away with.</a:t>
            </a:r>
            <a:endParaRPr lang="en-US" sz="110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Absolute timelocks</a:t>
            </a:r>
            <a:endParaRPr lang="en-US" sz="1200" dirty="0"/>
          </a:p>
        </p:txBody>
      </p:sp>
      <p:sp>
        <p:nvSpPr>
          <p:cNvPr id="12" name="Text 10"/>
          <p:cNvSpPr txBox="1"/>
          <p:nvPr/>
        </p:nvSpPr>
        <p:spPr>
          <a:xfrm>
            <a:off x="3459480" y="2487168"/>
            <a:ext cx="249936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transaction or a coin that waits for a fixed time or height.</a:t>
            </a:r>
            <a:endParaRPr lang="en-US" sz="1100" dirty="0"/>
          </a:p>
        </p:txBody>
      </p:sp>
      <p:sp>
        <p:nvSpPr>
          <p:cNvPr id="13" name="Text 11"/>
          <p:cNvSpPr txBox="1"/>
          <p:nvPr/>
        </p:nvSpPr>
        <p:spPr>
          <a:xfrm>
            <a:off x="3459480" y="2892247"/>
            <a:ext cx="249936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savings bond with a fixed date.</a:t>
            </a:r>
            <a:endParaRPr lang="en-US" sz="110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Relative timelocks</a:t>
            </a:r>
            <a:endParaRPr lang="en-US" sz="1200" dirty="0"/>
          </a:p>
        </p:txBody>
      </p:sp>
      <p:sp>
        <p:nvSpPr>
          <p:cNvPr id="16" name="Text 14"/>
          <p:cNvSpPr txBox="1"/>
          <p:nvPr/>
        </p:nvSpPr>
        <p:spPr>
          <a:xfrm>
            <a:off x="6141720" y="2487168"/>
            <a:ext cx="249936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coin that waits for an age, counted from the day it was mined.</a:t>
            </a:r>
            <a:endParaRPr lang="en-US" sz="1100" dirty="0"/>
          </a:p>
        </p:txBody>
      </p:sp>
      <p:sp>
        <p:nvSpPr>
          <p:cNvPr id="17" name="Text 15"/>
          <p:cNvSpPr txBox="1"/>
          <p:nvPr/>
        </p:nvSpPr>
        <p:spPr>
          <a:xfrm>
            <a:off x="6141720" y="3062326"/>
            <a:ext cx="249936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gift card that works a week after purchase.</a:t>
            </a:r>
            <a:endParaRPr lang="en-US" sz="11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61</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Data and timelocks: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Data Recording Output (OP_RETURN)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unspendable output that carries a few bytes of data.</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note pinned to a public noticeboard.</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Lock Time Limitations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Lock time stops a transaction, not a spender.</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post-dated cheque that its writer can replace before the date.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Check Lock Time Verify (OP_CLTV)</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rule: this coin is not spendable before a time or height.</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savings bond that cannot be cashed before its date.</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Relative Timelocks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wait counted from the day the coin was mined.</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gift card that works only a week after purchase.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61</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lock until block 800,000</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OP_CHECKLOCKTIMEVERIFY on a real spend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seq = 0xfffffffe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K.key_spend(CLTV, locktime=</a:t>
            </a:r>
            <a:r>
              <a:rPr lang="en-US" sz="1000" dirty="0">
                <a:solidFill>
                  <a:srgbClr val="FFD28A"/>
                </a:solidFill>
                <a:latin typeface="Courier New" pitchFamily="34" charset="0"/>
                <a:ea typeface="Courier New" pitchFamily="34" charset="-122"/>
                <a:cs typeface="Courier New" pitchFamily="34" charset="-120"/>
              </a:rPr>
              <a:t>800000</a:t>
            </a:r>
            <a:r>
              <a:rPr lang="en-US" sz="1000" dirty="0">
                <a:solidFill>
                  <a:srgbClr val="E6EDF3"/>
                </a:solidFill>
                <a:latin typeface="Courier New" pitchFamily="34" charset="0"/>
                <a:ea typeface="Courier New" pitchFamily="34" charset="-122"/>
                <a:cs typeface="Courier New" pitchFamily="34" charset="-120"/>
              </a:rPr>
              <a:t>, sequence=seq)</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K.key_spend(CLTV, locktime=</a:t>
            </a:r>
            <a:r>
              <a:rPr lang="en-US" sz="1000" dirty="0">
                <a:solidFill>
                  <a:srgbClr val="FFD28A"/>
                </a:solidFill>
                <a:latin typeface="Courier New" pitchFamily="34" charset="0"/>
                <a:ea typeface="Courier New" pitchFamily="34" charset="-122"/>
                <a:cs typeface="Courier New" pitchFamily="34" charset="-120"/>
              </a:rPr>
              <a:t>799999</a:t>
            </a:r>
            <a:r>
              <a:rPr lang="en-US" sz="1000" dirty="0">
                <a:solidFill>
                  <a:srgbClr val="E6EDF3"/>
                </a:solidFill>
                <a:latin typeface="Courier New" pitchFamily="34" charset="0"/>
                <a:ea typeface="Courier New" pitchFamily="34" charset="-122"/>
                <a:cs typeface="Courier New" pitchFamily="34" charset="-120"/>
              </a:rPr>
              <a:t>, sequence=seq)</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final = K.key_spend(CLTV, locktime=</a:t>
            </a:r>
            <a:r>
              <a:rPr lang="en-US" sz="1000" dirty="0">
                <a:solidFill>
                  <a:srgbClr val="FFD28A"/>
                </a:solidFill>
                <a:latin typeface="Courier New" pitchFamily="34" charset="0"/>
                <a:ea typeface="Courier New" pitchFamily="34" charset="-122"/>
                <a:cs typeface="Courier New" pitchFamily="34" charset="-120"/>
              </a:rPr>
              <a:t>800000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[ok, early, final]</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'UNSATISFIED_LOCKTIME', 'UNSATISFIED_LOCKTIME']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sequence must not be final, or the lock time is ignored.</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lock time one block too early fails.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final sequence switches the lock time off, and the script fails.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three spends of one script</a:t>
            </a:r>
            <a:endParaRPr lang="en-US" sz="11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17320"/>
                <a:gridCol w="155448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Lock time of the spend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800,000, not final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799,999, not final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UNSATISFIED_LOCKTIME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800,000, final</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UNSATISFIED_LOCKTIME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a lock time that reaches 800,000, with a sequence that is not final, satisfies the script.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transaction's lock time must reach the number in the script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61</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Data and timelocks: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Relative Timelocks with OP_CSV</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script rule that enforces a relative wait.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clerk who checks the purchase date on your receipt.</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OP_RETURN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word that ends a script in failure and marks data outputs.</a:t>
            </a:r>
            <a:endParaRPr lang="en-US" sz="1300" dirty="0"/>
          </a:p>
        </p:txBody>
      </p:sp>
      <p:sp>
        <p:nvSpPr>
          <p:cNvPr id="13" name="Text 11"/>
          <p:cNvSpPr txBox="1"/>
          <p:nvPr/>
        </p:nvSpPr>
        <p:spPr>
          <a:xfrm>
            <a:off x="4828032"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stop sign at the end of a road.</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data carrier output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relay policy's name for an OP_RETURN output.</a:t>
            </a:r>
            <a:endParaRPr lang="en-US" sz="1300" dirty="0"/>
          </a:p>
        </p:txBody>
      </p:sp>
      <p:sp>
        <p:nvSpPr>
          <p:cNvPr id="17" name="Text 15"/>
          <p:cNvSpPr txBox="1"/>
          <p:nvPr/>
        </p:nvSpPr>
        <p:spPr>
          <a:xfrm>
            <a:off x="640080" y="3209544"/>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luggage tag that holds a few words.</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lock time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field with the earliest time or block for a transaction.</a:t>
            </a:r>
            <a:endParaRPr lang="en-US" sz="1300" dirty="0"/>
          </a:p>
        </p:txBody>
      </p:sp>
      <p:sp>
        <p:nvSpPr>
          <p:cNvPr id="21" name="Text 19"/>
          <p:cNvSpPr txBox="1"/>
          <p:nvPr/>
        </p:nvSpPr>
        <p:spPr>
          <a:xfrm>
            <a:off x="4828032" y="3209544"/>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not-before date on an invitation.</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61</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wait of 4,320 blocks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OP_CHECKSEQUENCEVERIFY counts the age of the coin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K.key_spend(CSV, version=</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sequence=</a:t>
            </a:r>
            <a:r>
              <a:rPr lang="en-US" sz="1000" dirty="0">
                <a:solidFill>
                  <a:srgbClr val="FFD28A"/>
                </a:solidFill>
                <a:latin typeface="Courier New" pitchFamily="34" charset="0"/>
                <a:ea typeface="Courier New" pitchFamily="34" charset="-122"/>
                <a:cs typeface="Courier New" pitchFamily="34" charset="-120"/>
              </a:rPr>
              <a:t>4320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early = K.key_spend(CSV, version=</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sequence=</a:t>
            </a:r>
            <a:r>
              <a:rPr lang="en-US" sz="1000" dirty="0">
                <a:solidFill>
                  <a:srgbClr val="FFD28A"/>
                </a:solidFill>
                <a:latin typeface="Courier New" pitchFamily="34" charset="0"/>
                <a:ea typeface="Courier New" pitchFamily="34" charset="-122"/>
                <a:cs typeface="Courier New" pitchFamily="34" charset="-120"/>
              </a:rPr>
              <a:t>4319</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v1 = K.key_spend(CSV, version=</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sequence=</a:t>
            </a:r>
            <a:r>
              <a:rPr lang="en-US" sz="1000" dirty="0">
                <a:solidFill>
                  <a:srgbClr val="FFD28A"/>
                </a:solidFill>
                <a:latin typeface="Courier New" pitchFamily="34" charset="0"/>
                <a:ea typeface="Courier New" pitchFamily="34" charset="-122"/>
                <a:cs typeface="Courier New" pitchFamily="34" charset="-120"/>
              </a:rPr>
              <a:t>4320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bit31 = 0x80000000 | </a:t>
            </a:r>
            <a:r>
              <a:rPr lang="en-US" sz="1000" dirty="0">
                <a:solidFill>
                  <a:srgbClr val="FFD28A"/>
                </a:solidFill>
                <a:latin typeface="Courier New" pitchFamily="34" charset="0"/>
                <a:ea typeface="Courier New" pitchFamily="34" charset="-122"/>
                <a:cs typeface="Courier New" pitchFamily="34" charset="-120"/>
              </a:rPr>
              <a:t>4320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off = K.key_spend(CSV, version=</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sequence=bit31)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off</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'UNSATISFIED_LOCKTIME'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Version 2 and a sequence of 4,320 satisfy the script: thirty days of blocks.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block short fails, and so does version 1.</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Bit 31 set disables the relative lock, and the script fails.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spends of one script</a:t>
            </a:r>
            <a:endParaRPr lang="en-US" sz="11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187452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Spend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2, 4,320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2, 4,319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Version 1, 4,320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Bit 31 set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One block short, the old version, or a disabled lock each fail with UNSATISFIED_LOCKTIME.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sequence of the input must reach the number in the script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61</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Data and timelocks: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OP_CHECKLOCKTIMEVERIFY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full name of OP_CLTV.</a:t>
            </a:r>
            <a:endParaRPr lang="en-US" sz="1300" dirty="0"/>
          </a:p>
        </p:txBody>
      </p:sp>
      <p:sp>
        <p:nvSpPr>
          <p:cNvPr id="9" name="Text 7"/>
          <p:cNvSpPr txBox="1"/>
          <p:nvPr/>
        </p:nvSpPr>
        <p:spPr>
          <a:xfrm>
            <a:off x="640080" y="1805940"/>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date check at the door of a theatre.</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sequence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field of each input whose use includes the relative wait.</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number on a bakery ticket that shows how long you have waited.</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OP_CHECKSEQUENCEVERIFY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full name of OP_CSV.</a:t>
            </a:r>
            <a:endParaRPr lang="en-US" sz="1300" dirty="0"/>
          </a:p>
        </p:txBody>
      </p:sp>
      <p:sp>
        <p:nvSpPr>
          <p:cNvPr id="17" name="Text 15"/>
          <p:cNvSpPr txBox="1"/>
          <p:nvPr/>
        </p:nvSpPr>
        <p:spPr>
          <a:xfrm>
            <a:off x="6224016" y="1805940"/>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stopwatch that must reach the agreed time.</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61</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Flow control and complex scripts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Flow control is a fork in the road with a checkpoint on each path.</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Conditionals and guards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Branches that choose a path, and checks that stop a script early.</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fork in the road with a checkpoint.</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Complex scripts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real lock that mixes partners, a lawyer and delays.</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company safe with three ways to open it.</a:t>
            </a:r>
            <a:endParaRPr lang="en-US" sz="11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61</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Flow (1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Scripts with Flow Control (Conditional Clauses)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can choose between several paths.</a:t>
            </a:r>
            <a:endParaRPr lang="en-US" sz="1300" dirty="0"/>
          </a:p>
        </p:txBody>
      </p:sp>
      <p:sp>
        <p:nvSpPr>
          <p:cNvPr id="9" name="Text 7"/>
          <p:cNvSpPr txBox="1"/>
          <p:nvPr/>
        </p:nvSpPr>
        <p:spPr>
          <a:xfrm>
            <a:off x="640080" y="200710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road with a fork.</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Conditional Clauses with VERIFY Opcodes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VERIFY words stop the script at once when a check fails.</a:t>
            </a:r>
            <a:endParaRPr lang="en-US" sz="1300" dirty="0"/>
          </a:p>
        </p:txBody>
      </p:sp>
      <p:sp>
        <p:nvSpPr>
          <p:cNvPr id="13" name="Text 11"/>
          <p:cNvSpPr txBox="1"/>
          <p:nvPr/>
        </p:nvSpPr>
        <p:spPr>
          <a:xfrm>
            <a:off x="4828032"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security gate that turns people away at once.</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Using Flow Control in Scripts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IF, ELSE and ENDIF select one of several spending paths.</a:t>
            </a:r>
            <a:endParaRPr lang="en-US" sz="1300" dirty="0"/>
          </a:p>
        </p:txBody>
      </p:sp>
      <p:sp>
        <p:nvSpPr>
          <p:cNvPr id="17" name="Text 15"/>
          <p:cNvSpPr txBox="1"/>
          <p:nvPr/>
        </p:nvSpPr>
        <p:spPr>
          <a:xfrm>
            <a:off x="640080"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that says: if married fill box A, else box B.</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Complex Script Example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Mohammed's capital account: partners, or a lawyer after a delay.</a:t>
            </a:r>
            <a:endParaRPr lang="en-US" sz="1300" dirty="0"/>
          </a:p>
        </p:txBody>
      </p:sp>
      <p:sp>
        <p:nvSpPr>
          <p:cNvPr id="21" name="Text 19"/>
          <p:cNvSpPr txBox="1"/>
          <p:nvPr/>
        </p:nvSpPr>
        <p:spPr>
          <a:xfrm>
            <a:off x="4828032"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company safe with three different ways to open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61</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Three ways out of one output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Partners at once, a lawyer after 30 days, the lawyer alone after 90</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 = len(K.moh_script())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p1 = K.moh_spend(</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 = [K.moh_spend(</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sequence=s)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4320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4319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p3 = [K.moh_spend(</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sequence=s)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12960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4320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p3</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'UNSATISFIED_LOCKTIME']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Path one needs two of three partners and no waiting.</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Path two: the lawyer and one partner, after 4,320 blocks.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Path three: the lawyer alone, after 12,960 blocks.</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script of 192 bytes, six spends</a:t>
            </a:r>
            <a:endParaRPr lang="en-US" sz="11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234440"/>
                <a:gridCol w="17373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Path and wait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 partners, none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 lawyer, 4,320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2: lawyer, 4,319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 lawyer, 12,960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 lawyer, 4,320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UNSATISFIED_LOCKTIME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6941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Each path works only after its wait; asking one block early fails with UNSATISFIED_LOCKTIME.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conditional script lets one output have several spending paths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61</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Flow (2 of 2)</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OP_IF</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Runs the next clause only if the top item is true.</a:t>
            </a:r>
            <a:endParaRPr lang="en-US" sz="1300" dirty="0"/>
          </a:p>
        </p:txBody>
      </p:sp>
      <p:sp>
        <p:nvSpPr>
          <p:cNvPr id="9" name="Text 7"/>
          <p:cNvSpPr txBox="1"/>
          <p:nvPr/>
        </p:nvSpPr>
        <p:spPr>
          <a:xfrm>
            <a:off x="640080" y="198424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turnstile that opens on a yes.</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conditional clause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branch of a script that runs only under a condition.</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footnote that applies only in a special case.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OP_VERIFY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Fails the script unless the top item is true.</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bouncer who checks one thing and sends you home.</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Miniscript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structured language that compiles to Script and can be analysed.</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spreadsheet formula that is checked before you save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61</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Segregated witness scripts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Segregated witness moves the proof to a window beside the counter.</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Witness programs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a segregated witness lock is written and addressed.</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postcode that also names the kind of building.</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upgrade</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How the change reached old nodes without splitting the network.</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lane that old cars can simply ignore.</a:t>
            </a:r>
            <a:endParaRPr lang="en-US" sz="115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61</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scripts (1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Segregated Witness Output and Transaction Examples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Real outputs and transactions that use segregated witness.</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worked examples at the back of a driving manual.</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witness public key hash (P2WPKH)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key-hash lock whose proof lives in the witness.</a:t>
            </a:r>
            <a:endParaRPr lang="en-US" sz="1300" dirty="0"/>
          </a:p>
        </p:txBody>
      </p:sp>
      <p:sp>
        <p:nvSpPr>
          <p:cNvPr id="13" name="Text 11"/>
          <p:cNvSpPr txBox="1"/>
          <p:nvPr/>
        </p:nvSpPr>
        <p:spPr>
          <a:xfrm>
            <a:off x="4828032"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same fingerprint lock with the key shown at a side window.</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Wallet construction of P2WPKH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How a wallet builds the output and the witness for a spend.</a:t>
            </a:r>
            <a:endParaRPr lang="en-US" sz="1300" dirty="0"/>
          </a:p>
        </p:txBody>
      </p:sp>
      <p:sp>
        <p:nvSpPr>
          <p:cNvPr id="17" name="Text 15"/>
          <p:cNvSpPr txBox="1"/>
          <p:nvPr/>
        </p:nvSpPr>
        <p:spPr>
          <a:xfrm>
            <a:off x="640080"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cashier assembling a receipt together with its annex.</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witness script hash (P2WSH)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script-hash lock whose script is revealed in the witness.</a:t>
            </a:r>
            <a:endParaRPr lang="en-US" sz="1300" dirty="0"/>
          </a:p>
        </p:txBody>
      </p:sp>
      <p:sp>
        <p:nvSpPr>
          <p:cNvPr id="21" name="Text 19"/>
          <p:cNvSpPr txBox="1"/>
          <p:nvPr/>
        </p:nvSpPr>
        <p:spPr>
          <a:xfrm>
            <a:off x="4828032" y="347472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sealed envelope, opened at the side window.</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61</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Pay to witness public key hash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key-hash spend with the proof in the witness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[K.wpkh_spend(), K.wpkh_spend(nested=</a:t>
            </a:r>
            <a:r>
              <a:rPr lang="en-US" sz="1000" b="1" dirty="0">
                <a:solidFill>
                  <a:srgbClr val="F2A860"/>
                </a:solidFill>
                <a:latin typeface="Courier New" pitchFamily="34" charset="0"/>
                <a:ea typeface="Courier New" pitchFamily="34" charset="-122"/>
                <a:cs typeface="Courier New" pitchFamily="34" charset="-120"/>
              </a:rPr>
              <a:t>True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wrong = K.wpkh_spend(signed_amount=</a:t>
            </a:r>
            <a:r>
              <a:rPr lang="en-US" sz="1000" dirty="0">
                <a:solidFill>
                  <a:srgbClr val="FFD28A"/>
                </a:solidFill>
                <a:latin typeface="Courier New" pitchFamily="34" charset="0"/>
                <a:ea typeface="Courier New" pitchFamily="34" charset="-122"/>
                <a:cs typeface="Courier New" pitchFamily="34" charset="-120"/>
              </a:rPr>
              <a:t>99999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prog = L.p2wpkh_script(L.hash160(K.pub(</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 = L.script_to_address(prog)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'bc1qm5gqhe7e46jhyy2ca00x66slmrlljwa33n9fts'</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witness key-hash spend works directly and nested in a script hash.</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signature commits to the amount, so a wrong amount fails.</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address is bech32 and begins with bc1q.</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witness key-hash spend</a:t>
            </a:r>
            <a:endParaRPr lang="en-US" sz="11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280160"/>
                <a:gridCol w="16916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Spend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Direct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Nested in P2SH</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Amount changed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Address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bc1qm5gqhe7e...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signature covers the amount, so a changed amount fails. The address starts with bc1q.</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signature commits to the amount; the address is bech32</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61</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1,022 real inputs spend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Block 775,072, classified by the chapter's own Script interpreter, bytes from mempool.space</a:t>
            </a:r>
            <a:endParaRPr lang="en-US" sz="1300" dirty="0"/>
          </a:p>
        </p:txBody>
      </p:sp>
      <p:graphicFrame>
        <p:nvGraphicFramePr>
          <p:cNvPr id="6" name="Chart 0" descr=""/>
          <p:cNvGraphicFramePr/>
          <p:nvPr/>
        </p:nvGraphicFramePr>
        <p:xfrm>
          <a:off x="457200" y="1325880"/>
          <a:ext cx="5303520" cy="315468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5989320" y="1325880"/>
            <a:ext cx="2697480" cy="457200"/>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what 1,022 real inputs spend</a:t>
            </a:r>
            <a:endParaRPr lang="en-US" sz="1100" dirty="0"/>
          </a:p>
        </p:txBody>
      </p:sp>
      <p:sp>
        <p:nvSpPr>
          <p:cNvPr id="8" name="Text 5"/>
          <p:cNvSpPr txBox="1"/>
          <p:nvPr/>
        </p:nvSpPr>
        <p:spPr>
          <a:xfrm>
            <a:off x="5989320" y="1874520"/>
            <a:ext cx="2697480" cy="1371600"/>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The chapter's interpreter ran every input of the first 599 non-coinbase transactions of block 775,072 and sorted them by the kind of output they spend.</a:t>
            </a:r>
            <a:endParaRPr lang="en-US" sz="1150" dirty="0"/>
          </a:p>
        </p:txBody>
      </p:sp>
      <p:sp>
        <p:nvSpPr>
          <p:cNvPr id="9" name="Text 6"/>
          <p:cNvSpPr txBox="1"/>
          <p:nvPr/>
        </p:nvSpPr>
        <p:spPr>
          <a:xfrm>
            <a:off x="5989320" y="3383280"/>
            <a:ext cx="2697480" cy="1097280"/>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Witness key hashes lead; taproot is still rare. Think of a motorway where most cars already use the new lane.</a:t>
            </a:r>
            <a:endParaRPr lang="en-US" sz="1150" dirty="0"/>
          </a:p>
        </p:txBody>
      </p:sp>
      <p:sp>
        <p:nvSpPr>
          <p:cNvPr id="10"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1"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Most real coins already move through witness programs</a:t>
            </a:r>
            <a:endParaRPr lang="en-US" sz="1350" dirty="0"/>
          </a:p>
        </p:txBody>
      </p:sp>
      <p:sp>
        <p:nvSpPr>
          <p:cNvPr id="12"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61</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scripts (2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Differentiating between P2WPKH and P2WSH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program length tells them apart: 20 or 32 bytes.</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telling a postcode from a full address by its length.</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Upgrading to Segregated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How old and new software live side by side.</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adding a new lane to a road without closing it.</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Embedding segregated witness inside P2SH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witness program wrapped in a script hash for old wallets.</a:t>
            </a:r>
            <a:endParaRPr lang="en-US" sz="1300" dirty="0"/>
          </a:p>
        </p:txBody>
      </p:sp>
      <p:sp>
        <p:nvSpPr>
          <p:cNvPr id="17" name="Text 15"/>
          <p:cNvSpPr txBox="1"/>
          <p:nvPr/>
        </p:nvSpPr>
        <p:spPr>
          <a:xfrm>
            <a:off x="640080" y="367588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letter inside an old envelope.</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Nested pay to witness public key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P2WPKH placed inside P2SH.</a:t>
            </a:r>
            <a:endParaRPr lang="en-US" sz="1300" dirty="0"/>
          </a:p>
        </p:txBody>
      </p:sp>
      <p:sp>
        <p:nvSpPr>
          <p:cNvPr id="21" name="Text 19"/>
          <p:cNvSpPr txBox="1"/>
          <p:nvPr/>
        </p:nvSpPr>
        <p:spPr>
          <a:xfrm>
            <a:off x="4828032" y="349758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small box inside a larger box.</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61</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scripts (3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Nested pay to witness script hash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P2WSH placed inside P2SH.</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sealed envelope inside a courier bag.</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segregated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upgrade that moves signatures out of the transaction identifier.</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keeping the passport photo off the ticket number.</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program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version and hash that lock a segwit output.</a:t>
            </a:r>
            <a:endParaRPr lang="en-US" sz="1300" dirty="0"/>
          </a:p>
        </p:txBody>
      </p:sp>
      <p:sp>
        <p:nvSpPr>
          <p:cNvPr id="17" name="Text 15"/>
          <p:cNvSpPr txBox="1"/>
          <p:nvPr/>
        </p:nvSpPr>
        <p:spPr>
          <a:xfrm>
            <a:off x="640080"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extension number that tells the switchboard where to connect.</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P2WPKH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short name of pay to witness public key hash.</a:t>
            </a:r>
            <a:endParaRPr lang="en-US" sz="1300" dirty="0"/>
          </a:p>
        </p:txBody>
      </p:sp>
      <p:sp>
        <p:nvSpPr>
          <p:cNvPr id="21" name="Text 19"/>
          <p:cNvSpPr txBox="1"/>
          <p:nvPr/>
        </p:nvSpPr>
        <p:spPr>
          <a:xfrm>
            <a:off x="4828032" y="3273552"/>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nickname for a long job title.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61</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Segregated witness scripts (4 of 4)</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P2WSH</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short name of pay to witness script hash.</a:t>
            </a:r>
            <a:endParaRPr lang="en-US" sz="1300" dirty="0"/>
          </a:p>
        </p:txBody>
      </p:sp>
      <p:sp>
        <p:nvSpPr>
          <p:cNvPr id="9" name="Text 7"/>
          <p:cNvSpPr txBox="1"/>
          <p:nvPr/>
        </p:nvSpPr>
        <p:spPr>
          <a:xfrm>
            <a:off x="640080"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acronym on a name badge.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bech32</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segwit address format, with a checksum that finds typos.</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spelling checker built into the address.</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nested segregated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Segwit hidden inside the older script hash format.</a:t>
            </a:r>
            <a:endParaRPr lang="en-US" sz="1300" dirty="0"/>
          </a:p>
        </p:txBody>
      </p:sp>
      <p:sp>
        <p:nvSpPr>
          <p:cNvPr id="17" name="Text 15"/>
          <p:cNvSpPr txBox="1"/>
          <p:nvPr/>
        </p:nvSpPr>
        <p:spPr>
          <a:xfrm>
            <a:off x="640080" y="3273552"/>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modern phone in an old phone case.</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soft fork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rule change that old nodes still accept.</a:t>
            </a:r>
            <a:endParaRPr lang="en-US" sz="1300" dirty="0"/>
          </a:p>
        </p:txBody>
      </p:sp>
      <p:sp>
        <p:nvSpPr>
          <p:cNvPr id="21" name="Text 19"/>
          <p:cNvSpPr txBox="1"/>
          <p:nvPr/>
        </p:nvSpPr>
        <p:spPr>
          <a:xfrm>
            <a:off x="4828032"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stricter speed limit that old cars can still obey.</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61</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fork or soft fork?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segregated witness could be activated without splitting the network</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hard fork loosens the rules</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Blocks that old nodes reject become valid.</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Every node must upgrade, or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new road standard that old cars cannot use.</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soft fork tightens the rules</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nodes reject more; they accept nothing new.</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still follow the chain and accept its blocks.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stricter speed limit that old cars can still obey.</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can only restrict; old nodes keep accepting the blocks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61</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Script trees and key tweaks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script tree is a menu of which only the ordered dish is shown.</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Script trees</a:t>
            </a:r>
            <a:endParaRPr lang="en-US" sz="1200" dirty="0"/>
          </a:p>
        </p:txBody>
      </p:sp>
      <p:sp>
        <p:nvSpPr>
          <p:cNvPr id="8" name="Text 6"/>
          <p:cNvSpPr txBox="1"/>
          <p:nvPr/>
        </p:nvSpPr>
        <p:spPr>
          <a:xfrm>
            <a:off x="777240" y="2487168"/>
            <a:ext cx="3840480" cy="21488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Many spending rules hide behind one hash.</a:t>
            </a:r>
            <a:endParaRPr lang="en-US" sz="1150" dirty="0"/>
          </a:p>
        </p:txBody>
      </p:sp>
      <p:sp>
        <p:nvSpPr>
          <p:cNvPr id="9" name="Text 7"/>
          <p:cNvSpPr txBox="1"/>
          <p:nvPr/>
        </p:nvSpPr>
        <p:spPr>
          <a:xfrm>
            <a:off x="777240" y="2729484"/>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menu where only the ordered dish is shown.</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Key tweaks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key is changed a little to commit to hidden data.</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engraved key that carries a hidden code.</a:t>
            </a:r>
            <a:endParaRPr lang="en-US" sz="11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61</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 trees and key tweaks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Merklized Alternative Script Trees (MAST)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Many scripts sit under one hash; a spend shows only one.</a:t>
            </a:r>
            <a:endParaRPr lang="en-US" sz="1300" dirty="0"/>
          </a:p>
        </p:txBody>
      </p:sp>
      <p:sp>
        <p:nvSpPr>
          <p:cNvPr id="9" name="Text 7"/>
          <p:cNvSpPr txBox="1"/>
          <p:nvPr/>
        </p:nvSpPr>
        <p:spPr>
          <a:xfrm>
            <a:off x="640080" y="218541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restaurant menu where you read out only the dish you ordered.</a:t>
            </a:r>
            <a:endParaRPr lang="en-US" sz="1150" dirty="0"/>
          </a:p>
        </p:txBody>
      </p:sp>
      <p:sp>
        <p:nvSpPr>
          <p:cNvPr id="10" name="Shape 8"/>
          <p:cNvSpPr/>
          <p:nvPr/>
        </p:nvSpPr>
        <p:spPr>
          <a:xfrm>
            <a:off x="4645152" y="1280160"/>
            <a:ext cx="4041648"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4663440"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 to Contract (P2C)</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key is tweaked so that it commits to a contract.</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wax seal that also encodes the fingerprint of the contract.</a:t>
            </a:r>
            <a:endParaRPr lang="en-US" sz="1150" dirty="0"/>
          </a:p>
        </p:txBody>
      </p:sp>
      <p:sp>
        <p:nvSpPr>
          <p:cNvPr id="14" name="Shape 12"/>
          <p:cNvSpPr/>
          <p:nvPr/>
        </p:nvSpPr>
        <p:spPr>
          <a:xfrm>
            <a:off x="457200" y="2770632"/>
            <a:ext cx="4041648"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475488" y="2898648"/>
            <a:ext cx="64008" cy="1106424"/>
          </a:xfrm>
          <a:prstGeom prst="rect">
            <a:avLst/>
          </a:prstGeom>
          <a:solidFill>
            <a:srgbClr val="D97A14"/>
          </a:solidFill>
          <a:ln w="12700">
            <a:solidFill>
              <a:srgbClr val="D97A14"/>
            </a:solidFill>
            <a:prstDash val="solid"/>
          </a:ln>
        </p:spPr>
      </p:sp>
      <p:sp>
        <p:nvSpPr>
          <p:cNvPr id="16" name="Text 14"/>
          <p:cNvSpPr txBox="1"/>
          <p:nvPr/>
        </p:nvSpPr>
        <p:spPr>
          <a:xfrm>
            <a:off x="640080" y="2834640"/>
            <a:ext cx="3767328"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Scriptless Multisignatures and Threshold Signatures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Many signers combine into one key and one signature.</a:t>
            </a:r>
            <a:endParaRPr lang="en-US" sz="1300" dirty="0"/>
          </a:p>
        </p:txBody>
      </p:sp>
      <p:sp>
        <p:nvSpPr>
          <p:cNvPr id="17" name="Text 15"/>
          <p:cNvSpPr txBox="1"/>
          <p:nvPr/>
        </p:nvSpPr>
        <p:spPr>
          <a:xfrm>
            <a:off x="640080" y="367588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choir that sings with one voice.</a:t>
            </a:r>
            <a:endParaRPr lang="en-US" sz="1150" dirty="0"/>
          </a:p>
        </p:txBody>
      </p:sp>
      <p:sp>
        <p:nvSpPr>
          <p:cNvPr id="18" name="Shape 16"/>
          <p:cNvSpPr/>
          <p:nvPr/>
        </p:nvSpPr>
        <p:spPr>
          <a:xfrm>
            <a:off x="4645152" y="2770632"/>
            <a:ext cx="4041648" cy="1362456"/>
          </a:xfrm>
          <a:prstGeom prst="roundRect">
            <a:avLst>
              <a:gd name="adj" fmla="val 5369"/>
            </a:avLst>
          </a:prstGeom>
          <a:solidFill>
            <a:srgbClr val="F2ECE1"/>
          </a:solidFill>
          <a:ln w="12700">
            <a:solidFill>
              <a:srgbClr val="DFD6C7"/>
            </a:solidFill>
            <a:prstDash val="solid"/>
          </a:ln>
        </p:spPr>
      </p:sp>
      <p:sp>
        <p:nvSpPr>
          <p:cNvPr id="19" name="Shape 17"/>
          <p:cNvSpPr/>
          <p:nvPr/>
        </p:nvSpPr>
        <p:spPr>
          <a:xfrm>
            <a:off x="4663440" y="2898648"/>
            <a:ext cx="64008" cy="1106424"/>
          </a:xfrm>
          <a:prstGeom prst="rect">
            <a:avLst/>
          </a:prstGeom>
          <a:solidFill>
            <a:srgbClr val="D97A14"/>
          </a:solidFill>
          <a:ln w="12700">
            <a:solidFill>
              <a:srgbClr val="D97A14"/>
            </a:solidFill>
            <a:prstDash val="solid"/>
          </a:ln>
        </p:spPr>
      </p:sp>
      <p:sp>
        <p:nvSpPr>
          <p:cNvPr id="20" name="Text 18"/>
          <p:cNvSpPr txBox="1"/>
          <p:nvPr/>
        </p:nvSpPr>
        <p:spPr>
          <a:xfrm>
            <a:off x="4828032" y="2834640"/>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MAST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short name of the script tree.</a:t>
            </a:r>
            <a:endParaRPr lang="en-US" sz="1300" dirty="0"/>
          </a:p>
        </p:txBody>
      </p:sp>
      <p:sp>
        <p:nvSpPr>
          <p:cNvPr id="21" name="Text 19"/>
          <p:cNvSpPr txBox="1"/>
          <p:nvPr/>
        </p:nvSpPr>
        <p:spPr>
          <a:xfrm>
            <a:off x="4828032" y="329641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tournament bracket where only one team's path is shown.</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61</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proof grows with the logarithm</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many hashes a script tree reveals</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proof = [len(p)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K.tap_tree(MOH_LEAVES)[</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030882"/>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ns =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1024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depth = [(n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).bit_length()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ns]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depth</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 3, 10, 20]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of three scripts needs its sibling hashes as a proof.</a:t>
            </a:r>
            <a:endParaRPr lang="en-US" sz="1050" dirty="0"/>
          </a:p>
        </p:txBody>
      </p:sp>
      <p:sp>
        <p:nvSpPr>
          <p:cNvPr id="13" name="Shape 11"/>
          <p:cNvSpPr/>
          <p:nvPr/>
        </p:nvSpPr>
        <p:spPr>
          <a:xfrm>
            <a:off x="365760" y="1884578"/>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tree of n scripts needs about log2 of n hashes per spend.</a:t>
            </a:r>
            <a:endParaRPr lang="en-US" sz="1050" dirty="0"/>
          </a:p>
        </p:txBody>
      </p:sp>
      <p:sp>
        <p:nvSpPr>
          <p:cNvPr id="16" name="Text 14"/>
          <p:cNvSpPr txBox="1"/>
          <p:nvPr/>
        </p:nvSpPr>
        <p:spPr>
          <a:xfrm>
            <a:off x="457200" y="3047695"/>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hashes in a proof, by scripts in the tree</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Our three scripts need 2, 2, 1 hashes each. A tree of 1,048,576 scripts needs only 20.</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million scripts need only twenty hashes in a proof</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61</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 trees and key tweaks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merkle root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single hash at the top of a tree of hashes.</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seal on top of a pyramid of stamped boxes.</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membership proof</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sibling hashes that prove a leaf belongs to the tree.</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chain of members who vouch that someone belongs to a club.</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key tweak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small number, derived from a hash, added to a key.</a:t>
            </a:r>
            <a:endParaRPr lang="en-US" sz="1300" dirty="0"/>
          </a:p>
        </p:txBody>
      </p:sp>
      <p:sp>
        <p:nvSpPr>
          <p:cNvPr id="17" name="Text 15"/>
          <p:cNvSpPr txBox="1"/>
          <p:nvPr/>
        </p:nvSpPr>
        <p:spPr>
          <a:xfrm>
            <a:off x="640080" y="3273552"/>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tiny adjustment screw on a lock.</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scriptless multisignature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joint signature that shows no script at all.</a:t>
            </a:r>
            <a:endParaRPr lang="en-US" sz="1300" dirty="0"/>
          </a:p>
        </p:txBody>
      </p:sp>
      <p:sp>
        <p:nvSpPr>
          <p:cNvPr id="21" name="Text 19"/>
          <p:cNvSpPr txBox="1"/>
          <p:nvPr/>
        </p:nvSpPr>
        <p:spPr>
          <a:xfrm>
            <a:off x="4828032"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group letter that looks like one person's.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61</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Script trees and key tweaks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threshold 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Any t of n holders can sign for one shared key.</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council where any two of three may sign for the town.</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partial public 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signer's share, added to the others to make the joint key.</a:t>
            </a:r>
            <a:endParaRPr lang="en-US" sz="1300" dirty="0"/>
          </a:p>
        </p:txBody>
      </p:sp>
      <p:sp>
        <p:nvSpPr>
          <p:cNvPr id="13" name="Text 11"/>
          <p:cNvSpPr txBox="1"/>
          <p:nvPr/>
        </p:nvSpPr>
        <p:spPr>
          <a:xfrm>
            <a:off x="4828032"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one voice of a choir, added to the others.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61</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Taproot and tapscript</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Taproot is a front door with a hidden side entrance.</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Taproot outputs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One output key that is spent with a signature or with a script.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front door with a hidden side entrance.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Tapscript</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script rules that apply inside a taproot spend.</a:t>
            </a:r>
            <a:endParaRPr lang="en-US" sz="1150" dirty="0"/>
          </a:p>
        </p:txBody>
      </p:sp>
      <p:sp>
        <p:nvSpPr>
          <p:cNvPr id="13" name="Text 11"/>
          <p:cNvSpPr txBox="1"/>
          <p:nvPr/>
        </p:nvSpPr>
        <p:spPr>
          <a:xfrm>
            <a:off x="480060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house rules for the side entrance.</a:t>
            </a:r>
            <a:endParaRPr lang="en-US" sz="11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874166"/>
                <a:gridCol w="874166"/>
                <a:gridCol w="874166"/>
                <a:gridCol w="874166"/>
                <a:gridCol w="874166"/>
                <a:gridCol w="874166"/>
                <a:gridCol w="874166"/>
                <a:gridCol w="874166"/>
                <a:gridCol w="874166"/>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Language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Keys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Multisig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P2SH</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Flow</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Segwit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Trees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Taproot</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61</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tapscript: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Taproot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output that is a key which may hide a script tree.</a:t>
            </a:r>
            <a:endParaRPr lang="en-US" sz="1300" dirty="0"/>
          </a:p>
        </p:txBody>
      </p:sp>
      <p:sp>
        <p:nvSpPr>
          <p:cNvPr id="9" name="Text 7"/>
          <p:cNvSpPr txBox="1"/>
          <p:nvPr/>
        </p:nvSpPr>
        <p:spPr>
          <a:xfrm>
            <a:off x="640080" y="1984248"/>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front door with a hidden side entrance.</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script rules inside taproot spends.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house rules for the side entrance.</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keypath spending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Spend with one signature for the output key.</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walking in through the front door with your key.</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scriptpath spending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Reveal one leaf script, its proof and its data.</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using the side entrance and showing the pass for it.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61</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Taproot: a key path spend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signature, no script revealed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 q = L.taproot_tweak_pubkey(K.xpub(</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addr = L.script_to_address(L.p2tr_script(q))</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kind = (addr[:</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 len(q))</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 wit, wt = K.tr_keypath(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bad = K.tr_keypath(</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MOH_LEAVES, tamper=</a:t>
            </a:r>
            <a:r>
              <a:rPr lang="en-US" sz="1000" dirty="0">
                <a:solidFill>
                  <a:srgbClr val="9ECBFF"/>
                </a:solidFill>
                <a:latin typeface="Courier New" pitchFamily="34" charset="0"/>
                <a:ea typeface="Courier New" pitchFamily="34" charset="-122"/>
                <a:cs typeface="Courier New" pitchFamily="34" charset="-120"/>
              </a:rPr>
              <a:t>'untweaked'</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(r, len(wit[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wt, bad)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64, 308, 'SCHNORR_SIG')</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output key is the internal key plus a tweak; here there is no script.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address begins with bc1p and the key takes 32 bytes.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64-byte signature spends it; an untweaked key is refused.</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key path spend</a:t>
            </a:r>
            <a:endParaRPr lang="en-US" sz="11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463040"/>
                <a:gridCol w="150876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Quantity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Result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Address begins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bc1pwd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Output key,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Key path spend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OK</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Signature, bytes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Weight units</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308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Untweaked key</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SCHNORR_SIG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7856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One 64-byte signature spends it. A key that was not tweaked as the output says fails with SCHNORR_SIG.</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output key is the internal key plus a tweak</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61</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patented signature to taproot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Taproot took effect at block 709,632 in 2021</a:t>
            </a:r>
            <a:endParaRPr lang="en-US" sz="1300" dirty="0"/>
          </a:p>
        </p:txBody>
      </p:sp>
      <p:pic>
        <p:nvPicPr>
          <p:cNvPr id="6" name="Image 0" descr="../../03-materials/ch07/assets/photo_claus_schnorr_1986.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Claus-Peter Schnorr, 1986 - Konrad Jacobs, CC BY-SA 2.0 de</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At block 709,632, mined on 14 November 2021, the taproot rules and Schnorr signatures (BIPs 340 to 342) took effect.</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Claus Schnorr had patented his signature, which kept it out of open standards for almost two decades; ECDSA was used instead.</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BIP340 was assigned in January 2020; a soft fork then added taproot and tapscript to the running chain.</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key path spend is one 64-byte signature that looks the same whether one person or a million made it.</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Claus-Peter Schnorr</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709,632</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2021-11-14</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mempool.space</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61</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tapscript: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taproot internal 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key before the tweak is added.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key blank before the locksmith adds a mark.</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taproot output key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tweaked key that appears in the output.</a:t>
            </a:r>
            <a:endParaRPr lang="en-US" sz="1300" dirty="0"/>
          </a:p>
        </p:txBody>
      </p:sp>
      <p:sp>
        <p:nvSpPr>
          <p:cNvPr id="13" name="Text 11"/>
          <p:cNvSpPr txBox="1"/>
          <p:nvPr/>
        </p:nvSpPr>
        <p:spPr>
          <a:xfrm>
            <a:off x="4828032"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finished key as it is cut.</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leaf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script at the end of a branch of the tree.</a:t>
            </a:r>
            <a:endParaRPr lang="en-US" sz="1300" dirty="0"/>
          </a:p>
        </p:txBody>
      </p:sp>
      <p:sp>
        <p:nvSpPr>
          <p:cNvPr id="17" name="Text 15"/>
          <p:cNvSpPr txBox="1"/>
          <p:nvPr/>
        </p:nvSpPr>
        <p:spPr>
          <a:xfrm>
            <a:off x="640080" y="3095244"/>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dish at the end of a menu section.</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OP_CHECKSIGADD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Adds one to a counter for each valid signature.</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tally mark added for every valid signature.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61</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Taproot: the script path</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Reveal one script of the tree and its proof</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[moh_tap(i)[</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tap = [moh_tap(i)[</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662733"/>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wsh = [moh_wsh(p)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p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'OK', 'OK']</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of the three leaves of the account script can be spent.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Weight units of each spend as a taproot script path.</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2589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three paths as a witness script hash spend.</a:t>
            </a:r>
            <a:endParaRPr lang="en-US" sz="1050" dirty="0"/>
          </a:p>
        </p:txBody>
      </p:sp>
      <p:sp>
        <p:nvSpPr>
          <p:cNvPr id="21" name="Text 19"/>
          <p:cNvSpPr txBox="1"/>
          <p:nvPr/>
        </p:nvSpPr>
        <p:spPr>
          <a:xfrm>
            <a:off x="457200" y="351495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weight units of three spends, two ways</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All three paths verify (OK, OK, OK). Orange bars: taproot script path; green bars: the same path as a witness script hash.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path costs about as much as a plain witness script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61</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Taproot and tapscript: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516990"/>
          </a:xfrm>
          <a:prstGeom prst="roundRect">
            <a:avLst>
              <a:gd name="adj" fmla="val 4822"/>
            </a:avLst>
          </a:prstGeom>
          <a:solidFill>
            <a:srgbClr val="F2ECE1"/>
          </a:solidFill>
          <a:ln w="12700">
            <a:solidFill>
              <a:srgbClr val="DFD6C7"/>
            </a:solidFill>
            <a:prstDash val="solid"/>
          </a:ln>
        </p:spPr>
      </p:sp>
      <p:sp>
        <p:nvSpPr>
          <p:cNvPr id="7" name="Shape 5"/>
          <p:cNvSpPr/>
          <p:nvPr/>
        </p:nvSpPr>
        <p:spPr>
          <a:xfrm>
            <a:off x="475488" y="1408176"/>
            <a:ext cx="64008" cy="1260958"/>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schnorr signature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short signature that adds up when many signers sign.</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handwriting that adds up neatly when several people write together.</a:t>
            </a:r>
            <a:endParaRPr lang="en-US" sz="1150" dirty="0"/>
          </a:p>
        </p:txBody>
      </p:sp>
      <p:sp>
        <p:nvSpPr>
          <p:cNvPr id="10" name="Shape 8"/>
          <p:cNvSpPr/>
          <p:nvPr/>
        </p:nvSpPr>
        <p:spPr>
          <a:xfrm>
            <a:off x="3249168" y="1280160"/>
            <a:ext cx="2645664" cy="1516990"/>
          </a:xfrm>
          <a:prstGeom prst="roundRect">
            <a:avLst>
              <a:gd name="adj" fmla="val 4822"/>
            </a:avLst>
          </a:prstGeom>
          <a:solidFill>
            <a:srgbClr val="F2ECE1"/>
          </a:solidFill>
          <a:ln w="12700">
            <a:solidFill>
              <a:srgbClr val="DFD6C7"/>
            </a:solidFill>
            <a:prstDash val="solid"/>
          </a:ln>
        </p:spPr>
      </p:sp>
      <p:sp>
        <p:nvSpPr>
          <p:cNvPr id="11" name="Shape 9"/>
          <p:cNvSpPr/>
          <p:nvPr/>
        </p:nvSpPr>
        <p:spPr>
          <a:xfrm>
            <a:off x="3267456" y="1408176"/>
            <a:ext cx="64008" cy="1260958"/>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79095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OP_SUCCESS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Opcode values that make a tapscript succeed, kept for upgrades.</a:t>
            </a:r>
            <a:endParaRPr lang="en-US" sz="1300" dirty="0"/>
          </a:p>
        </p:txBody>
      </p:sp>
      <p:sp>
        <p:nvSpPr>
          <p:cNvPr id="13" name="Text 11"/>
          <p:cNvSpPr txBox="1"/>
          <p:nvPr/>
        </p:nvSpPr>
        <p:spPr>
          <a:xfrm>
            <a:off x="3432048" y="2162556"/>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green light reserved for traffic rules of the future.</a:t>
            </a:r>
            <a:endParaRPr lang="en-US" sz="1150" dirty="0"/>
          </a:p>
        </p:txBody>
      </p:sp>
      <p:sp>
        <p:nvSpPr>
          <p:cNvPr id="14" name="Shape 12"/>
          <p:cNvSpPr/>
          <p:nvPr/>
        </p:nvSpPr>
        <p:spPr>
          <a:xfrm>
            <a:off x="6041136" y="1280160"/>
            <a:ext cx="2645664" cy="1516990"/>
          </a:xfrm>
          <a:prstGeom prst="roundRect">
            <a:avLst>
              <a:gd name="adj" fmla="val 4822"/>
            </a:avLst>
          </a:prstGeom>
          <a:solidFill>
            <a:srgbClr val="F2ECE1"/>
          </a:solidFill>
          <a:ln w="12700">
            <a:solidFill>
              <a:srgbClr val="DFD6C7"/>
            </a:solidFill>
            <a:prstDash val="solid"/>
          </a:ln>
        </p:spPr>
      </p:sp>
      <p:sp>
        <p:nvSpPr>
          <p:cNvPr id="15" name="Shape 13"/>
          <p:cNvSpPr/>
          <p:nvPr/>
        </p:nvSpPr>
        <p:spPr>
          <a:xfrm>
            <a:off x="6059424" y="1408176"/>
            <a:ext cx="64008" cy="1260958"/>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mutual satisfaction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All parties agree, so the script never needs to be shown.</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neighbours who settle a dispute over the fence instead of in court.</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56 / 61</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Counting signatures: OP_CHECKSIGADD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Tapscript's replacement for CHECKMULTISIG</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K.csa_script([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(len(s), len(RED))</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items =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'sig'</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'sig'</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K.tr_spend([s],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items)[</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few = K.tr_spend([s],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 b</a:t>
            </a:r>
            <a:r>
              <a:rPr lang="en-US" sz="1000" dirty="0">
                <a:solidFill>
                  <a:srgbClr val="9ECBFF"/>
                </a:solidFill>
                <a:latin typeface="Courier New" pitchFamily="34" charset="0"/>
                <a:ea typeface="Courier New" pitchFamily="34" charset="-122"/>
                <a:cs typeface="Courier New" pitchFamily="34" charset="-120"/>
              </a:rPr>
              <a: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'sig'</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[ok, few]</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['OK', 'EVAL_FALSE']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2-of-3 rule written with CHECKSIGADD is a byte shorter.</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Two valid signatures and one empty slot satisfy it.</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With only one valid signature the count stays below two and the script fails.</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same rule, two ways of writing it</a:t>
            </a:r>
            <a:endParaRPr lang="en-US" sz="11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91640"/>
                <a:gridCol w="12801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CHECKSIGADD script,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 2-of-3 script,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signatures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signature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EVAL_FALSE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tapscript form is one byte shorter. Two valid signatures reach the count; one does not.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valid signature adds one; an empty slot adds nothing</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57 / 61</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Opcodes kept for upgrades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OP_SUCCESS in tapscript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sum(</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o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256</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L.is_op_success(o))</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ok = K.tr_spend([bytes([0x51, </a:t>
            </a:r>
            <a:r>
              <a:rPr lang="en-US" sz="1000" dirty="0">
                <a:solidFill>
                  <a:srgbClr val="FFD28A"/>
                </a:solidFill>
                <a:latin typeface="Courier New" pitchFamily="34" charset="0"/>
                <a:ea typeface="Courier New" pitchFamily="34" charset="-122"/>
                <a:cs typeface="Courier New" pitchFamily="34" charset="-120"/>
              </a:rPr>
              <a:t>152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old = L.run(</a:t>
            </a:r>
            <a:r>
              <a:rPr lang="en-US" sz="1000" dirty="0">
                <a:solidFill>
                  <a:srgbClr val="9ECBFF"/>
                </a:solidFill>
                <a:latin typeface="Courier New" pitchFamily="34" charset="0"/>
                <a:ea typeface="Courier New" pitchFamily="34" charset="-122"/>
                <a:cs typeface="Courier New" pitchFamily="34" charset="-120"/>
              </a:rPr>
              <a:t>'OP_1 OP_LSHIFT'</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'OP_1'</a:t>
            </a:r>
            <a:r>
              <a:rPr lang="en-US" sz="1000" dirty="0">
                <a:solidFill>
                  <a:srgbClr val="E6EDF3"/>
                </a:solidFill>
                <a:latin typeface="Courier New" pitchFamily="34" charset="0"/>
                <a:ea typeface="Courier New" pitchFamily="34" charset="-122"/>
                <a:cs typeface="Courier New" pitchFamily="34" charset="-120"/>
              </a:rPr>
              <a:t>, flags=())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 = [n, ok, old]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[87, 'OK', 'DISABLED_OPCODE']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In tapscript, 87 opcode values succeed on sight.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tapscript with opcode 152 succeeds at once.</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word, a disabled shift, fails in an old script.</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L, K and the chapter setup as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unknown words in tapscript and in an old script</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54480"/>
                <a:gridCol w="14173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OP_SUCCESS values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87</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Opcode 152 in tapscript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Same word, old script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DISABLED_OPCODE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Of 256 opcode values, 87 are OP_SUCCESS. The disabled shift fails in an old script with DISABLED_OPCODE.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Unknown opcodes succeed, so soft forks can give them a meaning</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58 / 61</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group of parts,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coin is locked by a script; the spender's script is the key, and the two run apart on a stack.</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Key hashes, multisignatures and script hashes lock a coin to what the spender can prove, and move the long lock to the spender.</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Lock time and sequence make a spend wait, and flow control gives one output several ways out.</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Segregated witness moves the proof out of the identifier, as a soft fork that old nodes accept.</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Taproot commits to a tree of scripts with one key, so agreement looks like a single signature.</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59 / 61</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Resources for further reading and watching; every entry is a live link in this file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 and explore</a:t>
            </a:r>
            <a:endParaRPr lang="en-US" sz="125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 white paper (PDF)</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Nakamoto's nine pages of 31 October 2008  bitcoin.org</a:t>
            </a:r>
            <a:endParaRPr lang="en-US" sz="1000" dirty="0"/>
          </a:p>
        </p:txBody>
      </p:sp>
      <p:sp>
        <p:nvSpPr>
          <p:cNvPr id="9" name="Shape 7"/>
          <p:cNvSpPr/>
          <p:nvPr/>
        </p:nvSpPr>
        <p:spPr>
          <a:xfrm>
            <a:off x="493776" y="193852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6537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Script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Every opcode with its effect and status  en.bitcoin.it</a:t>
            </a:r>
            <a:endParaRPr lang="en-US" sz="1000" dirty="0"/>
          </a:p>
        </p:txBody>
      </p:sp>
      <p:sp>
        <p:nvSpPr>
          <p:cNvPr id="11" name="Shape 9"/>
          <p:cNvSpPr/>
          <p:nvPr/>
        </p:nvSpPr>
        <p:spPr>
          <a:xfrm>
            <a:off x="493776" y="2249424"/>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17627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Optech topic: Taproot</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Summary of taproot with links to newsletters and code</a:t>
            </a:r>
            <a:endParaRPr lang="en-US" sz="1000" dirty="0"/>
          </a:p>
        </p:txBody>
      </p:sp>
      <p:sp>
        <p:nvSpPr>
          <p:cNvPr id="13" name="Shape 11"/>
          <p:cNvSpPr/>
          <p:nvPr/>
        </p:nvSpPr>
        <p:spPr>
          <a:xfrm>
            <a:off x="493776" y="2560320"/>
            <a:ext cx="82296" cy="82296"/>
          </a:xfrm>
          <a:prstGeom prst="ellipse">
            <a:avLst/>
          </a:prstGeom>
          <a:solidFill>
            <a:srgbClr val="D97A14"/>
          </a:solidFill>
          <a:ln w="12700">
            <a:solidFill>
              <a:srgbClr val="D97A14"/>
            </a:solidFill>
            <a:prstDash val="solid"/>
          </a:ln>
        </p:spPr>
      </p:sp>
      <p:sp>
        <p:nvSpPr>
          <p:cNvPr id="14" name="Text 12"/>
          <p:cNvSpPr txBox="1"/>
          <p:nvPr/>
        </p:nvSpPr>
        <p:spPr>
          <a:xfrm>
            <a:off x="658368" y="2487168"/>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Taproot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Plain description of the taproot soft fork  en.bitcoin.it</a:t>
            </a:r>
            <a:endParaRPr lang="en-US" sz="1000" dirty="0"/>
          </a:p>
        </p:txBody>
      </p:sp>
      <p:sp>
        <p:nvSpPr>
          <p:cNvPr id="15" name="Text 13"/>
          <p:cNvSpPr txBox="1"/>
          <p:nvPr/>
        </p:nvSpPr>
        <p:spPr>
          <a:xfrm>
            <a:off x="457200" y="2871216"/>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6" name="Shape 14"/>
          <p:cNvSpPr/>
          <p:nvPr/>
        </p:nvSpPr>
        <p:spPr>
          <a:xfrm>
            <a:off x="493776" y="32186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14553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66: Strict DER signatures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rule behind the July 2015 fork  bips.dev</a:t>
            </a:r>
            <a:endParaRPr lang="en-US" sz="1000" dirty="0"/>
          </a:p>
        </p:txBody>
      </p:sp>
      <p:sp>
        <p:nvSpPr>
          <p:cNvPr id="18" name="Shape 16"/>
          <p:cNvSpPr/>
          <p:nvPr/>
        </p:nvSpPr>
        <p:spPr>
          <a:xfrm>
            <a:off x="493776" y="352958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45643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BIP 141: Segregated Witness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Witness programs and how they are validated  bips.dev</a:t>
            </a:r>
            <a:endParaRPr lang="en-US" sz="1000" dirty="0"/>
          </a:p>
        </p:txBody>
      </p:sp>
      <p:sp>
        <p:nvSpPr>
          <p:cNvPr id="20" name="Shape 18"/>
          <p:cNvSpPr/>
          <p:nvPr/>
        </p:nvSpPr>
        <p:spPr>
          <a:xfrm>
            <a:off x="493776" y="3840480"/>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767328"/>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BIP 341: Taproot spending rules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Key path, script path and the commitment  bips.dev</a:t>
            </a:r>
            <a:endParaRPr lang="en-US" sz="1000" dirty="0"/>
          </a:p>
        </p:txBody>
      </p:sp>
      <p:sp>
        <p:nvSpPr>
          <p:cNvPr id="22" name="Shape 20"/>
          <p:cNvSpPr/>
          <p:nvPr/>
        </p:nvSpPr>
        <p:spPr>
          <a:xfrm>
            <a:off x="493776" y="4151376"/>
            <a:ext cx="82296" cy="82296"/>
          </a:xfrm>
          <a:prstGeom prst="ellipse">
            <a:avLst/>
          </a:prstGeom>
          <a:solidFill>
            <a:srgbClr val="D97A14"/>
          </a:solidFill>
          <a:ln w="12700">
            <a:solidFill>
              <a:srgbClr val="D97A14"/>
            </a:solidFill>
            <a:prstDash val="solid"/>
          </a:ln>
        </p:spPr>
      </p:sp>
      <p:sp>
        <p:nvSpPr>
          <p:cNvPr id="23" name="Text 21"/>
          <p:cNvSpPr txBox="1"/>
          <p:nvPr/>
        </p:nvSpPr>
        <p:spPr>
          <a:xfrm>
            <a:off x="658368" y="4078224"/>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BIP 342: Tapscript validation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script rules inside a taproot spend  bips.dev</a:t>
            </a:r>
            <a:endParaRPr lang="en-US" sz="1000" dirty="0"/>
          </a:p>
        </p:txBody>
      </p:sp>
      <p:sp>
        <p:nvSpPr>
          <p:cNvPr id="24" name="Text 22"/>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The stories</a:t>
            </a:r>
            <a:endParaRPr lang="en-US" sz="1250" dirty="0"/>
          </a:p>
        </p:txBody>
      </p:sp>
      <p:sp>
        <p:nvSpPr>
          <p:cNvPr id="25" name="Shape 23"/>
          <p:cNvSpPr/>
          <p:nvPr/>
        </p:nvSpPr>
        <p:spPr>
          <a:xfrm>
            <a:off x="4768596" y="1627632"/>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55448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script.cpp of Bitcoin 0.3.0 (source)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early script engine, as it was released</a:t>
            </a:r>
            <a:endParaRPr lang="en-US" sz="1000" dirty="0"/>
          </a:p>
        </p:txBody>
      </p:sp>
      <p:sp>
        <p:nvSpPr>
          <p:cNvPr id="27" name="Shape 25"/>
          <p:cNvSpPr/>
          <p:nvPr/>
        </p:nvSpPr>
        <p:spPr>
          <a:xfrm>
            <a:off x="4768596" y="1938528"/>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186537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CVE-2010-5141 entry (Bitcoin Wiki)</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early script bug, in the list of known vulnerabilities</a:t>
            </a:r>
            <a:endParaRPr lang="en-US" sz="1000" dirty="0"/>
          </a:p>
        </p:txBody>
      </p:sp>
      <p:sp>
        <p:nvSpPr>
          <p:cNvPr id="29" name="Shape 27"/>
          <p:cNvSpPr/>
          <p:nvPr/>
        </p:nvSpPr>
        <p:spPr>
          <a:xfrm>
            <a:off x="4768596" y="224942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176272"/>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Alert: Some Miners Generating Invalid Blocks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notice of 4 July 2015 about unvalidated blocks  bitcoin.org</a:t>
            </a:r>
            <a:endParaRPr lang="en-US" sz="1000" dirty="0"/>
          </a:p>
        </p:txBody>
      </p:sp>
      <p:sp>
        <p:nvSpPr>
          <p:cNvPr id="31" name="Text 29"/>
          <p:cNvSpPr txBox="1"/>
          <p:nvPr/>
        </p:nvSpPr>
        <p:spPr>
          <a:xfrm>
            <a:off x="4732020" y="256032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32" name="Shape 30"/>
          <p:cNvSpPr/>
          <p:nvPr/>
        </p:nvSpPr>
        <p:spPr>
          <a:xfrm>
            <a:off x="4768596" y="2907792"/>
            <a:ext cx="82296" cy="82296"/>
          </a:xfrm>
          <a:prstGeom prst="ellipse">
            <a:avLst/>
          </a:prstGeom>
          <a:solidFill>
            <a:srgbClr val="D97A14"/>
          </a:solidFill>
          <a:ln w="12700">
            <a:solidFill>
              <a:srgbClr val="D97A14"/>
            </a:solidFill>
            <a:prstDash val="solid"/>
          </a:ln>
        </p:spPr>
      </p:sp>
      <p:sp>
        <p:nvSpPr>
          <p:cNvPr id="33" name="Text 31"/>
          <p:cNvSpPr txBox="1"/>
          <p:nvPr/>
        </p:nvSpPr>
        <p:spPr>
          <a:xfrm>
            <a:off x="4933188" y="283464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Bitcoin Stack Exchange (Q&amp;A site)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Search or ask any technical question; answers are voted</a:t>
            </a:r>
            <a:endParaRPr lang="en-US" sz="1000" dirty="0"/>
          </a:p>
        </p:txBody>
      </p:sp>
      <p:sp>
        <p:nvSpPr>
          <p:cNvPr id="34" name="Shape 32"/>
          <p:cNvSpPr/>
          <p:nvPr/>
        </p:nvSpPr>
        <p:spPr>
          <a:xfrm>
            <a:off x="4768596" y="3218688"/>
            <a:ext cx="82296" cy="82296"/>
          </a:xfrm>
          <a:prstGeom prst="ellipse">
            <a:avLst/>
          </a:prstGeom>
          <a:solidFill>
            <a:srgbClr val="D97A14"/>
          </a:solidFill>
          <a:ln w="12700">
            <a:solidFill>
              <a:srgbClr val="D97A14"/>
            </a:solidFill>
            <a:prstDash val="solid"/>
          </a:ln>
        </p:spPr>
      </p:sp>
      <p:sp>
        <p:nvSpPr>
          <p:cNvPr id="35" name="Text 33"/>
          <p:cNvSpPr txBox="1"/>
          <p:nvPr/>
        </p:nvSpPr>
        <p:spPr>
          <a:xfrm>
            <a:off x="4933188" y="3145536"/>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Delving Bitcoin (forum)</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Developers discuss script and consensus changes in the open</a:t>
            </a:r>
            <a:endParaRPr lang="en-US" sz="1000" dirty="0"/>
          </a:p>
        </p:txBody>
      </p:sp>
      <p:sp>
        <p:nvSpPr>
          <p:cNvPr id="36" name="Text 34"/>
          <p:cNvSpPr txBox="1"/>
          <p:nvPr/>
        </p:nvSpPr>
        <p:spPr>
          <a:xfrm>
            <a:off x="4732020" y="352958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37" name="Shape 35"/>
          <p:cNvSpPr/>
          <p:nvPr/>
        </p:nvSpPr>
        <p:spPr>
          <a:xfrm>
            <a:off x="4768596" y="3877056"/>
            <a:ext cx="82296" cy="82296"/>
          </a:xfrm>
          <a:prstGeom prst="ellipse">
            <a:avLst/>
          </a:prstGeom>
          <a:solidFill>
            <a:srgbClr val="D97A14"/>
          </a:solidFill>
          <a:ln w="12700">
            <a:solidFill>
              <a:srgbClr val="D97A14"/>
            </a:solidFill>
            <a:prstDash val="solid"/>
          </a:ln>
        </p:spPr>
      </p:sp>
      <p:sp>
        <p:nvSpPr>
          <p:cNvPr id="38" name="Text 36"/>
          <p:cNvSpPr txBox="1"/>
          <p:nvPr/>
        </p:nvSpPr>
        <p:spPr>
          <a:xfrm>
            <a:off x="4933188" y="3803904"/>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4" invalidUrl="" action="" tgtFrame="" tooltip="" history="1" highlightClick="0" endSnd="0">
                  <a:extLst>
                    <a:ext uri="{A12FA001-AC4F-418D-AE19-62706E023703}">
                      <ahyp:hlinkClr xmlns:ahyp="http://schemas.microsoft.com/office/drawing/2018/hyperlinkcolor" val="tx"/>
                    </a:ext>
                  </a:extLst>
                </a:hlinkClick>
              </a:rPr>
              <a:t>Schnorr: Optech workshop 1.1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Bitcoin Optech's workshop on the signature scheme of chapter 7</a:t>
            </a:r>
            <a:endParaRPr lang="en-US" sz="1000" dirty="0"/>
          </a:p>
        </p:txBody>
      </p:sp>
      <p:sp>
        <p:nvSpPr>
          <p:cNvPr id="39" name="Shape 37"/>
          <p:cNvSpPr/>
          <p:nvPr/>
        </p:nvSpPr>
        <p:spPr>
          <a:xfrm>
            <a:off x="4768596" y="4187952"/>
            <a:ext cx="82296" cy="82296"/>
          </a:xfrm>
          <a:prstGeom prst="ellipse">
            <a:avLst/>
          </a:prstGeom>
          <a:solidFill>
            <a:srgbClr val="D97A14"/>
          </a:solidFill>
          <a:ln w="12700">
            <a:solidFill>
              <a:srgbClr val="D97A14"/>
            </a:solidFill>
            <a:prstDash val="solid"/>
          </a:ln>
        </p:spPr>
      </p:sp>
      <p:sp>
        <p:nvSpPr>
          <p:cNvPr id="40" name="Text 38"/>
          <p:cNvSpPr txBox="1"/>
          <p:nvPr/>
        </p:nvSpPr>
        <p:spPr>
          <a:xfrm>
            <a:off x="4933188" y="4114800"/>
            <a:ext cx="3753612" cy="29260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5" invalidUrl="" action="" tgtFrame="" tooltip="" history="1" highlightClick="0" endSnd="0">
                  <a:extLst>
                    <a:ext uri="{A12FA001-AC4F-418D-AE19-62706E023703}">
                      <ahyp:hlinkClr xmlns:ahyp="http://schemas.microsoft.com/office/drawing/2018/hyperlinkcolor" val="tx"/>
                    </a:ext>
                  </a:extLst>
                </a:hlinkClick>
              </a:rPr>
              <a:t>Tapscript: Optech workshop 2.3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Bitcoin Optech on the three small changes of tapscript</a:t>
            </a:r>
            <a:endParaRPr lang="en-US" sz="1000" dirty="0"/>
          </a:p>
        </p:txBody>
      </p:sp>
      <p:sp>
        <p:nvSpPr>
          <p:cNvPr id="41"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Run a real spend through the interpreter and match the explorer's verdict</a:t>
            </a:r>
            <a:endParaRPr lang="en-US" sz="1350" dirty="0"/>
          </a:p>
        </p:txBody>
      </p:sp>
      <p:sp>
        <p:nvSpPr>
          <p:cNvPr id="43"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60 / 61</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lock and a key decide a spend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signatures and script hashes are checked</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timelocks shape who spends, and when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segwit and taproot change</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61 / 61</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7</dc:title>
  <dc:subject>PptxGenJS Presentation</dc:subject>
  <dc:creator>Yusuf Altunel</dc:creator>
  <cp:lastModifiedBy>Yusuf Altunel</cp:lastModifiedBy>
  <cp:revision>1</cp:revision>
  <dcterms:created xsi:type="dcterms:W3CDTF">2026-10-24T10:36:12Z</dcterms:created>
  <dcterms:modified xsi:type="dcterms:W3CDTF">2026-10-24T10:36:12Z</dcterms:modified>
  <cp:version>2.1.0</cp:version>
</cp:coreProperties>
</file>