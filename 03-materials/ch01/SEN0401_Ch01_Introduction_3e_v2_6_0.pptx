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2.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Block subsidy per era of 210,000 blocks (BTC)</a:t>
            </a:r>
          </a:p>
        </c:rich>
      </c:tx>
      <c:layout/>
      <c:overlay val="0"/>
    </c:title>
    <c:autoTitleDeleted val="0"/>
    <c:plotArea>
      <c:layout/>
      <c:lineChart>
        <c:varyColors val="0"/>
        <c:ser>
          <c:idx val="0"/>
          <c:order val="0"/>
          <c:tx>
            <c:strRef>
              <c:f>Sheet1!$B$1</c:f>
              <c:strCache>
                <c:ptCount val="1"/>
                <c:pt idx="0">
                  <c:v>subsidy</c:v>
                </c:pt>
              </c:strCache>
            </c:strRef>
          </c:tx>
          <c:spPr>
            <a:solidFill>
              <a:srgbClr val="D97A14"/>
            </a:solidFill>
            <a:ln w="31750" cap="flat">
              <a:solidFill>
                <a:srgbClr val="D97A1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Sheet1!$A$2:$A$10</c:f>
              <c:multiLvlStrCache>
                <c:ptCount val="9"/>
                <c:lvl>
                  <c:pt idx="0">
                    <c:v>era 0</c:v>
                  </c:pt>
                  <c:pt idx="1">
                    <c:v>era 1</c:v>
                  </c:pt>
                  <c:pt idx="2">
                    <c:v>era 2</c:v>
                  </c:pt>
                  <c:pt idx="3">
                    <c:v>era 3</c:v>
                  </c:pt>
                  <c:pt idx="4">
                    <c:v>era 4</c:v>
                  </c:pt>
                  <c:pt idx="5">
                    <c:v>era 5</c:v>
                  </c:pt>
                  <c:pt idx="6">
                    <c:v>era 6</c:v>
                  </c:pt>
                  <c:pt idx="7">
                    <c:v>era 7</c:v>
                  </c:pt>
                  <c:pt idx="8">
                    <c:v>era 8</c:v>
                  </c:pt>
                </c:lvl>
              </c:multiLvlStrCache>
            </c:multiLvlStrRef>
          </c:cat>
          <c:val>
            <c:numRef>
              <c:f>Sheet1!$B$2:$B$10</c:f>
              <c:numCache>
                <c:formatCode>General</c:formatCode>
                <c:ptCount val="9"/>
                <c:pt idx="0">
                  <c:v>50</c:v>
                </c:pt>
                <c:pt idx="1">
                  <c:v>25</c:v>
                </c:pt>
                <c:pt idx="2">
                  <c:v>12.5</c:v>
                </c:pt>
                <c:pt idx="3">
                  <c:v>6.25</c:v>
                </c:pt>
                <c:pt idx="4">
                  <c:v>3.125</c:v>
                </c:pt>
                <c:pt idx="5">
                  <c:v>1.5625</c:v>
                </c:pt>
                <c:pt idx="6">
                  <c:v>0.78125</c:v>
                </c:pt>
                <c:pt idx="7">
                  <c:v>0.390625</c:v>
                </c:pt>
                <c:pt idx="8">
                  <c:v>0.1953125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Value of the Pizza Day 10,000 BTC (log axis)</a:t>
            </a:r>
          </a:p>
        </c:rich>
      </c:tx>
      <c:layout/>
      <c:overlay val="0"/>
    </c:title>
    <c:autoTitleDeleted val="0"/>
    <c:plotArea>
      <c:layout/>
      <c:lineChart>
        <c:varyColors val="0"/>
        <c:ser>
          <c:idx val="0"/>
          <c:order val="0"/>
          <c:tx>
            <c:strRef>
              <c:f>Sheet1!$B$1</c:f>
              <c:strCache>
                <c:ptCount val="1"/>
                <c:pt idx="0">
                  <c:v>USD value</c:v>
                </c:pt>
              </c:strCache>
            </c:strRef>
          </c:tx>
          <c:spPr>
            <a:solidFill>
              <a:srgbClr val="D97A14"/>
            </a:solidFill>
            <a:ln w="31750" cap="flat">
              <a:solidFill>
                <a:srgbClr val="D97A1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Sheet1!$A$2:$A$7</c:f>
              <c:multiLvlStrCache>
                <c:ptCount val="6"/>
                <c:lvl>
                  <c:pt idx="0">
                    <c:v>2010-05</c:v>
                  </c:pt>
                  <c:pt idx="1">
                    <c:v>2011-02</c:v>
                  </c:pt>
                  <c:pt idx="2">
                    <c:v>2013-11</c:v>
                  </c:pt>
                  <c:pt idx="3">
                    <c:v>2017-12</c:v>
                  </c:pt>
                  <c:pt idx="4">
                    <c:v>2021-11</c:v>
                  </c:pt>
                  <c:pt idx="5">
                    <c:v>2026-10</c:v>
                  </c:pt>
                </c:lvl>
              </c:multiLvlStrCache>
            </c:multiLvlStrRef>
          </c:cat>
          <c:val>
            <c:numRef>
              <c:f>Sheet1!$B$2:$B$7</c:f>
              <c:numCache>
                <c:formatCode>General</c:formatCode>
                <c:ptCount val="6"/>
                <c:pt idx="0">
                  <c:v>41</c:v>
                </c:pt>
                <c:pt idx="1">
                  <c:v>10000</c:v>
                </c:pt>
                <c:pt idx="2">
                  <c:v>10000000</c:v>
                </c:pt>
                <c:pt idx="3">
                  <c:v>196000000</c:v>
                </c:pt>
                <c:pt idx="4">
                  <c:v>690000000</c:v>
                </c:pt>
                <c:pt idx="5">
                  <c:v>854090000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logBase val="10"/>
          <c:orientation val="minMax"/>
          <c:max val="10000000000"/>
          <c:min val="10"/>
        </c:scaling>
        <c:delete val="0"/>
        <c:axPos val="l"/>
        <c:majorGridlines>
          <c:spPr>
            <a:ln w="6350" cap="flat">
              <a:solidFill>
                <a:srgbClr val="E3DACB"/>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Introduction (Antonopoulos and Harding, 2023), free under CC BY-SA 4.0. This deck follows the chapter's own concept taxonomy: 90 concepts in 6 branches, of which 42 carry a worked example. Every number, hash, address and output on these slides was executed under Python 3.14.4 by the chapter's own examples and checked against the figure the chapter corpus records; the deck is refused by its checker if any of them stops agreeing.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branches are the chapter's own: Money, Network, Wallet, Usage, Foundations, Nature. Say at the start that the order of the lecture is the order of the taxonomy, so that a student who opens the interactive page afterwards finds the same tree. Concepts are corpus-derived from the 3rd edition's chapter 1 through the Stage 1 research record; the explanations were rewritten for version 1.2.0 from the documents and files listed at the head of this module, each read for this version, with every quotation re-read from its saved copy and every number recomputed by a claim that the builder executes; the supporting concepts (the cryptographic primitives, the parts of the chain, the everyday computing terms, the two threats, the objects of a payment and the standards bodies) were added because an audit of the terms used in the explanations fo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course outcome aloud and say which part of it this chapter reaches. The chapter's objectives are the page's own and are what the question bank and the mock exam are written against. Course outcome LO-1 is recorded as a draft that the course owner has not yet approved, so present it as the direction of the course rather than as a settled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FULL TEXT: course page, chapter 1 - Money, Network, Wallet, Usage, Foundations,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(3 January 2009): The first Bitcoin block ever mined carries a piece of that morning's newspaper: 'The Times 03/Jan/2009 Chancellor on brink of second bailout for banks'. It proves the block could not have been made earlier than that headline, and at the same time records why the system was built - in the middle of a banking crisis, by someone who wanted money that needs no bailout and no bank.
SOURCE: Bitcoin genesis block coinbase text, block 0, 2009-01-03; The Times front page of 3 January 2009; https://en.wikipedia.org/wiki/Bitcoin (genesis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(3 January 2009): The first Bitcoin block ever mined carries a piece of that morning's newspaper: 'The Times 03/Jan/2009 Chancellor on brink of second bailout for banks'. It proves the block could not have been made earlier than that headline, and at the same time records why the system was built - in the middle of a banking crisis, by someone who wanted money that needs no bailout and no bank.
SOURCE: Bitcoin genesis block coinbase text, block 0, 2009-01-03; The Times front page of 3 January 2009; https://en.wikipedia.org/wiki/Bitcoin (genesis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(January 2009): Nine days after the genesis block, Satoshi Nakamoto sent 10 bitcoin to Hal Finney, a veteran cryptographer who had answered the whitepaper with curiosity instead of dismissal and famously tweeted 'Running bitcoin'. Finney had worked on PGP and had built the first reusable proof-of-work system years before Bitcoin existed - the first payment went to someone who had spent a career preparing for it.
SOURCE: Bitcoin block 170, 2009-01-12, the first bitcoin transaction (Satoshi Nakamoto to Hal Finney, 10 BTC); Hal Finney, 'Running bitcoin', twitter.com/halfin, 2009-01-10.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(1982 - 2008): Bitcoin was not a first attempt. David Chaum designed blind-signature ecash in the 1980s and his company DigiCash went bankrupt; Adam Back built Hashcash's proof-of-work in 1997 to price email spam; Wei Dai sketched b-money and Nick Szabo bit gold in 1998, both unbuilt for want of a way to agree without a leader. Satoshi's 2008 whitepaper cites them and adds the missing piece - proof-of-work as the voting weight of an open network - turning four decades of near-misses into a running system.
SOURCE: S. Nakamoto, 'Bitcoin: A Peer-to-Peer Electronic Cash System' (2008), references; A. Back, Hashcash (1997); W. Dai, b-money (1998); N. Szabo, bit gold; D. Chaum, 'Blind signatures for untraceable payments' (1982).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FULL TEXT: course page, chapter 1 -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(Yap, documented 1903): On the island of Yap, wealth was held in rai - limestone discs up to four metres wide, far too heavy to move. When a stone changed owners, the stone stayed where it lay; what changed was the community's shared memory of who owned it. One famous stone sank to the sea floor in transit, and the islanders kept trading it anyway, because everyone agreed it existed and whose it was.
SOURCE: W. H. Furness III, The Island of Stone Money (1910); Milton Friedman, 'The Island of Stone Money', Hoover Institution Working Paper E-91-3 (1991).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(c. 3000 BCE - 2009): Money keeps changing form: grain-ledger entries in Mesopotamia, the first struck coins in Lydia around 600 BCE, paper notes in Song-dynasty China, goldsmiths' receipts becoming bank money, and in 1971 the dollar's last tie to gold cut, leaving pure fiat. Cards and online banking then made most money digital - but always as entries in some institution's private ledger. Cryptocurrency is the next step on the same road: money that is only a ledger, but a public one no single institution keeps.
SOURCE: Standard monetary history: Lydian electrum coinage (c. 7th-6th century BCE); Song-dynasty jiaozi paper money; the 1971 Nixon gold-convertibility suspension; Mastering Bitcoin 3e, ch. 1, on bitcoin as digital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(c. 3000 BCE - 2009): Money keeps changing form: grain-ledger entries in Mesopotamia, the first struck coins in Lydia around 600 BCE, paper notes in Song-dynasty China, goldsmiths' receipts becoming bank money, and in 1971 the dollar's last tie to gold cut, leaving pure fiat. Cards and online banking then made most money digital - but always as entries in some institution's private ledger. Cryptocurrency is the next step on the same road: money that is only a ledger, but a public one no single institution keeps.
SOURCE: Standard monetary history: Lydian electrum coinage (c. 7th-6th century BCE); Song-dynasty jiaozi paper money; the 1971 Nixon gold-convertibility suspension; Mastering Bitcoin 3e, ch. 1, on bitcoin as digital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ASK: Which of these failures did cards fix - and at what new price?
FULL TEXT: course page, chapter 1 -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double-spend is the act of spending the same unit of digital money more than once. The chapter lists it as the second of three basic questions for anyone accepting digital money: can I trust that the digital money can only be spent once (Antonopoulos and Harding, 2023).
ASK: Why does the same problem not exist for paper cash?
FULL TEXT: course page, chapter 1 - DoubleSpend.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double-spend is the act of spending the same unit of digital money more than once. The chapter lists it as the second of three basic questions for anyone accepting digital money: can I trust that the digital money can only be spent once (Antonopoulos and Harding, 2023).
ASK: What stops the network agreeing on the WRONG order? (chapter 12 answers)
FULL TEXT: course page, chapter 1 - DoubleSpend,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Unit section answers the first question that any money raises, namely what the money is called and in what pieces it is counted. It contains the name of the currency, with its distinction between the unit and the system, and the smallest subdivision that can be recorded, the satoshi.
ASK: How many satoshis buy a coffee at today's price?
FULL TEXT: course page, chapter 1 -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Supply section is about how much bitcoin exists and how the amount grows. The chapter says that the protocol periodically decreases the number of new bitcoins that are created, limiting the total to a fixed number just below 21 million, so that the number in circulation follows a predictable curve (Antonopoulos and Harding, 2023).
ASK: Why does the sum stop just short of 21 million?
FULL TEXT: course page, chapter 1 - Supply, Issuance.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Supply section is about how much bitcoin exists and how the amount grows. The chapter says that the protocol periodically decreases the number of new bitcoins that are created, limiting the total to a fixed number just below 21 million, so that the number in circulation follows a predictable curve (Antonopoulos and Harding, 2023).
FULL TEXT: course page, chapter 1 - Supply, Issuance.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Price section addresses a question that every newcomer asks, namely who sets the price of bitcoin. The chapter's short answer is that the price is set by markets (Antonopoulos and Harding, 2023).
FULL TEXT: course page, chapter 1 -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(22 May 2010): For Bitcoin's first year and a half, nobody knew what a bitcoin was worth, because nobody had ever bought anything with one. Then Laszlo Hanyecz, a Florida programmer, offered 10,000 BTC on a forum to anyone who would bring him two pizzas - and someone did. That order, the first known commercial purchase paid in bitcoin, is why 22 May is still celebrated as Bitcoin Pizza Day: it is the day a floating price began to exist.
SOURCE: Guinness World Records, 'First commercial Bitcoin transaction' (Laszlo Hanyecz, 2010-05-22, 10,000 BTC for two pizzas); bitcointalk.org thread 'Pizza for bitcoins?', May 2010.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 point is a documented milestone - dollar parity in 2011, the first thousand in 2013, the 2017 and 2021 peaks - and the last one was fetched live from mempool.space and CoinGecko while this deck was built, agreeing within 0.1 percent.
ASK: Why does this chart need a log scale - what would it look like linear?
FULL TEXT: course page, chapter 1 - Price; story companion, PIZZA_VALUE.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FULL TEXT: course page, chapter 1 -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ASK: What breaks first in each picture if one machine lies?
FULL TEXT: course page, chapter 1 - Network,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FULL TEXT: course page, chapter 1 -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Consensus is the state in which the participants of the network agree on the same record of transactions.
FULL TEXT: course page, chapter 1 -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Consensus is the state in which the participants of the network agree on the same record of transactions.
FULL TEXT: course page, chapter 1 - Consensus,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wallet is the software through which a person uses Bitcoin. The chapter calls the Bitcoin wallet the most common user interface to the Bitcoin system, just as a web browser is the most common user interface for the protocol of the web, and the glossary of the book describes it as software that holds your Bitcoin addresses and secret keys and lets you send, receive and store your bitcoin (Antonopoulos and Harding, 2023).
FULL TEXT: course page, chapter 1 - Wallet, 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wallet is the software through which a person uses Bitcoin. The chapter calls the Bitcoin wallet the most common user interface to the Bitcoin system, just as a web browser is the most common user interface for the protocol of the web, and the glossary of the book describes it as software that holds your Bitcoin addresses and secret keys and lets you send, receive and store your bitcoin (Antonopoulos and Harding, 2023).
FULL TEXT: course page, chapter 1 -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Key control is the question of who holds the private keys that unlock a wallet's funds. The chapter calls this a very important additional consideration and says that access to bitcoins is controlled by private keys, which are like very long PINs.
ASK: Your house has a registry if the key is lost - what does bitcoin have?
FULL TEXT: course page, chapter 1 - KeyControl.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Key control is the question of who holds the private keys that unlock a wallet's funds. The chapter calls this a very important additional consideration and says that access to bitcoins is controlled by private keys, which are like very long PINs.
ASK: Which side was the exchange that lost its customers' coins on?
FULL TEXT: course page, chapter 1 - KeyControl, WalletPlatform,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(February 2014): Mt. Gox of Tokyo, led by Mark Karpeles, was once the world's largest bitcoin exchange, handling the large majority of all trades. In February 2014 it halted withdrawals, filed for bankruptcy and admitted that around 850,000 bitcoins held on customers' behalf were gone - the customers had balances on a website, but the keys, and therefore the coins, had been in someone else's hands all along. Creditors were still being repaid more than a decade later.
SOURCE: Mt. Gox bankruptcy filing, Tokyo District Court, 2014-02-28, reporting approximately 850,000 BTC missing (about 750,000 of them customers'); widely reported, e.g. en.wikipedia.org/wiki/Mt._Gox.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Backup section is about getting a wallet back after something goes wrong. It begins with the chapter's account of Alice's first start-up, when her noncustodial wallet produces a recovery code that can be used to restore it, and it goes on to the additional data that a recovery code does not contain, and to the payments that some technologies keep outside the public blockchain (Antonopoulos and Harding, 2023).
FULL TEXT: course page, chapter 1 - Backup, KeyControl.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Acquisition section lists the ways in which a newcomer obtains a first bitcoin, which is the practical problem a reader faces as soon as the wallet is installed.
FULL TEXT: course page, chapter 1 - Acquisition, Address, Transfer.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Foundations branch collects the general technical ideas that the rest of the chapter takes for granted. Chapter 1 of the textbook introduces Bitcoin through a story about Alice and Joe, and in doing so it uses words such as digital signature, private key, blockchain, node, protocol and QR code as if every reader already knew them (Antonopoulos and Harding, 2023).
FULL TEXT: course page, chapter 1 - Foundations.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Foundations branch collects the general technical ideas that the rest of the chapter takes for granted. Chapter 1 of the textbook introduces Bitcoin through a story about Alice and Joe, and in doing so it uses words such as digital signature, private key, blockchain, node, protocol and QR code as if every reader already knew them (Antonopoulos and Harding, 2023).
FULL TEXT: course page, chapter 1 - Foundations, Cryptography.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Chain section explains the data structure at the centre of Bitcoin and the computers that maintain it. The block is a group of transactions that the network accepts together, the blockchain is the list of blocks linked one to the next, the timestamp is the mark of time that orders them, and the node is a computer that takes part in the network.
FULL TEXT: course page, chapter 1 - Chain, Cryptography.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Chain section explains the data structure at the centre of Bitcoin and the computers that maintain it. The block is a group of transactions that the network accepts together, the blockchain is the list of blocks linked one to the next, the timestamp is the mark of time that orders them, and the node is a computer that takes part in the network.
FULL TEXT: course page, chapter 1 -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Computing section explains the ordinary technology on which Bitcoin software runs and by which people reach it. It covers the internet and the rules that computers follow on it, the way programs talk to each other through interfaces, the way data is named and stored, the operating systems and browsers in which wallets live, and the units in which computers count.
FULL TEXT: course page, chapter 1 - Computing, Threats.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Nature branch answers a question that precedes all the others: what kind of thing is Bitcoin? Chapter 1 gives two complementary answers.
FULL TEXT: course page, chapter 1 - Nature, Characteristic,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Transfer section explains what happens when Joe sends bitcoin to Alice. It follows the payment from the moment he presses Send to the moment it is confirmed in a block, and it introduces the objects and ideas involved: the transaction, its inputs and outputs, the fee, the confirmation, the irreversibility, and the newer payments that never reach the public chain (Antonopoulos and Harding, 2023).
FULL TEXT: course page, chapter 1 - Transfer, SemanticBridge.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Everything on this slide is free. The whitepaper is nine pages - read it this week; the textbook is the one this course follows, free under CC BY-SA in the same repository our materials pin.
ASK: Who can find today's newest block on mempool.space before the break ends?
FULL TEXT: course page, chapter 1 - Standards,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Introduction (Antonopoulos and Harding, 2023), free under CC BY-SA 4.0. This deck follows the chapter's own concept taxonomy: 90 concepts in 6 branches, of which 42 carry a worked example. Every number, hash, address and output on these slides was executed under Python 3.14.4 by the chapter's own examples and checked against the figure the chapter corpus records; the deck is refused by its checker if any of them stops agreeing.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blockstream.info/block-height/0" TargetMode="External"/><Relationship Id="rId1"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blockstream.info/block-height/170" TargetMode="External"/><Relationship Id="rId1" Type="http://schemas.openxmlformats.org/officeDocument/2006/relationships/image" Target="../media/image-7-1.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en.wikipedia.org/wiki/Rai_stones" TargetMode="External"/><Relationship Id="rId1" Type="http://schemas.openxmlformats.org/officeDocument/2006/relationships/image" Target="../media/image-10-1.jp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3" Type="http://schemas.openxmlformats.org/officeDocument/2006/relationships/hyperlink" Target="https://en.wikipedia.org/wiki/History_of_money" TargetMode="External"/><Relationship Id="rId1" Type="http://schemas.openxmlformats.org/officeDocument/2006/relationships/image" Target="../media/image-11-1.jpg"/><Relationship Id="rId2" Type="http://schemas.openxmlformats.org/officeDocument/2006/relationships/image" Target="../media/image-11-2.jp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2" Type="http://schemas.openxmlformats.org/officeDocument/2006/relationships/hyperlink" Target="https://www.guinnessworldrecords.com/world-records/696240-first-commercial-bitcoin-transaction" TargetMode="External"/><Relationship Id="rId1" Type="http://schemas.openxmlformats.org/officeDocument/2006/relationships/image" Target="../media/image-20-1.jp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s://en.wikipedia.org/wiki/Mt._Gox" TargetMode="Externa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hyperlink" Target="https://github.com/bitcoinbook/bitcoinbook" TargetMode="External"/><Relationship Id="rId3" Type="http://schemas.openxmlformats.org/officeDocument/2006/relationships/hyperlink" Target="https://developer.bitcoin.org" TargetMode="External"/><Relationship Id="rId4" Type="http://schemas.openxmlformats.org/officeDocument/2006/relationships/hyperlink" Target="https://bitcoincore.org" TargetMode="External"/><Relationship Id="rId5" Type="http://schemas.openxmlformats.org/officeDocument/2006/relationships/hyperlink" Target="https://mempool.space" TargetMode="External"/><Relationship Id="rId6" Type="http://schemas.openxmlformats.org/officeDocument/2006/relationships/hyperlink" Target="https://blockstream.info" TargetMode="External"/><Relationship Id="rId7" Type="http://schemas.openxmlformats.org/officeDocument/2006/relationships/hyperlink" Target="https://www.coingecko.com" TargetMode="External"/><Relationship Id="rId8" Type="http://schemas.openxmlformats.org/officeDocument/2006/relationships/hyperlink" Target="https://bitcoin.stackexchange.com" TargetMode="External"/><Relationship Id="rId9" Type="http://schemas.openxmlformats.org/officeDocument/2006/relationships/hyperlink" Target="https://bitcointalk.org" TargetMode="External"/><Relationship Id="rId10" Type="http://schemas.openxmlformats.org/officeDocument/2006/relationships/hyperlink" Target="http://www.hashcash.org" TargetMode="External"/><Relationship Id="rId11" Type="http://schemas.openxmlformats.org/officeDocument/2006/relationships/hyperlink" Target="http://www.weidai.com/bmoney.txt" TargetMode="External"/><Relationship Id="rId12" Type="http://schemas.openxmlformats.org/officeDocument/2006/relationships/hyperlink" Target="https://www.youtube.com/watch?v=bBC-nXj3Ng4" TargetMode="External"/><Relationship Id="rId13" Type="http://schemas.openxmlformats.org/officeDocument/2006/relationships/slideLayout" Target="../slideLayouts/slideLayout1.xml"/><Relationship Id="rId1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 Introduction</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What Bitcoin is, what it is made of, and why every part of it exists</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1/assets/c1s24_protocol.png">    </p:cNvPr>
          <p:cNvPicPr>
            <a:picLocks noChangeAspect="1"/>
          </p:cNvPicPr>
          <p:nvPr/>
        </p:nvPicPr>
        <p:blipFill>
          <a:blip r:embed="rId1"/>
          <a:srcRect l="0" r="0" t="0" b="0"/>
          <a:stretch/>
        </p:blipFill>
        <p:spPr>
          <a:xfrm>
            <a:off x="5760720" y="1051560"/>
            <a:ext cx="3017520" cy="2377440"/>
          </a:xfrm>
          <a:prstGeom prst="rect">
            <a:avLst/>
          </a:prstGeom>
        </p:spPr>
      </p:pic>
      <p:sp>
        <p:nvSpPr>
          <p:cNvPr id="12" name="Text 9"/>
          <p:cNvSpPr txBox="1"/>
          <p:nvPr/>
        </p:nvSpPr>
        <p:spPr>
          <a:xfrm>
            <a:off x="5760720" y="3447288"/>
            <a:ext cx="30175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from the owner's 2025 deck</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outcomes this session serves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course outcome, in the chapter's own parts</a:t>
            </a:r>
            <a:endParaRPr lang="en-US" sz="1300" dirty="0"/>
          </a:p>
        </p:txBody>
      </p:sp>
      <p:sp>
        <p:nvSpPr>
          <p:cNvPr id="6" name="Shape 4"/>
          <p:cNvSpPr/>
          <p:nvPr/>
        </p:nvSpPr>
        <p:spPr>
          <a:xfrm>
            <a:off x="457200" y="1371600"/>
            <a:ext cx="2590800" cy="1371600"/>
          </a:xfrm>
          <a:prstGeom prst="roundRect">
            <a:avLst>
              <a:gd name="adj" fmla="val 5333"/>
            </a:avLst>
          </a:prstGeom>
          <a:solidFill>
            <a:srgbClr val="F2ECE1"/>
          </a:solidFill>
          <a:ln w="12700">
            <a:solidFill>
              <a:srgbClr val="DFD6C7"/>
            </a:solidFill>
            <a:prstDash val="solid"/>
          </a:ln>
        </p:spPr>
      </p:sp>
      <p:sp>
        <p:nvSpPr>
          <p:cNvPr id="7" name="Text 5"/>
          <p:cNvSpPr txBox="1"/>
          <p:nvPr/>
        </p:nvSpPr>
        <p:spPr>
          <a:xfrm>
            <a:off x="566928" y="1444752"/>
            <a:ext cx="2371344" cy="6858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LO-1</a:t>
            </a:r>
            <a:endParaRPr lang="en-US" sz="2800" dirty="0"/>
          </a:p>
        </p:txBody>
      </p:sp>
      <p:sp>
        <p:nvSpPr>
          <p:cNvPr id="8" name="Text 6"/>
          <p:cNvSpPr txBox="1"/>
          <p:nvPr/>
        </p:nvSpPr>
        <p:spPr>
          <a:xfrm>
            <a:off x="5669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explain Bitcoin as money and as a system</a:t>
            </a:r>
            <a:endParaRPr lang="en-US" sz="1150" dirty="0"/>
          </a:p>
        </p:txBody>
      </p:sp>
      <p:sp>
        <p:nvSpPr>
          <p:cNvPr id="9" name="Shape 7"/>
          <p:cNvSpPr/>
          <p:nvPr/>
        </p:nvSpPr>
        <p:spPr>
          <a:xfrm>
            <a:off x="3276600" y="1371600"/>
            <a:ext cx="2590800" cy="1371600"/>
          </a:xfrm>
          <a:prstGeom prst="roundRect">
            <a:avLst>
              <a:gd name="adj" fmla="val 5333"/>
            </a:avLst>
          </a:prstGeom>
          <a:solidFill>
            <a:srgbClr val="F2ECE1"/>
          </a:solidFill>
          <a:ln w="12700">
            <a:solidFill>
              <a:srgbClr val="DFD6C7"/>
            </a:solidFill>
            <a:prstDash val="solid"/>
          </a:ln>
        </p:spPr>
      </p:sp>
      <p:sp>
        <p:nvSpPr>
          <p:cNvPr id="10" name="Text 8"/>
          <p:cNvSpPr txBox="1"/>
          <p:nvPr/>
        </p:nvSpPr>
        <p:spPr>
          <a:xfrm>
            <a:off x="3386328" y="1444752"/>
            <a:ext cx="2371344" cy="6858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6</a:t>
            </a:r>
            <a:endParaRPr lang="en-US" sz="2800" dirty="0"/>
          </a:p>
        </p:txBody>
      </p:sp>
      <p:sp>
        <p:nvSpPr>
          <p:cNvPr id="11" name="Text 9"/>
          <p:cNvSpPr txBox="1"/>
          <p:nvPr/>
        </p:nvSpPr>
        <p:spPr>
          <a:xfrm>
            <a:off x="33863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subject branches in this chapter</a:t>
            </a:r>
            <a:endParaRPr lang="en-US" sz="1150" dirty="0"/>
          </a:p>
        </p:txBody>
      </p:sp>
      <p:sp>
        <p:nvSpPr>
          <p:cNvPr id="12" name="Shape 10"/>
          <p:cNvSpPr/>
          <p:nvPr/>
        </p:nvSpPr>
        <p:spPr>
          <a:xfrm>
            <a:off x="6096000" y="1371600"/>
            <a:ext cx="2590800" cy="1371600"/>
          </a:xfrm>
          <a:prstGeom prst="roundRect">
            <a:avLst>
              <a:gd name="adj" fmla="val 5333"/>
            </a:avLst>
          </a:prstGeom>
          <a:solidFill>
            <a:srgbClr val="F2ECE1"/>
          </a:solidFill>
          <a:ln w="12700">
            <a:solidFill>
              <a:srgbClr val="DFD6C7"/>
            </a:solidFill>
            <a:prstDash val="solid"/>
          </a:ln>
        </p:spPr>
      </p:sp>
      <p:sp>
        <p:nvSpPr>
          <p:cNvPr id="13" name="Text 11"/>
          <p:cNvSpPr txBox="1"/>
          <p:nvPr/>
        </p:nvSpPr>
        <p:spPr>
          <a:xfrm>
            <a:off x="6205728" y="1444752"/>
            <a:ext cx="2371344" cy="6858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117</a:t>
            </a:r>
            <a:endParaRPr lang="en-US" sz="2800" dirty="0"/>
          </a:p>
        </p:txBody>
      </p:sp>
      <p:sp>
        <p:nvSpPr>
          <p:cNvPr id="14" name="Text 12"/>
          <p:cNvSpPr txBox="1"/>
          <p:nvPr/>
        </p:nvSpPr>
        <p:spPr>
          <a:xfrm>
            <a:off x="62057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concepts, every one on the course page</a:t>
            </a:r>
            <a:endParaRPr lang="en-US" sz="1150" dirty="0"/>
          </a:p>
        </p:txBody>
      </p:sp>
      <p:sp>
        <p:nvSpPr>
          <p:cNvPr id="15" name="Text 13"/>
          <p:cNvSpPr txBox="1"/>
          <p:nvPr/>
        </p:nvSpPr>
        <p:spPr>
          <a:xfrm>
            <a:off x="457200" y="2971800"/>
            <a:ext cx="8229600" cy="15544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History, units and the supply schedule</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The parts: keys, addresses, transactions, blocks, nodes, mining</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The problems each part was designed to solve</a:t>
            </a:r>
            <a:endParaRPr lang="en-US" sz="15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outcome, one chapter, every concept on the page</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42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2710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271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34440"/>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is the unit of Bitcoin's currency?</a:t>
            </a:r>
            <a:endParaRPr lang="en-US" sz="1250" dirty="0"/>
          </a:p>
        </p:txBody>
      </p:sp>
      <p:sp>
        <p:nvSpPr>
          <p:cNvPr id="9" name="Shape 7"/>
          <p:cNvSpPr/>
          <p:nvPr/>
        </p:nvSpPr>
        <p:spPr>
          <a:xfrm>
            <a:off x="457200" y="1754342"/>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5434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17766"/>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Who creates new bitcoin?</a:t>
            </a:r>
            <a:endParaRPr lang="en-US" sz="1250" dirty="0"/>
          </a:p>
        </p:txBody>
      </p:sp>
      <p:sp>
        <p:nvSpPr>
          <p:cNvPr id="12" name="Shape 10"/>
          <p:cNvSpPr/>
          <p:nvPr/>
        </p:nvSpPr>
        <p:spPr>
          <a:xfrm>
            <a:off x="457200" y="2237667"/>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766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201091"/>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problem of earlier digital money does Bitcoin solve?</a:t>
            </a:r>
            <a:endParaRPr lang="en-US" sz="1250" dirty="0"/>
          </a:p>
        </p:txBody>
      </p:sp>
      <p:sp>
        <p:nvSpPr>
          <p:cNvPr id="15" name="Shape 13"/>
          <p:cNvSpPr/>
          <p:nvPr/>
        </p:nvSpPr>
        <p:spPr>
          <a:xfrm>
            <a:off x="457200" y="2720993"/>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72099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84417"/>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can a wallet be classified by platform?</a:t>
            </a:r>
            <a:endParaRPr lang="en-US" sz="1250" dirty="0"/>
          </a:p>
        </p:txBody>
      </p:sp>
      <p:sp>
        <p:nvSpPr>
          <p:cNvPr id="18" name="Shape 16"/>
          <p:cNvSpPr/>
          <p:nvPr/>
        </p:nvSpPr>
        <p:spPr>
          <a:xfrm>
            <a:off x="457200" y="3204319"/>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20431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67743"/>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happens?</a:t>
            </a:r>
            <a:endParaRPr lang="en-US" sz="1250" dirty="0"/>
          </a:p>
        </p:txBody>
      </p:sp>
      <p:sp>
        <p:nvSpPr>
          <p:cNvPr id="21" name="Shape 19"/>
          <p:cNvSpPr/>
          <p:nvPr/>
        </p:nvSpPr>
        <p:spPr>
          <a:xfrm>
            <a:off x="457200" y="3687645"/>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8764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651069"/>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technical terms does the chapter use without defining them?</a:t>
            </a:r>
            <a:endParaRPr lang="en-US" sz="1250" dirty="0"/>
          </a:p>
        </p:txBody>
      </p:sp>
      <p:sp>
        <p:nvSpPr>
          <p:cNvPr id="24" name="Shape 22"/>
          <p:cNvSpPr/>
          <p:nvPr/>
        </p:nvSpPr>
        <p:spPr>
          <a:xfrm>
            <a:off x="457200" y="4170970"/>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17097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134394"/>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figures of the chapter are rules of the protocol and which are values at a date?</a:t>
            </a:r>
            <a:endParaRPr lang="en-US" sz="125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1 is yours</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42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six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Each branch is a question the chapter answers; the grey lists are the concepts that answer it, every one explained on the course page.</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Chapter 1</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Money</a:t>
            </a:r>
            <a:endParaRPr lang="en-US" sz="130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Unit  ·  Supply  ·  Price  ·  Issuance</a:t>
            </a:r>
            <a:endParaRPr lang="en-US" sz="1200" dirty="0"/>
          </a:p>
        </p:txBody>
      </p:sp>
      <p:sp>
        <p:nvSpPr>
          <p:cNvPr id="15" name="Shape 13"/>
          <p:cNvSpPr/>
          <p:nvPr/>
        </p:nvSpPr>
        <p:spPr>
          <a:xfrm flipV="1">
            <a:off x="1783080" y="2227478"/>
            <a:ext cx="502920" cy="762610"/>
          </a:xfrm>
          <a:prstGeom prst="line">
            <a:avLst/>
          </a:prstGeom>
          <a:noFill/>
          <a:ln w="13970">
            <a:solidFill>
              <a:srgbClr val="C9BFAE"/>
            </a:solidFill>
            <a:prstDash val="solid"/>
          </a:ln>
        </p:spPr>
      </p:sp>
      <p:sp>
        <p:nvSpPr>
          <p:cNvPr id="16" name="Shape 14"/>
          <p:cNvSpPr/>
          <p:nvPr/>
        </p:nvSpPr>
        <p:spPr>
          <a:xfrm>
            <a:off x="2331720" y="1989734"/>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198973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Network</a:t>
            </a:r>
            <a:endParaRPr lang="en-US" sz="1300" dirty="0"/>
          </a:p>
        </p:txBody>
      </p:sp>
      <p:sp>
        <p:nvSpPr>
          <p:cNvPr id="18" name="Shape 16"/>
          <p:cNvSpPr/>
          <p:nvPr/>
        </p:nvSpPr>
        <p:spPr>
          <a:xfrm>
            <a:off x="4023360" y="2227478"/>
            <a:ext cx="274320" cy="0"/>
          </a:xfrm>
          <a:prstGeom prst="line">
            <a:avLst/>
          </a:prstGeom>
          <a:noFill/>
          <a:ln w="13970">
            <a:solidFill>
              <a:srgbClr val="C9BFAE"/>
            </a:solidFill>
            <a:prstDash val="solid"/>
          </a:ln>
        </p:spPr>
      </p:sp>
      <p:sp>
        <p:nvSpPr>
          <p:cNvPr id="19" name="Shape 17"/>
          <p:cNvSpPr/>
          <p:nvPr/>
        </p:nvSpPr>
        <p:spPr>
          <a:xfrm>
            <a:off x="4297680" y="2008022"/>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00802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Consensus  ·  History  ·  Standards</a:t>
            </a:r>
            <a:endParaRPr lang="en-US" sz="1200" dirty="0"/>
          </a:p>
        </p:txBody>
      </p:sp>
      <p:sp>
        <p:nvSpPr>
          <p:cNvPr id="21" name="Shape 19"/>
          <p:cNvSpPr/>
          <p:nvPr/>
        </p:nvSpPr>
        <p:spPr>
          <a:xfrm flipV="1">
            <a:off x="1783080" y="2735885"/>
            <a:ext cx="502920" cy="254203"/>
          </a:xfrm>
          <a:prstGeom prst="line">
            <a:avLst/>
          </a:prstGeom>
          <a:noFill/>
          <a:ln w="13970">
            <a:solidFill>
              <a:srgbClr val="C9BFAE"/>
            </a:solidFill>
            <a:prstDash val="solid"/>
          </a:ln>
        </p:spPr>
      </p:sp>
      <p:sp>
        <p:nvSpPr>
          <p:cNvPr id="22" name="Shape 20"/>
          <p:cNvSpPr/>
          <p:nvPr/>
        </p:nvSpPr>
        <p:spPr>
          <a:xfrm>
            <a:off x="2331720" y="2498141"/>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2498141"/>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Wallet</a:t>
            </a:r>
            <a:endParaRPr lang="en-US" sz="1300" dirty="0"/>
          </a:p>
        </p:txBody>
      </p:sp>
      <p:sp>
        <p:nvSpPr>
          <p:cNvPr id="24" name="Shape 22"/>
          <p:cNvSpPr/>
          <p:nvPr/>
        </p:nvSpPr>
        <p:spPr>
          <a:xfrm>
            <a:off x="4023360" y="2735885"/>
            <a:ext cx="274320" cy="0"/>
          </a:xfrm>
          <a:prstGeom prst="line">
            <a:avLst/>
          </a:prstGeom>
          <a:noFill/>
          <a:ln w="13970">
            <a:solidFill>
              <a:srgbClr val="C9BFAE"/>
            </a:solidFill>
            <a:prstDash val="solid"/>
          </a:ln>
        </p:spPr>
      </p:sp>
      <p:sp>
        <p:nvSpPr>
          <p:cNvPr id="25" name="Shape 23"/>
          <p:cNvSpPr/>
          <p:nvPr/>
        </p:nvSpPr>
        <p:spPr>
          <a:xfrm>
            <a:off x="4297680" y="2516429"/>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2516429"/>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Wallet Platform  ·  Node Type  ·  Key Control  ·  Backup</a:t>
            </a:r>
            <a:endParaRPr lang="en-US" sz="1200" dirty="0"/>
          </a:p>
        </p:txBody>
      </p:sp>
      <p:sp>
        <p:nvSpPr>
          <p:cNvPr id="27" name="Shape 25"/>
          <p:cNvSpPr/>
          <p:nvPr/>
        </p:nvSpPr>
        <p:spPr>
          <a:xfrm>
            <a:off x="1783080" y="2990088"/>
            <a:ext cx="502920" cy="254203"/>
          </a:xfrm>
          <a:prstGeom prst="line">
            <a:avLst/>
          </a:prstGeom>
          <a:noFill/>
          <a:ln w="13970">
            <a:solidFill>
              <a:srgbClr val="C9BFAE"/>
            </a:solidFill>
            <a:prstDash val="solid"/>
          </a:ln>
        </p:spPr>
      </p:sp>
      <p:sp>
        <p:nvSpPr>
          <p:cNvPr id="28" name="Shape 26"/>
          <p:cNvSpPr/>
          <p:nvPr/>
        </p:nvSpPr>
        <p:spPr>
          <a:xfrm>
            <a:off x="2331720" y="3006547"/>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3006547"/>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Usage</a:t>
            </a:r>
            <a:endParaRPr lang="en-US" sz="1300" dirty="0"/>
          </a:p>
        </p:txBody>
      </p:sp>
      <p:sp>
        <p:nvSpPr>
          <p:cNvPr id="30" name="Shape 28"/>
          <p:cNvSpPr/>
          <p:nvPr/>
        </p:nvSpPr>
        <p:spPr>
          <a:xfrm>
            <a:off x="4023360" y="3244291"/>
            <a:ext cx="274320" cy="0"/>
          </a:xfrm>
          <a:prstGeom prst="line">
            <a:avLst/>
          </a:prstGeom>
          <a:noFill/>
          <a:ln w="13970">
            <a:solidFill>
              <a:srgbClr val="C9BFAE"/>
            </a:solidFill>
            <a:prstDash val="solid"/>
          </a:ln>
        </p:spPr>
      </p:sp>
      <p:sp>
        <p:nvSpPr>
          <p:cNvPr id="31" name="Shape 29"/>
          <p:cNvSpPr/>
          <p:nvPr/>
        </p:nvSpPr>
        <p:spPr>
          <a:xfrm>
            <a:off x="4297680" y="3024835"/>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3024835"/>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Address  ·  Transfer  ·  Semantic Bridge  ·  Acquisition</a:t>
            </a:r>
            <a:endParaRPr lang="en-US" sz="1200" dirty="0"/>
          </a:p>
        </p:txBody>
      </p:sp>
      <p:sp>
        <p:nvSpPr>
          <p:cNvPr id="33" name="Shape 31"/>
          <p:cNvSpPr/>
          <p:nvPr/>
        </p:nvSpPr>
        <p:spPr>
          <a:xfrm>
            <a:off x="1783080" y="2990088"/>
            <a:ext cx="502920" cy="762610"/>
          </a:xfrm>
          <a:prstGeom prst="line">
            <a:avLst/>
          </a:prstGeom>
          <a:noFill/>
          <a:ln w="13970">
            <a:solidFill>
              <a:srgbClr val="C9BFAE"/>
            </a:solidFill>
            <a:prstDash val="solid"/>
          </a:ln>
        </p:spPr>
      </p:sp>
      <p:sp>
        <p:nvSpPr>
          <p:cNvPr id="34" name="Shape 32"/>
          <p:cNvSpPr/>
          <p:nvPr/>
        </p:nvSpPr>
        <p:spPr>
          <a:xfrm>
            <a:off x="2331720" y="3514954"/>
            <a:ext cx="1691640" cy="475488"/>
          </a:xfrm>
          <a:prstGeom prst="roundRect">
            <a:avLst>
              <a:gd name="adj" fmla="val 15385"/>
            </a:avLst>
          </a:prstGeom>
          <a:solidFill>
            <a:srgbClr val="2F6D62"/>
          </a:solidFill>
          <a:ln w="9525">
            <a:solidFill>
              <a:srgbClr val="2F6D62"/>
            </a:solidFill>
            <a:prstDash val="solid"/>
          </a:ln>
        </p:spPr>
      </p:sp>
      <p:sp>
        <p:nvSpPr>
          <p:cNvPr id="35" name="Text 33"/>
          <p:cNvSpPr txBox="1"/>
          <p:nvPr/>
        </p:nvSpPr>
        <p:spPr>
          <a:xfrm>
            <a:off x="2386584" y="351495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Foundations</a:t>
            </a:r>
            <a:endParaRPr lang="en-US" sz="1300" dirty="0"/>
          </a:p>
        </p:txBody>
      </p:sp>
      <p:sp>
        <p:nvSpPr>
          <p:cNvPr id="36" name="Shape 34"/>
          <p:cNvSpPr/>
          <p:nvPr/>
        </p:nvSpPr>
        <p:spPr>
          <a:xfrm>
            <a:off x="4023360" y="3752698"/>
            <a:ext cx="274320" cy="0"/>
          </a:xfrm>
          <a:prstGeom prst="line">
            <a:avLst/>
          </a:prstGeom>
          <a:noFill/>
          <a:ln w="13970">
            <a:solidFill>
              <a:srgbClr val="C9BFAE"/>
            </a:solidFill>
            <a:prstDash val="solid"/>
          </a:ln>
        </p:spPr>
      </p:sp>
      <p:sp>
        <p:nvSpPr>
          <p:cNvPr id="37" name="Shape 35"/>
          <p:cNvSpPr/>
          <p:nvPr/>
        </p:nvSpPr>
        <p:spPr>
          <a:xfrm>
            <a:off x="4297680" y="3533242"/>
            <a:ext cx="4480560" cy="438912"/>
          </a:xfrm>
          <a:prstGeom prst="roundRect">
            <a:avLst>
              <a:gd name="adj" fmla="val 12500"/>
            </a:avLst>
          </a:prstGeom>
          <a:solidFill>
            <a:srgbClr val="F2ECE1"/>
          </a:solidFill>
          <a:ln w="6350">
            <a:solidFill>
              <a:srgbClr val="DFD6C7"/>
            </a:solidFill>
            <a:prstDash val="solid"/>
          </a:ln>
        </p:spPr>
      </p:sp>
      <p:sp>
        <p:nvSpPr>
          <p:cNvPr id="38" name="Text 36"/>
          <p:cNvSpPr txBox="1"/>
          <p:nvPr/>
        </p:nvSpPr>
        <p:spPr>
          <a:xfrm>
            <a:off x="4407408" y="353324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Cryptography  ·  Chain  ·  Computing  ·  Threats</a:t>
            </a:r>
            <a:endParaRPr lang="en-US" sz="1200" dirty="0"/>
          </a:p>
        </p:txBody>
      </p:sp>
      <p:sp>
        <p:nvSpPr>
          <p:cNvPr id="39" name="Shape 37"/>
          <p:cNvSpPr/>
          <p:nvPr/>
        </p:nvSpPr>
        <p:spPr>
          <a:xfrm>
            <a:off x="1783080" y="2990088"/>
            <a:ext cx="502920" cy="1271016"/>
          </a:xfrm>
          <a:prstGeom prst="line">
            <a:avLst/>
          </a:prstGeom>
          <a:noFill/>
          <a:ln w="13970">
            <a:solidFill>
              <a:srgbClr val="C9BFAE"/>
            </a:solidFill>
            <a:prstDash val="solid"/>
          </a:ln>
        </p:spPr>
      </p:sp>
      <p:sp>
        <p:nvSpPr>
          <p:cNvPr id="40" name="Shape 38"/>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41" name="Text 39"/>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Nature</a:t>
            </a:r>
            <a:endParaRPr lang="en-US" sz="1300" dirty="0"/>
          </a:p>
        </p:txBody>
      </p:sp>
      <p:sp>
        <p:nvSpPr>
          <p:cNvPr id="42" name="Shape 40"/>
          <p:cNvSpPr/>
          <p:nvPr/>
        </p:nvSpPr>
        <p:spPr>
          <a:xfrm>
            <a:off x="4023360" y="4261104"/>
            <a:ext cx="274320" cy="0"/>
          </a:xfrm>
          <a:prstGeom prst="line">
            <a:avLst/>
          </a:prstGeom>
          <a:noFill/>
          <a:ln w="13970">
            <a:solidFill>
              <a:srgbClr val="C9BFAE"/>
            </a:solidFill>
            <a:prstDash val="solid"/>
          </a:ln>
        </p:spPr>
      </p:sp>
      <p:sp>
        <p:nvSpPr>
          <p:cNvPr id="43" name="Shape 41"/>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44" name="Text 42"/>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Characteristic  ·  Architecture</a:t>
            </a:r>
            <a:endParaRPr lang="en-US" sz="1200" dirty="0"/>
          </a:p>
        </p:txBody>
      </p:sp>
      <p:sp>
        <p:nvSpPr>
          <p:cNvPr id="45" name="Shape 43"/>
          <p:cNvSpPr/>
          <p:nvPr/>
        </p:nvSpPr>
        <p:spPr>
          <a:xfrm>
            <a:off x="457200" y="4636008"/>
            <a:ext cx="91440" cy="310896"/>
          </a:xfrm>
          <a:prstGeom prst="rect">
            <a:avLst/>
          </a:prstGeom>
          <a:solidFill>
            <a:srgbClr val="D97A14"/>
          </a:solidFill>
          <a:ln w="12700">
            <a:solidFill>
              <a:srgbClr val="D97A14"/>
            </a:solidFill>
            <a:prstDash val="solid"/>
          </a:ln>
        </p:spPr>
      </p:sp>
      <p:sp>
        <p:nvSpPr>
          <p:cNvPr id="46" name="Text 4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branches - every slide today lives on this map</a:t>
            </a:r>
            <a:endParaRPr lang="en-US" sz="1350" dirty="0"/>
          </a:p>
        </p:txBody>
      </p:sp>
      <p:sp>
        <p:nvSpPr>
          <p:cNvPr id="47" name="Text 4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42</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Origins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Three stories that explain why Bitcoin looks the way it does</a:t>
            </a:r>
            <a:endParaRPr lang="en-US" sz="1500" dirty="0"/>
          </a:p>
        </p:txBody>
      </p:sp>
      <p:sp>
        <p:nvSpPr>
          <p:cNvPr id="6" name="Shape 4"/>
          <p:cNvSpPr/>
          <p:nvPr/>
        </p:nvSpPr>
        <p:spPr>
          <a:xfrm>
            <a:off x="777240" y="2697480"/>
            <a:ext cx="2523744"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headline in block 0</a:t>
            </a:r>
            <a:pPr algn="ctr" indent="0" marL="0">
              <a:buNone/>
            </a:pPr>
            <a:endParaRPr lang="en-US" sz="1400" dirty="0"/>
          </a:p>
        </p:txBody>
      </p:sp>
      <p:sp>
        <p:nvSpPr>
          <p:cNvPr id="8" name="Shape 6"/>
          <p:cNvSpPr/>
          <p:nvPr/>
        </p:nvSpPr>
        <p:spPr>
          <a:xfrm>
            <a:off x="3447288" y="2697480"/>
            <a:ext cx="2523744"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3520440"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first payment</a:t>
            </a:r>
            <a:pPr algn="ctr" indent="0" marL="0">
              <a:buNone/>
            </a:pPr>
            <a:endParaRPr lang="en-US" sz="1400" dirty="0"/>
          </a:p>
        </p:txBody>
      </p:sp>
      <p:sp>
        <p:nvSpPr>
          <p:cNvPr id="10" name="Shape 8"/>
          <p:cNvSpPr/>
          <p:nvPr/>
        </p:nvSpPr>
        <p:spPr>
          <a:xfrm>
            <a:off x="6117336" y="2697480"/>
            <a:ext cx="2523744"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6190488"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Forty years of attempts</a:t>
            </a:r>
            <a:pPr algn="ctr" indent="0" marL="0">
              <a:buNone/>
            </a:pPr>
            <a:endParaRPr lang="en-US" sz="14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42</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newspaper headline carved into block zero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3 January 2009</a:t>
            </a:r>
            <a:endParaRPr lang="en-US" sz="1300" dirty="0"/>
          </a:p>
        </p:txBody>
      </p:sp>
      <p:pic>
        <p:nvPicPr>
          <p:cNvPr id="6" name="Image 0" descr="../../03-materials/ch01/assets/genesis_hexdump.png">    </p:cNvPr>
          <p:cNvPicPr>
            <a:picLocks noChangeAspect="1"/>
          </p:cNvPicPr>
          <p:nvPr/>
        </p:nvPicPr>
        <p:blipFill>
          <a:blip r:embed="rId1"/>
          <a:srcRect l="0" r="0" t="0" b="0"/>
          <a:stretch/>
        </p:blipFill>
        <p:spPr>
          <a:xfrm>
            <a:off x="457200" y="1298448"/>
            <a:ext cx="5394960" cy="2743200"/>
          </a:xfrm>
          <a:prstGeom prst="rect">
            <a:avLst/>
          </a:prstGeom>
        </p:spPr>
      </p:pic>
      <p:sp>
        <p:nvSpPr>
          <p:cNvPr id="7" name="Text 4"/>
          <p:cNvSpPr txBox="1"/>
          <p:nvPr/>
        </p:nvSpPr>
        <p:spPr>
          <a:xfrm>
            <a:off x="457200" y="4059936"/>
            <a:ext cx="5394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block 0's real 285 bytes, fetched from the live chain for this deck; its hash re-verified in the build</a:t>
            </a:r>
            <a:endParaRPr lang="en-US" sz="900" dirty="0"/>
          </a:p>
        </p:txBody>
      </p:sp>
      <p:sp>
        <p:nvSpPr>
          <p:cNvPr id="8" name="Shape 5"/>
          <p:cNvSpPr/>
          <p:nvPr/>
        </p:nvSpPr>
        <p:spPr>
          <a:xfrm>
            <a:off x="6080760" y="1298448"/>
            <a:ext cx="2606040" cy="1920240"/>
          </a:xfrm>
          <a:prstGeom prst="rect">
            <a:avLst/>
          </a:prstGeom>
          <a:solidFill>
            <a:srgbClr val="FFFDF7"/>
          </a:solidFill>
          <a:ln w="15875">
            <a:solidFill>
              <a:srgbClr val="B9AE9C"/>
            </a:solidFill>
            <a:prstDash val="solid"/>
          </a:ln>
          <a:effectLst>
            <a:outerShdw sx="100000" sy="100000" kx="0" ky="0" algn="bl" rotWithShape="0" blurRad="76200" dist="25400" dir="2700000">
              <a:srgbClr val="000000">
                <a:alpha val="25000"/>
              </a:srgbClr>
            </a:outerShdw>
          </a:effectLst>
        </p:spPr>
      </p:sp>
      <p:sp>
        <p:nvSpPr>
          <p:cNvPr id="9" name="Text 6"/>
          <p:cNvSpPr txBox="1"/>
          <p:nvPr/>
        </p:nvSpPr>
        <p:spPr>
          <a:xfrm>
            <a:off x="6080760" y="1408176"/>
            <a:ext cx="2606040" cy="457200"/>
          </a:xfrm>
          <a:prstGeom prst="rect">
            <a:avLst/>
          </a:prstGeom>
          <a:noFill/>
          <a:ln/>
        </p:spPr>
        <p:txBody>
          <a:bodyPr wrap="square" lIns="0" tIns="0" rIns="0" bIns="0" rtlCol="0" anchor="ctr"/>
          <a:lstStyle/>
          <a:p>
            <a:pPr algn="ctr" indent="0" marL="0">
              <a:buNone/>
            </a:pPr>
            <a:r>
              <a:rPr lang="en-US" sz="1400" b="1" dirty="0">
                <a:solidFill>
                  <a:srgbClr val="1A1A1A"/>
                </a:solidFill>
                <a:latin typeface="Times New Roman" pitchFamily="34" charset="0"/>
                <a:ea typeface="Times New Roman" pitchFamily="34" charset="-122"/>
                <a:cs typeface="Times New Roman" pitchFamily="34" charset="-120"/>
              </a:rPr>
              <a:t>The Times</a:t>
            </a:r>
            <a:endParaRPr lang="en-US" sz="1400" dirty="0"/>
          </a:p>
        </p:txBody>
      </p:sp>
      <p:sp>
        <p:nvSpPr>
          <p:cNvPr id="10" name="Shape 7"/>
          <p:cNvSpPr/>
          <p:nvPr/>
        </p:nvSpPr>
        <p:spPr>
          <a:xfrm>
            <a:off x="6309360" y="1920240"/>
            <a:ext cx="2148840" cy="0"/>
          </a:xfrm>
          <a:prstGeom prst="line">
            <a:avLst/>
          </a:prstGeom>
          <a:noFill/>
          <a:ln w="12700">
            <a:solidFill>
              <a:srgbClr val="1A1A1A"/>
            </a:solidFill>
            <a:prstDash val="solid"/>
          </a:ln>
        </p:spPr>
      </p:sp>
      <p:sp>
        <p:nvSpPr>
          <p:cNvPr id="11" name="Text 8"/>
          <p:cNvSpPr txBox="1"/>
          <p:nvPr/>
        </p:nvSpPr>
        <p:spPr>
          <a:xfrm>
            <a:off x="6080760" y="1956816"/>
            <a:ext cx="2606040" cy="274320"/>
          </a:xfrm>
          <a:prstGeom prst="rect">
            <a:avLst/>
          </a:prstGeom>
          <a:noFill/>
          <a:ln/>
        </p:spPr>
        <p:txBody>
          <a:bodyPr wrap="square" lIns="0" tIns="0" rIns="0" bIns="0" rtlCol="0" anchor="ctr"/>
          <a:lstStyle/>
          <a:p>
            <a:pPr algn="ctr" indent="0" marL="0">
              <a:buNone/>
            </a:pPr>
            <a:r>
              <a:rPr lang="en-US" sz="1050" i="1" dirty="0">
                <a:solidFill>
                  <a:srgbClr val="444444"/>
                </a:solidFill>
                <a:latin typeface="Times New Roman" pitchFamily="34" charset="0"/>
                <a:ea typeface="Times New Roman" pitchFamily="34" charset="-122"/>
                <a:cs typeface="Times New Roman" pitchFamily="34" charset="-120"/>
              </a:rPr>
              <a:t>Saturday January 3 2009</a:t>
            </a:r>
            <a:endParaRPr lang="en-US" sz="1050" dirty="0"/>
          </a:p>
        </p:txBody>
      </p:sp>
      <p:sp>
        <p:nvSpPr>
          <p:cNvPr id="12" name="Text 9"/>
          <p:cNvSpPr txBox="1"/>
          <p:nvPr/>
        </p:nvSpPr>
        <p:spPr>
          <a:xfrm>
            <a:off x="6245352" y="2194560"/>
            <a:ext cx="2276856" cy="868680"/>
          </a:xfrm>
          <a:prstGeom prst="rect">
            <a:avLst/>
          </a:prstGeom>
          <a:noFill/>
          <a:ln/>
        </p:spPr>
        <p:txBody>
          <a:bodyPr wrap="square" lIns="0" tIns="0" rIns="0" bIns="0" rtlCol="0" anchor="ctr"/>
          <a:lstStyle/>
          <a:p>
            <a:pPr algn="ctr" indent="0" marL="0">
              <a:buNone/>
            </a:pPr>
            <a:r>
              <a:rPr lang="en-US" sz="1150" b="1" dirty="0">
                <a:solidFill>
                  <a:srgbClr val="1A1A1A"/>
                </a:solidFill>
                <a:latin typeface="Times New Roman" pitchFamily="34" charset="0"/>
                <a:ea typeface="Times New Roman" pitchFamily="34" charset="-122"/>
                <a:cs typeface="Times New Roman" pitchFamily="34" charset="-120"/>
              </a:rPr>
              <a:t>Chancellor on brink of second bailout for banks</a:t>
            </a:r>
            <a:endParaRPr lang="en-US" sz="1150" dirty="0"/>
          </a:p>
        </p:txBody>
      </p:sp>
      <p:sp>
        <p:nvSpPr>
          <p:cNvPr id="13" name="Shape 10"/>
          <p:cNvSpPr/>
          <p:nvPr/>
        </p:nvSpPr>
        <p:spPr>
          <a:xfrm>
            <a:off x="6332220" y="2816352"/>
            <a:ext cx="2103120" cy="310896"/>
          </a:xfrm>
          <a:prstGeom prst="roundRect">
            <a:avLst>
              <a:gd name="adj" fmla="val 52941"/>
            </a:avLst>
          </a:prstGeom>
          <a:solidFill>
            <a:srgbClr val="D97A14"/>
          </a:solidFill>
          <a:ln w="12700">
            <a:solidFill>
              <a:srgbClr val="D97A14"/>
            </a:solidFill>
            <a:prstDash val="solid"/>
          </a:ln>
        </p:spPr>
      </p:sp>
      <p:sp>
        <p:nvSpPr>
          <p:cNvPr id="14" name="Text 11"/>
          <p:cNvSpPr txBox="1"/>
          <p:nvPr/>
        </p:nvSpPr>
        <p:spPr>
          <a:xfrm>
            <a:off x="6332220" y="2816352"/>
            <a:ext cx="21031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embedded in block 0</a:t>
            </a:r>
            <a:endParaRPr lang="en-US" sz="1000" dirty="0"/>
          </a:p>
        </p:txBody>
      </p:sp>
      <p:sp>
        <p:nvSpPr>
          <p:cNvPr id="15" name="Shape 12"/>
          <p:cNvSpPr/>
          <p:nvPr/>
        </p:nvSpPr>
        <p:spPr>
          <a:xfrm>
            <a:off x="6080760" y="3602736"/>
            <a:ext cx="128016" cy="128016"/>
          </a:xfrm>
          <a:prstGeom prst="diamond">
            <a:avLst/>
          </a:prstGeom>
          <a:solidFill>
            <a:srgbClr val="D97A14"/>
          </a:solidFill>
          <a:ln w="12700">
            <a:solidFill>
              <a:srgbClr val="D97A14"/>
            </a:solidFill>
            <a:prstDash val="solid"/>
          </a:ln>
        </p:spPr>
      </p:sp>
      <p:sp>
        <p:nvSpPr>
          <p:cNvPr id="16" name="Text 13"/>
          <p:cNvSpPr txBox="1"/>
          <p:nvPr/>
        </p:nvSpPr>
        <p:spPr>
          <a:xfrm>
            <a:off x="6355080" y="3310128"/>
            <a:ext cx="2331720" cy="71323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The orange bytes ARE the headline</a:t>
            </a:r>
            <a:endParaRPr lang="en-US" sz="1100" dirty="0"/>
          </a:p>
        </p:txBody>
      </p:sp>
      <p:sp>
        <p:nvSpPr>
          <p:cNvPr id="17" name="Shape 14"/>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Satoshi Nakamoto</a:t>
            </a:r>
            <a:endParaRPr lang="en-US" sz="750" dirty="0"/>
          </a:p>
        </p:txBody>
      </p:sp>
      <p:sp>
        <p:nvSpPr>
          <p:cNvPr id="19" name="Shape 16"/>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block 0 of the chain itself</a:t>
            </a:r>
            <a:endParaRPr lang="en-US" sz="750" dirty="0"/>
          </a:p>
        </p:txBody>
      </p:sp>
      <p:sp>
        <p:nvSpPr>
          <p:cNvPr id="21" name="Shape 18"/>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3 January 2009</a:t>
            </a:r>
            <a:endParaRPr lang="en-US" sz="750" dirty="0"/>
          </a:p>
        </p:txBody>
      </p:sp>
      <p:sp>
        <p:nvSpPr>
          <p:cNvPr id="23" name="Shape 20"/>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blockstream.info</a:t>
            </a:r>
            <a:endParaRPr lang="en-US" sz="7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History is written into the chain itself</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42</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first person ever paid in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Satoshi Nakamoto, and the cryptographer who ran the code</a:t>
            </a:r>
            <a:endParaRPr lang="en-US" sz="1300" dirty="0"/>
          </a:p>
        </p:txBody>
      </p:sp>
      <p:pic>
        <p:nvPicPr>
          <p:cNvPr id="6" name="Image 0" descr="../../03-materials/ch01/assets/c1s32_nakamoto.jpg">    </p:cNvPr>
          <p:cNvPicPr>
            <a:picLocks noChangeAspect="1"/>
          </p:cNvPicPr>
          <p:nvPr/>
        </p:nvPicPr>
        <p:blipFill>
          <a:blip r:embed="rId1"/>
          <a:srcRect l="0" r="0" t="0" b="0"/>
          <a:stretch/>
        </p:blipFill>
        <p:spPr>
          <a:xfrm>
            <a:off x="457200" y="1325880"/>
            <a:ext cx="2651760" cy="3108960"/>
          </a:xfrm>
          <a:prstGeom prst="rect">
            <a:avLst/>
          </a:prstGeom>
        </p:spPr>
      </p:pic>
      <p:sp>
        <p:nvSpPr>
          <p:cNvPr id="7" name="Text 4"/>
          <p:cNvSpPr txBox="1"/>
          <p:nvPr/>
        </p:nvSpPr>
        <p:spPr>
          <a:xfrm>
            <a:off x="457200" y="44531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anonymity, from the owner's 2025 deck</a:t>
            </a:r>
            <a:endParaRPr lang="en-US" sz="900" dirty="0"/>
          </a:p>
        </p:txBody>
      </p:sp>
      <p:sp>
        <p:nvSpPr>
          <p:cNvPr id="8" name="Shape 5"/>
          <p:cNvSpPr/>
          <p:nvPr/>
        </p:nvSpPr>
        <p:spPr>
          <a:xfrm>
            <a:off x="3383280" y="17038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657600" y="141732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Satoshi Nakamoto: still unidentified, by design</a:t>
            </a:r>
            <a:endParaRPr lang="en-US" sz="1350" dirty="0"/>
          </a:p>
        </p:txBody>
      </p:sp>
      <p:sp>
        <p:nvSpPr>
          <p:cNvPr id="10" name="Shape 7"/>
          <p:cNvSpPr/>
          <p:nvPr/>
        </p:nvSpPr>
        <p:spPr>
          <a:xfrm>
            <a:off x="3383280" y="240487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657600" y="211836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Hal Finney answered the whitepaper - and 'Running bitcoin'</a:t>
            </a:r>
            <a:endParaRPr lang="en-US" sz="1350" dirty="0"/>
          </a:p>
        </p:txBody>
      </p:sp>
      <p:sp>
        <p:nvSpPr>
          <p:cNvPr id="12" name="Shape 9"/>
          <p:cNvSpPr/>
          <p:nvPr/>
        </p:nvSpPr>
        <p:spPr>
          <a:xfrm>
            <a:off x="3383280" y="310591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657600" y="281940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Block 170, January 2009: Satoshi pays Finney 10 BTC</a:t>
            </a:r>
            <a:endParaRPr lang="en-US" sz="1350" dirty="0"/>
          </a:p>
        </p:txBody>
      </p:sp>
      <p:sp>
        <p:nvSpPr>
          <p:cNvPr id="14" name="Shape 11"/>
          <p:cNvSpPr/>
          <p:nvPr/>
        </p:nvSpPr>
        <p:spPr>
          <a:xfrm>
            <a:off x="3383280" y="3703320"/>
            <a:ext cx="1542044" cy="365760"/>
          </a:xfrm>
          <a:prstGeom prst="roundRect">
            <a:avLst>
              <a:gd name="adj" fmla="val 50000"/>
            </a:avLst>
          </a:prstGeom>
          <a:solidFill>
            <a:srgbClr val="EFE9DC"/>
          </a:solidFill>
          <a:ln w="9525">
            <a:solidFill>
              <a:srgbClr val="DFD6C7"/>
            </a:solidFill>
            <a:prstDash val="solid"/>
          </a:ln>
        </p:spPr>
      </p:sp>
      <p:sp>
        <p:nvSpPr>
          <p:cNvPr id="15" name="Text 12"/>
          <p:cNvSpPr txBox="1"/>
          <p:nvPr/>
        </p:nvSpPr>
        <p:spPr>
          <a:xfrm>
            <a:off x="3474720" y="3703320"/>
            <a:ext cx="139574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Satoshi Nakamoto to …</a:t>
            </a:r>
            <a:endParaRPr lang="en-US" sz="750" dirty="0"/>
          </a:p>
        </p:txBody>
      </p:sp>
      <p:sp>
        <p:nvSpPr>
          <p:cNvPr id="16" name="Shape 13"/>
          <p:cNvSpPr/>
          <p:nvPr/>
        </p:nvSpPr>
        <p:spPr>
          <a:xfrm>
            <a:off x="5035052" y="3703320"/>
            <a:ext cx="1542044"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126492" y="3703320"/>
            <a:ext cx="1395740"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block 170</a:t>
            </a:r>
            <a:endParaRPr lang="en-US" sz="750" dirty="0"/>
          </a:p>
        </p:txBody>
      </p:sp>
      <p:sp>
        <p:nvSpPr>
          <p:cNvPr id="18" name="Shape 15"/>
          <p:cNvSpPr/>
          <p:nvPr/>
        </p:nvSpPr>
        <p:spPr>
          <a:xfrm>
            <a:off x="6686824" y="3703320"/>
            <a:ext cx="84563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6778264" y="3703320"/>
            <a:ext cx="69933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Januar…</a:t>
            </a:r>
            <a:endParaRPr lang="en-US" sz="750" dirty="0"/>
          </a:p>
        </p:txBody>
      </p:sp>
      <p:sp>
        <p:nvSpPr>
          <p:cNvPr id="20" name="Shape 17"/>
          <p:cNvSpPr/>
          <p:nvPr/>
        </p:nvSpPr>
        <p:spPr>
          <a:xfrm>
            <a:off x="7642189" y="3703320"/>
            <a:ext cx="1044611" cy="365760"/>
          </a:xfrm>
          <a:prstGeom prst="roundRect">
            <a:avLst>
              <a:gd name="adj" fmla="val 50000"/>
            </a:avLst>
          </a:prstGeom>
          <a:solidFill>
            <a:srgbClr val="2F6D62"/>
          </a:solidFill>
          <a:ln w="9525">
            <a:solidFill>
              <a:srgbClr val="2F6D62"/>
            </a:solidFill>
            <a:prstDash val="solid"/>
          </a:ln>
        </p:spPr>
      </p:sp>
      <p:sp>
        <p:nvSpPr>
          <p:cNvPr id="21" name="Text 18"/>
          <p:cNvSpPr txBox="1"/>
          <p:nvPr/>
        </p:nvSpPr>
        <p:spPr>
          <a:xfrm>
            <a:off x="7733629" y="3703320"/>
            <a:ext cx="898307"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blockstrea…</a:t>
            </a:r>
            <a:endParaRPr lang="en-US" sz="750" dirty="0"/>
          </a:p>
        </p:txBody>
      </p:sp>
      <p:sp>
        <p:nvSpPr>
          <p:cNvPr id="22"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Peer to peer meant person to person from day one</a:t>
            </a:r>
            <a:endParaRPr lang="en-US" sz="13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42</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Forty years of failed digital money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part existed before Bitcoin combined them</a:t>
            </a:r>
            <a:endParaRPr lang="en-US" sz="1300" dirty="0"/>
          </a:p>
        </p:txBody>
      </p:sp>
      <p:sp>
        <p:nvSpPr>
          <p:cNvPr id="6" name="Shape 4"/>
          <p:cNvSpPr/>
          <p:nvPr/>
        </p:nvSpPr>
        <p:spPr>
          <a:xfrm>
            <a:off x="457200" y="2307946"/>
            <a:ext cx="8229600" cy="0"/>
          </a:xfrm>
          <a:prstGeom prst="line">
            <a:avLst/>
          </a:prstGeom>
          <a:noFill/>
          <a:ln w="25400">
            <a:solidFill>
              <a:srgbClr val="C9BFAE"/>
            </a:solidFill>
            <a:prstDash val="solid"/>
          </a:ln>
        </p:spPr>
      </p:sp>
      <p:sp>
        <p:nvSpPr>
          <p:cNvPr id="7" name="Shape 5"/>
          <p:cNvSpPr/>
          <p:nvPr/>
        </p:nvSpPr>
        <p:spPr>
          <a:xfrm>
            <a:off x="557784" y="2225650"/>
            <a:ext cx="164592" cy="164592"/>
          </a:xfrm>
          <a:prstGeom prst="ellipse">
            <a:avLst/>
          </a:prstGeom>
          <a:solidFill>
            <a:srgbClr val="2F6D62"/>
          </a:solidFill>
          <a:ln w="12700">
            <a:solidFill>
              <a:srgbClr val="FFFFFF"/>
            </a:solidFill>
            <a:prstDash val="solid"/>
          </a:ln>
        </p:spPr>
      </p:sp>
      <p:sp>
        <p:nvSpPr>
          <p:cNvPr id="8" name="Text 6"/>
          <p:cNvSpPr txBox="1"/>
          <p:nvPr/>
        </p:nvSpPr>
        <p:spPr>
          <a:xfrm>
            <a:off x="36576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1982</a:t>
            </a:r>
            <a:endParaRPr lang="en-US" sz="1200" dirty="0"/>
          </a:p>
        </p:txBody>
      </p:sp>
      <p:sp>
        <p:nvSpPr>
          <p:cNvPr id="9" name="Text 7"/>
          <p:cNvSpPr txBox="1"/>
          <p:nvPr/>
        </p:nvSpPr>
        <p:spPr>
          <a:xfrm>
            <a:off x="36576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Chaum: blind signatures, ecash</a:t>
            </a:r>
            <a:endParaRPr lang="en-US" sz="1000" dirty="0"/>
          </a:p>
        </p:txBody>
      </p:sp>
      <p:sp>
        <p:nvSpPr>
          <p:cNvPr id="10" name="Shape 8"/>
          <p:cNvSpPr/>
          <p:nvPr/>
        </p:nvSpPr>
        <p:spPr>
          <a:xfrm>
            <a:off x="2523744" y="2225650"/>
            <a:ext cx="164592" cy="164592"/>
          </a:xfrm>
          <a:prstGeom prst="ellipse">
            <a:avLst/>
          </a:prstGeom>
          <a:solidFill>
            <a:srgbClr val="2F6D62"/>
          </a:solidFill>
          <a:ln w="12700">
            <a:solidFill>
              <a:srgbClr val="FFFFFF"/>
            </a:solidFill>
            <a:prstDash val="solid"/>
          </a:ln>
        </p:spPr>
      </p:sp>
      <p:sp>
        <p:nvSpPr>
          <p:cNvPr id="11" name="Text 9"/>
          <p:cNvSpPr txBox="1"/>
          <p:nvPr/>
        </p:nvSpPr>
        <p:spPr>
          <a:xfrm>
            <a:off x="205740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1997</a:t>
            </a:r>
            <a:endParaRPr lang="en-US" sz="1200" dirty="0"/>
          </a:p>
        </p:txBody>
      </p:sp>
      <p:sp>
        <p:nvSpPr>
          <p:cNvPr id="12" name="Text 10"/>
          <p:cNvSpPr txBox="1"/>
          <p:nvPr/>
        </p:nvSpPr>
        <p:spPr>
          <a:xfrm>
            <a:off x="182880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Back: Hashcash proof-of-work</a:t>
            </a:r>
            <a:endParaRPr lang="en-US" sz="1000" dirty="0"/>
          </a:p>
        </p:txBody>
      </p:sp>
      <p:sp>
        <p:nvSpPr>
          <p:cNvPr id="13" name="Shape 11"/>
          <p:cNvSpPr/>
          <p:nvPr/>
        </p:nvSpPr>
        <p:spPr>
          <a:xfrm>
            <a:off x="4489704" y="2225650"/>
            <a:ext cx="164592" cy="164592"/>
          </a:xfrm>
          <a:prstGeom prst="ellipse">
            <a:avLst/>
          </a:prstGeom>
          <a:solidFill>
            <a:srgbClr val="2F6D62"/>
          </a:solidFill>
          <a:ln w="12700">
            <a:solidFill>
              <a:srgbClr val="FFFFFF"/>
            </a:solidFill>
            <a:prstDash val="solid"/>
          </a:ln>
        </p:spPr>
      </p:sp>
      <p:sp>
        <p:nvSpPr>
          <p:cNvPr id="14" name="Text 12"/>
          <p:cNvSpPr txBox="1"/>
          <p:nvPr/>
        </p:nvSpPr>
        <p:spPr>
          <a:xfrm>
            <a:off x="402336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1998</a:t>
            </a:r>
            <a:endParaRPr lang="en-US" sz="1200" dirty="0"/>
          </a:p>
        </p:txBody>
      </p:sp>
      <p:sp>
        <p:nvSpPr>
          <p:cNvPr id="15" name="Text 13"/>
          <p:cNvSpPr txBox="1"/>
          <p:nvPr/>
        </p:nvSpPr>
        <p:spPr>
          <a:xfrm>
            <a:off x="379476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Dai: b-money; Szabo: bit gold</a:t>
            </a:r>
            <a:endParaRPr lang="en-US" sz="1000" dirty="0"/>
          </a:p>
        </p:txBody>
      </p:sp>
      <p:sp>
        <p:nvSpPr>
          <p:cNvPr id="16" name="Shape 14"/>
          <p:cNvSpPr/>
          <p:nvPr/>
        </p:nvSpPr>
        <p:spPr>
          <a:xfrm>
            <a:off x="6455664" y="2225650"/>
            <a:ext cx="164592" cy="164592"/>
          </a:xfrm>
          <a:prstGeom prst="ellipse">
            <a:avLst/>
          </a:prstGeom>
          <a:solidFill>
            <a:srgbClr val="D97A14"/>
          </a:solidFill>
          <a:ln w="12700">
            <a:solidFill>
              <a:srgbClr val="FFFFFF"/>
            </a:solidFill>
            <a:prstDash val="solid"/>
          </a:ln>
        </p:spPr>
      </p:sp>
      <p:sp>
        <p:nvSpPr>
          <p:cNvPr id="17" name="Text 15"/>
          <p:cNvSpPr txBox="1"/>
          <p:nvPr/>
        </p:nvSpPr>
        <p:spPr>
          <a:xfrm>
            <a:off x="5989320" y="1832458"/>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2008</a:t>
            </a:r>
            <a:endParaRPr lang="en-US" sz="1200" dirty="0"/>
          </a:p>
        </p:txBody>
      </p:sp>
      <p:sp>
        <p:nvSpPr>
          <p:cNvPr id="18" name="Text 16"/>
          <p:cNvSpPr txBox="1"/>
          <p:nvPr/>
        </p:nvSpPr>
        <p:spPr>
          <a:xfrm>
            <a:off x="576072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Nakamoto: the whitepaper</a:t>
            </a:r>
            <a:endParaRPr lang="en-US" sz="1000" dirty="0"/>
          </a:p>
        </p:txBody>
      </p:sp>
      <p:sp>
        <p:nvSpPr>
          <p:cNvPr id="19" name="Shape 17"/>
          <p:cNvSpPr/>
          <p:nvPr/>
        </p:nvSpPr>
        <p:spPr>
          <a:xfrm>
            <a:off x="8421624" y="2225650"/>
            <a:ext cx="164592" cy="164592"/>
          </a:xfrm>
          <a:prstGeom prst="ellipse">
            <a:avLst/>
          </a:prstGeom>
          <a:solidFill>
            <a:srgbClr val="D97A14"/>
          </a:solidFill>
          <a:ln w="12700">
            <a:solidFill>
              <a:srgbClr val="FFFFFF"/>
            </a:solidFill>
            <a:prstDash val="solid"/>
          </a:ln>
        </p:spPr>
      </p:sp>
      <p:sp>
        <p:nvSpPr>
          <p:cNvPr id="20" name="Text 18"/>
          <p:cNvSpPr txBox="1"/>
          <p:nvPr/>
        </p:nvSpPr>
        <p:spPr>
          <a:xfrm>
            <a:off x="7680960" y="1832458"/>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2009</a:t>
            </a:r>
            <a:endParaRPr lang="en-US" sz="1200" dirty="0"/>
          </a:p>
        </p:txBody>
      </p:sp>
      <p:sp>
        <p:nvSpPr>
          <p:cNvPr id="21" name="Text 19"/>
          <p:cNvSpPr txBox="1"/>
          <p:nvPr/>
        </p:nvSpPr>
        <p:spPr>
          <a:xfrm>
            <a:off x="722376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The genesis block runs</a:t>
            </a:r>
            <a:endParaRPr lang="en-US" sz="1000" dirty="0"/>
          </a:p>
        </p:txBody>
      </p:sp>
      <p:sp>
        <p:nvSpPr>
          <p:cNvPr id="22" name="Text 20"/>
          <p:cNvSpPr txBox="1"/>
          <p:nvPr/>
        </p:nvSpPr>
        <p:spPr>
          <a:xfrm>
            <a:off x="457200" y="3520440"/>
            <a:ext cx="8229600" cy="5029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2B2622"/>
                </a:solidFill>
                <a:latin typeface="Calibri" pitchFamily="34" charset="0"/>
                <a:ea typeface="Calibri" pitchFamily="34" charset="-122"/>
                <a:cs typeface="Calibri" pitchFamily="34" charset="-120"/>
              </a:rPr>
              <a:t>DigiCash went bankrupt; b-money and bit gold were never built - agreement without a leader was missing</a:t>
            </a:r>
            <a:endParaRPr lang="en-US" sz="1300" dirty="0"/>
          </a:p>
        </p:txBody>
      </p:sp>
      <p:sp>
        <p:nvSpPr>
          <p:cNvPr id="23" name="Shape 21"/>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24" name="Text 22"/>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800" dirty="0">
                <a:solidFill>
                  <a:srgbClr val="2B2622"/>
                </a:solidFill>
                <a:latin typeface="Calibri" pitchFamily="34" charset="0"/>
                <a:ea typeface="Calibri" pitchFamily="34" charset="-122"/>
                <a:cs typeface="Calibri" pitchFamily="34" charset="-120"/>
              </a:rPr>
              <a:t>Chaum, Back, Dai, Szabo - then Nakamoto</a:t>
            </a:r>
            <a:endParaRPr lang="en-US" sz="750" dirty="0"/>
          </a:p>
        </p:txBody>
      </p:sp>
      <p:sp>
        <p:nvSpPr>
          <p:cNvPr id="25" name="Shape 23"/>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6" name="Text 24"/>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800" dirty="0">
                <a:solidFill>
                  <a:srgbClr val="2B2622"/>
                </a:solidFill>
                <a:latin typeface="Calibri" pitchFamily="34" charset="0"/>
                <a:ea typeface="Calibri" pitchFamily="34" charset="-122"/>
                <a:cs typeface="Calibri" pitchFamily="34" charset="-120"/>
              </a:rPr>
              <a:t>academic papers and mailing lists</a:t>
            </a:r>
            <a:endParaRPr lang="en-US" sz="750" dirty="0"/>
          </a:p>
        </p:txBody>
      </p:sp>
      <p:sp>
        <p:nvSpPr>
          <p:cNvPr id="27" name="Shape 25"/>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8" name="Text 26"/>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1982 - 2008</a:t>
            </a:r>
            <a:endParaRPr lang="en-US" sz="750" dirty="0"/>
          </a:p>
        </p:txBody>
      </p:sp>
      <p:sp>
        <p:nvSpPr>
          <p:cNvPr id="29" name="Shape 27"/>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30" name="Text 28"/>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bitcoin.org</a:t>
            </a:r>
            <a:endParaRPr lang="en-US" sz="75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pieces were old; the combination was new</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42</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Money</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the currency is, who issues it, and on what schedule</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Unit</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Supply</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Issuance</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Price</a:t>
            </a:r>
            <a:pPr algn="ctr" indent="0" marL="0">
              <a:buNone/>
            </a:pPr>
            <a:endParaRPr lang="en-US" sz="1400" dirty="0"/>
          </a:p>
        </p:txBody>
      </p:sp>
      <p:pic>
        <p:nvPicPr>
          <p:cNvPr id="14" name="Image 0" descr="../../03-materials/ch01/assets/photo_lydian_coins.jpg">    </p:cNvPr>
          <p:cNvPicPr>
            <a:picLocks noChangeAspect="1"/>
          </p:cNvPicPr>
          <p:nvPr/>
        </p:nvPicPr>
        <p:blipFill>
          <a:blip r:embed="rId1"/>
          <a:srcRect l="0" r="0" t="0" b="0"/>
          <a:stretch/>
        </p:blipFill>
        <p:spPr>
          <a:xfrm>
            <a:off x="5943600" y="1554480"/>
            <a:ext cx="2834640" cy="2651760"/>
          </a:xfrm>
          <a:prstGeom prst="rect">
            <a:avLst/>
          </a:prstGeom>
        </p:spPr>
      </p:pic>
      <p:sp>
        <p:nvSpPr>
          <p:cNvPr id="15" name="Text 12"/>
          <p:cNvSpPr txBox="1"/>
          <p:nvPr/>
        </p:nvSpPr>
        <p:spPr>
          <a:xfrm>
            <a:off x="5943600" y="422452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Lydian electrum, the first coins - photo: brewbooks, CC BY-SA 2.0</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42</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island where money never moved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Yap, documented 1903</a:t>
            </a:r>
            <a:endParaRPr lang="en-US" sz="1300" dirty="0"/>
          </a:p>
        </p:txBody>
      </p:sp>
      <p:pic>
        <p:nvPicPr>
          <p:cNvPr id="6" name="Image 0" descr="../../03-materials/ch01/assets/photo_rai_stone.jpg">    </p:cNvPr>
          <p:cNvPicPr>
            <a:picLocks noChangeAspect="1"/>
          </p:cNvPicPr>
          <p:nvPr/>
        </p:nvPicPr>
        <p:blipFill>
          <a:blip r:embed="rId1"/>
          <a:srcRect l="0" r="0" t="0" b="0"/>
          <a:stretch/>
        </p:blipFill>
        <p:spPr>
          <a:xfrm>
            <a:off x="457200" y="1371600"/>
            <a:ext cx="2834640" cy="2834640"/>
          </a:xfrm>
          <a:prstGeom prst="rect">
            <a:avLst/>
          </a:prstGeom>
        </p:spPr>
      </p:pic>
      <p:sp>
        <p:nvSpPr>
          <p:cNvPr id="7" name="Text 4"/>
          <p:cNvSpPr txBox="1"/>
          <p:nvPr/>
        </p:nvSpPr>
        <p:spPr>
          <a:xfrm>
            <a:off x="457200" y="422452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rai stone on Yap - photo: Eric Guinther, CC BY-SA 3.0, Wikimedia Commons</a:t>
            </a:r>
            <a:endParaRPr lang="en-US" sz="900" dirty="0"/>
          </a:p>
        </p:txBody>
      </p:sp>
      <p:sp>
        <p:nvSpPr>
          <p:cNvPr id="8" name="Shape 5"/>
          <p:cNvSpPr/>
          <p:nvPr/>
        </p:nvSpPr>
        <p:spPr>
          <a:xfrm>
            <a:off x="3611880" y="1574292"/>
            <a:ext cx="128016" cy="128016"/>
          </a:xfrm>
          <a:prstGeom prst="diamond">
            <a:avLst/>
          </a:prstGeom>
          <a:solidFill>
            <a:srgbClr val="D97A14"/>
          </a:solidFill>
          <a:ln w="12700">
            <a:solidFill>
              <a:srgbClr val="D97A14"/>
            </a:solidFill>
            <a:prstDash val="solid"/>
          </a:ln>
        </p:spPr>
      </p:sp>
      <p:sp>
        <p:nvSpPr>
          <p:cNvPr id="9" name="Text 6"/>
          <p:cNvSpPr txBox="1"/>
          <p:nvPr/>
        </p:nvSpPr>
        <p:spPr>
          <a:xfrm>
            <a:off x="3886200" y="1371600"/>
            <a:ext cx="4800600" cy="5334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Rai stones were money too heavy to move, so they never moved</a:t>
            </a:r>
            <a:endParaRPr lang="en-US" sz="1300" dirty="0"/>
          </a:p>
        </p:txBody>
      </p:sp>
      <p:sp>
        <p:nvSpPr>
          <p:cNvPr id="10" name="Shape 7"/>
          <p:cNvSpPr/>
          <p:nvPr/>
        </p:nvSpPr>
        <p:spPr>
          <a:xfrm>
            <a:off x="3611880" y="21076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886200" y="1905000"/>
            <a:ext cx="4800600" cy="5334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A payment was the village agreeing the owner had changed</a:t>
            </a:r>
            <a:endParaRPr lang="en-US" sz="1300" dirty="0"/>
          </a:p>
        </p:txBody>
      </p:sp>
      <p:sp>
        <p:nvSpPr>
          <p:cNvPr id="12" name="Shape 9"/>
          <p:cNvSpPr/>
          <p:nvPr/>
        </p:nvSpPr>
        <p:spPr>
          <a:xfrm>
            <a:off x="3611880" y="264109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886200" y="2438400"/>
            <a:ext cx="4800600" cy="5334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One stone sank at sea - and kept changing owners anyway</a:t>
            </a:r>
            <a:endParaRPr lang="en-US" sz="1300" dirty="0"/>
          </a:p>
        </p:txBody>
      </p:sp>
      <p:sp>
        <p:nvSpPr>
          <p:cNvPr id="14" name="Shape 11"/>
          <p:cNvSpPr/>
          <p:nvPr/>
        </p:nvSpPr>
        <p:spPr>
          <a:xfrm>
            <a:off x="4005072" y="2990088"/>
            <a:ext cx="950976" cy="950976"/>
          </a:xfrm>
          <a:prstGeom prst="ellipse">
            <a:avLst/>
          </a:prstGeom>
          <a:solidFill>
            <a:srgbClr val="D8D0C2"/>
          </a:solidFill>
          <a:ln w="25400">
            <a:solidFill>
              <a:srgbClr val="9A9183"/>
            </a:solidFill>
            <a:prstDash val="solid"/>
          </a:ln>
        </p:spPr>
      </p:sp>
      <p:sp>
        <p:nvSpPr>
          <p:cNvPr id="15" name="Shape 12"/>
          <p:cNvSpPr/>
          <p:nvPr/>
        </p:nvSpPr>
        <p:spPr>
          <a:xfrm>
            <a:off x="4352544" y="3355848"/>
            <a:ext cx="256032" cy="256032"/>
          </a:xfrm>
          <a:prstGeom prst="ellipse">
            <a:avLst/>
          </a:prstGeom>
          <a:solidFill>
            <a:srgbClr val="FAF6EF"/>
          </a:solidFill>
          <a:ln w="19050">
            <a:solidFill>
              <a:srgbClr val="9A9183"/>
            </a:solidFill>
            <a:prstDash val="solid"/>
          </a:ln>
        </p:spPr>
      </p:sp>
      <p:sp>
        <p:nvSpPr>
          <p:cNvPr id="16" name="Text 13"/>
          <p:cNvSpPr txBox="1"/>
          <p:nvPr/>
        </p:nvSpPr>
        <p:spPr>
          <a:xfrm>
            <a:off x="3703320" y="4023360"/>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Fatu</a:t>
            </a:r>
            <a:endParaRPr lang="en-US" sz="1100" dirty="0"/>
          </a:p>
        </p:txBody>
      </p:sp>
      <p:sp>
        <p:nvSpPr>
          <p:cNvPr id="17" name="Shape 14"/>
          <p:cNvSpPr/>
          <p:nvPr/>
        </p:nvSpPr>
        <p:spPr>
          <a:xfrm>
            <a:off x="5029200" y="3465576"/>
            <a:ext cx="548640" cy="0"/>
          </a:xfrm>
          <a:prstGeom prst="line">
            <a:avLst/>
          </a:prstGeom>
          <a:noFill/>
          <a:ln w="25400">
            <a:solidFill>
              <a:srgbClr val="D97A14"/>
            </a:solidFill>
            <a:prstDash val="solid"/>
            <a:tailEnd type="triangle"/>
          </a:ln>
        </p:spPr>
      </p:sp>
      <p:sp>
        <p:nvSpPr>
          <p:cNvPr id="18" name="Shape 15"/>
          <p:cNvSpPr/>
          <p:nvPr/>
        </p:nvSpPr>
        <p:spPr>
          <a:xfrm>
            <a:off x="5650992" y="2990088"/>
            <a:ext cx="950976" cy="950976"/>
          </a:xfrm>
          <a:prstGeom prst="ellipse">
            <a:avLst/>
          </a:prstGeom>
          <a:solidFill>
            <a:srgbClr val="D8D0C2"/>
          </a:solidFill>
          <a:ln w="25400">
            <a:solidFill>
              <a:srgbClr val="9A9183"/>
            </a:solidFill>
            <a:prstDash val="solid"/>
          </a:ln>
        </p:spPr>
      </p:sp>
      <p:sp>
        <p:nvSpPr>
          <p:cNvPr id="19" name="Shape 16"/>
          <p:cNvSpPr/>
          <p:nvPr/>
        </p:nvSpPr>
        <p:spPr>
          <a:xfrm>
            <a:off x="5998464" y="3355848"/>
            <a:ext cx="256032" cy="256032"/>
          </a:xfrm>
          <a:prstGeom prst="ellipse">
            <a:avLst/>
          </a:prstGeom>
          <a:solidFill>
            <a:srgbClr val="FAF6EF"/>
          </a:solidFill>
          <a:ln w="19050">
            <a:solidFill>
              <a:srgbClr val="9A9183"/>
            </a:solidFill>
            <a:prstDash val="solid"/>
          </a:ln>
        </p:spPr>
      </p:sp>
      <p:sp>
        <p:nvSpPr>
          <p:cNvPr id="20" name="Text 17"/>
          <p:cNvSpPr txBox="1"/>
          <p:nvPr/>
        </p:nvSpPr>
        <p:spPr>
          <a:xfrm>
            <a:off x="5349240" y="4023360"/>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Ngirmang</a:t>
            </a:r>
            <a:endParaRPr lang="en-US" sz="1100" dirty="0"/>
          </a:p>
        </p:txBody>
      </p:sp>
      <p:sp>
        <p:nvSpPr>
          <p:cNvPr id="21" name="Shape 18"/>
          <p:cNvSpPr/>
          <p:nvPr/>
        </p:nvSpPr>
        <p:spPr>
          <a:xfrm>
            <a:off x="6675120" y="3465576"/>
            <a:ext cx="548640" cy="0"/>
          </a:xfrm>
          <a:prstGeom prst="line">
            <a:avLst/>
          </a:prstGeom>
          <a:noFill/>
          <a:ln w="25400">
            <a:solidFill>
              <a:srgbClr val="D97A14"/>
            </a:solidFill>
            <a:prstDash val="solid"/>
            <a:tailEnd type="triangle"/>
          </a:ln>
        </p:spPr>
      </p:sp>
      <p:sp>
        <p:nvSpPr>
          <p:cNvPr id="22" name="Shape 19"/>
          <p:cNvSpPr/>
          <p:nvPr/>
        </p:nvSpPr>
        <p:spPr>
          <a:xfrm>
            <a:off x="7296912" y="2990088"/>
            <a:ext cx="950976" cy="950976"/>
          </a:xfrm>
          <a:prstGeom prst="ellipse">
            <a:avLst/>
          </a:prstGeom>
          <a:solidFill>
            <a:srgbClr val="D8D0C2"/>
          </a:solidFill>
          <a:ln w="25400">
            <a:solidFill>
              <a:srgbClr val="9A9183"/>
            </a:solidFill>
            <a:prstDash val="solid"/>
          </a:ln>
        </p:spPr>
      </p:sp>
      <p:sp>
        <p:nvSpPr>
          <p:cNvPr id="23" name="Shape 20"/>
          <p:cNvSpPr/>
          <p:nvPr/>
        </p:nvSpPr>
        <p:spPr>
          <a:xfrm>
            <a:off x="7644384" y="3355848"/>
            <a:ext cx="256032" cy="256032"/>
          </a:xfrm>
          <a:prstGeom prst="ellipse">
            <a:avLst/>
          </a:prstGeom>
          <a:solidFill>
            <a:srgbClr val="FAF6EF"/>
          </a:solidFill>
          <a:ln w="19050">
            <a:solidFill>
              <a:srgbClr val="9A9183"/>
            </a:solidFill>
            <a:prstDash val="solid"/>
          </a:ln>
        </p:spPr>
      </p:sp>
      <p:sp>
        <p:nvSpPr>
          <p:cNvPr id="24" name="Text 21"/>
          <p:cNvSpPr txBox="1"/>
          <p:nvPr/>
        </p:nvSpPr>
        <p:spPr>
          <a:xfrm>
            <a:off x="6995160" y="4023360"/>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Teru</a:t>
            </a:r>
            <a:endParaRPr lang="en-US" sz="1100" dirty="0"/>
          </a:p>
        </p:txBody>
      </p:sp>
      <p:sp>
        <p:nvSpPr>
          <p:cNvPr id="25" name="Text 22"/>
          <p:cNvSpPr txBox="1"/>
          <p:nvPr/>
        </p:nvSpPr>
        <p:spPr>
          <a:xfrm>
            <a:off x="3657600" y="4334256"/>
            <a:ext cx="4937760" cy="292608"/>
          </a:xfrm>
          <a:prstGeom prst="rect">
            <a:avLst/>
          </a:prstGeom>
          <a:noFill/>
          <a:ln/>
        </p:spPr>
        <p:txBody>
          <a:bodyPr wrap="square" lIns="0" tIns="0" rIns="0" bIns="0" rtlCol="0" anchor="ctr"/>
          <a:lstStyle/>
          <a:p>
            <a:pPr algn="ctr" indent="0" marL="0">
              <a:buNone/>
            </a:pPr>
            <a:r>
              <a:rPr lang="en-US" sz="1100" i="1" dirty="0">
                <a:solidFill>
                  <a:srgbClr val="6E655C"/>
                </a:solidFill>
                <a:latin typeface="Calibri" pitchFamily="34" charset="0"/>
                <a:ea typeface="Calibri" pitchFamily="34" charset="-122"/>
                <a:cs typeface="Calibri" pitchFamily="34" charset="-120"/>
              </a:rPr>
              <a:t>the stone stays; only the shared record moves</a:t>
            </a:r>
            <a:endParaRPr lang="en-US" sz="1100" dirty="0"/>
          </a:p>
        </p:txBody>
      </p:sp>
      <p:sp>
        <p:nvSpPr>
          <p:cNvPr id="26" name="Shape 23"/>
          <p:cNvSpPr/>
          <p:nvPr/>
        </p:nvSpPr>
        <p:spPr>
          <a:xfrm>
            <a:off x="3611880" y="4114800"/>
            <a:ext cx="1471178" cy="365760"/>
          </a:xfrm>
          <a:prstGeom prst="roundRect">
            <a:avLst>
              <a:gd name="adj" fmla="val 50000"/>
            </a:avLst>
          </a:prstGeom>
          <a:solidFill>
            <a:srgbClr val="EFE9DC"/>
          </a:solidFill>
          <a:ln w="9525">
            <a:solidFill>
              <a:srgbClr val="DFD6C7"/>
            </a:solidFill>
            <a:prstDash val="solid"/>
          </a:ln>
        </p:spPr>
      </p:sp>
      <p:sp>
        <p:nvSpPr>
          <p:cNvPr id="27" name="Text 24"/>
          <p:cNvSpPr txBox="1"/>
          <p:nvPr/>
        </p:nvSpPr>
        <p:spPr>
          <a:xfrm>
            <a:off x="3703320" y="4114800"/>
            <a:ext cx="1324874"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the Yapese; documen…</a:t>
            </a:r>
            <a:endParaRPr lang="en-US" sz="750" dirty="0"/>
          </a:p>
        </p:txBody>
      </p:sp>
      <p:sp>
        <p:nvSpPr>
          <p:cNvPr id="28" name="Shape 25"/>
          <p:cNvSpPr/>
          <p:nvPr/>
        </p:nvSpPr>
        <p:spPr>
          <a:xfrm>
            <a:off x="5192786" y="4114800"/>
            <a:ext cx="1471178" cy="365760"/>
          </a:xfrm>
          <a:prstGeom prst="roundRect">
            <a:avLst>
              <a:gd name="adj" fmla="val 50000"/>
            </a:avLst>
          </a:prstGeom>
          <a:solidFill>
            <a:srgbClr val="EFE9DC"/>
          </a:solidFill>
          <a:ln w="9525">
            <a:solidFill>
              <a:srgbClr val="DFD6C7"/>
            </a:solidFill>
            <a:prstDash val="solid"/>
          </a:ln>
        </p:spPr>
      </p:sp>
      <p:sp>
        <p:nvSpPr>
          <p:cNvPr id="29" name="Text 26"/>
          <p:cNvSpPr txBox="1"/>
          <p:nvPr/>
        </p:nvSpPr>
        <p:spPr>
          <a:xfrm>
            <a:off x="5284226" y="4114800"/>
            <a:ext cx="1324874"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Yap, Micronesia</a:t>
            </a:r>
            <a:endParaRPr lang="en-US" sz="750" dirty="0"/>
          </a:p>
        </p:txBody>
      </p:sp>
      <p:sp>
        <p:nvSpPr>
          <p:cNvPr id="30" name="Shape 27"/>
          <p:cNvSpPr/>
          <p:nvPr/>
        </p:nvSpPr>
        <p:spPr>
          <a:xfrm>
            <a:off x="6773692" y="4114800"/>
            <a:ext cx="806775" cy="365760"/>
          </a:xfrm>
          <a:prstGeom prst="roundRect">
            <a:avLst>
              <a:gd name="adj" fmla="val 50000"/>
            </a:avLst>
          </a:prstGeom>
          <a:solidFill>
            <a:srgbClr val="EFE9DC"/>
          </a:solidFill>
          <a:ln w="9525">
            <a:solidFill>
              <a:srgbClr val="DFD6C7"/>
            </a:solidFill>
            <a:prstDash val="solid"/>
          </a:ln>
        </p:spPr>
      </p:sp>
      <p:sp>
        <p:nvSpPr>
          <p:cNvPr id="31" name="Text 28"/>
          <p:cNvSpPr txBox="1"/>
          <p:nvPr/>
        </p:nvSpPr>
        <p:spPr>
          <a:xfrm>
            <a:off x="6865132" y="4114800"/>
            <a:ext cx="660471"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Yap, …</a:t>
            </a:r>
            <a:endParaRPr lang="en-US" sz="750" dirty="0"/>
          </a:p>
        </p:txBody>
      </p:sp>
      <p:sp>
        <p:nvSpPr>
          <p:cNvPr id="32" name="Shape 29"/>
          <p:cNvSpPr/>
          <p:nvPr/>
        </p:nvSpPr>
        <p:spPr>
          <a:xfrm>
            <a:off x="7690195" y="4114800"/>
            <a:ext cx="996605" cy="365760"/>
          </a:xfrm>
          <a:prstGeom prst="roundRect">
            <a:avLst>
              <a:gd name="adj" fmla="val 50000"/>
            </a:avLst>
          </a:prstGeom>
          <a:solidFill>
            <a:srgbClr val="2F6D62"/>
          </a:solidFill>
          <a:ln w="9525">
            <a:solidFill>
              <a:srgbClr val="2F6D62"/>
            </a:solidFill>
            <a:prstDash val="solid"/>
          </a:ln>
        </p:spPr>
      </p:sp>
      <p:sp>
        <p:nvSpPr>
          <p:cNvPr id="33" name="Text 30"/>
          <p:cNvSpPr txBox="1"/>
          <p:nvPr/>
        </p:nvSpPr>
        <p:spPr>
          <a:xfrm>
            <a:off x="7781635" y="4114800"/>
            <a:ext cx="850301"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a:t>
            </a:r>
            <a:endParaRPr lang="en-US" sz="750" dirty="0"/>
          </a:p>
        </p:txBody>
      </p:sp>
      <p:sp>
        <p:nvSpPr>
          <p:cNvPr id="34"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Money is a ledger; Bitcoin makes it digital</a:t>
            </a:r>
            <a:endParaRPr lang="en-US" sz="1350" dirty="0"/>
          </a:p>
        </p:txBody>
      </p:sp>
      <p:sp>
        <p:nvSpPr>
          <p:cNvPr id="36"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42</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Five thousand years to digital cash</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 3000 BCE - 2009</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Those Lydian coins were money once; so is your app balance - the difference is always the ledger.</a:t>
            </a:r>
            <a:endParaRPr lang="en-US" sz="1250" dirty="0"/>
          </a:p>
        </p:txBody>
      </p:sp>
      <p:pic>
        <p:nvPicPr>
          <p:cNvPr id="7" name="Image 0" descr="../../03-materials/ch01/assets/photo_met_tablet.jpg">    </p:cNvPr>
          <p:cNvPicPr>
            <a:picLocks noChangeAspect="1"/>
          </p:cNvPicPr>
          <p:nvPr/>
        </p:nvPicPr>
        <p:blipFill>
          <a:blip r:embed="rId1"/>
          <a:srcRect l="0" r="0" t="0" b="0"/>
          <a:stretch/>
        </p:blipFill>
        <p:spPr>
          <a:xfrm>
            <a:off x="685800" y="1417320"/>
            <a:ext cx="1600200" cy="1325880"/>
          </a:xfrm>
          <a:prstGeom prst="rect">
            <a:avLst/>
          </a:prstGeom>
        </p:spPr>
      </p:pic>
      <p:sp>
        <p:nvSpPr>
          <p:cNvPr id="8" name="Text 5"/>
          <p:cNvSpPr txBox="1"/>
          <p:nvPr/>
        </p:nvSpPr>
        <p:spPr>
          <a:xfrm>
            <a:off x="685800" y="2761488"/>
            <a:ext cx="16002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barley account, Sumer - Met, CC0</a:t>
            </a:r>
            <a:endParaRPr lang="en-US" sz="900" dirty="0"/>
          </a:p>
        </p:txBody>
      </p:sp>
      <p:pic>
        <p:nvPicPr>
          <p:cNvPr id="9" name="Image 1" descr="../../03-materials/ch01/assets/photo_cma_stater.jpg">    </p:cNvPr>
          <p:cNvPicPr>
            <a:picLocks noChangeAspect="1"/>
          </p:cNvPicPr>
          <p:nvPr/>
        </p:nvPicPr>
        <p:blipFill>
          <a:blip r:embed="rId2"/>
          <a:srcRect l="0" r="0" t="0" b="0"/>
          <a:stretch/>
        </p:blipFill>
        <p:spPr>
          <a:xfrm>
            <a:off x="6903720" y="1417320"/>
            <a:ext cx="1600200" cy="1325880"/>
          </a:xfrm>
          <a:prstGeom prst="rect">
            <a:avLst/>
          </a:prstGeom>
        </p:spPr>
      </p:pic>
      <p:sp>
        <p:nvSpPr>
          <p:cNvPr id="10" name="Text 6"/>
          <p:cNvSpPr txBox="1"/>
          <p:nvPr/>
        </p:nvSpPr>
        <p:spPr>
          <a:xfrm>
            <a:off x="6903720" y="2761488"/>
            <a:ext cx="16002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electrum stater, 600-550 BCE - CMA, CC0</a:t>
            </a:r>
            <a:endParaRPr lang="en-US" sz="900" dirty="0"/>
          </a:p>
        </p:txBody>
      </p:sp>
      <p:sp>
        <p:nvSpPr>
          <p:cNvPr id="11" name="Text 7"/>
          <p:cNvSpPr txBox="1"/>
          <p:nvPr/>
        </p:nvSpPr>
        <p:spPr>
          <a:xfrm>
            <a:off x="2514600" y="1737360"/>
            <a:ext cx="4206240" cy="822960"/>
          </a:xfrm>
          <a:prstGeom prst="rect">
            <a:avLst/>
          </a:prstGeom>
          <a:noFill/>
          <a:ln/>
        </p:spPr>
        <p:txBody>
          <a:bodyPr wrap="square" lIns="0" tIns="0" rIns="0" bIns="0" rtlCol="0" anchor="t"/>
          <a:lstStyle/>
          <a:p>
            <a:pPr algn="l" indent="0" marL="0">
              <a:buNone/>
            </a:pPr>
            <a:r>
              <a:rPr lang="en-US" sz="1250" i="1" dirty="0">
                <a:solidFill>
                  <a:srgbClr val="6E655C"/>
                </a:solidFill>
                <a:latin typeface="Calibri" pitchFamily="34" charset="0"/>
                <a:ea typeface="Calibri" pitchFamily="34" charset="-122"/>
                <a:cs typeface="Calibri" pitchFamily="34" charset="-120"/>
              </a:rPr>
              <a:t>The oldest money we can hold is already a ledger entry (left) and a standard token (right).</a:t>
            </a:r>
            <a:endParaRPr lang="en-US" sz="1250" dirty="0"/>
          </a:p>
        </p:txBody>
      </p:sp>
      <p:sp>
        <p:nvSpPr>
          <p:cNvPr id="12" name="Shape 8"/>
          <p:cNvSpPr/>
          <p:nvPr/>
        </p:nvSpPr>
        <p:spPr>
          <a:xfrm>
            <a:off x="457200" y="3552444"/>
            <a:ext cx="8229600" cy="0"/>
          </a:xfrm>
          <a:prstGeom prst="line">
            <a:avLst/>
          </a:prstGeom>
          <a:noFill/>
          <a:ln w="25400">
            <a:solidFill>
              <a:srgbClr val="C9BFAE"/>
            </a:solidFill>
            <a:prstDash val="solid"/>
          </a:ln>
        </p:spPr>
      </p:sp>
      <p:sp>
        <p:nvSpPr>
          <p:cNvPr id="13" name="Shape 9"/>
          <p:cNvSpPr/>
          <p:nvPr/>
        </p:nvSpPr>
        <p:spPr>
          <a:xfrm>
            <a:off x="557784" y="3470148"/>
            <a:ext cx="164592" cy="164592"/>
          </a:xfrm>
          <a:prstGeom prst="ellipse">
            <a:avLst/>
          </a:prstGeom>
          <a:solidFill>
            <a:srgbClr val="2F6D62"/>
          </a:solidFill>
          <a:ln w="12700">
            <a:solidFill>
              <a:srgbClr val="FFFFFF"/>
            </a:solidFill>
            <a:prstDash val="solid"/>
          </a:ln>
        </p:spPr>
      </p:sp>
      <p:sp>
        <p:nvSpPr>
          <p:cNvPr id="14" name="Text 10"/>
          <p:cNvSpPr txBox="1"/>
          <p:nvPr/>
        </p:nvSpPr>
        <p:spPr>
          <a:xfrm>
            <a:off x="365760" y="3076956"/>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~3000 BCE</a:t>
            </a:r>
            <a:endParaRPr lang="en-US" sz="1200" dirty="0"/>
          </a:p>
        </p:txBody>
      </p:sp>
      <p:sp>
        <p:nvSpPr>
          <p:cNvPr id="15" name="Text 11"/>
          <p:cNvSpPr txBox="1"/>
          <p:nvPr/>
        </p:nvSpPr>
        <p:spPr>
          <a:xfrm>
            <a:off x="365760" y="3680460"/>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grain ledgers, Mesopotamia</a:t>
            </a:r>
            <a:endParaRPr lang="en-US" sz="1000" dirty="0"/>
          </a:p>
        </p:txBody>
      </p:sp>
      <p:sp>
        <p:nvSpPr>
          <p:cNvPr id="16" name="Shape 12"/>
          <p:cNvSpPr/>
          <p:nvPr/>
        </p:nvSpPr>
        <p:spPr>
          <a:xfrm>
            <a:off x="2130552" y="3470148"/>
            <a:ext cx="164592" cy="164592"/>
          </a:xfrm>
          <a:prstGeom prst="ellipse">
            <a:avLst/>
          </a:prstGeom>
          <a:solidFill>
            <a:srgbClr val="2F6D62"/>
          </a:solidFill>
          <a:ln w="12700">
            <a:solidFill>
              <a:srgbClr val="FFFFFF"/>
            </a:solidFill>
            <a:prstDash val="solid"/>
          </a:ln>
        </p:spPr>
      </p:sp>
      <p:sp>
        <p:nvSpPr>
          <p:cNvPr id="17" name="Text 13"/>
          <p:cNvSpPr txBox="1"/>
          <p:nvPr/>
        </p:nvSpPr>
        <p:spPr>
          <a:xfrm>
            <a:off x="1664208" y="3076956"/>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~600 BCE</a:t>
            </a:r>
            <a:endParaRPr lang="en-US" sz="1200" dirty="0"/>
          </a:p>
        </p:txBody>
      </p:sp>
      <p:sp>
        <p:nvSpPr>
          <p:cNvPr id="18" name="Text 14"/>
          <p:cNvSpPr txBox="1"/>
          <p:nvPr/>
        </p:nvSpPr>
        <p:spPr>
          <a:xfrm>
            <a:off x="1435608" y="3680460"/>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first coins, Lydia</a:t>
            </a:r>
            <a:endParaRPr lang="en-US" sz="1000" dirty="0"/>
          </a:p>
        </p:txBody>
      </p:sp>
      <p:sp>
        <p:nvSpPr>
          <p:cNvPr id="19" name="Shape 15"/>
          <p:cNvSpPr/>
          <p:nvPr/>
        </p:nvSpPr>
        <p:spPr>
          <a:xfrm>
            <a:off x="3703320" y="3470148"/>
            <a:ext cx="164592" cy="164592"/>
          </a:xfrm>
          <a:prstGeom prst="ellipse">
            <a:avLst/>
          </a:prstGeom>
          <a:solidFill>
            <a:srgbClr val="2F6D62"/>
          </a:solidFill>
          <a:ln w="12700">
            <a:solidFill>
              <a:srgbClr val="FFFFFF"/>
            </a:solidFill>
            <a:prstDash val="solid"/>
          </a:ln>
        </p:spPr>
      </p:sp>
      <p:sp>
        <p:nvSpPr>
          <p:cNvPr id="20" name="Text 16"/>
          <p:cNvSpPr txBox="1"/>
          <p:nvPr/>
        </p:nvSpPr>
        <p:spPr>
          <a:xfrm>
            <a:off x="3236976" y="3076956"/>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~1000</a:t>
            </a:r>
            <a:endParaRPr lang="en-US" sz="1200" dirty="0"/>
          </a:p>
        </p:txBody>
      </p:sp>
      <p:sp>
        <p:nvSpPr>
          <p:cNvPr id="21" name="Text 17"/>
          <p:cNvSpPr txBox="1"/>
          <p:nvPr/>
        </p:nvSpPr>
        <p:spPr>
          <a:xfrm>
            <a:off x="3008376" y="3680460"/>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paper money, Song China</a:t>
            </a:r>
            <a:endParaRPr lang="en-US" sz="1000" dirty="0"/>
          </a:p>
        </p:txBody>
      </p:sp>
      <p:sp>
        <p:nvSpPr>
          <p:cNvPr id="22" name="Shape 18"/>
          <p:cNvSpPr/>
          <p:nvPr/>
        </p:nvSpPr>
        <p:spPr>
          <a:xfrm>
            <a:off x="5276088" y="3470148"/>
            <a:ext cx="164592" cy="164592"/>
          </a:xfrm>
          <a:prstGeom prst="ellipse">
            <a:avLst/>
          </a:prstGeom>
          <a:solidFill>
            <a:srgbClr val="2F6D62"/>
          </a:solidFill>
          <a:ln w="12700">
            <a:solidFill>
              <a:srgbClr val="FFFFFF"/>
            </a:solidFill>
            <a:prstDash val="solid"/>
          </a:ln>
        </p:spPr>
      </p:sp>
      <p:sp>
        <p:nvSpPr>
          <p:cNvPr id="23" name="Text 19"/>
          <p:cNvSpPr txBox="1"/>
          <p:nvPr/>
        </p:nvSpPr>
        <p:spPr>
          <a:xfrm>
            <a:off x="4809744" y="3076956"/>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1600s</a:t>
            </a:r>
            <a:endParaRPr lang="en-US" sz="1200" dirty="0"/>
          </a:p>
        </p:txBody>
      </p:sp>
      <p:sp>
        <p:nvSpPr>
          <p:cNvPr id="24" name="Text 20"/>
          <p:cNvSpPr txBox="1"/>
          <p:nvPr/>
        </p:nvSpPr>
        <p:spPr>
          <a:xfrm>
            <a:off x="4581144" y="3680460"/>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goldsmiths' receipts, bank money</a:t>
            </a:r>
            <a:endParaRPr lang="en-US" sz="1000" dirty="0"/>
          </a:p>
        </p:txBody>
      </p:sp>
      <p:sp>
        <p:nvSpPr>
          <p:cNvPr id="25" name="Shape 21"/>
          <p:cNvSpPr/>
          <p:nvPr/>
        </p:nvSpPr>
        <p:spPr>
          <a:xfrm>
            <a:off x="6848856" y="3470148"/>
            <a:ext cx="164592" cy="164592"/>
          </a:xfrm>
          <a:prstGeom prst="ellipse">
            <a:avLst/>
          </a:prstGeom>
          <a:solidFill>
            <a:srgbClr val="2F6D62"/>
          </a:solidFill>
          <a:ln w="12700">
            <a:solidFill>
              <a:srgbClr val="FFFFFF"/>
            </a:solidFill>
            <a:prstDash val="solid"/>
          </a:ln>
        </p:spPr>
      </p:sp>
      <p:sp>
        <p:nvSpPr>
          <p:cNvPr id="26" name="Text 22"/>
          <p:cNvSpPr txBox="1"/>
          <p:nvPr/>
        </p:nvSpPr>
        <p:spPr>
          <a:xfrm>
            <a:off x="6382512" y="3076956"/>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1971</a:t>
            </a:r>
            <a:endParaRPr lang="en-US" sz="1200" dirty="0"/>
          </a:p>
        </p:txBody>
      </p:sp>
      <p:sp>
        <p:nvSpPr>
          <p:cNvPr id="27" name="Text 23"/>
          <p:cNvSpPr txBox="1"/>
          <p:nvPr/>
        </p:nvSpPr>
        <p:spPr>
          <a:xfrm>
            <a:off x="6153912" y="3680460"/>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gold tie cut - pure fiat</a:t>
            </a:r>
            <a:endParaRPr lang="en-US" sz="1000" dirty="0"/>
          </a:p>
        </p:txBody>
      </p:sp>
      <p:sp>
        <p:nvSpPr>
          <p:cNvPr id="28" name="Shape 24"/>
          <p:cNvSpPr/>
          <p:nvPr/>
        </p:nvSpPr>
        <p:spPr>
          <a:xfrm>
            <a:off x="8421624" y="3470148"/>
            <a:ext cx="164592" cy="164592"/>
          </a:xfrm>
          <a:prstGeom prst="ellipse">
            <a:avLst/>
          </a:prstGeom>
          <a:solidFill>
            <a:srgbClr val="D97A14"/>
          </a:solidFill>
          <a:ln w="12700">
            <a:solidFill>
              <a:srgbClr val="FFFFFF"/>
            </a:solidFill>
            <a:prstDash val="solid"/>
          </a:ln>
        </p:spPr>
      </p:sp>
      <p:sp>
        <p:nvSpPr>
          <p:cNvPr id="29" name="Text 25"/>
          <p:cNvSpPr txBox="1"/>
          <p:nvPr/>
        </p:nvSpPr>
        <p:spPr>
          <a:xfrm>
            <a:off x="7680960" y="3076956"/>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2009</a:t>
            </a:r>
            <a:endParaRPr lang="en-US" sz="1200" dirty="0"/>
          </a:p>
        </p:txBody>
      </p:sp>
      <p:sp>
        <p:nvSpPr>
          <p:cNvPr id="30" name="Text 26"/>
          <p:cNvSpPr txBox="1"/>
          <p:nvPr/>
        </p:nvSpPr>
        <p:spPr>
          <a:xfrm>
            <a:off x="7223760" y="3680460"/>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cryptocurrency</a:t>
            </a:r>
            <a:endParaRPr lang="en-US" sz="1000" dirty="0"/>
          </a:p>
        </p:txBody>
      </p:sp>
      <p:sp>
        <p:nvSpPr>
          <p:cNvPr id="31" name="Shape 27"/>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32" name="Text 28"/>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800" dirty="0">
                <a:solidFill>
                  <a:srgbClr val="2B2622"/>
                </a:solidFill>
                <a:latin typeface="Calibri" pitchFamily="34" charset="0"/>
                <a:ea typeface="Calibri" pitchFamily="34" charset="-122"/>
                <a:cs typeface="Calibri" pitchFamily="34" charset="-120"/>
              </a:rPr>
              <a:t>ledger-keepers, from temple scribes to…</a:t>
            </a:r>
            <a:endParaRPr lang="en-US" sz="750" dirty="0"/>
          </a:p>
        </p:txBody>
      </p:sp>
      <p:sp>
        <p:nvSpPr>
          <p:cNvPr id="33" name="Shape 29"/>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34" name="Text 30"/>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800" dirty="0">
                <a:solidFill>
                  <a:srgbClr val="2B2622"/>
                </a:solidFill>
                <a:latin typeface="Calibri" pitchFamily="34" charset="0"/>
                <a:ea typeface="Calibri" pitchFamily="34" charset="-122"/>
                <a:cs typeface="Calibri" pitchFamily="34" charset="-120"/>
              </a:rPr>
              <a:t>Mesopotamia, Lydia, China, and onward</a:t>
            </a:r>
            <a:endParaRPr lang="en-US" sz="750" dirty="0"/>
          </a:p>
        </p:txBody>
      </p:sp>
      <p:sp>
        <p:nvSpPr>
          <p:cNvPr id="35" name="Shape 31"/>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36" name="Text 32"/>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c. 3000 BCE - 20…</a:t>
            </a:r>
            <a:endParaRPr lang="en-US" sz="750" dirty="0"/>
          </a:p>
        </p:txBody>
      </p:sp>
      <p:sp>
        <p:nvSpPr>
          <p:cNvPr id="37" name="Shape 33"/>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38" name="Text 34"/>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39" name="Shape 35"/>
          <p:cNvSpPr/>
          <p:nvPr/>
        </p:nvSpPr>
        <p:spPr>
          <a:xfrm>
            <a:off x="457200" y="4636008"/>
            <a:ext cx="91440" cy="310896"/>
          </a:xfrm>
          <a:prstGeom prst="rect">
            <a:avLst/>
          </a:prstGeom>
          <a:solidFill>
            <a:srgbClr val="D97A14"/>
          </a:solidFill>
          <a:ln w="12700">
            <a:solidFill>
              <a:srgbClr val="D97A14"/>
            </a:solidFill>
            <a:prstDash val="solid"/>
          </a:ln>
        </p:spPr>
      </p:sp>
      <p:sp>
        <p:nvSpPr>
          <p:cNvPr id="40" name="Text 3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era changed the ledger-keeper; Bitcoin removed the position</a:t>
            </a:r>
            <a:endParaRPr lang="en-US" sz="1350" dirty="0"/>
          </a:p>
        </p:txBody>
      </p:sp>
      <p:sp>
        <p:nvSpPr>
          <p:cNvPr id="41" name="Text 3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42</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Traditional, digital, crypto - side by side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one-table comparison</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463040"/>
          <a:ext cx="8412480" cy="914400"/>
        </p:xfrm>
        <a:graphic>
          <a:graphicData uri="http://schemas.openxmlformats.org/drawingml/2006/table">
            <a:tbl>
              <a:tblPr/>
              <a:tblGrid>
                <a:gridCol w="1554480"/>
                <a:gridCol w="2194560"/>
                <a:gridCol w="2331720"/>
                <a:gridCol w="2331720"/>
              </a:tblGrid>
              <a:tr h="566928">
                <a:tc>
                  <a:txBody>
                    <a:bodyPr/>
                    <a:lstStyle/>
                    <a:p>
                      <a:pPr indent="0" marL="0">
                        <a:buNone/>
                      </a:pP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Traditional (cash)</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Digital money (bank, card, e-money)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Cryptocurrency (bitcoin)</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Issued by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A central bank</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Commercial banks on a central bank base</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 one - issuance is in the protocol</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Exists as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Paper and coin in hand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Entries in banks' private ledgers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Entries in one public ledger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Who keeps the ledger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No ledger - possession is the record</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Banks and processors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Every node, together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Supply is set by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Monetary policy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Monetary policy and credit</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Fixed rules anyone can verify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566928">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Settles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Hand to hand, instantly</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Through intermediaries, in days</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Peer to peer, in about an hour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Shape 4"/>
          <p:cNvSpPr/>
          <p:nvPr/>
        </p:nvSpPr>
        <p:spPr>
          <a:xfrm>
            <a:off x="457200" y="4636008"/>
            <a:ext cx="91440" cy="310896"/>
          </a:xfrm>
          <a:prstGeom prst="rect">
            <a:avLst/>
          </a:prstGeom>
          <a:solidFill>
            <a:srgbClr val="D97A14"/>
          </a:solidFill>
          <a:ln w="12700">
            <a:solidFill>
              <a:srgbClr val="D97A14"/>
            </a:solidFill>
            <a:prstDash val="solid"/>
          </a:ln>
        </p:spPr>
      </p:sp>
      <p:sp>
        <p:nvSpPr>
          <p:cNvPr id="8" name="Text 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Same uses, different ledgers - and that difference is this course</a:t>
            </a:r>
            <a:endParaRPr lang="en-US" sz="1350" dirty="0"/>
          </a:p>
        </p:txBody>
      </p:sp>
      <p:sp>
        <p:nvSpPr>
          <p:cNvPr id="9" name="Text 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42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Physical cash: superb in person, stuck there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the oldest form still works - and where it stops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Before praising Bitcoin, be fair to cash: it settles instantly, anonymously, with no middleman - but it cannot reach the internet.</a:t>
            </a:r>
            <a:endParaRPr lang="en-US" sz="1250" dirty="0"/>
          </a:p>
        </p:txBody>
      </p:sp>
      <p:sp>
        <p:nvSpPr>
          <p:cNvPr id="7" name="Shape 5"/>
          <p:cNvSpPr/>
          <p:nvPr/>
        </p:nvSpPr>
        <p:spPr>
          <a:xfrm>
            <a:off x="457200" y="1554480"/>
            <a:ext cx="3931920" cy="2834640"/>
          </a:xfrm>
          <a:prstGeom prst="roundRect">
            <a:avLst>
              <a:gd name="adj" fmla="val 3226"/>
            </a:avLst>
          </a:prstGeom>
          <a:solidFill>
            <a:srgbClr val="F2ECE1"/>
          </a:solidFill>
          <a:ln w="15875">
            <a:solidFill>
              <a:srgbClr val="D97A14"/>
            </a:solidFill>
            <a:prstDash val="solid"/>
          </a:ln>
        </p:spPr>
      </p:sp>
      <p:sp>
        <p:nvSpPr>
          <p:cNvPr id="8" name="Text 6"/>
          <p:cNvSpPr txBox="1"/>
          <p:nvPr/>
        </p:nvSpPr>
        <p:spPr>
          <a:xfrm>
            <a:off x="640080" y="16642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What cash does well</a:t>
            </a:r>
            <a:endParaRPr lang="en-US" sz="1500" dirty="0"/>
          </a:p>
        </p:txBody>
      </p:sp>
      <p:sp>
        <p:nvSpPr>
          <p:cNvPr id="9" name="Text 7"/>
          <p:cNvSpPr txBox="1"/>
          <p:nvPr/>
        </p:nvSpPr>
        <p:spPr>
          <a:xfrm>
            <a:off x="640080" y="2084832"/>
            <a:ext cx="3566160" cy="217627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Settles hand to hand, instantly and finally</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Needs no account, bank, identity, or permission</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Cannot be frozen or censored remotely</a:t>
            </a:r>
            <a:endParaRPr lang="en-US" sz="1250" dirty="0"/>
          </a:p>
        </p:txBody>
      </p:sp>
      <p:sp>
        <p:nvSpPr>
          <p:cNvPr id="10" name="Shape 8"/>
          <p:cNvSpPr/>
          <p:nvPr/>
        </p:nvSpPr>
        <p:spPr>
          <a:xfrm>
            <a:off x="4754880" y="1554480"/>
            <a:ext cx="3931920" cy="2834640"/>
          </a:xfrm>
          <a:prstGeom prst="roundRect">
            <a:avLst>
              <a:gd name="adj" fmla="val 3226"/>
            </a:avLst>
          </a:prstGeom>
          <a:solidFill>
            <a:srgbClr val="F2ECE1"/>
          </a:solidFill>
          <a:ln w="15875">
            <a:solidFill>
              <a:srgbClr val="2F6D62"/>
            </a:solidFill>
            <a:prstDash val="solid"/>
          </a:ln>
        </p:spPr>
      </p:sp>
      <p:sp>
        <p:nvSpPr>
          <p:cNvPr id="11" name="Text 9"/>
          <p:cNvSpPr txBox="1"/>
          <p:nvPr/>
        </p:nvSpPr>
        <p:spPr>
          <a:xfrm>
            <a:off x="4937760" y="16642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Where it fails</a:t>
            </a:r>
            <a:endParaRPr lang="en-US" sz="1500" dirty="0"/>
          </a:p>
        </p:txBody>
      </p:sp>
      <p:sp>
        <p:nvSpPr>
          <p:cNvPr id="12" name="Text 10"/>
          <p:cNvSpPr txBox="1"/>
          <p:nvPr/>
        </p:nvSpPr>
        <p:spPr>
          <a:xfrm>
            <a:off x="4937760" y="2084832"/>
            <a:ext cx="3566160" cy="217627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Cannot travel a wire - no remote commerce</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Theft and loss are final; carrying value is risky</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Counterfeiting must be policed forever</a:t>
            </a:r>
            <a:endParaRPr lang="en-US" sz="125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Cash is a bearer instrument: perfect in person, useless on a network</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42</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Why digital money had to wait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copy problem: a digital coin is a file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Digital money is older than you think - what was missing for forty years was a way to stop one coin being spent twice without a bank in the middle.</a:t>
            </a:r>
            <a:endParaRPr lang="en-US" sz="1250" dirty="0"/>
          </a:p>
        </p:txBody>
      </p:sp>
      <p:sp>
        <p:nvSpPr>
          <p:cNvPr id="7" name="Shape 5"/>
          <p:cNvSpPr/>
          <p:nvPr/>
        </p:nvSpPr>
        <p:spPr>
          <a:xfrm>
            <a:off x="457200" y="1636776"/>
            <a:ext cx="402336" cy="402336"/>
          </a:xfrm>
          <a:prstGeom prst="ellipse">
            <a:avLst/>
          </a:prstGeom>
          <a:solidFill>
            <a:srgbClr val="D97A14"/>
          </a:solidFill>
          <a:ln w="12700">
            <a:solidFill>
              <a:srgbClr val="D97A14"/>
            </a:solidFill>
            <a:prstDash val="solid"/>
          </a:ln>
        </p:spPr>
      </p:sp>
      <p:sp>
        <p:nvSpPr>
          <p:cNvPr id="8" name="Text 6"/>
          <p:cNvSpPr txBox="1"/>
          <p:nvPr/>
        </p:nvSpPr>
        <p:spPr>
          <a:xfrm>
            <a:off x="457200" y="16367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txBox="1"/>
          <p:nvPr/>
        </p:nvSpPr>
        <p:spPr>
          <a:xfrm>
            <a:off x="1024128" y="1600200"/>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Make money digital and it becomes a file</a:t>
            </a:r>
            <a:endParaRPr lang="en-US" sz="1150" dirty="0"/>
          </a:p>
        </p:txBody>
      </p:sp>
      <p:sp>
        <p:nvSpPr>
          <p:cNvPr id="10" name="Shape 8"/>
          <p:cNvSpPr/>
          <p:nvPr/>
        </p:nvSpPr>
        <p:spPr>
          <a:xfrm>
            <a:off x="457200" y="2295144"/>
            <a:ext cx="402336" cy="402336"/>
          </a:xfrm>
          <a:prstGeom prst="ellipse">
            <a:avLst/>
          </a:prstGeom>
          <a:solidFill>
            <a:srgbClr val="D97A14"/>
          </a:solidFill>
          <a:ln w="12700">
            <a:solidFill>
              <a:srgbClr val="D97A14"/>
            </a:solidFill>
            <a:prstDash val="solid"/>
          </a:ln>
        </p:spPr>
      </p:sp>
      <p:sp>
        <p:nvSpPr>
          <p:cNvPr id="11" name="Text 9"/>
          <p:cNvSpPr txBox="1"/>
          <p:nvPr/>
        </p:nvSpPr>
        <p:spPr>
          <a:xfrm>
            <a:off x="457200" y="22951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1024128" y="2258568"/>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Files copy perfectly - so coins would too</a:t>
            </a:r>
            <a:endParaRPr lang="en-US" sz="1150" dirty="0"/>
          </a:p>
        </p:txBody>
      </p:sp>
      <p:sp>
        <p:nvSpPr>
          <p:cNvPr id="13" name="Shape 11"/>
          <p:cNvSpPr/>
          <p:nvPr/>
        </p:nvSpPr>
        <p:spPr>
          <a:xfrm>
            <a:off x="457200" y="2953512"/>
            <a:ext cx="402336" cy="402336"/>
          </a:xfrm>
          <a:prstGeom prst="ellipse">
            <a:avLst/>
          </a:prstGeom>
          <a:solidFill>
            <a:srgbClr val="D97A14"/>
          </a:solidFill>
          <a:ln w="12700">
            <a:solidFill>
              <a:srgbClr val="D97A14"/>
            </a:solidFill>
            <a:prstDash val="solid"/>
          </a:ln>
        </p:spPr>
      </p:sp>
      <p:sp>
        <p:nvSpPr>
          <p:cNvPr id="14" name="Text 12"/>
          <p:cNvSpPr txBox="1"/>
          <p:nvPr/>
        </p:nvSpPr>
        <p:spPr>
          <a:xfrm>
            <a:off x="457200" y="29535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txBox="1"/>
          <p:nvPr/>
        </p:nvSpPr>
        <p:spPr>
          <a:xfrm>
            <a:off x="1024128" y="2916936"/>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Both copies get spent: the double-spend</a:t>
            </a:r>
            <a:endParaRPr lang="en-US" sz="1150" dirty="0"/>
          </a:p>
        </p:txBody>
      </p:sp>
      <p:sp>
        <p:nvSpPr>
          <p:cNvPr id="16" name="Shape 14"/>
          <p:cNvSpPr/>
          <p:nvPr/>
        </p:nvSpPr>
        <p:spPr>
          <a:xfrm>
            <a:off x="457200" y="3611880"/>
            <a:ext cx="402336" cy="402336"/>
          </a:xfrm>
          <a:prstGeom prst="ellipse">
            <a:avLst/>
          </a:prstGeom>
          <a:solidFill>
            <a:srgbClr val="D97A14"/>
          </a:solidFill>
          <a:ln w="12700">
            <a:solidFill>
              <a:srgbClr val="D97A14"/>
            </a:solidFill>
            <a:prstDash val="solid"/>
          </a:ln>
        </p:spPr>
      </p:sp>
      <p:sp>
        <p:nvSpPr>
          <p:cNvPr id="17" name="Text 15"/>
          <p:cNvSpPr txBox="1"/>
          <p:nvPr/>
        </p:nvSpPr>
        <p:spPr>
          <a:xfrm>
            <a:off x="457200" y="3611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8" name="Text 16"/>
          <p:cNvSpPr txBox="1"/>
          <p:nvPr/>
        </p:nvSpPr>
        <p:spPr>
          <a:xfrm>
            <a:off x="1024128" y="3575304"/>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For decades only a trusted central ledger could stop it - so digital money meant bank money</a:t>
            </a:r>
            <a:endParaRPr lang="en-US" sz="1150" dirty="0"/>
          </a:p>
        </p:txBody>
      </p:sp>
      <p:sp>
        <p:nvSpPr>
          <p:cNvPr id="19" name="Shape 17"/>
          <p:cNvSpPr/>
          <p:nvPr/>
        </p:nvSpPr>
        <p:spPr>
          <a:xfrm>
            <a:off x="4206240" y="2596896"/>
            <a:ext cx="1051560" cy="566928"/>
          </a:xfrm>
          <a:prstGeom prst="roundRect">
            <a:avLst>
              <a:gd name="adj" fmla="val 12903"/>
            </a:avLst>
          </a:prstGeom>
          <a:solidFill>
            <a:srgbClr val="F2ECE1"/>
          </a:solidFill>
          <a:ln w="19050">
            <a:solidFill>
              <a:srgbClr val="2F6D62"/>
            </a:solidFill>
            <a:prstDash val="solid"/>
          </a:ln>
        </p:spPr>
      </p:sp>
      <p:sp>
        <p:nvSpPr>
          <p:cNvPr id="20" name="Shape 18"/>
          <p:cNvSpPr/>
          <p:nvPr/>
        </p:nvSpPr>
        <p:spPr>
          <a:xfrm>
            <a:off x="4279392" y="2724912"/>
            <a:ext cx="310896" cy="310896"/>
          </a:xfrm>
          <a:prstGeom prst="ellipse">
            <a:avLst/>
          </a:prstGeom>
          <a:solidFill>
            <a:srgbClr val="E8B94B"/>
          </a:solidFill>
          <a:ln w="15875">
            <a:solidFill>
              <a:srgbClr val="B98A2B"/>
            </a:solidFill>
            <a:prstDash val="solid"/>
          </a:ln>
        </p:spPr>
      </p:sp>
      <p:sp>
        <p:nvSpPr>
          <p:cNvPr id="21" name="Text 19"/>
          <p:cNvSpPr txBox="1"/>
          <p:nvPr/>
        </p:nvSpPr>
        <p:spPr>
          <a:xfrm>
            <a:off x="4279392" y="2724912"/>
            <a:ext cx="310896" cy="310896"/>
          </a:xfrm>
          <a:prstGeom prst="rect">
            <a:avLst/>
          </a:prstGeom>
          <a:noFill/>
          <a:ln/>
        </p:spPr>
        <p:txBody>
          <a:bodyPr wrap="square" lIns="0" tIns="0" rIns="0" bIns="0" rtlCol="0" anchor="ctr"/>
          <a:lstStyle/>
          <a:p>
            <a:pPr algn="ctr" indent="0" marL="0">
              <a:buNone/>
            </a:pPr>
            <a:r>
              <a:rPr lang="en-US" sz="1200" b="1" dirty="0">
                <a:solidFill>
                  <a:srgbClr val="7A5A14"/>
                </a:solidFill>
                <a:latin typeface="Calibri" pitchFamily="34" charset="0"/>
                <a:ea typeface="Calibri" pitchFamily="34" charset="-122"/>
                <a:cs typeface="Calibri" pitchFamily="34" charset="-120"/>
              </a:rPr>
              <a:t>₿</a:t>
            </a:r>
            <a:endParaRPr lang="en-US" sz="1200" dirty="0"/>
          </a:p>
        </p:txBody>
      </p:sp>
      <p:sp>
        <p:nvSpPr>
          <p:cNvPr id="22" name="Text 20"/>
          <p:cNvSpPr txBox="1"/>
          <p:nvPr/>
        </p:nvSpPr>
        <p:spPr>
          <a:xfrm>
            <a:off x="4608576" y="2596896"/>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 coin,</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as a file</a:t>
            </a:r>
            <a:endParaRPr lang="en-US" sz="950" dirty="0"/>
          </a:p>
        </p:txBody>
      </p:sp>
      <p:sp>
        <p:nvSpPr>
          <p:cNvPr id="23" name="Shape 21"/>
          <p:cNvSpPr/>
          <p:nvPr/>
        </p:nvSpPr>
        <p:spPr>
          <a:xfrm>
            <a:off x="7040880" y="1828800"/>
            <a:ext cx="1051560" cy="566928"/>
          </a:xfrm>
          <a:prstGeom prst="roundRect">
            <a:avLst>
              <a:gd name="adj" fmla="val 12903"/>
            </a:avLst>
          </a:prstGeom>
          <a:solidFill>
            <a:srgbClr val="F2ECE1"/>
          </a:solidFill>
          <a:ln w="19050">
            <a:solidFill>
              <a:srgbClr val="B6533C"/>
            </a:solidFill>
            <a:prstDash val="solid"/>
          </a:ln>
        </p:spPr>
      </p:sp>
      <p:sp>
        <p:nvSpPr>
          <p:cNvPr id="24" name="Shape 22"/>
          <p:cNvSpPr/>
          <p:nvPr/>
        </p:nvSpPr>
        <p:spPr>
          <a:xfrm>
            <a:off x="7114032" y="1956816"/>
            <a:ext cx="310896" cy="310896"/>
          </a:xfrm>
          <a:prstGeom prst="ellipse">
            <a:avLst/>
          </a:prstGeom>
          <a:solidFill>
            <a:srgbClr val="E8B94B"/>
          </a:solidFill>
          <a:ln w="15875">
            <a:solidFill>
              <a:srgbClr val="B98A2B"/>
            </a:solidFill>
            <a:prstDash val="solid"/>
          </a:ln>
        </p:spPr>
      </p:sp>
      <p:sp>
        <p:nvSpPr>
          <p:cNvPr id="25" name="Text 23"/>
          <p:cNvSpPr txBox="1"/>
          <p:nvPr/>
        </p:nvSpPr>
        <p:spPr>
          <a:xfrm>
            <a:off x="7114032" y="1956816"/>
            <a:ext cx="310896" cy="310896"/>
          </a:xfrm>
          <a:prstGeom prst="rect">
            <a:avLst/>
          </a:prstGeom>
          <a:noFill/>
          <a:ln/>
        </p:spPr>
        <p:txBody>
          <a:bodyPr wrap="square" lIns="0" tIns="0" rIns="0" bIns="0" rtlCol="0" anchor="ctr"/>
          <a:lstStyle/>
          <a:p>
            <a:pPr algn="ctr" indent="0" marL="0">
              <a:buNone/>
            </a:pPr>
            <a:r>
              <a:rPr lang="en-US" sz="1200" b="1" dirty="0">
                <a:solidFill>
                  <a:srgbClr val="7A5A14"/>
                </a:solidFill>
                <a:latin typeface="Calibri" pitchFamily="34" charset="0"/>
                <a:ea typeface="Calibri" pitchFamily="34" charset="-122"/>
                <a:cs typeface="Calibri" pitchFamily="34" charset="-120"/>
              </a:rPr>
              <a:t>₿</a:t>
            </a:r>
            <a:endParaRPr lang="en-US" sz="1200" dirty="0"/>
          </a:p>
        </p:txBody>
      </p:sp>
      <p:sp>
        <p:nvSpPr>
          <p:cNvPr id="26" name="Text 24"/>
          <p:cNvSpPr txBox="1"/>
          <p:nvPr/>
        </p:nvSpPr>
        <p:spPr>
          <a:xfrm>
            <a:off x="7443216" y="1828800"/>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copy 1</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&gt; Shop A</a:t>
            </a:r>
            <a:endParaRPr lang="en-US" sz="950" dirty="0"/>
          </a:p>
        </p:txBody>
      </p:sp>
      <p:sp>
        <p:nvSpPr>
          <p:cNvPr id="27" name="Shape 25"/>
          <p:cNvSpPr/>
          <p:nvPr/>
        </p:nvSpPr>
        <p:spPr>
          <a:xfrm>
            <a:off x="7040880" y="3337560"/>
            <a:ext cx="1051560" cy="566928"/>
          </a:xfrm>
          <a:prstGeom prst="roundRect">
            <a:avLst>
              <a:gd name="adj" fmla="val 12903"/>
            </a:avLst>
          </a:prstGeom>
          <a:solidFill>
            <a:srgbClr val="F2ECE1"/>
          </a:solidFill>
          <a:ln w="19050">
            <a:solidFill>
              <a:srgbClr val="B6533C"/>
            </a:solidFill>
            <a:prstDash val="solid"/>
          </a:ln>
        </p:spPr>
      </p:sp>
      <p:sp>
        <p:nvSpPr>
          <p:cNvPr id="28" name="Shape 26"/>
          <p:cNvSpPr/>
          <p:nvPr/>
        </p:nvSpPr>
        <p:spPr>
          <a:xfrm>
            <a:off x="7114032" y="3465576"/>
            <a:ext cx="310896" cy="310896"/>
          </a:xfrm>
          <a:prstGeom prst="ellipse">
            <a:avLst/>
          </a:prstGeom>
          <a:solidFill>
            <a:srgbClr val="E8B94B"/>
          </a:solidFill>
          <a:ln w="15875">
            <a:solidFill>
              <a:srgbClr val="B98A2B"/>
            </a:solidFill>
            <a:prstDash val="solid"/>
          </a:ln>
        </p:spPr>
      </p:sp>
      <p:sp>
        <p:nvSpPr>
          <p:cNvPr id="29" name="Text 27"/>
          <p:cNvSpPr txBox="1"/>
          <p:nvPr/>
        </p:nvSpPr>
        <p:spPr>
          <a:xfrm>
            <a:off x="7114032" y="3465576"/>
            <a:ext cx="310896" cy="310896"/>
          </a:xfrm>
          <a:prstGeom prst="rect">
            <a:avLst/>
          </a:prstGeom>
          <a:noFill/>
          <a:ln/>
        </p:spPr>
        <p:txBody>
          <a:bodyPr wrap="square" lIns="0" tIns="0" rIns="0" bIns="0" rtlCol="0" anchor="ctr"/>
          <a:lstStyle/>
          <a:p>
            <a:pPr algn="ctr" indent="0" marL="0">
              <a:buNone/>
            </a:pPr>
            <a:r>
              <a:rPr lang="en-US" sz="1200" b="1" dirty="0">
                <a:solidFill>
                  <a:srgbClr val="7A5A14"/>
                </a:solidFill>
                <a:latin typeface="Calibri" pitchFamily="34" charset="0"/>
                <a:ea typeface="Calibri" pitchFamily="34" charset="-122"/>
                <a:cs typeface="Calibri" pitchFamily="34" charset="-120"/>
              </a:rPr>
              <a:t>₿</a:t>
            </a:r>
            <a:endParaRPr lang="en-US" sz="1200" dirty="0"/>
          </a:p>
        </p:txBody>
      </p:sp>
      <p:sp>
        <p:nvSpPr>
          <p:cNvPr id="30" name="Text 28"/>
          <p:cNvSpPr txBox="1"/>
          <p:nvPr/>
        </p:nvSpPr>
        <p:spPr>
          <a:xfrm>
            <a:off x="7443216" y="3337560"/>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copy 2</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&gt; Shop B</a:t>
            </a:r>
            <a:endParaRPr lang="en-US" sz="950" dirty="0"/>
          </a:p>
        </p:txBody>
      </p:sp>
      <p:sp>
        <p:nvSpPr>
          <p:cNvPr id="31" name="Shape 29"/>
          <p:cNvSpPr/>
          <p:nvPr/>
        </p:nvSpPr>
        <p:spPr>
          <a:xfrm flipV="1">
            <a:off x="5303520" y="2112264"/>
            <a:ext cx="1417320" cy="768096"/>
          </a:xfrm>
          <a:prstGeom prst="line">
            <a:avLst/>
          </a:prstGeom>
          <a:noFill/>
          <a:ln w="25400">
            <a:solidFill>
              <a:srgbClr val="B6533C"/>
            </a:solidFill>
            <a:prstDash val="solid"/>
            <a:tailEnd type="triangle"/>
          </a:ln>
        </p:spPr>
      </p:sp>
      <p:sp>
        <p:nvSpPr>
          <p:cNvPr id="32" name="Shape 30"/>
          <p:cNvSpPr/>
          <p:nvPr/>
        </p:nvSpPr>
        <p:spPr>
          <a:xfrm>
            <a:off x="5303520" y="2880360"/>
            <a:ext cx="1417320" cy="740664"/>
          </a:xfrm>
          <a:prstGeom prst="line">
            <a:avLst/>
          </a:prstGeom>
          <a:noFill/>
          <a:ln w="25400">
            <a:solidFill>
              <a:srgbClr val="B6533C"/>
            </a:solidFill>
            <a:prstDash val="solid"/>
            <a:tailEnd type="triangle"/>
          </a:ln>
        </p:spPr>
      </p:sp>
      <p:sp>
        <p:nvSpPr>
          <p:cNvPr id="33" name="Text 31"/>
          <p:cNvSpPr txBox="1"/>
          <p:nvPr/>
        </p:nvSpPr>
        <p:spPr>
          <a:xfrm>
            <a:off x="5074920" y="1755648"/>
            <a:ext cx="1645920" cy="274320"/>
          </a:xfrm>
          <a:prstGeom prst="rect">
            <a:avLst/>
          </a:prstGeom>
          <a:noFill/>
          <a:ln/>
        </p:spPr>
        <p:txBody>
          <a:bodyPr wrap="square" lIns="0" tIns="0" rIns="0" bIns="0" rtlCol="0" anchor="ctr"/>
          <a:lstStyle/>
          <a:p>
            <a:pPr indent="0" marL="0">
              <a:buNone/>
            </a:pPr>
            <a:r>
              <a:rPr lang="en-US" sz="1000" i="1" dirty="0">
                <a:solidFill>
                  <a:srgbClr val="B6533C"/>
                </a:solidFill>
                <a:latin typeface="Calibri" pitchFamily="34" charset="0"/>
                <a:ea typeface="Calibri" pitchFamily="34" charset="-122"/>
                <a:cs typeface="Calibri" pitchFamily="34" charset="-120"/>
              </a:rPr>
              <a:t>perfect copy</a:t>
            </a:r>
            <a:endParaRPr lang="en-US" sz="1000" dirty="0"/>
          </a:p>
        </p:txBody>
      </p:sp>
      <p:sp>
        <p:nvSpPr>
          <p:cNvPr id="34" name="Text 32"/>
          <p:cNvSpPr txBox="1"/>
          <p:nvPr/>
        </p:nvSpPr>
        <p:spPr>
          <a:xfrm>
            <a:off x="3977640" y="4041648"/>
            <a:ext cx="46634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both shops see valid money - the same money</a:t>
            </a:r>
            <a:endParaRPr lang="en-US" sz="1050" dirty="0"/>
          </a:p>
        </p:txBody>
      </p:sp>
      <p:sp>
        <p:nvSpPr>
          <p:cNvPr id="35" name="Shape 33"/>
          <p:cNvSpPr/>
          <p:nvPr/>
        </p:nvSpPr>
        <p:spPr>
          <a:xfrm>
            <a:off x="457200" y="4636008"/>
            <a:ext cx="91440" cy="310896"/>
          </a:xfrm>
          <a:prstGeom prst="rect">
            <a:avLst/>
          </a:prstGeom>
          <a:solidFill>
            <a:srgbClr val="D97A14"/>
          </a:solidFill>
          <a:ln w="12700">
            <a:solidFill>
              <a:srgbClr val="D97A14"/>
            </a:solidFill>
            <a:prstDash val="solid"/>
          </a:ln>
        </p:spPr>
      </p:sp>
      <p:sp>
        <p:nvSpPr>
          <p:cNvPr id="36" name="Text 3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Perfect copies made digital cash impossible without a referee</a:t>
            </a:r>
            <a:endParaRPr lang="en-US" sz="1350" dirty="0"/>
          </a:p>
        </p:txBody>
      </p:sp>
      <p:sp>
        <p:nvSpPr>
          <p:cNvPr id="37" name="Text 3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42</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double-spend, solved in public</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shared ledger, one agreed order - no referee needed</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Satoshi's whitepaper names the problem in its second sentence; the answer is not better files but a public ledger every node keeps and orders together.</a:t>
            </a:r>
            <a:endParaRPr lang="en-US" sz="1250" dirty="0"/>
          </a:p>
        </p:txBody>
      </p:sp>
      <p:sp>
        <p:nvSpPr>
          <p:cNvPr id="7" name="Shape 5"/>
          <p:cNvSpPr/>
          <p:nvPr/>
        </p:nvSpPr>
        <p:spPr>
          <a:xfrm>
            <a:off x="457200" y="1636776"/>
            <a:ext cx="402336" cy="402336"/>
          </a:xfrm>
          <a:prstGeom prst="ellipse">
            <a:avLst/>
          </a:prstGeom>
          <a:solidFill>
            <a:srgbClr val="D97A14"/>
          </a:solidFill>
          <a:ln w="12700">
            <a:solidFill>
              <a:srgbClr val="D97A14"/>
            </a:solidFill>
            <a:prstDash val="solid"/>
          </a:ln>
        </p:spPr>
      </p:sp>
      <p:sp>
        <p:nvSpPr>
          <p:cNvPr id="8" name="Text 6"/>
          <p:cNvSpPr txBox="1"/>
          <p:nvPr/>
        </p:nvSpPr>
        <p:spPr>
          <a:xfrm>
            <a:off x="457200" y="16367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txBox="1"/>
          <p:nvPr/>
        </p:nvSpPr>
        <p:spPr>
          <a:xfrm>
            <a:off x="1024128" y="1600200"/>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Every payment is broadcast to every node</a:t>
            </a:r>
            <a:endParaRPr lang="en-US" sz="1150" dirty="0"/>
          </a:p>
        </p:txBody>
      </p:sp>
      <p:sp>
        <p:nvSpPr>
          <p:cNvPr id="10" name="Shape 8"/>
          <p:cNvSpPr/>
          <p:nvPr/>
        </p:nvSpPr>
        <p:spPr>
          <a:xfrm>
            <a:off x="457200" y="2295144"/>
            <a:ext cx="402336" cy="402336"/>
          </a:xfrm>
          <a:prstGeom prst="ellipse">
            <a:avLst/>
          </a:prstGeom>
          <a:solidFill>
            <a:srgbClr val="D97A14"/>
          </a:solidFill>
          <a:ln w="12700">
            <a:solidFill>
              <a:srgbClr val="D97A14"/>
            </a:solidFill>
            <a:prstDash val="solid"/>
          </a:ln>
        </p:spPr>
      </p:sp>
      <p:sp>
        <p:nvSpPr>
          <p:cNvPr id="11" name="Text 9"/>
          <p:cNvSpPr txBox="1"/>
          <p:nvPr/>
        </p:nvSpPr>
        <p:spPr>
          <a:xfrm>
            <a:off x="457200" y="22951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1024128" y="2258568"/>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Nodes agree on one order for all payments</a:t>
            </a:r>
            <a:endParaRPr lang="en-US" sz="1150" dirty="0"/>
          </a:p>
        </p:txBody>
      </p:sp>
      <p:sp>
        <p:nvSpPr>
          <p:cNvPr id="13" name="Shape 11"/>
          <p:cNvSpPr/>
          <p:nvPr/>
        </p:nvSpPr>
        <p:spPr>
          <a:xfrm>
            <a:off x="457200" y="2953512"/>
            <a:ext cx="402336" cy="402336"/>
          </a:xfrm>
          <a:prstGeom prst="ellipse">
            <a:avLst/>
          </a:prstGeom>
          <a:solidFill>
            <a:srgbClr val="D97A14"/>
          </a:solidFill>
          <a:ln w="12700">
            <a:solidFill>
              <a:srgbClr val="D97A14"/>
            </a:solidFill>
            <a:prstDash val="solid"/>
          </a:ln>
        </p:spPr>
      </p:sp>
      <p:sp>
        <p:nvSpPr>
          <p:cNvPr id="14" name="Text 12"/>
          <p:cNvSpPr txBox="1"/>
          <p:nvPr/>
        </p:nvSpPr>
        <p:spPr>
          <a:xfrm>
            <a:off x="457200" y="29535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txBox="1"/>
          <p:nvPr/>
        </p:nvSpPr>
        <p:spPr>
          <a:xfrm>
            <a:off x="1024128" y="2916936"/>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first spend of a coin enters the block</a:t>
            </a:r>
            <a:endParaRPr lang="en-US" sz="1150" dirty="0"/>
          </a:p>
        </p:txBody>
      </p:sp>
      <p:sp>
        <p:nvSpPr>
          <p:cNvPr id="16" name="Shape 14"/>
          <p:cNvSpPr/>
          <p:nvPr/>
        </p:nvSpPr>
        <p:spPr>
          <a:xfrm>
            <a:off x="457200" y="3611880"/>
            <a:ext cx="402336" cy="402336"/>
          </a:xfrm>
          <a:prstGeom prst="ellipse">
            <a:avLst/>
          </a:prstGeom>
          <a:solidFill>
            <a:srgbClr val="D97A14"/>
          </a:solidFill>
          <a:ln w="12700">
            <a:solidFill>
              <a:srgbClr val="D97A14"/>
            </a:solidFill>
            <a:prstDash val="solid"/>
          </a:ln>
        </p:spPr>
      </p:sp>
      <p:sp>
        <p:nvSpPr>
          <p:cNvPr id="17" name="Text 15"/>
          <p:cNvSpPr txBox="1"/>
          <p:nvPr/>
        </p:nvSpPr>
        <p:spPr>
          <a:xfrm>
            <a:off x="457200" y="3611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8" name="Text 16"/>
          <p:cNvSpPr txBox="1"/>
          <p:nvPr/>
        </p:nvSpPr>
        <p:spPr>
          <a:xfrm>
            <a:off x="1024128" y="3575304"/>
            <a:ext cx="2724912" cy="62179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second is refused by every node, everywhere</a:t>
            </a:r>
            <a:endParaRPr lang="en-US" sz="1150" dirty="0"/>
          </a:p>
        </p:txBody>
      </p:sp>
      <p:sp>
        <p:nvSpPr>
          <p:cNvPr id="19" name="Shape 17"/>
          <p:cNvSpPr/>
          <p:nvPr/>
        </p:nvSpPr>
        <p:spPr>
          <a:xfrm>
            <a:off x="4114800" y="2596896"/>
            <a:ext cx="1051560" cy="566928"/>
          </a:xfrm>
          <a:prstGeom prst="roundRect">
            <a:avLst>
              <a:gd name="adj" fmla="val 12903"/>
            </a:avLst>
          </a:prstGeom>
          <a:solidFill>
            <a:srgbClr val="F2ECE1"/>
          </a:solidFill>
          <a:ln w="19050">
            <a:solidFill>
              <a:srgbClr val="2F6D62"/>
            </a:solidFill>
            <a:prstDash val="solid"/>
          </a:ln>
        </p:spPr>
      </p:sp>
      <p:sp>
        <p:nvSpPr>
          <p:cNvPr id="20" name="Shape 18"/>
          <p:cNvSpPr/>
          <p:nvPr/>
        </p:nvSpPr>
        <p:spPr>
          <a:xfrm>
            <a:off x="4187952" y="2724912"/>
            <a:ext cx="310896" cy="310896"/>
          </a:xfrm>
          <a:prstGeom prst="ellipse">
            <a:avLst/>
          </a:prstGeom>
          <a:solidFill>
            <a:srgbClr val="E8B94B"/>
          </a:solidFill>
          <a:ln w="15875">
            <a:solidFill>
              <a:srgbClr val="B98A2B"/>
            </a:solidFill>
            <a:prstDash val="solid"/>
          </a:ln>
        </p:spPr>
      </p:sp>
      <p:sp>
        <p:nvSpPr>
          <p:cNvPr id="21" name="Text 19"/>
          <p:cNvSpPr txBox="1"/>
          <p:nvPr/>
        </p:nvSpPr>
        <p:spPr>
          <a:xfrm>
            <a:off x="4187952" y="2724912"/>
            <a:ext cx="310896" cy="310896"/>
          </a:xfrm>
          <a:prstGeom prst="rect">
            <a:avLst/>
          </a:prstGeom>
          <a:noFill/>
          <a:ln/>
        </p:spPr>
        <p:txBody>
          <a:bodyPr wrap="square" lIns="0" tIns="0" rIns="0" bIns="0" rtlCol="0" anchor="ctr"/>
          <a:lstStyle/>
          <a:p>
            <a:pPr algn="ctr" indent="0" marL="0">
              <a:buNone/>
            </a:pPr>
            <a:r>
              <a:rPr lang="en-US" sz="1200" b="1" dirty="0">
                <a:solidFill>
                  <a:srgbClr val="7A5A14"/>
                </a:solidFill>
                <a:latin typeface="Calibri" pitchFamily="34" charset="0"/>
                <a:ea typeface="Calibri" pitchFamily="34" charset="-122"/>
                <a:cs typeface="Calibri" pitchFamily="34" charset="-120"/>
              </a:rPr>
              <a:t>₿</a:t>
            </a:r>
            <a:endParaRPr lang="en-US" sz="1200" dirty="0"/>
          </a:p>
        </p:txBody>
      </p:sp>
      <p:sp>
        <p:nvSpPr>
          <p:cNvPr id="22" name="Text 20"/>
          <p:cNvSpPr txBox="1"/>
          <p:nvPr/>
        </p:nvSpPr>
        <p:spPr>
          <a:xfrm>
            <a:off x="4517136" y="2596896"/>
            <a:ext cx="658368" cy="566928"/>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Alice's</a:t>
            </a:r>
            <a:endParaRPr lang="en-US" sz="950" dirty="0"/>
          </a:p>
          <a:p>
            <a:pPr indent="0" marL="0">
              <a:buNone/>
            </a:pPr>
            <a:r>
              <a:rPr lang="en-US" sz="950" dirty="0">
                <a:solidFill>
                  <a:srgbClr val="2B2622"/>
                </a:solidFill>
                <a:latin typeface="Calibri" pitchFamily="34" charset="0"/>
                <a:ea typeface="Calibri" pitchFamily="34" charset="-122"/>
                <a:cs typeface="Calibri" pitchFamily="34" charset="-120"/>
              </a:rPr>
              <a:t>coin</a:t>
            </a:r>
            <a:endParaRPr lang="en-US" sz="950" dirty="0"/>
          </a:p>
        </p:txBody>
      </p:sp>
      <p:sp>
        <p:nvSpPr>
          <p:cNvPr id="23" name="Shape 21"/>
          <p:cNvSpPr/>
          <p:nvPr/>
        </p:nvSpPr>
        <p:spPr>
          <a:xfrm>
            <a:off x="5928970" y="1783080"/>
            <a:ext cx="1828800" cy="548640"/>
          </a:xfrm>
          <a:prstGeom prst="roundRect">
            <a:avLst>
              <a:gd name="adj" fmla="val 13333"/>
            </a:avLst>
          </a:prstGeom>
          <a:solidFill>
            <a:srgbClr val="F2ECE1"/>
          </a:solidFill>
          <a:ln w="19050">
            <a:solidFill>
              <a:srgbClr val="5B8C5A"/>
            </a:solidFill>
            <a:prstDash val="solid"/>
          </a:ln>
        </p:spPr>
      </p:sp>
      <p:sp>
        <p:nvSpPr>
          <p:cNvPr id="24" name="Text 22"/>
          <p:cNvSpPr txBox="1"/>
          <p:nvPr/>
        </p:nvSpPr>
        <p:spPr>
          <a:xfrm>
            <a:off x="6002122" y="1783080"/>
            <a:ext cx="1682496" cy="5486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pay Bob - seen first</a:t>
            </a:r>
            <a:endParaRPr lang="en-US" sz="1000" dirty="0"/>
          </a:p>
        </p:txBody>
      </p:sp>
      <p:sp>
        <p:nvSpPr>
          <p:cNvPr id="25" name="Shape 23"/>
          <p:cNvSpPr/>
          <p:nvPr/>
        </p:nvSpPr>
        <p:spPr>
          <a:xfrm>
            <a:off x="5928970" y="3429000"/>
            <a:ext cx="1828800" cy="548640"/>
          </a:xfrm>
          <a:prstGeom prst="roundRect">
            <a:avLst>
              <a:gd name="adj" fmla="val 13333"/>
            </a:avLst>
          </a:prstGeom>
          <a:solidFill>
            <a:srgbClr val="F2ECE1"/>
          </a:solidFill>
          <a:ln w="19050">
            <a:solidFill>
              <a:srgbClr val="B6533C"/>
            </a:solidFill>
            <a:prstDash val="solid"/>
          </a:ln>
        </p:spPr>
      </p:sp>
      <p:sp>
        <p:nvSpPr>
          <p:cNvPr id="26" name="Text 24"/>
          <p:cNvSpPr txBox="1"/>
          <p:nvPr/>
        </p:nvSpPr>
        <p:spPr>
          <a:xfrm>
            <a:off x="6002122" y="3429000"/>
            <a:ext cx="1682496" cy="5486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pay Carol - same coin</a:t>
            </a:r>
            <a:endParaRPr lang="en-US" sz="1000" dirty="0"/>
          </a:p>
        </p:txBody>
      </p:sp>
      <p:sp>
        <p:nvSpPr>
          <p:cNvPr id="27" name="Shape 25"/>
          <p:cNvSpPr/>
          <p:nvPr/>
        </p:nvSpPr>
        <p:spPr>
          <a:xfrm flipV="1">
            <a:off x="5212080" y="2057400"/>
            <a:ext cx="625450" cy="822960"/>
          </a:xfrm>
          <a:prstGeom prst="line">
            <a:avLst/>
          </a:prstGeom>
          <a:noFill/>
          <a:ln w="22225">
            <a:solidFill>
              <a:srgbClr val="8A9B94"/>
            </a:solidFill>
            <a:prstDash val="solid"/>
            <a:tailEnd type="triangle"/>
          </a:ln>
        </p:spPr>
      </p:sp>
      <p:sp>
        <p:nvSpPr>
          <p:cNvPr id="28" name="Shape 26"/>
          <p:cNvSpPr/>
          <p:nvPr/>
        </p:nvSpPr>
        <p:spPr>
          <a:xfrm>
            <a:off x="5212080" y="2880360"/>
            <a:ext cx="625450" cy="822960"/>
          </a:xfrm>
          <a:prstGeom prst="line">
            <a:avLst/>
          </a:prstGeom>
          <a:noFill/>
          <a:ln w="22225">
            <a:solidFill>
              <a:srgbClr val="8A9B94"/>
            </a:solidFill>
            <a:prstDash val="solid"/>
            <a:tailEnd type="triangle"/>
          </a:ln>
        </p:spPr>
      </p:sp>
      <p:sp>
        <p:nvSpPr>
          <p:cNvPr id="29" name="Shape 27"/>
          <p:cNvSpPr/>
          <p:nvPr/>
        </p:nvSpPr>
        <p:spPr>
          <a:xfrm>
            <a:off x="6903720" y="1755648"/>
            <a:ext cx="1600200" cy="603504"/>
          </a:xfrm>
          <a:prstGeom prst="roundRect">
            <a:avLst>
              <a:gd name="adj" fmla="val 12121"/>
            </a:avLst>
          </a:prstGeom>
          <a:solidFill>
            <a:srgbClr val="5B8C5A"/>
          </a:solidFill>
          <a:ln w="12700">
            <a:solidFill>
              <a:srgbClr val="5B8C5A"/>
            </a:solidFill>
            <a:prstDash val="solid"/>
          </a:ln>
        </p:spPr>
      </p:sp>
      <p:sp>
        <p:nvSpPr>
          <p:cNvPr id="30" name="Text 28"/>
          <p:cNvSpPr txBox="1"/>
          <p:nvPr/>
        </p:nvSpPr>
        <p:spPr>
          <a:xfrm>
            <a:off x="6903720" y="1755648"/>
            <a:ext cx="1600200" cy="603504"/>
          </a:xfrm>
          <a:prstGeom prst="rect">
            <a:avLst/>
          </a:prstGeom>
          <a:noFill/>
          <a:ln/>
        </p:spPr>
        <p:txBody>
          <a:bodyPr wrap="square" lIns="0" tIns="0" rIns="0" bIns="0"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into the block </a:t>
            </a:r>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000" dirty="0"/>
          </a:p>
        </p:txBody>
      </p:sp>
      <p:sp>
        <p:nvSpPr>
          <p:cNvPr id="31" name="Shape 29"/>
          <p:cNvSpPr/>
          <p:nvPr/>
        </p:nvSpPr>
        <p:spPr>
          <a:xfrm>
            <a:off x="6903720" y="3401568"/>
            <a:ext cx="1600200" cy="603504"/>
          </a:xfrm>
          <a:prstGeom prst="roundRect">
            <a:avLst>
              <a:gd name="adj" fmla="val 12121"/>
            </a:avLst>
          </a:prstGeom>
          <a:solidFill>
            <a:srgbClr val="F3DED6"/>
          </a:solidFill>
          <a:ln w="15875">
            <a:solidFill>
              <a:srgbClr val="B6533C"/>
            </a:solidFill>
            <a:prstDash val="solid"/>
          </a:ln>
        </p:spPr>
      </p:sp>
      <p:sp>
        <p:nvSpPr>
          <p:cNvPr id="32" name="Text 30"/>
          <p:cNvSpPr txBox="1"/>
          <p:nvPr/>
        </p:nvSpPr>
        <p:spPr>
          <a:xfrm>
            <a:off x="6949440" y="3401568"/>
            <a:ext cx="1508760" cy="603504"/>
          </a:xfrm>
          <a:prstGeom prst="rect">
            <a:avLst/>
          </a:prstGeom>
          <a:noFill/>
          <a:ln/>
        </p:spPr>
        <p:txBody>
          <a:bodyPr wrap="square" lIns="0" tIns="0" rIns="0" bIns="0" rtlCol="0" anchor="ctr"/>
          <a:lstStyle/>
          <a:p>
            <a:pPr algn="ctr" indent="0" marL="0">
              <a:buNone/>
            </a:pPr>
            <a:r>
              <a:rPr lang="en-US" sz="950" dirty="0">
                <a:solidFill>
                  <a:srgbClr val="B6533C"/>
                </a:solidFill>
                <a:latin typeface="Calibri" pitchFamily="34" charset="0"/>
                <a:ea typeface="Calibri" pitchFamily="34" charset="-122"/>
                <a:cs typeface="Calibri" pitchFamily="34" charset="-120"/>
              </a:rPr>
              <a:t>refused by every node </a:t>
            </a:r>
            <a:pPr algn="ctr" indent="0" marL="0">
              <a:buNone/>
            </a:pPr>
            <a:r>
              <a:rPr lang="en-US" sz="1200" b="1" dirty="0">
                <a:solidFill>
                  <a:srgbClr val="B6533C"/>
                </a:solidFill>
                <a:latin typeface="Calibri" pitchFamily="34" charset="0"/>
                <a:ea typeface="Calibri" pitchFamily="34" charset="-122"/>
                <a:cs typeface="Calibri" pitchFamily="34" charset="-120"/>
              </a:rPr>
              <a:t>✗</a:t>
            </a:r>
            <a:endParaRPr lang="en-US" sz="950" dirty="0"/>
          </a:p>
        </p:txBody>
      </p:sp>
      <p:sp>
        <p:nvSpPr>
          <p:cNvPr id="33" name="Shape 31"/>
          <p:cNvSpPr/>
          <p:nvPr/>
        </p:nvSpPr>
        <p:spPr>
          <a:xfrm flipH="1">
            <a:off x="6830568" y="2057400"/>
            <a:ext cx="927202" cy="0"/>
          </a:xfrm>
          <a:prstGeom prst="line">
            <a:avLst/>
          </a:prstGeom>
          <a:noFill/>
          <a:ln w="25400">
            <a:solidFill>
              <a:srgbClr val="5B8C5A"/>
            </a:solidFill>
            <a:prstDash val="solid"/>
            <a:tailEnd type="triangle"/>
          </a:ln>
        </p:spPr>
      </p:sp>
      <p:sp>
        <p:nvSpPr>
          <p:cNvPr id="34" name="Shape 32"/>
          <p:cNvSpPr/>
          <p:nvPr/>
        </p:nvSpPr>
        <p:spPr>
          <a:xfrm flipH="1">
            <a:off x="6830568" y="3703320"/>
            <a:ext cx="927202" cy="0"/>
          </a:xfrm>
          <a:prstGeom prst="line">
            <a:avLst/>
          </a:prstGeom>
          <a:noFill/>
          <a:ln w="25400">
            <a:solidFill>
              <a:srgbClr val="B6533C"/>
            </a:solidFill>
            <a:prstDash val="solid"/>
            <a:tailEnd type="triangle"/>
          </a:ln>
        </p:spPr>
      </p:sp>
      <p:sp>
        <p:nvSpPr>
          <p:cNvPr id="35" name="Text 33"/>
          <p:cNvSpPr txBox="1"/>
          <p:nvPr/>
        </p:nvSpPr>
        <p:spPr>
          <a:xfrm>
            <a:off x="3931920" y="4041648"/>
            <a:ext cx="475488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every node hears both; the shared ledger keeps only one order</a:t>
            </a:r>
            <a:endParaRPr lang="en-US" sz="1050" dirty="0"/>
          </a:p>
        </p:txBody>
      </p:sp>
      <p:sp>
        <p:nvSpPr>
          <p:cNvPr id="36" name="Shape 34"/>
          <p:cNvSpPr/>
          <p:nvPr/>
        </p:nvSpPr>
        <p:spPr>
          <a:xfrm>
            <a:off x="457200" y="4636008"/>
            <a:ext cx="91440" cy="310896"/>
          </a:xfrm>
          <a:prstGeom prst="rect">
            <a:avLst/>
          </a:prstGeom>
          <a:solidFill>
            <a:srgbClr val="D97A14"/>
          </a:solidFill>
          <a:ln w="12700">
            <a:solidFill>
              <a:srgbClr val="D97A14"/>
            </a:solidFill>
            <a:prstDash val="solid"/>
          </a:ln>
        </p:spPr>
      </p:sp>
      <p:sp>
        <p:nvSpPr>
          <p:cNvPr id="37" name="Text 3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referee is everyone, and the whistle is arithmetic</a:t>
            </a:r>
            <a:endParaRPr lang="en-US" sz="1350" dirty="0"/>
          </a:p>
        </p:txBody>
      </p:sp>
      <p:sp>
        <p:nvSpPr>
          <p:cNvPr id="38" name="Text 3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42</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One bitcoin divides into 100 million satoshis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unit and its divisions - run, not quoted</a:t>
            </a:r>
            <a:endParaRPr lang="en-US" sz="1300" dirty="0"/>
          </a:p>
        </p:txBody>
      </p:sp>
      <p:sp>
        <p:nvSpPr>
          <p:cNvPr id="6" name="Shape 4"/>
          <p:cNvSpPr/>
          <p:nvPr/>
        </p:nvSpPr>
        <p:spPr>
          <a:xfrm>
            <a:off x="457200" y="1371600"/>
            <a:ext cx="2426208" cy="1051560"/>
          </a:xfrm>
          <a:prstGeom prst="roundRect">
            <a:avLst>
              <a:gd name="adj" fmla="val 8696"/>
            </a:avLst>
          </a:prstGeom>
          <a:solidFill>
            <a:srgbClr val="2F6D62"/>
          </a:solidFill>
          <a:ln w="12700">
            <a:solidFill>
              <a:srgbClr val="2F6D62"/>
            </a:solidFill>
            <a:prstDash val="solid"/>
          </a:ln>
        </p:spPr>
      </p:sp>
      <p:sp>
        <p:nvSpPr>
          <p:cNvPr id="7" name="Text 5"/>
          <p:cNvSpPr txBox="1"/>
          <p:nvPr/>
        </p:nvSpPr>
        <p:spPr>
          <a:xfrm>
            <a:off x="530352"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 BTC</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the currency unit</a:t>
            </a:r>
            <a:endParaRPr lang="en-US" sz="1300" dirty="0"/>
          </a:p>
        </p:txBody>
      </p:sp>
      <p:sp>
        <p:nvSpPr>
          <p:cNvPr id="8" name="Shape 6"/>
          <p:cNvSpPr/>
          <p:nvPr/>
        </p:nvSpPr>
        <p:spPr>
          <a:xfrm>
            <a:off x="2938272" y="1897380"/>
            <a:ext cx="365760" cy="0"/>
          </a:xfrm>
          <a:prstGeom prst="line">
            <a:avLst/>
          </a:prstGeom>
          <a:noFill/>
          <a:ln w="25400">
            <a:solidFill>
              <a:srgbClr val="D97A14"/>
            </a:solidFill>
            <a:prstDash val="solid"/>
            <a:tailEnd type="triangle"/>
          </a:ln>
        </p:spPr>
      </p:sp>
      <p:sp>
        <p:nvSpPr>
          <p:cNvPr id="9" name="Shape 7"/>
          <p:cNvSpPr/>
          <p:nvPr/>
        </p:nvSpPr>
        <p:spPr>
          <a:xfrm>
            <a:off x="3358896" y="1371600"/>
            <a:ext cx="2426208" cy="1051560"/>
          </a:xfrm>
          <a:prstGeom prst="roundRect">
            <a:avLst>
              <a:gd name="adj" fmla="val 8696"/>
            </a:avLst>
          </a:prstGeom>
          <a:solidFill>
            <a:srgbClr val="2F6D62"/>
          </a:solidFill>
          <a:ln w="12700">
            <a:solidFill>
              <a:srgbClr val="2F6D62"/>
            </a:solidFill>
            <a:prstDash val="solid"/>
          </a:ln>
        </p:spPr>
      </p:sp>
      <p:sp>
        <p:nvSpPr>
          <p:cNvPr id="10" name="Text 8"/>
          <p:cNvSpPr txBox="1"/>
          <p:nvPr/>
        </p:nvSpPr>
        <p:spPr>
          <a:xfrm>
            <a:off x="3432048"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1,000 mBTC</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millibitcoin</a:t>
            </a:r>
            <a:endParaRPr lang="en-US" sz="1300" dirty="0"/>
          </a:p>
        </p:txBody>
      </p:sp>
      <p:sp>
        <p:nvSpPr>
          <p:cNvPr id="11" name="Shape 9"/>
          <p:cNvSpPr/>
          <p:nvPr/>
        </p:nvSpPr>
        <p:spPr>
          <a:xfrm>
            <a:off x="5839968" y="1897380"/>
            <a:ext cx="365760" cy="0"/>
          </a:xfrm>
          <a:prstGeom prst="line">
            <a:avLst/>
          </a:prstGeom>
          <a:noFill/>
          <a:ln w="25400">
            <a:solidFill>
              <a:srgbClr val="D97A14"/>
            </a:solidFill>
            <a:prstDash val="solid"/>
            <a:tailEnd type="triangle"/>
          </a:ln>
        </p:spPr>
      </p:sp>
      <p:sp>
        <p:nvSpPr>
          <p:cNvPr id="12" name="Shape 10"/>
          <p:cNvSpPr/>
          <p:nvPr/>
        </p:nvSpPr>
        <p:spPr>
          <a:xfrm>
            <a:off x="6260592" y="1371600"/>
            <a:ext cx="2426208" cy="1051560"/>
          </a:xfrm>
          <a:prstGeom prst="roundRect">
            <a:avLst>
              <a:gd name="adj" fmla="val 8696"/>
            </a:avLst>
          </a:prstGeom>
          <a:solidFill>
            <a:srgbClr val="2F6D62"/>
          </a:solidFill>
          <a:ln w="12700">
            <a:solidFill>
              <a:srgbClr val="2F6D62"/>
            </a:solidFill>
            <a:prstDash val="solid"/>
          </a:ln>
        </p:spPr>
      </p:sp>
      <p:sp>
        <p:nvSpPr>
          <p:cNvPr id="13" name="Text 11"/>
          <p:cNvSpPr txBox="1"/>
          <p:nvPr/>
        </p:nvSpPr>
        <p:spPr>
          <a:xfrm>
            <a:off x="6333744"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100,000,000 sat</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the smallest unit</a:t>
            </a:r>
            <a:endParaRPr lang="en-US" sz="1300" dirty="0"/>
          </a:p>
        </p:txBody>
      </p:sp>
      <p:sp>
        <p:nvSpPr>
          <p:cNvPr id="14" name="Text 12"/>
          <p:cNvSpPr txBox="1"/>
          <p:nvPr/>
        </p:nvSpPr>
        <p:spPr>
          <a:xfrm>
            <a:off x="457200" y="2468880"/>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0.001 BTC, counted in satoshis</a:t>
            </a:r>
            <a:endParaRPr lang="en-US" sz="1150" dirty="0"/>
          </a:p>
        </p:txBody>
      </p:sp>
      <p:sp>
        <p:nvSpPr>
          <p:cNvPr id="15" name="Shape 13"/>
          <p:cNvSpPr/>
          <p:nvPr/>
        </p:nvSpPr>
        <p:spPr>
          <a:xfrm>
            <a:off x="457200" y="2743200"/>
            <a:ext cx="5120640" cy="1005840"/>
          </a:xfrm>
          <a:prstGeom prst="roundRect">
            <a:avLst>
              <a:gd name="adj" fmla="val 9091"/>
            </a:avLst>
          </a:prstGeom>
          <a:solidFill>
            <a:srgbClr val="23272E"/>
          </a:solidFill>
          <a:ln w="12700">
            <a:solidFill>
              <a:srgbClr val="23272E"/>
            </a:solidFill>
            <a:prstDash val="solid"/>
          </a:ln>
        </p:spPr>
      </p:sp>
      <p:sp>
        <p:nvSpPr>
          <p:cNvPr id="16" name="Text 14"/>
          <p:cNvSpPr txBox="1"/>
          <p:nvPr/>
        </p:nvSpPr>
        <p:spPr>
          <a:xfrm>
            <a:off x="640080" y="2862072"/>
            <a:ext cx="4754880" cy="76809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int(decimal.Decimal('0.001') * 10**8)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100000</a:t>
            </a:r>
            <a:endParaRPr lang="en-US" sz="1100" dirty="0"/>
          </a:p>
        </p:txBody>
      </p:sp>
      <p:sp>
        <p:nvSpPr>
          <p:cNvPr id="17" name="Text 15"/>
          <p:cNvSpPr txBox="1"/>
          <p:nvPr/>
        </p:nvSpPr>
        <p:spPr>
          <a:xfrm>
            <a:off x="457200" y="3767328"/>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pic>
        <p:nvPicPr>
          <p:cNvPr id="18" name="Image 0" descr="../../03-materials/ch01/assets/c2s07_fractions.jpg">    </p:cNvPr>
          <p:cNvPicPr>
            <a:picLocks noChangeAspect="1"/>
          </p:cNvPicPr>
          <p:nvPr/>
        </p:nvPicPr>
        <p:blipFill>
          <a:blip r:embed="rId1"/>
          <a:srcRect l="0" r="0" t="0" b="0"/>
          <a:stretch/>
        </p:blipFill>
        <p:spPr>
          <a:xfrm>
            <a:off x="5806440" y="2697480"/>
            <a:ext cx="2880360" cy="1600200"/>
          </a:xfrm>
          <a:prstGeom prst="rect">
            <a:avLst/>
          </a:prstGeom>
        </p:spPr>
      </p:pic>
      <p:sp>
        <p:nvSpPr>
          <p:cNvPr id="19" name="Text 16"/>
          <p:cNvSpPr txBox="1"/>
          <p:nvPr/>
        </p:nvSpPr>
        <p:spPr>
          <a:xfrm>
            <a:off x="5806440" y="4315968"/>
            <a:ext cx="28803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the fraction table, from the owner's 2025 deck</a:t>
            </a:r>
            <a:endParaRPr lang="en-US" sz="90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Money here is counting, and the units are exact</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42</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21 million, by rule - not by promise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Issuance halves every 210,000 blocks; the cap is the sum</a:t>
            </a:r>
            <a:endParaRPr lang="en-US" sz="1300" dirty="0"/>
          </a:p>
        </p:txBody>
      </p:sp>
      <p:graphicFrame>
        <p:nvGraphicFramePr>
          <p:cNvPr id="6" name="Chart 0" descr=""/>
          <p:cNvGraphicFramePr/>
          <p:nvPr/>
        </p:nvGraphicFramePr>
        <p:xfrm>
          <a:off x="457200" y="1325880"/>
          <a:ext cx="5120640" cy="32461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760720" y="1325880"/>
            <a:ext cx="2926080" cy="996696"/>
          </a:xfrm>
          <a:prstGeom prst="roundRect">
            <a:avLst>
              <a:gd name="adj" fmla="val 7339"/>
            </a:avLst>
          </a:prstGeom>
          <a:solidFill>
            <a:srgbClr val="F2ECE1"/>
          </a:solidFill>
          <a:ln w="12700">
            <a:solidFill>
              <a:srgbClr val="DFD6C7"/>
            </a:solidFill>
            <a:prstDash val="solid"/>
          </a:ln>
        </p:spPr>
      </p:sp>
      <p:sp>
        <p:nvSpPr>
          <p:cNvPr id="8" name="Text 5"/>
          <p:cNvSpPr txBox="1"/>
          <p:nvPr/>
        </p:nvSpPr>
        <p:spPr>
          <a:xfrm>
            <a:off x="5870448" y="1362456"/>
            <a:ext cx="2706624" cy="51828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210,000</a:t>
            </a:r>
            <a:endParaRPr lang="en-US" sz="2600" dirty="0"/>
          </a:p>
        </p:txBody>
      </p:sp>
      <p:sp>
        <p:nvSpPr>
          <p:cNvPr id="9" name="Text 6"/>
          <p:cNvSpPr txBox="1"/>
          <p:nvPr/>
        </p:nvSpPr>
        <p:spPr>
          <a:xfrm>
            <a:off x="5870448" y="1844162"/>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blocks between halvings</a:t>
            </a:r>
            <a:endParaRPr lang="en-US" sz="1100" dirty="0"/>
          </a:p>
        </p:txBody>
      </p:sp>
      <p:sp>
        <p:nvSpPr>
          <p:cNvPr id="10" name="Shape 7"/>
          <p:cNvSpPr/>
          <p:nvPr/>
        </p:nvSpPr>
        <p:spPr>
          <a:xfrm>
            <a:off x="5760720" y="2450592"/>
            <a:ext cx="2926080" cy="996696"/>
          </a:xfrm>
          <a:prstGeom prst="roundRect">
            <a:avLst>
              <a:gd name="adj" fmla="val 7339"/>
            </a:avLst>
          </a:prstGeom>
          <a:solidFill>
            <a:srgbClr val="F2ECE1"/>
          </a:solidFill>
          <a:ln w="12700">
            <a:solidFill>
              <a:srgbClr val="DFD6C7"/>
            </a:solidFill>
            <a:prstDash val="solid"/>
          </a:ln>
        </p:spPr>
      </p:sp>
      <p:sp>
        <p:nvSpPr>
          <p:cNvPr id="11" name="Text 8"/>
          <p:cNvSpPr txBox="1"/>
          <p:nvPr/>
        </p:nvSpPr>
        <p:spPr>
          <a:xfrm>
            <a:off x="5870448" y="2487168"/>
            <a:ext cx="2706624" cy="518282"/>
          </a:xfrm>
          <a:prstGeom prst="rect">
            <a:avLst/>
          </a:prstGeom>
          <a:noFill/>
          <a:ln/>
        </p:spPr>
        <p:txBody>
          <a:bodyPr wrap="square" lIns="0" tIns="0" rIns="0" bIns="0" rtlCol="0" anchor="ctr"/>
          <a:lstStyle/>
          <a:p>
            <a:pPr indent="0" marL="0">
              <a:buNone/>
            </a:pPr>
            <a:r>
              <a:rPr lang="en-US" sz="2000" b="1" dirty="0">
                <a:solidFill>
                  <a:srgbClr val="D97A14"/>
                </a:solidFill>
                <a:latin typeface="Cambria" pitchFamily="34" charset="0"/>
                <a:ea typeface="Cambria" pitchFamily="34" charset="-122"/>
                <a:cs typeface="Cambria" pitchFamily="34" charset="-120"/>
              </a:rPr>
              <a:t>20999999.9769</a:t>
            </a:r>
            <a:endParaRPr lang="en-US" sz="2000" dirty="0"/>
          </a:p>
        </p:txBody>
      </p:sp>
      <p:sp>
        <p:nvSpPr>
          <p:cNvPr id="12" name="Text 9"/>
          <p:cNvSpPr txBox="1"/>
          <p:nvPr/>
        </p:nvSpPr>
        <p:spPr>
          <a:xfrm>
            <a:off x="5870448" y="2968874"/>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sum of every era's issuance</a:t>
            </a:r>
            <a:endParaRPr lang="en-US" sz="1100" dirty="0"/>
          </a:p>
        </p:txBody>
      </p:sp>
      <p:sp>
        <p:nvSpPr>
          <p:cNvPr id="13" name="Shape 10"/>
          <p:cNvSpPr/>
          <p:nvPr/>
        </p:nvSpPr>
        <p:spPr>
          <a:xfrm>
            <a:off x="5760720" y="3575304"/>
            <a:ext cx="2926080" cy="996696"/>
          </a:xfrm>
          <a:prstGeom prst="roundRect">
            <a:avLst>
              <a:gd name="adj" fmla="val 7339"/>
            </a:avLst>
          </a:prstGeom>
          <a:solidFill>
            <a:srgbClr val="F2ECE1"/>
          </a:solidFill>
          <a:ln w="12700">
            <a:solidFill>
              <a:srgbClr val="DFD6C7"/>
            </a:solidFill>
            <a:prstDash val="solid"/>
          </a:ln>
        </p:spPr>
      </p:sp>
      <p:sp>
        <p:nvSpPr>
          <p:cNvPr id="14" name="Text 11"/>
          <p:cNvSpPr txBox="1"/>
          <p:nvPr/>
        </p:nvSpPr>
        <p:spPr>
          <a:xfrm>
            <a:off x="5870448" y="3611880"/>
            <a:ext cx="2706624" cy="51828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~2140</a:t>
            </a:r>
            <a:endParaRPr lang="en-US" sz="2600" dirty="0"/>
          </a:p>
        </p:txBody>
      </p:sp>
      <p:sp>
        <p:nvSpPr>
          <p:cNvPr id="15" name="Text 12"/>
          <p:cNvSpPr txBox="1"/>
          <p:nvPr/>
        </p:nvSpPr>
        <p:spPr>
          <a:xfrm>
            <a:off x="5870448" y="4093586"/>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year issuance ends</a:t>
            </a:r>
            <a:endParaRPr lang="en-US" sz="11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Scarcity is enforced by arithmetic every node checks</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42</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schedule, executed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cap is an arithmetic fact - the slide computes it</a:t>
            </a:r>
            <a:endParaRPr lang="en-US" sz="1300" dirty="0"/>
          </a:p>
        </p:txBody>
      </p:sp>
      <p:sp>
        <p:nvSpPr>
          <p:cNvPr id="6" name="Shape 4"/>
          <p:cNvSpPr/>
          <p:nvPr/>
        </p:nvSpPr>
        <p:spPr>
          <a:xfrm>
            <a:off x="457200" y="1298448"/>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2984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61872"/>
            <a:ext cx="7662672" cy="26822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Shift 50 BTC right once per era, times 210,000 blocks, summed over 33 eras: the 20,999,999.9769 cap</a:t>
            </a:r>
            <a:endParaRPr lang="en-US" sz="950" dirty="0"/>
          </a:p>
        </p:txBody>
      </p:sp>
      <p:sp>
        <p:nvSpPr>
          <p:cNvPr id="9" name="Shape 7"/>
          <p:cNvSpPr/>
          <p:nvPr/>
        </p:nvSpPr>
        <p:spPr>
          <a:xfrm>
            <a:off x="457200" y="160324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6032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566672"/>
            <a:ext cx="7662672" cy="26822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One shift for height 840,000 halves the subsidy to 3.125</a:t>
            </a:r>
            <a:endParaRPr lang="en-US" sz="950" dirty="0"/>
          </a:p>
        </p:txBody>
      </p:sp>
      <p:sp>
        <p:nvSpPr>
          <p:cNvPr id="12" name="Shape 10"/>
          <p:cNvSpPr/>
          <p:nvPr/>
        </p:nvSpPr>
        <p:spPr>
          <a:xfrm>
            <a:off x="457200" y="1908048"/>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19080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1871472"/>
            <a:ext cx="7662672" cy="26822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Five heights at once show the whole staircase</a:t>
            </a:r>
            <a:endParaRPr lang="en-US" sz="950" dirty="0"/>
          </a:p>
        </p:txBody>
      </p:sp>
      <p:sp>
        <p:nvSpPr>
          <p:cNvPr id="15" name="Text 13"/>
          <p:cNvSpPr txBox="1"/>
          <p:nvPr/>
        </p:nvSpPr>
        <p:spPr>
          <a:xfrm>
            <a:off x="457200" y="21214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1 - The cap, summed over 33 eras</a:t>
            </a:r>
            <a:endParaRPr lang="en-US" sz="1150" dirty="0"/>
          </a:p>
        </p:txBody>
      </p:sp>
      <p:sp>
        <p:nvSpPr>
          <p:cNvPr id="16" name="Shape 14"/>
          <p:cNvSpPr/>
          <p:nvPr/>
        </p:nvSpPr>
        <p:spPr>
          <a:xfrm>
            <a:off x="457200" y="2395728"/>
            <a:ext cx="8229600" cy="640080"/>
          </a:xfrm>
          <a:prstGeom prst="roundRect">
            <a:avLst>
              <a:gd name="adj" fmla="val 14286"/>
            </a:avLst>
          </a:prstGeom>
          <a:solidFill>
            <a:srgbClr val="23272E"/>
          </a:solidFill>
          <a:ln w="12700">
            <a:solidFill>
              <a:srgbClr val="23272E"/>
            </a:solidFill>
            <a:prstDash val="solid"/>
          </a:ln>
        </p:spPr>
      </p:sp>
      <p:sp>
        <p:nvSpPr>
          <p:cNvPr id="17" name="Text 15"/>
          <p:cNvSpPr txBox="1"/>
          <p:nvPr/>
        </p:nvSpPr>
        <p:spPr>
          <a:xfrm>
            <a:off x="640080" y="2514600"/>
            <a:ext cx="7863840" cy="40233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sum((50 * 10**8 &gt;&gt; era) * 210000 for era in range(33)) / 10**8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20999999.9769</a:t>
            </a:r>
            <a:endParaRPr lang="en-US" sz="1100" dirty="0"/>
          </a:p>
        </p:txBody>
      </p:sp>
      <p:sp>
        <p:nvSpPr>
          <p:cNvPr id="18" name="Text 16"/>
          <p:cNvSpPr txBox="1"/>
          <p:nvPr/>
        </p:nvSpPr>
        <p:spPr>
          <a:xfrm>
            <a:off x="457200" y="305409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9" name="Text 17"/>
          <p:cNvSpPr txBox="1"/>
          <p:nvPr/>
        </p:nvSpPr>
        <p:spPr>
          <a:xfrm>
            <a:off x="457200" y="29260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 One halving = divide by two</a:t>
            </a:r>
            <a:endParaRPr lang="en-US" sz="1150" dirty="0"/>
          </a:p>
        </p:txBody>
      </p:sp>
      <p:sp>
        <p:nvSpPr>
          <p:cNvPr id="20" name="Shape 18"/>
          <p:cNvSpPr/>
          <p:nvPr/>
        </p:nvSpPr>
        <p:spPr>
          <a:xfrm>
            <a:off x="457200" y="3200400"/>
            <a:ext cx="8229600" cy="640080"/>
          </a:xfrm>
          <a:prstGeom prst="roundRect">
            <a:avLst>
              <a:gd name="adj" fmla="val 14286"/>
            </a:avLst>
          </a:prstGeom>
          <a:solidFill>
            <a:srgbClr val="23272E"/>
          </a:solidFill>
          <a:ln w="12700">
            <a:solidFill>
              <a:srgbClr val="23272E"/>
            </a:solidFill>
            <a:prstDash val="solid"/>
          </a:ln>
        </p:spPr>
      </p:sp>
      <p:sp>
        <p:nvSpPr>
          <p:cNvPr id="21" name="Text 19"/>
          <p:cNvSpPr txBox="1"/>
          <p:nvPr/>
        </p:nvSpPr>
        <p:spPr>
          <a:xfrm>
            <a:off x="640080" y="3319272"/>
            <a:ext cx="7863840" cy="40233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(50 * 10**8 &gt;&gt; 840000 // 210000) / 10**8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3.125</a:t>
            </a:r>
            <a:endParaRPr lang="en-US" sz="1100" dirty="0"/>
          </a:p>
        </p:txBody>
      </p:sp>
      <p:sp>
        <p:nvSpPr>
          <p:cNvPr id="22" name="Text 20"/>
          <p:cNvSpPr txBox="1"/>
          <p:nvPr/>
        </p:nvSpPr>
        <p:spPr>
          <a:xfrm>
            <a:off x="457200" y="38587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3" name="Text 21"/>
          <p:cNvSpPr txBox="1"/>
          <p:nvPr/>
        </p:nvSpPr>
        <p:spPr>
          <a:xfrm>
            <a:off x="457200" y="3694176"/>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3 - The subsidy at any block height</a:t>
            </a:r>
            <a:endParaRPr lang="en-US" sz="1150" dirty="0"/>
          </a:p>
        </p:txBody>
      </p:sp>
      <p:sp>
        <p:nvSpPr>
          <p:cNvPr id="24" name="Shape 22"/>
          <p:cNvSpPr/>
          <p:nvPr/>
        </p:nvSpPr>
        <p:spPr>
          <a:xfrm>
            <a:off x="457200" y="3968496"/>
            <a:ext cx="8229600" cy="557784"/>
          </a:xfrm>
          <a:prstGeom prst="roundRect">
            <a:avLst>
              <a:gd name="adj" fmla="val 16393"/>
            </a:avLst>
          </a:prstGeom>
          <a:solidFill>
            <a:srgbClr val="23272E"/>
          </a:solidFill>
          <a:ln w="12700">
            <a:solidFill>
              <a:srgbClr val="23272E"/>
            </a:solidFill>
            <a:prstDash val="solid"/>
          </a:ln>
        </p:spPr>
      </p:sp>
      <p:sp>
        <p:nvSpPr>
          <p:cNvPr id="25" name="Text 23"/>
          <p:cNvSpPr txBox="1"/>
          <p:nvPr/>
        </p:nvSpPr>
        <p:spPr>
          <a:xfrm>
            <a:off x="640080" y="4087368"/>
            <a:ext cx="7863840" cy="320040"/>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[(50 * 10**8 &gt;&gt; h // 210000) / 10**8 for h in (0, 210000, 420000, 630000, 840000)]</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[50.0, 25.0, 12.5, 6.25, 3.125]</a:t>
            </a:r>
            <a:endParaRPr lang="en-US" sz="950" dirty="0"/>
          </a:p>
        </p:txBody>
      </p:sp>
      <p:sp>
        <p:nvSpPr>
          <p:cNvPr id="26" name="Text 24"/>
          <p:cNvSpPr txBox="1"/>
          <p:nvPr/>
        </p:nvSpPr>
        <p:spPr>
          <a:xfrm>
            <a:off x="457200" y="45445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one-liners reproduce the whole monetary policy</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42</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Price is discovered, not declared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No authority sets an exchange rate</a:t>
            </a:r>
            <a:endParaRPr lang="en-US" sz="1300" dirty="0"/>
          </a:p>
        </p:txBody>
      </p:sp>
      <p:sp>
        <p:nvSpPr>
          <p:cNvPr id="6" name="Shape 4"/>
          <p:cNvSpPr/>
          <p:nvPr/>
        </p:nvSpPr>
        <p:spPr>
          <a:xfrm>
            <a:off x="457200" y="1335024"/>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350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98448"/>
            <a:ext cx="7662672" cy="39776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No authority quotes a rate: the first program just divides one trade's two amounts</a:t>
            </a:r>
            <a:endParaRPr lang="en-US" sz="950" dirty="0"/>
          </a:p>
        </p:txBody>
      </p:sp>
      <p:sp>
        <p:nvSpPr>
          <p:cNvPr id="9" name="Shape 7"/>
          <p:cNvSpPr/>
          <p:nvPr/>
        </p:nvSpPr>
        <p:spPr>
          <a:xfrm>
            <a:off x="457200" y="176936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693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2788"/>
            <a:ext cx="7662672" cy="397764"/>
          </a:xfrm>
          <a:prstGeom prst="rect">
            <a:avLst/>
          </a:prstGeom>
          <a:noFill/>
          <a:ln/>
        </p:spPr>
        <p:txBody>
          <a:bodyPr wrap="square" lIns="0" tIns="0" rIns="0" bIns="0" rtlCol="0" anchor="ctr"/>
          <a:lstStyle/>
          <a:p>
            <a:pPr indent="0" marL="0">
              <a:buNone/>
            </a:pPr>
            <a:r>
              <a:rPr lang="en-US" sz="950" dirty="0">
                <a:solidFill>
                  <a:srgbClr val="2B2622"/>
                </a:solidFill>
                <a:latin typeface="Calibri" pitchFamily="34" charset="0"/>
                <a:ea typeface="Calibri" pitchFamily="34" charset="-122"/>
                <a:cs typeface="Calibri" pitchFamily="34" charset="-120"/>
              </a:rPr>
              <a:t>The second weights every trade by its volume - one fair daily figure, as exchanges publish</a:t>
            </a:r>
            <a:endParaRPr lang="en-US" sz="950" dirty="0"/>
          </a:p>
        </p:txBody>
      </p:sp>
      <p:sp>
        <p:nvSpPr>
          <p:cNvPr id="12" name="Text 10"/>
          <p:cNvSpPr txBox="1"/>
          <p:nvPr/>
        </p:nvSpPr>
        <p:spPr>
          <a:xfrm>
            <a:off x="457200" y="22128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1 - A price is a ratio of two quotes</a:t>
            </a:r>
            <a:endParaRPr lang="en-US" sz="1150" dirty="0"/>
          </a:p>
        </p:txBody>
      </p:sp>
      <p:sp>
        <p:nvSpPr>
          <p:cNvPr id="13" name="Shape 11"/>
          <p:cNvSpPr/>
          <p:nvPr/>
        </p:nvSpPr>
        <p:spPr>
          <a:xfrm>
            <a:off x="457200" y="2487168"/>
            <a:ext cx="8229600" cy="621792"/>
          </a:xfrm>
          <a:prstGeom prst="roundRect">
            <a:avLst>
              <a:gd name="adj" fmla="val 14706"/>
            </a:avLst>
          </a:prstGeom>
          <a:solidFill>
            <a:srgbClr val="23272E"/>
          </a:solidFill>
          <a:ln w="12700">
            <a:solidFill>
              <a:srgbClr val="23272E"/>
            </a:solidFill>
            <a:prstDash val="solid"/>
          </a:ln>
        </p:spPr>
      </p:sp>
      <p:sp>
        <p:nvSpPr>
          <p:cNvPr id="14" name="Text 12"/>
          <p:cNvSpPr txBox="1"/>
          <p:nvPr/>
        </p:nvSpPr>
        <p:spPr>
          <a:xfrm>
            <a:off x="640080" y="2606040"/>
            <a:ext cx="7863840" cy="384048"/>
          </a:xfrm>
          <a:prstGeom prst="rect">
            <a:avLst/>
          </a:prstGeom>
          <a:noFill/>
          <a:ln/>
        </p:spPr>
        <p:txBody>
          <a:bodyPr wrap="square" lIns="0" tIns="0" rIns="0" bIns="0" rtlCol="0" anchor="t"/>
          <a:lstStyle/>
          <a:p>
            <a:pPr indent="0" marL="0">
              <a:buNone/>
            </a:pPr>
            <a:r>
              <a:rPr lang="en-US" sz="1150" b="1" dirty="0">
                <a:solidFill>
                  <a:srgbClr val="D97A14"/>
                </a:solidFill>
                <a:latin typeface="Courier New" pitchFamily="34" charset="0"/>
                <a:ea typeface="Courier New" pitchFamily="34" charset="-122"/>
                <a:cs typeface="Courier New" pitchFamily="34" charset="-120"/>
              </a:rPr>
              <a:t>&gt;&gt;&gt; </a:t>
            </a:r>
            <a:pPr indent="0" marL="0">
              <a:buNone/>
            </a:pPr>
            <a:r>
              <a:rPr lang="en-US" sz="1150" dirty="0">
                <a:solidFill>
                  <a:srgbClr val="E6EDF3"/>
                </a:solidFill>
                <a:latin typeface="Courier New" pitchFamily="34" charset="0"/>
                <a:ea typeface="Courier New" pitchFamily="34" charset="-122"/>
                <a:cs typeface="Courier New" pitchFamily="34" charset="-120"/>
              </a:rPr>
              <a:t>round(0.001 * 60000, 2)</a:t>
            </a:r>
            <a:endParaRPr lang="en-US" sz="1150" dirty="0"/>
          </a:p>
          <a:p>
            <a:pPr indent="0" marL="0">
              <a:buNone/>
            </a:pPr>
            <a:r>
              <a:rPr lang="en-US" sz="1150" dirty="0">
                <a:solidFill>
                  <a:srgbClr val="7EE787"/>
                </a:solidFill>
                <a:latin typeface="Courier New" pitchFamily="34" charset="0"/>
                <a:ea typeface="Courier New" pitchFamily="34" charset="-122"/>
                <a:cs typeface="Courier New" pitchFamily="34" charset="-120"/>
              </a:rPr>
              <a:t>60.0</a:t>
            </a:r>
            <a:endParaRPr lang="en-US" sz="1150" dirty="0"/>
          </a:p>
        </p:txBody>
      </p:sp>
      <p:sp>
        <p:nvSpPr>
          <p:cNvPr id="15" name="Text 13"/>
          <p:cNvSpPr txBox="1"/>
          <p:nvPr/>
        </p:nvSpPr>
        <p:spPr>
          <a:xfrm>
            <a:off x="457200" y="31272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6" name="Text 14"/>
          <p:cNvSpPr txBox="1"/>
          <p:nvPr/>
        </p:nvSpPr>
        <p:spPr>
          <a:xfrm>
            <a:off x="457200" y="3182112"/>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 A day summarised fairly, by volume</a:t>
            </a:r>
            <a:endParaRPr lang="en-US" sz="1150" dirty="0"/>
          </a:p>
        </p:txBody>
      </p:sp>
      <p:sp>
        <p:nvSpPr>
          <p:cNvPr id="17" name="Shape 15"/>
          <p:cNvSpPr/>
          <p:nvPr/>
        </p:nvSpPr>
        <p:spPr>
          <a:xfrm>
            <a:off x="457200" y="3456432"/>
            <a:ext cx="8229600" cy="868680"/>
          </a:xfrm>
          <a:prstGeom prst="roundRect">
            <a:avLst>
              <a:gd name="adj" fmla="val 10526"/>
            </a:avLst>
          </a:prstGeom>
          <a:solidFill>
            <a:srgbClr val="23272E"/>
          </a:solidFill>
          <a:ln w="12700">
            <a:solidFill>
              <a:srgbClr val="23272E"/>
            </a:solidFill>
            <a:prstDash val="solid"/>
          </a:ln>
        </p:spPr>
      </p:sp>
      <p:sp>
        <p:nvSpPr>
          <p:cNvPr id="18" name="Text 16"/>
          <p:cNvSpPr txBox="1"/>
          <p:nvPr/>
        </p:nvSpPr>
        <p:spPr>
          <a:xfrm>
            <a:off x="640080" y="3575304"/>
            <a:ext cx="7863840" cy="630936"/>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pPr indent="0" marL="0">
              <a:buNone/>
            </a:pPr>
            <a:r>
              <a:rPr lang="en-US" sz="1050" dirty="0">
                <a:solidFill>
                  <a:srgbClr val="E6EDF3"/>
                </a:solidFill>
                <a:latin typeface="Courier New" pitchFamily="34" charset="0"/>
                <a:ea typeface="Courier New" pitchFamily="34" charset="-122"/>
                <a:cs typeface="Courier New" pitchFamily="34" charset="-120"/>
              </a:rPr>
              <a:t>sum(p * v for p, v in [(100, 3), (104, 1)]) / sum(v for p, v in [(100, 3), (104, 1)])</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101.0</a:t>
            </a:r>
            <a:endParaRPr lang="en-US" sz="1050" dirty="0"/>
          </a:p>
        </p:txBody>
      </p:sp>
      <p:sp>
        <p:nvSpPr>
          <p:cNvPr id="19" name="Text 17"/>
          <p:cNvSpPr txBox="1"/>
          <p:nvPr/>
        </p:nvSpPr>
        <p:spPr>
          <a:xfrm>
            <a:off x="457200" y="4343400"/>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No one sets the price; everyone does</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42</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pizzas for ten thousand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22 May 2010</a:t>
            </a:r>
            <a:endParaRPr lang="en-US" sz="1300" dirty="0"/>
          </a:p>
        </p:txBody>
      </p:sp>
      <p:sp>
        <p:nvSpPr>
          <p:cNvPr id="6" name="Shape 4"/>
          <p:cNvSpPr/>
          <p:nvPr/>
        </p:nvSpPr>
        <p:spPr>
          <a:xfrm>
            <a:off x="457200" y="1417320"/>
            <a:ext cx="2743200" cy="1463040"/>
          </a:xfrm>
          <a:prstGeom prst="roundRect">
            <a:avLst>
              <a:gd name="adj" fmla="val 5000"/>
            </a:avLst>
          </a:prstGeom>
          <a:solidFill>
            <a:srgbClr val="F2ECE1"/>
          </a:solidFill>
          <a:ln w="12700">
            <a:solidFill>
              <a:srgbClr val="DFD6C7"/>
            </a:solidFill>
            <a:prstDash val="solid"/>
          </a:ln>
        </p:spPr>
      </p:sp>
      <p:sp>
        <p:nvSpPr>
          <p:cNvPr id="7" name="Text 5"/>
          <p:cNvSpPr txBox="1"/>
          <p:nvPr/>
        </p:nvSpPr>
        <p:spPr>
          <a:xfrm>
            <a:off x="566928" y="1490472"/>
            <a:ext cx="2523744" cy="731520"/>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10,000 BTC</a:t>
            </a:r>
            <a:endParaRPr lang="en-US" sz="2200" dirty="0"/>
          </a:p>
        </p:txBody>
      </p:sp>
      <p:sp>
        <p:nvSpPr>
          <p:cNvPr id="8" name="Text 6"/>
          <p:cNvSpPr txBox="1"/>
          <p:nvPr/>
        </p:nvSpPr>
        <p:spPr>
          <a:xfrm>
            <a:off x="566928" y="2178101"/>
            <a:ext cx="25237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offered on the bitcointalk forum by Laszlo Hanyecz</a:t>
            </a:r>
            <a:endParaRPr lang="en-US" sz="1150" dirty="0"/>
          </a:p>
        </p:txBody>
      </p:sp>
      <p:pic>
        <p:nvPicPr>
          <p:cNvPr id="9" name="Image 0" descr="../../03-materials/ch01/assets/photo_pizza_margherita.jpg">    </p:cNvPr>
          <p:cNvPicPr>
            <a:picLocks noChangeAspect="1"/>
          </p:cNvPicPr>
          <p:nvPr/>
        </p:nvPicPr>
        <p:blipFill>
          <a:blip r:embed="rId1"/>
          <a:srcRect l="0" r="0" t="0" b="0"/>
          <a:stretch/>
        </p:blipFill>
        <p:spPr>
          <a:xfrm>
            <a:off x="502920" y="3017520"/>
            <a:ext cx="2697480" cy="1417320"/>
          </a:xfrm>
          <a:prstGeom prst="rect">
            <a:avLst/>
          </a:prstGeom>
        </p:spPr>
      </p:pic>
      <p:sp>
        <p:nvSpPr>
          <p:cNvPr id="10" name="Text 7"/>
          <p:cNvSpPr txBox="1"/>
          <p:nvPr/>
        </p:nvSpPr>
        <p:spPr>
          <a:xfrm>
            <a:off x="502920" y="4453128"/>
            <a:ext cx="26974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photo: Valerio Capello, CC BY-SA 3.0, Wikimedia Commons</a:t>
            </a:r>
            <a:endParaRPr lang="en-US" sz="900" dirty="0"/>
          </a:p>
        </p:txBody>
      </p:sp>
      <p:sp>
        <p:nvSpPr>
          <p:cNvPr id="11" name="Shape 8"/>
          <p:cNvSpPr/>
          <p:nvPr/>
        </p:nvSpPr>
        <p:spPr>
          <a:xfrm>
            <a:off x="3611880" y="1650492"/>
            <a:ext cx="128016" cy="128016"/>
          </a:xfrm>
          <a:prstGeom prst="diamond">
            <a:avLst/>
          </a:prstGeom>
          <a:solidFill>
            <a:srgbClr val="D97A14"/>
          </a:solidFill>
          <a:ln w="12700">
            <a:solidFill>
              <a:srgbClr val="D97A14"/>
            </a:solidFill>
            <a:prstDash val="solid"/>
          </a:ln>
        </p:spPr>
      </p:sp>
      <p:sp>
        <p:nvSpPr>
          <p:cNvPr id="12" name="Text 9"/>
          <p:cNvSpPr txBox="1"/>
          <p:nvPr/>
        </p:nvSpPr>
        <p:spPr>
          <a:xfrm>
            <a:off x="3886200" y="141732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For 18 months bitcoin ran with no known price at all</a:t>
            </a:r>
            <a:endParaRPr lang="en-US" sz="1300" dirty="0"/>
          </a:p>
        </p:txBody>
      </p:sp>
      <p:sp>
        <p:nvSpPr>
          <p:cNvPr id="13" name="Shape 10"/>
          <p:cNvSpPr/>
          <p:nvPr/>
        </p:nvSpPr>
        <p:spPr>
          <a:xfrm>
            <a:off x="3611880" y="2244852"/>
            <a:ext cx="128016" cy="128016"/>
          </a:xfrm>
          <a:prstGeom prst="diamond">
            <a:avLst/>
          </a:prstGeom>
          <a:solidFill>
            <a:srgbClr val="D97A14"/>
          </a:solidFill>
          <a:ln w="12700">
            <a:solidFill>
              <a:srgbClr val="D97A14"/>
            </a:solidFill>
            <a:prstDash val="solid"/>
          </a:ln>
        </p:spPr>
      </p:sp>
      <p:sp>
        <p:nvSpPr>
          <p:cNvPr id="14" name="Text 11"/>
          <p:cNvSpPr txBox="1"/>
          <p:nvPr/>
        </p:nvSpPr>
        <p:spPr>
          <a:xfrm>
            <a:off x="3886200" y="201168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Someone took the offer and ordered him two pizzas</a:t>
            </a:r>
            <a:endParaRPr lang="en-US" sz="1300" dirty="0"/>
          </a:p>
        </p:txBody>
      </p:sp>
      <p:sp>
        <p:nvSpPr>
          <p:cNvPr id="15" name="Shape 12"/>
          <p:cNvSpPr/>
          <p:nvPr/>
        </p:nvSpPr>
        <p:spPr>
          <a:xfrm>
            <a:off x="3611880" y="2839212"/>
            <a:ext cx="128016" cy="128016"/>
          </a:xfrm>
          <a:prstGeom prst="diamond">
            <a:avLst/>
          </a:prstGeom>
          <a:solidFill>
            <a:srgbClr val="D97A14"/>
          </a:solidFill>
          <a:ln w="12700">
            <a:solidFill>
              <a:srgbClr val="D97A14"/>
            </a:solidFill>
            <a:prstDash val="solid"/>
          </a:ln>
        </p:spPr>
      </p:sp>
      <p:sp>
        <p:nvSpPr>
          <p:cNvPr id="16" name="Text 13"/>
          <p:cNvSpPr txBox="1"/>
          <p:nvPr/>
        </p:nvSpPr>
        <p:spPr>
          <a:xfrm>
            <a:off x="3886200" y="260604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The first commercial purchase gave bitcoin its first real price</a:t>
            </a:r>
            <a:endParaRPr lang="en-US" sz="1300" dirty="0"/>
          </a:p>
        </p:txBody>
      </p:sp>
      <p:sp>
        <p:nvSpPr>
          <p:cNvPr id="17" name="Shape 14"/>
          <p:cNvSpPr/>
          <p:nvPr/>
        </p:nvSpPr>
        <p:spPr>
          <a:xfrm>
            <a:off x="3611880" y="3433572"/>
            <a:ext cx="128016" cy="128016"/>
          </a:xfrm>
          <a:prstGeom prst="diamond">
            <a:avLst/>
          </a:prstGeom>
          <a:solidFill>
            <a:srgbClr val="D97A14"/>
          </a:solidFill>
          <a:ln w="12700">
            <a:solidFill>
              <a:srgbClr val="D97A14"/>
            </a:solidFill>
            <a:prstDash val="solid"/>
          </a:ln>
        </p:spPr>
      </p:sp>
      <p:sp>
        <p:nvSpPr>
          <p:cNvPr id="18" name="Text 15"/>
          <p:cNvSpPr txBox="1"/>
          <p:nvPr/>
        </p:nvSpPr>
        <p:spPr>
          <a:xfrm>
            <a:off x="3886200" y="3200400"/>
            <a:ext cx="4800600" cy="59436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22 May is still celebrated as Bitcoin Pizza Day</a:t>
            </a:r>
            <a:endParaRPr lang="en-US" sz="1300" dirty="0"/>
          </a:p>
        </p:txBody>
      </p:sp>
      <p:sp>
        <p:nvSpPr>
          <p:cNvPr id="19" name="Shape 16"/>
          <p:cNvSpPr/>
          <p:nvPr/>
        </p:nvSpPr>
        <p:spPr>
          <a:xfrm>
            <a:off x="3611880" y="3977640"/>
            <a:ext cx="1471178"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3703320" y="3977640"/>
            <a:ext cx="1324874"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Laszlo Hanyecz</a:t>
            </a:r>
            <a:endParaRPr lang="en-US" sz="750" dirty="0"/>
          </a:p>
        </p:txBody>
      </p:sp>
      <p:sp>
        <p:nvSpPr>
          <p:cNvPr id="21" name="Shape 18"/>
          <p:cNvSpPr/>
          <p:nvPr/>
        </p:nvSpPr>
        <p:spPr>
          <a:xfrm>
            <a:off x="5192786" y="3977640"/>
            <a:ext cx="1471178"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5284226" y="3977640"/>
            <a:ext cx="1324874"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the bitcointalk for…</a:t>
            </a:r>
            <a:endParaRPr lang="en-US" sz="750" dirty="0"/>
          </a:p>
        </p:txBody>
      </p:sp>
      <p:sp>
        <p:nvSpPr>
          <p:cNvPr id="23" name="Shape 20"/>
          <p:cNvSpPr/>
          <p:nvPr/>
        </p:nvSpPr>
        <p:spPr>
          <a:xfrm>
            <a:off x="6773692" y="3977640"/>
            <a:ext cx="806775" cy="365760"/>
          </a:xfrm>
          <a:prstGeom prst="roundRect">
            <a:avLst>
              <a:gd name="adj" fmla="val 50000"/>
            </a:avLst>
          </a:prstGeom>
          <a:solidFill>
            <a:srgbClr val="EFE9DC"/>
          </a:solidFill>
          <a:ln w="9525">
            <a:solidFill>
              <a:srgbClr val="DFD6C7"/>
            </a:solidFill>
            <a:prstDash val="solid"/>
          </a:ln>
        </p:spPr>
      </p:sp>
      <p:sp>
        <p:nvSpPr>
          <p:cNvPr id="24" name="Text 21"/>
          <p:cNvSpPr txBox="1"/>
          <p:nvPr/>
        </p:nvSpPr>
        <p:spPr>
          <a:xfrm>
            <a:off x="6865132" y="3977640"/>
            <a:ext cx="660471"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22 Ma…</a:t>
            </a:r>
            <a:endParaRPr lang="en-US" sz="750" dirty="0"/>
          </a:p>
        </p:txBody>
      </p:sp>
      <p:sp>
        <p:nvSpPr>
          <p:cNvPr id="25" name="Shape 22"/>
          <p:cNvSpPr/>
          <p:nvPr/>
        </p:nvSpPr>
        <p:spPr>
          <a:xfrm>
            <a:off x="7690195" y="3977640"/>
            <a:ext cx="996605" cy="365760"/>
          </a:xfrm>
          <a:prstGeom prst="roundRect">
            <a:avLst>
              <a:gd name="adj" fmla="val 50000"/>
            </a:avLst>
          </a:prstGeom>
          <a:solidFill>
            <a:srgbClr val="2F6D62"/>
          </a:solidFill>
          <a:ln w="9525">
            <a:solidFill>
              <a:srgbClr val="2F6D62"/>
            </a:solidFill>
            <a:prstDash val="solid"/>
          </a:ln>
        </p:spPr>
      </p:sp>
      <p:sp>
        <p:nvSpPr>
          <p:cNvPr id="26" name="Text 23"/>
          <p:cNvSpPr txBox="1"/>
          <p:nvPr/>
        </p:nvSpPr>
        <p:spPr>
          <a:xfrm>
            <a:off x="7781635" y="3977640"/>
            <a:ext cx="850301"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guinnessw…</a:t>
            </a:r>
            <a:endParaRPr lang="en-US" sz="750" dirty="0"/>
          </a:p>
        </p:txBody>
      </p:sp>
      <p:sp>
        <p:nvSpPr>
          <p:cNvPr id="27" name="Shape 24"/>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Price is discovered the first time someone pays</a:t>
            </a:r>
            <a:endParaRPr lang="en-US" sz="1350" dirty="0"/>
          </a:p>
        </p:txBody>
      </p:sp>
      <p:sp>
        <p:nvSpPr>
          <p:cNvPr id="29" name="Text 2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42</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pizza, repriced every few years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Documented milestones; the last point fetched live for this deck</a:t>
            </a:r>
            <a:endParaRPr lang="en-US" sz="1300" dirty="0"/>
          </a:p>
        </p:txBody>
      </p:sp>
      <p:graphicFrame>
        <p:nvGraphicFramePr>
          <p:cNvPr id="6" name="Chart 0" descr=""/>
          <p:cNvGraphicFramePr/>
          <p:nvPr/>
        </p:nvGraphicFramePr>
        <p:xfrm>
          <a:off x="411480" y="1371600"/>
          <a:ext cx="5943600" cy="310896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537960" y="1417320"/>
            <a:ext cx="2148840" cy="1078992"/>
          </a:xfrm>
          <a:prstGeom prst="roundRect">
            <a:avLst>
              <a:gd name="adj" fmla="val 6780"/>
            </a:avLst>
          </a:prstGeom>
          <a:solidFill>
            <a:srgbClr val="F2ECE1"/>
          </a:solidFill>
          <a:ln w="12700">
            <a:solidFill>
              <a:srgbClr val="DFD6C7"/>
            </a:solidFill>
            <a:prstDash val="solid"/>
          </a:ln>
        </p:spPr>
      </p:sp>
      <p:sp>
        <p:nvSpPr>
          <p:cNvPr id="8" name="Text 5"/>
          <p:cNvSpPr txBox="1"/>
          <p:nvPr/>
        </p:nvSpPr>
        <p:spPr>
          <a:xfrm>
            <a:off x="6647688" y="1453896"/>
            <a:ext cx="1929384" cy="561076"/>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$41</a:t>
            </a:r>
            <a:endParaRPr lang="en-US" sz="2600" dirty="0"/>
          </a:p>
        </p:txBody>
      </p:sp>
      <p:sp>
        <p:nvSpPr>
          <p:cNvPr id="9" name="Text 6"/>
          <p:cNvSpPr txBox="1"/>
          <p:nvPr/>
        </p:nvSpPr>
        <p:spPr>
          <a:xfrm>
            <a:off x="6647688" y="1978396"/>
            <a:ext cx="1929384" cy="47475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pizzas' value in May 2010</a:t>
            </a:r>
            <a:endParaRPr lang="en-US" sz="1100" dirty="0"/>
          </a:p>
        </p:txBody>
      </p:sp>
      <p:sp>
        <p:nvSpPr>
          <p:cNvPr id="10" name="Shape 7"/>
          <p:cNvSpPr/>
          <p:nvPr/>
        </p:nvSpPr>
        <p:spPr>
          <a:xfrm>
            <a:off x="6537960" y="2624328"/>
            <a:ext cx="2148840" cy="1078992"/>
          </a:xfrm>
          <a:prstGeom prst="roundRect">
            <a:avLst>
              <a:gd name="adj" fmla="val 6780"/>
            </a:avLst>
          </a:prstGeom>
          <a:solidFill>
            <a:srgbClr val="F2ECE1"/>
          </a:solidFill>
          <a:ln w="12700">
            <a:solidFill>
              <a:srgbClr val="DFD6C7"/>
            </a:solidFill>
            <a:prstDash val="solid"/>
          </a:ln>
        </p:spPr>
      </p:sp>
      <p:sp>
        <p:nvSpPr>
          <p:cNvPr id="11" name="Text 8"/>
          <p:cNvSpPr txBox="1"/>
          <p:nvPr/>
        </p:nvSpPr>
        <p:spPr>
          <a:xfrm>
            <a:off x="6647688" y="2660904"/>
            <a:ext cx="1929384" cy="561076"/>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$854M</a:t>
            </a:r>
            <a:endParaRPr lang="en-US" sz="2600" dirty="0"/>
          </a:p>
        </p:txBody>
      </p:sp>
      <p:sp>
        <p:nvSpPr>
          <p:cNvPr id="12" name="Text 9"/>
          <p:cNvSpPr txBox="1"/>
          <p:nvPr/>
        </p:nvSpPr>
        <p:spPr>
          <a:xfrm>
            <a:off x="6647688" y="3185404"/>
            <a:ext cx="1929384" cy="47475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same 10,000 BTC on 2026-10-06, two APIs agreeing</a:t>
            </a:r>
            <a:endParaRPr lang="en-US" sz="1100" dirty="0"/>
          </a:p>
        </p:txBody>
      </p:sp>
      <p:sp>
        <p:nvSpPr>
          <p:cNvPr id="13" name="Shape 10"/>
          <p:cNvSpPr/>
          <p:nvPr/>
        </p:nvSpPr>
        <p:spPr>
          <a:xfrm>
            <a:off x="6537960" y="3931920"/>
            <a:ext cx="2103120" cy="402336"/>
          </a:xfrm>
          <a:prstGeom prst="roundRect">
            <a:avLst>
              <a:gd name="adj" fmla="val 50000"/>
            </a:avLst>
          </a:prstGeom>
          <a:solidFill>
            <a:srgbClr val="2F6D62"/>
          </a:solidFill>
          <a:ln w="12700">
            <a:solidFill>
              <a:srgbClr val="2F6D62"/>
            </a:solidFill>
            <a:prstDash val="solid"/>
          </a:ln>
        </p:spPr>
      </p:sp>
      <p:sp>
        <p:nvSpPr>
          <p:cNvPr id="14" name="Text 11"/>
          <p:cNvSpPr txBox="1"/>
          <p:nvPr/>
        </p:nvSpPr>
        <p:spPr>
          <a:xfrm>
            <a:off x="6537960" y="3931920"/>
            <a:ext cx="21031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each step x10</a:t>
            </a:r>
            <a:endParaRPr lang="en-US" sz="1300" dirty="0"/>
          </a:p>
        </p:txBody>
      </p:sp>
      <p:sp>
        <p:nvSpPr>
          <p:cNvPr id="15"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From 41 dollars to 854 million - price discovery never stopped</a:t>
            </a:r>
            <a:endParaRPr lang="en-US" sz="1350" dirty="0"/>
          </a:p>
        </p:txBody>
      </p:sp>
      <p:sp>
        <p:nvSpPr>
          <p:cNvPr id="17"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42</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Network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No bank in the middle - and what replaces it</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Peer-to-peer</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Consensus</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Mining</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History</a:t>
            </a:r>
            <a:pPr algn="ctr" indent="0" marL="0">
              <a:buNone/>
            </a:pPr>
            <a:endParaRPr lang="en-US" sz="1400" dirty="0"/>
          </a:p>
        </p:txBody>
      </p:sp>
      <p:pic>
        <p:nvPicPr>
          <p:cNvPr id="14" name="Image 0" descr="../../03-materials/ch01/assets/c1s18_circulation.png">    </p:cNvPr>
          <p:cNvPicPr>
            <a:picLocks noChangeAspect="1"/>
          </p:cNvPicPr>
          <p:nvPr/>
        </p:nvPicPr>
        <p:blipFill>
          <a:blip r:embed="rId1"/>
          <a:srcRect l="0" r="0" t="0" b="0"/>
          <a:stretch/>
        </p:blipFill>
        <p:spPr>
          <a:xfrm>
            <a:off x="5943600" y="1828800"/>
            <a:ext cx="2834640" cy="2560320"/>
          </a:xfrm>
          <a:prstGeom prst="rect">
            <a:avLst/>
          </a:prstGeom>
        </p:spPr>
      </p:pic>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42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bank in the middle vs. peers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Decentralisation is an architecture, not a slogan</a:t>
            </a:r>
            <a:endParaRPr lang="en-US" sz="1300" dirty="0"/>
          </a:p>
        </p:txBody>
      </p:sp>
      <p:sp>
        <p:nvSpPr>
          <p:cNvPr id="6" name="Shape 4"/>
          <p:cNvSpPr/>
          <p:nvPr/>
        </p:nvSpPr>
        <p:spPr>
          <a:xfrm>
            <a:off x="457200" y="1325880"/>
            <a:ext cx="3931920" cy="3017520"/>
          </a:xfrm>
          <a:prstGeom prst="roundRect">
            <a:avLst>
              <a:gd name="adj" fmla="val 3030"/>
            </a:avLst>
          </a:prstGeom>
          <a:solidFill>
            <a:srgbClr val="F2ECE1"/>
          </a:solidFill>
          <a:ln w="12700">
            <a:solidFill>
              <a:srgbClr val="DFD6C7"/>
            </a:solidFill>
            <a:prstDash val="solid"/>
          </a:ln>
        </p:spPr>
      </p:sp>
      <p:sp>
        <p:nvSpPr>
          <p:cNvPr id="7" name="Text 5"/>
          <p:cNvSpPr txBox="1"/>
          <p:nvPr/>
        </p:nvSpPr>
        <p:spPr>
          <a:xfrm>
            <a:off x="594360" y="1399032"/>
            <a:ext cx="3657600" cy="365760"/>
          </a:xfrm>
          <a:prstGeom prst="rect">
            <a:avLst/>
          </a:prstGeom>
          <a:noFill/>
          <a:ln/>
        </p:spPr>
        <p:txBody>
          <a:bodyPr wrap="square" lIns="0" tIns="0" rIns="0" bIns="0" rtlCol="0" anchor="ctr"/>
          <a:lstStyle/>
          <a:p>
            <a:pPr indent="0" marL="0">
              <a:buNone/>
            </a:pPr>
            <a:r>
              <a:rPr lang="en-US" sz="1350" b="1" dirty="0">
                <a:solidFill>
                  <a:srgbClr val="54504A"/>
                </a:solidFill>
                <a:latin typeface="Cambria" pitchFamily="34" charset="0"/>
                <a:ea typeface="Cambria" pitchFamily="34" charset="-122"/>
                <a:cs typeface="Cambria" pitchFamily="34" charset="-120"/>
              </a:rPr>
              <a:t>Centralised: one ledger-keeper</a:t>
            </a:r>
            <a:endParaRPr lang="en-US" sz="1350" dirty="0"/>
          </a:p>
        </p:txBody>
      </p:sp>
      <p:sp>
        <p:nvSpPr>
          <p:cNvPr id="8" name="Shape 6"/>
          <p:cNvSpPr/>
          <p:nvPr/>
        </p:nvSpPr>
        <p:spPr>
          <a:xfrm>
            <a:off x="2423160" y="2098548"/>
            <a:ext cx="0" cy="896112"/>
          </a:xfrm>
          <a:prstGeom prst="line">
            <a:avLst/>
          </a:prstGeom>
          <a:noFill/>
          <a:ln w="13970">
            <a:solidFill>
              <a:srgbClr val="BBB1A2"/>
            </a:solidFill>
            <a:prstDash val="solid"/>
          </a:ln>
        </p:spPr>
      </p:sp>
      <p:sp>
        <p:nvSpPr>
          <p:cNvPr id="9" name="Shape 7"/>
          <p:cNvSpPr/>
          <p:nvPr/>
        </p:nvSpPr>
        <p:spPr>
          <a:xfrm>
            <a:off x="2231136" y="1906524"/>
            <a:ext cx="384048" cy="384048"/>
          </a:xfrm>
          <a:prstGeom prst="ellipse">
            <a:avLst/>
          </a:prstGeom>
          <a:solidFill>
            <a:srgbClr val="54504A"/>
          </a:solidFill>
          <a:ln w="9525">
            <a:solidFill>
              <a:srgbClr val="54504A"/>
            </a:solidFill>
            <a:prstDash val="solid"/>
          </a:ln>
        </p:spPr>
      </p:sp>
      <p:sp>
        <p:nvSpPr>
          <p:cNvPr id="10" name="Shape 8"/>
          <p:cNvSpPr/>
          <p:nvPr/>
        </p:nvSpPr>
        <p:spPr>
          <a:xfrm flipV="1">
            <a:off x="2423160" y="2546604"/>
            <a:ext cx="776056" cy="448056"/>
          </a:xfrm>
          <a:prstGeom prst="line">
            <a:avLst/>
          </a:prstGeom>
          <a:noFill/>
          <a:ln w="13970">
            <a:solidFill>
              <a:srgbClr val="BBB1A2"/>
            </a:solidFill>
            <a:prstDash val="solid"/>
          </a:ln>
        </p:spPr>
      </p:sp>
      <p:sp>
        <p:nvSpPr>
          <p:cNvPr id="11" name="Shape 9"/>
          <p:cNvSpPr/>
          <p:nvPr/>
        </p:nvSpPr>
        <p:spPr>
          <a:xfrm>
            <a:off x="3007192" y="2354580"/>
            <a:ext cx="384048" cy="384048"/>
          </a:xfrm>
          <a:prstGeom prst="ellipse">
            <a:avLst/>
          </a:prstGeom>
          <a:solidFill>
            <a:srgbClr val="54504A"/>
          </a:solidFill>
          <a:ln w="9525">
            <a:solidFill>
              <a:srgbClr val="54504A"/>
            </a:solidFill>
            <a:prstDash val="solid"/>
          </a:ln>
        </p:spPr>
      </p:sp>
      <p:sp>
        <p:nvSpPr>
          <p:cNvPr id="12" name="Shape 10"/>
          <p:cNvSpPr/>
          <p:nvPr/>
        </p:nvSpPr>
        <p:spPr>
          <a:xfrm>
            <a:off x="2423160" y="2994660"/>
            <a:ext cx="776056" cy="448056"/>
          </a:xfrm>
          <a:prstGeom prst="line">
            <a:avLst/>
          </a:prstGeom>
          <a:noFill/>
          <a:ln w="13970">
            <a:solidFill>
              <a:srgbClr val="BBB1A2"/>
            </a:solidFill>
            <a:prstDash val="solid"/>
          </a:ln>
        </p:spPr>
      </p:sp>
      <p:sp>
        <p:nvSpPr>
          <p:cNvPr id="13" name="Shape 11"/>
          <p:cNvSpPr/>
          <p:nvPr/>
        </p:nvSpPr>
        <p:spPr>
          <a:xfrm>
            <a:off x="3007192" y="3250692"/>
            <a:ext cx="384048" cy="384048"/>
          </a:xfrm>
          <a:prstGeom prst="ellipse">
            <a:avLst/>
          </a:prstGeom>
          <a:solidFill>
            <a:srgbClr val="54504A"/>
          </a:solidFill>
          <a:ln w="9525">
            <a:solidFill>
              <a:srgbClr val="54504A"/>
            </a:solidFill>
            <a:prstDash val="solid"/>
          </a:ln>
        </p:spPr>
      </p:sp>
      <p:sp>
        <p:nvSpPr>
          <p:cNvPr id="14" name="Shape 12"/>
          <p:cNvSpPr/>
          <p:nvPr/>
        </p:nvSpPr>
        <p:spPr>
          <a:xfrm flipV="1">
            <a:off x="2423160" y="2994660"/>
            <a:ext cx="0" cy="896112"/>
          </a:xfrm>
          <a:prstGeom prst="line">
            <a:avLst/>
          </a:prstGeom>
          <a:noFill/>
          <a:ln w="13970">
            <a:solidFill>
              <a:srgbClr val="BBB1A2"/>
            </a:solidFill>
            <a:prstDash val="solid"/>
          </a:ln>
        </p:spPr>
      </p:sp>
      <p:sp>
        <p:nvSpPr>
          <p:cNvPr id="15" name="Shape 13"/>
          <p:cNvSpPr/>
          <p:nvPr/>
        </p:nvSpPr>
        <p:spPr>
          <a:xfrm>
            <a:off x="2231136" y="3698748"/>
            <a:ext cx="384048" cy="384048"/>
          </a:xfrm>
          <a:prstGeom prst="ellipse">
            <a:avLst/>
          </a:prstGeom>
          <a:solidFill>
            <a:srgbClr val="54504A"/>
          </a:solidFill>
          <a:ln w="9525">
            <a:solidFill>
              <a:srgbClr val="54504A"/>
            </a:solidFill>
            <a:prstDash val="solid"/>
          </a:ln>
        </p:spPr>
      </p:sp>
      <p:sp>
        <p:nvSpPr>
          <p:cNvPr id="16" name="Shape 14"/>
          <p:cNvSpPr/>
          <p:nvPr/>
        </p:nvSpPr>
        <p:spPr>
          <a:xfrm flipH="1">
            <a:off x="1647104" y="2994660"/>
            <a:ext cx="776056" cy="448056"/>
          </a:xfrm>
          <a:prstGeom prst="line">
            <a:avLst/>
          </a:prstGeom>
          <a:noFill/>
          <a:ln w="13970">
            <a:solidFill>
              <a:srgbClr val="BBB1A2"/>
            </a:solidFill>
            <a:prstDash val="solid"/>
          </a:ln>
        </p:spPr>
      </p:sp>
      <p:sp>
        <p:nvSpPr>
          <p:cNvPr id="17" name="Shape 15"/>
          <p:cNvSpPr/>
          <p:nvPr/>
        </p:nvSpPr>
        <p:spPr>
          <a:xfrm>
            <a:off x="1455080" y="3250692"/>
            <a:ext cx="384048" cy="384048"/>
          </a:xfrm>
          <a:prstGeom prst="ellipse">
            <a:avLst/>
          </a:prstGeom>
          <a:solidFill>
            <a:srgbClr val="54504A"/>
          </a:solidFill>
          <a:ln w="9525">
            <a:solidFill>
              <a:srgbClr val="54504A"/>
            </a:solidFill>
            <a:prstDash val="solid"/>
          </a:ln>
        </p:spPr>
      </p:sp>
      <p:sp>
        <p:nvSpPr>
          <p:cNvPr id="18" name="Shape 16"/>
          <p:cNvSpPr/>
          <p:nvPr/>
        </p:nvSpPr>
        <p:spPr>
          <a:xfrm flipH="1" flipV="1">
            <a:off x="1647104" y="2546604"/>
            <a:ext cx="776056" cy="448056"/>
          </a:xfrm>
          <a:prstGeom prst="line">
            <a:avLst/>
          </a:prstGeom>
          <a:noFill/>
          <a:ln w="13970">
            <a:solidFill>
              <a:srgbClr val="BBB1A2"/>
            </a:solidFill>
            <a:prstDash val="solid"/>
          </a:ln>
        </p:spPr>
      </p:sp>
      <p:sp>
        <p:nvSpPr>
          <p:cNvPr id="19" name="Shape 17"/>
          <p:cNvSpPr/>
          <p:nvPr/>
        </p:nvSpPr>
        <p:spPr>
          <a:xfrm>
            <a:off x="1455080" y="2354580"/>
            <a:ext cx="384048" cy="384048"/>
          </a:xfrm>
          <a:prstGeom prst="ellipse">
            <a:avLst/>
          </a:prstGeom>
          <a:solidFill>
            <a:srgbClr val="54504A"/>
          </a:solidFill>
          <a:ln w="9525">
            <a:solidFill>
              <a:srgbClr val="54504A"/>
            </a:solidFill>
            <a:prstDash val="solid"/>
          </a:ln>
        </p:spPr>
      </p:sp>
      <p:sp>
        <p:nvSpPr>
          <p:cNvPr id="20" name="Shape 18"/>
          <p:cNvSpPr/>
          <p:nvPr/>
        </p:nvSpPr>
        <p:spPr>
          <a:xfrm>
            <a:off x="2121408" y="2692908"/>
            <a:ext cx="603504" cy="603504"/>
          </a:xfrm>
          <a:prstGeom prst="ellipse">
            <a:avLst/>
          </a:prstGeom>
          <a:solidFill>
            <a:srgbClr val="2B2622"/>
          </a:solidFill>
          <a:ln w="19050">
            <a:solidFill>
              <a:srgbClr val="D97A14"/>
            </a:solidFill>
            <a:prstDash val="solid"/>
          </a:ln>
        </p:spPr>
      </p:sp>
      <p:sp>
        <p:nvSpPr>
          <p:cNvPr id="21" name="Text 19"/>
          <p:cNvSpPr txBox="1"/>
          <p:nvPr/>
        </p:nvSpPr>
        <p:spPr>
          <a:xfrm>
            <a:off x="1965960" y="2692908"/>
            <a:ext cx="914400" cy="60350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Bank</a:t>
            </a:r>
            <a:endParaRPr lang="en-US" sz="1100" dirty="0"/>
          </a:p>
        </p:txBody>
      </p:sp>
      <p:sp>
        <p:nvSpPr>
          <p:cNvPr id="22" name="Shape 20"/>
          <p:cNvSpPr/>
          <p:nvPr/>
        </p:nvSpPr>
        <p:spPr>
          <a:xfrm>
            <a:off x="4754880" y="1325880"/>
            <a:ext cx="3931920" cy="3017520"/>
          </a:xfrm>
          <a:prstGeom prst="roundRect">
            <a:avLst>
              <a:gd name="adj" fmla="val 3030"/>
            </a:avLst>
          </a:prstGeom>
          <a:solidFill>
            <a:srgbClr val="F2ECE1"/>
          </a:solidFill>
          <a:ln w="12700">
            <a:solidFill>
              <a:srgbClr val="DFD6C7"/>
            </a:solidFill>
            <a:prstDash val="solid"/>
          </a:ln>
        </p:spPr>
      </p:sp>
      <p:sp>
        <p:nvSpPr>
          <p:cNvPr id="23" name="Text 21"/>
          <p:cNvSpPr txBox="1"/>
          <p:nvPr/>
        </p:nvSpPr>
        <p:spPr>
          <a:xfrm>
            <a:off x="4892040" y="1399032"/>
            <a:ext cx="3657600" cy="365760"/>
          </a:xfrm>
          <a:prstGeom prst="rect">
            <a:avLst/>
          </a:prstGeom>
          <a:noFill/>
          <a:ln/>
        </p:spPr>
        <p:txBody>
          <a:bodyPr wrap="square" lIns="0" tIns="0" rIns="0" bIns="0" rtlCol="0" anchor="ctr"/>
          <a:lstStyle/>
          <a:p>
            <a:pPr indent="0" marL="0">
              <a:buNone/>
            </a:pPr>
            <a:r>
              <a:rPr lang="en-US" sz="1350" b="1" dirty="0">
                <a:solidFill>
                  <a:srgbClr val="D97A14"/>
                </a:solidFill>
                <a:latin typeface="Cambria" pitchFamily="34" charset="0"/>
                <a:ea typeface="Cambria" pitchFamily="34" charset="-122"/>
                <a:cs typeface="Cambria" pitchFamily="34" charset="-120"/>
              </a:rPr>
              <a:t>Bitcoin: every node checks every rule</a:t>
            </a:r>
            <a:endParaRPr lang="en-US" sz="1350" dirty="0"/>
          </a:p>
        </p:txBody>
      </p:sp>
      <p:sp>
        <p:nvSpPr>
          <p:cNvPr id="24" name="Shape 22"/>
          <p:cNvSpPr/>
          <p:nvPr/>
        </p:nvSpPr>
        <p:spPr>
          <a:xfrm>
            <a:off x="6720840" y="2098548"/>
            <a:ext cx="633647" cy="262465"/>
          </a:xfrm>
          <a:prstGeom prst="line">
            <a:avLst/>
          </a:prstGeom>
          <a:noFill/>
          <a:ln w="12700">
            <a:solidFill>
              <a:srgbClr val="BBB1A2"/>
            </a:solidFill>
            <a:prstDash val="solid"/>
          </a:ln>
        </p:spPr>
      </p:sp>
      <p:sp>
        <p:nvSpPr>
          <p:cNvPr id="25" name="Shape 23"/>
          <p:cNvSpPr/>
          <p:nvPr/>
        </p:nvSpPr>
        <p:spPr>
          <a:xfrm>
            <a:off x="6720840" y="2098548"/>
            <a:ext cx="896112" cy="896112"/>
          </a:xfrm>
          <a:prstGeom prst="line">
            <a:avLst/>
          </a:prstGeom>
          <a:noFill/>
          <a:ln w="10160">
            <a:solidFill>
              <a:srgbClr val="BBB1A2"/>
            </a:solidFill>
            <a:prstDash val="solid"/>
          </a:ln>
        </p:spPr>
      </p:sp>
      <p:sp>
        <p:nvSpPr>
          <p:cNvPr id="26" name="Shape 24"/>
          <p:cNvSpPr/>
          <p:nvPr/>
        </p:nvSpPr>
        <p:spPr>
          <a:xfrm>
            <a:off x="6720840" y="2098548"/>
            <a:ext cx="633647" cy="1529759"/>
          </a:xfrm>
          <a:prstGeom prst="line">
            <a:avLst/>
          </a:prstGeom>
          <a:noFill/>
          <a:ln w="6985">
            <a:solidFill>
              <a:srgbClr val="BBB1A2"/>
            </a:solidFill>
            <a:prstDash val="solid"/>
          </a:ln>
        </p:spPr>
      </p:sp>
      <p:sp>
        <p:nvSpPr>
          <p:cNvPr id="27" name="Shape 25"/>
          <p:cNvSpPr/>
          <p:nvPr/>
        </p:nvSpPr>
        <p:spPr>
          <a:xfrm>
            <a:off x="7354487" y="2361013"/>
            <a:ext cx="262465" cy="633647"/>
          </a:xfrm>
          <a:prstGeom prst="line">
            <a:avLst/>
          </a:prstGeom>
          <a:noFill/>
          <a:ln w="12700">
            <a:solidFill>
              <a:srgbClr val="BBB1A2"/>
            </a:solidFill>
            <a:prstDash val="solid"/>
          </a:ln>
        </p:spPr>
      </p:sp>
      <p:sp>
        <p:nvSpPr>
          <p:cNvPr id="28" name="Shape 26"/>
          <p:cNvSpPr/>
          <p:nvPr/>
        </p:nvSpPr>
        <p:spPr>
          <a:xfrm flipV="1">
            <a:off x="7354487" y="2361013"/>
            <a:ext cx="0" cy="1267294"/>
          </a:xfrm>
          <a:prstGeom prst="line">
            <a:avLst/>
          </a:prstGeom>
          <a:noFill/>
          <a:ln w="10160">
            <a:solidFill>
              <a:srgbClr val="BBB1A2"/>
            </a:solidFill>
            <a:prstDash val="solid"/>
          </a:ln>
        </p:spPr>
      </p:sp>
      <p:sp>
        <p:nvSpPr>
          <p:cNvPr id="29" name="Shape 27"/>
          <p:cNvSpPr/>
          <p:nvPr/>
        </p:nvSpPr>
        <p:spPr>
          <a:xfrm flipH="1">
            <a:off x="6720840" y="2361013"/>
            <a:ext cx="633647" cy="1529759"/>
          </a:xfrm>
          <a:prstGeom prst="line">
            <a:avLst/>
          </a:prstGeom>
          <a:noFill/>
          <a:ln w="6985">
            <a:solidFill>
              <a:srgbClr val="BBB1A2"/>
            </a:solidFill>
            <a:prstDash val="solid"/>
          </a:ln>
        </p:spPr>
      </p:sp>
      <p:sp>
        <p:nvSpPr>
          <p:cNvPr id="30" name="Shape 28"/>
          <p:cNvSpPr/>
          <p:nvPr/>
        </p:nvSpPr>
        <p:spPr>
          <a:xfrm flipH="1">
            <a:off x="7354487" y="2994660"/>
            <a:ext cx="262465" cy="633647"/>
          </a:xfrm>
          <a:prstGeom prst="line">
            <a:avLst/>
          </a:prstGeom>
          <a:noFill/>
          <a:ln w="12700">
            <a:solidFill>
              <a:srgbClr val="BBB1A2"/>
            </a:solidFill>
            <a:prstDash val="solid"/>
          </a:ln>
        </p:spPr>
      </p:sp>
      <p:sp>
        <p:nvSpPr>
          <p:cNvPr id="31" name="Shape 29"/>
          <p:cNvSpPr/>
          <p:nvPr/>
        </p:nvSpPr>
        <p:spPr>
          <a:xfrm flipH="1">
            <a:off x="6720840" y="2994660"/>
            <a:ext cx="896112" cy="896112"/>
          </a:xfrm>
          <a:prstGeom prst="line">
            <a:avLst/>
          </a:prstGeom>
          <a:noFill/>
          <a:ln w="10160">
            <a:solidFill>
              <a:srgbClr val="BBB1A2"/>
            </a:solidFill>
            <a:prstDash val="solid"/>
          </a:ln>
        </p:spPr>
      </p:sp>
      <p:sp>
        <p:nvSpPr>
          <p:cNvPr id="32" name="Shape 30"/>
          <p:cNvSpPr/>
          <p:nvPr/>
        </p:nvSpPr>
        <p:spPr>
          <a:xfrm flipH="1">
            <a:off x="6087193" y="2994660"/>
            <a:ext cx="1529759" cy="633647"/>
          </a:xfrm>
          <a:prstGeom prst="line">
            <a:avLst/>
          </a:prstGeom>
          <a:noFill/>
          <a:ln w="6985">
            <a:solidFill>
              <a:srgbClr val="BBB1A2"/>
            </a:solidFill>
            <a:prstDash val="solid"/>
          </a:ln>
        </p:spPr>
      </p:sp>
      <p:sp>
        <p:nvSpPr>
          <p:cNvPr id="33" name="Shape 31"/>
          <p:cNvSpPr/>
          <p:nvPr/>
        </p:nvSpPr>
        <p:spPr>
          <a:xfrm flipH="1">
            <a:off x="6720840" y="3628307"/>
            <a:ext cx="633647" cy="262465"/>
          </a:xfrm>
          <a:prstGeom prst="line">
            <a:avLst/>
          </a:prstGeom>
          <a:noFill/>
          <a:ln w="12700">
            <a:solidFill>
              <a:srgbClr val="BBB1A2"/>
            </a:solidFill>
            <a:prstDash val="solid"/>
          </a:ln>
        </p:spPr>
      </p:sp>
      <p:sp>
        <p:nvSpPr>
          <p:cNvPr id="34" name="Shape 32"/>
          <p:cNvSpPr/>
          <p:nvPr/>
        </p:nvSpPr>
        <p:spPr>
          <a:xfrm flipH="1">
            <a:off x="6087193" y="3628307"/>
            <a:ext cx="1267294" cy="0"/>
          </a:xfrm>
          <a:prstGeom prst="line">
            <a:avLst/>
          </a:prstGeom>
          <a:noFill/>
          <a:ln w="10160">
            <a:solidFill>
              <a:srgbClr val="BBB1A2"/>
            </a:solidFill>
            <a:prstDash val="solid"/>
          </a:ln>
        </p:spPr>
      </p:sp>
      <p:sp>
        <p:nvSpPr>
          <p:cNvPr id="35" name="Shape 33"/>
          <p:cNvSpPr/>
          <p:nvPr/>
        </p:nvSpPr>
        <p:spPr>
          <a:xfrm flipH="1" flipV="1">
            <a:off x="5824728" y="2994660"/>
            <a:ext cx="1529759" cy="633647"/>
          </a:xfrm>
          <a:prstGeom prst="line">
            <a:avLst/>
          </a:prstGeom>
          <a:noFill/>
          <a:ln w="6985">
            <a:solidFill>
              <a:srgbClr val="BBB1A2"/>
            </a:solidFill>
            <a:prstDash val="solid"/>
          </a:ln>
        </p:spPr>
      </p:sp>
      <p:sp>
        <p:nvSpPr>
          <p:cNvPr id="36" name="Shape 34"/>
          <p:cNvSpPr/>
          <p:nvPr/>
        </p:nvSpPr>
        <p:spPr>
          <a:xfrm flipH="1" flipV="1">
            <a:off x="6087193" y="3628307"/>
            <a:ext cx="633647" cy="262465"/>
          </a:xfrm>
          <a:prstGeom prst="line">
            <a:avLst/>
          </a:prstGeom>
          <a:noFill/>
          <a:ln w="12700">
            <a:solidFill>
              <a:srgbClr val="BBB1A2"/>
            </a:solidFill>
            <a:prstDash val="solid"/>
          </a:ln>
        </p:spPr>
      </p:sp>
      <p:sp>
        <p:nvSpPr>
          <p:cNvPr id="37" name="Shape 35"/>
          <p:cNvSpPr/>
          <p:nvPr/>
        </p:nvSpPr>
        <p:spPr>
          <a:xfrm flipH="1" flipV="1">
            <a:off x="5824728" y="2994660"/>
            <a:ext cx="896112" cy="896112"/>
          </a:xfrm>
          <a:prstGeom prst="line">
            <a:avLst/>
          </a:prstGeom>
          <a:noFill/>
          <a:ln w="10160">
            <a:solidFill>
              <a:srgbClr val="BBB1A2"/>
            </a:solidFill>
            <a:prstDash val="solid"/>
          </a:ln>
        </p:spPr>
      </p:sp>
      <p:sp>
        <p:nvSpPr>
          <p:cNvPr id="38" name="Shape 36"/>
          <p:cNvSpPr/>
          <p:nvPr/>
        </p:nvSpPr>
        <p:spPr>
          <a:xfrm flipH="1" flipV="1">
            <a:off x="6087193" y="2361013"/>
            <a:ext cx="633647" cy="1529759"/>
          </a:xfrm>
          <a:prstGeom prst="line">
            <a:avLst/>
          </a:prstGeom>
          <a:noFill/>
          <a:ln w="6985">
            <a:solidFill>
              <a:srgbClr val="BBB1A2"/>
            </a:solidFill>
            <a:prstDash val="solid"/>
          </a:ln>
        </p:spPr>
      </p:sp>
      <p:sp>
        <p:nvSpPr>
          <p:cNvPr id="39" name="Shape 37"/>
          <p:cNvSpPr/>
          <p:nvPr/>
        </p:nvSpPr>
        <p:spPr>
          <a:xfrm flipH="1" flipV="1">
            <a:off x="5824728" y="2994660"/>
            <a:ext cx="262465" cy="633647"/>
          </a:xfrm>
          <a:prstGeom prst="line">
            <a:avLst/>
          </a:prstGeom>
          <a:noFill/>
          <a:ln w="12700">
            <a:solidFill>
              <a:srgbClr val="BBB1A2"/>
            </a:solidFill>
            <a:prstDash val="solid"/>
          </a:ln>
        </p:spPr>
      </p:sp>
      <p:sp>
        <p:nvSpPr>
          <p:cNvPr id="40" name="Shape 38"/>
          <p:cNvSpPr/>
          <p:nvPr/>
        </p:nvSpPr>
        <p:spPr>
          <a:xfrm>
            <a:off x="6087193" y="2361013"/>
            <a:ext cx="0" cy="1267294"/>
          </a:xfrm>
          <a:prstGeom prst="line">
            <a:avLst/>
          </a:prstGeom>
          <a:noFill/>
          <a:ln w="10160">
            <a:solidFill>
              <a:srgbClr val="BBB1A2"/>
            </a:solidFill>
            <a:prstDash val="solid"/>
          </a:ln>
        </p:spPr>
      </p:sp>
      <p:sp>
        <p:nvSpPr>
          <p:cNvPr id="41" name="Shape 39"/>
          <p:cNvSpPr/>
          <p:nvPr/>
        </p:nvSpPr>
        <p:spPr>
          <a:xfrm flipV="1">
            <a:off x="5824728" y="2361013"/>
            <a:ext cx="262465" cy="633647"/>
          </a:xfrm>
          <a:prstGeom prst="line">
            <a:avLst/>
          </a:prstGeom>
          <a:noFill/>
          <a:ln w="12700">
            <a:solidFill>
              <a:srgbClr val="BBB1A2"/>
            </a:solidFill>
            <a:prstDash val="solid"/>
          </a:ln>
        </p:spPr>
      </p:sp>
      <p:sp>
        <p:nvSpPr>
          <p:cNvPr id="42" name="Shape 40"/>
          <p:cNvSpPr/>
          <p:nvPr/>
        </p:nvSpPr>
        <p:spPr>
          <a:xfrm>
            <a:off x="6528816" y="1906524"/>
            <a:ext cx="384048" cy="384048"/>
          </a:xfrm>
          <a:prstGeom prst="ellipse">
            <a:avLst/>
          </a:prstGeom>
          <a:solidFill>
            <a:srgbClr val="D97A14"/>
          </a:solidFill>
          <a:ln w="9525">
            <a:solidFill>
              <a:srgbClr val="FFFFFF"/>
            </a:solidFill>
            <a:prstDash val="solid"/>
          </a:ln>
        </p:spPr>
      </p:sp>
      <p:sp>
        <p:nvSpPr>
          <p:cNvPr id="43" name="Shape 41"/>
          <p:cNvSpPr/>
          <p:nvPr/>
        </p:nvSpPr>
        <p:spPr>
          <a:xfrm>
            <a:off x="7162463" y="2168989"/>
            <a:ext cx="384048" cy="384048"/>
          </a:xfrm>
          <a:prstGeom prst="ellipse">
            <a:avLst/>
          </a:prstGeom>
          <a:solidFill>
            <a:srgbClr val="D97A14"/>
          </a:solidFill>
          <a:ln w="9525">
            <a:solidFill>
              <a:srgbClr val="FFFFFF"/>
            </a:solidFill>
            <a:prstDash val="solid"/>
          </a:ln>
        </p:spPr>
      </p:sp>
      <p:sp>
        <p:nvSpPr>
          <p:cNvPr id="44" name="Shape 42"/>
          <p:cNvSpPr/>
          <p:nvPr/>
        </p:nvSpPr>
        <p:spPr>
          <a:xfrm>
            <a:off x="7424928" y="2802636"/>
            <a:ext cx="384048" cy="384048"/>
          </a:xfrm>
          <a:prstGeom prst="ellipse">
            <a:avLst/>
          </a:prstGeom>
          <a:solidFill>
            <a:srgbClr val="D97A14"/>
          </a:solidFill>
          <a:ln w="9525">
            <a:solidFill>
              <a:srgbClr val="FFFFFF"/>
            </a:solidFill>
            <a:prstDash val="solid"/>
          </a:ln>
        </p:spPr>
      </p:sp>
      <p:sp>
        <p:nvSpPr>
          <p:cNvPr id="45" name="Shape 43"/>
          <p:cNvSpPr/>
          <p:nvPr/>
        </p:nvSpPr>
        <p:spPr>
          <a:xfrm>
            <a:off x="7162463" y="3436283"/>
            <a:ext cx="384048" cy="384048"/>
          </a:xfrm>
          <a:prstGeom prst="ellipse">
            <a:avLst/>
          </a:prstGeom>
          <a:solidFill>
            <a:srgbClr val="D97A14"/>
          </a:solidFill>
          <a:ln w="9525">
            <a:solidFill>
              <a:srgbClr val="FFFFFF"/>
            </a:solidFill>
            <a:prstDash val="solid"/>
          </a:ln>
        </p:spPr>
      </p:sp>
      <p:sp>
        <p:nvSpPr>
          <p:cNvPr id="46" name="Shape 44"/>
          <p:cNvSpPr/>
          <p:nvPr/>
        </p:nvSpPr>
        <p:spPr>
          <a:xfrm>
            <a:off x="6528816" y="3698748"/>
            <a:ext cx="384048" cy="384048"/>
          </a:xfrm>
          <a:prstGeom prst="ellipse">
            <a:avLst/>
          </a:prstGeom>
          <a:solidFill>
            <a:srgbClr val="D97A14"/>
          </a:solidFill>
          <a:ln w="9525">
            <a:solidFill>
              <a:srgbClr val="FFFFFF"/>
            </a:solidFill>
            <a:prstDash val="solid"/>
          </a:ln>
        </p:spPr>
      </p:sp>
      <p:sp>
        <p:nvSpPr>
          <p:cNvPr id="47" name="Shape 45"/>
          <p:cNvSpPr/>
          <p:nvPr/>
        </p:nvSpPr>
        <p:spPr>
          <a:xfrm>
            <a:off x="5895169" y="3436283"/>
            <a:ext cx="384048" cy="384048"/>
          </a:xfrm>
          <a:prstGeom prst="ellipse">
            <a:avLst/>
          </a:prstGeom>
          <a:solidFill>
            <a:srgbClr val="D97A14"/>
          </a:solidFill>
          <a:ln w="9525">
            <a:solidFill>
              <a:srgbClr val="FFFFFF"/>
            </a:solidFill>
            <a:prstDash val="solid"/>
          </a:ln>
        </p:spPr>
      </p:sp>
      <p:sp>
        <p:nvSpPr>
          <p:cNvPr id="48" name="Shape 46"/>
          <p:cNvSpPr/>
          <p:nvPr/>
        </p:nvSpPr>
        <p:spPr>
          <a:xfrm>
            <a:off x="5632704" y="2802636"/>
            <a:ext cx="384048" cy="384048"/>
          </a:xfrm>
          <a:prstGeom prst="ellipse">
            <a:avLst/>
          </a:prstGeom>
          <a:solidFill>
            <a:srgbClr val="D97A14"/>
          </a:solidFill>
          <a:ln w="9525">
            <a:solidFill>
              <a:srgbClr val="FFFFFF"/>
            </a:solidFill>
            <a:prstDash val="solid"/>
          </a:ln>
        </p:spPr>
      </p:sp>
      <p:sp>
        <p:nvSpPr>
          <p:cNvPr id="49" name="Shape 47"/>
          <p:cNvSpPr/>
          <p:nvPr/>
        </p:nvSpPr>
        <p:spPr>
          <a:xfrm>
            <a:off x="5895169" y="2168989"/>
            <a:ext cx="384048" cy="384048"/>
          </a:xfrm>
          <a:prstGeom prst="ellipse">
            <a:avLst/>
          </a:prstGeom>
          <a:solidFill>
            <a:srgbClr val="D97A14"/>
          </a:solidFill>
          <a:ln w="9525">
            <a:solidFill>
              <a:srgbClr val="FFFFFF"/>
            </a:solidFill>
            <a:prstDash val="solid"/>
          </a:ln>
        </p:spPr>
      </p:sp>
      <p:sp>
        <p:nvSpPr>
          <p:cNvPr id="50" name="Shape 48"/>
          <p:cNvSpPr/>
          <p:nvPr/>
        </p:nvSpPr>
        <p:spPr>
          <a:xfrm>
            <a:off x="457200" y="4636008"/>
            <a:ext cx="91440" cy="310896"/>
          </a:xfrm>
          <a:prstGeom prst="rect">
            <a:avLst/>
          </a:prstGeom>
          <a:solidFill>
            <a:srgbClr val="D97A14"/>
          </a:solidFill>
          <a:ln w="12700">
            <a:solidFill>
              <a:srgbClr val="D97A14"/>
            </a:solidFill>
            <a:prstDash val="solid"/>
          </a:ln>
        </p:spPr>
      </p:sp>
      <p:sp>
        <p:nvSpPr>
          <p:cNvPr id="51" name="Text 4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Remove the hub and the rules must move to every node</a:t>
            </a:r>
            <a:endParaRPr lang="en-US" sz="1350" dirty="0"/>
          </a:p>
        </p:txBody>
      </p:sp>
      <p:sp>
        <p:nvSpPr>
          <p:cNvPr id="52" name="Text 5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42</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Peers find each other without a directory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protocol sketch - run, not quoted</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5120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Four peers start, each knowing one neighbour</a:t>
            </a:r>
            <a:endParaRPr lang="en-US" sz="1050" dirty="0"/>
          </a:p>
        </p:txBody>
      </p:sp>
      <p:sp>
        <p:nvSpPr>
          <p:cNvPr id="9" name="Shape 7"/>
          <p:cNvSpPr/>
          <p:nvPr/>
        </p:nvSpPr>
        <p:spPr>
          <a:xfrm>
            <a:off x="457200" y="210312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1031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66544"/>
            <a:ext cx="2679192" cy="5120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Each asks its neighbours for THEIR neighbours</a:t>
            </a:r>
            <a:endParaRPr lang="en-US" sz="10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2679192" cy="51206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Links are counted when the gossip settles: 4</a:t>
            </a:r>
            <a:endParaRPr lang="en-US" sz="1050" dirty="0"/>
          </a:p>
        </p:txBody>
      </p:sp>
      <p:pic>
        <p:nvPicPr>
          <p:cNvPr id="15" name="Image 0" descr="../../03-materials/ch01/assets/c8s06_mesh.png">    </p:cNvPr>
          <p:cNvPicPr>
            <a:picLocks noChangeAspect="1"/>
          </p:cNvPicPr>
          <p:nvPr/>
        </p:nvPicPr>
        <p:blipFill>
          <a:blip r:embed="rId1"/>
          <a:srcRect l="0" r="0" t="0" b="0"/>
          <a:stretch/>
        </p:blipFill>
        <p:spPr>
          <a:xfrm>
            <a:off x="3931920" y="1444752"/>
            <a:ext cx="2194560" cy="1463040"/>
          </a:xfrm>
          <a:prstGeom prst="rect">
            <a:avLst/>
          </a:prstGeom>
        </p:spPr>
      </p:pic>
      <p:sp>
        <p:nvSpPr>
          <p:cNvPr id="16" name="Text 13"/>
          <p:cNvSpPr txBox="1"/>
          <p:nvPr/>
        </p:nvSpPr>
        <p:spPr>
          <a:xfrm>
            <a:off x="3931920" y="2926080"/>
            <a:ext cx="21945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what it builds: a flat mesh</a:t>
            </a:r>
            <a:endParaRPr lang="en-US" sz="900" dirty="0"/>
          </a:p>
        </p:txBody>
      </p:sp>
      <p:sp>
        <p:nvSpPr>
          <p:cNvPr id="17" name="Shape 14"/>
          <p:cNvSpPr/>
          <p:nvPr/>
        </p:nvSpPr>
        <p:spPr>
          <a:xfrm>
            <a:off x="6400800" y="1444752"/>
            <a:ext cx="2286000" cy="1463040"/>
          </a:xfrm>
          <a:prstGeom prst="roundRect">
            <a:avLst>
              <a:gd name="adj" fmla="val 5000"/>
            </a:avLst>
          </a:prstGeom>
          <a:solidFill>
            <a:srgbClr val="F2ECE1"/>
          </a:solidFill>
          <a:ln w="12700">
            <a:solidFill>
              <a:srgbClr val="DFD6C7"/>
            </a:solidFill>
            <a:prstDash val="solid"/>
          </a:ln>
        </p:spPr>
      </p:sp>
      <p:sp>
        <p:nvSpPr>
          <p:cNvPr id="18" name="Text 15"/>
          <p:cNvSpPr txBox="1"/>
          <p:nvPr/>
        </p:nvSpPr>
        <p:spPr>
          <a:xfrm>
            <a:off x="6510528" y="1517904"/>
            <a:ext cx="20665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4</a:t>
            </a:r>
            <a:endParaRPr lang="en-US" sz="2800" dirty="0"/>
          </a:p>
        </p:txBody>
      </p:sp>
      <p:sp>
        <p:nvSpPr>
          <p:cNvPr id="19" name="Text 16"/>
          <p:cNvSpPr txBox="1"/>
          <p:nvPr/>
        </p:nvSpPr>
        <p:spPr>
          <a:xfrm>
            <a:off x="6510528" y="2205533"/>
            <a:ext cx="20665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links counted by the run - no server, no registry</a:t>
            </a:r>
            <a:endParaRPr lang="en-US" sz="1150" dirty="0"/>
          </a:p>
        </p:txBody>
      </p:sp>
      <p:sp>
        <p:nvSpPr>
          <p:cNvPr id="20" name="Text 17"/>
          <p:cNvSpPr txBox="1"/>
          <p:nvPr/>
        </p:nvSpPr>
        <p:spPr>
          <a:xfrm>
            <a:off x="457200" y="30358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 run it at home</a:t>
            </a:r>
            <a:endParaRPr lang="en-US" sz="1150" dirty="0"/>
          </a:p>
        </p:txBody>
      </p:sp>
      <p:sp>
        <p:nvSpPr>
          <p:cNvPr id="21" name="Shape 18"/>
          <p:cNvSpPr/>
          <p:nvPr/>
        </p:nvSpPr>
        <p:spPr>
          <a:xfrm>
            <a:off x="457200" y="3310128"/>
            <a:ext cx="8229600" cy="1188720"/>
          </a:xfrm>
          <a:prstGeom prst="roundRect">
            <a:avLst>
              <a:gd name="adj" fmla="val 7692"/>
            </a:avLst>
          </a:prstGeom>
          <a:solidFill>
            <a:srgbClr val="23272E"/>
          </a:solidFill>
          <a:ln w="12700">
            <a:solidFill>
              <a:srgbClr val="23272E"/>
            </a:solidFill>
            <a:prstDash val="solid"/>
          </a:ln>
        </p:spPr>
      </p:sp>
      <p:sp>
        <p:nvSpPr>
          <p:cNvPr id="22" name="Text 19"/>
          <p:cNvSpPr txBox="1"/>
          <p:nvPr/>
        </p:nvSpPr>
        <p:spPr>
          <a:xfrm>
            <a:off x="640080" y="3429000"/>
            <a:ext cx="7863840" cy="950976"/>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links = {</a:t>
            </a:r>
            <a:pPr indent="0" marL="0">
              <a:buNone/>
            </a:pPr>
            <a:r>
              <a:rPr lang="en-US" sz="800" dirty="0">
                <a:solidFill>
                  <a:srgbClr val="9ECBFF"/>
                </a:solidFill>
                <a:latin typeface="Courier New" pitchFamily="34" charset="0"/>
                <a:ea typeface="Courier New" pitchFamily="34" charset="-122"/>
                <a:cs typeface="Courier New" pitchFamily="34" charset="-120"/>
              </a:rPr>
              <a:t>'A'</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'B'</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'C'</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'B'</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'A'</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'D'</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'C'</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'A'</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'E'</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'D'</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'B'</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'F'</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'E'</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'C'</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'F'</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'F'</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'D'</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'E'</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'G'</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'G'</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'F'</a:t>
            </a:r>
            <a:pPr indent="0" marL="0">
              <a:buNone/>
            </a:pP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seen, frontier, rounds = {</a:t>
            </a:r>
            <a:pPr indent="0" marL="0">
              <a:buNone/>
            </a:pPr>
            <a:r>
              <a:rPr lang="en-US" sz="800" dirty="0">
                <a:solidFill>
                  <a:srgbClr val="9ECBFF"/>
                </a:solidFill>
                <a:latin typeface="Courier New" pitchFamily="34" charset="0"/>
                <a:ea typeface="Courier New" pitchFamily="34" charset="-122"/>
                <a:cs typeface="Courier New" pitchFamily="34" charset="-120"/>
              </a:rPr>
              <a:t>'A'</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'A'</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FFD28A"/>
                </a:solidFill>
                <a:latin typeface="Courier New" pitchFamily="34" charset="0"/>
                <a:ea typeface="Courier New" pitchFamily="34" charset="-122"/>
                <a:cs typeface="Courier New" pitchFamily="34" charset="-120"/>
              </a:rPr>
              <a:t>0</a:t>
            </a:r>
            <a:endParaRPr lang="en-US" sz="800" dirty="0"/>
          </a:p>
          <a:p>
            <a:pPr indent="0" marL="0">
              <a:buNone/>
            </a:pPr>
            <a:r>
              <a:rPr lang="en-US" sz="800" b="1" dirty="0">
                <a:solidFill>
                  <a:srgbClr val="F2A860"/>
                </a:solidFill>
                <a:latin typeface="Courier New" pitchFamily="34" charset="0"/>
                <a:ea typeface="Courier New" pitchFamily="34" charset="-122"/>
                <a:cs typeface="Courier New" pitchFamily="34" charset="-120"/>
              </a:rPr>
              <a:t>while</a:t>
            </a:r>
            <a:pPr indent="0" marL="0">
              <a:buNone/>
            </a:pPr>
            <a:r>
              <a:rPr lang="en-US" sz="800" dirty="0">
                <a:solidFill>
                  <a:srgbClr val="E6EDF3"/>
                </a:solidFill>
                <a:latin typeface="Courier New" pitchFamily="34" charset="0"/>
                <a:ea typeface="Courier New" pitchFamily="34" charset="-122"/>
                <a:cs typeface="Courier New" pitchFamily="34" charset="-120"/>
              </a:rPr>
              <a:t> len(seen) &lt; len(links):</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frontier = {n </a:t>
            </a:r>
            <a:pPr indent="0" marL="0">
              <a:buNone/>
            </a:pPr>
            <a:r>
              <a:rPr lang="en-US" sz="800" b="1" dirty="0">
                <a:solidFill>
                  <a:srgbClr val="F2A860"/>
                </a:solidFill>
                <a:latin typeface="Courier New" pitchFamily="34" charset="0"/>
                <a:ea typeface="Courier New" pitchFamily="34" charset="-122"/>
                <a:cs typeface="Courier New" pitchFamily="34" charset="-120"/>
              </a:rPr>
              <a:t>for</a:t>
            </a:r>
            <a:pPr indent="0" marL="0">
              <a:buNone/>
            </a:pPr>
            <a:r>
              <a:rPr lang="en-US" sz="800" dirty="0">
                <a:solidFill>
                  <a:srgbClr val="E6EDF3"/>
                </a:solidFill>
                <a:latin typeface="Courier New" pitchFamily="34" charset="0"/>
                <a:ea typeface="Courier New" pitchFamily="34" charset="-122"/>
                <a:cs typeface="Courier New" pitchFamily="34" charset="-120"/>
              </a:rPr>
              <a:t> f </a:t>
            </a:r>
            <a:pPr indent="0" marL="0">
              <a:buNone/>
            </a:pPr>
            <a:r>
              <a:rPr lang="en-US" sz="800" b="1" dirty="0">
                <a:solidFill>
                  <a:srgbClr val="F2A860"/>
                </a:solidFill>
                <a:latin typeface="Courier New" pitchFamily="34" charset="0"/>
                <a:ea typeface="Courier New" pitchFamily="34" charset="-122"/>
                <a:cs typeface="Courier New" pitchFamily="34" charset="-120"/>
              </a:rPr>
              <a:t>in</a:t>
            </a:r>
            <a:pPr indent="0" marL="0">
              <a:buNone/>
            </a:pPr>
            <a:r>
              <a:rPr lang="en-US" sz="800" dirty="0">
                <a:solidFill>
                  <a:srgbClr val="E6EDF3"/>
                </a:solidFill>
                <a:latin typeface="Courier New" pitchFamily="34" charset="0"/>
                <a:ea typeface="Courier New" pitchFamily="34" charset="-122"/>
                <a:cs typeface="Courier New" pitchFamily="34" charset="-120"/>
              </a:rPr>
              <a:t> frontier </a:t>
            </a:r>
            <a:pPr indent="0" marL="0">
              <a:buNone/>
            </a:pPr>
            <a:r>
              <a:rPr lang="en-US" sz="800" b="1" dirty="0">
                <a:solidFill>
                  <a:srgbClr val="F2A860"/>
                </a:solidFill>
                <a:latin typeface="Courier New" pitchFamily="34" charset="0"/>
                <a:ea typeface="Courier New" pitchFamily="34" charset="-122"/>
                <a:cs typeface="Courier New" pitchFamily="34" charset="-120"/>
              </a:rPr>
              <a:t>for</a:t>
            </a:r>
            <a:pPr indent="0" marL="0">
              <a:buNone/>
            </a:pPr>
            <a:r>
              <a:rPr lang="en-US" sz="800" dirty="0">
                <a:solidFill>
                  <a:srgbClr val="E6EDF3"/>
                </a:solidFill>
                <a:latin typeface="Courier New" pitchFamily="34" charset="0"/>
                <a:ea typeface="Courier New" pitchFamily="34" charset="-122"/>
                <a:cs typeface="Courier New" pitchFamily="34" charset="-120"/>
              </a:rPr>
              <a:t> n </a:t>
            </a:r>
            <a:pPr indent="0" marL="0">
              <a:buNone/>
            </a:pPr>
            <a:r>
              <a:rPr lang="en-US" sz="800" b="1" dirty="0">
                <a:solidFill>
                  <a:srgbClr val="F2A860"/>
                </a:solidFill>
                <a:latin typeface="Courier New" pitchFamily="34" charset="0"/>
                <a:ea typeface="Courier New" pitchFamily="34" charset="-122"/>
                <a:cs typeface="Courier New" pitchFamily="34" charset="-120"/>
              </a:rPr>
              <a:t>in</a:t>
            </a:r>
            <a:pPr indent="0" marL="0">
              <a:buNone/>
            </a:pPr>
            <a:r>
              <a:rPr lang="en-US" sz="800" dirty="0">
                <a:solidFill>
                  <a:srgbClr val="E6EDF3"/>
                </a:solidFill>
                <a:latin typeface="Courier New" pitchFamily="34" charset="0"/>
                <a:ea typeface="Courier New" pitchFamily="34" charset="-122"/>
                <a:cs typeface="Courier New" pitchFamily="34" charset="-120"/>
              </a:rPr>
              <a:t> links[f]} - seen</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seen |= frontier; rounds += </a:t>
            </a:r>
            <a:pPr indent="0" marL="0">
              <a:buNone/>
            </a:pPr>
            <a:r>
              <a:rPr lang="en-US" sz="800" dirty="0">
                <a:solidFill>
                  <a:srgbClr val="FFD28A"/>
                </a:solidFill>
                <a:latin typeface="Courier New" pitchFamily="34" charset="0"/>
                <a:ea typeface="Courier New" pitchFamily="34" charset="-122"/>
                <a:cs typeface="Courier New" pitchFamily="34" charset="-120"/>
              </a:rPr>
              <a:t>1</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result = rounds</a:t>
            </a:r>
            <a:endParaRPr lang="en-US" sz="800" dirty="0"/>
          </a:p>
        </p:txBody>
      </p:sp>
      <p:sp>
        <p:nvSpPr>
          <p:cNvPr id="23" name="Text 20"/>
          <p:cNvSpPr txBox="1"/>
          <p:nvPr/>
        </p:nvSpPr>
        <p:spPr>
          <a:xfrm>
            <a:off x="457200" y="4517136"/>
            <a:ext cx="8229600" cy="256032"/>
          </a:xfrm>
          <a:prstGeom prst="rect">
            <a:avLst/>
          </a:prstGeom>
          <a:noFill/>
          <a:ln/>
        </p:spPr>
        <p:txBody>
          <a:bodyPr wrap="square" lIns="0" tIns="0" rIns="0" bIns="0" rtlCol="0" anchor="ctr"/>
          <a:lstStyle/>
          <a:p>
            <a:pPr indent="0" marL="0">
              <a:buNone/>
            </a:pPr>
            <a:r>
              <a:rPr lang="en-US" sz="900" b="1" dirty="0">
                <a:solidFill>
                  <a:srgbClr val="D97A14"/>
                </a:solidFill>
                <a:latin typeface="Courier New" pitchFamily="34" charset="0"/>
                <a:ea typeface="Courier New" pitchFamily="34" charset="-122"/>
                <a:cs typeface="Courier New" pitchFamily="34" charset="-120"/>
              </a:rPr>
              <a:t>result  </a:t>
            </a:r>
            <a:pPr indent="0" marL="0">
              <a:buNone/>
            </a:pPr>
            <a:r>
              <a:rPr lang="en-US" sz="900" dirty="0">
                <a:solidFill>
                  <a:srgbClr val="2B2622"/>
                </a:solidFill>
                <a:latin typeface="Courier New" pitchFamily="34" charset="0"/>
                <a:ea typeface="Courier New" pitchFamily="34" charset="-122"/>
                <a:cs typeface="Courier New" pitchFamily="34" charset="-120"/>
              </a:rPr>
              <a:t>4</a:t>
            </a:r>
            <a:endParaRPr lang="en-US" sz="900" dirty="0"/>
          </a:p>
        </p:txBody>
      </p:sp>
      <p:sp>
        <p:nvSpPr>
          <p:cNvPr id="24" name="Text 21"/>
          <p:cNvSpPr txBox="1"/>
          <p:nvPr/>
        </p:nvSpPr>
        <p:spPr>
          <a:xfrm>
            <a:off x="457200" y="4773168"/>
            <a:ext cx="822960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PeerToPeerProtocol, lines 1 to 6 of 6, run under Python 3.14.4</a:t>
            </a:r>
            <a:endParaRPr lang="en-US" sz="90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network is just nodes agreeing to speak alike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42</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Rules, not rulers, decide validity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node applies the same consensus rules</a:t>
            </a:r>
            <a:endParaRPr lang="en-US" sz="1300" dirty="0"/>
          </a:p>
        </p:txBody>
      </p:sp>
      <p:sp>
        <p:nvSpPr>
          <p:cNvPr id="6" name="Shape 4"/>
          <p:cNvSpPr/>
          <p:nvPr/>
        </p:nvSpPr>
        <p:spPr>
          <a:xfrm>
            <a:off x="457200" y="1554480"/>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544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17904"/>
            <a:ext cx="2679192" cy="49682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The rule: at height h, a block may create subsidy plus fees, nothing more</a:t>
            </a:r>
            <a:endParaRPr lang="en-US" sz="1000" dirty="0"/>
          </a:p>
        </p:txBody>
      </p:sp>
      <p:sp>
        <p:nvSpPr>
          <p:cNvPr id="9" name="Shape 7"/>
          <p:cNvSpPr/>
          <p:nvPr/>
        </p:nvSpPr>
        <p:spPr>
          <a:xfrm>
            <a:off x="457200" y="20878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878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51304"/>
            <a:ext cx="2679192" cy="49682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Three blocks claim rewards at height 840,000</a:t>
            </a:r>
            <a:endParaRPr lang="en-US" sz="1000" dirty="0"/>
          </a:p>
        </p:txBody>
      </p:sp>
      <p:sp>
        <p:nvSpPr>
          <p:cNvPr id="12" name="Shape 10"/>
          <p:cNvSpPr/>
          <p:nvPr/>
        </p:nvSpPr>
        <p:spPr>
          <a:xfrm>
            <a:off x="457200" y="262128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21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84704"/>
            <a:ext cx="2679192" cy="49682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Verdicts: allowed, refused, allowed - right</a:t>
            </a:r>
            <a:endParaRPr lang="en-US" sz="1000" dirty="0"/>
          </a:p>
        </p:txBody>
      </p:sp>
      <p:sp>
        <p:nvSpPr>
          <p:cNvPr id="15" name="Shape 13"/>
          <p:cNvSpPr/>
          <p:nvPr/>
        </p:nvSpPr>
        <p:spPr>
          <a:xfrm>
            <a:off x="3840480" y="1444752"/>
            <a:ext cx="4846320" cy="432816"/>
          </a:xfrm>
          <a:prstGeom prst="roundRect">
            <a:avLst>
              <a:gd name="adj" fmla="val 16901"/>
            </a:avLst>
          </a:prstGeom>
          <a:solidFill>
            <a:srgbClr val="F2ECE1"/>
          </a:solidFill>
          <a:ln w="19050">
            <a:solidFill>
              <a:srgbClr val="5B8C5A"/>
            </a:solidFill>
            <a:prstDash val="solid"/>
          </a:ln>
        </p:spPr>
      </p:sp>
      <p:sp>
        <p:nvSpPr>
          <p:cNvPr id="16" name="Shape 14"/>
          <p:cNvSpPr/>
          <p:nvPr/>
        </p:nvSpPr>
        <p:spPr>
          <a:xfrm>
            <a:off x="3931920" y="1514856"/>
            <a:ext cx="292608" cy="292608"/>
          </a:xfrm>
          <a:prstGeom prst="ellipse">
            <a:avLst/>
          </a:prstGeom>
          <a:solidFill>
            <a:srgbClr val="5B8C5A"/>
          </a:solidFill>
          <a:ln w="12700">
            <a:solidFill>
              <a:srgbClr val="5B8C5A"/>
            </a:solidFill>
            <a:prstDash val="solid"/>
          </a:ln>
        </p:spPr>
      </p:sp>
      <p:sp>
        <p:nvSpPr>
          <p:cNvPr id="17" name="Text 15"/>
          <p:cNvSpPr txBox="1"/>
          <p:nvPr/>
        </p:nvSpPr>
        <p:spPr>
          <a:xfrm>
            <a:off x="3931920" y="1514856"/>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8" name="Text 16"/>
          <p:cNvSpPr txBox="1"/>
          <p:nvPr/>
        </p:nvSpPr>
        <p:spPr>
          <a:xfrm>
            <a:off x="4315968" y="1444752"/>
            <a:ext cx="4297680" cy="43281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312,500,000 sat at height 840,000</a:t>
            </a:r>
            <a:endParaRPr lang="en-US" sz="1050" dirty="0"/>
          </a:p>
        </p:txBody>
      </p:sp>
      <p:sp>
        <p:nvSpPr>
          <p:cNvPr id="19" name="Shape 17"/>
          <p:cNvSpPr/>
          <p:nvPr/>
        </p:nvSpPr>
        <p:spPr>
          <a:xfrm>
            <a:off x="3840480" y="1987296"/>
            <a:ext cx="4846320" cy="432816"/>
          </a:xfrm>
          <a:prstGeom prst="roundRect">
            <a:avLst>
              <a:gd name="adj" fmla="val 16901"/>
            </a:avLst>
          </a:prstGeom>
          <a:solidFill>
            <a:srgbClr val="F2ECE1"/>
          </a:solidFill>
          <a:ln w="19050">
            <a:solidFill>
              <a:srgbClr val="B6533C"/>
            </a:solidFill>
            <a:prstDash val="solid"/>
          </a:ln>
        </p:spPr>
      </p:sp>
      <p:sp>
        <p:nvSpPr>
          <p:cNvPr id="20" name="Shape 18"/>
          <p:cNvSpPr/>
          <p:nvPr/>
        </p:nvSpPr>
        <p:spPr>
          <a:xfrm>
            <a:off x="3931920" y="2057400"/>
            <a:ext cx="292608" cy="292608"/>
          </a:xfrm>
          <a:prstGeom prst="ellipse">
            <a:avLst/>
          </a:prstGeom>
          <a:solidFill>
            <a:srgbClr val="B6533C"/>
          </a:solidFill>
          <a:ln w="12700">
            <a:solidFill>
              <a:srgbClr val="B6533C"/>
            </a:solidFill>
            <a:prstDash val="solid"/>
          </a:ln>
        </p:spPr>
      </p:sp>
      <p:sp>
        <p:nvSpPr>
          <p:cNvPr id="21" name="Text 19"/>
          <p:cNvSpPr txBox="1"/>
          <p:nvPr/>
        </p:nvSpPr>
        <p:spPr>
          <a:xfrm>
            <a:off x="3931920" y="2057400"/>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2" name="Text 20"/>
          <p:cNvSpPr txBox="1"/>
          <p:nvPr/>
        </p:nvSpPr>
        <p:spPr>
          <a:xfrm>
            <a:off x="4315968" y="1987296"/>
            <a:ext cx="4297680" cy="43281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312,500,001 sat - one too many</a:t>
            </a:r>
            <a:endParaRPr lang="en-US" sz="1050" dirty="0"/>
          </a:p>
        </p:txBody>
      </p:sp>
      <p:sp>
        <p:nvSpPr>
          <p:cNvPr id="23" name="Shape 21"/>
          <p:cNvSpPr/>
          <p:nvPr/>
        </p:nvSpPr>
        <p:spPr>
          <a:xfrm>
            <a:off x="3840480" y="2529840"/>
            <a:ext cx="4846320" cy="432816"/>
          </a:xfrm>
          <a:prstGeom prst="roundRect">
            <a:avLst>
              <a:gd name="adj" fmla="val 16901"/>
            </a:avLst>
          </a:prstGeom>
          <a:solidFill>
            <a:srgbClr val="F2ECE1"/>
          </a:solidFill>
          <a:ln w="19050">
            <a:solidFill>
              <a:srgbClr val="5B8C5A"/>
            </a:solidFill>
            <a:prstDash val="solid"/>
          </a:ln>
        </p:spPr>
      </p:sp>
      <p:sp>
        <p:nvSpPr>
          <p:cNvPr id="24" name="Shape 22"/>
          <p:cNvSpPr/>
          <p:nvPr/>
        </p:nvSpPr>
        <p:spPr>
          <a:xfrm>
            <a:off x="3931920" y="2599944"/>
            <a:ext cx="292608" cy="292608"/>
          </a:xfrm>
          <a:prstGeom prst="ellipse">
            <a:avLst/>
          </a:prstGeom>
          <a:solidFill>
            <a:srgbClr val="5B8C5A"/>
          </a:solidFill>
          <a:ln w="12700">
            <a:solidFill>
              <a:srgbClr val="5B8C5A"/>
            </a:solidFill>
            <a:prstDash val="solid"/>
          </a:ln>
        </p:spPr>
      </p:sp>
      <p:sp>
        <p:nvSpPr>
          <p:cNvPr id="25" name="Text 23"/>
          <p:cNvSpPr txBox="1"/>
          <p:nvPr/>
        </p:nvSpPr>
        <p:spPr>
          <a:xfrm>
            <a:off x="3931920" y="2599944"/>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26" name="Text 24"/>
          <p:cNvSpPr txBox="1"/>
          <p:nvPr/>
        </p:nvSpPr>
        <p:spPr>
          <a:xfrm>
            <a:off x="4315968" y="2529840"/>
            <a:ext cx="4297680" cy="43281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325,000,000 sat incl. 12,500,000 fees</a:t>
            </a:r>
            <a:endParaRPr lang="en-US" sz="1050" dirty="0"/>
          </a:p>
        </p:txBody>
      </p:sp>
      <p:sp>
        <p:nvSpPr>
          <p:cNvPr id="27" name="Text 25"/>
          <p:cNvSpPr txBox="1"/>
          <p:nvPr/>
        </p:nvSpPr>
        <p:spPr>
          <a:xfrm>
            <a:off x="457200" y="31272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 run it at home</a:t>
            </a:r>
            <a:endParaRPr lang="en-US" sz="1150" dirty="0"/>
          </a:p>
        </p:txBody>
      </p:sp>
      <p:sp>
        <p:nvSpPr>
          <p:cNvPr id="28" name="Shape 26"/>
          <p:cNvSpPr/>
          <p:nvPr/>
        </p:nvSpPr>
        <p:spPr>
          <a:xfrm>
            <a:off x="457200" y="3401568"/>
            <a:ext cx="8229600" cy="1005840"/>
          </a:xfrm>
          <a:prstGeom prst="roundRect">
            <a:avLst>
              <a:gd name="adj" fmla="val 9091"/>
            </a:avLst>
          </a:prstGeom>
          <a:solidFill>
            <a:srgbClr val="23272E"/>
          </a:solidFill>
          <a:ln w="12700">
            <a:solidFill>
              <a:srgbClr val="23272E"/>
            </a:solidFill>
            <a:prstDash val="solid"/>
          </a:ln>
        </p:spPr>
      </p:sp>
      <p:sp>
        <p:nvSpPr>
          <p:cNvPr id="29" name="Text 27"/>
          <p:cNvSpPr txBox="1"/>
          <p:nvPr/>
        </p:nvSpPr>
        <p:spPr>
          <a:xfrm>
            <a:off x="640080" y="3520440"/>
            <a:ext cx="7863840" cy="768096"/>
          </a:xfrm>
          <a:prstGeom prst="rect">
            <a:avLst/>
          </a:prstGeom>
          <a:noFill/>
          <a:ln/>
        </p:spPr>
        <p:txBody>
          <a:bodyPr wrap="square" lIns="0" tIns="0" rIns="0" bIns="0" rtlCol="0" anchor="t"/>
          <a:lstStyle/>
          <a:p>
            <a:pPr indent="0" marL="0">
              <a:buNone/>
            </a:pPr>
            <a:r>
              <a:rPr lang="en-US" sz="900" b="1" dirty="0">
                <a:solidFill>
                  <a:srgbClr val="F2A860"/>
                </a:solidFill>
                <a:latin typeface="Courier New" pitchFamily="34" charset="0"/>
                <a:ea typeface="Courier New" pitchFamily="34" charset="-122"/>
                <a:cs typeface="Courier New" pitchFamily="34" charset="-120"/>
              </a:rPr>
              <a:t>def</a:t>
            </a:r>
            <a:pPr indent="0" marL="0">
              <a:buNone/>
            </a:pPr>
            <a:r>
              <a:rPr lang="en-US" sz="900" dirty="0">
                <a:solidFill>
                  <a:srgbClr val="E6EDF3"/>
                </a:solidFill>
                <a:latin typeface="Courier New" pitchFamily="34" charset="0"/>
                <a:ea typeface="Courier New" pitchFamily="34" charset="-122"/>
                <a:cs typeface="Courier New" pitchFamily="34" charset="-120"/>
              </a:rPr>
              <a:t> accept(claim, height, fees):</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subsidy = (</a:t>
            </a:r>
            <a:pPr indent="0" marL="0">
              <a:buNone/>
            </a:pPr>
            <a:r>
              <a:rPr lang="en-US" sz="900" dirty="0">
                <a:solidFill>
                  <a:srgbClr val="FFD28A"/>
                </a:solidFill>
                <a:latin typeface="Courier New" pitchFamily="34" charset="0"/>
                <a:ea typeface="Courier New" pitchFamily="34" charset="-122"/>
                <a:cs typeface="Courier New" pitchFamily="34" charset="-120"/>
              </a:rPr>
              <a:t>50</a:t>
            </a:r>
            <a:pPr indent="0" marL="0">
              <a:buNone/>
            </a:pPr>
            <a:r>
              <a:rPr lang="en-US" sz="900" dirty="0">
                <a:solidFill>
                  <a:srgbClr val="E6EDF3"/>
                </a:solidFill>
                <a:latin typeface="Courier New" pitchFamily="34" charset="0"/>
                <a:ea typeface="Courier New" pitchFamily="34" charset="-122"/>
                <a:cs typeface="Courier New" pitchFamily="34" charset="-120"/>
              </a:rPr>
              <a:t> * </a:t>
            </a:r>
            <a:pPr indent="0" marL="0">
              <a:buNone/>
            </a:pPr>
            <a:r>
              <a:rPr lang="en-US" sz="900" dirty="0">
                <a:solidFill>
                  <a:srgbClr val="FFD28A"/>
                </a:solidFill>
                <a:latin typeface="Courier New" pitchFamily="34" charset="0"/>
                <a:ea typeface="Courier New" pitchFamily="34" charset="-122"/>
                <a:cs typeface="Courier New" pitchFamily="34" charset="-120"/>
              </a:rPr>
              <a:t>10</a:t>
            </a:r>
            <a:pPr indent="0" marL="0">
              <a:buNone/>
            </a:pPr>
            <a:r>
              <a:rPr lang="en-US" sz="900" dirty="0">
                <a:solidFill>
                  <a:srgbClr val="E6EDF3"/>
                </a:solidFill>
                <a:latin typeface="Courier New" pitchFamily="34" charset="0"/>
                <a:ea typeface="Courier New" pitchFamily="34" charset="-122"/>
                <a:cs typeface="Courier New" pitchFamily="34" charset="-120"/>
              </a:rPr>
              <a:t>**</a:t>
            </a:r>
            <a:pPr indent="0" marL="0">
              <a:buNone/>
            </a:pPr>
            <a:r>
              <a:rPr lang="en-US" sz="900" dirty="0">
                <a:solidFill>
                  <a:srgbClr val="FFD28A"/>
                </a:solidFill>
                <a:latin typeface="Courier New" pitchFamily="34" charset="0"/>
                <a:ea typeface="Courier New" pitchFamily="34" charset="-122"/>
                <a:cs typeface="Courier New" pitchFamily="34" charset="-120"/>
              </a:rPr>
              <a:t>8</a:t>
            </a:r>
            <a:pPr indent="0" marL="0">
              <a:buNone/>
            </a:pPr>
            <a:r>
              <a:rPr lang="en-US" sz="900" dirty="0">
                <a:solidFill>
                  <a:srgbClr val="E6EDF3"/>
                </a:solidFill>
                <a:latin typeface="Courier New" pitchFamily="34" charset="0"/>
                <a:ea typeface="Courier New" pitchFamily="34" charset="-122"/>
                <a:cs typeface="Courier New" pitchFamily="34" charset="-120"/>
              </a:rPr>
              <a:t>) &gt;&gt; (height // </a:t>
            </a:r>
            <a:pPr indent="0" marL="0">
              <a:buNone/>
            </a:pPr>
            <a:r>
              <a:rPr lang="en-US" sz="900" dirty="0">
                <a:solidFill>
                  <a:srgbClr val="FFD28A"/>
                </a:solidFill>
                <a:latin typeface="Courier New" pitchFamily="34" charset="0"/>
                <a:ea typeface="Courier New" pitchFamily="34" charset="-122"/>
                <a:cs typeface="Courier New" pitchFamily="34" charset="-120"/>
              </a:rPr>
              <a:t>210000</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b="1" dirty="0">
                <a:solidFill>
                  <a:srgbClr val="F2A860"/>
                </a:solidFill>
                <a:latin typeface="Courier New" pitchFamily="34" charset="0"/>
                <a:ea typeface="Courier New" pitchFamily="34" charset="-122"/>
                <a:cs typeface="Courier New" pitchFamily="34" charset="-120"/>
              </a:rPr>
              <a:t>return</a:t>
            </a:r>
            <a:pPr indent="0" marL="0">
              <a:buNone/>
            </a:pPr>
            <a:r>
              <a:rPr lang="en-US" sz="900" dirty="0">
                <a:solidFill>
                  <a:srgbClr val="E6EDF3"/>
                </a:solidFill>
                <a:latin typeface="Courier New" pitchFamily="34" charset="0"/>
                <a:ea typeface="Courier New" pitchFamily="34" charset="-122"/>
                <a:cs typeface="Courier New" pitchFamily="34" charset="-120"/>
              </a:rPr>
              <a:t> claim &lt;= subsidy + fees</a:t>
            </a:r>
            <a:endParaRPr lang="en-US" sz="900" dirty="0"/>
          </a:p>
          <a:p>
            <a:pPr indent="0" marL="0">
              <a:buNone/>
            </a:pPr>
            <a:r>
              <a:rPr lang="en-US" sz="900" dirty="0">
                <a:solidFill>
                  <a:srgbClr val="E6EDF3"/>
                </a:solidFill>
                <a:latin typeface="Courier New" pitchFamily="34" charset="0"/>
                <a:ea typeface="Courier New" pitchFamily="34" charset="-122"/>
                <a:cs typeface="Courier New" pitchFamily="34" charset="-120"/>
              </a:rPr>
              <a:t>result = [accept(</a:t>
            </a:r>
            <a:pPr indent="0" marL="0">
              <a:buNone/>
            </a:pPr>
            <a:r>
              <a:rPr lang="en-US" sz="900" dirty="0">
                <a:solidFill>
                  <a:srgbClr val="FFD28A"/>
                </a:solidFill>
                <a:latin typeface="Courier New" pitchFamily="34" charset="0"/>
                <a:ea typeface="Courier New" pitchFamily="34" charset="-122"/>
                <a:cs typeface="Courier New" pitchFamily="34" charset="-120"/>
              </a:rPr>
              <a:t>312_500_000</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dirty="0">
                <a:solidFill>
                  <a:srgbClr val="FFD28A"/>
                </a:solidFill>
                <a:latin typeface="Courier New" pitchFamily="34" charset="0"/>
                <a:ea typeface="Courier New" pitchFamily="34" charset="-122"/>
                <a:cs typeface="Courier New" pitchFamily="34" charset="-120"/>
              </a:rPr>
              <a:t>840000</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dirty="0">
                <a:solidFill>
                  <a:srgbClr val="FFD28A"/>
                </a:solidFill>
                <a:latin typeface="Courier New" pitchFamily="34" charset="0"/>
                <a:ea typeface="Courier New" pitchFamily="34" charset="-122"/>
                <a:cs typeface="Courier New" pitchFamily="34" charset="-120"/>
              </a:rPr>
              <a:t>0</a:t>
            </a:r>
            <a:pPr indent="0" marL="0">
              <a:buNone/>
            </a:pPr>
            <a:r>
              <a:rPr lang="en-US" sz="900" dirty="0">
                <a:solidFill>
                  <a:srgbClr val="E6EDF3"/>
                </a:solidFill>
                <a:latin typeface="Courier New" pitchFamily="34" charset="0"/>
                <a:ea typeface="Courier New" pitchFamily="34" charset="-122"/>
                <a:cs typeface="Courier New" pitchFamily="34" charset="-120"/>
              </a:rPr>
              <a:t>), accept(</a:t>
            </a:r>
            <a:pPr indent="0" marL="0">
              <a:buNone/>
            </a:pPr>
            <a:r>
              <a:rPr lang="en-US" sz="900" dirty="0">
                <a:solidFill>
                  <a:srgbClr val="FFD28A"/>
                </a:solidFill>
                <a:latin typeface="Courier New" pitchFamily="34" charset="0"/>
                <a:ea typeface="Courier New" pitchFamily="34" charset="-122"/>
                <a:cs typeface="Courier New" pitchFamily="34" charset="-120"/>
              </a:rPr>
              <a:t>312_500_001</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dirty="0">
                <a:solidFill>
                  <a:srgbClr val="FFD28A"/>
                </a:solidFill>
                <a:latin typeface="Courier New" pitchFamily="34" charset="0"/>
                <a:ea typeface="Courier New" pitchFamily="34" charset="-122"/>
                <a:cs typeface="Courier New" pitchFamily="34" charset="-120"/>
              </a:rPr>
              <a:t>840000</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dirty="0">
                <a:solidFill>
                  <a:srgbClr val="FFD28A"/>
                </a:solidFill>
                <a:latin typeface="Courier New" pitchFamily="34" charset="0"/>
                <a:ea typeface="Courier New" pitchFamily="34" charset="-122"/>
                <a:cs typeface="Courier New" pitchFamily="34" charset="-120"/>
              </a:rPr>
              <a:t>0</a:t>
            </a:r>
            <a:pPr indent="0" marL="0">
              <a:buNone/>
            </a:pPr>
            <a:r>
              <a:rPr lang="en-US" sz="900" dirty="0">
                <a:solidFill>
                  <a:srgbClr val="E6EDF3"/>
                </a:solidFill>
                <a:latin typeface="Courier New" pitchFamily="34" charset="0"/>
                <a:ea typeface="Courier New" pitchFamily="34" charset="-122"/>
                <a:cs typeface="Courier New" pitchFamily="34" charset="-120"/>
              </a:rPr>
              <a:t>), accept(</a:t>
            </a:r>
            <a:pPr indent="0" marL="0">
              <a:buNone/>
            </a:pPr>
            <a:r>
              <a:rPr lang="en-US" sz="900" dirty="0">
                <a:solidFill>
                  <a:srgbClr val="FFD28A"/>
                </a:solidFill>
                <a:latin typeface="Courier New" pitchFamily="34" charset="0"/>
                <a:ea typeface="Courier New" pitchFamily="34" charset="-122"/>
                <a:cs typeface="Courier New" pitchFamily="34" charset="-120"/>
              </a:rPr>
              <a:t>325_000_000</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dirty="0">
                <a:solidFill>
                  <a:srgbClr val="FFD28A"/>
                </a:solidFill>
                <a:latin typeface="Courier New" pitchFamily="34" charset="0"/>
                <a:ea typeface="Courier New" pitchFamily="34" charset="-122"/>
                <a:cs typeface="Courier New" pitchFamily="34" charset="-120"/>
              </a:rPr>
              <a:t>840000</a:t>
            </a:r>
            <a:pPr indent="0" marL="0">
              <a:buNone/>
            </a:pPr>
            <a:r>
              <a:rPr lang="en-US" sz="900" dirty="0">
                <a:solidFill>
                  <a:srgbClr val="E6EDF3"/>
                </a:solidFill>
                <a:latin typeface="Courier New" pitchFamily="34" charset="0"/>
                <a:ea typeface="Courier New" pitchFamily="34" charset="-122"/>
                <a:cs typeface="Courier New" pitchFamily="34" charset="-120"/>
              </a:rPr>
              <a:t>, </a:t>
            </a:r>
            <a:pPr indent="0" marL="0">
              <a:buNone/>
            </a:pPr>
            <a:r>
              <a:rPr lang="en-US" sz="900" dirty="0">
                <a:solidFill>
                  <a:srgbClr val="FFD28A"/>
                </a:solidFill>
                <a:latin typeface="Courier New" pitchFamily="34" charset="0"/>
                <a:ea typeface="Courier New" pitchFamily="34" charset="-122"/>
                <a:cs typeface="Courier New" pitchFamily="34" charset="-120"/>
              </a:rPr>
              <a:t>12_500_000</a:t>
            </a:r>
            <a:pPr indent="0" marL="0">
              <a:buNone/>
            </a:pPr>
            <a:r>
              <a:rPr lang="en-US" sz="900" dirty="0">
                <a:solidFill>
                  <a:srgbClr val="E6EDF3"/>
                </a:solidFill>
                <a:latin typeface="Courier New" pitchFamily="34" charset="0"/>
                <a:ea typeface="Courier New" pitchFamily="34" charset="-122"/>
                <a:cs typeface="Courier New" pitchFamily="34" charset="-120"/>
              </a:rPr>
              <a:t>)]</a:t>
            </a:r>
            <a:endParaRPr lang="en-US" sz="900" dirty="0"/>
          </a:p>
        </p:txBody>
      </p:sp>
      <p:sp>
        <p:nvSpPr>
          <p:cNvPr id="30" name="Text 28"/>
          <p:cNvSpPr txBox="1"/>
          <p:nvPr/>
        </p:nvSpPr>
        <p:spPr>
          <a:xfrm>
            <a:off x="457200" y="4425696"/>
            <a:ext cx="8229600" cy="256032"/>
          </a:xfrm>
          <a:prstGeom prst="rect">
            <a:avLst/>
          </a:prstGeom>
          <a:noFill/>
          <a:ln/>
        </p:spPr>
        <p:txBody>
          <a:bodyPr wrap="square" lIns="0" tIns="0" rIns="0" bIns="0" rtlCol="0" anchor="ctr"/>
          <a:lstStyle/>
          <a:p>
            <a:pPr indent="0" marL="0">
              <a:buNone/>
            </a:pPr>
            <a:r>
              <a:rPr lang="en-US" sz="900" b="1" dirty="0">
                <a:solidFill>
                  <a:srgbClr val="D97A14"/>
                </a:solidFill>
                <a:latin typeface="Courier New" pitchFamily="34" charset="0"/>
                <a:ea typeface="Courier New" pitchFamily="34" charset="-122"/>
                <a:cs typeface="Courier New" pitchFamily="34" charset="-120"/>
              </a:rPr>
              <a:t>result  </a:t>
            </a:r>
            <a:pPr indent="0" marL="0">
              <a:buNone/>
            </a:pPr>
            <a:r>
              <a:rPr lang="en-US" sz="900" dirty="0">
                <a:solidFill>
                  <a:srgbClr val="2B2622"/>
                </a:solidFill>
                <a:latin typeface="Courier New" pitchFamily="34" charset="0"/>
                <a:ea typeface="Courier New" pitchFamily="34" charset="-122"/>
                <a:cs typeface="Courier New" pitchFamily="34" charset="-120"/>
              </a:rPr>
              <a:t>[True, False, True]</a:t>
            </a:r>
            <a:endParaRPr lang="en-US" sz="900" dirty="0"/>
          </a:p>
        </p:txBody>
      </p:sp>
      <p:sp>
        <p:nvSpPr>
          <p:cNvPr id="31" name="Text 29"/>
          <p:cNvSpPr txBox="1"/>
          <p:nvPr/>
        </p:nvSpPr>
        <p:spPr>
          <a:xfrm>
            <a:off x="457200" y="4681728"/>
            <a:ext cx="822960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ConsensusRuleSet, lines 1 to 4 of 4, run under Python 3.14.4</a:t>
            </a:r>
            <a:endParaRPr lang="en-US" sz="9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Validity is computed, never decreed</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42</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Mining pays for honesty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New coin and fees reward the work that secures the chain</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wait in the mempool</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Miners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spend energy on proof-of-work</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 found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~every 10 minutes</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Reward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subsidy + fees</a:t>
            </a:r>
            <a:endParaRPr lang="en-US" sz="1250" dirty="0"/>
          </a:p>
        </p:txBody>
      </p:sp>
      <p:sp>
        <p:nvSpPr>
          <p:cNvPr id="17" name="Text 15"/>
          <p:cNvSpPr txBox="1"/>
          <p:nvPr/>
        </p:nvSpPr>
        <p:spPr>
          <a:xfrm>
            <a:off x="457200" y="2926080"/>
            <a:ext cx="5120640" cy="1554480"/>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The subsidy follows the halving chart</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Cheating costs more than it could win</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Chapter 12 opens the mechanism</a:t>
            </a:r>
            <a:endParaRPr lang="en-US" sz="1450" dirty="0"/>
          </a:p>
        </p:txBody>
      </p:sp>
      <p:pic>
        <p:nvPicPr>
          <p:cNvPr id="18" name="Image 0" descr="../../03-materials/ch01/assets/c8s32_miningnodes.png">    </p:cNvPr>
          <p:cNvPicPr>
            <a:picLocks noChangeAspect="1"/>
          </p:cNvPicPr>
          <p:nvPr/>
        </p:nvPicPr>
        <p:blipFill>
          <a:blip r:embed="rId1"/>
          <a:srcRect l="0" r="0" t="0" b="0"/>
          <a:stretch/>
        </p:blipFill>
        <p:spPr>
          <a:xfrm>
            <a:off x="5760720" y="2788920"/>
            <a:ext cx="2926080" cy="1691640"/>
          </a:xfrm>
          <a:prstGeom prst="rect">
            <a:avLst/>
          </a:prstGeom>
        </p:spPr>
      </p:pic>
      <p:sp>
        <p:nvSpPr>
          <p:cNvPr id="19" name="Text 16"/>
          <p:cNvSpPr txBox="1"/>
          <p:nvPr/>
        </p:nvSpPr>
        <p:spPr>
          <a:xfrm>
            <a:off x="5760720" y="4498848"/>
            <a:ext cx="292608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from the owner's 2025 deck</a:t>
            </a:r>
            <a:endParaRPr lang="en-US" sz="90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Security is bought with energy and paid in bitcoin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42</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Wallets and first use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Choosing software, holding keys, and the first payment</a:t>
            </a:r>
            <a:endParaRPr lang="en-US" sz="1500" dirty="0"/>
          </a:p>
        </p:txBody>
      </p:sp>
      <p:sp>
        <p:nvSpPr>
          <p:cNvPr id="6" name="Shape 4"/>
          <p:cNvSpPr/>
          <p:nvPr/>
        </p:nvSpPr>
        <p:spPr>
          <a:xfrm>
            <a:off x="777240" y="2697480"/>
            <a:ext cx="221284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Wallet platforms</a:t>
            </a:r>
            <a:pPr algn="ctr" indent="0" marL="0">
              <a:buNone/>
            </a:pPr>
            <a:endParaRPr lang="en-US" sz="1400" dirty="0"/>
          </a:p>
        </p:txBody>
      </p:sp>
      <p:sp>
        <p:nvSpPr>
          <p:cNvPr id="8" name="Shape 6"/>
          <p:cNvSpPr/>
          <p:nvPr/>
        </p:nvSpPr>
        <p:spPr>
          <a:xfrm>
            <a:off x="3136392" y="2697480"/>
            <a:ext cx="221284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209544" y="2743200"/>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 control</a:t>
            </a:r>
            <a:pPr algn="ctr" indent="0" marL="0">
              <a:buNone/>
            </a:pPr>
            <a:endParaRPr lang="en-US" sz="1400" dirty="0"/>
          </a:p>
        </p:txBody>
      </p:sp>
      <p:sp>
        <p:nvSpPr>
          <p:cNvPr id="10" name="Shape 8"/>
          <p:cNvSpPr/>
          <p:nvPr/>
        </p:nvSpPr>
        <p:spPr>
          <a:xfrm>
            <a:off x="777240" y="3630168"/>
            <a:ext cx="221284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Backup</a:t>
            </a:r>
            <a:pPr algn="ctr" indent="0" marL="0">
              <a:buNone/>
            </a:pPr>
            <a:endParaRPr lang="en-US" sz="1400" dirty="0"/>
          </a:p>
        </p:txBody>
      </p:sp>
      <p:sp>
        <p:nvSpPr>
          <p:cNvPr id="12" name="Shape 10"/>
          <p:cNvSpPr/>
          <p:nvPr/>
        </p:nvSpPr>
        <p:spPr>
          <a:xfrm>
            <a:off x="3136392" y="3630168"/>
            <a:ext cx="221284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209544" y="3675888"/>
            <a:ext cx="206654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First payment</a:t>
            </a:r>
            <a:pPr algn="ctr" indent="0" marL="0">
              <a:buNone/>
            </a:pPr>
            <a:endParaRPr lang="en-US" sz="1400" dirty="0"/>
          </a:p>
        </p:txBody>
      </p:sp>
      <p:pic>
        <p:nvPicPr>
          <p:cNvPr id="14" name="Image 0" descr="../../03-materials/ch01/assets/mbc3_0101.png">    </p:cNvPr>
          <p:cNvPicPr>
            <a:picLocks noChangeAspect="1"/>
          </p:cNvPicPr>
          <p:nvPr/>
        </p:nvPicPr>
        <p:blipFill>
          <a:blip r:embed="rId1"/>
          <a:srcRect l="0" r="0" t="0" b="0"/>
          <a:stretch/>
        </p:blipFill>
        <p:spPr>
          <a:xfrm>
            <a:off x="5715000" y="1234440"/>
            <a:ext cx="1463040" cy="2606040"/>
          </a:xfrm>
          <a:prstGeom prst="rect">
            <a:avLst/>
          </a:prstGeom>
        </p:spPr>
      </p:pic>
      <p:pic>
        <p:nvPicPr>
          <p:cNvPr id="15" name="Image 1" descr="../../03-materials/ch01/assets/mbc3_0102.png">    </p:cNvPr>
          <p:cNvPicPr>
            <a:picLocks noChangeAspect="1"/>
          </p:cNvPicPr>
          <p:nvPr/>
        </p:nvPicPr>
        <p:blipFill>
          <a:blip r:embed="rId2"/>
          <a:srcRect l="0" r="0" t="0" b="0"/>
          <a:stretch/>
        </p:blipFill>
        <p:spPr>
          <a:xfrm>
            <a:off x="7315200" y="1234440"/>
            <a:ext cx="1463040" cy="2606040"/>
          </a:xfrm>
          <a:prstGeom prst="rect">
            <a:avLst/>
          </a:prstGeom>
        </p:spPr>
      </p:pic>
      <p:sp>
        <p:nvSpPr>
          <p:cNvPr id="16" name="Text 12"/>
          <p:cNvSpPr txBox="1"/>
          <p:nvPr/>
        </p:nvSpPr>
        <p:spPr>
          <a:xfrm>
            <a:off x="7315200" y="3858768"/>
            <a:ext cx="14630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Mastering Bitcoin 3e, CC BY-SA</a:t>
            </a:r>
            <a:endParaRPr lang="en-US" sz="900" dirty="0"/>
          </a:p>
        </p:txBody>
      </p:sp>
      <p:sp>
        <p:nvSpPr>
          <p:cNvPr id="17"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42</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wallet branch, mapped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leaf is explained on the course page</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wallet is the software that keeps keys and signs payments; these eight decisions - platform, node, custody, backup - define every wallet you will meet.</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Wallet</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Wallet Platform</a:t>
            </a:r>
            <a:endParaRPr lang="en-US" sz="125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Desktop Wallet  ·  Mobile Wallet  ·  Web Wallet  ·  Hardware Signing Device</a:t>
            </a:r>
            <a:endParaRPr lang="en-US" sz="1150" dirty="0"/>
          </a:p>
        </p:txBody>
      </p:sp>
      <p:sp>
        <p:nvSpPr>
          <p:cNvPr id="15" name="Shape 13"/>
          <p:cNvSpPr/>
          <p:nvPr/>
        </p:nvSpPr>
        <p:spPr>
          <a:xfrm flipV="1">
            <a:off x="1783080" y="2566416"/>
            <a:ext cx="502920" cy="423672"/>
          </a:xfrm>
          <a:prstGeom prst="line">
            <a:avLst/>
          </a:prstGeom>
          <a:noFill/>
          <a:ln w="13970">
            <a:solidFill>
              <a:srgbClr val="C9BFAE"/>
            </a:solidFill>
            <a:prstDash val="solid"/>
          </a:ln>
        </p:spPr>
      </p:sp>
      <p:sp>
        <p:nvSpPr>
          <p:cNvPr id="16" name="Shape 14"/>
          <p:cNvSpPr/>
          <p:nvPr/>
        </p:nvSpPr>
        <p:spPr>
          <a:xfrm>
            <a:off x="2331720" y="2328672"/>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2328672"/>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Node Type</a:t>
            </a:r>
            <a:endParaRPr lang="en-US" sz="1250" dirty="0"/>
          </a:p>
        </p:txBody>
      </p:sp>
      <p:sp>
        <p:nvSpPr>
          <p:cNvPr id="18" name="Shape 16"/>
          <p:cNvSpPr/>
          <p:nvPr/>
        </p:nvSpPr>
        <p:spPr>
          <a:xfrm>
            <a:off x="4023360" y="2566416"/>
            <a:ext cx="274320" cy="0"/>
          </a:xfrm>
          <a:prstGeom prst="line">
            <a:avLst/>
          </a:prstGeom>
          <a:noFill/>
          <a:ln w="13970">
            <a:solidFill>
              <a:srgbClr val="C9BFAE"/>
            </a:solidFill>
            <a:prstDash val="solid"/>
          </a:ln>
        </p:spPr>
      </p:sp>
      <p:sp>
        <p:nvSpPr>
          <p:cNvPr id="19" name="Shape 17"/>
          <p:cNvSpPr/>
          <p:nvPr/>
        </p:nvSpPr>
        <p:spPr>
          <a:xfrm>
            <a:off x="4297680" y="2346960"/>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346960"/>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Full Node  ·  Lightweight Client  ·  Third Party API Client  ·  Peer And Client</a:t>
            </a:r>
            <a:endParaRPr lang="en-US" sz="1150" dirty="0"/>
          </a:p>
        </p:txBody>
      </p:sp>
      <p:sp>
        <p:nvSpPr>
          <p:cNvPr id="21" name="Shape 19"/>
          <p:cNvSpPr/>
          <p:nvPr/>
        </p:nvSpPr>
        <p:spPr>
          <a:xfrm>
            <a:off x="1783080" y="2990088"/>
            <a:ext cx="502920" cy="423672"/>
          </a:xfrm>
          <a:prstGeom prst="line">
            <a:avLst/>
          </a:prstGeom>
          <a:noFill/>
          <a:ln w="13970">
            <a:solidFill>
              <a:srgbClr val="C9BFAE"/>
            </a:solidFill>
            <a:prstDash val="solid"/>
          </a:ln>
        </p:spPr>
      </p:sp>
      <p:sp>
        <p:nvSpPr>
          <p:cNvPr id="22" name="Shape 20"/>
          <p:cNvSpPr/>
          <p:nvPr/>
        </p:nvSpPr>
        <p:spPr>
          <a:xfrm>
            <a:off x="2331720" y="3176016"/>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3176016"/>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 Control</a:t>
            </a:r>
            <a:endParaRPr lang="en-US" sz="1250" dirty="0"/>
          </a:p>
        </p:txBody>
      </p:sp>
      <p:sp>
        <p:nvSpPr>
          <p:cNvPr id="24" name="Shape 22"/>
          <p:cNvSpPr/>
          <p:nvPr/>
        </p:nvSpPr>
        <p:spPr>
          <a:xfrm>
            <a:off x="4023360" y="3413760"/>
            <a:ext cx="274320" cy="0"/>
          </a:xfrm>
          <a:prstGeom prst="line">
            <a:avLst/>
          </a:prstGeom>
          <a:noFill/>
          <a:ln w="13970">
            <a:solidFill>
              <a:srgbClr val="C9BFAE"/>
            </a:solidFill>
            <a:prstDash val="solid"/>
          </a:ln>
        </p:spPr>
      </p:sp>
      <p:sp>
        <p:nvSpPr>
          <p:cNvPr id="25" name="Shape 23"/>
          <p:cNvSpPr/>
          <p:nvPr/>
        </p:nvSpPr>
        <p:spPr>
          <a:xfrm>
            <a:off x="4297680" y="3194304"/>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3194304"/>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Noncustodial Wallet  ·  Custodial Wallet</a:t>
            </a:r>
            <a:endParaRPr lang="en-US" sz="1150" dirty="0"/>
          </a:p>
        </p:txBody>
      </p:sp>
      <p:sp>
        <p:nvSpPr>
          <p:cNvPr id="27" name="Shape 25"/>
          <p:cNvSpPr/>
          <p:nvPr/>
        </p:nvSpPr>
        <p:spPr>
          <a:xfrm>
            <a:off x="1783080" y="2990088"/>
            <a:ext cx="502920" cy="1271016"/>
          </a:xfrm>
          <a:prstGeom prst="line">
            <a:avLst/>
          </a:prstGeom>
          <a:noFill/>
          <a:ln w="13970">
            <a:solidFill>
              <a:srgbClr val="C9BFAE"/>
            </a:solidFill>
            <a:prstDash val="solid"/>
          </a:ln>
        </p:spPr>
      </p:sp>
      <p:sp>
        <p:nvSpPr>
          <p:cNvPr id="28" name="Shape 26"/>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Backup</a:t>
            </a:r>
            <a:endParaRPr lang="en-US" sz="1250" dirty="0"/>
          </a:p>
        </p:txBody>
      </p:sp>
      <p:sp>
        <p:nvSpPr>
          <p:cNvPr id="30" name="Shape 28"/>
          <p:cNvSpPr/>
          <p:nvPr/>
        </p:nvSpPr>
        <p:spPr>
          <a:xfrm>
            <a:off x="4023360" y="4261104"/>
            <a:ext cx="274320" cy="0"/>
          </a:xfrm>
          <a:prstGeom prst="line">
            <a:avLst/>
          </a:prstGeom>
          <a:noFill/>
          <a:ln w="13970">
            <a:solidFill>
              <a:srgbClr val="C9BFAE"/>
            </a:solidFill>
            <a:prstDash val="solid"/>
          </a:ln>
        </p:spPr>
      </p:sp>
      <p:sp>
        <p:nvSpPr>
          <p:cNvPr id="31" name="Shape 29"/>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Recovery Code  ·  Wallet Metadata</a:t>
            </a:r>
            <a:endParaRPr lang="en-US" sz="115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wallet is software for keys, not a bag of coins</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42</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Your key is your deed - and you may never show it</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house-key analogy, and where it breaks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With a car or a house, the key grants access but a registry proves ownership; in Bitcoin the key is both - so it must prove without being shown.</a:t>
            </a:r>
            <a:endParaRPr lang="en-US" sz="1250" dirty="0"/>
          </a:p>
        </p:txBody>
      </p:sp>
      <p:sp>
        <p:nvSpPr>
          <p:cNvPr id="7" name="Shape 5"/>
          <p:cNvSpPr/>
          <p:nvPr/>
        </p:nvSpPr>
        <p:spPr>
          <a:xfrm>
            <a:off x="457200" y="1554480"/>
            <a:ext cx="3886200" cy="2286000"/>
          </a:xfrm>
          <a:prstGeom prst="roundRect">
            <a:avLst>
              <a:gd name="adj" fmla="val 4000"/>
            </a:avLst>
          </a:prstGeom>
          <a:solidFill>
            <a:srgbClr val="F2ECE1"/>
          </a:solidFill>
          <a:ln w="19050">
            <a:solidFill>
              <a:srgbClr val="2F6D62"/>
            </a:solidFill>
            <a:prstDash val="solid"/>
          </a:ln>
        </p:spPr>
      </p:sp>
      <p:sp>
        <p:nvSpPr>
          <p:cNvPr id="8" name="Shape 6"/>
          <p:cNvSpPr/>
          <p:nvPr/>
        </p:nvSpPr>
        <p:spPr>
          <a:xfrm>
            <a:off x="777240" y="2194560"/>
            <a:ext cx="640080" cy="457200"/>
          </a:xfrm>
          <a:prstGeom prst="rect">
            <a:avLst/>
          </a:prstGeom>
          <a:solidFill>
            <a:srgbClr val="2F6D62"/>
          </a:solidFill>
          <a:ln w="12700">
            <a:solidFill>
              <a:srgbClr val="2F6D62"/>
            </a:solidFill>
            <a:prstDash val="solid"/>
          </a:ln>
        </p:spPr>
      </p:sp>
      <p:sp>
        <p:nvSpPr>
          <p:cNvPr id="9" name="Shape 7"/>
          <p:cNvSpPr/>
          <p:nvPr/>
        </p:nvSpPr>
        <p:spPr>
          <a:xfrm>
            <a:off x="704088" y="1920240"/>
            <a:ext cx="786384" cy="310896"/>
          </a:xfrm>
          <a:prstGeom prst="triangle">
            <a:avLst/>
          </a:prstGeom>
          <a:solidFill>
            <a:srgbClr val="2F6D62"/>
          </a:solidFill>
          <a:ln w="12700">
            <a:solidFill>
              <a:srgbClr val="2F6D62"/>
            </a:solidFill>
            <a:prstDash val="solid"/>
          </a:ln>
        </p:spPr>
      </p:sp>
      <p:sp>
        <p:nvSpPr>
          <p:cNvPr id="10" name="Shape 8"/>
          <p:cNvSpPr/>
          <p:nvPr/>
        </p:nvSpPr>
        <p:spPr>
          <a:xfrm>
            <a:off x="1783080" y="2121408"/>
            <a:ext cx="237744" cy="237744"/>
          </a:xfrm>
          <a:prstGeom prst="ellipse">
            <a:avLst/>
          </a:prstGeom>
          <a:solidFill>
            <a:srgbClr val="E8B94B"/>
          </a:solidFill>
          <a:ln w="19050">
            <a:solidFill>
              <a:srgbClr val="B98A2B"/>
            </a:solidFill>
            <a:prstDash val="solid"/>
          </a:ln>
        </p:spPr>
      </p:sp>
      <p:sp>
        <p:nvSpPr>
          <p:cNvPr id="11" name="Shape 9"/>
          <p:cNvSpPr/>
          <p:nvPr/>
        </p:nvSpPr>
        <p:spPr>
          <a:xfrm>
            <a:off x="2002536" y="2203704"/>
            <a:ext cx="457200" cy="73152"/>
          </a:xfrm>
          <a:prstGeom prst="rect">
            <a:avLst/>
          </a:prstGeom>
          <a:solidFill>
            <a:srgbClr val="E8B94B"/>
          </a:solidFill>
          <a:ln w="9525">
            <a:solidFill>
              <a:srgbClr val="B98A2B"/>
            </a:solidFill>
            <a:prstDash val="solid"/>
          </a:ln>
        </p:spPr>
      </p:sp>
      <p:sp>
        <p:nvSpPr>
          <p:cNvPr id="12" name="Shape 10"/>
          <p:cNvSpPr/>
          <p:nvPr/>
        </p:nvSpPr>
        <p:spPr>
          <a:xfrm>
            <a:off x="2313432" y="2258568"/>
            <a:ext cx="64008" cy="109728"/>
          </a:xfrm>
          <a:prstGeom prst="rect">
            <a:avLst/>
          </a:prstGeom>
          <a:solidFill>
            <a:srgbClr val="E8B94B"/>
          </a:solidFill>
          <a:ln w="9525">
            <a:solidFill>
              <a:srgbClr val="B98A2B"/>
            </a:solidFill>
            <a:prstDash val="solid"/>
          </a:ln>
        </p:spPr>
      </p:sp>
      <p:sp>
        <p:nvSpPr>
          <p:cNvPr id="13" name="Text 11"/>
          <p:cNvSpPr txBox="1"/>
          <p:nvPr/>
        </p:nvSpPr>
        <p:spPr>
          <a:xfrm>
            <a:off x="640080" y="2542032"/>
            <a:ext cx="3520440" cy="310896"/>
          </a:xfrm>
          <a:prstGeom prst="rect">
            <a:avLst/>
          </a:prstGeom>
          <a:noFill/>
          <a:ln/>
        </p:spPr>
        <p:txBody>
          <a:bodyPr wrap="square" lIns="0" tIns="0" rIns="0" bIns="0" rtlCol="0" anchor="ctr"/>
          <a:lstStyle/>
          <a:p>
            <a:pPr indent="0" marL="0">
              <a:buNone/>
            </a:pPr>
            <a:r>
              <a:rPr lang="en-US" sz="1400" b="1" dirty="0">
                <a:solidFill>
                  <a:srgbClr val="2F6D62"/>
                </a:solidFill>
                <a:latin typeface="Cambria" pitchFamily="34" charset="0"/>
                <a:ea typeface="Cambria" pitchFamily="34" charset="-122"/>
                <a:cs typeface="Cambria" pitchFamily="34" charset="-120"/>
              </a:rPr>
              <a:t>your house, your car</a:t>
            </a:r>
            <a:endParaRPr lang="en-US" sz="1400" dirty="0"/>
          </a:p>
        </p:txBody>
      </p:sp>
      <p:sp>
        <p:nvSpPr>
          <p:cNvPr id="14" name="Text 12"/>
          <p:cNvSpPr txBox="1"/>
          <p:nvPr/>
        </p:nvSpPr>
        <p:spPr>
          <a:xfrm>
            <a:off x="640080" y="2871216"/>
            <a:ext cx="3520440" cy="82296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One key opens it. Lose the key, lose access. But the deed, the registry, still names you.</a:t>
            </a:r>
            <a:endParaRPr lang="en-US" sz="1200" dirty="0"/>
          </a:p>
        </p:txBody>
      </p:sp>
      <p:sp>
        <p:nvSpPr>
          <p:cNvPr id="15" name="Shape 13"/>
          <p:cNvSpPr/>
          <p:nvPr/>
        </p:nvSpPr>
        <p:spPr>
          <a:xfrm>
            <a:off x="4800600" y="1554480"/>
            <a:ext cx="3886200" cy="2286000"/>
          </a:xfrm>
          <a:prstGeom prst="roundRect">
            <a:avLst>
              <a:gd name="adj" fmla="val 4000"/>
            </a:avLst>
          </a:prstGeom>
          <a:solidFill>
            <a:srgbClr val="F2ECE1"/>
          </a:solidFill>
          <a:ln w="19050">
            <a:solidFill>
              <a:srgbClr val="D97A14"/>
            </a:solidFill>
            <a:prstDash val="solid"/>
          </a:ln>
        </p:spPr>
      </p:sp>
      <p:sp>
        <p:nvSpPr>
          <p:cNvPr id="16" name="Shape 14"/>
          <p:cNvSpPr/>
          <p:nvPr/>
        </p:nvSpPr>
        <p:spPr>
          <a:xfrm>
            <a:off x="5120640" y="2194560"/>
            <a:ext cx="640080" cy="457200"/>
          </a:xfrm>
          <a:prstGeom prst="rect">
            <a:avLst/>
          </a:prstGeom>
          <a:solidFill>
            <a:srgbClr val="D97A14"/>
          </a:solidFill>
          <a:ln w="12700">
            <a:solidFill>
              <a:srgbClr val="D97A14"/>
            </a:solidFill>
            <a:prstDash val="solid"/>
          </a:ln>
        </p:spPr>
      </p:sp>
      <p:sp>
        <p:nvSpPr>
          <p:cNvPr id="17" name="Shape 15"/>
          <p:cNvSpPr/>
          <p:nvPr/>
        </p:nvSpPr>
        <p:spPr>
          <a:xfrm>
            <a:off x="5047488" y="1920240"/>
            <a:ext cx="786384" cy="310896"/>
          </a:xfrm>
          <a:prstGeom prst="triangle">
            <a:avLst/>
          </a:prstGeom>
          <a:solidFill>
            <a:srgbClr val="D97A14"/>
          </a:solidFill>
          <a:ln w="12700">
            <a:solidFill>
              <a:srgbClr val="D97A14"/>
            </a:solidFill>
            <a:prstDash val="solid"/>
          </a:ln>
        </p:spPr>
      </p:sp>
      <p:sp>
        <p:nvSpPr>
          <p:cNvPr id="18" name="Shape 16"/>
          <p:cNvSpPr/>
          <p:nvPr/>
        </p:nvSpPr>
        <p:spPr>
          <a:xfrm>
            <a:off x="6126480" y="2121408"/>
            <a:ext cx="237744" cy="237744"/>
          </a:xfrm>
          <a:prstGeom prst="ellipse">
            <a:avLst/>
          </a:prstGeom>
          <a:solidFill>
            <a:srgbClr val="E8B94B"/>
          </a:solidFill>
          <a:ln w="19050">
            <a:solidFill>
              <a:srgbClr val="B98A2B"/>
            </a:solidFill>
            <a:prstDash val="solid"/>
          </a:ln>
        </p:spPr>
      </p:sp>
      <p:sp>
        <p:nvSpPr>
          <p:cNvPr id="19" name="Shape 17"/>
          <p:cNvSpPr/>
          <p:nvPr/>
        </p:nvSpPr>
        <p:spPr>
          <a:xfrm>
            <a:off x="6345936" y="2203704"/>
            <a:ext cx="457200" cy="73152"/>
          </a:xfrm>
          <a:prstGeom prst="rect">
            <a:avLst/>
          </a:prstGeom>
          <a:solidFill>
            <a:srgbClr val="E8B94B"/>
          </a:solidFill>
          <a:ln w="9525">
            <a:solidFill>
              <a:srgbClr val="B98A2B"/>
            </a:solidFill>
            <a:prstDash val="solid"/>
          </a:ln>
        </p:spPr>
      </p:sp>
      <p:sp>
        <p:nvSpPr>
          <p:cNvPr id="20" name="Shape 18"/>
          <p:cNvSpPr/>
          <p:nvPr/>
        </p:nvSpPr>
        <p:spPr>
          <a:xfrm>
            <a:off x="6656832" y="2258568"/>
            <a:ext cx="64008" cy="109728"/>
          </a:xfrm>
          <a:prstGeom prst="rect">
            <a:avLst/>
          </a:prstGeom>
          <a:solidFill>
            <a:srgbClr val="E8B94B"/>
          </a:solidFill>
          <a:ln w="9525">
            <a:solidFill>
              <a:srgbClr val="B98A2B"/>
            </a:solidFill>
            <a:prstDash val="solid"/>
          </a:ln>
        </p:spPr>
      </p:sp>
      <p:sp>
        <p:nvSpPr>
          <p:cNvPr id="21" name="Text 19"/>
          <p:cNvSpPr txBox="1"/>
          <p:nvPr/>
        </p:nvSpPr>
        <p:spPr>
          <a:xfrm>
            <a:off x="4983480" y="2542032"/>
            <a:ext cx="3520440" cy="310896"/>
          </a:xfrm>
          <a:prstGeom prst="rect">
            <a:avLst/>
          </a:prstGeom>
          <a:noFill/>
          <a:ln/>
        </p:spPr>
        <p:txBody>
          <a:bodyPr wrap="square" lIns="0" tIns="0" rIns="0" bIns="0" rtlCol="0" anchor="ctr"/>
          <a:lstStyle/>
          <a:p>
            <a:pPr indent="0" marL="0">
              <a:buNone/>
            </a:pPr>
            <a:r>
              <a:rPr lang="en-US" sz="1400" b="1" dirty="0">
                <a:solidFill>
                  <a:srgbClr val="D97A14"/>
                </a:solidFill>
                <a:latin typeface="Cambria" pitchFamily="34" charset="0"/>
                <a:ea typeface="Cambria" pitchFamily="34" charset="-122"/>
                <a:cs typeface="Cambria" pitchFamily="34" charset="-120"/>
              </a:rPr>
              <a:t>your bitcoin</a:t>
            </a:r>
            <a:endParaRPr lang="en-US" sz="1400" dirty="0"/>
          </a:p>
        </p:txBody>
      </p:sp>
      <p:sp>
        <p:nvSpPr>
          <p:cNvPr id="22" name="Text 20"/>
          <p:cNvSpPr txBox="1"/>
          <p:nvPr/>
        </p:nvSpPr>
        <p:spPr>
          <a:xfrm>
            <a:off x="4983480" y="2871216"/>
            <a:ext cx="3520440" cy="82296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The key IS the deed. Signing with it is the only proof of ownership there is.</a:t>
            </a:r>
            <a:endParaRPr lang="en-US" sz="1200" dirty="0"/>
          </a:p>
        </p:txBody>
      </p:sp>
      <p:sp>
        <p:nvSpPr>
          <p:cNvPr id="23" name="Text 21"/>
          <p:cNvSpPr txBox="1"/>
          <p:nvPr/>
        </p:nvSpPr>
        <p:spPr>
          <a:xfrm>
            <a:off x="457200" y="3977640"/>
            <a:ext cx="8229600" cy="50292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2B2622"/>
                </a:solidFill>
                <a:latin typeface="Calibri" pitchFamily="34" charset="0"/>
                <a:ea typeface="Calibri" pitchFamily="34" charset="-122"/>
                <a:cs typeface="Calibri" pitchFamily="34" charset="-120"/>
              </a:rPr>
              <a:t>Bitcoin's trick (ch. 4 and 8): a signature proves you hold the key while the key itself stays secret</a:t>
            </a:r>
            <a:endParaRPr lang="en-US" sz="12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Prove you hold the key; never reveal it</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42</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Who holds the keys, holds the 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one wallet decision that matters most</a:t>
            </a:r>
            <a:endParaRPr lang="en-US" sz="1300" dirty="0"/>
          </a:p>
        </p:txBody>
      </p:sp>
      <p:sp>
        <p:nvSpPr>
          <p:cNvPr id="6" name="Shape 4"/>
          <p:cNvSpPr/>
          <p:nvPr/>
        </p:nvSpPr>
        <p:spPr>
          <a:xfrm>
            <a:off x="457200" y="1371600"/>
            <a:ext cx="3931920" cy="1920240"/>
          </a:xfrm>
          <a:prstGeom prst="roundRect">
            <a:avLst>
              <a:gd name="adj" fmla="val 4762"/>
            </a:avLst>
          </a:prstGeom>
          <a:solidFill>
            <a:srgbClr val="F2ECE1"/>
          </a:solidFill>
          <a:ln w="15875">
            <a:solidFill>
              <a:srgbClr val="D97A14"/>
            </a:solidFill>
            <a:prstDash val="solid"/>
          </a:ln>
        </p:spPr>
      </p:sp>
      <p:sp>
        <p:nvSpPr>
          <p:cNvPr id="7" name="Text 5"/>
          <p:cNvSpPr txBox="1"/>
          <p:nvPr/>
        </p:nvSpPr>
        <p:spPr>
          <a:xfrm>
            <a:off x="640080" y="148132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Full control</a:t>
            </a:r>
            <a:endParaRPr lang="en-US" sz="1500" dirty="0"/>
          </a:p>
        </p:txBody>
      </p:sp>
      <p:sp>
        <p:nvSpPr>
          <p:cNvPr id="8" name="Text 6"/>
          <p:cNvSpPr txBox="1"/>
          <p:nvPr/>
        </p:nvSpPr>
        <p:spPr>
          <a:xfrm>
            <a:off x="640080" y="1901952"/>
            <a:ext cx="3566160" cy="126187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keep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sign; nobody can freeze</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Backup is your job</a:t>
            </a:r>
            <a:endParaRPr lang="en-US" sz="1300" dirty="0"/>
          </a:p>
        </p:txBody>
      </p:sp>
      <p:sp>
        <p:nvSpPr>
          <p:cNvPr id="9" name="Shape 7"/>
          <p:cNvSpPr/>
          <p:nvPr/>
        </p:nvSpPr>
        <p:spPr>
          <a:xfrm>
            <a:off x="4754880" y="1371600"/>
            <a:ext cx="3931920" cy="1920240"/>
          </a:xfrm>
          <a:prstGeom prst="roundRect">
            <a:avLst>
              <a:gd name="adj" fmla="val 4762"/>
            </a:avLst>
          </a:prstGeom>
          <a:solidFill>
            <a:srgbClr val="F2ECE1"/>
          </a:solidFill>
          <a:ln w="15875">
            <a:solidFill>
              <a:srgbClr val="2F6D62"/>
            </a:solidFill>
            <a:prstDash val="solid"/>
          </a:ln>
        </p:spPr>
      </p:sp>
      <p:sp>
        <p:nvSpPr>
          <p:cNvPr id="10" name="Text 8"/>
          <p:cNvSpPr txBox="1"/>
          <p:nvPr/>
        </p:nvSpPr>
        <p:spPr>
          <a:xfrm>
            <a:off x="4937760" y="148132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Third-party control</a:t>
            </a:r>
            <a:endParaRPr lang="en-US" sz="1500" dirty="0"/>
          </a:p>
        </p:txBody>
      </p:sp>
      <p:sp>
        <p:nvSpPr>
          <p:cNvPr id="11" name="Text 9"/>
          <p:cNvSpPr txBox="1"/>
          <p:nvPr/>
        </p:nvSpPr>
        <p:spPr>
          <a:xfrm>
            <a:off x="4937760" y="1901952"/>
            <a:ext cx="3566160" cy="126187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A service keeps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Convenient, custodial</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trust their honesty and uptime</a:t>
            </a:r>
            <a:endParaRPr lang="en-US" sz="1300" dirty="0"/>
          </a:p>
        </p:txBody>
      </p:sp>
      <p:sp>
        <p:nvSpPr>
          <p:cNvPr id="12" name="Shape 10"/>
          <p:cNvSpPr/>
          <p:nvPr/>
        </p:nvSpPr>
        <p:spPr>
          <a:xfrm>
            <a:off x="457200" y="3520440"/>
            <a:ext cx="1340968"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520440"/>
            <a:ext cx="1340968"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desktop</a:t>
            </a:r>
            <a:endParaRPr lang="en-US" sz="1300" dirty="0"/>
          </a:p>
        </p:txBody>
      </p:sp>
      <p:sp>
        <p:nvSpPr>
          <p:cNvPr id="14" name="Shape 12"/>
          <p:cNvSpPr/>
          <p:nvPr/>
        </p:nvSpPr>
        <p:spPr>
          <a:xfrm>
            <a:off x="1999336" y="3520440"/>
            <a:ext cx="1204265"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1999336" y="3520440"/>
            <a:ext cx="1204265"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mobile</a:t>
            </a:r>
            <a:endParaRPr lang="en-US" sz="1300" dirty="0"/>
          </a:p>
        </p:txBody>
      </p:sp>
      <p:sp>
        <p:nvSpPr>
          <p:cNvPr id="16" name="Shape 14"/>
          <p:cNvSpPr/>
          <p:nvPr/>
        </p:nvSpPr>
        <p:spPr>
          <a:xfrm>
            <a:off x="3404768" y="3520440"/>
            <a:ext cx="794156"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404768" y="3520440"/>
            <a:ext cx="794156"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web</a:t>
            </a:r>
            <a:endParaRPr lang="en-US" sz="1300" dirty="0"/>
          </a:p>
        </p:txBody>
      </p:sp>
      <p:sp>
        <p:nvSpPr>
          <p:cNvPr id="18" name="Shape 16"/>
          <p:cNvSpPr/>
          <p:nvPr/>
        </p:nvSpPr>
        <p:spPr>
          <a:xfrm>
            <a:off x="4400093" y="3520440"/>
            <a:ext cx="1477670"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400093" y="3520440"/>
            <a:ext cx="1477670"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hardware</a:t>
            </a:r>
            <a:endParaRPr lang="en-US" sz="1300" dirty="0"/>
          </a:p>
        </p:txBody>
      </p:sp>
      <p:sp>
        <p:nvSpPr>
          <p:cNvPr id="20" name="Shape 18"/>
          <p:cNvSpPr/>
          <p:nvPr/>
        </p:nvSpPr>
        <p:spPr>
          <a:xfrm>
            <a:off x="6078931" y="3520440"/>
            <a:ext cx="1067562"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6078931" y="3520440"/>
            <a:ext cx="1067562"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paper</a:t>
            </a:r>
            <a:endParaRPr lang="en-US" sz="13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Custody is the first security decision you make</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42</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Mt. Gox: the exchange that lost everyone's coins</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Tokyo, February 2014 - CEO Mark Karpeles files for bankruptcy</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Not a parable: a named company, a named CEO, a dated court filing - and the course's first security lesson.</a:t>
            </a:r>
            <a:endParaRPr lang="en-US" sz="1250" dirty="0"/>
          </a:p>
        </p:txBody>
      </p:sp>
      <p:sp>
        <p:nvSpPr>
          <p:cNvPr id="7" name="Shape 5"/>
          <p:cNvSpPr/>
          <p:nvPr/>
        </p:nvSpPr>
        <p:spPr>
          <a:xfrm>
            <a:off x="457200" y="1481328"/>
            <a:ext cx="2590800" cy="1143000"/>
          </a:xfrm>
          <a:prstGeom prst="roundRect">
            <a:avLst>
              <a:gd name="adj" fmla="val 6400"/>
            </a:avLst>
          </a:prstGeom>
          <a:solidFill>
            <a:srgbClr val="F2ECE1"/>
          </a:solidFill>
          <a:ln w="12700">
            <a:solidFill>
              <a:srgbClr val="DFD6C7"/>
            </a:solidFill>
            <a:prstDash val="solid"/>
          </a:ln>
        </p:spPr>
      </p:sp>
      <p:sp>
        <p:nvSpPr>
          <p:cNvPr id="8" name="Text 6"/>
          <p:cNvSpPr txBox="1"/>
          <p:nvPr/>
        </p:nvSpPr>
        <p:spPr>
          <a:xfrm>
            <a:off x="566928" y="1554480"/>
            <a:ext cx="2371344" cy="5715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850,000</a:t>
            </a:r>
            <a:endParaRPr lang="en-US" sz="2800" dirty="0"/>
          </a:p>
        </p:txBody>
      </p:sp>
      <p:sp>
        <p:nvSpPr>
          <p:cNvPr id="9" name="Text 7"/>
          <p:cNvSpPr txBox="1"/>
          <p:nvPr/>
        </p:nvSpPr>
        <p:spPr>
          <a:xfrm>
            <a:off x="566928" y="2075688"/>
            <a:ext cx="2371344" cy="50292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bitcoins missing per the Tokyo court filing, Feb 2014</a:t>
            </a:r>
            <a:endParaRPr lang="en-US" sz="1150" dirty="0"/>
          </a:p>
        </p:txBody>
      </p:sp>
      <p:sp>
        <p:nvSpPr>
          <p:cNvPr id="10" name="Shape 8"/>
          <p:cNvSpPr/>
          <p:nvPr/>
        </p:nvSpPr>
        <p:spPr>
          <a:xfrm>
            <a:off x="3276600" y="1481328"/>
            <a:ext cx="2590800" cy="1143000"/>
          </a:xfrm>
          <a:prstGeom prst="roundRect">
            <a:avLst>
              <a:gd name="adj" fmla="val 6400"/>
            </a:avLst>
          </a:prstGeom>
          <a:solidFill>
            <a:srgbClr val="F2ECE1"/>
          </a:solidFill>
          <a:ln w="12700">
            <a:solidFill>
              <a:srgbClr val="DFD6C7"/>
            </a:solidFill>
            <a:prstDash val="solid"/>
          </a:ln>
        </p:spPr>
      </p:sp>
      <p:sp>
        <p:nvSpPr>
          <p:cNvPr id="11" name="Text 9"/>
          <p:cNvSpPr txBox="1"/>
          <p:nvPr/>
        </p:nvSpPr>
        <p:spPr>
          <a:xfrm>
            <a:off x="3386328" y="1554480"/>
            <a:ext cx="2371344" cy="5715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a:t>
            </a:r>
            <a:endParaRPr lang="en-US" sz="2800" dirty="0"/>
          </a:p>
        </p:txBody>
      </p:sp>
      <p:sp>
        <p:nvSpPr>
          <p:cNvPr id="12" name="Text 10"/>
          <p:cNvSpPr txBox="1"/>
          <p:nvPr/>
        </p:nvSpPr>
        <p:spPr>
          <a:xfrm>
            <a:off x="3386328" y="2075688"/>
            <a:ext cx="2371344" cy="50292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Mt. Gox had been the largest bitcoin exchange in the world</a:t>
            </a:r>
            <a:endParaRPr lang="en-US" sz="1150" dirty="0"/>
          </a:p>
        </p:txBody>
      </p:sp>
      <p:sp>
        <p:nvSpPr>
          <p:cNvPr id="13" name="Shape 11"/>
          <p:cNvSpPr/>
          <p:nvPr/>
        </p:nvSpPr>
        <p:spPr>
          <a:xfrm>
            <a:off x="6096000" y="1481328"/>
            <a:ext cx="2590800" cy="1143000"/>
          </a:xfrm>
          <a:prstGeom prst="roundRect">
            <a:avLst>
              <a:gd name="adj" fmla="val 6400"/>
            </a:avLst>
          </a:prstGeom>
          <a:solidFill>
            <a:srgbClr val="F2ECE1"/>
          </a:solidFill>
          <a:ln w="12700">
            <a:solidFill>
              <a:srgbClr val="DFD6C7"/>
            </a:solidFill>
            <a:prstDash val="solid"/>
          </a:ln>
        </p:spPr>
      </p:sp>
      <p:sp>
        <p:nvSpPr>
          <p:cNvPr id="14" name="Text 12"/>
          <p:cNvSpPr txBox="1"/>
          <p:nvPr/>
        </p:nvSpPr>
        <p:spPr>
          <a:xfrm>
            <a:off x="6205728" y="1554480"/>
            <a:ext cx="2371344" cy="5715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10+ yrs</a:t>
            </a:r>
            <a:endParaRPr lang="en-US" sz="2800" dirty="0"/>
          </a:p>
        </p:txBody>
      </p:sp>
      <p:sp>
        <p:nvSpPr>
          <p:cNvPr id="15" name="Text 13"/>
          <p:cNvSpPr txBox="1"/>
          <p:nvPr/>
        </p:nvSpPr>
        <p:spPr>
          <a:xfrm>
            <a:off x="6205728" y="2075688"/>
            <a:ext cx="2371344" cy="50292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creditors still being repaid a decade later</a:t>
            </a:r>
            <a:endParaRPr lang="en-US" sz="1150" dirty="0"/>
          </a:p>
        </p:txBody>
      </p:sp>
      <p:sp>
        <p:nvSpPr>
          <p:cNvPr id="16" name="Shape 14"/>
          <p:cNvSpPr/>
          <p:nvPr/>
        </p:nvSpPr>
        <p:spPr>
          <a:xfrm>
            <a:off x="457200" y="3010662"/>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2788920"/>
            <a:ext cx="7955280" cy="5715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Customers saw balances on a website; the keys - so the coins - sat in one company's safe</a:t>
            </a:r>
            <a:endParaRPr lang="en-US" sz="1300" dirty="0"/>
          </a:p>
        </p:txBody>
      </p:sp>
      <p:sp>
        <p:nvSpPr>
          <p:cNvPr id="18" name="Shape 16"/>
          <p:cNvSpPr/>
          <p:nvPr/>
        </p:nvSpPr>
        <p:spPr>
          <a:xfrm>
            <a:off x="457200" y="3582162"/>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3360420"/>
            <a:ext cx="7955280" cy="5715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When the keys vanished, every balance on the screen meant nothing</a:t>
            </a:r>
            <a:endParaRPr lang="en-US" sz="1300" dirty="0"/>
          </a:p>
        </p:txBody>
      </p:sp>
      <p:sp>
        <p:nvSpPr>
          <p:cNvPr id="20" name="Shape 18"/>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21" name="Text 19"/>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800" dirty="0">
                <a:solidFill>
                  <a:srgbClr val="2B2622"/>
                </a:solidFill>
                <a:latin typeface="Calibri" pitchFamily="34" charset="0"/>
                <a:ea typeface="Calibri" pitchFamily="34" charset="-122"/>
                <a:cs typeface="Calibri" pitchFamily="34" charset="-120"/>
              </a:rPr>
              <a:t>Mt. Gox, led by CEO Mark Karpeles</a:t>
            </a:r>
            <a:endParaRPr lang="en-US" sz="750" dirty="0"/>
          </a:p>
        </p:txBody>
      </p:sp>
      <p:sp>
        <p:nvSpPr>
          <p:cNvPr id="22" name="Shape 20"/>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3" name="Text 21"/>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800" dirty="0">
                <a:solidFill>
                  <a:srgbClr val="2B2622"/>
                </a:solidFill>
                <a:latin typeface="Calibri" pitchFamily="34" charset="0"/>
                <a:ea typeface="Calibri" pitchFamily="34" charset="-122"/>
                <a:cs typeface="Calibri" pitchFamily="34" charset="-120"/>
              </a:rPr>
              <a:t>Tokyo; bankruptcy filed at the Tokyo D…</a:t>
            </a:r>
            <a:endParaRPr lang="en-US" sz="750" dirty="0"/>
          </a:p>
        </p:txBody>
      </p:sp>
      <p:sp>
        <p:nvSpPr>
          <p:cNvPr id="24" name="Shape 22"/>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5" name="Text 23"/>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February 2014</a:t>
            </a:r>
            <a:endParaRPr lang="en-US" sz="750" dirty="0"/>
          </a:p>
        </p:txBody>
      </p:sp>
      <p:sp>
        <p:nvSpPr>
          <p:cNvPr id="26" name="Shape 24"/>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7" name="Text 25"/>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Whoever holds the keys holds the coins - exchanges included</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42</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a phrase to a key, slowly on purpose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Key stretching makes guessing expensive</a:t>
            </a:r>
            <a:endParaRPr lang="en-US" sz="1300" dirty="0"/>
          </a:p>
        </p:txBody>
      </p:sp>
      <p:sp>
        <p:nvSpPr>
          <p:cNvPr id="6" name="Shape 4"/>
          <p:cNvSpPr/>
          <p:nvPr/>
        </p:nvSpPr>
        <p:spPr>
          <a:xfrm>
            <a:off x="457200" y="15910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910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554480"/>
            <a:ext cx="2679192" cy="534924"/>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Start from a human backup phrase and a salt</a:t>
            </a:r>
            <a:endParaRPr lang="en-US" sz="1100" dirty="0"/>
          </a:p>
        </p:txBody>
      </p:sp>
      <p:sp>
        <p:nvSpPr>
          <p:cNvPr id="9" name="Shape 7"/>
          <p:cNvSpPr/>
          <p:nvPr/>
        </p:nvSpPr>
        <p:spPr>
          <a:xfrm>
            <a:off x="457200" y="216255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1625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125980"/>
            <a:ext cx="2679192" cy="534924"/>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Hash them with HMAC-SHA512 - that is one round</a:t>
            </a:r>
            <a:endParaRPr lang="en-US" sz="1100" dirty="0"/>
          </a:p>
        </p:txBody>
      </p:sp>
      <p:sp>
        <p:nvSpPr>
          <p:cNvPr id="12" name="Shape 10"/>
          <p:cNvSpPr/>
          <p:nvPr/>
        </p:nvSpPr>
        <p:spPr>
          <a:xfrm>
            <a:off x="457200" y="273405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340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97480"/>
            <a:ext cx="2679192" cy="534924"/>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Feed each round into the next, 2,048 times</a:t>
            </a:r>
            <a:endParaRPr lang="en-US" sz="1100" dirty="0"/>
          </a:p>
        </p:txBody>
      </p:sp>
      <p:sp>
        <p:nvSpPr>
          <p:cNvPr id="15" name="Shape 13"/>
          <p:cNvSpPr/>
          <p:nvPr/>
        </p:nvSpPr>
        <p:spPr>
          <a:xfrm>
            <a:off x="457200" y="330555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3055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68980"/>
            <a:ext cx="2679192" cy="534924"/>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Result: a 64-byte seed; a guesser pays the 2,048 rounds for every guess</a:t>
            </a:r>
            <a:endParaRPr lang="en-US" sz="1100" dirty="0"/>
          </a:p>
        </p:txBody>
      </p:sp>
      <p:sp>
        <p:nvSpPr>
          <p:cNvPr id="18" name="Shape 16"/>
          <p:cNvSpPr/>
          <p:nvPr/>
        </p:nvSpPr>
        <p:spPr>
          <a:xfrm flipV="1">
            <a:off x="4206240" y="1481328"/>
            <a:ext cx="4206240" cy="214884"/>
          </a:xfrm>
          <a:prstGeom prst="trapezoid">
            <a:avLst/>
          </a:prstGeom>
          <a:solidFill>
            <a:srgbClr val="2F6D62"/>
          </a:solidFill>
          <a:ln w="12700">
            <a:solidFill>
              <a:srgbClr val="FFFFFF"/>
            </a:solidFill>
            <a:prstDash val="solid"/>
          </a:ln>
        </p:spPr>
      </p:sp>
      <p:sp>
        <p:nvSpPr>
          <p:cNvPr id="19" name="Text 17"/>
          <p:cNvSpPr txBox="1"/>
          <p:nvPr/>
        </p:nvSpPr>
        <p:spPr>
          <a:xfrm>
            <a:off x="4206240" y="1481328"/>
            <a:ext cx="4206240" cy="21488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phrase 'abandon' + salt</a:t>
            </a:r>
            <a:endParaRPr lang="en-US" sz="1050" dirty="0"/>
          </a:p>
        </p:txBody>
      </p:sp>
      <p:sp>
        <p:nvSpPr>
          <p:cNvPr id="20" name="Shape 18"/>
          <p:cNvSpPr/>
          <p:nvPr/>
        </p:nvSpPr>
        <p:spPr>
          <a:xfrm flipV="1">
            <a:off x="4584802" y="1805940"/>
            <a:ext cx="3449117" cy="214884"/>
          </a:xfrm>
          <a:prstGeom prst="trapezoid">
            <a:avLst/>
          </a:prstGeom>
          <a:solidFill>
            <a:srgbClr val="2F6D62"/>
          </a:solidFill>
          <a:ln w="12700">
            <a:solidFill>
              <a:srgbClr val="FFFFFF"/>
            </a:solidFill>
            <a:prstDash val="solid"/>
          </a:ln>
        </p:spPr>
      </p:sp>
      <p:sp>
        <p:nvSpPr>
          <p:cNvPr id="21" name="Text 19"/>
          <p:cNvSpPr txBox="1"/>
          <p:nvPr/>
        </p:nvSpPr>
        <p:spPr>
          <a:xfrm>
            <a:off x="4584802" y="1805940"/>
            <a:ext cx="3449117" cy="21488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HMAC-SHA512, round 1</a:t>
            </a:r>
            <a:endParaRPr lang="en-US" sz="1050" dirty="0"/>
          </a:p>
        </p:txBody>
      </p:sp>
      <p:sp>
        <p:nvSpPr>
          <p:cNvPr id="22" name="Shape 20"/>
          <p:cNvSpPr/>
          <p:nvPr/>
        </p:nvSpPr>
        <p:spPr>
          <a:xfrm flipV="1">
            <a:off x="4963363" y="2130552"/>
            <a:ext cx="2691994" cy="214884"/>
          </a:xfrm>
          <a:prstGeom prst="trapezoid">
            <a:avLst/>
          </a:prstGeom>
          <a:solidFill>
            <a:srgbClr val="2F6D62"/>
          </a:solidFill>
          <a:ln w="12700">
            <a:solidFill>
              <a:srgbClr val="FFFFFF"/>
            </a:solidFill>
            <a:prstDash val="solid"/>
          </a:ln>
        </p:spPr>
      </p:sp>
      <p:sp>
        <p:nvSpPr>
          <p:cNvPr id="23" name="Text 21"/>
          <p:cNvSpPr txBox="1"/>
          <p:nvPr/>
        </p:nvSpPr>
        <p:spPr>
          <a:xfrm>
            <a:off x="4963363" y="2130552"/>
            <a:ext cx="2691994" cy="214884"/>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 2,048 rounds ...</a:t>
            </a:r>
            <a:endParaRPr lang="en-US" sz="1050" dirty="0"/>
          </a:p>
        </p:txBody>
      </p:sp>
      <p:sp>
        <p:nvSpPr>
          <p:cNvPr id="24" name="Shape 22"/>
          <p:cNvSpPr/>
          <p:nvPr/>
        </p:nvSpPr>
        <p:spPr>
          <a:xfrm flipV="1">
            <a:off x="5341925" y="2455164"/>
            <a:ext cx="1934870" cy="214884"/>
          </a:xfrm>
          <a:prstGeom prst="trapezoid">
            <a:avLst/>
          </a:prstGeom>
          <a:solidFill>
            <a:srgbClr val="D97A14"/>
          </a:solidFill>
          <a:ln w="12700">
            <a:solidFill>
              <a:srgbClr val="FFFFFF"/>
            </a:solidFill>
            <a:prstDash val="solid"/>
          </a:ln>
        </p:spPr>
      </p:sp>
      <p:sp>
        <p:nvSpPr>
          <p:cNvPr id="25" name="Text 23"/>
          <p:cNvSpPr txBox="1"/>
          <p:nvPr/>
        </p:nvSpPr>
        <p:spPr>
          <a:xfrm>
            <a:off x="5341925" y="2455164"/>
            <a:ext cx="1934870" cy="2148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the wallet seed: 64 bytes</a:t>
            </a:r>
            <a:endParaRPr lang="en-US" sz="1050" dirty="0"/>
          </a:p>
        </p:txBody>
      </p:sp>
      <p:sp>
        <p:nvSpPr>
          <p:cNvPr id="26" name="Text 24"/>
          <p:cNvSpPr txBox="1"/>
          <p:nvPr/>
        </p:nvSpPr>
        <p:spPr>
          <a:xfrm>
            <a:off x="4206240" y="2816352"/>
            <a:ext cx="420624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result: a 64-byte seed, digest d96147bf</a:t>
            </a:r>
            <a:endParaRPr lang="en-US" sz="1050" dirty="0"/>
          </a:p>
        </p:txBody>
      </p:sp>
      <p:sp>
        <p:nvSpPr>
          <p:cNvPr id="27" name="Text 25"/>
          <p:cNvSpPr txBox="1"/>
          <p:nvPr/>
        </p:nvSpPr>
        <p:spPr>
          <a:xfrm>
            <a:off x="3931920" y="292608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 run it at home</a:t>
            </a:r>
            <a:endParaRPr lang="en-US" sz="1150" dirty="0"/>
          </a:p>
        </p:txBody>
      </p:sp>
      <p:sp>
        <p:nvSpPr>
          <p:cNvPr id="28" name="Shape 26"/>
          <p:cNvSpPr/>
          <p:nvPr/>
        </p:nvSpPr>
        <p:spPr>
          <a:xfrm>
            <a:off x="3931920" y="3200400"/>
            <a:ext cx="4754880" cy="1325880"/>
          </a:xfrm>
          <a:prstGeom prst="roundRect">
            <a:avLst>
              <a:gd name="adj" fmla="val 6897"/>
            </a:avLst>
          </a:prstGeom>
          <a:solidFill>
            <a:srgbClr val="23272E"/>
          </a:solidFill>
          <a:ln w="12700">
            <a:solidFill>
              <a:srgbClr val="23272E"/>
            </a:solidFill>
            <a:prstDash val="solid"/>
          </a:ln>
        </p:spPr>
      </p:sp>
      <p:sp>
        <p:nvSpPr>
          <p:cNvPr id="29" name="Text 27"/>
          <p:cNvSpPr txBox="1"/>
          <p:nvPr/>
        </p:nvSpPr>
        <p:spPr>
          <a:xfrm>
            <a:off x="4114800" y="3319272"/>
            <a:ext cx="4389120" cy="1088136"/>
          </a:xfrm>
          <a:prstGeom prst="rect">
            <a:avLst/>
          </a:prstGeom>
          <a:noFill/>
          <a:ln/>
        </p:spPr>
        <p:txBody>
          <a:bodyPr wrap="square" lIns="0" tIns="0" rIns="0" bIns="0" rtlCol="0" anchor="t"/>
          <a:lstStyle/>
          <a:p>
            <a:pPr indent="0" marL="0">
              <a:buNone/>
            </a:pPr>
            <a:r>
              <a:rPr lang="en-US" sz="800" b="1" dirty="0">
                <a:solidFill>
                  <a:srgbClr val="F2A860"/>
                </a:solidFill>
                <a:latin typeface="Courier New" pitchFamily="34" charset="0"/>
                <a:ea typeface="Courier New" pitchFamily="34" charset="-122"/>
                <a:cs typeface="Courier New" pitchFamily="34" charset="-120"/>
              </a:rPr>
              <a:t>import</a:t>
            </a:r>
            <a:pPr indent="0" marL="0">
              <a:buNone/>
            </a:pPr>
            <a:r>
              <a:rPr lang="en-US" sz="800" dirty="0">
                <a:solidFill>
                  <a:srgbClr val="E6EDF3"/>
                </a:solidFill>
                <a:latin typeface="Courier New" pitchFamily="34" charset="0"/>
                <a:ea typeface="Courier New" pitchFamily="34" charset="-122"/>
                <a:cs typeface="Courier New" pitchFamily="34" charset="-120"/>
              </a:rPr>
              <a:t> hmac</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password, salt, iters = b</a:t>
            </a:r>
            <a:pPr indent="0" marL="0">
              <a:buNone/>
            </a:pPr>
            <a:r>
              <a:rPr lang="en-US" sz="800" dirty="0">
                <a:solidFill>
                  <a:srgbClr val="9ECBFF"/>
                </a:solidFill>
                <a:latin typeface="Courier New" pitchFamily="34" charset="0"/>
                <a:ea typeface="Courier New" pitchFamily="34" charset="-122"/>
                <a:cs typeface="Courier New" pitchFamily="34" charset="-120"/>
              </a:rPr>
              <a:t>'abandon'</a:t>
            </a:r>
            <a:pPr indent="0" marL="0">
              <a:buNone/>
            </a:pPr>
            <a:r>
              <a:rPr lang="en-US" sz="800" dirty="0">
                <a:solidFill>
                  <a:srgbClr val="E6EDF3"/>
                </a:solidFill>
                <a:latin typeface="Courier New" pitchFamily="34" charset="0"/>
                <a:ea typeface="Courier New" pitchFamily="34" charset="-122"/>
                <a:cs typeface="Courier New" pitchFamily="34" charset="-120"/>
              </a:rPr>
              <a:t>, b</a:t>
            </a:r>
            <a:pPr indent="0" marL="0">
              <a:buNone/>
            </a:pPr>
            <a:r>
              <a:rPr lang="en-US" sz="800" dirty="0">
                <a:solidFill>
                  <a:srgbClr val="9ECBFF"/>
                </a:solidFill>
                <a:latin typeface="Courier New" pitchFamily="34" charset="0"/>
                <a:ea typeface="Courier New" pitchFamily="34" charset="-122"/>
                <a:cs typeface="Courier New" pitchFamily="34" charset="-120"/>
              </a:rPr>
              <a:t>'mnemonic'</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FFD28A"/>
                </a:solidFill>
                <a:latin typeface="Courier New" pitchFamily="34" charset="0"/>
                <a:ea typeface="Courier New" pitchFamily="34" charset="-122"/>
                <a:cs typeface="Courier New" pitchFamily="34" charset="-120"/>
              </a:rPr>
              <a:t>2048</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u = hmac.new(password, salt + bytes([</a:t>
            </a:r>
            <a:pPr indent="0" marL="0">
              <a:buNone/>
            </a:pPr>
            <a:r>
              <a:rPr lang="en-US" sz="800" dirty="0">
                <a:solidFill>
                  <a:srgbClr val="FFD28A"/>
                </a:solidFill>
                <a:latin typeface="Courier New" pitchFamily="34" charset="0"/>
                <a:ea typeface="Courier New" pitchFamily="34" charset="-122"/>
                <a:cs typeface="Courier New" pitchFamily="34" charset="-120"/>
              </a:rPr>
              <a:t>0</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FFD28A"/>
                </a:solidFill>
                <a:latin typeface="Courier New" pitchFamily="34" charset="0"/>
                <a:ea typeface="Courier New" pitchFamily="34" charset="-122"/>
                <a:cs typeface="Courier New" pitchFamily="34" charset="-120"/>
              </a:rPr>
              <a:t>0</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FFD28A"/>
                </a:solidFill>
                <a:latin typeface="Courier New" pitchFamily="34" charset="0"/>
                <a:ea typeface="Courier New" pitchFamily="34" charset="-122"/>
                <a:cs typeface="Courier New" pitchFamily="34" charset="-120"/>
              </a:rPr>
              <a:t>0</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FFD28A"/>
                </a:solidFill>
                <a:latin typeface="Courier New" pitchFamily="34" charset="0"/>
                <a:ea typeface="Courier New" pitchFamily="34" charset="-122"/>
                <a:cs typeface="Courier New" pitchFamily="34" charset="-120"/>
              </a:rPr>
              <a:t>1</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9ECBFF"/>
                </a:solidFill>
                <a:latin typeface="Courier New" pitchFamily="34" charset="0"/>
                <a:ea typeface="Courier New" pitchFamily="34" charset="-122"/>
                <a:cs typeface="Courier New" pitchFamily="34" charset="-120"/>
              </a:rPr>
              <a:t>'sha512'</a:t>
            </a:r>
            <a:pPr indent="0" marL="0">
              <a:buNone/>
            </a:pPr>
            <a:r>
              <a:rPr lang="en-US" sz="800" dirty="0">
                <a:solidFill>
                  <a:srgbClr val="E6EDF3"/>
                </a:solidFill>
                <a:latin typeface="Courier New" pitchFamily="34" charset="0"/>
                <a:ea typeface="Courier New" pitchFamily="34" charset="-122"/>
                <a:cs typeface="Courier New" pitchFamily="34" charset="-120"/>
              </a:rPr>
              <a:t>).digest()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seed = u</a:t>
            </a:r>
            <a:endParaRPr lang="en-US" sz="800" dirty="0"/>
          </a:p>
          <a:p>
            <a:pPr indent="0" marL="0">
              <a:buNone/>
            </a:pPr>
            <a:r>
              <a:rPr lang="en-US" sz="800" b="1" dirty="0">
                <a:solidFill>
                  <a:srgbClr val="F2A860"/>
                </a:solidFill>
                <a:latin typeface="Courier New" pitchFamily="34" charset="0"/>
                <a:ea typeface="Courier New" pitchFamily="34" charset="-122"/>
                <a:cs typeface="Courier New" pitchFamily="34" charset="-120"/>
              </a:rPr>
              <a:t>for</a:t>
            </a:r>
            <a:pPr indent="0" marL="0">
              <a:buNone/>
            </a:pPr>
            <a:r>
              <a:rPr lang="en-US" sz="800" dirty="0">
                <a:solidFill>
                  <a:srgbClr val="E6EDF3"/>
                </a:solidFill>
                <a:latin typeface="Courier New" pitchFamily="34" charset="0"/>
                <a:ea typeface="Courier New" pitchFamily="34" charset="-122"/>
                <a:cs typeface="Courier New" pitchFamily="34" charset="-120"/>
              </a:rPr>
              <a:t> _ </a:t>
            </a:r>
            <a:pPr indent="0" marL="0">
              <a:buNone/>
            </a:pPr>
            <a:r>
              <a:rPr lang="en-US" sz="800" b="1" dirty="0">
                <a:solidFill>
                  <a:srgbClr val="F2A860"/>
                </a:solidFill>
                <a:latin typeface="Courier New" pitchFamily="34" charset="0"/>
                <a:ea typeface="Courier New" pitchFamily="34" charset="-122"/>
                <a:cs typeface="Courier New" pitchFamily="34" charset="-120"/>
              </a:rPr>
              <a:t>in</a:t>
            </a:r>
            <a:pPr indent="0" marL="0">
              <a:buNone/>
            </a:pPr>
            <a:r>
              <a:rPr lang="en-US" sz="800" dirty="0">
                <a:solidFill>
                  <a:srgbClr val="E6EDF3"/>
                </a:solidFill>
                <a:latin typeface="Courier New" pitchFamily="34" charset="0"/>
                <a:ea typeface="Courier New" pitchFamily="34" charset="-122"/>
                <a:cs typeface="Courier New" pitchFamily="34" charset="-120"/>
              </a:rPr>
              <a:t> range(iters - </a:t>
            </a:r>
            <a:pPr indent="0" marL="0">
              <a:buNone/>
            </a:pPr>
            <a:r>
              <a:rPr lang="en-US" sz="800" dirty="0">
                <a:solidFill>
                  <a:srgbClr val="FFD28A"/>
                </a:solidFill>
                <a:latin typeface="Courier New" pitchFamily="34" charset="0"/>
                <a:ea typeface="Courier New" pitchFamily="34" charset="-122"/>
                <a:cs typeface="Courier New" pitchFamily="34" charset="-120"/>
              </a:rPr>
              <a:t>1</a:t>
            </a:r>
            <a:pPr indent="0" marL="0">
              <a:buNone/>
            </a:pP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u = hmac.new(password, u, </a:t>
            </a:r>
            <a:pPr indent="0" marL="0">
              <a:buNone/>
            </a:pPr>
            <a:r>
              <a:rPr lang="en-US" sz="800" dirty="0">
                <a:solidFill>
                  <a:srgbClr val="9ECBFF"/>
                </a:solidFill>
                <a:latin typeface="Courier New" pitchFamily="34" charset="0"/>
                <a:ea typeface="Courier New" pitchFamily="34" charset="-122"/>
                <a:cs typeface="Courier New" pitchFamily="34" charset="-120"/>
              </a:rPr>
              <a:t>'sha512'</a:t>
            </a:r>
            <a:pPr indent="0" marL="0">
              <a:buNone/>
            </a:pPr>
            <a:r>
              <a:rPr lang="en-US" sz="800" dirty="0">
                <a:solidFill>
                  <a:srgbClr val="E6EDF3"/>
                </a:solidFill>
                <a:latin typeface="Courier New" pitchFamily="34" charset="0"/>
                <a:ea typeface="Courier New" pitchFamily="34" charset="-122"/>
                <a:cs typeface="Courier New" pitchFamily="34" charset="-120"/>
              </a:rPr>
              <a:t>).digest()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seed = bytes(a ^ b </a:t>
            </a:r>
            <a:pPr indent="0" marL="0">
              <a:buNone/>
            </a:pPr>
            <a:r>
              <a:rPr lang="en-US" sz="800" b="1" dirty="0">
                <a:solidFill>
                  <a:srgbClr val="F2A860"/>
                </a:solidFill>
                <a:latin typeface="Courier New" pitchFamily="34" charset="0"/>
                <a:ea typeface="Courier New" pitchFamily="34" charset="-122"/>
                <a:cs typeface="Courier New" pitchFamily="34" charset="-120"/>
              </a:rPr>
              <a:t>for</a:t>
            </a:r>
            <a:pPr indent="0" marL="0">
              <a:buNone/>
            </a:pPr>
            <a:r>
              <a:rPr lang="en-US" sz="800" dirty="0">
                <a:solidFill>
                  <a:srgbClr val="E6EDF3"/>
                </a:solidFill>
                <a:latin typeface="Courier New" pitchFamily="34" charset="0"/>
                <a:ea typeface="Courier New" pitchFamily="34" charset="-122"/>
                <a:cs typeface="Courier New" pitchFamily="34" charset="-120"/>
              </a:rPr>
              <a:t> a, b </a:t>
            </a:r>
            <a:pPr indent="0" marL="0">
              <a:buNone/>
            </a:pPr>
            <a:r>
              <a:rPr lang="en-US" sz="800" b="1" dirty="0">
                <a:solidFill>
                  <a:srgbClr val="F2A860"/>
                </a:solidFill>
                <a:latin typeface="Courier New" pitchFamily="34" charset="0"/>
                <a:ea typeface="Courier New" pitchFamily="34" charset="-122"/>
                <a:cs typeface="Courier New" pitchFamily="34" charset="-120"/>
              </a:rPr>
              <a:t>in</a:t>
            </a:r>
            <a:pPr indent="0" marL="0">
              <a:buNone/>
            </a:pPr>
            <a:r>
              <a:rPr lang="en-US" sz="800" dirty="0">
                <a:solidFill>
                  <a:srgbClr val="E6EDF3"/>
                </a:solidFill>
                <a:latin typeface="Courier New" pitchFamily="34" charset="0"/>
                <a:ea typeface="Courier New" pitchFamily="34" charset="-122"/>
                <a:cs typeface="Courier New" pitchFamily="34" charset="-120"/>
              </a:rPr>
              <a:t> zip(seed, u))</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result = (len(seed), seed.hex()[:</a:t>
            </a:r>
            <a:pPr indent="0" marL="0">
              <a:buNone/>
            </a:pPr>
            <a:r>
              <a:rPr lang="en-US" sz="800" dirty="0">
                <a:solidFill>
                  <a:srgbClr val="FFD28A"/>
                </a:solidFill>
                <a:latin typeface="Courier New" pitchFamily="34" charset="0"/>
                <a:ea typeface="Courier New" pitchFamily="34" charset="-122"/>
                <a:cs typeface="Courier New" pitchFamily="34" charset="-120"/>
              </a:rPr>
              <a:t>8</a:t>
            </a:r>
            <a:pPr indent="0" marL="0">
              <a:buNone/>
            </a:pPr>
            <a:r>
              <a:rPr lang="en-US" sz="800" dirty="0">
                <a:solidFill>
                  <a:srgbClr val="E6EDF3"/>
                </a:solidFill>
                <a:latin typeface="Courier New" pitchFamily="34" charset="0"/>
                <a:ea typeface="Courier New" pitchFamily="34" charset="-122"/>
                <a:cs typeface="Courier New" pitchFamily="34" charset="-120"/>
              </a:rPr>
              <a:t>])</a:t>
            </a:r>
            <a:endParaRPr lang="en-US" sz="800" dirty="0"/>
          </a:p>
        </p:txBody>
      </p:sp>
      <p:sp>
        <p:nvSpPr>
          <p:cNvPr id="30" name="Text 28"/>
          <p:cNvSpPr txBox="1"/>
          <p:nvPr/>
        </p:nvSpPr>
        <p:spPr>
          <a:xfrm>
            <a:off x="3931920" y="4544568"/>
            <a:ext cx="4754880" cy="256032"/>
          </a:xfrm>
          <a:prstGeom prst="rect">
            <a:avLst/>
          </a:prstGeom>
          <a:noFill/>
          <a:ln/>
        </p:spPr>
        <p:txBody>
          <a:bodyPr wrap="square" lIns="0" tIns="0" rIns="0" bIns="0" rtlCol="0" anchor="ctr"/>
          <a:lstStyle/>
          <a:p>
            <a:pPr indent="0" marL="0">
              <a:buNone/>
            </a:pPr>
            <a:r>
              <a:rPr lang="en-US" sz="900" b="1" dirty="0">
                <a:solidFill>
                  <a:srgbClr val="D97A14"/>
                </a:solidFill>
                <a:latin typeface="Courier New" pitchFamily="34" charset="0"/>
                <a:ea typeface="Courier New" pitchFamily="34" charset="-122"/>
                <a:cs typeface="Courier New" pitchFamily="34" charset="-120"/>
              </a:rPr>
              <a:t>result  </a:t>
            </a:r>
            <a:pPr indent="0" marL="0">
              <a:buNone/>
            </a:pPr>
            <a:r>
              <a:rPr lang="en-US" sz="900" dirty="0">
                <a:solidFill>
                  <a:srgbClr val="2B2622"/>
                </a:solidFill>
                <a:latin typeface="Courier New" pitchFamily="34" charset="0"/>
                <a:ea typeface="Courier New" pitchFamily="34" charset="-122"/>
                <a:cs typeface="Courier New" pitchFamily="34" charset="-120"/>
              </a:rPr>
              <a:t>(64, 'd96147bf')</a:t>
            </a:r>
            <a:endParaRPr lang="en-US" sz="900" dirty="0"/>
          </a:p>
        </p:txBody>
      </p:sp>
      <p:sp>
        <p:nvSpPr>
          <p:cNvPr id="31" name="Text 29"/>
          <p:cNvSpPr txBox="1"/>
          <p:nvPr/>
        </p:nvSpPr>
        <p:spPr>
          <a:xfrm>
            <a:off x="3931920" y="4800600"/>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KeyStretching, lines 1 to 8 of 8, run under Python 3.14.4</a:t>
            </a:r>
            <a:endParaRPr lang="en-US" sz="9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Slowness here is a feature priced against attackers</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42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Alice's first bitcoin, step by step</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running story begins</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Install a wallet</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keys made on her phone</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First address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shared as text or QR</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Acquire bitcoin</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buy, earn, or exchange</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Confirmations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network accepts it</a:t>
            </a:r>
            <a:endParaRPr lang="en-US" sz="1250" dirty="0"/>
          </a:p>
        </p:txBody>
      </p:sp>
      <p:sp>
        <p:nvSpPr>
          <p:cNvPr id="17" name="Shape 15"/>
          <p:cNvSpPr/>
          <p:nvPr/>
        </p:nvSpPr>
        <p:spPr>
          <a:xfrm>
            <a:off x="457200" y="2761488"/>
            <a:ext cx="402336" cy="402336"/>
          </a:xfrm>
          <a:prstGeom prst="ellipse">
            <a:avLst/>
          </a:prstGeom>
          <a:solidFill>
            <a:srgbClr val="D97A14"/>
          </a:solidFill>
          <a:ln w="12700">
            <a:solidFill>
              <a:srgbClr val="D97A14"/>
            </a:solidFill>
            <a:prstDash val="solid"/>
          </a:ln>
        </p:spPr>
      </p:sp>
      <p:sp>
        <p:nvSpPr>
          <p:cNvPr id="18" name="Text 16"/>
          <p:cNvSpPr txBox="1"/>
          <p:nvPr/>
        </p:nvSpPr>
        <p:spPr>
          <a:xfrm>
            <a:off x="457200" y="27614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9" name="Text 17"/>
          <p:cNvSpPr txBox="1"/>
          <p:nvPr/>
        </p:nvSpPr>
        <p:spPr>
          <a:xfrm>
            <a:off x="1024128" y="2724912"/>
            <a:ext cx="272491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channel opens on-chain: Alice 60,000, Bob 40,000</a:t>
            </a:r>
            <a:endParaRPr lang="en-US" sz="1050" dirty="0"/>
          </a:p>
        </p:txBody>
      </p:sp>
      <p:sp>
        <p:nvSpPr>
          <p:cNvPr id="20" name="Shape 18"/>
          <p:cNvSpPr/>
          <p:nvPr/>
        </p:nvSpPr>
        <p:spPr>
          <a:xfrm>
            <a:off x="457200" y="3340608"/>
            <a:ext cx="402336" cy="402336"/>
          </a:xfrm>
          <a:prstGeom prst="ellipse">
            <a:avLst/>
          </a:prstGeom>
          <a:solidFill>
            <a:srgbClr val="D97A14"/>
          </a:solidFill>
          <a:ln w="12700">
            <a:solidFill>
              <a:srgbClr val="D97A14"/>
            </a:solidFill>
            <a:prstDash val="solid"/>
          </a:ln>
        </p:spPr>
      </p:sp>
      <p:sp>
        <p:nvSpPr>
          <p:cNvPr id="21" name="Text 19"/>
          <p:cNvSpPr txBox="1"/>
          <p:nvPr/>
        </p:nvSpPr>
        <p:spPr>
          <a:xfrm>
            <a:off x="457200" y="334060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22" name="Text 20"/>
          <p:cNvSpPr txBox="1"/>
          <p:nvPr/>
        </p:nvSpPr>
        <p:spPr>
          <a:xfrm>
            <a:off x="1024128" y="3304032"/>
            <a:ext cx="272491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100 payments of 10 sat hop inside the channel</a:t>
            </a:r>
            <a:endParaRPr lang="en-US" sz="1050" dirty="0"/>
          </a:p>
        </p:txBody>
      </p:sp>
      <p:sp>
        <p:nvSpPr>
          <p:cNvPr id="23" name="Shape 21"/>
          <p:cNvSpPr/>
          <p:nvPr/>
        </p:nvSpPr>
        <p:spPr>
          <a:xfrm>
            <a:off x="457200" y="3919728"/>
            <a:ext cx="402336" cy="402336"/>
          </a:xfrm>
          <a:prstGeom prst="ellipse">
            <a:avLst/>
          </a:prstGeom>
          <a:solidFill>
            <a:srgbClr val="D97A14"/>
          </a:solidFill>
          <a:ln w="12700">
            <a:solidFill>
              <a:srgbClr val="D97A14"/>
            </a:solidFill>
            <a:prstDash val="solid"/>
          </a:ln>
        </p:spPr>
      </p:sp>
      <p:sp>
        <p:nvSpPr>
          <p:cNvPr id="24" name="Text 22"/>
          <p:cNvSpPr txBox="1"/>
          <p:nvPr/>
        </p:nvSpPr>
        <p:spPr>
          <a:xfrm>
            <a:off x="457200" y="39197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5" name="Text 23"/>
          <p:cNvSpPr txBox="1"/>
          <p:nvPr/>
        </p:nvSpPr>
        <p:spPr>
          <a:xfrm>
            <a:off x="1024128" y="3883152"/>
            <a:ext cx="272491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Only the final balances settle on-chain: 2 transactions total</a:t>
            </a:r>
            <a:endParaRPr lang="en-US" sz="1050" dirty="0"/>
          </a:p>
        </p:txBody>
      </p:sp>
      <p:sp>
        <p:nvSpPr>
          <p:cNvPr id="26" name="Text 24"/>
          <p:cNvSpPr txBox="1"/>
          <p:nvPr/>
        </p:nvSpPr>
        <p:spPr>
          <a:xfrm>
            <a:off x="3931920" y="2633472"/>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Alice, after</a:t>
            </a:r>
            <a:endParaRPr lang="en-US" sz="1050" dirty="0"/>
          </a:p>
        </p:txBody>
      </p:sp>
      <p:sp>
        <p:nvSpPr>
          <p:cNvPr id="27" name="Shape 25"/>
          <p:cNvSpPr/>
          <p:nvPr/>
        </p:nvSpPr>
        <p:spPr>
          <a:xfrm>
            <a:off x="5212080" y="2660904"/>
            <a:ext cx="2240280" cy="310896"/>
          </a:xfrm>
          <a:prstGeom prst="roundRect">
            <a:avLst>
              <a:gd name="adj" fmla="val 14706"/>
            </a:avLst>
          </a:prstGeom>
          <a:solidFill>
            <a:srgbClr val="D97A14"/>
          </a:solidFill>
          <a:ln w="12700">
            <a:solidFill>
              <a:srgbClr val="D97A14"/>
            </a:solidFill>
            <a:prstDash val="solid"/>
          </a:ln>
        </p:spPr>
      </p:sp>
      <p:sp>
        <p:nvSpPr>
          <p:cNvPr id="28" name="Text 26"/>
          <p:cNvSpPr txBox="1"/>
          <p:nvPr/>
        </p:nvSpPr>
        <p:spPr>
          <a:xfrm>
            <a:off x="7507224" y="2660904"/>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59,000</a:t>
            </a:r>
            <a:endParaRPr lang="en-US" sz="1000" dirty="0"/>
          </a:p>
        </p:txBody>
      </p:sp>
      <p:sp>
        <p:nvSpPr>
          <p:cNvPr id="29" name="Text 27"/>
          <p:cNvSpPr txBox="1"/>
          <p:nvPr/>
        </p:nvSpPr>
        <p:spPr>
          <a:xfrm>
            <a:off x="3931920" y="2877312"/>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Bob, after</a:t>
            </a:r>
            <a:endParaRPr lang="en-US" sz="1050" dirty="0"/>
          </a:p>
        </p:txBody>
      </p:sp>
      <p:sp>
        <p:nvSpPr>
          <p:cNvPr id="30" name="Shape 28"/>
          <p:cNvSpPr/>
          <p:nvPr/>
        </p:nvSpPr>
        <p:spPr>
          <a:xfrm>
            <a:off x="5212080" y="2904744"/>
            <a:ext cx="1556805" cy="310896"/>
          </a:xfrm>
          <a:prstGeom prst="roundRect">
            <a:avLst>
              <a:gd name="adj" fmla="val 14706"/>
            </a:avLst>
          </a:prstGeom>
          <a:solidFill>
            <a:srgbClr val="2F6D62"/>
          </a:solidFill>
          <a:ln w="12700">
            <a:solidFill>
              <a:srgbClr val="2F6D62"/>
            </a:solidFill>
            <a:prstDash val="solid"/>
          </a:ln>
        </p:spPr>
      </p:sp>
      <p:sp>
        <p:nvSpPr>
          <p:cNvPr id="31" name="Text 29"/>
          <p:cNvSpPr txBox="1"/>
          <p:nvPr/>
        </p:nvSpPr>
        <p:spPr>
          <a:xfrm>
            <a:off x="6823749" y="2904744"/>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41,000</a:t>
            </a:r>
            <a:endParaRPr lang="en-US" sz="1000" dirty="0"/>
          </a:p>
        </p:txBody>
      </p:sp>
      <p:sp>
        <p:nvSpPr>
          <p:cNvPr id="32" name="Text 30"/>
          <p:cNvSpPr txBox="1"/>
          <p:nvPr/>
        </p:nvSpPr>
        <p:spPr>
          <a:xfrm>
            <a:off x="3931920" y="3121152"/>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on-chain txs</a:t>
            </a:r>
            <a:endParaRPr lang="en-US" sz="1050" dirty="0"/>
          </a:p>
        </p:txBody>
      </p:sp>
      <p:sp>
        <p:nvSpPr>
          <p:cNvPr id="33" name="Shape 31"/>
          <p:cNvSpPr/>
          <p:nvPr/>
        </p:nvSpPr>
        <p:spPr>
          <a:xfrm>
            <a:off x="5212080" y="3148584"/>
            <a:ext cx="109728" cy="310896"/>
          </a:xfrm>
          <a:prstGeom prst="roundRect">
            <a:avLst>
              <a:gd name="adj" fmla="val 41667"/>
            </a:avLst>
          </a:prstGeom>
          <a:solidFill>
            <a:srgbClr val="D97A14"/>
          </a:solidFill>
          <a:ln w="12700">
            <a:solidFill>
              <a:srgbClr val="D97A14"/>
            </a:solidFill>
            <a:prstDash val="solid"/>
          </a:ln>
        </p:spPr>
      </p:sp>
      <p:sp>
        <p:nvSpPr>
          <p:cNvPr id="34" name="Text 32"/>
          <p:cNvSpPr txBox="1"/>
          <p:nvPr/>
        </p:nvSpPr>
        <p:spPr>
          <a:xfrm>
            <a:off x="5376672" y="3148584"/>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2</a:t>
            </a:r>
            <a:endParaRPr lang="en-US" sz="1000" dirty="0"/>
          </a:p>
        </p:txBody>
      </p:sp>
      <p:sp>
        <p:nvSpPr>
          <p:cNvPr id="35" name="Text 33"/>
          <p:cNvSpPr txBox="1"/>
          <p:nvPr/>
        </p:nvSpPr>
        <p:spPr>
          <a:xfrm>
            <a:off x="3931920" y="3493008"/>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program</a:t>
            </a:r>
            <a:endParaRPr lang="en-US" sz="1150" dirty="0"/>
          </a:p>
        </p:txBody>
      </p:sp>
      <p:sp>
        <p:nvSpPr>
          <p:cNvPr id="36" name="Shape 34"/>
          <p:cNvSpPr/>
          <p:nvPr/>
        </p:nvSpPr>
        <p:spPr>
          <a:xfrm>
            <a:off x="3931920" y="3767328"/>
            <a:ext cx="4754880" cy="758952"/>
          </a:xfrm>
          <a:prstGeom prst="roundRect">
            <a:avLst>
              <a:gd name="adj" fmla="val 12048"/>
            </a:avLst>
          </a:prstGeom>
          <a:solidFill>
            <a:srgbClr val="23272E"/>
          </a:solidFill>
          <a:ln w="12700">
            <a:solidFill>
              <a:srgbClr val="23272E"/>
            </a:solidFill>
            <a:prstDash val="solid"/>
          </a:ln>
        </p:spPr>
      </p:sp>
      <p:sp>
        <p:nvSpPr>
          <p:cNvPr id="37" name="Text 35"/>
          <p:cNvSpPr txBox="1"/>
          <p:nvPr/>
        </p:nvSpPr>
        <p:spPr>
          <a:xfrm>
            <a:off x="4114800" y="3886200"/>
            <a:ext cx="4389120" cy="521208"/>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onchain, a, b = </a:t>
            </a:r>
            <a:pPr indent="0" marL="0">
              <a:buNone/>
            </a:pPr>
            <a:r>
              <a:rPr lang="en-US" sz="800" dirty="0">
                <a:solidFill>
                  <a:srgbClr val="FFD28A"/>
                </a:solidFill>
                <a:latin typeface="Courier New" pitchFamily="34" charset="0"/>
                <a:ea typeface="Courier New" pitchFamily="34" charset="-122"/>
                <a:cs typeface="Courier New" pitchFamily="34" charset="-120"/>
              </a:rPr>
              <a:t>2</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FFD28A"/>
                </a:solidFill>
                <a:latin typeface="Courier New" pitchFamily="34" charset="0"/>
                <a:ea typeface="Courier New" pitchFamily="34" charset="-122"/>
                <a:cs typeface="Courier New" pitchFamily="34" charset="-120"/>
              </a:rPr>
              <a:t>60_000</a:t>
            </a:r>
            <a:pPr indent="0" marL="0">
              <a:buNone/>
            </a:pPr>
            <a:r>
              <a:rPr lang="en-US" sz="800" dirty="0">
                <a:solidFill>
                  <a:srgbClr val="E6EDF3"/>
                </a:solidFill>
                <a:latin typeface="Courier New" pitchFamily="34" charset="0"/>
                <a:ea typeface="Courier New" pitchFamily="34" charset="-122"/>
                <a:cs typeface="Courier New" pitchFamily="34" charset="-120"/>
              </a:rPr>
              <a:t>, </a:t>
            </a:r>
            <a:pPr indent="0" marL="0">
              <a:buNone/>
            </a:pPr>
            <a:r>
              <a:rPr lang="en-US" sz="800" dirty="0">
                <a:solidFill>
                  <a:srgbClr val="FFD28A"/>
                </a:solidFill>
                <a:latin typeface="Courier New" pitchFamily="34" charset="0"/>
                <a:ea typeface="Courier New" pitchFamily="34" charset="-122"/>
                <a:cs typeface="Courier New" pitchFamily="34" charset="-120"/>
              </a:rPr>
              <a:t>40_000</a:t>
            </a:r>
            <a:endParaRPr lang="en-US" sz="800" dirty="0"/>
          </a:p>
          <a:p>
            <a:pPr indent="0" marL="0">
              <a:buNone/>
            </a:pPr>
            <a:r>
              <a:rPr lang="en-US" sz="800" b="1" dirty="0">
                <a:solidFill>
                  <a:srgbClr val="F2A860"/>
                </a:solidFill>
                <a:latin typeface="Courier New" pitchFamily="34" charset="0"/>
                <a:ea typeface="Courier New" pitchFamily="34" charset="-122"/>
                <a:cs typeface="Courier New" pitchFamily="34" charset="-120"/>
              </a:rPr>
              <a:t>for</a:t>
            </a:r>
            <a:pPr indent="0" marL="0">
              <a:buNone/>
            </a:pPr>
            <a:r>
              <a:rPr lang="en-US" sz="800" dirty="0">
                <a:solidFill>
                  <a:srgbClr val="E6EDF3"/>
                </a:solidFill>
                <a:latin typeface="Courier New" pitchFamily="34" charset="0"/>
                <a:ea typeface="Courier New" pitchFamily="34" charset="-122"/>
                <a:cs typeface="Courier New" pitchFamily="34" charset="-120"/>
              </a:rPr>
              <a:t> _ </a:t>
            </a:r>
            <a:pPr indent="0" marL="0">
              <a:buNone/>
            </a:pPr>
            <a:r>
              <a:rPr lang="en-US" sz="800" b="1" dirty="0">
                <a:solidFill>
                  <a:srgbClr val="F2A860"/>
                </a:solidFill>
                <a:latin typeface="Courier New" pitchFamily="34" charset="0"/>
                <a:ea typeface="Courier New" pitchFamily="34" charset="-122"/>
                <a:cs typeface="Courier New" pitchFamily="34" charset="-120"/>
              </a:rPr>
              <a:t>in</a:t>
            </a:r>
            <a:pPr indent="0" marL="0">
              <a:buNone/>
            </a:pPr>
            <a:r>
              <a:rPr lang="en-US" sz="800" dirty="0">
                <a:solidFill>
                  <a:srgbClr val="E6EDF3"/>
                </a:solidFill>
                <a:latin typeface="Courier New" pitchFamily="34" charset="0"/>
                <a:ea typeface="Courier New" pitchFamily="34" charset="-122"/>
                <a:cs typeface="Courier New" pitchFamily="34" charset="-120"/>
              </a:rPr>
              <a:t> range(</a:t>
            </a:r>
            <a:pPr indent="0" marL="0">
              <a:buNone/>
            </a:pPr>
            <a:r>
              <a:rPr lang="en-US" sz="800" dirty="0">
                <a:solidFill>
                  <a:srgbClr val="FFD28A"/>
                </a:solidFill>
                <a:latin typeface="Courier New" pitchFamily="34" charset="0"/>
                <a:ea typeface="Courier New" pitchFamily="34" charset="-122"/>
                <a:cs typeface="Courier New" pitchFamily="34" charset="-120"/>
              </a:rPr>
              <a:t>100</a:t>
            </a:r>
            <a:pPr indent="0" marL="0">
              <a:buNone/>
            </a:pP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a, b = a - </a:t>
            </a:r>
            <a:pPr indent="0" marL="0">
              <a:buNone/>
            </a:pPr>
            <a:r>
              <a:rPr lang="en-US" sz="800" dirty="0">
                <a:solidFill>
                  <a:srgbClr val="FFD28A"/>
                </a:solidFill>
                <a:latin typeface="Courier New" pitchFamily="34" charset="0"/>
                <a:ea typeface="Courier New" pitchFamily="34" charset="-122"/>
                <a:cs typeface="Courier New" pitchFamily="34" charset="-120"/>
              </a:rPr>
              <a:t>10</a:t>
            </a:r>
            <a:pPr indent="0" marL="0">
              <a:buNone/>
            </a:pPr>
            <a:r>
              <a:rPr lang="en-US" sz="800" dirty="0">
                <a:solidFill>
                  <a:srgbClr val="E6EDF3"/>
                </a:solidFill>
                <a:latin typeface="Courier New" pitchFamily="34" charset="0"/>
                <a:ea typeface="Courier New" pitchFamily="34" charset="-122"/>
                <a:cs typeface="Courier New" pitchFamily="34" charset="-120"/>
              </a:rPr>
              <a:t>, b + </a:t>
            </a:r>
            <a:pPr indent="0" marL="0">
              <a:buNone/>
            </a:pPr>
            <a:r>
              <a:rPr lang="en-US" sz="800" dirty="0">
                <a:solidFill>
                  <a:srgbClr val="FFD28A"/>
                </a:solidFill>
                <a:latin typeface="Courier New" pitchFamily="34" charset="0"/>
                <a:ea typeface="Courier New" pitchFamily="34" charset="-122"/>
                <a:cs typeface="Courier New" pitchFamily="34" charset="-120"/>
              </a:rPr>
              <a:t>10</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result = (a, b, a + b, onchain)</a:t>
            </a:r>
            <a:endParaRPr lang="en-US" sz="800" dirty="0"/>
          </a:p>
        </p:txBody>
      </p:sp>
      <p:sp>
        <p:nvSpPr>
          <p:cNvPr id="38" name="Text 36"/>
          <p:cNvSpPr txBox="1"/>
          <p:nvPr/>
        </p:nvSpPr>
        <p:spPr>
          <a:xfrm>
            <a:off x="3931920" y="4544568"/>
            <a:ext cx="4754880" cy="256032"/>
          </a:xfrm>
          <a:prstGeom prst="rect">
            <a:avLst/>
          </a:prstGeom>
          <a:noFill/>
          <a:ln/>
        </p:spPr>
        <p:txBody>
          <a:bodyPr wrap="square" lIns="0" tIns="0" rIns="0" bIns="0" rtlCol="0" anchor="ctr"/>
          <a:lstStyle/>
          <a:p>
            <a:pPr indent="0" marL="0">
              <a:buNone/>
            </a:pPr>
            <a:r>
              <a:rPr lang="en-US" sz="900" b="1" dirty="0">
                <a:solidFill>
                  <a:srgbClr val="D97A14"/>
                </a:solidFill>
                <a:latin typeface="Courier New" pitchFamily="34" charset="0"/>
                <a:ea typeface="Courier New" pitchFamily="34" charset="-122"/>
                <a:cs typeface="Courier New" pitchFamily="34" charset="-120"/>
              </a:rPr>
              <a:t>result  </a:t>
            </a:r>
            <a:pPr indent="0" marL="0">
              <a:buNone/>
            </a:pPr>
            <a:r>
              <a:rPr lang="en-US" sz="900" dirty="0">
                <a:solidFill>
                  <a:srgbClr val="2B2622"/>
                </a:solidFill>
                <a:latin typeface="Courier New" pitchFamily="34" charset="0"/>
                <a:ea typeface="Courier New" pitchFamily="34" charset="-122"/>
                <a:cs typeface="Courier New" pitchFamily="34" charset="-120"/>
              </a:rPr>
              <a:t>(59000, 41000, 100000, 2)</a:t>
            </a:r>
            <a:endParaRPr lang="en-US" sz="900" dirty="0"/>
          </a:p>
        </p:txBody>
      </p:sp>
      <p:sp>
        <p:nvSpPr>
          <p:cNvPr id="39" name="Text 37"/>
          <p:cNvSpPr txBox="1"/>
          <p:nvPr/>
        </p:nvSpPr>
        <p:spPr>
          <a:xfrm>
            <a:off x="3931920" y="4800600"/>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PaymentChannel, lines 1 to 4 of 4, run under Python 3.14.4</a:t>
            </a:r>
            <a:endParaRPr lang="en-US" sz="900" dirty="0"/>
          </a:p>
        </p:txBody>
      </p:sp>
      <p:sp>
        <p:nvSpPr>
          <p:cNvPr id="40" name="Shape 38"/>
          <p:cNvSpPr/>
          <p:nvPr/>
        </p:nvSpPr>
        <p:spPr>
          <a:xfrm>
            <a:off x="457200" y="4636008"/>
            <a:ext cx="91440" cy="310896"/>
          </a:xfrm>
          <a:prstGeom prst="rect">
            <a:avLst/>
          </a:prstGeom>
          <a:solidFill>
            <a:srgbClr val="D97A14"/>
          </a:solidFill>
          <a:ln w="12700">
            <a:solidFill>
              <a:srgbClr val="D97A14"/>
            </a:solidFill>
            <a:prstDash val="solid"/>
          </a:ln>
        </p:spPr>
      </p:sp>
      <p:sp>
        <p:nvSpPr>
          <p:cNvPr id="41" name="Text 3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minutes of app taps hide all of this machinery</a:t>
            </a:r>
            <a:endParaRPr lang="en-US" sz="1350" dirty="0"/>
          </a:p>
        </p:txBody>
      </p:sp>
      <p:sp>
        <p:nvSpPr>
          <p:cNvPr id="42" name="Text 4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42</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Foundations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two old problems Bitcoin finally joined up</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Hashcash</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Byzantine Generals</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Keys and signatures</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chain</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42</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solved problems, one new system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1997 and 1982 meet in 2008</a:t>
            </a:r>
            <a:endParaRPr lang="en-US" sz="1300" dirty="0"/>
          </a:p>
        </p:txBody>
      </p:sp>
      <p:sp>
        <p:nvSpPr>
          <p:cNvPr id="6" name="Shape 4"/>
          <p:cNvSpPr/>
          <p:nvPr/>
        </p:nvSpPr>
        <p:spPr>
          <a:xfrm>
            <a:off x="457200" y="1371600"/>
            <a:ext cx="4023360" cy="2651760"/>
          </a:xfrm>
          <a:prstGeom prst="roundRect">
            <a:avLst>
              <a:gd name="adj" fmla="val 3448"/>
            </a:avLst>
          </a:prstGeom>
          <a:solidFill>
            <a:srgbClr val="F2ECE1"/>
          </a:solidFill>
          <a:ln w="12700">
            <a:solidFill>
              <a:srgbClr val="F2ECE1"/>
            </a:solidFill>
            <a:prstDash val="solid"/>
          </a:ln>
        </p:spPr>
      </p:sp>
      <p:sp>
        <p:nvSpPr>
          <p:cNvPr id="7" name="Text 5"/>
          <p:cNvSpPr txBox="1"/>
          <p:nvPr/>
        </p:nvSpPr>
        <p:spPr>
          <a:xfrm>
            <a:off x="640080" y="1490472"/>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Hashcash (1997)</a:t>
            </a:r>
            <a:endParaRPr lang="en-US" sz="1600" dirty="0"/>
          </a:p>
        </p:txBody>
      </p:sp>
      <p:sp>
        <p:nvSpPr>
          <p:cNvPr id="8" name="Text 6"/>
          <p:cNvSpPr txBox="1"/>
          <p:nvPr/>
        </p:nvSpPr>
        <p:spPr>
          <a:xfrm>
            <a:off x="64008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Proof-of-work: make sending cost a computation, so flooding costs real resources. Bitcoin turns the same cost into the price of writing history.</a:t>
            </a:r>
            <a:endParaRPr lang="en-US" sz="1300" dirty="0"/>
          </a:p>
        </p:txBody>
      </p:sp>
      <p:sp>
        <p:nvSpPr>
          <p:cNvPr id="9" name="Shape 7"/>
          <p:cNvSpPr/>
          <p:nvPr/>
        </p:nvSpPr>
        <p:spPr>
          <a:xfrm>
            <a:off x="4663440" y="1371600"/>
            <a:ext cx="4023360" cy="2651760"/>
          </a:xfrm>
          <a:prstGeom prst="roundRect">
            <a:avLst>
              <a:gd name="adj" fmla="val 3448"/>
            </a:avLst>
          </a:prstGeom>
          <a:solidFill>
            <a:srgbClr val="F2ECE1"/>
          </a:solidFill>
          <a:ln w="12700">
            <a:solidFill>
              <a:srgbClr val="F2ECE1"/>
            </a:solidFill>
            <a:prstDash val="solid"/>
          </a:ln>
        </p:spPr>
      </p:sp>
      <p:sp>
        <p:nvSpPr>
          <p:cNvPr id="10" name="Text 8"/>
          <p:cNvSpPr txBox="1"/>
          <p:nvPr/>
        </p:nvSpPr>
        <p:spPr>
          <a:xfrm>
            <a:off x="4846320" y="1490472"/>
            <a:ext cx="365760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Byzantine Generals (1982)</a:t>
            </a:r>
            <a:endParaRPr lang="en-US" sz="1600" dirty="0"/>
          </a:p>
        </p:txBody>
      </p:sp>
      <p:sp>
        <p:nvSpPr>
          <p:cNvPr id="11" name="Text 9"/>
          <p:cNvSpPr txBox="1"/>
          <p:nvPr/>
        </p:nvSpPr>
        <p:spPr>
          <a:xfrm>
            <a:off x="484632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How do parties that cannot trust each other agree on one message? Proof-of-work plus the longest valid chain is Bitcoin's practical answer.</a:t>
            </a:r>
            <a:endParaRPr lang="en-US" sz="13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Bitcoin's novelty is the combination, not the parts</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42</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From keys to the chain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pipeline the rest of the course walks</a:t>
            </a:r>
            <a:endParaRPr lang="en-US" sz="1300" dirty="0"/>
          </a:p>
        </p:txBody>
      </p:sp>
      <p:sp>
        <p:nvSpPr>
          <p:cNvPr id="6" name="Shape 4"/>
          <p:cNvSpPr/>
          <p:nvPr/>
        </p:nvSpPr>
        <p:spPr>
          <a:xfrm>
            <a:off x="457200" y="1554480"/>
            <a:ext cx="1265530" cy="1234440"/>
          </a:xfrm>
          <a:prstGeom prst="roundRect">
            <a:avLst>
              <a:gd name="adj" fmla="val 7407"/>
            </a:avLst>
          </a:prstGeom>
          <a:solidFill>
            <a:srgbClr val="2F6D62"/>
          </a:solidFill>
          <a:ln w="12700">
            <a:solidFill>
              <a:srgbClr val="2F6D62"/>
            </a:solidFill>
            <a:prstDash val="solid"/>
          </a:ln>
        </p:spPr>
      </p:sp>
      <p:sp>
        <p:nvSpPr>
          <p:cNvPr id="7" name="Text 5"/>
          <p:cNvSpPr txBox="1"/>
          <p:nvPr/>
        </p:nvSpPr>
        <p:spPr>
          <a:xfrm>
            <a:off x="53035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8" name="Shape 6"/>
          <p:cNvSpPr/>
          <p:nvPr/>
        </p:nvSpPr>
        <p:spPr>
          <a:xfrm>
            <a:off x="1777594" y="2171700"/>
            <a:ext cx="365760" cy="0"/>
          </a:xfrm>
          <a:prstGeom prst="line">
            <a:avLst/>
          </a:prstGeom>
          <a:noFill/>
          <a:ln w="25400">
            <a:solidFill>
              <a:srgbClr val="D97A14"/>
            </a:solidFill>
            <a:prstDash val="solid"/>
            <a:tailEnd type="triangle"/>
          </a:ln>
        </p:spPr>
      </p:sp>
      <p:sp>
        <p:nvSpPr>
          <p:cNvPr id="9" name="Shape 7"/>
          <p:cNvSpPr/>
          <p:nvPr/>
        </p:nvSpPr>
        <p:spPr>
          <a:xfrm>
            <a:off x="2198218" y="1554480"/>
            <a:ext cx="1265530" cy="1234440"/>
          </a:xfrm>
          <a:prstGeom prst="roundRect">
            <a:avLst>
              <a:gd name="adj" fmla="val 7407"/>
            </a:avLst>
          </a:prstGeom>
          <a:solidFill>
            <a:srgbClr val="2F6D62"/>
          </a:solidFill>
          <a:ln w="12700">
            <a:solidFill>
              <a:srgbClr val="2F6D62"/>
            </a:solidFill>
            <a:prstDash val="solid"/>
          </a:ln>
        </p:spPr>
      </p:sp>
      <p:sp>
        <p:nvSpPr>
          <p:cNvPr id="10" name="Text 8"/>
          <p:cNvSpPr txBox="1"/>
          <p:nvPr/>
        </p:nvSpPr>
        <p:spPr>
          <a:xfrm>
            <a:off x="2271370"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Addresses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11" name="Shape 9"/>
          <p:cNvSpPr/>
          <p:nvPr/>
        </p:nvSpPr>
        <p:spPr>
          <a:xfrm>
            <a:off x="3518611" y="2171700"/>
            <a:ext cx="365760" cy="0"/>
          </a:xfrm>
          <a:prstGeom prst="line">
            <a:avLst/>
          </a:prstGeom>
          <a:noFill/>
          <a:ln w="25400">
            <a:solidFill>
              <a:srgbClr val="D97A14"/>
            </a:solidFill>
            <a:prstDash val="solid"/>
            <a:tailEnd type="triangle"/>
          </a:ln>
        </p:spPr>
      </p:sp>
      <p:sp>
        <p:nvSpPr>
          <p:cNvPr id="12" name="Shape 10"/>
          <p:cNvSpPr/>
          <p:nvPr/>
        </p:nvSpPr>
        <p:spPr>
          <a:xfrm>
            <a:off x="3939235" y="1554480"/>
            <a:ext cx="1265530" cy="1234440"/>
          </a:xfrm>
          <a:prstGeom prst="roundRect">
            <a:avLst>
              <a:gd name="adj" fmla="val 7407"/>
            </a:avLst>
          </a:prstGeom>
          <a:solidFill>
            <a:srgbClr val="2F6D62"/>
          </a:solidFill>
          <a:ln w="12700">
            <a:solidFill>
              <a:srgbClr val="2F6D62"/>
            </a:solidFill>
            <a:prstDash val="solid"/>
          </a:ln>
        </p:spPr>
      </p:sp>
      <p:sp>
        <p:nvSpPr>
          <p:cNvPr id="13" name="Text 11"/>
          <p:cNvSpPr txBox="1"/>
          <p:nvPr/>
        </p:nvSpPr>
        <p:spPr>
          <a:xfrm>
            <a:off x="4012387"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6</a:t>
            </a:r>
            <a:endParaRPr lang="en-US" sz="1250" dirty="0"/>
          </a:p>
        </p:txBody>
      </p:sp>
      <p:sp>
        <p:nvSpPr>
          <p:cNvPr id="14" name="Shape 12"/>
          <p:cNvSpPr/>
          <p:nvPr/>
        </p:nvSpPr>
        <p:spPr>
          <a:xfrm>
            <a:off x="5259629" y="2171700"/>
            <a:ext cx="365760" cy="0"/>
          </a:xfrm>
          <a:prstGeom prst="line">
            <a:avLst/>
          </a:prstGeom>
          <a:noFill/>
          <a:ln w="25400">
            <a:solidFill>
              <a:srgbClr val="D97A14"/>
            </a:solidFill>
            <a:prstDash val="solid"/>
            <a:tailEnd type="triangle"/>
          </a:ln>
        </p:spPr>
      </p:sp>
      <p:sp>
        <p:nvSpPr>
          <p:cNvPr id="15" name="Shape 13"/>
          <p:cNvSpPr/>
          <p:nvPr/>
        </p:nvSpPr>
        <p:spPr>
          <a:xfrm>
            <a:off x="5680253" y="1554480"/>
            <a:ext cx="1265530" cy="1234440"/>
          </a:xfrm>
          <a:prstGeom prst="roundRect">
            <a:avLst>
              <a:gd name="adj" fmla="val 7407"/>
            </a:avLst>
          </a:prstGeom>
          <a:solidFill>
            <a:srgbClr val="2F6D62"/>
          </a:solidFill>
          <a:ln w="12700">
            <a:solidFill>
              <a:srgbClr val="2F6D62"/>
            </a:solidFill>
            <a:prstDash val="solid"/>
          </a:ln>
        </p:spPr>
      </p:sp>
      <p:sp>
        <p:nvSpPr>
          <p:cNvPr id="16" name="Text 14"/>
          <p:cNvSpPr txBox="1"/>
          <p:nvPr/>
        </p:nvSpPr>
        <p:spPr>
          <a:xfrm>
            <a:off x="5753405"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11</a:t>
            </a:r>
            <a:endParaRPr lang="en-US" sz="1250" dirty="0"/>
          </a:p>
        </p:txBody>
      </p:sp>
      <p:sp>
        <p:nvSpPr>
          <p:cNvPr id="17" name="Shape 15"/>
          <p:cNvSpPr/>
          <p:nvPr/>
        </p:nvSpPr>
        <p:spPr>
          <a:xfrm>
            <a:off x="7000646" y="2171700"/>
            <a:ext cx="365760" cy="0"/>
          </a:xfrm>
          <a:prstGeom prst="line">
            <a:avLst/>
          </a:prstGeom>
          <a:noFill/>
          <a:ln w="25400">
            <a:solidFill>
              <a:srgbClr val="D97A14"/>
            </a:solidFill>
            <a:prstDash val="solid"/>
            <a:tailEnd type="triangle"/>
          </a:ln>
        </p:spPr>
      </p:sp>
      <p:sp>
        <p:nvSpPr>
          <p:cNvPr id="18" name="Shape 16"/>
          <p:cNvSpPr/>
          <p:nvPr/>
        </p:nvSpPr>
        <p:spPr>
          <a:xfrm>
            <a:off x="7421270" y="1554480"/>
            <a:ext cx="1265530" cy="1234440"/>
          </a:xfrm>
          <a:prstGeom prst="roundRect">
            <a:avLst>
              <a:gd name="adj" fmla="val 7407"/>
            </a:avLst>
          </a:prstGeom>
          <a:solidFill>
            <a:srgbClr val="2F6D62"/>
          </a:solidFill>
          <a:ln w="12700">
            <a:solidFill>
              <a:srgbClr val="2F6D62"/>
            </a:solidFill>
            <a:prstDash val="solid"/>
          </a:ln>
        </p:spPr>
      </p:sp>
      <p:sp>
        <p:nvSpPr>
          <p:cNvPr id="19" name="Text 17"/>
          <p:cNvSpPr txBox="1"/>
          <p:nvPr/>
        </p:nvSpPr>
        <p:spPr>
          <a:xfrm>
            <a:off x="749442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Mining</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12</a:t>
            </a:r>
            <a:endParaRPr lang="en-US" sz="1250" dirty="0"/>
          </a:p>
        </p:txBody>
      </p:sp>
      <p:sp>
        <p:nvSpPr>
          <p:cNvPr id="20" name="Text 18"/>
          <p:cNvSpPr txBox="1"/>
          <p:nvPr/>
        </p:nvSpPr>
        <p:spPr>
          <a:xfrm>
            <a:off x="457200" y="3108960"/>
            <a:ext cx="8229600" cy="137160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Each stage only trusts what it can verify</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Every later chapter opens one of these boxes</a:t>
            </a:r>
            <a:endParaRPr lang="en-US" sz="15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This pipeline is the course syllabus in one row</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42</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chain that notices tampering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block carries the digest of the one before</a:t>
            </a:r>
            <a:endParaRPr lang="en-US" sz="1300" dirty="0"/>
          </a:p>
        </p:txBody>
      </p:sp>
      <p:sp>
        <p:nvSpPr>
          <p:cNvPr id="6" name="Shape 4"/>
          <p:cNvSpPr/>
          <p:nvPr/>
        </p:nvSpPr>
        <p:spPr>
          <a:xfrm>
            <a:off x="457200" y="1517904"/>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179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81328"/>
            <a:ext cx="2679192" cy="37490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Each block stores the digest of the one before</a:t>
            </a:r>
            <a:endParaRPr lang="en-US" sz="1000" dirty="0"/>
          </a:p>
        </p:txBody>
      </p:sp>
      <p:sp>
        <p:nvSpPr>
          <p:cNvPr id="9" name="Shape 7"/>
          <p:cNvSpPr/>
          <p:nvPr/>
        </p:nvSpPr>
        <p:spPr>
          <a:xfrm>
            <a:off x="457200" y="192938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293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92808"/>
            <a:ext cx="2679192" cy="37490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Verify = recompute every digest: True</a:t>
            </a:r>
            <a:endParaRPr lang="en-US" sz="1000" dirty="0"/>
          </a:p>
        </p:txBody>
      </p:sp>
      <p:sp>
        <p:nvSpPr>
          <p:cNvPr id="12" name="Shape 10"/>
          <p:cNvSpPr/>
          <p:nvPr/>
        </p:nvSpPr>
        <p:spPr>
          <a:xfrm>
            <a:off x="457200" y="234086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408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04288"/>
            <a:ext cx="2679192" cy="37490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Change one byte - the next block refuses: False</a:t>
            </a:r>
            <a:endParaRPr lang="en-US" sz="1000" dirty="0"/>
          </a:p>
        </p:txBody>
      </p:sp>
      <p:sp>
        <p:nvSpPr>
          <p:cNvPr id="15" name="Shape 13"/>
          <p:cNvSpPr/>
          <p:nvPr/>
        </p:nvSpPr>
        <p:spPr>
          <a:xfrm>
            <a:off x="3840480" y="1426464"/>
            <a:ext cx="1371600" cy="841248"/>
          </a:xfrm>
          <a:prstGeom prst="roundRect">
            <a:avLst>
              <a:gd name="adj" fmla="val 8696"/>
            </a:avLst>
          </a:prstGeom>
          <a:solidFill>
            <a:srgbClr val="F2ECE1"/>
          </a:solidFill>
          <a:ln w="22225">
            <a:solidFill>
              <a:srgbClr val="5B8C5A"/>
            </a:solidFill>
            <a:prstDash val="solid"/>
          </a:ln>
        </p:spPr>
      </p:sp>
      <p:sp>
        <p:nvSpPr>
          <p:cNvPr id="16" name="Text 14"/>
          <p:cNvSpPr txBox="1"/>
          <p:nvPr/>
        </p:nvSpPr>
        <p:spPr>
          <a:xfrm>
            <a:off x="3840480" y="1481328"/>
            <a:ext cx="1371600" cy="274320"/>
          </a:xfrm>
          <a:prstGeom prst="rect">
            <a:avLst/>
          </a:prstGeom>
          <a:noFill/>
          <a:ln/>
        </p:spPr>
        <p:txBody>
          <a:bodyPr wrap="square" lIns="0" tIns="0" rIns="0" bIns="0" rtlCol="0" anchor="ctr"/>
          <a:lstStyle/>
          <a:p>
            <a:pPr algn="ctr" indent="0" marL="0">
              <a:buNone/>
            </a:pPr>
            <a:r>
              <a:rPr lang="en-US" sz="1100" b="1" dirty="0">
                <a:solidFill>
                  <a:srgbClr val="3C6B3B"/>
                </a:solidFill>
                <a:latin typeface="Calibri" pitchFamily="34" charset="0"/>
                <a:ea typeface="Calibri" pitchFamily="34" charset="-122"/>
                <a:cs typeface="Calibri" pitchFamily="34" charset="-120"/>
              </a:rPr>
              <a:t>block 0</a:t>
            </a:r>
            <a:endParaRPr lang="en-US" sz="1100" dirty="0"/>
          </a:p>
        </p:txBody>
      </p:sp>
      <p:sp>
        <p:nvSpPr>
          <p:cNvPr id="17" name="Text 15"/>
          <p:cNvSpPr txBox="1"/>
          <p:nvPr/>
        </p:nvSpPr>
        <p:spPr>
          <a:xfrm>
            <a:off x="3886200" y="1792224"/>
            <a:ext cx="1280160" cy="457200"/>
          </a:xfrm>
          <a:prstGeom prst="rect">
            <a:avLst/>
          </a:prstGeom>
          <a:noFill/>
          <a:ln/>
        </p:spPr>
        <p:txBody>
          <a:bodyPr wrap="square" lIns="0" tIns="0" rIns="0" bIns="0" rtlCol="0" anchor="t"/>
          <a:lstStyle/>
          <a:p>
            <a:pPr algn="ctr" indent="0" marL="0">
              <a:buNone/>
            </a:pPr>
            <a:r>
              <a:rPr lang="en-US" sz="850" dirty="0">
                <a:solidFill>
                  <a:srgbClr val="6E655C"/>
                </a:solidFill>
                <a:latin typeface="Courier New" pitchFamily="34" charset="0"/>
                <a:ea typeface="Courier New" pitchFamily="34" charset="-122"/>
                <a:cs typeface="Courier New" pitchFamily="34" charset="-120"/>
              </a:rPr>
              <a:t>the genesis record</a:t>
            </a:r>
            <a:endParaRPr lang="en-US" sz="850" dirty="0"/>
          </a:p>
        </p:txBody>
      </p:sp>
      <p:sp>
        <p:nvSpPr>
          <p:cNvPr id="18" name="Shape 16"/>
          <p:cNvSpPr/>
          <p:nvPr/>
        </p:nvSpPr>
        <p:spPr>
          <a:xfrm>
            <a:off x="5212080" y="1847088"/>
            <a:ext cx="365760" cy="0"/>
          </a:xfrm>
          <a:prstGeom prst="line">
            <a:avLst/>
          </a:prstGeom>
          <a:noFill/>
          <a:ln w="25400">
            <a:solidFill>
              <a:srgbClr val="B6533C"/>
            </a:solidFill>
            <a:prstDash val="solid"/>
            <a:tailEnd type="triangle"/>
          </a:ln>
        </p:spPr>
      </p:sp>
      <p:sp>
        <p:nvSpPr>
          <p:cNvPr id="19" name="Shape 17"/>
          <p:cNvSpPr/>
          <p:nvPr/>
        </p:nvSpPr>
        <p:spPr>
          <a:xfrm>
            <a:off x="5577840" y="1426464"/>
            <a:ext cx="1371600" cy="841248"/>
          </a:xfrm>
          <a:prstGeom prst="roundRect">
            <a:avLst>
              <a:gd name="adj" fmla="val 8696"/>
            </a:avLst>
          </a:prstGeom>
          <a:solidFill>
            <a:srgbClr val="F3DED6"/>
          </a:solidFill>
          <a:ln w="22225">
            <a:solidFill>
              <a:srgbClr val="B6533C"/>
            </a:solidFill>
            <a:prstDash val="solid"/>
          </a:ln>
        </p:spPr>
      </p:sp>
      <p:sp>
        <p:nvSpPr>
          <p:cNvPr id="20" name="Text 18"/>
          <p:cNvSpPr txBox="1"/>
          <p:nvPr/>
        </p:nvSpPr>
        <p:spPr>
          <a:xfrm>
            <a:off x="5577840" y="1481328"/>
            <a:ext cx="1371600" cy="274320"/>
          </a:xfrm>
          <a:prstGeom prst="rect">
            <a:avLst/>
          </a:prstGeom>
          <a:noFill/>
          <a:ln/>
        </p:spPr>
        <p:txBody>
          <a:bodyPr wrap="square" lIns="0" tIns="0" rIns="0" bIns="0" rtlCol="0" anchor="ctr"/>
          <a:lstStyle/>
          <a:p>
            <a:pPr algn="ctr" indent="0" marL="0">
              <a:buNone/>
            </a:pPr>
            <a:r>
              <a:rPr lang="en-US" sz="1100" b="1" dirty="0">
                <a:solidFill>
                  <a:srgbClr val="B6533C"/>
                </a:solidFill>
                <a:latin typeface="Calibri" pitchFamily="34" charset="0"/>
                <a:ea typeface="Calibri" pitchFamily="34" charset="-122"/>
                <a:cs typeface="Calibri" pitchFamily="34" charset="-120"/>
              </a:rPr>
              <a:t>block 1</a:t>
            </a:r>
            <a:endParaRPr lang="en-US" sz="1100" dirty="0"/>
          </a:p>
        </p:txBody>
      </p:sp>
      <p:sp>
        <p:nvSpPr>
          <p:cNvPr id="21" name="Text 19"/>
          <p:cNvSpPr txBox="1"/>
          <p:nvPr/>
        </p:nvSpPr>
        <p:spPr>
          <a:xfrm>
            <a:off x="5623560" y="1792224"/>
            <a:ext cx="1280160" cy="457200"/>
          </a:xfrm>
          <a:prstGeom prst="rect">
            <a:avLst/>
          </a:prstGeom>
          <a:noFill/>
          <a:ln/>
        </p:spPr>
        <p:txBody>
          <a:bodyPr wrap="square" lIns="0" tIns="0" rIns="0" bIns="0" rtlCol="0" anchor="t"/>
          <a:lstStyle/>
          <a:p>
            <a:pPr algn="ctr" indent="0" marL="0">
              <a:buNone/>
            </a:pPr>
            <a:r>
              <a:rPr lang="en-US" sz="850" dirty="0">
                <a:solidFill>
                  <a:srgbClr val="B6533C"/>
                </a:solidFill>
                <a:latin typeface="Courier New" pitchFamily="34" charset="0"/>
                <a:ea typeface="Courier New" pitchFamily="34" charset="-122"/>
                <a:cs typeface="Courier New" pitchFamily="34" charset="-120"/>
              </a:rPr>
              <a:t>data changed!</a:t>
            </a:r>
            <a:endParaRPr lang="en-US" sz="850" dirty="0"/>
          </a:p>
        </p:txBody>
      </p:sp>
      <p:sp>
        <p:nvSpPr>
          <p:cNvPr id="22" name="Shape 20"/>
          <p:cNvSpPr/>
          <p:nvPr/>
        </p:nvSpPr>
        <p:spPr>
          <a:xfrm>
            <a:off x="6949440" y="1847088"/>
            <a:ext cx="365760" cy="0"/>
          </a:xfrm>
          <a:prstGeom prst="line">
            <a:avLst/>
          </a:prstGeom>
          <a:noFill/>
          <a:ln w="25400">
            <a:solidFill>
              <a:srgbClr val="B6533C"/>
            </a:solidFill>
            <a:prstDash val="solid"/>
            <a:tailEnd type="triangle"/>
          </a:ln>
        </p:spPr>
      </p:sp>
      <p:sp>
        <p:nvSpPr>
          <p:cNvPr id="23" name="Shape 21"/>
          <p:cNvSpPr/>
          <p:nvPr/>
        </p:nvSpPr>
        <p:spPr>
          <a:xfrm>
            <a:off x="7315200" y="1426464"/>
            <a:ext cx="1371600" cy="841248"/>
          </a:xfrm>
          <a:prstGeom prst="roundRect">
            <a:avLst>
              <a:gd name="adj" fmla="val 8696"/>
            </a:avLst>
          </a:prstGeom>
          <a:solidFill>
            <a:srgbClr val="F3DED6"/>
          </a:solidFill>
          <a:ln w="22225">
            <a:solidFill>
              <a:srgbClr val="B6533C"/>
            </a:solidFill>
            <a:prstDash val="solid"/>
          </a:ln>
        </p:spPr>
      </p:sp>
      <p:sp>
        <p:nvSpPr>
          <p:cNvPr id="24" name="Text 22"/>
          <p:cNvSpPr txBox="1"/>
          <p:nvPr/>
        </p:nvSpPr>
        <p:spPr>
          <a:xfrm>
            <a:off x="7315200" y="1481328"/>
            <a:ext cx="1371600" cy="274320"/>
          </a:xfrm>
          <a:prstGeom prst="rect">
            <a:avLst/>
          </a:prstGeom>
          <a:noFill/>
          <a:ln/>
        </p:spPr>
        <p:txBody>
          <a:bodyPr wrap="square" lIns="0" tIns="0" rIns="0" bIns="0" rtlCol="0" anchor="ctr"/>
          <a:lstStyle/>
          <a:p>
            <a:pPr algn="ctr" indent="0" marL="0">
              <a:buNone/>
            </a:pPr>
            <a:r>
              <a:rPr lang="en-US" sz="1100" b="1" dirty="0">
                <a:solidFill>
                  <a:srgbClr val="B6533C"/>
                </a:solidFill>
                <a:latin typeface="Calibri" pitchFamily="34" charset="0"/>
                <a:ea typeface="Calibri" pitchFamily="34" charset="-122"/>
                <a:cs typeface="Calibri" pitchFamily="34" charset="-120"/>
              </a:rPr>
              <a:t>block 2</a:t>
            </a:r>
            <a:endParaRPr lang="en-US" sz="1100" dirty="0"/>
          </a:p>
        </p:txBody>
      </p:sp>
      <p:sp>
        <p:nvSpPr>
          <p:cNvPr id="25" name="Text 23"/>
          <p:cNvSpPr txBox="1"/>
          <p:nvPr/>
        </p:nvSpPr>
        <p:spPr>
          <a:xfrm>
            <a:off x="7360920" y="1792224"/>
            <a:ext cx="1280160" cy="457200"/>
          </a:xfrm>
          <a:prstGeom prst="rect">
            <a:avLst/>
          </a:prstGeom>
          <a:noFill/>
          <a:ln/>
        </p:spPr>
        <p:txBody>
          <a:bodyPr wrap="square" lIns="0" tIns="0" rIns="0" bIns="0" rtlCol="0" anchor="t"/>
          <a:lstStyle/>
          <a:p>
            <a:pPr algn="ctr" indent="0" marL="0">
              <a:buNone/>
            </a:pPr>
            <a:r>
              <a:rPr lang="en-US" sz="850" dirty="0">
                <a:solidFill>
                  <a:srgbClr val="B6533C"/>
                </a:solidFill>
                <a:latin typeface="Courier New" pitchFamily="34" charset="0"/>
                <a:ea typeface="Courier New" pitchFamily="34" charset="-122"/>
                <a:cs typeface="Courier New" pitchFamily="34" charset="-120"/>
              </a:rPr>
              <a:t>digest of block 1</a:t>
            </a:r>
            <a:endParaRPr lang="en-US" sz="850" dirty="0"/>
          </a:p>
        </p:txBody>
      </p:sp>
      <p:sp>
        <p:nvSpPr>
          <p:cNvPr id="26" name="Text 24"/>
          <p:cNvSpPr txBox="1"/>
          <p:nvPr/>
        </p:nvSpPr>
        <p:spPr>
          <a:xfrm>
            <a:off x="3840480" y="2340864"/>
            <a:ext cx="4846320" cy="310896"/>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verify: True, then False</a:t>
            </a:r>
            <a:endParaRPr lang="en-US" sz="1050" dirty="0"/>
          </a:p>
        </p:txBody>
      </p:sp>
      <p:sp>
        <p:nvSpPr>
          <p:cNvPr id="27" name="Text 25"/>
          <p:cNvSpPr txBox="1"/>
          <p:nvPr/>
        </p:nvSpPr>
        <p:spPr>
          <a:xfrm>
            <a:off x="457200" y="25603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line by line</a:t>
            </a:r>
            <a:endParaRPr lang="en-US" sz="1150" dirty="0"/>
          </a:p>
        </p:txBody>
      </p:sp>
      <p:sp>
        <p:nvSpPr>
          <p:cNvPr id="28" name="Shape 26"/>
          <p:cNvSpPr/>
          <p:nvPr/>
        </p:nvSpPr>
        <p:spPr>
          <a:xfrm>
            <a:off x="457200" y="2834640"/>
            <a:ext cx="8229600" cy="1691640"/>
          </a:xfrm>
          <a:prstGeom prst="roundRect">
            <a:avLst>
              <a:gd name="adj" fmla="val 5405"/>
            </a:avLst>
          </a:prstGeom>
          <a:solidFill>
            <a:srgbClr val="23272E"/>
          </a:solidFill>
          <a:ln w="12700">
            <a:solidFill>
              <a:srgbClr val="23272E"/>
            </a:solidFill>
            <a:prstDash val="solid"/>
          </a:ln>
        </p:spPr>
      </p:sp>
      <p:sp>
        <p:nvSpPr>
          <p:cNvPr id="29" name="Text 27"/>
          <p:cNvSpPr txBox="1"/>
          <p:nvPr/>
        </p:nvSpPr>
        <p:spPr>
          <a:xfrm>
            <a:off x="640080" y="2953512"/>
            <a:ext cx="7863840" cy="1453896"/>
          </a:xfrm>
          <a:prstGeom prst="rect">
            <a:avLst/>
          </a:prstGeom>
          <a:noFill/>
          <a:ln/>
        </p:spPr>
        <p:txBody>
          <a:bodyPr wrap="square" lIns="0" tIns="0" rIns="0" bIns="0" rtlCol="0" anchor="t"/>
          <a:lstStyle/>
          <a:p>
            <a:pPr indent="0" marL="0">
              <a:buNone/>
            </a:pPr>
            <a:r>
              <a:rPr lang="en-US" sz="780" b="1" dirty="0">
                <a:solidFill>
                  <a:srgbClr val="F2A860"/>
                </a:solidFill>
                <a:latin typeface="Courier New" pitchFamily="34" charset="0"/>
                <a:ea typeface="Courier New" pitchFamily="34" charset="-122"/>
                <a:cs typeface="Courier New" pitchFamily="34" charset="-120"/>
              </a:rPr>
              <a:t>import</a:t>
            </a:r>
            <a:pPr indent="0" marL="0">
              <a:buNone/>
            </a:pPr>
            <a:r>
              <a:rPr lang="en-US" sz="780" dirty="0">
                <a:solidFill>
                  <a:srgbClr val="E6EDF3"/>
                </a:solidFill>
                <a:latin typeface="Courier New" pitchFamily="34" charset="0"/>
                <a:ea typeface="Courier New" pitchFamily="34" charset="-122"/>
                <a:cs typeface="Courier New" pitchFamily="34" charset="-120"/>
              </a:rPr>
              <a:t> hashlib</a:t>
            </a:r>
            <a:endParaRPr lang="en-US" sz="780" dirty="0"/>
          </a:p>
          <a:p>
            <a:pPr indent="0" marL="0">
              <a:buNone/>
            </a:pPr>
            <a:r>
              <a:rPr lang="en-US" sz="780" b="1" dirty="0">
                <a:solidFill>
                  <a:srgbClr val="F2A860"/>
                </a:solidFill>
                <a:latin typeface="Courier New" pitchFamily="34" charset="0"/>
                <a:ea typeface="Courier New" pitchFamily="34" charset="-122"/>
                <a:cs typeface="Courier New" pitchFamily="34" charset="-120"/>
              </a:rPr>
              <a:t>def</a:t>
            </a:r>
            <a:pPr indent="0" marL="0">
              <a:buNone/>
            </a:pPr>
            <a:r>
              <a:rPr lang="en-US" sz="780" dirty="0">
                <a:solidFill>
                  <a:srgbClr val="E6EDF3"/>
                </a:solidFill>
                <a:latin typeface="Courier New" pitchFamily="34" charset="0"/>
                <a:ea typeface="Courier New" pitchFamily="34" charset="-122"/>
                <a:cs typeface="Courier New" pitchFamily="34" charset="-120"/>
              </a:rPr>
              <a:t> link(prev, data): </a:t>
            </a:r>
            <a:pPr indent="0" marL="0">
              <a:buNone/>
            </a:pPr>
            <a:r>
              <a:rPr lang="en-US" sz="780" b="1" dirty="0">
                <a:solidFill>
                  <a:srgbClr val="F2A860"/>
                </a:solidFill>
                <a:latin typeface="Courier New" pitchFamily="34" charset="0"/>
                <a:ea typeface="Courier New" pitchFamily="34" charset="-122"/>
                <a:cs typeface="Courier New" pitchFamily="34" charset="-120"/>
              </a:rPr>
              <a:t>return</a:t>
            </a:r>
            <a:pPr indent="0" marL="0">
              <a:buNone/>
            </a:pPr>
            <a:r>
              <a:rPr lang="en-US" sz="780" dirty="0">
                <a:solidFill>
                  <a:srgbClr val="E6EDF3"/>
                </a:solidFill>
                <a:latin typeface="Courier New" pitchFamily="34" charset="0"/>
                <a:ea typeface="Courier New" pitchFamily="34" charset="-122"/>
                <a:cs typeface="Courier New" pitchFamily="34" charset="-120"/>
              </a:rPr>
              <a:t> hashlib.sha256((prev + data).encode()).hexdigest()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data = [</a:t>
            </a:r>
            <a:pPr indent="0" marL="0">
              <a:buNone/>
            </a:pPr>
            <a:r>
              <a:rPr lang="en-US" sz="780" dirty="0">
                <a:solidFill>
                  <a:srgbClr val="9ECBFF"/>
                </a:solidFill>
                <a:latin typeface="Courier New" pitchFamily="34" charset="0"/>
                <a:ea typeface="Courier New" pitchFamily="34" charset="-122"/>
                <a:cs typeface="Courier New" pitchFamily="34" charset="-120"/>
              </a:rPr>
              <a:t>'Joe pays Alice 1'</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'Alice pays Eve 2'</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'Eve pays Joe 3'</a:t>
            </a:r>
            <a:pPr indent="0" marL="0">
              <a:buNone/>
            </a:pP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b="1" dirty="0">
                <a:solidFill>
                  <a:srgbClr val="F2A860"/>
                </a:solidFill>
                <a:latin typeface="Courier New" pitchFamily="34" charset="0"/>
                <a:ea typeface="Courier New" pitchFamily="34" charset="-122"/>
                <a:cs typeface="Courier New" pitchFamily="34" charset="-120"/>
              </a:rPr>
              <a:t>def</a:t>
            </a:r>
            <a:pPr indent="0" marL="0">
              <a:buNone/>
            </a:pPr>
            <a:r>
              <a:rPr lang="en-US" sz="780" dirty="0">
                <a:solidFill>
                  <a:srgbClr val="E6EDF3"/>
                </a:solidFill>
                <a:latin typeface="Courier New" pitchFamily="34" charset="0"/>
                <a:ea typeface="Courier New" pitchFamily="34" charset="-122"/>
                <a:cs typeface="Courier New" pitchFamily="34" charset="-120"/>
              </a:rPr>
              <a:t> build(items):</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hs, prev = [], </a:t>
            </a:r>
            <a:pPr indent="0" marL="0">
              <a:buNone/>
            </a:pPr>
            <a:r>
              <a:rPr lang="en-US" sz="780" dirty="0">
                <a:solidFill>
                  <a:srgbClr val="9ECBFF"/>
                </a:solidFill>
                <a:latin typeface="Courier New" pitchFamily="34" charset="0"/>
                <a:ea typeface="Courier New" pitchFamily="34" charset="-122"/>
                <a:cs typeface="Courier New" pitchFamily="34" charset="-120"/>
              </a:rPr>
              <a:t>'genesis'</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for</a:t>
            </a:r>
            <a:pPr indent="0" marL="0">
              <a:buNone/>
            </a:pPr>
            <a:r>
              <a:rPr lang="en-US" sz="780" dirty="0">
                <a:solidFill>
                  <a:srgbClr val="E6EDF3"/>
                </a:solidFill>
                <a:latin typeface="Courier New" pitchFamily="34" charset="0"/>
                <a:ea typeface="Courier New" pitchFamily="34" charset="-122"/>
                <a:cs typeface="Courier New" pitchFamily="34" charset="-120"/>
              </a:rPr>
              <a:t> d </a:t>
            </a:r>
            <a:pPr indent="0" marL="0">
              <a:buNone/>
            </a:pPr>
            <a:r>
              <a:rPr lang="en-US" sz="780" b="1" dirty="0">
                <a:solidFill>
                  <a:srgbClr val="F2A860"/>
                </a:solidFill>
                <a:latin typeface="Courier New" pitchFamily="34" charset="0"/>
                <a:ea typeface="Courier New" pitchFamily="34" charset="-122"/>
                <a:cs typeface="Courier New" pitchFamily="34" charset="-120"/>
              </a:rPr>
              <a:t>in</a:t>
            </a:r>
            <a:pPr indent="0" marL="0">
              <a:buNone/>
            </a:pPr>
            <a:r>
              <a:rPr lang="en-US" sz="780" dirty="0">
                <a:solidFill>
                  <a:srgbClr val="E6EDF3"/>
                </a:solidFill>
                <a:latin typeface="Courier New" pitchFamily="34" charset="0"/>
                <a:ea typeface="Courier New" pitchFamily="34" charset="-122"/>
                <a:cs typeface="Courier New" pitchFamily="34" charset="-120"/>
              </a:rPr>
              <a:t> items:</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prev = link(prev, d); hs.append(prev)</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return</a:t>
            </a:r>
            <a:pPr indent="0" marL="0">
              <a:buNone/>
            </a:pPr>
            <a:r>
              <a:rPr lang="en-US" sz="780" dirty="0">
                <a:solidFill>
                  <a:srgbClr val="E6EDF3"/>
                </a:solidFill>
                <a:latin typeface="Courier New" pitchFamily="34" charset="0"/>
                <a:ea typeface="Courier New" pitchFamily="34" charset="-122"/>
                <a:cs typeface="Courier New" pitchFamily="34" charset="-120"/>
              </a:rPr>
              <a:t> hs</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stored = build(data)</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tampered = [</a:t>
            </a:r>
            <a:pPr indent="0" marL="0">
              <a:buNone/>
            </a:pPr>
            <a:r>
              <a:rPr lang="en-US" sz="780" dirty="0">
                <a:solidFill>
                  <a:srgbClr val="9ECBFF"/>
                </a:solidFill>
                <a:latin typeface="Courier New" pitchFamily="34" charset="0"/>
                <a:ea typeface="Courier New" pitchFamily="34" charset="-122"/>
                <a:cs typeface="Courier New" pitchFamily="34" charset="-120"/>
              </a:rPr>
              <a:t>'Joe pays Alice 100'</a:t>
            </a:r>
            <a:pPr indent="0" marL="0">
              <a:buNone/>
            </a:pPr>
            <a:r>
              <a:rPr lang="en-US" sz="780" dirty="0">
                <a:solidFill>
                  <a:srgbClr val="E6EDF3"/>
                </a:solidFill>
                <a:latin typeface="Courier New" pitchFamily="34" charset="0"/>
                <a:ea typeface="Courier New" pitchFamily="34" charset="-122"/>
                <a:cs typeface="Courier New" pitchFamily="34" charset="-120"/>
              </a:rPr>
              <a:t>] + data[</a:t>
            </a:r>
            <a:pPr indent="0" marL="0">
              <a:buNone/>
            </a:pPr>
            <a:r>
              <a:rPr lang="en-US" sz="780" dirty="0">
                <a:solidFill>
                  <a:srgbClr val="FFD28A"/>
                </a:solidFill>
                <a:latin typeface="Courier New" pitchFamily="34" charset="0"/>
                <a:ea typeface="Courier New" pitchFamily="34" charset="-122"/>
                <a:cs typeface="Courier New" pitchFamily="34" charset="-120"/>
              </a:rPr>
              <a:t>1</a:t>
            </a:r>
            <a:pPr indent="0" marL="0">
              <a:buNone/>
            </a:pP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result = (build(data) == stored, build(tampered) == stored)</a:t>
            </a:r>
            <a:endParaRPr lang="en-US" sz="780" dirty="0"/>
          </a:p>
        </p:txBody>
      </p:sp>
      <p:sp>
        <p:nvSpPr>
          <p:cNvPr id="30" name="Text 28"/>
          <p:cNvSpPr txBox="1"/>
          <p:nvPr/>
        </p:nvSpPr>
        <p:spPr>
          <a:xfrm>
            <a:off x="457200" y="4544568"/>
            <a:ext cx="8229600" cy="256032"/>
          </a:xfrm>
          <a:prstGeom prst="rect">
            <a:avLst/>
          </a:prstGeom>
          <a:noFill/>
          <a:ln/>
        </p:spPr>
        <p:txBody>
          <a:bodyPr wrap="square" lIns="0" tIns="0" rIns="0" bIns="0" rtlCol="0" anchor="ctr"/>
          <a:lstStyle/>
          <a:p>
            <a:pPr indent="0" marL="0">
              <a:buNone/>
            </a:pPr>
            <a:r>
              <a:rPr lang="en-US" sz="900" b="1" dirty="0">
                <a:solidFill>
                  <a:srgbClr val="D97A14"/>
                </a:solidFill>
                <a:latin typeface="Courier New" pitchFamily="34" charset="0"/>
                <a:ea typeface="Courier New" pitchFamily="34" charset="-122"/>
                <a:cs typeface="Courier New" pitchFamily="34" charset="-120"/>
              </a:rPr>
              <a:t>result  </a:t>
            </a:r>
            <a:pPr indent="0" marL="0">
              <a:buNone/>
            </a:pPr>
            <a:r>
              <a:rPr lang="en-US" sz="900" dirty="0">
                <a:solidFill>
                  <a:srgbClr val="2B2622"/>
                </a:solidFill>
                <a:latin typeface="Courier New" pitchFamily="34" charset="0"/>
                <a:ea typeface="Courier New" pitchFamily="34" charset="-122"/>
                <a:cs typeface="Courier New" pitchFamily="34" charset="-120"/>
              </a:rPr>
              <a:t>(True, False)</a:t>
            </a:r>
            <a:endParaRPr lang="en-US" sz="900" dirty="0"/>
          </a:p>
        </p:txBody>
      </p:sp>
      <p:sp>
        <p:nvSpPr>
          <p:cNvPr id="31" name="Text 29"/>
          <p:cNvSpPr txBox="1"/>
          <p:nvPr/>
        </p:nvSpPr>
        <p:spPr>
          <a:xfrm>
            <a:off x="457200" y="4800600"/>
            <a:ext cx="822960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Blockchain, lines 1 to 11 of 11, run under Python 3.14.4</a:t>
            </a:r>
            <a:endParaRPr lang="en-US" sz="9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History becomes expensive to rewrite, cheap to verify</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42</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toolbox under the hood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vocabularies the whole book leans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Four vocabularies feed the chapters ahead: the cryptography that signs, the chain that remembers, the computing it all runs on, and the threats it must survive.</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Foundations</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Cryptography</a:t>
            </a:r>
            <a:endParaRPr lang="en-US" sz="120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Hash Function  ·  Digital Signature  ·  Public Key Cryptography  ·  Private Key  ·  Entropy  ·  Checksum  ·  + 2 more</a:t>
            </a:r>
            <a:endParaRPr lang="en-US" sz="1100" dirty="0"/>
          </a:p>
        </p:txBody>
      </p:sp>
      <p:sp>
        <p:nvSpPr>
          <p:cNvPr id="15" name="Shape 13"/>
          <p:cNvSpPr/>
          <p:nvPr/>
        </p:nvSpPr>
        <p:spPr>
          <a:xfrm flipV="1">
            <a:off x="1783080" y="2566416"/>
            <a:ext cx="502920" cy="423672"/>
          </a:xfrm>
          <a:prstGeom prst="line">
            <a:avLst/>
          </a:prstGeom>
          <a:noFill/>
          <a:ln w="13970">
            <a:solidFill>
              <a:srgbClr val="C9BFAE"/>
            </a:solidFill>
            <a:prstDash val="solid"/>
          </a:ln>
        </p:spPr>
      </p:sp>
      <p:sp>
        <p:nvSpPr>
          <p:cNvPr id="16" name="Shape 14"/>
          <p:cNvSpPr/>
          <p:nvPr/>
        </p:nvSpPr>
        <p:spPr>
          <a:xfrm>
            <a:off x="2331720" y="2328672"/>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2328672"/>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Chain</a:t>
            </a:r>
            <a:endParaRPr lang="en-US" sz="1200" dirty="0"/>
          </a:p>
        </p:txBody>
      </p:sp>
      <p:sp>
        <p:nvSpPr>
          <p:cNvPr id="18" name="Shape 16"/>
          <p:cNvSpPr/>
          <p:nvPr/>
        </p:nvSpPr>
        <p:spPr>
          <a:xfrm>
            <a:off x="4023360" y="2566416"/>
            <a:ext cx="274320" cy="0"/>
          </a:xfrm>
          <a:prstGeom prst="line">
            <a:avLst/>
          </a:prstGeom>
          <a:noFill/>
          <a:ln w="13970">
            <a:solidFill>
              <a:srgbClr val="C9BFAE"/>
            </a:solidFill>
            <a:prstDash val="solid"/>
          </a:ln>
        </p:spPr>
      </p:sp>
      <p:sp>
        <p:nvSpPr>
          <p:cNvPr id="19" name="Shape 17"/>
          <p:cNvSpPr/>
          <p:nvPr/>
        </p:nvSpPr>
        <p:spPr>
          <a:xfrm>
            <a:off x="4297680" y="2346960"/>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346960"/>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Block  ·  Blockchain  ·  Timestamp  ·  Node</a:t>
            </a:r>
            <a:endParaRPr lang="en-US" sz="1100" dirty="0"/>
          </a:p>
        </p:txBody>
      </p:sp>
      <p:sp>
        <p:nvSpPr>
          <p:cNvPr id="21" name="Shape 19"/>
          <p:cNvSpPr/>
          <p:nvPr/>
        </p:nvSpPr>
        <p:spPr>
          <a:xfrm>
            <a:off x="1783080" y="2990088"/>
            <a:ext cx="502920" cy="423672"/>
          </a:xfrm>
          <a:prstGeom prst="line">
            <a:avLst/>
          </a:prstGeom>
          <a:noFill/>
          <a:ln w="13970">
            <a:solidFill>
              <a:srgbClr val="C9BFAE"/>
            </a:solidFill>
            <a:prstDash val="solid"/>
          </a:ln>
        </p:spPr>
      </p:sp>
      <p:sp>
        <p:nvSpPr>
          <p:cNvPr id="22" name="Shape 20"/>
          <p:cNvSpPr/>
          <p:nvPr/>
        </p:nvSpPr>
        <p:spPr>
          <a:xfrm>
            <a:off x="2331720" y="3176016"/>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3176016"/>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Computing</a:t>
            </a:r>
            <a:endParaRPr lang="en-US" sz="1200" dirty="0"/>
          </a:p>
        </p:txBody>
      </p:sp>
      <p:sp>
        <p:nvSpPr>
          <p:cNvPr id="24" name="Shape 22"/>
          <p:cNvSpPr/>
          <p:nvPr/>
        </p:nvSpPr>
        <p:spPr>
          <a:xfrm>
            <a:off x="4023360" y="3413760"/>
            <a:ext cx="274320" cy="0"/>
          </a:xfrm>
          <a:prstGeom prst="line">
            <a:avLst/>
          </a:prstGeom>
          <a:noFill/>
          <a:ln w="13970">
            <a:solidFill>
              <a:srgbClr val="C9BFAE"/>
            </a:solidFill>
            <a:prstDash val="solid"/>
          </a:ln>
        </p:spPr>
      </p:sp>
      <p:sp>
        <p:nvSpPr>
          <p:cNvPr id="25" name="Shape 23"/>
          <p:cNvSpPr/>
          <p:nvPr/>
        </p:nvSpPr>
        <p:spPr>
          <a:xfrm>
            <a:off x="4297680" y="3194304"/>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3194304"/>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Internet  ·  Protocol  ·  HTTP  ·  Web Browser  ·  Server  ·  API  ·  + 6 more</a:t>
            </a:r>
            <a:endParaRPr lang="en-US" sz="1100" dirty="0"/>
          </a:p>
        </p:txBody>
      </p:sp>
      <p:sp>
        <p:nvSpPr>
          <p:cNvPr id="27" name="Shape 25"/>
          <p:cNvSpPr/>
          <p:nvPr/>
        </p:nvSpPr>
        <p:spPr>
          <a:xfrm>
            <a:off x="1783080" y="2990088"/>
            <a:ext cx="502920" cy="1271016"/>
          </a:xfrm>
          <a:prstGeom prst="line">
            <a:avLst/>
          </a:prstGeom>
          <a:noFill/>
          <a:ln w="13970">
            <a:solidFill>
              <a:srgbClr val="C9BFAE"/>
            </a:solidFill>
            <a:prstDash val="solid"/>
          </a:ln>
        </p:spPr>
      </p:sp>
      <p:sp>
        <p:nvSpPr>
          <p:cNvPr id="28" name="Shape 26"/>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Threats</a:t>
            </a:r>
            <a:endParaRPr lang="en-US" sz="1200" dirty="0"/>
          </a:p>
        </p:txBody>
      </p:sp>
      <p:sp>
        <p:nvSpPr>
          <p:cNvPr id="30" name="Shape 28"/>
          <p:cNvSpPr/>
          <p:nvPr/>
        </p:nvSpPr>
        <p:spPr>
          <a:xfrm>
            <a:off x="4023360" y="4261104"/>
            <a:ext cx="274320" cy="0"/>
          </a:xfrm>
          <a:prstGeom prst="line">
            <a:avLst/>
          </a:prstGeom>
          <a:noFill/>
          <a:ln w="13970">
            <a:solidFill>
              <a:srgbClr val="C9BFAE"/>
            </a:solidFill>
            <a:prstDash val="solid"/>
          </a:ln>
        </p:spPr>
      </p:sp>
      <p:sp>
        <p:nvSpPr>
          <p:cNvPr id="31" name="Shape 29"/>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Malware  ·  Phishing</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term here gets its own page section</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42</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kind of thing is Bitcoin?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stated characteristics, and the architecture behind them</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first row makes promises to users; the second names the machinery that keeps them.</a:t>
            </a:r>
            <a:endParaRPr lang="en-US" sz="1250" dirty="0"/>
          </a:p>
        </p:txBody>
      </p:sp>
      <p:sp>
        <p:nvSpPr>
          <p:cNvPr id="7" name="Text 5"/>
          <p:cNvSpPr txBox="1"/>
          <p:nvPr/>
        </p:nvSpPr>
        <p:spPr>
          <a:xfrm>
            <a:off x="457200" y="1481328"/>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Characteristics - each one a design choice</a:t>
            </a:r>
            <a:endParaRPr lang="en-US" sz="1500" dirty="0"/>
          </a:p>
        </p:txBody>
      </p:sp>
      <p:sp>
        <p:nvSpPr>
          <p:cNvPr id="8" name="Shape 6"/>
          <p:cNvSpPr/>
          <p:nvPr/>
        </p:nvSpPr>
        <p:spPr>
          <a:xfrm>
            <a:off x="457200" y="1920240"/>
            <a:ext cx="1414577" cy="530352"/>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457200" y="1920240"/>
            <a:ext cx="141457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Virtual</a:t>
            </a:r>
            <a:endParaRPr lang="en-US" sz="1400" dirty="0"/>
          </a:p>
        </p:txBody>
      </p:sp>
      <p:sp>
        <p:nvSpPr>
          <p:cNvPr id="10" name="Shape 8"/>
          <p:cNvSpPr/>
          <p:nvPr/>
        </p:nvSpPr>
        <p:spPr>
          <a:xfrm>
            <a:off x="2072945" y="1920240"/>
            <a:ext cx="1856232" cy="530352"/>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2072945" y="1920240"/>
            <a:ext cx="1856232"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Borderless</a:t>
            </a:r>
            <a:endParaRPr lang="en-US" sz="1400" dirty="0"/>
          </a:p>
        </p:txBody>
      </p:sp>
      <p:sp>
        <p:nvSpPr>
          <p:cNvPr id="12" name="Shape 10"/>
          <p:cNvSpPr/>
          <p:nvPr/>
        </p:nvSpPr>
        <p:spPr>
          <a:xfrm>
            <a:off x="4130345" y="1920240"/>
            <a:ext cx="2297887" cy="530352"/>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130345" y="1920240"/>
            <a:ext cx="229788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Decentralized</a:t>
            </a:r>
            <a:endParaRPr lang="en-US" sz="1400" dirty="0"/>
          </a:p>
        </p:txBody>
      </p:sp>
      <p:sp>
        <p:nvSpPr>
          <p:cNvPr id="14" name="Shape 12"/>
          <p:cNvSpPr/>
          <p:nvPr/>
        </p:nvSpPr>
        <p:spPr>
          <a:xfrm>
            <a:off x="6629400" y="1920240"/>
            <a:ext cx="1267358" cy="530352"/>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6629400" y="1920240"/>
            <a:ext cx="1267358"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Robust</a:t>
            </a:r>
            <a:endParaRPr lang="en-US" sz="1400" dirty="0"/>
          </a:p>
        </p:txBody>
      </p:sp>
      <p:sp>
        <p:nvSpPr>
          <p:cNvPr id="16" name="Text 14"/>
          <p:cNvSpPr txBox="1"/>
          <p:nvPr/>
        </p:nvSpPr>
        <p:spPr>
          <a:xfrm>
            <a:off x="457200" y="2788920"/>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The architecture that delivers them</a:t>
            </a:r>
            <a:endParaRPr lang="en-US" sz="1500" dirty="0"/>
          </a:p>
        </p:txBody>
      </p:sp>
      <p:sp>
        <p:nvSpPr>
          <p:cNvPr id="17" name="Shape 15"/>
          <p:cNvSpPr/>
          <p:nvPr/>
        </p:nvSpPr>
        <p:spPr>
          <a:xfrm>
            <a:off x="457200" y="3200400"/>
            <a:ext cx="3475634" cy="530352"/>
          </a:xfrm>
          <a:prstGeom prst="roundRect">
            <a:avLst>
              <a:gd name="adj" fmla="val 50000"/>
            </a:avLst>
          </a:prstGeom>
          <a:solidFill>
            <a:srgbClr val="F2ECE1"/>
          </a:solidFill>
          <a:ln w="12700">
            <a:solidFill>
              <a:srgbClr val="D97A14"/>
            </a:solidFill>
            <a:prstDash val="solid"/>
          </a:ln>
        </p:spPr>
      </p:sp>
      <p:sp>
        <p:nvSpPr>
          <p:cNvPr id="18" name="Text 16"/>
          <p:cNvSpPr txBox="1"/>
          <p:nvPr/>
        </p:nvSpPr>
        <p:spPr>
          <a:xfrm>
            <a:off x="457200" y="3200400"/>
            <a:ext cx="3475634"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Peer To Peer Protocol</a:t>
            </a:r>
            <a:endParaRPr lang="en-US" sz="1400" dirty="0"/>
          </a:p>
        </p:txBody>
      </p:sp>
      <p:sp>
        <p:nvSpPr>
          <p:cNvPr id="19" name="Shape 17"/>
          <p:cNvSpPr/>
          <p:nvPr/>
        </p:nvSpPr>
        <p:spPr>
          <a:xfrm>
            <a:off x="4134002" y="3200400"/>
            <a:ext cx="2445106" cy="530352"/>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4134002" y="3200400"/>
            <a:ext cx="2445106"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Public Journal</a:t>
            </a:r>
            <a:endParaRPr lang="en-US" sz="1400" dirty="0"/>
          </a:p>
        </p:txBody>
      </p:sp>
      <p:sp>
        <p:nvSpPr>
          <p:cNvPr id="21" name="Shape 19"/>
          <p:cNvSpPr/>
          <p:nvPr/>
        </p:nvSpPr>
        <p:spPr>
          <a:xfrm>
            <a:off x="457200" y="3895344"/>
            <a:ext cx="3033979" cy="530352"/>
          </a:xfrm>
          <a:prstGeom prst="roundRect">
            <a:avLst>
              <a:gd name="adj" fmla="val 50000"/>
            </a:avLst>
          </a:prstGeom>
          <a:solidFill>
            <a:srgbClr val="F2ECE1"/>
          </a:solidFill>
          <a:ln w="12700">
            <a:solidFill>
              <a:srgbClr val="D97A14"/>
            </a:solidFill>
            <a:prstDash val="solid"/>
          </a:ln>
        </p:spPr>
      </p:sp>
      <p:sp>
        <p:nvSpPr>
          <p:cNvPr id="22" name="Text 20"/>
          <p:cNvSpPr txBox="1"/>
          <p:nvPr/>
        </p:nvSpPr>
        <p:spPr>
          <a:xfrm>
            <a:off x="457200" y="3895344"/>
            <a:ext cx="3033979"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Consensus Rule Set</a:t>
            </a:r>
            <a:endParaRPr lang="en-US" sz="14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adjective is engineered, not advertised</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42</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Beyond the base layer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Payment channels route through a network - chapter 14's subject</a:t>
            </a:r>
            <a:endParaRPr lang="en-US" sz="1300" dirty="0"/>
          </a:p>
        </p:txBody>
      </p:sp>
      <p:sp>
        <p:nvSpPr>
          <p:cNvPr id="6" name="Shape 4"/>
          <p:cNvSpPr/>
          <p:nvPr/>
        </p:nvSpPr>
        <p:spPr>
          <a:xfrm>
            <a:off x="457200" y="1517904"/>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5179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481328"/>
            <a:ext cx="2679192" cy="37490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Channels: Alice-Bob, Bob-Carol, Carol-Dave</a:t>
            </a:r>
            <a:endParaRPr lang="en-US" sz="1000" dirty="0"/>
          </a:p>
        </p:txBody>
      </p:sp>
      <p:sp>
        <p:nvSpPr>
          <p:cNvPr id="9" name="Shape 7"/>
          <p:cNvSpPr/>
          <p:nvPr/>
        </p:nvSpPr>
        <p:spPr>
          <a:xfrm>
            <a:off x="457200" y="192938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293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92808"/>
            <a:ext cx="2679192" cy="37490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Alice pays Dave with no direct channel</a:t>
            </a:r>
            <a:endParaRPr lang="en-US" sz="1000" dirty="0"/>
          </a:p>
        </p:txBody>
      </p:sp>
      <p:sp>
        <p:nvSpPr>
          <p:cNvPr id="12" name="Shape 10"/>
          <p:cNvSpPr/>
          <p:nvPr/>
        </p:nvSpPr>
        <p:spPr>
          <a:xfrm>
            <a:off x="457200" y="234086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408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04288"/>
            <a:ext cx="2679192" cy="37490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A path is found: 3 hops, chain untouched</a:t>
            </a:r>
            <a:endParaRPr lang="en-US" sz="1000" dirty="0"/>
          </a:p>
        </p:txBody>
      </p:sp>
      <p:sp>
        <p:nvSpPr>
          <p:cNvPr id="15" name="Shape 13"/>
          <p:cNvSpPr/>
          <p:nvPr/>
        </p:nvSpPr>
        <p:spPr>
          <a:xfrm>
            <a:off x="4453128" y="1938528"/>
            <a:ext cx="902208" cy="0"/>
          </a:xfrm>
          <a:prstGeom prst="line">
            <a:avLst/>
          </a:prstGeom>
          <a:noFill/>
          <a:ln w="28575">
            <a:solidFill>
              <a:srgbClr val="D97A14"/>
            </a:solidFill>
            <a:prstDash val="solid"/>
            <a:tailEnd type="triangle"/>
          </a:ln>
        </p:spPr>
      </p:sp>
      <p:sp>
        <p:nvSpPr>
          <p:cNvPr id="16" name="Shape 14"/>
          <p:cNvSpPr/>
          <p:nvPr/>
        </p:nvSpPr>
        <p:spPr>
          <a:xfrm>
            <a:off x="4032504" y="1719072"/>
            <a:ext cx="438912" cy="438912"/>
          </a:xfrm>
          <a:prstGeom prst="ellipse">
            <a:avLst/>
          </a:prstGeom>
          <a:solidFill>
            <a:srgbClr val="D97A14"/>
          </a:solidFill>
          <a:ln w="19050">
            <a:solidFill>
              <a:srgbClr val="FFFFFF"/>
            </a:solidFill>
            <a:prstDash val="solid"/>
          </a:ln>
        </p:spPr>
      </p:sp>
      <p:sp>
        <p:nvSpPr>
          <p:cNvPr id="17" name="Text 15"/>
          <p:cNvSpPr txBox="1"/>
          <p:nvPr/>
        </p:nvSpPr>
        <p:spPr>
          <a:xfrm>
            <a:off x="3703320" y="2212848"/>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Alice</a:t>
            </a:r>
            <a:endParaRPr lang="en-US" sz="1050" dirty="0"/>
          </a:p>
        </p:txBody>
      </p:sp>
      <p:sp>
        <p:nvSpPr>
          <p:cNvPr id="18" name="Shape 16"/>
          <p:cNvSpPr/>
          <p:nvPr/>
        </p:nvSpPr>
        <p:spPr>
          <a:xfrm>
            <a:off x="5794248" y="1938528"/>
            <a:ext cx="902208" cy="0"/>
          </a:xfrm>
          <a:prstGeom prst="line">
            <a:avLst/>
          </a:prstGeom>
          <a:noFill/>
          <a:ln w="28575">
            <a:solidFill>
              <a:srgbClr val="D97A14"/>
            </a:solidFill>
            <a:prstDash val="solid"/>
            <a:tailEnd type="triangle"/>
          </a:ln>
        </p:spPr>
      </p:sp>
      <p:sp>
        <p:nvSpPr>
          <p:cNvPr id="19" name="Shape 17"/>
          <p:cNvSpPr/>
          <p:nvPr/>
        </p:nvSpPr>
        <p:spPr>
          <a:xfrm>
            <a:off x="5373624" y="1719072"/>
            <a:ext cx="438912" cy="438912"/>
          </a:xfrm>
          <a:prstGeom prst="ellipse">
            <a:avLst/>
          </a:prstGeom>
          <a:solidFill>
            <a:srgbClr val="2F6D62"/>
          </a:solidFill>
          <a:ln w="19050">
            <a:solidFill>
              <a:srgbClr val="FFFFFF"/>
            </a:solidFill>
            <a:prstDash val="solid"/>
          </a:ln>
        </p:spPr>
      </p:sp>
      <p:sp>
        <p:nvSpPr>
          <p:cNvPr id="20" name="Text 18"/>
          <p:cNvSpPr txBox="1"/>
          <p:nvPr/>
        </p:nvSpPr>
        <p:spPr>
          <a:xfrm>
            <a:off x="5044440" y="2212848"/>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Bob</a:t>
            </a:r>
            <a:endParaRPr lang="en-US" sz="1050" dirty="0"/>
          </a:p>
        </p:txBody>
      </p:sp>
      <p:sp>
        <p:nvSpPr>
          <p:cNvPr id="21" name="Shape 19"/>
          <p:cNvSpPr/>
          <p:nvPr/>
        </p:nvSpPr>
        <p:spPr>
          <a:xfrm>
            <a:off x="7135368" y="1938528"/>
            <a:ext cx="902208" cy="0"/>
          </a:xfrm>
          <a:prstGeom prst="line">
            <a:avLst/>
          </a:prstGeom>
          <a:noFill/>
          <a:ln w="28575">
            <a:solidFill>
              <a:srgbClr val="D97A14"/>
            </a:solidFill>
            <a:prstDash val="solid"/>
            <a:tailEnd type="triangle"/>
          </a:ln>
        </p:spPr>
      </p:sp>
      <p:sp>
        <p:nvSpPr>
          <p:cNvPr id="22" name="Shape 20"/>
          <p:cNvSpPr/>
          <p:nvPr/>
        </p:nvSpPr>
        <p:spPr>
          <a:xfrm>
            <a:off x="6714744" y="1719072"/>
            <a:ext cx="438912" cy="438912"/>
          </a:xfrm>
          <a:prstGeom prst="ellipse">
            <a:avLst/>
          </a:prstGeom>
          <a:solidFill>
            <a:srgbClr val="2F6D62"/>
          </a:solidFill>
          <a:ln w="19050">
            <a:solidFill>
              <a:srgbClr val="FFFFFF"/>
            </a:solidFill>
            <a:prstDash val="solid"/>
          </a:ln>
        </p:spPr>
      </p:sp>
      <p:sp>
        <p:nvSpPr>
          <p:cNvPr id="23" name="Text 21"/>
          <p:cNvSpPr txBox="1"/>
          <p:nvPr/>
        </p:nvSpPr>
        <p:spPr>
          <a:xfrm>
            <a:off x="6385560" y="2212848"/>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Carol</a:t>
            </a:r>
            <a:endParaRPr lang="en-US" sz="1050" dirty="0"/>
          </a:p>
        </p:txBody>
      </p:sp>
      <p:sp>
        <p:nvSpPr>
          <p:cNvPr id="24" name="Shape 22"/>
          <p:cNvSpPr/>
          <p:nvPr/>
        </p:nvSpPr>
        <p:spPr>
          <a:xfrm>
            <a:off x="8055864" y="1719072"/>
            <a:ext cx="438912" cy="438912"/>
          </a:xfrm>
          <a:prstGeom prst="ellipse">
            <a:avLst/>
          </a:prstGeom>
          <a:solidFill>
            <a:srgbClr val="D97A14"/>
          </a:solidFill>
          <a:ln w="19050">
            <a:solidFill>
              <a:srgbClr val="FFFFFF"/>
            </a:solidFill>
            <a:prstDash val="solid"/>
          </a:ln>
        </p:spPr>
      </p:sp>
      <p:sp>
        <p:nvSpPr>
          <p:cNvPr id="25" name="Text 23"/>
          <p:cNvSpPr txBox="1"/>
          <p:nvPr/>
        </p:nvSpPr>
        <p:spPr>
          <a:xfrm>
            <a:off x="7726680" y="2212848"/>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Dave</a:t>
            </a:r>
            <a:endParaRPr lang="en-US" sz="1050" dirty="0"/>
          </a:p>
        </p:txBody>
      </p:sp>
      <p:sp>
        <p:nvSpPr>
          <p:cNvPr id="26" name="Text 24"/>
          <p:cNvSpPr txBox="1"/>
          <p:nvPr/>
        </p:nvSpPr>
        <p:spPr>
          <a:xfrm>
            <a:off x="3931920" y="2596896"/>
            <a:ext cx="4663440" cy="310896"/>
          </a:xfrm>
          <a:prstGeom prst="rect">
            <a:avLst/>
          </a:prstGeom>
          <a:noFill/>
          <a:ln/>
        </p:spPr>
        <p:txBody>
          <a:bodyPr wrap="square" lIns="0" tIns="0" rIns="0" bIns="0" rtlCol="0" anchor="ctr"/>
          <a:lstStyle/>
          <a:p>
            <a:pPr algn="ctr" indent="0" marL="0">
              <a:buNone/>
            </a:pPr>
            <a:r>
              <a:rPr lang="en-US" sz="1100" i="1" dirty="0">
                <a:solidFill>
                  <a:srgbClr val="6E655C"/>
                </a:solidFill>
                <a:latin typeface="Calibri" pitchFamily="34" charset="0"/>
                <a:ea typeface="Calibri" pitchFamily="34" charset="-122"/>
                <a:cs typeface="Calibri" pitchFamily="34" charset="-120"/>
              </a:rPr>
              <a:t>3 hops; no direct channel</a:t>
            </a:r>
            <a:endParaRPr lang="en-US" sz="1100" dirty="0"/>
          </a:p>
        </p:txBody>
      </p:sp>
      <p:sp>
        <p:nvSpPr>
          <p:cNvPr id="27" name="Text 25"/>
          <p:cNvSpPr txBox="1"/>
          <p:nvPr/>
        </p:nvSpPr>
        <p:spPr>
          <a:xfrm>
            <a:off x="457200" y="25603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exact program, line by line</a:t>
            </a:r>
            <a:endParaRPr lang="en-US" sz="1150" dirty="0"/>
          </a:p>
        </p:txBody>
      </p:sp>
      <p:sp>
        <p:nvSpPr>
          <p:cNvPr id="28" name="Shape 26"/>
          <p:cNvSpPr/>
          <p:nvPr/>
        </p:nvSpPr>
        <p:spPr>
          <a:xfrm>
            <a:off x="457200" y="2834640"/>
            <a:ext cx="8229600" cy="1691640"/>
          </a:xfrm>
          <a:prstGeom prst="roundRect">
            <a:avLst>
              <a:gd name="adj" fmla="val 5405"/>
            </a:avLst>
          </a:prstGeom>
          <a:solidFill>
            <a:srgbClr val="23272E"/>
          </a:solidFill>
          <a:ln w="12700">
            <a:solidFill>
              <a:srgbClr val="23272E"/>
            </a:solidFill>
            <a:prstDash val="solid"/>
          </a:ln>
        </p:spPr>
      </p:sp>
      <p:sp>
        <p:nvSpPr>
          <p:cNvPr id="29" name="Text 27"/>
          <p:cNvSpPr txBox="1"/>
          <p:nvPr/>
        </p:nvSpPr>
        <p:spPr>
          <a:xfrm>
            <a:off x="640080" y="2953512"/>
            <a:ext cx="7863840" cy="1453896"/>
          </a:xfrm>
          <a:prstGeom prst="rect">
            <a:avLst/>
          </a:prstGeom>
          <a:noFill/>
          <a:ln/>
        </p:spPr>
        <p:txBody>
          <a:bodyPr wrap="square" lIns="0" tIns="0" rIns="0" bIns="0" rtlCol="0" anchor="t"/>
          <a:lstStyle/>
          <a:p>
            <a:pPr indent="0" marL="0">
              <a:buNone/>
            </a:pPr>
            <a:r>
              <a:rPr lang="en-US" sz="780" dirty="0">
                <a:solidFill>
                  <a:srgbClr val="E6EDF3"/>
                </a:solidFill>
                <a:latin typeface="Courier New" pitchFamily="34" charset="0"/>
                <a:ea typeface="Courier New" pitchFamily="34" charset="-122"/>
                <a:cs typeface="Courier New" pitchFamily="34" charset="-120"/>
              </a:rPr>
              <a:t>channels = {(</a:t>
            </a:r>
            <a:pPr indent="0" marL="0">
              <a:buNone/>
            </a:pPr>
            <a:r>
              <a:rPr lang="en-US" sz="780" dirty="0">
                <a:solidFill>
                  <a:srgbClr val="9ECBFF"/>
                </a:solidFill>
                <a:latin typeface="Courier New" pitchFamily="34" charset="0"/>
                <a:ea typeface="Courier New" pitchFamily="34" charset="-122"/>
                <a:cs typeface="Courier New" pitchFamily="34" charset="-120"/>
              </a:rPr>
              <a:t>'Alice'</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'Bob'</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'Bob'</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'Carol'</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'Carol'</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'Dave'</a:t>
            </a:r>
            <a:pPr indent="0" marL="0">
              <a:buNone/>
            </a:pP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nbr = {}</a:t>
            </a:r>
            <a:endParaRPr lang="en-US" sz="780" dirty="0"/>
          </a:p>
          <a:p>
            <a:pPr indent="0" marL="0">
              <a:buNone/>
            </a:pPr>
            <a:r>
              <a:rPr lang="en-US" sz="780" b="1" dirty="0">
                <a:solidFill>
                  <a:srgbClr val="F2A860"/>
                </a:solidFill>
                <a:latin typeface="Courier New" pitchFamily="34" charset="0"/>
                <a:ea typeface="Courier New" pitchFamily="34" charset="-122"/>
                <a:cs typeface="Courier New" pitchFamily="34" charset="-120"/>
              </a:rPr>
              <a:t>for</a:t>
            </a:r>
            <a:pPr indent="0" marL="0">
              <a:buNone/>
            </a:pPr>
            <a:r>
              <a:rPr lang="en-US" sz="780" dirty="0">
                <a:solidFill>
                  <a:srgbClr val="E6EDF3"/>
                </a:solidFill>
                <a:latin typeface="Courier New" pitchFamily="34" charset="0"/>
                <a:ea typeface="Courier New" pitchFamily="34" charset="-122"/>
                <a:cs typeface="Courier New" pitchFamily="34" charset="-120"/>
              </a:rPr>
              <a:t> x, y </a:t>
            </a:r>
            <a:pPr indent="0" marL="0">
              <a:buNone/>
            </a:pPr>
            <a:r>
              <a:rPr lang="en-US" sz="780" b="1" dirty="0">
                <a:solidFill>
                  <a:srgbClr val="F2A860"/>
                </a:solidFill>
                <a:latin typeface="Courier New" pitchFamily="34" charset="0"/>
                <a:ea typeface="Courier New" pitchFamily="34" charset="-122"/>
                <a:cs typeface="Courier New" pitchFamily="34" charset="-120"/>
              </a:rPr>
              <a:t>in</a:t>
            </a:r>
            <a:pPr indent="0" marL="0">
              <a:buNone/>
            </a:pPr>
            <a:r>
              <a:rPr lang="en-US" sz="780" dirty="0">
                <a:solidFill>
                  <a:srgbClr val="E6EDF3"/>
                </a:solidFill>
                <a:latin typeface="Courier New" pitchFamily="34" charset="0"/>
                <a:ea typeface="Courier New" pitchFamily="34" charset="-122"/>
                <a:cs typeface="Courier New" pitchFamily="34" charset="-120"/>
              </a:rPr>
              <a:t> channels: nbr.setdefault(x, []).append(y); nbr.setdefault(y, []).append(x)</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path, frontier = {</a:t>
            </a:r>
            <a:pPr indent="0" marL="0">
              <a:buNone/>
            </a:pPr>
            <a:r>
              <a:rPr lang="en-US" sz="780" dirty="0">
                <a:solidFill>
                  <a:srgbClr val="9ECBFF"/>
                </a:solidFill>
                <a:latin typeface="Courier New" pitchFamily="34" charset="0"/>
                <a:ea typeface="Courier New" pitchFamily="34" charset="-122"/>
                <a:cs typeface="Courier New" pitchFamily="34" charset="-120"/>
              </a:rPr>
              <a:t>'Alice'</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'Alice'</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'Alice'</a:t>
            </a:r>
            <a:pPr indent="0" marL="0">
              <a:buNone/>
            </a:pP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b="1" dirty="0">
                <a:solidFill>
                  <a:srgbClr val="F2A860"/>
                </a:solidFill>
                <a:latin typeface="Courier New" pitchFamily="34" charset="0"/>
                <a:ea typeface="Courier New" pitchFamily="34" charset="-122"/>
                <a:cs typeface="Courier New" pitchFamily="34" charset="-120"/>
              </a:rPr>
              <a:t>while</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'Dave'</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not</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in</a:t>
            </a:r>
            <a:pPr indent="0" marL="0">
              <a:buNone/>
            </a:pPr>
            <a:r>
              <a:rPr lang="en-US" sz="780" dirty="0">
                <a:solidFill>
                  <a:srgbClr val="E6EDF3"/>
                </a:solidFill>
                <a:latin typeface="Courier New" pitchFamily="34" charset="0"/>
                <a:ea typeface="Courier New" pitchFamily="34" charset="-122"/>
                <a:cs typeface="Courier New" pitchFamily="34" charset="-120"/>
              </a:rPr>
              <a:t> path:</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nxt = []</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for</a:t>
            </a:r>
            <a:pPr indent="0" marL="0">
              <a:buNone/>
            </a:pPr>
            <a:r>
              <a:rPr lang="en-US" sz="780" dirty="0">
                <a:solidFill>
                  <a:srgbClr val="E6EDF3"/>
                </a:solidFill>
                <a:latin typeface="Courier New" pitchFamily="34" charset="0"/>
                <a:ea typeface="Courier New" pitchFamily="34" charset="-122"/>
                <a:cs typeface="Courier New" pitchFamily="34" charset="-120"/>
              </a:rPr>
              <a:t> x </a:t>
            </a:r>
            <a:pPr indent="0" marL="0">
              <a:buNone/>
            </a:pPr>
            <a:r>
              <a:rPr lang="en-US" sz="780" b="1" dirty="0">
                <a:solidFill>
                  <a:srgbClr val="F2A860"/>
                </a:solidFill>
                <a:latin typeface="Courier New" pitchFamily="34" charset="0"/>
                <a:ea typeface="Courier New" pitchFamily="34" charset="-122"/>
                <a:cs typeface="Courier New" pitchFamily="34" charset="-120"/>
              </a:rPr>
              <a:t>in</a:t>
            </a:r>
            <a:pPr indent="0" marL="0">
              <a:buNone/>
            </a:pPr>
            <a:r>
              <a:rPr lang="en-US" sz="780" dirty="0">
                <a:solidFill>
                  <a:srgbClr val="E6EDF3"/>
                </a:solidFill>
                <a:latin typeface="Courier New" pitchFamily="34" charset="0"/>
                <a:ea typeface="Courier New" pitchFamily="34" charset="-122"/>
                <a:cs typeface="Courier New" pitchFamily="34" charset="-120"/>
              </a:rPr>
              <a:t> frontier:</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for</a:t>
            </a:r>
            <a:pPr indent="0" marL="0">
              <a:buNone/>
            </a:pPr>
            <a:r>
              <a:rPr lang="en-US" sz="780" dirty="0">
                <a:solidFill>
                  <a:srgbClr val="E6EDF3"/>
                </a:solidFill>
                <a:latin typeface="Courier New" pitchFamily="34" charset="0"/>
                <a:ea typeface="Courier New" pitchFamily="34" charset="-122"/>
                <a:cs typeface="Courier New" pitchFamily="34" charset="-120"/>
              </a:rPr>
              <a:t> y </a:t>
            </a:r>
            <a:pPr indent="0" marL="0">
              <a:buNone/>
            </a:pPr>
            <a:r>
              <a:rPr lang="en-US" sz="780" b="1" dirty="0">
                <a:solidFill>
                  <a:srgbClr val="F2A860"/>
                </a:solidFill>
                <a:latin typeface="Courier New" pitchFamily="34" charset="0"/>
                <a:ea typeface="Courier New" pitchFamily="34" charset="-122"/>
                <a:cs typeface="Courier New" pitchFamily="34" charset="-120"/>
              </a:rPr>
              <a:t>in</a:t>
            </a:r>
            <a:pPr indent="0" marL="0">
              <a:buNone/>
            </a:pPr>
            <a:r>
              <a:rPr lang="en-US" sz="780" dirty="0">
                <a:solidFill>
                  <a:srgbClr val="E6EDF3"/>
                </a:solidFill>
                <a:latin typeface="Courier New" pitchFamily="34" charset="0"/>
                <a:ea typeface="Courier New" pitchFamily="34" charset="-122"/>
                <a:cs typeface="Courier New" pitchFamily="34" charset="-120"/>
              </a:rPr>
              <a:t> nbr[x]:</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if</a:t>
            </a:r>
            <a:pPr indent="0" marL="0">
              <a:buNone/>
            </a:pPr>
            <a:r>
              <a:rPr lang="en-US" sz="780" dirty="0">
                <a:solidFill>
                  <a:srgbClr val="E6EDF3"/>
                </a:solidFill>
                <a:latin typeface="Courier New" pitchFamily="34" charset="0"/>
                <a:ea typeface="Courier New" pitchFamily="34" charset="-122"/>
                <a:cs typeface="Courier New" pitchFamily="34" charset="-120"/>
              </a:rPr>
              <a:t> y </a:t>
            </a:r>
            <a:pPr indent="0" marL="0">
              <a:buNone/>
            </a:pPr>
            <a:r>
              <a:rPr lang="en-US" sz="780" b="1" dirty="0">
                <a:solidFill>
                  <a:srgbClr val="F2A860"/>
                </a:solidFill>
                <a:latin typeface="Courier New" pitchFamily="34" charset="0"/>
                <a:ea typeface="Courier New" pitchFamily="34" charset="-122"/>
                <a:cs typeface="Courier New" pitchFamily="34" charset="-120"/>
              </a:rPr>
              <a:t>not</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in</a:t>
            </a:r>
            <a:pPr indent="0" marL="0">
              <a:buNone/>
            </a:pPr>
            <a:r>
              <a:rPr lang="en-US" sz="780" dirty="0">
                <a:solidFill>
                  <a:srgbClr val="E6EDF3"/>
                </a:solidFill>
                <a:latin typeface="Courier New" pitchFamily="34" charset="0"/>
                <a:ea typeface="Courier New" pitchFamily="34" charset="-122"/>
                <a:cs typeface="Courier New" pitchFamily="34" charset="-120"/>
              </a:rPr>
              <a:t> path: path[y] = path[x] + [y]; nxt.append(y)</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    frontier = nxt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result = (path[</a:t>
            </a:r>
            <a:pPr indent="0" marL="0">
              <a:buNone/>
            </a:pPr>
            <a:r>
              <a:rPr lang="en-US" sz="780" dirty="0">
                <a:solidFill>
                  <a:srgbClr val="9ECBFF"/>
                </a:solidFill>
                <a:latin typeface="Courier New" pitchFamily="34" charset="0"/>
                <a:ea typeface="Courier New" pitchFamily="34" charset="-122"/>
                <a:cs typeface="Courier New" pitchFamily="34" charset="-120"/>
              </a:rPr>
              <a:t>'Dave'</a:t>
            </a:r>
            <a:pPr indent="0" marL="0">
              <a:buNone/>
            </a:pPr>
            <a:r>
              <a:rPr lang="en-US" sz="780" dirty="0">
                <a:solidFill>
                  <a:srgbClr val="E6EDF3"/>
                </a:solidFill>
                <a:latin typeface="Courier New" pitchFamily="34" charset="0"/>
                <a:ea typeface="Courier New" pitchFamily="34" charset="-122"/>
                <a:cs typeface="Courier New" pitchFamily="34" charset="-120"/>
              </a:rPr>
              <a:t>], len(path[</a:t>
            </a:r>
            <a:pPr indent="0" marL="0">
              <a:buNone/>
            </a:pPr>
            <a:r>
              <a:rPr lang="en-US" sz="780" dirty="0">
                <a:solidFill>
                  <a:srgbClr val="9ECBFF"/>
                </a:solidFill>
                <a:latin typeface="Courier New" pitchFamily="34" charset="0"/>
                <a:ea typeface="Courier New" pitchFamily="34" charset="-122"/>
                <a:cs typeface="Courier New" pitchFamily="34" charset="-120"/>
              </a:rPr>
              <a:t>'Dave'</a:t>
            </a:r>
            <a:pPr indent="0" marL="0">
              <a:buNone/>
            </a:pPr>
            <a:r>
              <a:rPr lang="en-US" sz="780" dirty="0">
                <a:solidFill>
                  <a:srgbClr val="E6EDF3"/>
                </a:solidFill>
                <a:latin typeface="Courier New" pitchFamily="34" charset="0"/>
                <a:ea typeface="Courier New" pitchFamily="34" charset="-122"/>
                <a:cs typeface="Courier New" pitchFamily="34" charset="-120"/>
              </a:rPr>
              <a:t>]) - </a:t>
            </a:r>
            <a:pPr indent="0" marL="0">
              <a:buNone/>
            </a:pPr>
            <a:r>
              <a:rPr lang="en-US" sz="780" dirty="0">
                <a:solidFill>
                  <a:srgbClr val="FFD28A"/>
                </a:solidFill>
                <a:latin typeface="Courier New" pitchFamily="34" charset="0"/>
                <a:ea typeface="Courier New" pitchFamily="34" charset="-122"/>
                <a:cs typeface="Courier New" pitchFamily="34" charset="-120"/>
              </a:rPr>
              <a:t>1</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'Alice'</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dirty="0">
                <a:solidFill>
                  <a:srgbClr val="9ECBFF"/>
                </a:solidFill>
                <a:latin typeface="Courier New" pitchFamily="34" charset="0"/>
                <a:ea typeface="Courier New" pitchFamily="34" charset="-122"/>
                <a:cs typeface="Courier New" pitchFamily="34" charset="-120"/>
              </a:rPr>
              <a:t>'Dave'</a:t>
            </a:r>
            <a:pPr indent="0" marL="0">
              <a:buNone/>
            </a:pPr>
            <a:r>
              <a:rPr lang="en-US" sz="780" dirty="0">
                <a:solidFill>
                  <a:srgbClr val="E6EDF3"/>
                </a:solidFill>
                <a:latin typeface="Courier New" pitchFamily="34" charset="0"/>
                <a:ea typeface="Courier New" pitchFamily="34" charset="-122"/>
                <a:cs typeface="Courier New" pitchFamily="34" charset="-120"/>
              </a:rPr>
              <a:t>) </a:t>
            </a:r>
            <a:pPr indent="0" marL="0">
              <a:buNone/>
            </a:pPr>
            <a:r>
              <a:rPr lang="en-US" sz="780" b="1" dirty="0">
                <a:solidFill>
                  <a:srgbClr val="F2A860"/>
                </a:solidFill>
                <a:latin typeface="Courier New" pitchFamily="34" charset="0"/>
                <a:ea typeface="Courier New" pitchFamily="34" charset="-122"/>
                <a:cs typeface="Courier New" pitchFamily="34" charset="-120"/>
              </a:rPr>
              <a:t>in</a:t>
            </a:r>
            <a:pPr indent="0" marL="0">
              <a:buNone/>
            </a:pPr>
            <a:r>
              <a:rPr lang="en-US" sz="780" dirty="0">
                <a:solidFill>
                  <a:srgbClr val="E6EDF3"/>
                </a:solidFill>
                <a:latin typeface="Courier New" pitchFamily="34" charset="0"/>
                <a:ea typeface="Courier New" pitchFamily="34" charset="-122"/>
                <a:cs typeface="Courier New" pitchFamily="34" charset="-120"/>
              </a:rPr>
              <a:t> channels)</a:t>
            </a:r>
            <a:endParaRPr lang="en-US" sz="780" dirty="0"/>
          </a:p>
        </p:txBody>
      </p:sp>
      <p:sp>
        <p:nvSpPr>
          <p:cNvPr id="30" name="Text 28"/>
          <p:cNvSpPr txBox="1"/>
          <p:nvPr/>
        </p:nvSpPr>
        <p:spPr>
          <a:xfrm>
            <a:off x="457200" y="4544568"/>
            <a:ext cx="8229600" cy="256032"/>
          </a:xfrm>
          <a:prstGeom prst="rect">
            <a:avLst/>
          </a:prstGeom>
          <a:noFill/>
          <a:ln/>
        </p:spPr>
        <p:txBody>
          <a:bodyPr wrap="square" lIns="0" tIns="0" rIns="0" bIns="0" rtlCol="0" anchor="ctr"/>
          <a:lstStyle/>
          <a:p>
            <a:pPr indent="0" marL="0">
              <a:buNone/>
            </a:pPr>
            <a:r>
              <a:rPr lang="en-US" sz="900" b="1" dirty="0">
                <a:solidFill>
                  <a:srgbClr val="D97A14"/>
                </a:solidFill>
                <a:latin typeface="Courier New" pitchFamily="34" charset="0"/>
                <a:ea typeface="Courier New" pitchFamily="34" charset="-122"/>
                <a:cs typeface="Courier New" pitchFamily="34" charset="-120"/>
              </a:rPr>
              <a:t>result  </a:t>
            </a:r>
            <a:pPr indent="0" marL="0">
              <a:buNone/>
            </a:pPr>
            <a:r>
              <a:rPr lang="en-US" sz="900" dirty="0">
                <a:solidFill>
                  <a:srgbClr val="2B2622"/>
                </a:solidFill>
                <a:latin typeface="Courier New" pitchFamily="34" charset="0"/>
                <a:ea typeface="Courier New" pitchFamily="34" charset="-122"/>
                <a:cs typeface="Courier New" pitchFamily="34" charset="-120"/>
              </a:rPr>
              <a:t>(['Alice', 'Bob', 'Carol', 'Dave'], 3, False)</a:t>
            </a:r>
            <a:endParaRPr lang="en-US" sz="900" dirty="0"/>
          </a:p>
        </p:txBody>
      </p:sp>
      <p:sp>
        <p:nvSpPr>
          <p:cNvPr id="31" name="Text 29"/>
          <p:cNvSpPr txBox="1"/>
          <p:nvPr/>
        </p:nvSpPr>
        <p:spPr>
          <a:xfrm>
            <a:off x="457200" y="4800600"/>
            <a:ext cx="822960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LightningNetwork, lines 1 to 11 of 11, run under Python 3.14.4</a:t>
            </a:r>
            <a:endParaRPr lang="en-US" sz="9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chain settles; the edges scale</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42</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2026-10-06;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whitepaper (9 pages, 2008)  </a:t>
            </a:r>
            <a:pPr indent="0" marL="0">
              <a:buNone/>
            </a:pP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bitcoin.org/bitcoin.pdf</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textbook, free (CC BY-SA)  </a:t>
            </a:r>
            <a:pPr indent="0" marL="0">
              <a:buNone/>
            </a:pP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github.com/bitcoinbook/bitcoinbook</a:t>
            </a:r>
            <a:endParaRPr lang="en-US" sz="1000" dirty="0"/>
          </a:p>
        </p:txBody>
      </p:sp>
      <p:sp>
        <p:nvSpPr>
          <p:cNvPr id="11" name="Shape 9"/>
          <p:cNvSpPr/>
          <p:nvPr/>
        </p:nvSpPr>
        <p:spPr>
          <a:xfrm>
            <a:off x="493776" y="237744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0428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Developer documentation  </a:t>
            </a:r>
            <a:pPr indent="0" marL="0">
              <a:buNone/>
            </a:pP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developer.bitcoin.org</a:t>
            </a:r>
            <a:endParaRPr lang="en-US" sz="1000" dirty="0"/>
          </a:p>
        </p:txBody>
      </p:sp>
      <p:sp>
        <p:nvSpPr>
          <p:cNvPr id="13" name="Text 11"/>
          <p:cNvSpPr txBox="1"/>
          <p:nvPr/>
        </p:nvSpPr>
        <p:spPr>
          <a:xfrm>
            <a:off x="457200" y="270662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Explore &amp; markets</a:t>
            </a:r>
            <a:endParaRPr lang="en-US" sz="125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Core, the reference client  </a:t>
            </a:r>
            <a:pPr indent="0" marL="0">
              <a:buNone/>
            </a:pP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bitcoincore.org</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mempool.space - watch blocks live  </a:t>
            </a:r>
            <a:pPr indent="0" marL="0">
              <a:buNone/>
            </a:pP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mempool.space</a:t>
            </a:r>
            <a:endParaRPr lang="en-US" sz="1000" dirty="0"/>
          </a:p>
        </p:txBody>
      </p:sp>
      <p:sp>
        <p:nvSpPr>
          <p:cNvPr id="18" name="Shape 16"/>
          <p:cNvSpPr/>
          <p:nvPr/>
        </p:nvSpPr>
        <p:spPr>
          <a:xfrm>
            <a:off x="493776" y="371246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39312"/>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blockstream.info - block 0 came from here  </a:t>
            </a:r>
            <a:pPr indent="0" marL="0">
              <a:buNone/>
            </a:pP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blockstream.info</a:t>
            </a:r>
            <a:endParaRPr lang="en-US" sz="1000" dirty="0"/>
          </a:p>
        </p:txBody>
      </p:sp>
      <p:sp>
        <p:nvSpPr>
          <p:cNvPr id="20" name="Shape 18"/>
          <p:cNvSpPr/>
          <p:nvPr/>
        </p:nvSpPr>
        <p:spPr>
          <a:xfrm>
            <a:off x="493776" y="4041648"/>
            <a:ext cx="82296" cy="82296"/>
          </a:xfrm>
          <a:prstGeom prst="ellipse">
            <a:avLst/>
          </a:prstGeom>
          <a:solidFill>
            <a:srgbClr val="D97A14"/>
          </a:solidFill>
          <a:ln w="12700">
            <a:solidFill>
              <a:srgbClr val="D97A14"/>
            </a:solidFill>
            <a:prstDash val="solid"/>
          </a:ln>
        </p:spPr>
      </p:sp>
      <p:sp>
        <p:nvSpPr>
          <p:cNvPr id="21" name="Text 19"/>
          <p:cNvSpPr txBox="1"/>
          <p:nvPr/>
        </p:nvSpPr>
        <p:spPr>
          <a:xfrm>
            <a:off x="658368" y="3968496"/>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CoinGecko - market data  </a:t>
            </a:r>
            <a:pPr indent="0" marL="0">
              <a:buNone/>
            </a:pP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coingecko.com</a:t>
            </a:r>
            <a:endParaRPr lang="en-US" sz="1000" dirty="0"/>
          </a:p>
        </p:txBody>
      </p:sp>
      <p:sp>
        <p:nvSpPr>
          <p:cNvPr id="22" name="Text 20"/>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3" name="Shape 21"/>
          <p:cNvSpPr/>
          <p:nvPr/>
        </p:nvSpPr>
        <p:spPr>
          <a:xfrm>
            <a:off x="4768596" y="1719072"/>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Stack Exchange Q&amp;A  </a:t>
            </a:r>
            <a:pPr indent="0" marL="0">
              <a:buNone/>
            </a:pP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bitcoin.stackexchange.com</a:t>
            </a:r>
            <a:endParaRPr lang="en-US" sz="1000" dirty="0"/>
          </a:p>
        </p:txBody>
      </p:sp>
      <p:sp>
        <p:nvSpPr>
          <p:cNvPr id="25" name="Shape 23"/>
          <p:cNvSpPr/>
          <p:nvPr/>
        </p:nvSpPr>
        <p:spPr>
          <a:xfrm>
            <a:off x="4768596" y="2048256"/>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bitcointalk - the forum of Pizza Day  </a:t>
            </a:r>
            <a:pPr indent="0" marL="0">
              <a:buNone/>
            </a:pPr>
            <a:r>
              <a:rPr lang="en-US" sz="10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bitcointalk.org</a:t>
            </a:r>
            <a:endParaRPr lang="en-US" sz="1000" dirty="0"/>
          </a:p>
        </p:txBody>
      </p:sp>
      <p:sp>
        <p:nvSpPr>
          <p:cNvPr id="27" name="Text 25"/>
          <p:cNvSpPr txBox="1"/>
          <p:nvPr/>
        </p:nvSpPr>
        <p:spPr>
          <a:xfrm>
            <a:off x="473202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Seminal &amp; watch</a:t>
            </a:r>
            <a:endParaRPr lang="en-US" sz="1250" dirty="0"/>
          </a:p>
        </p:txBody>
      </p:sp>
      <p:sp>
        <p:nvSpPr>
          <p:cNvPr id="28" name="Shape 26"/>
          <p:cNvSpPr/>
          <p:nvPr/>
        </p:nvSpPr>
        <p:spPr>
          <a:xfrm>
            <a:off x="4768596" y="2724912"/>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Hashcash, the proof-of-work paper  </a:t>
            </a:r>
            <a:pPr indent="0" marL="0">
              <a:buNone/>
            </a:pPr>
            <a:r>
              <a:rPr lang="en-US" sz="100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hashcash.org</a:t>
            </a:r>
            <a:endParaRPr lang="en-US" sz="1000" dirty="0"/>
          </a:p>
        </p:txBody>
      </p:sp>
      <p:sp>
        <p:nvSpPr>
          <p:cNvPr id="30" name="Shape 28"/>
          <p:cNvSpPr/>
          <p:nvPr/>
        </p:nvSpPr>
        <p:spPr>
          <a:xfrm>
            <a:off x="4768596" y="3054096"/>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b-money, Wei Dai (1998)  </a:t>
            </a:r>
            <a:pPr indent="0" marL="0">
              <a:buNone/>
            </a:pPr>
            <a:r>
              <a:rPr lang="en-US" sz="100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weidai.com/bmoney.txt</a:t>
            </a:r>
            <a:endParaRPr lang="en-US" sz="1000" dirty="0"/>
          </a:p>
        </p:txBody>
      </p:sp>
      <p:sp>
        <p:nvSpPr>
          <p:cNvPr id="32" name="Shape 30"/>
          <p:cNvSpPr/>
          <p:nvPr/>
        </p:nvSpPr>
        <p:spPr>
          <a:xfrm>
            <a:off x="4768596" y="3383280"/>
            <a:ext cx="82296" cy="82296"/>
          </a:xfrm>
          <a:prstGeom prst="ellipse">
            <a:avLst/>
          </a:prstGeom>
          <a:solidFill>
            <a:srgbClr val="D97A14"/>
          </a:solidFill>
          <a:ln w="12700">
            <a:solidFill>
              <a:srgbClr val="D97A14"/>
            </a:solidFill>
            <a:prstDash val="solid"/>
          </a:ln>
        </p:spPr>
      </p:sp>
      <p:sp>
        <p:nvSpPr>
          <p:cNvPr id="33" name="Text 31"/>
          <p:cNvSpPr txBox="1"/>
          <p:nvPr/>
        </p:nvSpPr>
        <p:spPr>
          <a:xfrm>
            <a:off x="493318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But how does bitcoin work? (3Blue1Brown)  </a:t>
            </a:r>
            <a:pPr indent="0" marL="0">
              <a:buNone/>
            </a:pPr>
            <a:r>
              <a:rPr lang="en-US" sz="1000" u="sng" dirty="0">
                <a:solidFill>
                  <a:srgbClr val="2F6D62"/>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youtube.com/watch?v=bBC-nXj3Ng4</a:t>
            </a:r>
            <a:endParaRPr lang="en-US" sz="1000" dirty="0"/>
          </a:p>
        </p:txBody>
      </p:sp>
      <p:sp>
        <p:nvSpPr>
          <p:cNvPr id="34" name="Shape 32"/>
          <p:cNvSpPr/>
          <p:nvPr/>
        </p:nvSpPr>
        <p:spPr>
          <a:xfrm>
            <a:off x="457200" y="4636008"/>
            <a:ext cx="91440" cy="310896"/>
          </a:xfrm>
          <a:prstGeom prst="rect">
            <a:avLst/>
          </a:prstGeom>
          <a:solidFill>
            <a:srgbClr val="D97A14"/>
          </a:solidFill>
          <a:ln w="12700">
            <a:solidFill>
              <a:srgbClr val="D97A14"/>
            </a:solidFill>
            <a:prstDash val="solid"/>
          </a:ln>
        </p:spPr>
      </p:sp>
      <p:sp>
        <p:nvSpPr>
          <p:cNvPr id="35" name="Text 3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Nine free pages started all of this - read them this week</a:t>
            </a:r>
            <a:endParaRPr lang="en-US" sz="1350" dirty="0"/>
          </a:p>
        </p:txBody>
      </p:sp>
      <p:sp>
        <p:nvSpPr>
          <p:cNvPr id="36" name="Text 3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42</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bitcoin is, and how far it divides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21 million is arithmetic, not promise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replaces the bank in the middle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Which chapter opens each box we drew</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42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 Introduction</dc:title>
  <dc:subject>PptxGenJS Presentation</dc:subject>
  <dc:creator>Yusuf Altunel</dc:creator>
  <cp:lastModifiedBy>Yusuf Altunel</cp:lastModifiedBy>
  <cp:revision>1</cp:revision>
  <dcterms:created xsi:type="dcterms:W3CDTF">2026-10-06T08:29:57Z</dcterms:created>
  <dcterms:modified xsi:type="dcterms:W3CDTF">2026-10-06T08:29:57Z</dcterms:modified>
</cp:coreProperties>
</file>