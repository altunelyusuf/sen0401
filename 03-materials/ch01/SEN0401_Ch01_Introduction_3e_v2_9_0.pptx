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(BTC), by real halving date</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2009</c:v>
                  </c:pt>
                  <c:pt idx="1">
                    <c:v>2012</c:v>
                  </c:pt>
                  <c:pt idx="2">
                    <c:v>2016</c:v>
                  </c:pt>
                  <c:pt idx="3">
                    <c:v>2020</c:v>
                  </c:pt>
                  <c:pt idx="4">
                    <c:v>2024</c:v>
                  </c:pt>
                  <c:pt idx="5">
                    <c:v>~2028</c:v>
                  </c:pt>
                  <c:pt idx="6">
                    <c:v>~2032</c:v>
                  </c:pt>
                  <c:pt idx="7">
                    <c:v>~2036</c:v>
                  </c:pt>
                  <c:pt idx="8">
                    <c:v>~2040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the Pizza Day 10,000 BTC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Six parts. The stories carry the why, the programs carry the proof, and every slide number on this list is printed bottom-right as we pass it.
ASK: Which part do you expect to be hardest - mark it now, check again at the summary.
FULL TEXT: course page, chapter 1 -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 Network, Wallet, Usage, Foundations,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SOURCE: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(1982 - 2008): Bitcoin was not a first attempt. David Chaum designed blind-signature ecash in the 1980s and his company DigiCash went bankrupt; Adam Back built Hashcash's proof-of-work in 1997 to price email spam; Wei Dai sketched b-money and Nick Szabo bit gold in 1998, both unbuilt for want of a way to agree without a leader. Satoshi's 2008 whitepaper cites them and adds the missing piece - proof-of-work as the voting weight of an open network - turning four decades of near-misses into a running system.
SOURCE: S. Nakamoto, 'Bitcoin: A Peer-to-Peer Electronic Cash System' (2008), references; A. Back, Hashcash (1997); W. Dai, b-money (1998); N. Szabo, bit gold; D. Chaum, 'Blind signatures for untraceable payments'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(Yap, documented 1903): On the island of Yap, wealth was held in rai - limestone discs up to four metres wide, far too heavy to move. When a stone changed owners, the stone stayed where it lay; what changed was the community's shared memory of who owned it. One famous stone sank to the sea floor in transit, and the islanders kept trading it anyway, because everyone agreed it existed and whose it was.
SOURCE: W. H. Furness III, The Island of Stone Money (1910); Milton Friedman, 'The Island of Stone Money', Hoover Institution Working Paper E-91-3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ASK: Which of these failures did cards fix - and at what new price?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(1998 - 2002): The web could sell before it could pay: cards were unsafe to type and banks had no internet rails. Confinity, founded 1998 by Max Levchin and Peter Thiel, and X.com, founded 1999 by Elon Musk, raced to fix it, merged in 2000, and became PayPal - sold to eBay for 1.5 billion dollars in 2002. The same boom's pure digital currencies, Beenz and Flooz, died in the 2001 crash, taking their customers' balances with them. Online payment was solved, but only as accounts on one company's private ledger - the internet still had no cash.
SOURCE: en.wikipedia.org/wiki/PayPal (Confinity 1998, X.com 1999, merger 2000, eBay acquisition 2002); en.wikipedia.org/wiki/Flooz.com and /wiki/Beenz.com (both closed 2001 in the dot-com crash).
IMAGE: the PayPal wordmark (public domain, via Wikimedia Commons) - the one survivor of the slide's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(2007 - 2022): Money fails people in documented ways. Kenya, 2007: most adults had no bank, so Safaricom's M-Pesa turned phone credit into the country's money rail. Cyprus, March 2013: banks closed for days and a levy took part of large deposits overnight. Greece, summer 2015: capital controls capped ATM withdrawals at 60 euros a day. Venezuela, 2018: hyperinflation passed one million percent and wages evaporated between morning and evening. Ukraine, February 2022: with war at the capital, the government itself posted donation addresses and raised tens of millions of dollars in crypto within days, run by Deputy Minister Alex Bornyakov, when ordinary rails were too slow.
SOURCE: en.wikipedia.org/wiki/M-Pesa (Safaricom, 2007); en.wikipedia.org/wiki/2012-2013_Cypriot_financial_crisis (deposit levy, March 2013); en.wikipedia.org/wiki/Greek_government-debt_crisis (2015 capital controls, 60-euro limit); en.wikipedia.org/wiki/Hyperinflation_in_Venezuela (over 1,000,000% in 2018); CNBC 2022-03-02 and Fortune 2022-03-26 on Ukraine's official crypto donations (Alex Bornyakov, 35 million dollars within the first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Why does the same problem not exist for paper cash?
FULL TEXT: course page, chapter 1 - DoubleSpend.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What stops the network agreeing on the WRONG order? (chapter 12 answers)
FULL TEXT: course page, chapter 1 - DoubleSpend,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ASK: How many satoshis buy a coffee at today's price?
FULL TEXT: course page, chapter 1 -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ASK: Why does the sum stop just short of 21 million?
FULL TEXT: course page, chapter 1 - Supply, Issuance.
DATES: genesis 2009-01-03; halvings 2012-11-28 (block 210,000), 2016-07-09 (420,000), 2020-05-11 (630,000), 2024-04-20 (840,000) - the blocks' own timestamps; later dates are projections at the 10-minute target. Table: https://en.bitcoin.it/wiki/Controlled_supply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section addresses a question that every newcomer asks, namely who sets the price of bitcoin. The chapter's short answer is that the price is set by markets (Antonopoulos and Harding, 2023).
FULL TEXT: course page, chapter 1 -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(22 May 2010): For Bitcoin's first year and a half, nobody knew what a bitcoin was worth, because nobody had ever bought anything with one. Then Laszlo Hanyecz, a Florida programmer, offered 10,000 BTC on a forum to anyone who would bring him two pizzas - and someone did. That order, the first known commercial purchase paid in bitcoin, is why 22 May is still celebrated as Bitcoin Pizza Day: it is the day a floating price began to exist.
SOURCE: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point is a documented milestone - dollar parity in 2011, the first thousand in 2013, the 2017 and 2021 peaks - and the last one was fetched live from mempool.space and CoinGecko while this deck was built, agreeing within 0.1 percent.
ASK: Why does this chart need a log scale - what would it look like linear?
FULL TEXT: course page, chapter 1 - Price; story companion,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ASK: What breaks first in each picture if one machine lies?
FULL TEXT: course page, chapter 1 - Network,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Your house has a registry if the key is lost - what does bitcoin have?
FULL TEXT: course page, chapter 1 -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Which side was the exchange that lost its customers' coins on?
FULL TEXT: course page, chapter 1 - KeyControl, WalletPlatform,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(February 2014): Mt. Gox of Tokyo, led by Mark Karpeles, was once the world's largest bitcoin exchange, handling the large majority of all trades. In February 2014 it halted withdrawals, filed for bankruptcy and admitted that around 850,000 bitcoins held on customers' behalf were gone - the customers had balances on a website, but the keys, and therefore the coins, had been in someone else's hands all along. Creditors were still being repaid more than a decade later.
SOURCE: Mt. Gox bankruptcy filing, Tokyo District Court, 2014-02-28, reporting approximately 850,000 BTC missing (about 750,000 of them customers'); widely reported, e.g.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FULL TEXT: course page, chapter 1 - Backup,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Acquisition section lists the ways in which a newcomer obtains a first bitcoin, which is the practical problem a reader faces as soon as the wallet is installed.
FULL TEXT: course page, chapter 1 - Acquisition, Address,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FULL TEXT: course page, chapter 1 - Computing,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Nature branch answers a question that precedes all the others: what kind of thing is Bitcoin? Chapter 1 gives two complementary answers.
FULL TEXT: course page, chapter 1 - Nature, Characteristic,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FULL TEXT: course page, chapter 1 - Transfer, SemanticBridge.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Six lines, one per part. If any of them still feels like a claim rather than a fact, the agenda slide names the slides that prove it - and the course page carries the full text.
ASK: Which line would you defend to a sceptic first, and with which slide?
FULL TEXT: course page, chapter 1 -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on this slide is free. The whitepaper is nine pages - read it this week; the textbook is the one this course follows, free under CC BY-SA in the same repository our materials pin.
ASK: Who can find today's newest block on mempool.space before the break ends?
FULL TEXT: course page, chapter 1 - Standards,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mempool.space/tx/4a5e1e4baab89f3a32518a88c31bc87f618f76673e2cc77ab2127b7afdeda33b" TargetMode="Externa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mempool.space/tx/f4184fc596403b9d638783cf57adfe4c75c605f6356fbc91338530e9831e9e16" TargetMode="External"/><Relationship Id="rId1" Type="http://schemas.openxmlformats.org/officeDocument/2006/relationships/image" Target="../media/image-8-1.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gutenberg.org/ebooks/72830" TargetMode="External"/><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www.money.org/money-museum/virtual-exhibits/hom" TargetMode="External"/><Relationship Id="rId1" Type="http://schemas.openxmlformats.org/officeDocument/2006/relationships/image" Target="../media/image-12-1.jpg"/><Relationship Id="rId2" Type="http://schemas.openxmlformats.org/officeDocument/2006/relationships/image" Target="../media/image-12-2.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www.sec.gov/Archives/edgar/data/1103415/000091205701533855/a2059025zs-1.htm" TargetMode="Externa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M-Pesa" TargetMode="External"/><Relationship Id="rId4" Type="http://schemas.openxmlformats.org/officeDocument/2006/relationships/hyperlink" Target="https://en.wikipedia.org/wiki/2012%E2%80%932013_Cypriot_financial_crisis" TargetMode="External"/><Relationship Id="rId6" Type="http://schemas.openxmlformats.org/officeDocument/2006/relationships/hyperlink" Target="https://en.wikipedia.org/wiki/Greek_government-debt_crisis" TargetMode="External"/><Relationship Id="rId8" Type="http://schemas.openxmlformats.org/officeDocument/2006/relationships/hyperlink" Target="https://en.wikipedia.org/wiki/Hyperinflation_in_Venezuela" TargetMode="External"/><Relationship Id="rId10" Type="http://schemas.openxmlformats.org/officeDocument/2006/relationships/hyperlink" Target="https://www.cnbc.com/2022/03/02/ukraine-dogecoin-other-cryptocurrencies-accepted-for-donations.html" TargetMode="External"/><Relationship Id="rId11" Type="http://schemas.openxmlformats.org/officeDocument/2006/relationships/hyperlink" Target="https://www.cnbc.com/2022/03/02/ukraine-dogecoin-other-cryptocurrencies-accepted-for-donations.html" TargetMode="External"/><Relationship Id="rId1" Type="http://schemas.openxmlformats.org/officeDocument/2006/relationships/image" Target="../media/image-16-1.jpg"/><Relationship Id="rId3" Type="http://schemas.openxmlformats.org/officeDocument/2006/relationships/image" Target="../media/image-16-2.jpg"/><Relationship Id="rId5" Type="http://schemas.openxmlformats.org/officeDocument/2006/relationships/image" Target="../media/image-16-3.jpg"/><Relationship Id="rId7" Type="http://schemas.openxmlformats.org/officeDocument/2006/relationships/image" Target="../media/image-16-4.jpg"/><Relationship Id="rId9" Type="http://schemas.openxmlformats.org/officeDocument/2006/relationships/image" Target="../media/image-16-5.jpg"/><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www.guinnessworldrecords.com/world-records/696240-first-commercial-bitcoin-transaction" TargetMode="External"/><Relationship Id="rId1" Type="http://schemas.openxmlformats.org/officeDocument/2006/relationships/image" Target="../media/image-23-1.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techcrunch.com/2014/03/03/mt-gox-posts-new-statement-on-alleged-theft-bankruptcy-filing/" TargetMode="Externa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www.coingecko.com/en/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web.archive.org/web/2023/http://www.hashcash.org/papers/hashcash.pdf" TargetMode="External"/><Relationship Id="rId11" Type="http://schemas.openxmlformats.org/officeDocument/2006/relationships/hyperlink" Target="https://web.archive.org/web/2023/http://www.weidai.com/bmoney.txt" TargetMode="External"/><Relationship Id="rId12" Type="http://schemas.openxmlformats.org/officeDocument/2006/relationships/hyperlink" Target="https://www.youtube.com/watch?v=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Outcomes, questions, and the chapter map  (slides 3-5)</a:t>
            </a:r>
            <a:endParaRPr lang="en-US" sz="125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 three true stories  (slides 6-9)</a:t>
            </a:r>
            <a:endParaRPr lang="en-US" sz="125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 history, units, supply, price  (slides 10-24)</a:t>
            </a:r>
            <a:endParaRPr lang="en-US" sz="125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 peers, consensus, mining  (slides 25-29)</a:t>
            </a:r>
            <a:endParaRPr lang="en-US" sz="12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and first use - keys, custody, Alice  (slides 30-36)</a:t>
            </a:r>
            <a:endParaRPr lang="en-US" sz="125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nature, summary, and resources  (slides 37-46)</a:t>
            </a:r>
            <a:endParaRPr lang="en-US" sz="12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12</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one route - and every claim arrives with its receipt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743200"/>
          </a:xfrm>
          <a:prstGeom prst="rect">
            <a:avLst/>
          </a:prstGeom>
        </p:spPr>
      </p:pic>
      <p:sp>
        <p:nvSpPr>
          <p:cNvPr id="7" name="Text 4"/>
          <p:cNvSpPr txBox="1"/>
          <p:nvPr/>
        </p:nvSpPr>
        <p:spPr>
          <a:xfrm>
            <a:off x="457200" y="405993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0's real 285 bytes, fetched from the live chain for this deck; its hash re-verified in the build</a:t>
            </a:r>
            <a:endParaRPr lang="en-US" sz="900" dirty="0"/>
          </a:p>
        </p:txBody>
      </p:sp>
      <p:sp>
        <p:nvSpPr>
          <p:cNvPr id="8" name="Shape 5"/>
          <p:cNvSpPr/>
          <p:nvPr/>
        </p:nvSpPr>
        <p:spPr>
          <a:xfrm>
            <a:off x="6080760" y="1298448"/>
            <a:ext cx="2606040" cy="192024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408176"/>
            <a:ext cx="2606040" cy="457200"/>
          </a:xfrm>
          <a:prstGeom prst="rect">
            <a:avLst/>
          </a:prstGeom>
          <a:noFill/>
          <a:ln/>
        </p:spPr>
        <p:txBody>
          <a:bodyPr wrap="square" lIns="0" tIns="0" rIns="0" bIns="0" rtlCol="0" anchor="ctr"/>
          <a:lstStyle/>
          <a:p>
            <a:pPr algn="ctr" indent="0" marL="0">
              <a:buNone/>
            </a:pPr>
            <a:r>
              <a:rPr lang="en-US" sz="1400" b="1" dirty="0">
                <a:solidFill>
                  <a:srgbClr val="1A1A1A"/>
                </a:solidFill>
                <a:latin typeface="Times New Roman" pitchFamily="34" charset="0"/>
                <a:ea typeface="Times New Roman" pitchFamily="34" charset="-122"/>
                <a:cs typeface="Times New Roman" pitchFamily="34" charset="-120"/>
              </a:rPr>
              <a:t>The Times</a:t>
            </a:r>
            <a:endParaRPr lang="en-US" sz="1400" dirty="0"/>
          </a:p>
        </p:txBody>
      </p:sp>
      <p:sp>
        <p:nvSpPr>
          <p:cNvPr id="10" name="Shape 7"/>
          <p:cNvSpPr/>
          <p:nvPr/>
        </p:nvSpPr>
        <p:spPr>
          <a:xfrm>
            <a:off x="6309360" y="1920240"/>
            <a:ext cx="2148840" cy="0"/>
          </a:xfrm>
          <a:prstGeom prst="line">
            <a:avLst/>
          </a:prstGeom>
          <a:noFill/>
          <a:ln w="12700">
            <a:solidFill>
              <a:srgbClr val="1A1A1A"/>
            </a:solidFill>
            <a:prstDash val="solid"/>
          </a:ln>
        </p:spPr>
      </p:sp>
      <p:sp>
        <p:nvSpPr>
          <p:cNvPr id="11" name="Text 8"/>
          <p:cNvSpPr txBox="1"/>
          <p:nvPr/>
        </p:nvSpPr>
        <p:spPr>
          <a:xfrm>
            <a:off x="6080760" y="1956816"/>
            <a:ext cx="26060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Saturday January 3 2009</a:t>
            </a:r>
            <a:endParaRPr lang="en-US" sz="1050" dirty="0"/>
          </a:p>
        </p:txBody>
      </p:sp>
      <p:sp>
        <p:nvSpPr>
          <p:cNvPr id="12" name="Text 9"/>
          <p:cNvSpPr txBox="1"/>
          <p:nvPr/>
        </p:nvSpPr>
        <p:spPr>
          <a:xfrm>
            <a:off x="6245352" y="2194560"/>
            <a:ext cx="22768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Chancellor on brink of second bailout for banks</a:t>
            </a:r>
            <a:endParaRPr lang="en-US" sz="1150" dirty="0"/>
          </a:p>
        </p:txBody>
      </p:sp>
      <p:sp>
        <p:nvSpPr>
          <p:cNvPr id="13" name="Shape 10"/>
          <p:cNvSpPr/>
          <p:nvPr/>
        </p:nvSpPr>
        <p:spPr>
          <a:xfrm>
            <a:off x="6332220" y="2816352"/>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281635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602736"/>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310128"/>
            <a:ext cx="2331720" cy="71323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orange bytes ARE the headline</a:t>
            </a:r>
            <a:endParaRPr lang="en-US" sz="1100" dirty="0"/>
          </a:p>
        </p:txBody>
      </p:sp>
      <p:sp>
        <p:nvSpPr>
          <p:cNvPr id="17" name="Shape 14"/>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9" name="Shape 16"/>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0 of the chain i…</a:t>
            </a:r>
            <a:endParaRPr lang="en-US" sz="750" dirty="0"/>
          </a:p>
        </p:txBody>
      </p:sp>
      <p:sp>
        <p:nvSpPr>
          <p:cNvPr id="21" name="Shape 18"/>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3 January 2009</a:t>
            </a:r>
            <a:endParaRPr lang="en-US" sz="750" dirty="0"/>
          </a:p>
        </p:txBody>
      </p:sp>
      <p:sp>
        <p:nvSpPr>
          <p:cNvPr id="23" name="Shape 20"/>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with the headline (tx)</a:t>
            </a:r>
            <a:endParaRPr lang="en-US" sz="7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3108960"/>
          </a:xfrm>
          <a:prstGeom prst="rect">
            <a:avLst/>
          </a:prstGeom>
        </p:spPr>
      </p:pic>
      <p:sp>
        <p:nvSpPr>
          <p:cNvPr id="7" name="Text 4"/>
          <p:cNvSpPr txBox="1"/>
          <p:nvPr/>
        </p:nvSpPr>
        <p:spPr>
          <a:xfrm>
            <a:off x="457200" y="44531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994867"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3474720" y="3703320"/>
            <a:ext cx="84856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t>
            </a:r>
            <a:endParaRPr lang="en-US" sz="750" dirty="0"/>
          </a:p>
        </p:txBody>
      </p:sp>
      <p:sp>
        <p:nvSpPr>
          <p:cNvPr id="16" name="Shape 13"/>
          <p:cNvSpPr/>
          <p:nvPr/>
        </p:nvSpPr>
        <p:spPr>
          <a:xfrm>
            <a:off x="4487875" y="3703320"/>
            <a:ext cx="945124"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4579315" y="3703320"/>
            <a:ext cx="79882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170</a:t>
            </a:r>
            <a:endParaRPr lang="en-US" sz="750" dirty="0"/>
          </a:p>
        </p:txBody>
      </p:sp>
      <p:sp>
        <p:nvSpPr>
          <p:cNvPr id="18" name="Shape 15"/>
          <p:cNvSpPr/>
          <p:nvPr/>
        </p:nvSpPr>
        <p:spPr>
          <a:xfrm>
            <a:off x="5542727" y="3703320"/>
            <a:ext cx="84563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634167" y="3703320"/>
            <a:ext cx="6993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Januar…</a:t>
            </a:r>
            <a:endParaRPr lang="en-US" sz="750" dirty="0"/>
          </a:p>
        </p:txBody>
      </p:sp>
      <p:sp>
        <p:nvSpPr>
          <p:cNvPr id="20" name="Shape 17"/>
          <p:cNvSpPr/>
          <p:nvPr/>
        </p:nvSpPr>
        <p:spPr>
          <a:xfrm>
            <a:off x="6498092" y="3703320"/>
            <a:ext cx="2188708"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6589532" y="3703320"/>
            <a:ext cx="2042404"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68096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223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 - agreement without a leader was missing</a:t>
            </a:r>
            <a:endParaRPr lang="en-US" sz="1300" dirty="0"/>
          </a:p>
        </p:txBody>
      </p:sp>
      <p:sp>
        <p:nvSpPr>
          <p:cNvPr id="23" name="Shape 21"/>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Chaum, Back, Dai, Szabo …</a:t>
            </a:r>
            <a:endParaRPr lang="en-US" sz="750" dirty="0"/>
          </a:p>
        </p:txBody>
      </p:sp>
      <p:sp>
        <p:nvSpPr>
          <p:cNvPr id="25" name="Shape 23"/>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academic papers and ma…</a:t>
            </a:r>
            <a:endParaRPr lang="en-US" sz="750" dirty="0"/>
          </a:p>
        </p:txBody>
      </p:sp>
      <p:sp>
        <p:nvSpPr>
          <p:cNvPr id="27" name="Shape 25"/>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1982 - 2008</a:t>
            </a:r>
            <a:endParaRPr lang="en-US" sz="750" dirty="0"/>
          </a:p>
        </p:txBody>
      </p:sp>
      <p:sp>
        <p:nvSpPr>
          <p:cNvPr id="29" name="Shape 27"/>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0" name="Text 28"/>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5742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716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300" dirty="0"/>
          </a:p>
        </p:txBody>
      </p:sp>
      <p:sp>
        <p:nvSpPr>
          <p:cNvPr id="10" name="Shape 7"/>
          <p:cNvSpPr/>
          <p:nvPr/>
        </p:nvSpPr>
        <p:spPr>
          <a:xfrm>
            <a:off x="3611880" y="21076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9050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300" dirty="0"/>
          </a:p>
        </p:txBody>
      </p:sp>
      <p:sp>
        <p:nvSpPr>
          <p:cNvPr id="12" name="Shape 9"/>
          <p:cNvSpPr/>
          <p:nvPr/>
        </p:nvSpPr>
        <p:spPr>
          <a:xfrm>
            <a:off x="3611880" y="26410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4384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stone sank at sea - and kept changing owners anyway</a:t>
            </a:r>
            <a:endParaRPr lang="en-US" sz="1300" dirty="0"/>
          </a:p>
        </p:txBody>
      </p:sp>
      <p:sp>
        <p:nvSpPr>
          <p:cNvPr id="14" name="Shape 11"/>
          <p:cNvSpPr/>
          <p:nvPr/>
        </p:nvSpPr>
        <p:spPr>
          <a:xfrm>
            <a:off x="4005072" y="2990088"/>
            <a:ext cx="950976" cy="950976"/>
          </a:xfrm>
          <a:prstGeom prst="ellipse">
            <a:avLst/>
          </a:prstGeom>
          <a:solidFill>
            <a:srgbClr val="D8D0C2"/>
          </a:solidFill>
          <a:ln w="25400">
            <a:solidFill>
              <a:srgbClr val="9A9183"/>
            </a:solidFill>
            <a:prstDash val="solid"/>
          </a:ln>
        </p:spPr>
      </p:sp>
      <p:sp>
        <p:nvSpPr>
          <p:cNvPr id="15" name="Shape 12"/>
          <p:cNvSpPr/>
          <p:nvPr/>
        </p:nvSpPr>
        <p:spPr>
          <a:xfrm>
            <a:off x="4352544" y="3355848"/>
            <a:ext cx="256032" cy="256032"/>
          </a:xfrm>
          <a:prstGeom prst="ellipse">
            <a:avLst/>
          </a:prstGeom>
          <a:solidFill>
            <a:srgbClr val="FAF6EF"/>
          </a:solidFill>
          <a:ln w="19050">
            <a:solidFill>
              <a:srgbClr val="9A9183"/>
            </a:solidFill>
            <a:prstDash val="solid"/>
          </a:ln>
        </p:spPr>
      </p:sp>
      <p:sp>
        <p:nvSpPr>
          <p:cNvPr id="16" name="Text 13"/>
          <p:cNvSpPr txBox="1"/>
          <p:nvPr/>
        </p:nvSpPr>
        <p:spPr>
          <a:xfrm>
            <a:off x="370332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3465576"/>
            <a:ext cx="548640" cy="0"/>
          </a:xfrm>
          <a:prstGeom prst="line">
            <a:avLst/>
          </a:prstGeom>
          <a:noFill/>
          <a:ln w="25400">
            <a:solidFill>
              <a:srgbClr val="D97A14"/>
            </a:solidFill>
            <a:prstDash val="solid"/>
            <a:tailEnd type="triangle"/>
          </a:ln>
        </p:spPr>
      </p:sp>
      <p:sp>
        <p:nvSpPr>
          <p:cNvPr id="18" name="Shape 15"/>
          <p:cNvSpPr/>
          <p:nvPr/>
        </p:nvSpPr>
        <p:spPr>
          <a:xfrm>
            <a:off x="5650992" y="2990088"/>
            <a:ext cx="950976" cy="950976"/>
          </a:xfrm>
          <a:prstGeom prst="ellipse">
            <a:avLst/>
          </a:prstGeom>
          <a:solidFill>
            <a:srgbClr val="D8D0C2"/>
          </a:solidFill>
          <a:ln w="25400">
            <a:solidFill>
              <a:srgbClr val="9A9183"/>
            </a:solidFill>
            <a:prstDash val="solid"/>
          </a:ln>
        </p:spPr>
      </p:sp>
      <p:sp>
        <p:nvSpPr>
          <p:cNvPr id="19" name="Shape 16"/>
          <p:cNvSpPr/>
          <p:nvPr/>
        </p:nvSpPr>
        <p:spPr>
          <a:xfrm>
            <a:off x="5998464" y="3355848"/>
            <a:ext cx="256032" cy="256032"/>
          </a:xfrm>
          <a:prstGeom prst="ellipse">
            <a:avLst/>
          </a:prstGeom>
          <a:solidFill>
            <a:srgbClr val="FAF6EF"/>
          </a:solidFill>
          <a:ln w="19050">
            <a:solidFill>
              <a:srgbClr val="9A9183"/>
            </a:solidFill>
            <a:prstDash val="solid"/>
          </a:ln>
        </p:spPr>
      </p:sp>
      <p:sp>
        <p:nvSpPr>
          <p:cNvPr id="20" name="Text 17"/>
          <p:cNvSpPr txBox="1"/>
          <p:nvPr/>
        </p:nvSpPr>
        <p:spPr>
          <a:xfrm>
            <a:off x="534924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3465576"/>
            <a:ext cx="548640" cy="0"/>
          </a:xfrm>
          <a:prstGeom prst="line">
            <a:avLst/>
          </a:prstGeom>
          <a:noFill/>
          <a:ln w="25400">
            <a:solidFill>
              <a:srgbClr val="D97A14"/>
            </a:solidFill>
            <a:prstDash val="solid"/>
            <a:tailEnd type="triangle"/>
          </a:ln>
        </p:spPr>
      </p:sp>
      <p:sp>
        <p:nvSpPr>
          <p:cNvPr id="22" name="Shape 19"/>
          <p:cNvSpPr/>
          <p:nvPr/>
        </p:nvSpPr>
        <p:spPr>
          <a:xfrm>
            <a:off x="7296912" y="2990088"/>
            <a:ext cx="950976" cy="950976"/>
          </a:xfrm>
          <a:prstGeom prst="ellipse">
            <a:avLst/>
          </a:prstGeom>
          <a:solidFill>
            <a:srgbClr val="D8D0C2"/>
          </a:solidFill>
          <a:ln w="25400">
            <a:solidFill>
              <a:srgbClr val="9A9183"/>
            </a:solidFill>
            <a:prstDash val="solid"/>
          </a:ln>
        </p:spPr>
      </p:sp>
      <p:sp>
        <p:nvSpPr>
          <p:cNvPr id="23" name="Shape 20"/>
          <p:cNvSpPr/>
          <p:nvPr/>
        </p:nvSpPr>
        <p:spPr>
          <a:xfrm>
            <a:off x="7644384" y="3355848"/>
            <a:ext cx="256032" cy="256032"/>
          </a:xfrm>
          <a:prstGeom prst="ellipse">
            <a:avLst/>
          </a:prstGeom>
          <a:solidFill>
            <a:srgbClr val="FAF6EF"/>
          </a:solidFill>
          <a:ln w="19050">
            <a:solidFill>
              <a:srgbClr val="9A9183"/>
            </a:solidFill>
            <a:prstDash val="solid"/>
          </a:ln>
        </p:spPr>
      </p:sp>
      <p:sp>
        <p:nvSpPr>
          <p:cNvPr id="24" name="Text 21"/>
          <p:cNvSpPr txBox="1"/>
          <p:nvPr/>
        </p:nvSpPr>
        <p:spPr>
          <a:xfrm>
            <a:off x="699516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4334256"/>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3611880" y="4114800"/>
            <a:ext cx="949147"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3703320" y="4114800"/>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the Yape…</a:t>
            </a:r>
            <a:endParaRPr lang="en-US" sz="750" dirty="0"/>
          </a:p>
        </p:txBody>
      </p:sp>
      <p:sp>
        <p:nvSpPr>
          <p:cNvPr id="28" name="Shape 25"/>
          <p:cNvSpPr/>
          <p:nvPr/>
        </p:nvSpPr>
        <p:spPr>
          <a:xfrm>
            <a:off x="4670755" y="4114800"/>
            <a:ext cx="901690" cy="365760"/>
          </a:xfrm>
          <a:prstGeom prst="roundRect">
            <a:avLst>
              <a:gd name="adj" fmla="val 50000"/>
            </a:avLst>
          </a:prstGeom>
          <a:solidFill>
            <a:srgbClr val="EFE9DC"/>
          </a:solidFill>
          <a:ln w="9525">
            <a:solidFill>
              <a:srgbClr val="DFD6C7"/>
            </a:solidFill>
            <a:prstDash val="solid"/>
          </a:ln>
        </p:spPr>
      </p:sp>
      <p:sp>
        <p:nvSpPr>
          <p:cNvPr id="29" name="Text 26"/>
          <p:cNvSpPr txBox="1"/>
          <p:nvPr/>
        </p:nvSpPr>
        <p:spPr>
          <a:xfrm>
            <a:off x="4762195" y="4114800"/>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Yap, Mi…</a:t>
            </a:r>
            <a:endParaRPr lang="en-US" sz="750" dirty="0"/>
          </a:p>
        </p:txBody>
      </p:sp>
      <p:sp>
        <p:nvSpPr>
          <p:cNvPr id="30" name="Shape 27"/>
          <p:cNvSpPr/>
          <p:nvPr/>
        </p:nvSpPr>
        <p:spPr>
          <a:xfrm>
            <a:off x="5682173" y="4114800"/>
            <a:ext cx="806775" cy="365760"/>
          </a:xfrm>
          <a:prstGeom prst="roundRect">
            <a:avLst>
              <a:gd name="adj" fmla="val 50000"/>
            </a:avLst>
          </a:prstGeom>
          <a:solidFill>
            <a:srgbClr val="EFE9DC"/>
          </a:solidFill>
          <a:ln w="9525">
            <a:solidFill>
              <a:srgbClr val="DFD6C7"/>
            </a:solidFill>
            <a:prstDash val="solid"/>
          </a:ln>
        </p:spPr>
      </p:sp>
      <p:sp>
        <p:nvSpPr>
          <p:cNvPr id="31" name="Text 28"/>
          <p:cNvSpPr txBox="1"/>
          <p:nvPr/>
        </p:nvSpPr>
        <p:spPr>
          <a:xfrm>
            <a:off x="5773613" y="411480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Yap, …</a:t>
            </a:r>
            <a:endParaRPr lang="en-US" sz="750" dirty="0"/>
          </a:p>
        </p:txBody>
      </p:sp>
      <p:sp>
        <p:nvSpPr>
          <p:cNvPr id="32" name="Shape 29"/>
          <p:cNvSpPr/>
          <p:nvPr/>
        </p:nvSpPr>
        <p:spPr>
          <a:xfrm>
            <a:off x="6598676" y="4114800"/>
            <a:ext cx="2088124" cy="365760"/>
          </a:xfrm>
          <a:prstGeom prst="roundRect">
            <a:avLst>
              <a:gd name="adj" fmla="val 50000"/>
            </a:avLst>
          </a:prstGeom>
          <a:solidFill>
            <a:srgbClr val="2F6D62"/>
          </a:solidFill>
          <a:ln w="9525">
            <a:solidFill>
              <a:srgbClr val="2F6D62"/>
            </a:solidFill>
            <a:prstDash val="solid"/>
          </a:ln>
        </p:spPr>
      </p:sp>
      <p:sp>
        <p:nvSpPr>
          <p:cNvPr id="33" name="Text 30"/>
          <p:cNvSpPr txBox="1"/>
          <p:nvPr/>
        </p:nvSpPr>
        <p:spPr>
          <a:xfrm>
            <a:off x="6690116" y="4114800"/>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pic>
        <p:nvPicPr>
          <p:cNvPr id="7" name="Image 0" descr="../../03-materials/ch01/assets/photo_met_tablet.jpg">    </p:cNvPr>
          <p:cNvPicPr>
            <a:picLocks noChangeAspect="1"/>
          </p:cNvPicPr>
          <p:nvPr/>
        </p:nvPicPr>
        <p:blipFill>
          <a:blip r:embed="rId1"/>
          <a:srcRect l="0" r="0" t="0" b="0"/>
          <a:stretch/>
        </p:blipFill>
        <p:spPr>
          <a:xfrm>
            <a:off x="685800" y="1417320"/>
            <a:ext cx="1600200" cy="1325880"/>
          </a:xfrm>
          <a:prstGeom prst="rect">
            <a:avLst/>
          </a:prstGeom>
        </p:spPr>
      </p:pic>
      <p:sp>
        <p:nvSpPr>
          <p:cNvPr id="8" name="Text 5"/>
          <p:cNvSpPr txBox="1"/>
          <p:nvPr/>
        </p:nvSpPr>
        <p:spPr>
          <a:xfrm>
            <a:off x="68580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barley account, Sumer - Met, CC0</a:t>
            </a:r>
            <a:endParaRPr lang="en-US" sz="900" dirty="0"/>
          </a:p>
        </p:txBody>
      </p:sp>
      <p:pic>
        <p:nvPicPr>
          <p:cNvPr id="9" name="Image 1" descr="../../03-materials/ch01/assets/photo_cma_stater.jpg">    </p:cNvPr>
          <p:cNvPicPr>
            <a:picLocks noChangeAspect="1"/>
          </p:cNvPicPr>
          <p:nvPr/>
        </p:nvPicPr>
        <p:blipFill>
          <a:blip r:embed="rId2"/>
          <a:srcRect l="0" r="0" t="0" b="0"/>
          <a:stretch/>
        </p:blipFill>
        <p:spPr>
          <a:xfrm>
            <a:off x="6903720" y="1417320"/>
            <a:ext cx="1600200" cy="1325880"/>
          </a:xfrm>
          <a:prstGeom prst="rect">
            <a:avLst/>
          </a:prstGeom>
        </p:spPr>
      </p:pic>
      <p:sp>
        <p:nvSpPr>
          <p:cNvPr id="10" name="Text 6"/>
          <p:cNvSpPr txBox="1"/>
          <p:nvPr/>
        </p:nvSpPr>
        <p:spPr>
          <a:xfrm>
            <a:off x="690372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CMA, CC0</a:t>
            </a:r>
            <a:endParaRPr lang="en-US" sz="900" dirty="0"/>
          </a:p>
        </p:txBody>
      </p:sp>
      <p:sp>
        <p:nvSpPr>
          <p:cNvPr id="11" name="Text 7"/>
          <p:cNvSpPr txBox="1"/>
          <p:nvPr/>
        </p:nvSpPr>
        <p:spPr>
          <a:xfrm>
            <a:off x="2514600" y="1737360"/>
            <a:ext cx="4206240" cy="822960"/>
          </a:xfrm>
          <a:prstGeom prst="rect">
            <a:avLst/>
          </a:prstGeom>
          <a:noFill/>
          <a:ln/>
        </p:spPr>
        <p:txBody>
          <a:bodyPr wrap="square" lIns="0" tIns="0" rIns="0" bIns="0" rtlCol="0" anchor="t"/>
          <a:lstStyle/>
          <a:p>
            <a:pPr algn="l" indent="0" marL="0">
              <a:buNone/>
            </a:pPr>
            <a:r>
              <a:rPr lang="en-US" sz="1250" i="1" dirty="0">
                <a:solidFill>
                  <a:srgbClr val="6E655C"/>
                </a:solidFill>
                <a:latin typeface="Calibri" pitchFamily="34" charset="0"/>
                <a:ea typeface="Calibri" pitchFamily="34" charset="-122"/>
                <a:cs typeface="Calibri" pitchFamily="34" charset="-120"/>
              </a:rPr>
              <a:t>The oldest money we can hold is already a ledger entry (left) and a standard token (right).</a:t>
            </a:r>
            <a:endParaRPr lang="en-US" sz="1250" dirty="0"/>
          </a:p>
        </p:txBody>
      </p:sp>
      <p:sp>
        <p:nvSpPr>
          <p:cNvPr id="12" name="Shape 8"/>
          <p:cNvSpPr/>
          <p:nvPr/>
        </p:nvSpPr>
        <p:spPr>
          <a:xfrm>
            <a:off x="457200" y="3552444"/>
            <a:ext cx="8229600" cy="0"/>
          </a:xfrm>
          <a:prstGeom prst="line">
            <a:avLst/>
          </a:prstGeom>
          <a:noFill/>
          <a:ln w="25400">
            <a:solidFill>
              <a:srgbClr val="C9BFAE"/>
            </a:solidFill>
            <a:prstDash val="solid"/>
          </a:ln>
        </p:spPr>
      </p:sp>
      <p:sp>
        <p:nvSpPr>
          <p:cNvPr id="13" name="Shape 9"/>
          <p:cNvSpPr/>
          <p:nvPr/>
        </p:nvSpPr>
        <p:spPr>
          <a:xfrm>
            <a:off x="557784" y="3470148"/>
            <a:ext cx="164592" cy="164592"/>
          </a:xfrm>
          <a:prstGeom prst="ellipse">
            <a:avLst/>
          </a:prstGeom>
          <a:solidFill>
            <a:srgbClr val="2F6D62"/>
          </a:solidFill>
          <a:ln w="12700">
            <a:solidFill>
              <a:srgbClr val="FFFFFF"/>
            </a:solidFill>
            <a:prstDash val="solid"/>
          </a:ln>
        </p:spPr>
      </p:sp>
      <p:sp>
        <p:nvSpPr>
          <p:cNvPr id="14" name="Text 10"/>
          <p:cNvSpPr txBox="1"/>
          <p:nvPr/>
        </p:nvSpPr>
        <p:spPr>
          <a:xfrm>
            <a:off x="365760"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5" name="Text 11"/>
          <p:cNvSpPr txBox="1"/>
          <p:nvPr/>
        </p:nvSpPr>
        <p:spPr>
          <a:xfrm>
            <a:off x="365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6" name="Shape 12"/>
          <p:cNvSpPr/>
          <p:nvPr/>
        </p:nvSpPr>
        <p:spPr>
          <a:xfrm>
            <a:off x="2130552" y="3470148"/>
            <a:ext cx="164592" cy="164592"/>
          </a:xfrm>
          <a:prstGeom prst="ellipse">
            <a:avLst/>
          </a:prstGeom>
          <a:solidFill>
            <a:srgbClr val="2F6D62"/>
          </a:solidFill>
          <a:ln w="12700">
            <a:solidFill>
              <a:srgbClr val="FFFFFF"/>
            </a:solidFill>
            <a:prstDash val="solid"/>
          </a:ln>
        </p:spPr>
      </p:sp>
      <p:sp>
        <p:nvSpPr>
          <p:cNvPr id="17" name="Text 13"/>
          <p:cNvSpPr txBox="1"/>
          <p:nvPr/>
        </p:nvSpPr>
        <p:spPr>
          <a:xfrm>
            <a:off x="1664208"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8" name="Text 14"/>
          <p:cNvSpPr txBox="1"/>
          <p:nvPr/>
        </p:nvSpPr>
        <p:spPr>
          <a:xfrm>
            <a:off x="1435608"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9" name="Shape 15"/>
          <p:cNvSpPr/>
          <p:nvPr/>
        </p:nvSpPr>
        <p:spPr>
          <a:xfrm>
            <a:off x="3703320" y="3470148"/>
            <a:ext cx="164592" cy="164592"/>
          </a:xfrm>
          <a:prstGeom prst="ellipse">
            <a:avLst/>
          </a:prstGeom>
          <a:solidFill>
            <a:srgbClr val="2F6D62"/>
          </a:solidFill>
          <a:ln w="12700">
            <a:solidFill>
              <a:srgbClr val="FFFFFF"/>
            </a:solidFill>
            <a:prstDash val="solid"/>
          </a:ln>
        </p:spPr>
      </p:sp>
      <p:sp>
        <p:nvSpPr>
          <p:cNvPr id="20" name="Text 16"/>
          <p:cNvSpPr txBox="1"/>
          <p:nvPr/>
        </p:nvSpPr>
        <p:spPr>
          <a:xfrm>
            <a:off x="3236976"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21" name="Text 17"/>
          <p:cNvSpPr txBox="1"/>
          <p:nvPr/>
        </p:nvSpPr>
        <p:spPr>
          <a:xfrm>
            <a:off x="3008376"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22" name="Shape 18"/>
          <p:cNvSpPr/>
          <p:nvPr/>
        </p:nvSpPr>
        <p:spPr>
          <a:xfrm>
            <a:off x="5276088" y="3470148"/>
            <a:ext cx="164592" cy="164592"/>
          </a:xfrm>
          <a:prstGeom prst="ellipse">
            <a:avLst/>
          </a:prstGeom>
          <a:solidFill>
            <a:srgbClr val="2F6D62"/>
          </a:solidFill>
          <a:ln w="12700">
            <a:solidFill>
              <a:srgbClr val="FFFFFF"/>
            </a:solidFill>
            <a:prstDash val="solid"/>
          </a:ln>
        </p:spPr>
      </p:sp>
      <p:sp>
        <p:nvSpPr>
          <p:cNvPr id="23" name="Text 19"/>
          <p:cNvSpPr txBox="1"/>
          <p:nvPr/>
        </p:nvSpPr>
        <p:spPr>
          <a:xfrm>
            <a:off x="4809744"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24" name="Text 20"/>
          <p:cNvSpPr txBox="1"/>
          <p:nvPr/>
        </p:nvSpPr>
        <p:spPr>
          <a:xfrm>
            <a:off x="4581144"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5" name="Shape 21"/>
          <p:cNvSpPr/>
          <p:nvPr/>
        </p:nvSpPr>
        <p:spPr>
          <a:xfrm>
            <a:off x="6848856" y="3470148"/>
            <a:ext cx="164592" cy="164592"/>
          </a:xfrm>
          <a:prstGeom prst="ellipse">
            <a:avLst/>
          </a:prstGeom>
          <a:solidFill>
            <a:srgbClr val="2F6D62"/>
          </a:solidFill>
          <a:ln w="12700">
            <a:solidFill>
              <a:srgbClr val="FFFFFF"/>
            </a:solidFill>
            <a:prstDash val="solid"/>
          </a:ln>
        </p:spPr>
      </p:sp>
      <p:sp>
        <p:nvSpPr>
          <p:cNvPr id="26" name="Text 22"/>
          <p:cNvSpPr txBox="1"/>
          <p:nvPr/>
        </p:nvSpPr>
        <p:spPr>
          <a:xfrm>
            <a:off x="6382512"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7" name="Text 23"/>
          <p:cNvSpPr txBox="1"/>
          <p:nvPr/>
        </p:nvSpPr>
        <p:spPr>
          <a:xfrm>
            <a:off x="6153912"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8" name="Shape 24"/>
          <p:cNvSpPr/>
          <p:nvPr/>
        </p:nvSpPr>
        <p:spPr>
          <a:xfrm>
            <a:off x="8421624" y="3470148"/>
            <a:ext cx="164592" cy="164592"/>
          </a:xfrm>
          <a:prstGeom prst="ellipse">
            <a:avLst/>
          </a:prstGeom>
          <a:solidFill>
            <a:srgbClr val="D97A14"/>
          </a:solidFill>
          <a:ln w="12700">
            <a:solidFill>
              <a:srgbClr val="FFFFFF"/>
            </a:solidFill>
            <a:prstDash val="solid"/>
          </a:ln>
        </p:spPr>
      </p:sp>
      <p:sp>
        <p:nvSpPr>
          <p:cNvPr id="29" name="Text 25"/>
          <p:cNvSpPr txBox="1"/>
          <p:nvPr/>
        </p:nvSpPr>
        <p:spPr>
          <a:xfrm>
            <a:off x="7680960" y="3076956"/>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30" name="Text 26"/>
          <p:cNvSpPr txBox="1"/>
          <p:nvPr/>
        </p:nvSpPr>
        <p:spPr>
          <a:xfrm>
            <a:off x="7223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31" name="Shape 27"/>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32" name="Text 28"/>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ledger-keepers, from tem…</a:t>
            </a:r>
            <a:endParaRPr lang="en-US" sz="750" dirty="0"/>
          </a:p>
        </p:txBody>
      </p:sp>
      <p:sp>
        <p:nvSpPr>
          <p:cNvPr id="33" name="Shape 29"/>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34" name="Text 30"/>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Mesopotamia, Lydia, Ch…</a:t>
            </a:r>
            <a:endParaRPr lang="en-US" sz="750" dirty="0"/>
          </a:p>
        </p:txBody>
      </p:sp>
      <p:sp>
        <p:nvSpPr>
          <p:cNvPr id="35" name="Shape 31"/>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6" name="Text 32"/>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c. 3000 BCE - 20…</a:t>
            </a:r>
            <a:endParaRPr lang="en-US" sz="750" dirty="0"/>
          </a:p>
        </p:txBody>
      </p:sp>
      <p:sp>
        <p:nvSpPr>
          <p:cNvPr id="37" name="Shape 33"/>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8" name="Text 34"/>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39"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41"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Physical cash: superb in person, stuck there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oldest form still works - and where it stops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praising Bitcoin, be fair to cash: it settles instantly, anonymously, with no middleman - but it cannot reach the internet.</a:t>
            </a:r>
            <a:endParaRPr lang="en-US" sz="1250" dirty="0"/>
          </a:p>
        </p:txBody>
      </p:sp>
      <p:sp>
        <p:nvSpPr>
          <p:cNvPr id="7" name="Shape 5"/>
          <p:cNvSpPr/>
          <p:nvPr/>
        </p:nvSpPr>
        <p:spPr>
          <a:xfrm>
            <a:off x="457200" y="1554480"/>
            <a:ext cx="3931920" cy="2834640"/>
          </a:xfrm>
          <a:prstGeom prst="roundRect">
            <a:avLst>
              <a:gd name="adj" fmla="val 3226"/>
            </a:avLst>
          </a:prstGeom>
          <a:solidFill>
            <a:srgbClr val="F2ECE1"/>
          </a:solidFill>
          <a:ln w="15875">
            <a:solidFill>
              <a:srgbClr val="D97A14"/>
            </a:solidFill>
            <a:prstDash val="solid"/>
          </a:ln>
        </p:spPr>
      </p:sp>
      <p:sp>
        <p:nvSpPr>
          <p:cNvPr id="8" name="Text 6"/>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cash does well</a:t>
            </a:r>
            <a:endParaRPr lang="en-US" sz="1500" dirty="0"/>
          </a:p>
        </p:txBody>
      </p:sp>
      <p:sp>
        <p:nvSpPr>
          <p:cNvPr id="9" name="Text 7"/>
          <p:cNvSpPr txBox="1"/>
          <p:nvPr/>
        </p:nvSpPr>
        <p:spPr>
          <a:xfrm>
            <a:off x="64008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Settles hand to hand, instantly and finally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Needs no account, bank, identity, or permission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be frozen or censored remotely</a:t>
            </a:r>
            <a:endParaRPr lang="en-US" sz="1250" dirty="0"/>
          </a:p>
        </p:txBody>
      </p:sp>
      <p:sp>
        <p:nvSpPr>
          <p:cNvPr id="10" name="Shape 8"/>
          <p:cNvSpPr/>
          <p:nvPr/>
        </p:nvSpPr>
        <p:spPr>
          <a:xfrm>
            <a:off x="4754880" y="1554480"/>
            <a:ext cx="3931920" cy="2834640"/>
          </a:xfrm>
          <a:prstGeom prst="roundRect">
            <a:avLst>
              <a:gd name="adj" fmla="val 3226"/>
            </a:avLst>
          </a:prstGeom>
          <a:solidFill>
            <a:srgbClr val="F2ECE1"/>
          </a:solidFill>
          <a:ln w="15875">
            <a:solidFill>
              <a:srgbClr val="2F6D62"/>
            </a:solidFill>
            <a:prstDash val="solid"/>
          </a:ln>
        </p:spPr>
      </p:sp>
      <p:sp>
        <p:nvSpPr>
          <p:cNvPr id="11" name="Text 9"/>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Where it fails</a:t>
            </a:r>
            <a:endParaRPr lang="en-US" sz="1500" dirty="0"/>
          </a:p>
        </p:txBody>
      </p:sp>
      <p:sp>
        <p:nvSpPr>
          <p:cNvPr id="12" name="Text 10"/>
          <p:cNvSpPr txBox="1"/>
          <p:nvPr/>
        </p:nvSpPr>
        <p:spPr>
          <a:xfrm>
            <a:off x="493776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travel a wire - no remote commerce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Theft and loss are final; carrying value is risky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Counterfeiting must be policed forever</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Cash is a bearer instrument: perfect in person, useless on a network</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asking why Bitcoin exists, remember the dot-com race: the web needed money, companies built it as accounts - and the failures took their users' balances down with them.</a:t>
            </a:r>
            <a:endParaRPr lang="en-US" sz="1250" dirty="0"/>
          </a:p>
        </p:txBody>
      </p:sp>
      <p:sp>
        <p:nvSpPr>
          <p:cNvPr id="7" name="Shape 5"/>
          <p:cNvSpPr/>
          <p:nvPr/>
        </p:nvSpPr>
        <p:spPr>
          <a:xfrm>
            <a:off x="457200" y="2329891"/>
            <a:ext cx="8229600" cy="0"/>
          </a:xfrm>
          <a:prstGeom prst="line">
            <a:avLst/>
          </a:prstGeom>
          <a:noFill/>
          <a:ln w="25400">
            <a:solidFill>
              <a:srgbClr val="C9BFAE"/>
            </a:solidFill>
            <a:prstDash val="solid"/>
          </a:ln>
        </p:spPr>
      </p:sp>
      <p:sp>
        <p:nvSpPr>
          <p:cNvPr id="8" name="Shape 6"/>
          <p:cNvSpPr/>
          <p:nvPr/>
        </p:nvSpPr>
        <p:spPr>
          <a:xfrm>
            <a:off x="557784" y="2247595"/>
            <a:ext cx="164592" cy="164592"/>
          </a:xfrm>
          <a:prstGeom prst="ellipse">
            <a:avLst/>
          </a:prstGeom>
          <a:solidFill>
            <a:srgbClr val="2F6D62"/>
          </a:solidFill>
          <a:ln w="12700">
            <a:solidFill>
              <a:srgbClr val="FFFFFF"/>
            </a:solidFill>
            <a:prstDash val="solid"/>
          </a:ln>
        </p:spPr>
      </p:sp>
      <p:sp>
        <p:nvSpPr>
          <p:cNvPr id="9" name="Text 7"/>
          <p:cNvSpPr txBox="1"/>
          <p:nvPr/>
        </p:nvSpPr>
        <p:spPr>
          <a:xfrm>
            <a:off x="3657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0" name="Text 8"/>
          <p:cNvSpPr txBox="1"/>
          <p:nvPr/>
        </p:nvSpPr>
        <p:spPr>
          <a:xfrm>
            <a:off x="365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Confinity - Levchin and Thiel</a:t>
            </a:r>
            <a:endParaRPr lang="en-US" sz="1000" dirty="0"/>
          </a:p>
        </p:txBody>
      </p:sp>
      <p:sp>
        <p:nvSpPr>
          <p:cNvPr id="11" name="Shape 9"/>
          <p:cNvSpPr/>
          <p:nvPr/>
        </p:nvSpPr>
        <p:spPr>
          <a:xfrm>
            <a:off x="2523744" y="2247595"/>
            <a:ext cx="164592" cy="164592"/>
          </a:xfrm>
          <a:prstGeom prst="ellipse">
            <a:avLst/>
          </a:prstGeom>
          <a:solidFill>
            <a:srgbClr val="2F6D62"/>
          </a:solidFill>
          <a:ln w="12700">
            <a:solidFill>
              <a:srgbClr val="FFFFFF"/>
            </a:solidFill>
            <a:prstDash val="solid"/>
          </a:ln>
        </p:spPr>
      </p:sp>
      <p:sp>
        <p:nvSpPr>
          <p:cNvPr id="12" name="Text 10"/>
          <p:cNvSpPr txBox="1"/>
          <p:nvPr/>
        </p:nvSpPr>
        <p:spPr>
          <a:xfrm>
            <a:off x="205740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1999</a:t>
            </a:r>
            <a:endParaRPr lang="en-US" sz="1200" dirty="0"/>
          </a:p>
        </p:txBody>
      </p:sp>
      <p:sp>
        <p:nvSpPr>
          <p:cNvPr id="13" name="Text 11"/>
          <p:cNvSpPr txBox="1"/>
          <p:nvPr/>
        </p:nvSpPr>
        <p:spPr>
          <a:xfrm>
            <a:off x="182880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X.com - Elon Musk</a:t>
            </a:r>
            <a:endParaRPr lang="en-US" sz="1000" dirty="0"/>
          </a:p>
        </p:txBody>
      </p:sp>
      <p:sp>
        <p:nvSpPr>
          <p:cNvPr id="14" name="Shape 12"/>
          <p:cNvSpPr/>
          <p:nvPr/>
        </p:nvSpPr>
        <p:spPr>
          <a:xfrm>
            <a:off x="4489704" y="2247595"/>
            <a:ext cx="164592" cy="164592"/>
          </a:xfrm>
          <a:prstGeom prst="ellipse">
            <a:avLst/>
          </a:prstGeom>
          <a:solidFill>
            <a:srgbClr val="2F6D62"/>
          </a:solidFill>
          <a:ln w="12700">
            <a:solidFill>
              <a:srgbClr val="FFFFFF"/>
            </a:solidFill>
            <a:prstDash val="solid"/>
          </a:ln>
        </p:spPr>
      </p:sp>
      <p:sp>
        <p:nvSpPr>
          <p:cNvPr id="15" name="Text 13"/>
          <p:cNvSpPr txBox="1"/>
          <p:nvPr/>
        </p:nvSpPr>
        <p:spPr>
          <a:xfrm>
            <a:off x="40233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2000</a:t>
            </a:r>
            <a:endParaRPr lang="en-US" sz="1200" dirty="0"/>
          </a:p>
        </p:txBody>
      </p:sp>
      <p:sp>
        <p:nvSpPr>
          <p:cNvPr id="16" name="Text 14"/>
          <p:cNvSpPr txBox="1"/>
          <p:nvPr/>
        </p:nvSpPr>
        <p:spPr>
          <a:xfrm>
            <a:off x="3794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they merge; dot-com crash begins</a:t>
            </a:r>
            <a:endParaRPr lang="en-US" sz="1000" dirty="0"/>
          </a:p>
        </p:txBody>
      </p:sp>
      <p:sp>
        <p:nvSpPr>
          <p:cNvPr id="17" name="Shape 15"/>
          <p:cNvSpPr/>
          <p:nvPr/>
        </p:nvSpPr>
        <p:spPr>
          <a:xfrm>
            <a:off x="6455664" y="2247595"/>
            <a:ext cx="164592" cy="164592"/>
          </a:xfrm>
          <a:prstGeom prst="ellipse">
            <a:avLst/>
          </a:prstGeom>
          <a:solidFill>
            <a:srgbClr val="D97A14"/>
          </a:solidFill>
          <a:ln w="12700">
            <a:solidFill>
              <a:srgbClr val="FFFFFF"/>
            </a:solidFill>
            <a:prstDash val="solid"/>
          </a:ln>
        </p:spPr>
      </p:sp>
      <p:sp>
        <p:nvSpPr>
          <p:cNvPr id="18" name="Text 16"/>
          <p:cNvSpPr txBox="1"/>
          <p:nvPr/>
        </p:nvSpPr>
        <p:spPr>
          <a:xfrm>
            <a:off x="5989320" y="1854403"/>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2001</a:t>
            </a:r>
            <a:endParaRPr lang="en-US" sz="1200" dirty="0"/>
          </a:p>
        </p:txBody>
      </p:sp>
      <p:sp>
        <p:nvSpPr>
          <p:cNvPr id="19" name="Text 17"/>
          <p:cNvSpPr txBox="1"/>
          <p:nvPr/>
        </p:nvSpPr>
        <p:spPr>
          <a:xfrm>
            <a:off x="576072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Beenz and Flooz die with the crash</a:t>
            </a:r>
            <a:endParaRPr lang="en-US" sz="1000" dirty="0"/>
          </a:p>
        </p:txBody>
      </p:sp>
      <p:sp>
        <p:nvSpPr>
          <p:cNvPr id="20" name="Shape 18"/>
          <p:cNvSpPr/>
          <p:nvPr/>
        </p:nvSpPr>
        <p:spPr>
          <a:xfrm>
            <a:off x="8421624" y="2247595"/>
            <a:ext cx="164592" cy="164592"/>
          </a:xfrm>
          <a:prstGeom prst="ellipse">
            <a:avLst/>
          </a:prstGeom>
          <a:solidFill>
            <a:srgbClr val="2F6D62"/>
          </a:solidFill>
          <a:ln w="12700">
            <a:solidFill>
              <a:srgbClr val="FFFFFF"/>
            </a:solidFill>
            <a:prstDash val="solid"/>
          </a:ln>
        </p:spPr>
      </p:sp>
      <p:sp>
        <p:nvSpPr>
          <p:cNvPr id="21" name="Text 19"/>
          <p:cNvSpPr txBox="1"/>
          <p:nvPr/>
        </p:nvSpPr>
        <p:spPr>
          <a:xfrm>
            <a:off x="76809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2002</a:t>
            </a:r>
            <a:endParaRPr lang="en-US" sz="1200" dirty="0"/>
          </a:p>
        </p:txBody>
      </p:sp>
      <p:sp>
        <p:nvSpPr>
          <p:cNvPr id="22" name="Text 20"/>
          <p:cNvSpPr txBox="1"/>
          <p:nvPr/>
        </p:nvSpPr>
        <p:spPr>
          <a:xfrm>
            <a:off x="7223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PayPal sold to eBay, $1.5B</a:t>
            </a:r>
            <a:endParaRPr lang="en-US" sz="1000" dirty="0"/>
          </a:p>
        </p:txBody>
      </p:sp>
      <p:sp>
        <p:nvSpPr>
          <p:cNvPr id="23" name="Text 21"/>
          <p:cNvSpPr txBox="1"/>
          <p:nvPr/>
        </p:nvSpPr>
        <p:spPr>
          <a:xfrm>
            <a:off x="457200" y="3383280"/>
            <a:ext cx="6812280" cy="548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What survived was account money on one company's ledger - convenient, reversible, and censorable</a:t>
            </a:r>
            <a:endParaRPr lang="en-US" sz="1250" dirty="0"/>
          </a:p>
        </p:txBody>
      </p:sp>
      <p:pic>
        <p:nvPicPr>
          <p:cNvPr id="24" name="Image 0" descr="../../03-materials/ch01/assets/photo_paypal_logo.png">    </p:cNvPr>
          <p:cNvPicPr>
            <a:picLocks noChangeAspect="1"/>
          </p:cNvPicPr>
          <p:nvPr/>
        </p:nvPicPr>
        <p:blipFill>
          <a:blip r:embed="rId1"/>
          <a:srcRect l="0" r="0" t="0" b="0"/>
          <a:stretch/>
        </p:blipFill>
        <p:spPr>
          <a:xfrm>
            <a:off x="7589520" y="3200400"/>
            <a:ext cx="1097280" cy="731520"/>
          </a:xfrm>
          <a:prstGeom prst="rect">
            <a:avLst/>
          </a:prstGeom>
        </p:spPr>
      </p:pic>
      <p:sp>
        <p:nvSpPr>
          <p:cNvPr id="25" name="Shape 22"/>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Max Levchin and Peter Th…</a:t>
            </a:r>
            <a:endParaRPr lang="en-US" sz="750" dirty="0"/>
          </a:p>
        </p:txBody>
      </p:sp>
      <p:sp>
        <p:nvSpPr>
          <p:cNvPr id="27" name="Shape 24"/>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8" name="Text 25"/>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Palo Alto, in the dot-…</a:t>
            </a:r>
            <a:endParaRPr lang="en-US" sz="750" dirty="0"/>
          </a:p>
        </p:txBody>
      </p:sp>
      <p:sp>
        <p:nvSpPr>
          <p:cNvPr id="29" name="Shape 26"/>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0" name="Text 27"/>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1998 - 2002</a:t>
            </a:r>
            <a:endParaRPr lang="en-US" sz="750" dirty="0"/>
          </a:p>
        </p:txBody>
      </p:sp>
      <p:sp>
        <p:nvSpPr>
          <p:cNvPr id="31" name="Shape 28"/>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2" name="Text 29"/>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Form S-1, 2001 (SEC filing)</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sec.gov</a:t>
            </a:r>
            <a:endParaRPr lang="en-US" sz="750" dirty="0"/>
          </a:p>
        </p:txBody>
      </p:sp>
      <p:sp>
        <p:nvSpPr>
          <p:cNvPr id="33"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Payments went online in 1998-2002; cash never did</a:t>
            </a:r>
            <a:endParaRPr lang="en-US" sz="1350" dirty="0"/>
          </a:p>
        </p:txBody>
      </p:sp>
      <p:sp>
        <p:nvSpPr>
          <p:cNvPr id="35"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 no hypotheticals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E-commerce without cards, aid without banks, savings under levies, wages under hyperinflation, a state under invasion: each card below is a real, dated case with its source.</a:t>
            </a:r>
            <a:endParaRPr lang="en-US" sz="1250" dirty="0"/>
          </a:p>
        </p:txBody>
      </p:sp>
      <p:sp>
        <p:nvSpPr>
          <p:cNvPr id="7" name="Shape 5"/>
          <p:cNvSpPr/>
          <p:nvPr/>
        </p:nvSpPr>
        <p:spPr>
          <a:xfrm>
            <a:off x="365760" y="1554480"/>
            <a:ext cx="1521562" cy="2359152"/>
          </a:xfrm>
          <a:prstGeom prst="roundRect">
            <a:avLst>
              <a:gd name="adj" fmla="val 6010"/>
            </a:avLst>
          </a:prstGeom>
          <a:solidFill>
            <a:srgbClr val="F2ECE1"/>
          </a:solidFill>
          <a:ln w="12700">
            <a:solidFill>
              <a:srgbClr val="DFD6C7"/>
            </a:solidFill>
            <a:prstDash val="solid"/>
          </a:ln>
        </p:spPr>
      </p:sp>
      <p:pic>
        <p:nvPicPr>
          <p:cNvPr id="8" name="Image 0" descr="../../03-materials/ch01/assets/photo_mpesa_agent.jpg">    </p:cNvPr>
          <p:cNvPicPr>
            <a:picLocks noChangeAspect="1"/>
          </p:cNvPicPr>
          <p:nvPr/>
        </p:nvPicPr>
        <p:blipFill>
          <a:blip r:embed="rId1"/>
          <a:srcRect l="0" r="0" t="0" b="0"/>
          <a:stretch/>
        </p:blipFill>
        <p:spPr>
          <a:xfrm>
            <a:off x="457200" y="1645920"/>
            <a:ext cx="1338682" cy="658368"/>
          </a:xfrm>
          <a:prstGeom prst="rect">
            <a:avLst/>
          </a:prstGeom>
        </p:spPr>
      </p:pic>
      <p:sp>
        <p:nvSpPr>
          <p:cNvPr id="9" name="Shape 6"/>
          <p:cNvSpPr/>
          <p:nvPr/>
        </p:nvSpPr>
        <p:spPr>
          <a:xfrm>
            <a:off x="475488" y="2359152"/>
            <a:ext cx="1302106" cy="329184"/>
          </a:xfrm>
          <a:prstGeom prst="roundRect">
            <a:avLst>
              <a:gd name="adj" fmla="val 50000"/>
            </a:avLst>
          </a:prstGeom>
          <a:solidFill>
            <a:srgbClr val="2F6D62"/>
          </a:solidFill>
          <a:ln w="12700">
            <a:solidFill>
              <a:srgbClr val="2F6D62"/>
            </a:solidFill>
            <a:prstDash val="solid"/>
          </a:ln>
        </p:spPr>
      </p:sp>
      <p:sp>
        <p:nvSpPr>
          <p:cNvPr id="10" name="Text 7"/>
          <p:cNvSpPr txBox="1"/>
          <p:nvPr/>
        </p:nvSpPr>
        <p:spPr>
          <a:xfrm>
            <a:off x="47548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Kenya  </a:t>
            </a:r>
            <a:pPr algn="ctr" indent="0" marL="0">
              <a:buNone/>
            </a:pPr>
            <a:r>
              <a:rPr lang="en-US" sz="1000" dirty="0">
                <a:solidFill>
                  <a:srgbClr val="D7E4E0"/>
                </a:solidFill>
                <a:latin typeface="Calibri" pitchFamily="34" charset="0"/>
                <a:ea typeface="Calibri" pitchFamily="34" charset="-122"/>
                <a:cs typeface="Calibri" pitchFamily="34" charset="-120"/>
              </a:rPr>
              <a:t>2007</a:t>
            </a:r>
            <a:endParaRPr lang="en-US" sz="1100" dirty="0"/>
          </a:p>
        </p:txBody>
      </p:sp>
      <p:sp>
        <p:nvSpPr>
          <p:cNvPr id="11" name="Text 8"/>
          <p:cNvSpPr txBox="1"/>
          <p:nvPr/>
        </p:nvSpPr>
        <p:spPr>
          <a:xfrm>
            <a:off x="49377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950" dirty="0"/>
          </a:p>
        </p:txBody>
      </p:sp>
      <p:sp>
        <p:nvSpPr>
          <p:cNvPr id="12" name="Text 9"/>
          <p:cNvSpPr txBox="1"/>
          <p:nvPr/>
        </p:nvSpPr>
        <p:spPr>
          <a:xfrm>
            <a:off x="49377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3" name="Shape 10"/>
          <p:cNvSpPr/>
          <p:nvPr/>
        </p:nvSpPr>
        <p:spPr>
          <a:xfrm>
            <a:off x="2088490" y="1554480"/>
            <a:ext cx="1521562" cy="2359152"/>
          </a:xfrm>
          <a:prstGeom prst="roundRect">
            <a:avLst>
              <a:gd name="adj" fmla="val 6010"/>
            </a:avLst>
          </a:prstGeom>
          <a:solidFill>
            <a:srgbClr val="F2ECE1"/>
          </a:solidFill>
          <a:ln w="12700">
            <a:solidFill>
              <a:srgbClr val="DFD6C7"/>
            </a:solidFill>
            <a:prstDash val="solid"/>
          </a:ln>
        </p:spPr>
      </p:sp>
      <p:pic>
        <p:nvPicPr>
          <p:cNvPr id="14" name="Image 1" descr="../../03-materials/ch01/assets/photo_laiki_bank.jpg">    </p:cNvPr>
          <p:cNvPicPr>
            <a:picLocks noChangeAspect="1"/>
          </p:cNvPicPr>
          <p:nvPr/>
        </p:nvPicPr>
        <p:blipFill>
          <a:blip r:embed="rId3"/>
          <a:srcRect l="0" r="0" t="0" b="0"/>
          <a:stretch/>
        </p:blipFill>
        <p:spPr>
          <a:xfrm>
            <a:off x="2179930" y="1645920"/>
            <a:ext cx="1338682" cy="658368"/>
          </a:xfrm>
          <a:prstGeom prst="rect">
            <a:avLst/>
          </a:prstGeom>
        </p:spPr>
      </p:pic>
      <p:sp>
        <p:nvSpPr>
          <p:cNvPr id="15" name="Shape 11"/>
          <p:cNvSpPr/>
          <p:nvPr/>
        </p:nvSpPr>
        <p:spPr>
          <a:xfrm>
            <a:off x="2198218" y="2359152"/>
            <a:ext cx="1302106" cy="329184"/>
          </a:xfrm>
          <a:prstGeom prst="roundRect">
            <a:avLst>
              <a:gd name="adj" fmla="val 50000"/>
            </a:avLst>
          </a:prstGeom>
          <a:solidFill>
            <a:srgbClr val="2F6D62"/>
          </a:solidFill>
          <a:ln w="12700">
            <a:solidFill>
              <a:srgbClr val="2F6D62"/>
            </a:solidFill>
            <a:prstDash val="solid"/>
          </a:ln>
        </p:spPr>
      </p:sp>
      <p:sp>
        <p:nvSpPr>
          <p:cNvPr id="16" name="Text 12"/>
          <p:cNvSpPr txBox="1"/>
          <p:nvPr/>
        </p:nvSpPr>
        <p:spPr>
          <a:xfrm>
            <a:off x="219821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Cyprus  </a:t>
            </a:r>
            <a:pPr algn="ctr" indent="0" marL="0">
              <a:buNone/>
            </a:pPr>
            <a:r>
              <a:rPr lang="en-US" sz="1000" dirty="0">
                <a:solidFill>
                  <a:srgbClr val="D7E4E0"/>
                </a:solidFill>
                <a:latin typeface="Calibri" pitchFamily="34" charset="0"/>
                <a:ea typeface="Calibri" pitchFamily="34" charset="-122"/>
                <a:cs typeface="Calibri" pitchFamily="34" charset="-120"/>
              </a:rPr>
              <a:t>2013</a:t>
            </a:r>
            <a:endParaRPr lang="en-US" sz="1100" dirty="0"/>
          </a:p>
        </p:txBody>
      </p:sp>
      <p:sp>
        <p:nvSpPr>
          <p:cNvPr id="17" name="Text 13"/>
          <p:cNvSpPr txBox="1"/>
          <p:nvPr/>
        </p:nvSpPr>
        <p:spPr>
          <a:xfrm>
            <a:off x="221650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950" dirty="0"/>
          </a:p>
        </p:txBody>
      </p:sp>
      <p:sp>
        <p:nvSpPr>
          <p:cNvPr id="18" name="Text 14"/>
          <p:cNvSpPr txBox="1"/>
          <p:nvPr/>
        </p:nvSpPr>
        <p:spPr>
          <a:xfrm>
            <a:off x="221650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9" name="Shape 15"/>
          <p:cNvSpPr/>
          <p:nvPr/>
        </p:nvSpPr>
        <p:spPr>
          <a:xfrm>
            <a:off x="3811219" y="1554480"/>
            <a:ext cx="1521562" cy="2359152"/>
          </a:xfrm>
          <a:prstGeom prst="roundRect">
            <a:avLst>
              <a:gd name="adj" fmla="val 6010"/>
            </a:avLst>
          </a:prstGeom>
          <a:solidFill>
            <a:srgbClr val="F2ECE1"/>
          </a:solidFill>
          <a:ln w="12700">
            <a:solidFill>
              <a:srgbClr val="DFD6C7"/>
            </a:solidFill>
            <a:prstDash val="solid"/>
          </a:ln>
        </p:spPr>
      </p:sp>
      <p:pic>
        <p:nvPicPr>
          <p:cNvPr id="20" name="Image 2" descr="../../03-materials/ch01/assets/photo_greece_atm.jpg">    </p:cNvPr>
          <p:cNvPicPr>
            <a:picLocks noChangeAspect="1"/>
          </p:cNvPicPr>
          <p:nvPr/>
        </p:nvPicPr>
        <p:blipFill>
          <a:blip r:embed="rId5"/>
          <a:srcRect l="0" r="0" t="0" b="0"/>
          <a:stretch/>
        </p:blipFill>
        <p:spPr>
          <a:xfrm>
            <a:off x="3902659" y="1645920"/>
            <a:ext cx="1338682" cy="658368"/>
          </a:xfrm>
          <a:prstGeom prst="rect">
            <a:avLst/>
          </a:prstGeom>
        </p:spPr>
      </p:pic>
      <p:sp>
        <p:nvSpPr>
          <p:cNvPr id="21" name="Shape 16"/>
          <p:cNvSpPr/>
          <p:nvPr/>
        </p:nvSpPr>
        <p:spPr>
          <a:xfrm>
            <a:off x="3920947" y="2359152"/>
            <a:ext cx="1302106" cy="329184"/>
          </a:xfrm>
          <a:prstGeom prst="roundRect">
            <a:avLst>
              <a:gd name="adj" fmla="val 50000"/>
            </a:avLst>
          </a:prstGeom>
          <a:solidFill>
            <a:srgbClr val="2F6D62"/>
          </a:solidFill>
          <a:ln w="12700">
            <a:solidFill>
              <a:srgbClr val="2F6D62"/>
            </a:solidFill>
            <a:prstDash val="solid"/>
          </a:ln>
        </p:spPr>
      </p:sp>
      <p:sp>
        <p:nvSpPr>
          <p:cNvPr id="22" name="Text 17"/>
          <p:cNvSpPr txBox="1"/>
          <p:nvPr/>
        </p:nvSpPr>
        <p:spPr>
          <a:xfrm>
            <a:off x="392094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Greece  </a:t>
            </a:r>
            <a:pPr algn="ctr" indent="0" marL="0">
              <a:buNone/>
            </a:pPr>
            <a:r>
              <a:rPr lang="en-US" sz="1000" dirty="0">
                <a:solidFill>
                  <a:srgbClr val="D7E4E0"/>
                </a:solidFill>
                <a:latin typeface="Calibri" pitchFamily="34" charset="0"/>
                <a:ea typeface="Calibri" pitchFamily="34" charset="-122"/>
                <a:cs typeface="Calibri" pitchFamily="34" charset="-120"/>
              </a:rPr>
              <a:t>2015</a:t>
            </a:r>
            <a:endParaRPr lang="en-US" sz="1100" dirty="0"/>
          </a:p>
        </p:txBody>
      </p:sp>
      <p:sp>
        <p:nvSpPr>
          <p:cNvPr id="23" name="Text 18"/>
          <p:cNvSpPr txBox="1"/>
          <p:nvPr/>
        </p:nvSpPr>
        <p:spPr>
          <a:xfrm>
            <a:off x="393923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Capital controls: ATM withdrawals capped at 60 euros a day</a:t>
            </a:r>
            <a:endParaRPr lang="en-US" sz="950" dirty="0"/>
          </a:p>
        </p:txBody>
      </p:sp>
      <p:sp>
        <p:nvSpPr>
          <p:cNvPr id="24" name="Text 19"/>
          <p:cNvSpPr txBox="1"/>
          <p:nvPr/>
        </p:nvSpPr>
        <p:spPr>
          <a:xfrm>
            <a:off x="393923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25" name="Shape 20"/>
          <p:cNvSpPr/>
          <p:nvPr/>
        </p:nvSpPr>
        <p:spPr>
          <a:xfrm>
            <a:off x="5533949" y="1554480"/>
            <a:ext cx="1521562" cy="2359152"/>
          </a:xfrm>
          <a:prstGeom prst="roundRect">
            <a:avLst>
              <a:gd name="adj" fmla="val 6010"/>
            </a:avLst>
          </a:prstGeom>
          <a:solidFill>
            <a:srgbClr val="F2ECE1"/>
          </a:solidFill>
          <a:ln w="12700">
            <a:solidFill>
              <a:srgbClr val="DFD6C7"/>
            </a:solidFill>
            <a:prstDash val="solid"/>
          </a:ln>
        </p:spPr>
      </p:sp>
      <p:pic>
        <p:nvPicPr>
          <p:cNvPr id="26" name="Image 3" descr="../../03-materials/ch01/assets/photo_bolivar_note.jpg">    </p:cNvPr>
          <p:cNvPicPr>
            <a:picLocks noChangeAspect="1"/>
          </p:cNvPicPr>
          <p:nvPr/>
        </p:nvPicPr>
        <p:blipFill>
          <a:blip r:embed="rId7"/>
          <a:srcRect l="0" r="0" t="0" b="0"/>
          <a:stretch/>
        </p:blipFill>
        <p:spPr>
          <a:xfrm>
            <a:off x="5625389" y="1645920"/>
            <a:ext cx="1338682" cy="658368"/>
          </a:xfrm>
          <a:prstGeom prst="rect">
            <a:avLst/>
          </a:prstGeom>
        </p:spPr>
      </p:pic>
      <p:sp>
        <p:nvSpPr>
          <p:cNvPr id="27" name="Shape 21"/>
          <p:cNvSpPr/>
          <p:nvPr/>
        </p:nvSpPr>
        <p:spPr>
          <a:xfrm>
            <a:off x="5643677" y="2359152"/>
            <a:ext cx="1302106" cy="329184"/>
          </a:xfrm>
          <a:prstGeom prst="roundRect">
            <a:avLst>
              <a:gd name="adj" fmla="val 50000"/>
            </a:avLst>
          </a:prstGeom>
          <a:solidFill>
            <a:srgbClr val="2F6D62"/>
          </a:solidFill>
          <a:ln w="12700">
            <a:solidFill>
              <a:srgbClr val="2F6D62"/>
            </a:solidFill>
            <a:prstDash val="solid"/>
          </a:ln>
        </p:spPr>
      </p:sp>
      <p:sp>
        <p:nvSpPr>
          <p:cNvPr id="28" name="Text 22"/>
          <p:cNvSpPr txBox="1"/>
          <p:nvPr/>
        </p:nvSpPr>
        <p:spPr>
          <a:xfrm>
            <a:off x="564367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Venezuela  </a:t>
            </a:r>
            <a:pPr algn="ctr" indent="0" marL="0">
              <a:buNone/>
            </a:pPr>
            <a:r>
              <a:rPr lang="en-US" sz="1000" dirty="0">
                <a:solidFill>
                  <a:srgbClr val="D7E4E0"/>
                </a:solidFill>
                <a:latin typeface="Calibri" pitchFamily="34" charset="0"/>
                <a:ea typeface="Calibri" pitchFamily="34" charset="-122"/>
                <a:cs typeface="Calibri" pitchFamily="34" charset="-120"/>
              </a:rPr>
              <a:t>2018</a:t>
            </a:r>
            <a:endParaRPr lang="en-US" sz="1100" dirty="0"/>
          </a:p>
        </p:txBody>
      </p:sp>
      <p:sp>
        <p:nvSpPr>
          <p:cNvPr id="29" name="Text 23"/>
          <p:cNvSpPr txBox="1"/>
          <p:nvPr/>
        </p:nvSpPr>
        <p:spPr>
          <a:xfrm>
            <a:off x="566196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Hyperinflation beyond 1,000,000% - wages melted in hours</a:t>
            </a:r>
            <a:endParaRPr lang="en-US" sz="950" dirty="0"/>
          </a:p>
        </p:txBody>
      </p:sp>
      <p:sp>
        <p:nvSpPr>
          <p:cNvPr id="30" name="Text 24"/>
          <p:cNvSpPr txBox="1"/>
          <p:nvPr/>
        </p:nvSpPr>
        <p:spPr>
          <a:xfrm>
            <a:off x="566196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1" name="Shape 25"/>
          <p:cNvSpPr/>
          <p:nvPr/>
        </p:nvSpPr>
        <p:spPr>
          <a:xfrm>
            <a:off x="7256678" y="1554480"/>
            <a:ext cx="1521562" cy="2359152"/>
          </a:xfrm>
          <a:prstGeom prst="roundRect">
            <a:avLst>
              <a:gd name="adj" fmla="val 6010"/>
            </a:avLst>
          </a:prstGeom>
          <a:solidFill>
            <a:srgbClr val="F2ECE1"/>
          </a:solidFill>
          <a:ln w="12700">
            <a:solidFill>
              <a:srgbClr val="DFD6C7"/>
            </a:solidFill>
            <a:prstDash val="solid"/>
          </a:ln>
        </p:spPr>
      </p:sp>
      <p:pic>
        <p:nvPicPr>
          <p:cNvPr id="32" name="Image 4" descr="../../03-materials/ch01/assets/photo_fedorov.jpg">    </p:cNvPr>
          <p:cNvPicPr>
            <a:picLocks noChangeAspect="1"/>
          </p:cNvPicPr>
          <p:nvPr/>
        </p:nvPicPr>
        <p:blipFill>
          <a:blip r:embed="rId9"/>
          <a:srcRect l="0" r="0" t="0" b="0"/>
          <a:stretch/>
        </p:blipFill>
        <p:spPr>
          <a:xfrm>
            <a:off x="7348118" y="1645920"/>
            <a:ext cx="1338682" cy="658368"/>
          </a:xfrm>
          <a:prstGeom prst="rect">
            <a:avLst/>
          </a:prstGeom>
        </p:spPr>
      </p:pic>
      <p:sp>
        <p:nvSpPr>
          <p:cNvPr id="33" name="Shape 26"/>
          <p:cNvSpPr/>
          <p:nvPr/>
        </p:nvSpPr>
        <p:spPr>
          <a:xfrm>
            <a:off x="7366406" y="2359152"/>
            <a:ext cx="1302106" cy="329184"/>
          </a:xfrm>
          <a:prstGeom prst="roundRect">
            <a:avLst>
              <a:gd name="adj" fmla="val 50000"/>
            </a:avLst>
          </a:prstGeom>
          <a:solidFill>
            <a:srgbClr val="2F6D62"/>
          </a:solidFill>
          <a:ln w="12700">
            <a:solidFill>
              <a:srgbClr val="2F6D62"/>
            </a:solidFill>
            <a:prstDash val="solid"/>
          </a:ln>
        </p:spPr>
      </p:sp>
      <p:sp>
        <p:nvSpPr>
          <p:cNvPr id="34" name="Text 27"/>
          <p:cNvSpPr txBox="1"/>
          <p:nvPr/>
        </p:nvSpPr>
        <p:spPr>
          <a:xfrm>
            <a:off x="7366406"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Ukraine  </a:t>
            </a:r>
            <a:pPr algn="ctr" indent="0" marL="0">
              <a:buNone/>
            </a:pPr>
            <a:r>
              <a:rPr lang="en-US" sz="1000" dirty="0">
                <a:solidFill>
                  <a:srgbClr val="D7E4E0"/>
                </a:solidFill>
                <a:latin typeface="Calibri" pitchFamily="34" charset="0"/>
                <a:ea typeface="Calibri" pitchFamily="34" charset="-122"/>
                <a:cs typeface="Calibri" pitchFamily="34" charset="-120"/>
              </a:rPr>
              <a:t>2022</a:t>
            </a:r>
            <a:endParaRPr lang="en-US" sz="1100" dirty="0"/>
          </a:p>
        </p:txBody>
      </p:sp>
      <p:sp>
        <p:nvSpPr>
          <p:cNvPr id="35" name="Text 28"/>
          <p:cNvSpPr txBox="1"/>
          <p:nvPr/>
        </p:nvSpPr>
        <p:spPr>
          <a:xfrm>
            <a:off x="7384694"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Under invasion, the state itself raised ~$35M in crypto in a week</a:t>
            </a:r>
            <a:endParaRPr lang="en-US" sz="950" dirty="0"/>
          </a:p>
        </p:txBody>
      </p:sp>
      <p:sp>
        <p:nvSpPr>
          <p:cNvPr id="36" name="Text 29"/>
          <p:cNvSpPr txBox="1"/>
          <p:nvPr/>
        </p:nvSpPr>
        <p:spPr>
          <a:xfrm>
            <a:off x="7384694"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7" name="Text 30"/>
          <p:cNvSpPr txBox="1"/>
          <p:nvPr/>
        </p:nvSpPr>
        <p:spPr>
          <a:xfrm>
            <a:off x="365760" y="3941064"/>
            <a:ext cx="8412480" cy="137160"/>
          </a:xfrm>
          <a:prstGeom prst="rect">
            <a:avLst/>
          </a:prstGeom>
          <a:noFill/>
          <a:ln/>
        </p:spPr>
        <p:txBody>
          <a:bodyPr wrap="square" lIns="0" tIns="0" rIns="0" bIns="0" rtlCol="0" anchor="t"/>
          <a:lstStyle/>
          <a:p>
            <a:pPr algn="l" indent="0" marL="0">
              <a:buNone/>
            </a:pPr>
            <a:r>
              <a:rPr lang="en-US" sz="750" i="1" dirty="0">
                <a:solidFill>
                  <a:srgbClr val="6E655C"/>
                </a:solidFill>
                <a:latin typeface="Calibri" pitchFamily="34" charset="0"/>
                <a:ea typeface="Calibri" pitchFamily="34" charset="-122"/>
                <a:cs typeface="Calibri" pitchFamily="34" charset="-120"/>
              </a:rPr>
              <a:t>photos via Wikimedia Commons: Fiona Graham/WorldRemit CC BY-SA 2.0 · Martin Addison CC BY-SA 2.0 · Norbert Nagel CC BY-SA 3.0 · Rjcastillo CC BY-SA 4.0 · U.S. Embassy Kyiv (PD)</a:t>
            </a:r>
            <a:endParaRPr lang="en-US" sz="750" dirty="0"/>
          </a:p>
        </p:txBody>
      </p:sp>
      <p:sp>
        <p:nvSpPr>
          <p:cNvPr id="38" name="Shape 31"/>
          <p:cNvSpPr/>
          <p:nvPr/>
        </p:nvSpPr>
        <p:spPr>
          <a:xfrm>
            <a:off x="457200" y="4133088"/>
            <a:ext cx="1738092" cy="365760"/>
          </a:xfrm>
          <a:prstGeom prst="roundRect">
            <a:avLst>
              <a:gd name="adj" fmla="val 50000"/>
            </a:avLst>
          </a:prstGeom>
          <a:solidFill>
            <a:srgbClr val="EFE9DC"/>
          </a:solidFill>
          <a:ln w="9525">
            <a:solidFill>
              <a:srgbClr val="DFD6C7"/>
            </a:solidFill>
            <a:prstDash val="solid"/>
          </a:ln>
        </p:spPr>
      </p:sp>
      <p:sp>
        <p:nvSpPr>
          <p:cNvPr id="39" name="Text 32"/>
          <p:cNvSpPr txBox="1"/>
          <p:nvPr/>
        </p:nvSpPr>
        <p:spPr>
          <a:xfrm>
            <a:off x="548640" y="413308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savers, the unbanked, an…</a:t>
            </a:r>
            <a:endParaRPr lang="en-US" sz="750" dirty="0"/>
          </a:p>
        </p:txBody>
      </p:sp>
      <p:sp>
        <p:nvSpPr>
          <p:cNvPr id="40" name="Shape 33"/>
          <p:cNvSpPr/>
          <p:nvPr/>
        </p:nvSpPr>
        <p:spPr>
          <a:xfrm>
            <a:off x="2305020" y="4133088"/>
            <a:ext cx="1659087" cy="365760"/>
          </a:xfrm>
          <a:prstGeom prst="roundRect">
            <a:avLst>
              <a:gd name="adj" fmla="val 50000"/>
            </a:avLst>
          </a:prstGeom>
          <a:solidFill>
            <a:srgbClr val="EFE9DC"/>
          </a:solidFill>
          <a:ln w="9525">
            <a:solidFill>
              <a:srgbClr val="DFD6C7"/>
            </a:solidFill>
            <a:prstDash val="solid"/>
          </a:ln>
        </p:spPr>
      </p:sp>
      <p:sp>
        <p:nvSpPr>
          <p:cNvPr id="41" name="Text 34"/>
          <p:cNvSpPr txBox="1"/>
          <p:nvPr/>
        </p:nvSpPr>
        <p:spPr>
          <a:xfrm>
            <a:off x="2396460" y="413308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Kenya, Cyprus, Greece,…</a:t>
            </a:r>
            <a:endParaRPr lang="en-US" sz="750" dirty="0"/>
          </a:p>
        </p:txBody>
      </p:sp>
      <p:sp>
        <p:nvSpPr>
          <p:cNvPr id="42" name="Shape 35"/>
          <p:cNvSpPr/>
          <p:nvPr/>
        </p:nvSpPr>
        <p:spPr>
          <a:xfrm>
            <a:off x="4073835" y="4133088"/>
            <a:ext cx="1343071" cy="365760"/>
          </a:xfrm>
          <a:prstGeom prst="roundRect">
            <a:avLst>
              <a:gd name="adj" fmla="val 50000"/>
            </a:avLst>
          </a:prstGeom>
          <a:solidFill>
            <a:srgbClr val="EFE9DC"/>
          </a:solidFill>
          <a:ln w="9525">
            <a:solidFill>
              <a:srgbClr val="DFD6C7"/>
            </a:solidFill>
            <a:prstDash val="solid"/>
          </a:ln>
        </p:spPr>
      </p:sp>
      <p:sp>
        <p:nvSpPr>
          <p:cNvPr id="43" name="Text 36"/>
          <p:cNvSpPr txBox="1"/>
          <p:nvPr/>
        </p:nvSpPr>
        <p:spPr>
          <a:xfrm>
            <a:off x="4165275" y="413308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2007 - 2022</a:t>
            </a:r>
            <a:endParaRPr lang="en-US" sz="750" dirty="0"/>
          </a:p>
        </p:txBody>
      </p:sp>
      <p:sp>
        <p:nvSpPr>
          <p:cNvPr id="44" name="Shape 37"/>
          <p:cNvSpPr/>
          <p:nvPr/>
        </p:nvSpPr>
        <p:spPr>
          <a:xfrm>
            <a:off x="5526634" y="4133088"/>
            <a:ext cx="3160166" cy="365760"/>
          </a:xfrm>
          <a:prstGeom prst="roundRect">
            <a:avLst>
              <a:gd name="adj" fmla="val 50000"/>
            </a:avLst>
          </a:prstGeom>
          <a:solidFill>
            <a:srgbClr val="2F6D62"/>
          </a:solidFill>
          <a:ln w="9525">
            <a:solidFill>
              <a:srgbClr val="2F6D62"/>
            </a:solidFill>
            <a:prstDash val="solid"/>
          </a:ln>
        </p:spPr>
      </p:sp>
      <p:sp>
        <p:nvSpPr>
          <p:cNvPr id="45" name="Text 38"/>
          <p:cNvSpPr txBox="1"/>
          <p:nvPr/>
        </p:nvSpPr>
        <p:spPr>
          <a:xfrm>
            <a:off x="5618074" y="413308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800" u="sng" dirty="0">
                <a:solidFill>
                  <a:srgbClr val="FFFFFF"/>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CNBC: Ukraine accepts crypto donations (news)</a:t>
            </a:r>
            <a:endParaRPr lang="en-US" sz="750" dirty="0"/>
          </a:p>
        </p:txBody>
      </p:sp>
      <p:sp>
        <p:nvSpPr>
          <p:cNvPr id="46"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7"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 the need is documented, not theoretical</a:t>
            </a:r>
            <a:endParaRPr lang="en-US" sz="1350" dirty="0"/>
          </a:p>
        </p:txBody>
      </p:sp>
      <p:sp>
        <p:nvSpPr>
          <p:cNvPr id="48"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Digital money is older than you think - what was missing for forty years was a way to stop one coin being spent twice without a bank in the middle.</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 so coins would too</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For decades only a trusted central ledger could stop it - so digital money meant bank money</a:t>
            </a:r>
            <a:endParaRPr lang="en-US" sz="1150" dirty="0"/>
          </a:p>
        </p:txBody>
      </p:sp>
      <p:sp>
        <p:nvSpPr>
          <p:cNvPr id="19" name="Shape 17"/>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27939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3" name="Shape 21"/>
          <p:cNvSpPr/>
          <p:nvPr/>
        </p:nvSpPr>
        <p:spPr>
          <a:xfrm>
            <a:off x="7040880" y="1828800"/>
            <a:ext cx="1051560" cy="566928"/>
          </a:xfrm>
          <a:prstGeom prst="roundRect">
            <a:avLst>
              <a:gd name="adj" fmla="val 12903"/>
            </a:avLst>
          </a:prstGeom>
          <a:solidFill>
            <a:srgbClr val="F2ECE1"/>
          </a:solidFill>
          <a:ln w="19050">
            <a:solidFill>
              <a:srgbClr val="B6533C"/>
            </a:solidFill>
            <a:prstDash val="solid"/>
          </a:ln>
        </p:spPr>
      </p:sp>
      <p:sp>
        <p:nvSpPr>
          <p:cNvPr id="24" name="Shape 22"/>
          <p:cNvSpPr/>
          <p:nvPr/>
        </p:nvSpPr>
        <p:spPr>
          <a:xfrm>
            <a:off x="7114032" y="1956816"/>
            <a:ext cx="310896" cy="310896"/>
          </a:xfrm>
          <a:prstGeom prst="ellipse">
            <a:avLst/>
          </a:prstGeom>
          <a:solidFill>
            <a:srgbClr val="E8B94B"/>
          </a:solidFill>
          <a:ln w="15875">
            <a:solidFill>
              <a:srgbClr val="B98A2B"/>
            </a:solidFill>
            <a:prstDash val="solid"/>
          </a:ln>
        </p:spPr>
      </p:sp>
      <p:sp>
        <p:nvSpPr>
          <p:cNvPr id="25" name="Text 23"/>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7" name="Shape 25"/>
          <p:cNvSpPr/>
          <p:nvPr/>
        </p:nvSpPr>
        <p:spPr>
          <a:xfrm>
            <a:off x="7040880" y="3337560"/>
            <a:ext cx="1051560" cy="566928"/>
          </a:xfrm>
          <a:prstGeom prst="roundRect">
            <a:avLst>
              <a:gd name="adj" fmla="val 12903"/>
            </a:avLst>
          </a:prstGeom>
          <a:solidFill>
            <a:srgbClr val="F2ECE1"/>
          </a:solidFill>
          <a:ln w="19050">
            <a:solidFill>
              <a:srgbClr val="B6533C"/>
            </a:solidFill>
            <a:prstDash val="solid"/>
          </a:ln>
        </p:spPr>
      </p:sp>
      <p:sp>
        <p:nvSpPr>
          <p:cNvPr id="28" name="Shape 26"/>
          <p:cNvSpPr/>
          <p:nvPr/>
        </p:nvSpPr>
        <p:spPr>
          <a:xfrm>
            <a:off x="7114032" y="3465576"/>
            <a:ext cx="310896" cy="310896"/>
          </a:xfrm>
          <a:prstGeom prst="ellipse">
            <a:avLst/>
          </a:prstGeom>
          <a:solidFill>
            <a:srgbClr val="E8B94B"/>
          </a:solidFill>
          <a:ln w="15875">
            <a:solidFill>
              <a:srgbClr val="B98A2B"/>
            </a:solidFill>
            <a:prstDash val="solid"/>
          </a:ln>
        </p:spPr>
      </p:sp>
      <p:sp>
        <p:nvSpPr>
          <p:cNvPr id="29" name="Text 27"/>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1" name="Shape 29"/>
          <p:cNvSpPr/>
          <p:nvPr/>
        </p:nvSpPr>
        <p:spPr>
          <a:xfrm flipV="1">
            <a:off x="5303520" y="2112264"/>
            <a:ext cx="1417320" cy="768096"/>
          </a:xfrm>
          <a:prstGeom prst="line">
            <a:avLst/>
          </a:prstGeom>
          <a:noFill/>
          <a:ln w="25400">
            <a:solidFill>
              <a:srgbClr val="B6533C"/>
            </a:solidFill>
            <a:prstDash val="solid"/>
            <a:tailEnd type="triangle"/>
          </a:ln>
        </p:spPr>
      </p:sp>
      <p:sp>
        <p:nvSpPr>
          <p:cNvPr id="32" name="Shape 30"/>
          <p:cNvSpPr/>
          <p:nvPr/>
        </p:nvSpPr>
        <p:spPr>
          <a:xfrm>
            <a:off x="5303520" y="2880360"/>
            <a:ext cx="1417320" cy="740664"/>
          </a:xfrm>
          <a:prstGeom prst="line">
            <a:avLst/>
          </a:prstGeom>
          <a:noFill/>
          <a:ln w="25400">
            <a:solidFill>
              <a:srgbClr val="B6533C"/>
            </a:solidFill>
            <a:prstDash val="solid"/>
            <a:tailEnd type="triangle"/>
          </a:ln>
        </p:spPr>
      </p:sp>
      <p:sp>
        <p:nvSpPr>
          <p:cNvPr id="33" name="Text 31"/>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B6533C"/>
                </a:solidFill>
                <a:latin typeface="Calibri" pitchFamily="34" charset="0"/>
                <a:ea typeface="Calibri" pitchFamily="34" charset="-122"/>
                <a:cs typeface="Calibri" pitchFamily="34" charset="-120"/>
              </a:rPr>
              <a:t>perfect copy</a:t>
            </a:r>
            <a:endParaRPr lang="en-US" sz="1000" dirty="0"/>
          </a:p>
        </p:txBody>
      </p:sp>
      <p:sp>
        <p:nvSpPr>
          <p:cNvPr id="34" name="Text 32"/>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Perfect copies made digital cash impossible without a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 no referee needed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Satoshi's whitepaper names the problem in its second sentence; the answer is not better files but a public ledger every node keeps and orders together.</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 everywhere</a:t>
            </a:r>
            <a:endParaRPr lang="en-US" sz="1150" dirty="0"/>
          </a:p>
        </p:txBody>
      </p:sp>
      <p:sp>
        <p:nvSpPr>
          <p:cNvPr id="19" name="Shape 17"/>
          <p:cNvSpPr/>
          <p:nvPr/>
        </p:nvSpPr>
        <p:spPr>
          <a:xfrm>
            <a:off x="411480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18795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18795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51713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3" name="Shape 21"/>
          <p:cNvSpPr/>
          <p:nvPr/>
        </p:nvSpPr>
        <p:spPr>
          <a:xfrm>
            <a:off x="5928970" y="1783080"/>
            <a:ext cx="1828800" cy="548640"/>
          </a:xfrm>
          <a:prstGeom prst="roundRect">
            <a:avLst>
              <a:gd name="adj" fmla="val 13333"/>
            </a:avLst>
          </a:prstGeom>
          <a:solidFill>
            <a:srgbClr val="F2ECE1"/>
          </a:solidFill>
          <a:ln w="19050">
            <a:solidFill>
              <a:srgbClr val="5B8C5A"/>
            </a:solidFill>
            <a:prstDash val="solid"/>
          </a:ln>
        </p:spPr>
      </p:sp>
      <p:sp>
        <p:nvSpPr>
          <p:cNvPr id="24" name="Text 22"/>
          <p:cNvSpPr txBox="1"/>
          <p:nvPr/>
        </p:nvSpPr>
        <p:spPr>
          <a:xfrm>
            <a:off x="6002122" y="178308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5" name="Shape 23"/>
          <p:cNvSpPr/>
          <p:nvPr/>
        </p:nvSpPr>
        <p:spPr>
          <a:xfrm>
            <a:off x="5928970" y="3429000"/>
            <a:ext cx="1828800" cy="548640"/>
          </a:xfrm>
          <a:prstGeom prst="roundRect">
            <a:avLst>
              <a:gd name="adj" fmla="val 13333"/>
            </a:avLst>
          </a:prstGeom>
          <a:solidFill>
            <a:srgbClr val="F2ECE1"/>
          </a:solidFill>
          <a:ln w="19050">
            <a:solidFill>
              <a:srgbClr val="B6533C"/>
            </a:solidFill>
            <a:prstDash val="solid"/>
          </a:ln>
        </p:spPr>
      </p:sp>
      <p:sp>
        <p:nvSpPr>
          <p:cNvPr id="26" name="Text 24"/>
          <p:cNvSpPr txBox="1"/>
          <p:nvPr/>
        </p:nvSpPr>
        <p:spPr>
          <a:xfrm>
            <a:off x="6002122" y="342900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7" name="Shape 25"/>
          <p:cNvSpPr/>
          <p:nvPr/>
        </p:nvSpPr>
        <p:spPr>
          <a:xfrm flipV="1">
            <a:off x="5212080" y="2057400"/>
            <a:ext cx="625450" cy="822960"/>
          </a:xfrm>
          <a:prstGeom prst="line">
            <a:avLst/>
          </a:prstGeom>
          <a:noFill/>
          <a:ln w="22225">
            <a:solidFill>
              <a:srgbClr val="8A9B94"/>
            </a:solidFill>
            <a:prstDash val="solid"/>
            <a:tailEnd type="triangle"/>
          </a:ln>
        </p:spPr>
      </p:sp>
      <p:sp>
        <p:nvSpPr>
          <p:cNvPr id="28" name="Shape 26"/>
          <p:cNvSpPr/>
          <p:nvPr/>
        </p:nvSpPr>
        <p:spPr>
          <a:xfrm>
            <a:off x="5212080" y="2880360"/>
            <a:ext cx="625450" cy="822960"/>
          </a:xfrm>
          <a:prstGeom prst="line">
            <a:avLst/>
          </a:prstGeom>
          <a:noFill/>
          <a:ln w="22225">
            <a:solidFill>
              <a:srgbClr val="8A9B94"/>
            </a:solidFill>
            <a:prstDash val="solid"/>
            <a:tailEnd type="triangle"/>
          </a:ln>
        </p:spPr>
      </p:sp>
      <p:sp>
        <p:nvSpPr>
          <p:cNvPr id="29" name="Shape 27"/>
          <p:cNvSpPr/>
          <p:nvPr/>
        </p:nvSpPr>
        <p:spPr>
          <a:xfrm>
            <a:off x="6903720" y="1755648"/>
            <a:ext cx="1600200" cy="603504"/>
          </a:xfrm>
          <a:prstGeom prst="roundRect">
            <a:avLst>
              <a:gd name="adj" fmla="val 12121"/>
            </a:avLst>
          </a:prstGeom>
          <a:solidFill>
            <a:srgbClr val="5B8C5A"/>
          </a:solidFill>
          <a:ln w="12700">
            <a:solidFill>
              <a:srgbClr val="5B8C5A"/>
            </a:solidFill>
            <a:prstDash val="solid"/>
          </a:ln>
        </p:spPr>
      </p:sp>
      <p:sp>
        <p:nvSpPr>
          <p:cNvPr id="30" name="Text 28"/>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903720" y="3401568"/>
            <a:ext cx="1600200" cy="603504"/>
          </a:xfrm>
          <a:prstGeom prst="roundRect">
            <a:avLst>
              <a:gd name="adj" fmla="val 12121"/>
            </a:avLst>
          </a:prstGeom>
          <a:solidFill>
            <a:srgbClr val="F3DED6"/>
          </a:solidFill>
          <a:ln w="15875">
            <a:solidFill>
              <a:srgbClr val="B6533C"/>
            </a:solidFill>
            <a:prstDash val="solid"/>
          </a:ln>
        </p:spPr>
      </p:sp>
      <p:sp>
        <p:nvSpPr>
          <p:cNvPr id="32" name="Text 30"/>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B6533C"/>
                </a:solidFill>
                <a:latin typeface="Calibri" pitchFamily="34" charset="0"/>
                <a:ea typeface="Calibri" pitchFamily="34" charset="-122"/>
                <a:cs typeface="Calibri" pitchFamily="34" charset="-120"/>
              </a:rPr>
              <a:t>refused by every node </a:t>
            </a:r>
            <a:pPr algn="ctr" indent="0" marL="0">
              <a:buNone/>
            </a:pPr>
            <a:r>
              <a:rPr lang="en-US" sz="1200" b="1" dirty="0">
                <a:solidFill>
                  <a:srgbClr val="B6533C"/>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flipH="1">
            <a:off x="6830568" y="2057400"/>
            <a:ext cx="927202" cy="0"/>
          </a:xfrm>
          <a:prstGeom prst="line">
            <a:avLst/>
          </a:prstGeom>
          <a:noFill/>
          <a:ln w="25400">
            <a:solidFill>
              <a:srgbClr val="5B8C5A"/>
            </a:solidFill>
            <a:prstDash val="solid"/>
            <a:tailEnd type="triangle"/>
          </a:ln>
        </p:spPr>
      </p:sp>
      <p:sp>
        <p:nvSpPr>
          <p:cNvPr id="34" name="Shape 32"/>
          <p:cNvSpPr/>
          <p:nvPr/>
        </p:nvSpPr>
        <p:spPr>
          <a:xfrm flipH="1">
            <a:off x="6830568" y="3703320"/>
            <a:ext cx="927202" cy="0"/>
          </a:xfrm>
          <a:prstGeom prst="line">
            <a:avLst/>
          </a:prstGeom>
          <a:noFill/>
          <a:ln w="25400">
            <a:solidFill>
              <a:srgbClr val="B6533C"/>
            </a:solidFill>
            <a:prstDash val="solid"/>
            <a:tailEnd type="triangle"/>
          </a:ln>
        </p:spPr>
      </p:sp>
      <p:sp>
        <p:nvSpPr>
          <p:cNvPr id="35" name="Text 33"/>
          <p:cNvSpPr txBox="1"/>
          <p:nvPr/>
        </p:nvSpPr>
        <p:spPr>
          <a:xfrm>
            <a:off x="3931920" y="4041648"/>
            <a:ext cx="475488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referee is everyone, and the whistle is arithmetic</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090672"/>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443984"/>
            <a:ext cx="5303520" cy="146304"/>
          </a:xfrm>
          <a:prstGeom prst="rect">
            <a:avLst/>
          </a:prstGeom>
          <a:noFill/>
          <a:ln/>
        </p:spPr>
        <p:txBody>
          <a:bodyPr wrap="square" lIns="0" tIns="0" rIns="0" bIns="0" rtlCol="0" anchor="t"/>
          <a:lstStyle/>
          <a:p>
            <a:pPr algn="l" indent="0" marL="0">
              <a:buNone/>
            </a:pPr>
            <a:r>
              <a:rPr lang="en-US" sz="800" i="1" dirty="0">
                <a:solidFill>
                  <a:srgbClr val="6E655C"/>
                </a:solidFill>
                <a:latin typeface="Calibri" pitchFamily="34" charset="0"/>
                <a:ea typeface="Calibri" pitchFamily="34" charset="-122"/>
                <a:cs typeface="Calibri" pitchFamily="34" charset="-120"/>
              </a:rPr>
              <a:t>dates = the chain's block timestamps; '~' = projected at the 10-minute target</a:t>
            </a:r>
            <a:endParaRPr lang="en-US" sz="800" dirty="0"/>
          </a:p>
        </p:txBody>
      </p:sp>
      <p:sp>
        <p:nvSpPr>
          <p:cNvPr id="8" name="Shape 5"/>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9" name="Text 6"/>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10" name="Text 7"/>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1" name="Shape 8"/>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2" name="Text 9"/>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3" name="Text 10"/>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4" name="Shape 11"/>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5" name="Text 12"/>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6" name="Text 13"/>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298448"/>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984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618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Shift 50 BTC right once per era, times 210,000 blocks, summed over 33 eras: the 20,999,999.9769 cap</a:t>
            </a:r>
            <a:endParaRPr lang="en-US" sz="950" dirty="0"/>
          </a:p>
        </p:txBody>
      </p:sp>
      <p:sp>
        <p:nvSpPr>
          <p:cNvPr id="9" name="Shape 7"/>
          <p:cNvSpPr/>
          <p:nvPr/>
        </p:nvSpPr>
        <p:spPr>
          <a:xfrm>
            <a:off x="457200" y="1603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03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5666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One shift for height 840,000 halves the subsidy to 3.125</a:t>
            </a:r>
            <a:endParaRPr lang="en-US" sz="950" dirty="0"/>
          </a:p>
        </p:txBody>
      </p:sp>
      <p:sp>
        <p:nvSpPr>
          <p:cNvPr id="12" name="Shape 10"/>
          <p:cNvSpPr/>
          <p:nvPr/>
        </p:nvSpPr>
        <p:spPr>
          <a:xfrm>
            <a:off x="457200" y="190804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19080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18714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Five heights at once show the whole staircase</a:t>
            </a:r>
            <a:endParaRPr lang="en-US" sz="950" dirty="0"/>
          </a:p>
        </p:txBody>
      </p:sp>
      <p:sp>
        <p:nvSpPr>
          <p:cNvPr id="15" name="Text 13"/>
          <p:cNvSpPr txBox="1"/>
          <p:nvPr/>
        </p:nvSpPr>
        <p:spPr>
          <a:xfrm>
            <a:off x="457200" y="21214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cap, summed over 33 eras</a:t>
            </a:r>
            <a:endParaRPr lang="en-US" sz="1150" dirty="0"/>
          </a:p>
        </p:txBody>
      </p:sp>
      <p:sp>
        <p:nvSpPr>
          <p:cNvPr id="16" name="Shape 14"/>
          <p:cNvSpPr/>
          <p:nvPr/>
        </p:nvSpPr>
        <p:spPr>
          <a:xfrm>
            <a:off x="457200" y="2395728"/>
            <a:ext cx="8229600" cy="640080"/>
          </a:xfrm>
          <a:prstGeom prst="roundRect">
            <a:avLst>
              <a:gd name="adj" fmla="val 14286"/>
            </a:avLst>
          </a:prstGeom>
          <a:solidFill>
            <a:srgbClr val="23272E"/>
          </a:solidFill>
          <a:ln w="12700">
            <a:solidFill>
              <a:srgbClr val="23272E"/>
            </a:solidFill>
            <a:prstDash val="solid"/>
          </a:ln>
        </p:spPr>
      </p:sp>
      <p:sp>
        <p:nvSpPr>
          <p:cNvPr id="17" name="Text 15"/>
          <p:cNvSpPr txBox="1"/>
          <p:nvPr/>
        </p:nvSpPr>
        <p:spPr>
          <a:xfrm>
            <a:off x="640080" y="2514600"/>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8" name="Text 16"/>
          <p:cNvSpPr txBox="1"/>
          <p:nvPr/>
        </p:nvSpPr>
        <p:spPr>
          <a:xfrm>
            <a:off x="457200" y="30540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29260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One halving = divide by two</a:t>
            </a:r>
            <a:endParaRPr lang="en-US" sz="1150" dirty="0"/>
          </a:p>
        </p:txBody>
      </p:sp>
      <p:sp>
        <p:nvSpPr>
          <p:cNvPr id="20" name="Shape 18"/>
          <p:cNvSpPr/>
          <p:nvPr/>
        </p:nvSpPr>
        <p:spPr>
          <a:xfrm>
            <a:off x="457200" y="3200400"/>
            <a:ext cx="8229600" cy="640080"/>
          </a:xfrm>
          <a:prstGeom prst="roundRect">
            <a:avLst>
              <a:gd name="adj" fmla="val 14286"/>
            </a:avLst>
          </a:prstGeom>
          <a:solidFill>
            <a:srgbClr val="23272E"/>
          </a:solidFill>
          <a:ln w="12700">
            <a:solidFill>
              <a:srgbClr val="23272E"/>
            </a:solidFill>
            <a:prstDash val="solid"/>
          </a:ln>
        </p:spPr>
      </p:sp>
      <p:sp>
        <p:nvSpPr>
          <p:cNvPr id="21" name="Text 19"/>
          <p:cNvSpPr txBox="1"/>
          <p:nvPr/>
        </p:nvSpPr>
        <p:spPr>
          <a:xfrm>
            <a:off x="640080" y="3319272"/>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22" name="Text 20"/>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Text 21"/>
          <p:cNvSpPr txBox="1"/>
          <p:nvPr/>
        </p:nvSpPr>
        <p:spPr>
          <a:xfrm>
            <a:off x="457200" y="3694176"/>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The subsidy at any block height</a:t>
            </a:r>
            <a:endParaRPr lang="en-US" sz="1150" dirty="0"/>
          </a:p>
        </p:txBody>
      </p:sp>
      <p:sp>
        <p:nvSpPr>
          <p:cNvPr id="24" name="Shape 22"/>
          <p:cNvSpPr/>
          <p:nvPr/>
        </p:nvSpPr>
        <p:spPr>
          <a:xfrm>
            <a:off x="457200" y="3968496"/>
            <a:ext cx="8229600" cy="557784"/>
          </a:xfrm>
          <a:prstGeom prst="roundRect">
            <a:avLst>
              <a:gd name="adj" fmla="val 16393"/>
            </a:avLst>
          </a:prstGeom>
          <a:solidFill>
            <a:srgbClr val="23272E"/>
          </a:solidFill>
          <a:ln w="12700">
            <a:solidFill>
              <a:srgbClr val="23272E"/>
            </a:solidFill>
            <a:prstDash val="solid"/>
          </a:ln>
        </p:spPr>
      </p:sp>
      <p:sp>
        <p:nvSpPr>
          <p:cNvPr id="25" name="Text 23"/>
          <p:cNvSpPr txBox="1"/>
          <p:nvPr/>
        </p:nvSpPr>
        <p:spPr>
          <a:xfrm>
            <a:off x="640080" y="4087368"/>
            <a:ext cx="7863840" cy="320040"/>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[50.0, 25.0, 12.5, 6.25, 3.125]</a:t>
            </a:r>
            <a:endParaRPr lang="en-US" sz="950" dirty="0"/>
          </a:p>
        </p:txBody>
      </p:sp>
      <p:sp>
        <p:nvSpPr>
          <p:cNvPr id="26" name="Text 24"/>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Shape 4"/>
          <p:cNvSpPr/>
          <p:nvPr/>
        </p:nvSpPr>
        <p:spPr>
          <a:xfrm>
            <a:off x="457200" y="133502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350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9844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 authority quotes a rate: the first program just divides one trade's two amounts</a:t>
            </a:r>
            <a:endParaRPr lang="en-US" sz="950" dirty="0"/>
          </a:p>
        </p:txBody>
      </p:sp>
      <p:sp>
        <p:nvSpPr>
          <p:cNvPr id="9" name="Shape 7"/>
          <p:cNvSpPr/>
          <p:nvPr/>
        </p:nvSpPr>
        <p:spPr>
          <a:xfrm>
            <a:off x="457200" y="17693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693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278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second weights every trade by its volume - one fair daily figure, as exchanges publish</a:t>
            </a:r>
            <a:endParaRPr lang="en-US" sz="950" dirty="0"/>
          </a:p>
        </p:txBody>
      </p:sp>
      <p:sp>
        <p:nvSpPr>
          <p:cNvPr id="12" name="Text 10"/>
          <p:cNvSpPr txBox="1"/>
          <p:nvPr/>
        </p:nvSpPr>
        <p:spPr>
          <a:xfrm>
            <a:off x="457200" y="22128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A price is a ratio of two quotes</a:t>
            </a:r>
            <a:endParaRPr lang="en-US" sz="1150" dirty="0"/>
          </a:p>
        </p:txBody>
      </p:sp>
      <p:sp>
        <p:nvSpPr>
          <p:cNvPr id="13" name="Shape 11"/>
          <p:cNvSpPr/>
          <p:nvPr/>
        </p:nvSpPr>
        <p:spPr>
          <a:xfrm>
            <a:off x="457200" y="2487168"/>
            <a:ext cx="8229600" cy="621792"/>
          </a:xfrm>
          <a:prstGeom prst="roundRect">
            <a:avLst>
              <a:gd name="adj" fmla="val 14706"/>
            </a:avLst>
          </a:prstGeom>
          <a:solidFill>
            <a:srgbClr val="23272E"/>
          </a:solidFill>
          <a:ln w="12700">
            <a:solidFill>
              <a:srgbClr val="23272E"/>
            </a:solidFill>
            <a:prstDash val="solid"/>
          </a:ln>
        </p:spPr>
      </p:sp>
      <p:sp>
        <p:nvSpPr>
          <p:cNvPr id="14" name="Text 12"/>
          <p:cNvSpPr txBox="1"/>
          <p:nvPr/>
        </p:nvSpPr>
        <p:spPr>
          <a:xfrm>
            <a:off x="640080" y="2606040"/>
            <a:ext cx="7863840" cy="384048"/>
          </a:xfrm>
          <a:prstGeom prst="rect">
            <a:avLst/>
          </a:prstGeom>
          <a:noFill/>
          <a:ln/>
        </p:spPr>
        <p:txBody>
          <a:bodyPr wrap="square" lIns="0" tIns="0" rIns="0" bIns="0" rtlCol="0" anchor="t"/>
          <a:lstStyle/>
          <a:p>
            <a:pPr indent="0" marL="0">
              <a:buNone/>
            </a:pPr>
            <a:r>
              <a:rPr lang="en-US" sz="1150" b="1" dirty="0">
                <a:solidFill>
                  <a:srgbClr val="D97A14"/>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round(0.001 * 60000, 2)</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60.0</a:t>
            </a:r>
            <a:endParaRPr lang="en-US" sz="1150" dirty="0"/>
          </a:p>
        </p:txBody>
      </p:sp>
      <p:sp>
        <p:nvSpPr>
          <p:cNvPr id="15" name="Text 13"/>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18211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day summarised fairly, by volume</a:t>
            </a:r>
            <a:endParaRPr lang="en-US" sz="1150" dirty="0"/>
          </a:p>
        </p:txBody>
      </p:sp>
      <p:sp>
        <p:nvSpPr>
          <p:cNvPr id="17" name="Shape 15"/>
          <p:cNvSpPr/>
          <p:nvPr/>
        </p:nvSpPr>
        <p:spPr>
          <a:xfrm>
            <a:off x="457200" y="3456432"/>
            <a:ext cx="822960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640080" y="3575304"/>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101.0</a:t>
            </a:r>
            <a:endParaRPr lang="en-US" sz="1050" dirty="0"/>
          </a:p>
        </p:txBody>
      </p:sp>
      <p:sp>
        <p:nvSpPr>
          <p:cNvPr id="19" name="Text 17"/>
          <p:cNvSpPr txBox="1"/>
          <p:nvPr/>
        </p:nvSpPr>
        <p:spPr>
          <a:xfrm>
            <a:off x="457200" y="434340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463040"/>
          </a:xfrm>
          <a:prstGeom prst="roundRect">
            <a:avLst>
              <a:gd name="adj" fmla="val 5000"/>
            </a:avLst>
          </a:prstGeom>
          <a:solidFill>
            <a:srgbClr val="F2ECE1"/>
          </a:solidFill>
          <a:ln w="12700">
            <a:solidFill>
              <a:srgbClr val="DFD6C7"/>
            </a:solidFill>
            <a:prstDash val="solid"/>
          </a:ln>
        </p:spPr>
      </p:sp>
      <p:sp>
        <p:nvSpPr>
          <p:cNvPr id="7" name="Text 5"/>
          <p:cNvSpPr txBox="1"/>
          <p:nvPr/>
        </p:nvSpPr>
        <p:spPr>
          <a:xfrm>
            <a:off x="566928" y="1490472"/>
            <a:ext cx="2523744" cy="73152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178101"/>
            <a:ext cx="25237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3017520"/>
            <a:ext cx="2697480" cy="1417320"/>
          </a:xfrm>
          <a:prstGeom prst="rect">
            <a:avLst/>
          </a:prstGeom>
        </p:spPr>
      </p:pic>
      <p:sp>
        <p:nvSpPr>
          <p:cNvPr id="10" name="Text 7"/>
          <p:cNvSpPr txBox="1"/>
          <p:nvPr/>
        </p:nvSpPr>
        <p:spPr>
          <a:xfrm>
            <a:off x="502920" y="445312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94914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703320" y="3977640"/>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Laszlo H…</a:t>
            </a:r>
            <a:endParaRPr lang="en-US" sz="750" dirty="0"/>
          </a:p>
        </p:txBody>
      </p:sp>
      <p:sp>
        <p:nvSpPr>
          <p:cNvPr id="21" name="Shape 18"/>
          <p:cNvSpPr/>
          <p:nvPr/>
        </p:nvSpPr>
        <p:spPr>
          <a:xfrm>
            <a:off x="4670755" y="3977640"/>
            <a:ext cx="901690"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762195" y="3977640"/>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bit…</a:t>
            </a:r>
            <a:endParaRPr lang="en-US" sz="750" dirty="0"/>
          </a:p>
        </p:txBody>
      </p:sp>
      <p:sp>
        <p:nvSpPr>
          <p:cNvPr id="23" name="Shape 20"/>
          <p:cNvSpPr/>
          <p:nvPr/>
        </p:nvSpPr>
        <p:spPr>
          <a:xfrm>
            <a:off x="5682173" y="3977640"/>
            <a:ext cx="806775"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5773613" y="397764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22 Ma…</a:t>
            </a:r>
            <a:endParaRPr lang="en-US" sz="750" dirty="0"/>
          </a:p>
        </p:txBody>
      </p:sp>
      <p:sp>
        <p:nvSpPr>
          <p:cNvPr id="25" name="Shape 22"/>
          <p:cNvSpPr/>
          <p:nvPr/>
        </p:nvSpPr>
        <p:spPr>
          <a:xfrm>
            <a:off x="6598676" y="3977640"/>
            <a:ext cx="2088124" cy="365760"/>
          </a:xfrm>
          <a:prstGeom prst="roundRect">
            <a:avLst>
              <a:gd name="adj" fmla="val 50000"/>
            </a:avLst>
          </a:prstGeom>
          <a:solidFill>
            <a:srgbClr val="2F6D62"/>
          </a:solidFill>
          <a:ln w="9525">
            <a:solidFill>
              <a:srgbClr val="2F6D62"/>
            </a:solidFill>
            <a:prstDash val="solid"/>
          </a:ln>
        </p:spPr>
      </p:sp>
      <p:sp>
        <p:nvSpPr>
          <p:cNvPr id="26" name="Text 23"/>
          <p:cNvSpPr txBox="1"/>
          <p:nvPr/>
        </p:nvSpPr>
        <p:spPr>
          <a:xfrm>
            <a:off x="6690116" y="3977640"/>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First commercial Bitcoin transaction (record)</a:t>
            </a:r>
            <a:endParaRPr lang="en-US" sz="7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milestones; the last point fetched live for this deck</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each step x10</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54504A"/>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BBB1A2"/>
            </a:solidFill>
            <a:prstDash val="solid"/>
          </a:ln>
        </p:spPr>
      </p:sp>
      <p:sp>
        <p:nvSpPr>
          <p:cNvPr id="9" name="Shape 7"/>
          <p:cNvSpPr/>
          <p:nvPr/>
        </p:nvSpPr>
        <p:spPr>
          <a:xfrm>
            <a:off x="2231136" y="1906524"/>
            <a:ext cx="384048" cy="384048"/>
          </a:xfrm>
          <a:prstGeom prst="ellipse">
            <a:avLst/>
          </a:prstGeom>
          <a:solidFill>
            <a:srgbClr val="54504A"/>
          </a:solidFill>
          <a:ln w="9525">
            <a:solidFill>
              <a:srgbClr val="54504A"/>
            </a:solidFill>
            <a:prstDash val="solid"/>
          </a:ln>
        </p:spPr>
      </p:sp>
      <p:sp>
        <p:nvSpPr>
          <p:cNvPr id="10" name="Shape 8"/>
          <p:cNvSpPr/>
          <p:nvPr/>
        </p:nvSpPr>
        <p:spPr>
          <a:xfrm flipV="1">
            <a:off x="2423160" y="2546604"/>
            <a:ext cx="776056" cy="448056"/>
          </a:xfrm>
          <a:prstGeom prst="line">
            <a:avLst/>
          </a:prstGeom>
          <a:noFill/>
          <a:ln w="13970">
            <a:solidFill>
              <a:srgbClr val="BBB1A2"/>
            </a:solidFill>
            <a:prstDash val="solid"/>
          </a:ln>
        </p:spPr>
      </p:sp>
      <p:sp>
        <p:nvSpPr>
          <p:cNvPr id="11" name="Shape 9"/>
          <p:cNvSpPr/>
          <p:nvPr/>
        </p:nvSpPr>
        <p:spPr>
          <a:xfrm>
            <a:off x="3007192" y="2354580"/>
            <a:ext cx="384048" cy="384048"/>
          </a:xfrm>
          <a:prstGeom prst="ellipse">
            <a:avLst/>
          </a:prstGeom>
          <a:solidFill>
            <a:srgbClr val="54504A"/>
          </a:solidFill>
          <a:ln w="9525">
            <a:solidFill>
              <a:srgbClr val="54504A"/>
            </a:solidFill>
            <a:prstDash val="solid"/>
          </a:ln>
        </p:spPr>
      </p:sp>
      <p:sp>
        <p:nvSpPr>
          <p:cNvPr id="12" name="Shape 10"/>
          <p:cNvSpPr/>
          <p:nvPr/>
        </p:nvSpPr>
        <p:spPr>
          <a:xfrm>
            <a:off x="2423160" y="2994660"/>
            <a:ext cx="776056" cy="448056"/>
          </a:xfrm>
          <a:prstGeom prst="line">
            <a:avLst/>
          </a:prstGeom>
          <a:noFill/>
          <a:ln w="13970">
            <a:solidFill>
              <a:srgbClr val="BBB1A2"/>
            </a:solidFill>
            <a:prstDash val="solid"/>
          </a:ln>
        </p:spPr>
      </p:sp>
      <p:sp>
        <p:nvSpPr>
          <p:cNvPr id="13" name="Shape 11"/>
          <p:cNvSpPr/>
          <p:nvPr/>
        </p:nvSpPr>
        <p:spPr>
          <a:xfrm>
            <a:off x="3007192" y="3250692"/>
            <a:ext cx="384048" cy="384048"/>
          </a:xfrm>
          <a:prstGeom prst="ellipse">
            <a:avLst/>
          </a:prstGeom>
          <a:solidFill>
            <a:srgbClr val="54504A"/>
          </a:solidFill>
          <a:ln w="9525">
            <a:solidFill>
              <a:srgbClr val="54504A"/>
            </a:solidFill>
            <a:prstDash val="solid"/>
          </a:ln>
        </p:spPr>
      </p:sp>
      <p:sp>
        <p:nvSpPr>
          <p:cNvPr id="14" name="Shape 12"/>
          <p:cNvSpPr/>
          <p:nvPr/>
        </p:nvSpPr>
        <p:spPr>
          <a:xfrm flipV="1">
            <a:off x="2423160" y="2994660"/>
            <a:ext cx="0" cy="896112"/>
          </a:xfrm>
          <a:prstGeom prst="line">
            <a:avLst/>
          </a:prstGeom>
          <a:noFill/>
          <a:ln w="13970">
            <a:solidFill>
              <a:srgbClr val="BBB1A2"/>
            </a:solidFill>
            <a:prstDash val="solid"/>
          </a:ln>
        </p:spPr>
      </p:sp>
      <p:sp>
        <p:nvSpPr>
          <p:cNvPr id="15" name="Shape 13"/>
          <p:cNvSpPr/>
          <p:nvPr/>
        </p:nvSpPr>
        <p:spPr>
          <a:xfrm>
            <a:off x="2231136" y="3698748"/>
            <a:ext cx="384048" cy="384048"/>
          </a:xfrm>
          <a:prstGeom prst="ellipse">
            <a:avLst/>
          </a:prstGeom>
          <a:solidFill>
            <a:srgbClr val="54504A"/>
          </a:solidFill>
          <a:ln w="9525">
            <a:solidFill>
              <a:srgbClr val="54504A"/>
            </a:solidFill>
            <a:prstDash val="solid"/>
          </a:ln>
        </p:spPr>
      </p:sp>
      <p:sp>
        <p:nvSpPr>
          <p:cNvPr id="16" name="Shape 14"/>
          <p:cNvSpPr/>
          <p:nvPr/>
        </p:nvSpPr>
        <p:spPr>
          <a:xfrm flipH="1">
            <a:off x="1647104" y="2994660"/>
            <a:ext cx="776056" cy="448056"/>
          </a:xfrm>
          <a:prstGeom prst="line">
            <a:avLst/>
          </a:prstGeom>
          <a:noFill/>
          <a:ln w="13970">
            <a:solidFill>
              <a:srgbClr val="BBB1A2"/>
            </a:solidFill>
            <a:prstDash val="solid"/>
          </a:ln>
        </p:spPr>
      </p:sp>
      <p:sp>
        <p:nvSpPr>
          <p:cNvPr id="17" name="Shape 15"/>
          <p:cNvSpPr/>
          <p:nvPr/>
        </p:nvSpPr>
        <p:spPr>
          <a:xfrm>
            <a:off x="1455080" y="3250692"/>
            <a:ext cx="384048" cy="384048"/>
          </a:xfrm>
          <a:prstGeom prst="ellipse">
            <a:avLst/>
          </a:prstGeom>
          <a:solidFill>
            <a:srgbClr val="54504A"/>
          </a:solidFill>
          <a:ln w="9525">
            <a:solidFill>
              <a:srgbClr val="54504A"/>
            </a:solidFill>
            <a:prstDash val="solid"/>
          </a:ln>
        </p:spPr>
      </p:sp>
      <p:sp>
        <p:nvSpPr>
          <p:cNvPr id="18" name="Shape 16"/>
          <p:cNvSpPr/>
          <p:nvPr/>
        </p:nvSpPr>
        <p:spPr>
          <a:xfrm flipH="1" flipV="1">
            <a:off x="1647104" y="2546604"/>
            <a:ext cx="776056" cy="448056"/>
          </a:xfrm>
          <a:prstGeom prst="line">
            <a:avLst/>
          </a:prstGeom>
          <a:noFill/>
          <a:ln w="13970">
            <a:solidFill>
              <a:srgbClr val="BBB1A2"/>
            </a:solidFill>
            <a:prstDash val="solid"/>
          </a:ln>
        </p:spPr>
      </p:sp>
      <p:sp>
        <p:nvSpPr>
          <p:cNvPr id="19" name="Shape 17"/>
          <p:cNvSpPr/>
          <p:nvPr/>
        </p:nvSpPr>
        <p:spPr>
          <a:xfrm>
            <a:off x="1455080" y="2354580"/>
            <a:ext cx="384048" cy="384048"/>
          </a:xfrm>
          <a:prstGeom prst="ellipse">
            <a:avLst/>
          </a:prstGeom>
          <a:solidFill>
            <a:srgbClr val="54504A"/>
          </a:solidFill>
          <a:ln w="9525">
            <a:solidFill>
              <a:srgbClr val="54504A"/>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BBB1A2"/>
            </a:solidFill>
            <a:prstDash val="solid"/>
          </a:ln>
        </p:spPr>
      </p:sp>
      <p:sp>
        <p:nvSpPr>
          <p:cNvPr id="25" name="Shape 23"/>
          <p:cNvSpPr/>
          <p:nvPr/>
        </p:nvSpPr>
        <p:spPr>
          <a:xfrm>
            <a:off x="6720840" y="2098548"/>
            <a:ext cx="896112" cy="896112"/>
          </a:xfrm>
          <a:prstGeom prst="line">
            <a:avLst/>
          </a:prstGeom>
          <a:noFill/>
          <a:ln w="10160">
            <a:solidFill>
              <a:srgbClr val="BBB1A2"/>
            </a:solidFill>
            <a:prstDash val="solid"/>
          </a:ln>
        </p:spPr>
      </p:sp>
      <p:sp>
        <p:nvSpPr>
          <p:cNvPr id="26" name="Shape 24"/>
          <p:cNvSpPr/>
          <p:nvPr/>
        </p:nvSpPr>
        <p:spPr>
          <a:xfrm>
            <a:off x="6720840" y="2098548"/>
            <a:ext cx="633647" cy="1529759"/>
          </a:xfrm>
          <a:prstGeom prst="line">
            <a:avLst/>
          </a:prstGeom>
          <a:noFill/>
          <a:ln w="6985">
            <a:solidFill>
              <a:srgbClr val="BBB1A2"/>
            </a:solidFill>
            <a:prstDash val="solid"/>
          </a:ln>
        </p:spPr>
      </p:sp>
      <p:sp>
        <p:nvSpPr>
          <p:cNvPr id="27" name="Shape 25"/>
          <p:cNvSpPr/>
          <p:nvPr/>
        </p:nvSpPr>
        <p:spPr>
          <a:xfrm>
            <a:off x="7354487" y="2361013"/>
            <a:ext cx="262465" cy="633647"/>
          </a:xfrm>
          <a:prstGeom prst="line">
            <a:avLst/>
          </a:prstGeom>
          <a:noFill/>
          <a:ln w="12700">
            <a:solidFill>
              <a:srgbClr val="BBB1A2"/>
            </a:solidFill>
            <a:prstDash val="solid"/>
          </a:ln>
        </p:spPr>
      </p:sp>
      <p:sp>
        <p:nvSpPr>
          <p:cNvPr id="28" name="Shape 26"/>
          <p:cNvSpPr/>
          <p:nvPr/>
        </p:nvSpPr>
        <p:spPr>
          <a:xfrm flipV="1">
            <a:off x="7354487" y="2361013"/>
            <a:ext cx="0" cy="1267294"/>
          </a:xfrm>
          <a:prstGeom prst="line">
            <a:avLst/>
          </a:prstGeom>
          <a:noFill/>
          <a:ln w="10160">
            <a:solidFill>
              <a:srgbClr val="BBB1A2"/>
            </a:solidFill>
            <a:prstDash val="solid"/>
          </a:ln>
        </p:spPr>
      </p:sp>
      <p:sp>
        <p:nvSpPr>
          <p:cNvPr id="29" name="Shape 27"/>
          <p:cNvSpPr/>
          <p:nvPr/>
        </p:nvSpPr>
        <p:spPr>
          <a:xfrm flipH="1">
            <a:off x="6720840" y="2361013"/>
            <a:ext cx="633647" cy="1529759"/>
          </a:xfrm>
          <a:prstGeom prst="line">
            <a:avLst/>
          </a:prstGeom>
          <a:noFill/>
          <a:ln w="6985">
            <a:solidFill>
              <a:srgbClr val="BBB1A2"/>
            </a:solidFill>
            <a:prstDash val="solid"/>
          </a:ln>
        </p:spPr>
      </p:sp>
      <p:sp>
        <p:nvSpPr>
          <p:cNvPr id="30" name="Shape 28"/>
          <p:cNvSpPr/>
          <p:nvPr/>
        </p:nvSpPr>
        <p:spPr>
          <a:xfrm flipH="1">
            <a:off x="7354487" y="2994660"/>
            <a:ext cx="262465" cy="633647"/>
          </a:xfrm>
          <a:prstGeom prst="line">
            <a:avLst/>
          </a:prstGeom>
          <a:noFill/>
          <a:ln w="12700">
            <a:solidFill>
              <a:srgbClr val="BBB1A2"/>
            </a:solidFill>
            <a:prstDash val="solid"/>
          </a:ln>
        </p:spPr>
      </p:sp>
      <p:sp>
        <p:nvSpPr>
          <p:cNvPr id="31" name="Shape 29"/>
          <p:cNvSpPr/>
          <p:nvPr/>
        </p:nvSpPr>
        <p:spPr>
          <a:xfrm flipH="1">
            <a:off x="6720840" y="2994660"/>
            <a:ext cx="896112" cy="896112"/>
          </a:xfrm>
          <a:prstGeom prst="line">
            <a:avLst/>
          </a:prstGeom>
          <a:noFill/>
          <a:ln w="10160">
            <a:solidFill>
              <a:srgbClr val="BBB1A2"/>
            </a:solidFill>
            <a:prstDash val="solid"/>
          </a:ln>
        </p:spPr>
      </p:sp>
      <p:sp>
        <p:nvSpPr>
          <p:cNvPr id="32" name="Shape 30"/>
          <p:cNvSpPr/>
          <p:nvPr/>
        </p:nvSpPr>
        <p:spPr>
          <a:xfrm flipH="1">
            <a:off x="6087193" y="2994660"/>
            <a:ext cx="1529759" cy="633647"/>
          </a:xfrm>
          <a:prstGeom prst="line">
            <a:avLst/>
          </a:prstGeom>
          <a:noFill/>
          <a:ln w="6985">
            <a:solidFill>
              <a:srgbClr val="BBB1A2"/>
            </a:solidFill>
            <a:prstDash val="solid"/>
          </a:ln>
        </p:spPr>
      </p:sp>
      <p:sp>
        <p:nvSpPr>
          <p:cNvPr id="33" name="Shape 31"/>
          <p:cNvSpPr/>
          <p:nvPr/>
        </p:nvSpPr>
        <p:spPr>
          <a:xfrm flipH="1">
            <a:off x="6720840" y="3628307"/>
            <a:ext cx="633647" cy="262465"/>
          </a:xfrm>
          <a:prstGeom prst="line">
            <a:avLst/>
          </a:prstGeom>
          <a:noFill/>
          <a:ln w="12700">
            <a:solidFill>
              <a:srgbClr val="BBB1A2"/>
            </a:solidFill>
            <a:prstDash val="solid"/>
          </a:ln>
        </p:spPr>
      </p:sp>
      <p:sp>
        <p:nvSpPr>
          <p:cNvPr id="34" name="Shape 32"/>
          <p:cNvSpPr/>
          <p:nvPr/>
        </p:nvSpPr>
        <p:spPr>
          <a:xfrm flipH="1">
            <a:off x="6087193" y="3628307"/>
            <a:ext cx="1267294" cy="0"/>
          </a:xfrm>
          <a:prstGeom prst="line">
            <a:avLst/>
          </a:prstGeom>
          <a:noFill/>
          <a:ln w="10160">
            <a:solidFill>
              <a:srgbClr val="BBB1A2"/>
            </a:solidFill>
            <a:prstDash val="solid"/>
          </a:ln>
        </p:spPr>
      </p:sp>
      <p:sp>
        <p:nvSpPr>
          <p:cNvPr id="35" name="Shape 33"/>
          <p:cNvSpPr/>
          <p:nvPr/>
        </p:nvSpPr>
        <p:spPr>
          <a:xfrm flipH="1" flipV="1">
            <a:off x="5824728" y="2994660"/>
            <a:ext cx="1529759" cy="633647"/>
          </a:xfrm>
          <a:prstGeom prst="line">
            <a:avLst/>
          </a:prstGeom>
          <a:noFill/>
          <a:ln w="6985">
            <a:solidFill>
              <a:srgbClr val="BBB1A2"/>
            </a:solidFill>
            <a:prstDash val="solid"/>
          </a:ln>
        </p:spPr>
      </p:sp>
      <p:sp>
        <p:nvSpPr>
          <p:cNvPr id="36" name="Shape 34"/>
          <p:cNvSpPr/>
          <p:nvPr/>
        </p:nvSpPr>
        <p:spPr>
          <a:xfrm flipH="1" flipV="1">
            <a:off x="6087193" y="3628307"/>
            <a:ext cx="633647" cy="262465"/>
          </a:xfrm>
          <a:prstGeom prst="line">
            <a:avLst/>
          </a:prstGeom>
          <a:noFill/>
          <a:ln w="12700">
            <a:solidFill>
              <a:srgbClr val="BBB1A2"/>
            </a:solidFill>
            <a:prstDash val="solid"/>
          </a:ln>
        </p:spPr>
      </p:sp>
      <p:sp>
        <p:nvSpPr>
          <p:cNvPr id="37" name="Shape 35"/>
          <p:cNvSpPr/>
          <p:nvPr/>
        </p:nvSpPr>
        <p:spPr>
          <a:xfrm flipH="1" flipV="1">
            <a:off x="5824728" y="2994660"/>
            <a:ext cx="896112" cy="896112"/>
          </a:xfrm>
          <a:prstGeom prst="line">
            <a:avLst/>
          </a:prstGeom>
          <a:noFill/>
          <a:ln w="10160">
            <a:solidFill>
              <a:srgbClr val="BBB1A2"/>
            </a:solidFill>
            <a:prstDash val="solid"/>
          </a:ln>
        </p:spPr>
      </p:sp>
      <p:sp>
        <p:nvSpPr>
          <p:cNvPr id="38" name="Shape 36"/>
          <p:cNvSpPr/>
          <p:nvPr/>
        </p:nvSpPr>
        <p:spPr>
          <a:xfrm flipH="1" flipV="1">
            <a:off x="6087193" y="2361013"/>
            <a:ext cx="633647" cy="1529759"/>
          </a:xfrm>
          <a:prstGeom prst="line">
            <a:avLst/>
          </a:prstGeom>
          <a:noFill/>
          <a:ln w="6985">
            <a:solidFill>
              <a:srgbClr val="BBB1A2"/>
            </a:solidFill>
            <a:prstDash val="solid"/>
          </a:ln>
        </p:spPr>
      </p:sp>
      <p:sp>
        <p:nvSpPr>
          <p:cNvPr id="39" name="Shape 37"/>
          <p:cNvSpPr/>
          <p:nvPr/>
        </p:nvSpPr>
        <p:spPr>
          <a:xfrm flipH="1" flipV="1">
            <a:off x="5824728" y="2994660"/>
            <a:ext cx="262465" cy="633647"/>
          </a:xfrm>
          <a:prstGeom prst="line">
            <a:avLst/>
          </a:prstGeom>
          <a:noFill/>
          <a:ln w="12700">
            <a:solidFill>
              <a:srgbClr val="BBB1A2"/>
            </a:solidFill>
            <a:prstDash val="solid"/>
          </a:ln>
        </p:spPr>
      </p:sp>
      <p:sp>
        <p:nvSpPr>
          <p:cNvPr id="40" name="Shape 38"/>
          <p:cNvSpPr/>
          <p:nvPr/>
        </p:nvSpPr>
        <p:spPr>
          <a:xfrm>
            <a:off x="6087193" y="2361013"/>
            <a:ext cx="0" cy="1267294"/>
          </a:xfrm>
          <a:prstGeom prst="line">
            <a:avLst/>
          </a:prstGeom>
          <a:noFill/>
          <a:ln w="10160">
            <a:solidFill>
              <a:srgbClr val="BBB1A2"/>
            </a:solidFill>
            <a:prstDash val="solid"/>
          </a:ln>
        </p:spPr>
      </p:sp>
      <p:sp>
        <p:nvSpPr>
          <p:cNvPr id="41" name="Shape 39"/>
          <p:cNvSpPr/>
          <p:nvPr/>
        </p:nvSpPr>
        <p:spPr>
          <a:xfrm flipV="1">
            <a:off x="5824728" y="2361013"/>
            <a:ext cx="262465" cy="633647"/>
          </a:xfrm>
          <a:prstGeom prst="line">
            <a:avLst/>
          </a:prstGeom>
          <a:noFill/>
          <a:ln w="12700">
            <a:solidFill>
              <a:srgbClr val="BBB1A2"/>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Four peers start, each knowing one neighbour</a:t>
            </a:r>
            <a:endParaRPr lang="en-US" sz="1050" dirty="0"/>
          </a:p>
        </p:txBody>
      </p:sp>
      <p:sp>
        <p:nvSpPr>
          <p:cNvPr id="9" name="Shape 7"/>
          <p:cNvSpPr/>
          <p:nvPr/>
        </p:nvSpPr>
        <p:spPr>
          <a:xfrm>
            <a:off x="457200" y="210312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031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6654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asks its neighbours for THEIR neighbours</a:t>
            </a:r>
            <a:endParaRPr lang="en-US" sz="10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Links are counted when the gossip settles: 4</a:t>
            </a:r>
            <a:endParaRPr lang="en-US" sz="1050" dirty="0"/>
          </a:p>
        </p:txBody>
      </p:sp>
      <p:pic>
        <p:nvPicPr>
          <p:cNvPr id="15" name="Image 0" descr="../../03-materials/ch01/assets/c8s06_mesh.png">    </p:cNvPr>
          <p:cNvPicPr>
            <a:picLocks noChangeAspect="1"/>
          </p:cNvPicPr>
          <p:nvPr/>
        </p:nvPicPr>
        <p:blipFill>
          <a:blip r:embed="rId1"/>
          <a:srcRect l="0" r="0" t="0" b="0"/>
          <a:stretch/>
        </p:blipFill>
        <p:spPr>
          <a:xfrm>
            <a:off x="3931920" y="1444752"/>
            <a:ext cx="2194560" cy="1463040"/>
          </a:xfrm>
          <a:prstGeom prst="rect">
            <a:avLst/>
          </a:prstGeom>
        </p:spPr>
      </p:pic>
      <p:sp>
        <p:nvSpPr>
          <p:cNvPr id="16" name="Text 13"/>
          <p:cNvSpPr txBox="1"/>
          <p:nvPr/>
        </p:nvSpPr>
        <p:spPr>
          <a:xfrm>
            <a:off x="3931920" y="2926080"/>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what it builds: a flat mesh</a:t>
            </a:r>
            <a:endParaRPr lang="en-US" sz="900" dirty="0"/>
          </a:p>
        </p:txBody>
      </p:sp>
      <p:sp>
        <p:nvSpPr>
          <p:cNvPr id="17" name="Shape 14"/>
          <p:cNvSpPr/>
          <p:nvPr/>
        </p:nvSpPr>
        <p:spPr>
          <a:xfrm>
            <a:off x="6400800" y="1444752"/>
            <a:ext cx="2286000" cy="1463040"/>
          </a:xfrm>
          <a:prstGeom prst="roundRect">
            <a:avLst>
              <a:gd name="adj" fmla="val 5000"/>
            </a:avLst>
          </a:prstGeom>
          <a:solidFill>
            <a:srgbClr val="F2ECE1"/>
          </a:solidFill>
          <a:ln w="12700">
            <a:solidFill>
              <a:srgbClr val="DFD6C7"/>
            </a:solidFill>
            <a:prstDash val="solid"/>
          </a:ln>
        </p:spPr>
      </p:sp>
      <p:sp>
        <p:nvSpPr>
          <p:cNvPr id="18" name="Text 15"/>
          <p:cNvSpPr txBox="1"/>
          <p:nvPr/>
        </p:nvSpPr>
        <p:spPr>
          <a:xfrm>
            <a:off x="6510528" y="1517904"/>
            <a:ext cx="20665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4</a:t>
            </a:r>
            <a:endParaRPr lang="en-US" sz="2800" dirty="0"/>
          </a:p>
        </p:txBody>
      </p:sp>
      <p:sp>
        <p:nvSpPr>
          <p:cNvPr id="19" name="Text 16"/>
          <p:cNvSpPr txBox="1"/>
          <p:nvPr/>
        </p:nvSpPr>
        <p:spPr>
          <a:xfrm>
            <a:off x="6510528" y="2205533"/>
            <a:ext cx="20665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links counted by the run - no server, no registry</a:t>
            </a:r>
            <a:endParaRPr lang="en-US" sz="1150" dirty="0"/>
          </a:p>
        </p:txBody>
      </p:sp>
      <p:sp>
        <p:nvSpPr>
          <p:cNvPr id="20" name="Text 17"/>
          <p:cNvSpPr txBox="1"/>
          <p:nvPr/>
        </p:nvSpPr>
        <p:spPr>
          <a:xfrm>
            <a:off x="457200" y="30358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1" name="Shape 18"/>
          <p:cNvSpPr/>
          <p:nvPr/>
        </p:nvSpPr>
        <p:spPr>
          <a:xfrm>
            <a:off x="457200" y="3310128"/>
            <a:ext cx="8229600" cy="1188720"/>
          </a:xfrm>
          <a:prstGeom prst="roundRect">
            <a:avLst>
              <a:gd name="adj" fmla="val 7692"/>
            </a:avLst>
          </a:prstGeom>
          <a:solidFill>
            <a:srgbClr val="23272E"/>
          </a:solidFill>
          <a:ln w="12700">
            <a:solidFill>
              <a:srgbClr val="23272E"/>
            </a:solidFill>
            <a:prstDash val="solid"/>
          </a:ln>
        </p:spPr>
      </p:sp>
      <p:sp>
        <p:nvSpPr>
          <p:cNvPr id="22" name="Text 19"/>
          <p:cNvSpPr txBox="1"/>
          <p:nvPr/>
        </p:nvSpPr>
        <p:spPr>
          <a:xfrm>
            <a:off x="640080" y="3429000"/>
            <a:ext cx="7863840" cy="950976"/>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links =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'G'</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'G'</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seen, frontier, rounds =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while</a:t>
            </a:r>
            <a:pPr indent="0" marL="0">
              <a:buNone/>
            </a:pPr>
            <a:r>
              <a:rPr lang="en-US" sz="800" dirty="0">
                <a:solidFill>
                  <a:srgbClr val="E6EDF3"/>
                </a:solidFill>
                <a:latin typeface="Courier New" pitchFamily="34" charset="0"/>
                <a:ea typeface="Courier New" pitchFamily="34" charset="-122"/>
                <a:cs typeface="Courier New" pitchFamily="34" charset="-120"/>
              </a:rPr>
              <a:t> len(seen) &lt; len(links):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frontier = {n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f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frontier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n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links[f]} - seen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seen |= frontier; rounds += </a:t>
            </a:r>
            <a:pPr indent="0" marL="0">
              <a:buNone/>
            </a:pPr>
            <a:r>
              <a:rPr lang="en-US" sz="800" dirty="0">
                <a:solidFill>
                  <a:srgbClr val="FFD28A"/>
                </a:solidFill>
                <a:latin typeface="Courier New" pitchFamily="34" charset="0"/>
                <a:ea typeface="Courier New" pitchFamily="34" charset="-122"/>
                <a:cs typeface="Courier New" pitchFamily="34" charset="-120"/>
              </a:rPr>
              <a:t>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rounds</a:t>
            </a:r>
            <a:endParaRPr lang="en-US" sz="800" dirty="0"/>
          </a:p>
        </p:txBody>
      </p:sp>
      <p:sp>
        <p:nvSpPr>
          <p:cNvPr id="23" name="Text 20"/>
          <p:cNvSpPr txBox="1"/>
          <p:nvPr/>
        </p:nvSpPr>
        <p:spPr>
          <a:xfrm>
            <a:off x="457200" y="4517136"/>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4</a:t>
            </a:r>
            <a:endParaRPr lang="en-US" sz="900" dirty="0"/>
          </a:p>
        </p:txBody>
      </p:sp>
      <p:sp>
        <p:nvSpPr>
          <p:cNvPr id="24" name="Text 21"/>
          <p:cNvSpPr txBox="1"/>
          <p:nvPr/>
        </p:nvSpPr>
        <p:spPr>
          <a:xfrm>
            <a:off x="457200" y="4773168"/>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3.14.4</a:t>
            </a:r>
            <a:endParaRPr lang="en-US" sz="90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rule: at height h, a block may create subsidy plus fees, nothing more</a:t>
            </a:r>
            <a:endParaRPr lang="en-US" sz="100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Three blocks claim rewards at height 840,000</a:t>
            </a:r>
            <a:endParaRPr lang="en-US" sz="100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Verdicts: allowed, refused, allowed - right</a:t>
            </a:r>
            <a:endParaRPr lang="en-US" sz="1000" dirty="0"/>
          </a:p>
        </p:txBody>
      </p:sp>
      <p:sp>
        <p:nvSpPr>
          <p:cNvPr id="15" name="Shape 13"/>
          <p:cNvSpPr/>
          <p:nvPr/>
        </p:nvSpPr>
        <p:spPr>
          <a:xfrm>
            <a:off x="3840480" y="1444752"/>
            <a:ext cx="4846320" cy="432816"/>
          </a:xfrm>
          <a:prstGeom prst="roundRect">
            <a:avLst>
              <a:gd name="adj" fmla="val 16901"/>
            </a:avLst>
          </a:prstGeom>
          <a:solidFill>
            <a:srgbClr val="F2ECE1"/>
          </a:solidFill>
          <a:ln w="19050">
            <a:solidFill>
              <a:srgbClr val="5B8C5A"/>
            </a:solidFill>
            <a:prstDash val="solid"/>
          </a:ln>
        </p:spPr>
      </p:sp>
      <p:sp>
        <p:nvSpPr>
          <p:cNvPr id="16" name="Shape 14"/>
          <p:cNvSpPr/>
          <p:nvPr/>
        </p:nvSpPr>
        <p:spPr>
          <a:xfrm>
            <a:off x="3931920" y="1514856"/>
            <a:ext cx="292608" cy="292608"/>
          </a:xfrm>
          <a:prstGeom prst="ellipse">
            <a:avLst/>
          </a:prstGeom>
          <a:solidFill>
            <a:srgbClr val="5B8C5A"/>
          </a:solidFill>
          <a:ln w="12700">
            <a:solidFill>
              <a:srgbClr val="5B8C5A"/>
            </a:solidFill>
            <a:prstDash val="solid"/>
          </a:ln>
        </p:spPr>
      </p:sp>
      <p:sp>
        <p:nvSpPr>
          <p:cNvPr id="17" name="Text 15"/>
          <p:cNvSpPr txBox="1"/>
          <p:nvPr/>
        </p:nvSpPr>
        <p:spPr>
          <a:xfrm>
            <a:off x="3931920" y="15148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315968" y="1444752"/>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9" name="Shape 17"/>
          <p:cNvSpPr/>
          <p:nvPr/>
        </p:nvSpPr>
        <p:spPr>
          <a:xfrm>
            <a:off x="3840480" y="1987296"/>
            <a:ext cx="4846320" cy="432816"/>
          </a:xfrm>
          <a:prstGeom prst="roundRect">
            <a:avLst>
              <a:gd name="adj" fmla="val 16901"/>
            </a:avLst>
          </a:prstGeom>
          <a:solidFill>
            <a:srgbClr val="F2ECE1"/>
          </a:solidFill>
          <a:ln w="19050">
            <a:solidFill>
              <a:srgbClr val="B6533C"/>
            </a:solidFill>
            <a:prstDash val="solid"/>
          </a:ln>
        </p:spPr>
      </p:sp>
      <p:sp>
        <p:nvSpPr>
          <p:cNvPr id="20" name="Shape 18"/>
          <p:cNvSpPr/>
          <p:nvPr/>
        </p:nvSpPr>
        <p:spPr>
          <a:xfrm>
            <a:off x="3931920" y="2057400"/>
            <a:ext cx="292608" cy="292608"/>
          </a:xfrm>
          <a:prstGeom prst="ellipse">
            <a:avLst/>
          </a:prstGeom>
          <a:solidFill>
            <a:srgbClr val="B6533C"/>
          </a:solidFill>
          <a:ln w="12700">
            <a:solidFill>
              <a:srgbClr val="B6533C"/>
            </a:solidFill>
            <a:prstDash val="solid"/>
          </a:ln>
        </p:spPr>
      </p:sp>
      <p:sp>
        <p:nvSpPr>
          <p:cNvPr id="21" name="Text 19"/>
          <p:cNvSpPr txBox="1"/>
          <p:nvPr/>
        </p:nvSpPr>
        <p:spPr>
          <a:xfrm>
            <a:off x="3931920" y="205740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4315968" y="1987296"/>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23" name="Shape 21"/>
          <p:cNvSpPr/>
          <p:nvPr/>
        </p:nvSpPr>
        <p:spPr>
          <a:xfrm>
            <a:off x="3840480" y="2529840"/>
            <a:ext cx="4846320" cy="432816"/>
          </a:xfrm>
          <a:prstGeom prst="roundRect">
            <a:avLst>
              <a:gd name="adj" fmla="val 16901"/>
            </a:avLst>
          </a:prstGeom>
          <a:solidFill>
            <a:srgbClr val="F2ECE1"/>
          </a:solidFill>
          <a:ln w="19050">
            <a:solidFill>
              <a:srgbClr val="5B8C5A"/>
            </a:solidFill>
            <a:prstDash val="solid"/>
          </a:ln>
        </p:spPr>
      </p:sp>
      <p:sp>
        <p:nvSpPr>
          <p:cNvPr id="24" name="Shape 22"/>
          <p:cNvSpPr/>
          <p:nvPr/>
        </p:nvSpPr>
        <p:spPr>
          <a:xfrm>
            <a:off x="3931920" y="2599944"/>
            <a:ext cx="292608" cy="292608"/>
          </a:xfrm>
          <a:prstGeom prst="ellipse">
            <a:avLst/>
          </a:prstGeom>
          <a:solidFill>
            <a:srgbClr val="5B8C5A"/>
          </a:solidFill>
          <a:ln w="12700">
            <a:solidFill>
              <a:srgbClr val="5B8C5A"/>
            </a:solidFill>
            <a:prstDash val="solid"/>
          </a:ln>
        </p:spPr>
      </p:sp>
      <p:sp>
        <p:nvSpPr>
          <p:cNvPr id="25" name="Text 23"/>
          <p:cNvSpPr txBox="1"/>
          <p:nvPr/>
        </p:nvSpPr>
        <p:spPr>
          <a:xfrm>
            <a:off x="3931920" y="259994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4315968" y="2529840"/>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27" name="Text 25"/>
          <p:cNvSpPr txBox="1"/>
          <p:nvPr/>
        </p:nvSpPr>
        <p:spPr>
          <a:xfrm>
            <a:off x="457200" y="31272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457200" y="3401568"/>
            <a:ext cx="8229600" cy="1005840"/>
          </a:xfrm>
          <a:prstGeom prst="roundRect">
            <a:avLst>
              <a:gd name="adj" fmla="val 9091"/>
            </a:avLst>
          </a:prstGeom>
          <a:solidFill>
            <a:srgbClr val="23272E"/>
          </a:solidFill>
          <a:ln w="12700">
            <a:solidFill>
              <a:srgbClr val="23272E"/>
            </a:solidFill>
            <a:prstDash val="solid"/>
          </a:ln>
        </p:spPr>
      </p:sp>
      <p:sp>
        <p:nvSpPr>
          <p:cNvPr id="29" name="Text 27"/>
          <p:cNvSpPr txBox="1"/>
          <p:nvPr/>
        </p:nvSpPr>
        <p:spPr>
          <a:xfrm>
            <a:off x="640080" y="3520440"/>
            <a:ext cx="7863840" cy="76809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accept(claim, height,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subsidy = (</a:t>
            </a:r>
            <a:pPr indent="0" marL="0">
              <a:buNone/>
            </a:pPr>
            <a:r>
              <a:rPr lang="en-US" sz="900" dirty="0">
                <a:solidFill>
                  <a:srgbClr val="FFD28A"/>
                </a:solidFill>
                <a:latin typeface="Courier New" pitchFamily="34" charset="0"/>
                <a:ea typeface="Courier New" pitchFamily="34" charset="-122"/>
                <a:cs typeface="Courier New" pitchFamily="34" charset="-120"/>
              </a:rPr>
              <a:t>50</a:t>
            </a:r>
            <a:pPr indent="0" marL="0">
              <a:buNone/>
            </a:pPr>
            <a:r>
              <a:rPr lang="en-US" sz="900" dirty="0">
                <a:solidFill>
                  <a:srgbClr val="E6EDF3"/>
                </a:solidFill>
                <a:latin typeface="Courier New" pitchFamily="34" charset="0"/>
                <a:ea typeface="Courier New" pitchFamily="34" charset="-122"/>
                <a:cs typeface="Courier New" pitchFamily="34" charset="-120"/>
              </a:rPr>
              <a:t> * </a:t>
            </a:r>
            <a:pPr indent="0" marL="0">
              <a:buNone/>
            </a:pPr>
            <a:r>
              <a:rPr lang="en-US" sz="900" dirty="0">
                <a:solidFill>
                  <a:srgbClr val="FFD28A"/>
                </a:solidFill>
                <a:latin typeface="Courier New" pitchFamily="34" charset="0"/>
                <a:ea typeface="Courier New" pitchFamily="34" charset="-122"/>
                <a:cs typeface="Courier New" pitchFamily="34" charset="-120"/>
              </a:rPr>
              <a:t>10</a:t>
            </a:r>
            <a:pPr indent="0" marL="0">
              <a:buNone/>
            </a:pPr>
            <a:r>
              <a:rPr lang="en-US" sz="900" dirty="0">
                <a:solidFill>
                  <a:srgbClr val="E6EDF3"/>
                </a:solidFill>
                <a:latin typeface="Courier New" pitchFamily="34" charset="0"/>
                <a:ea typeface="Courier New" pitchFamily="34" charset="-122"/>
                <a:cs typeface="Courier New" pitchFamily="34" charset="-120"/>
              </a:rPr>
              <a:t>**</a:t>
            </a:r>
            <a:pPr indent="0" marL="0">
              <a:buNone/>
            </a:pPr>
            <a:r>
              <a:rPr lang="en-US" sz="900" dirty="0">
                <a:solidFill>
                  <a:srgbClr val="FFD28A"/>
                </a:solidFill>
                <a:latin typeface="Courier New" pitchFamily="34" charset="0"/>
                <a:ea typeface="Courier New" pitchFamily="34" charset="-122"/>
                <a:cs typeface="Courier New" pitchFamily="34" charset="-120"/>
              </a:rPr>
              <a:t>8</a:t>
            </a:r>
            <a:pPr indent="0" marL="0">
              <a:buNone/>
            </a:pPr>
            <a:r>
              <a:rPr lang="en-US" sz="900" dirty="0">
                <a:solidFill>
                  <a:srgbClr val="E6EDF3"/>
                </a:solidFill>
                <a:latin typeface="Courier New" pitchFamily="34" charset="0"/>
                <a:ea typeface="Courier New" pitchFamily="34" charset="-122"/>
                <a:cs typeface="Courier New" pitchFamily="34" charset="-120"/>
              </a:rPr>
              <a:t>) &gt;&gt; (height // </a:t>
            </a:r>
            <a:pPr indent="0" marL="0">
              <a:buNone/>
            </a:pPr>
            <a:r>
              <a:rPr lang="en-US" sz="900" dirty="0">
                <a:solidFill>
                  <a:srgbClr val="FFD28A"/>
                </a:solidFill>
                <a:latin typeface="Courier New" pitchFamily="34" charset="0"/>
                <a:ea typeface="Courier New" pitchFamily="34" charset="-122"/>
                <a:cs typeface="Courier New" pitchFamily="34" charset="-120"/>
              </a:rPr>
              <a:t>210000</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return</a:t>
            </a:r>
            <a:pPr indent="0" marL="0">
              <a:buNone/>
            </a:pPr>
            <a:r>
              <a:rPr lang="en-US" sz="900" dirty="0">
                <a:solidFill>
                  <a:srgbClr val="E6EDF3"/>
                </a:solidFill>
                <a:latin typeface="Courier New" pitchFamily="34" charset="0"/>
                <a:ea typeface="Courier New" pitchFamily="34" charset="-122"/>
                <a:cs typeface="Courier New" pitchFamily="34" charset="-120"/>
              </a:rPr>
              <a:t> claim &lt;= subsidy +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[accept(</a:t>
            </a:r>
            <a:pPr indent="0" marL="0">
              <a:buNone/>
            </a:pPr>
            <a:r>
              <a:rPr lang="en-US" sz="900" dirty="0">
                <a:solidFill>
                  <a:srgbClr val="FFD28A"/>
                </a:solidFill>
                <a:latin typeface="Courier New" pitchFamily="34" charset="0"/>
                <a:ea typeface="Courier New" pitchFamily="34" charset="-122"/>
                <a:cs typeface="Courier New" pitchFamily="34" charset="-120"/>
              </a:rPr>
              <a:t>312_500_000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accept(</a:t>
            </a:r>
            <a:pPr indent="0" marL="0">
              <a:buNone/>
            </a:pPr>
            <a:r>
              <a:rPr lang="en-US" sz="900" dirty="0">
                <a:solidFill>
                  <a:srgbClr val="FFD28A"/>
                </a:solidFill>
                <a:latin typeface="Courier New" pitchFamily="34" charset="0"/>
                <a:ea typeface="Courier New" pitchFamily="34" charset="-122"/>
                <a:cs typeface="Courier New" pitchFamily="34" charset="-120"/>
              </a:rPr>
              <a:t>312_500_001</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accept(</a:t>
            </a:r>
            <a:pPr indent="0" marL="0">
              <a:buNone/>
            </a:pPr>
            <a:r>
              <a:rPr lang="en-US" sz="900" dirty="0">
                <a:solidFill>
                  <a:srgbClr val="FFD28A"/>
                </a:solidFill>
                <a:latin typeface="Courier New" pitchFamily="34" charset="0"/>
                <a:ea typeface="Courier New" pitchFamily="34" charset="-122"/>
                <a:cs typeface="Courier New" pitchFamily="34" charset="-120"/>
              </a:rPr>
              <a:t>325_000_000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12_500_000</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p:txBody>
      </p:sp>
      <p:sp>
        <p:nvSpPr>
          <p:cNvPr id="30" name="Text 28"/>
          <p:cNvSpPr txBox="1"/>
          <p:nvPr/>
        </p:nvSpPr>
        <p:spPr>
          <a:xfrm>
            <a:off x="457200" y="4425696"/>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 True]</a:t>
            </a:r>
            <a:endParaRPr lang="en-US" sz="900" dirty="0"/>
          </a:p>
        </p:txBody>
      </p:sp>
      <p:sp>
        <p:nvSpPr>
          <p:cNvPr id="31" name="Text 29"/>
          <p:cNvSpPr txBox="1"/>
          <p:nvPr/>
        </p:nvSpPr>
        <p:spPr>
          <a:xfrm>
            <a:off x="457200" y="4681728"/>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46</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691640"/>
          </a:xfrm>
          <a:prstGeom prst="rect">
            <a:avLst/>
          </a:prstGeom>
        </p:spPr>
      </p:pic>
      <p:sp>
        <p:nvSpPr>
          <p:cNvPr id="19" name="Text 16"/>
          <p:cNvSpPr txBox="1"/>
          <p:nvPr/>
        </p:nvSpPr>
        <p:spPr>
          <a:xfrm>
            <a:off x="5760720" y="449884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Your key is your deed - and you may never show it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house-key analogy, and where it breaks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With a car or a house, the key grants access but a registry proves ownership; in Bitcoin the key is both - so it must prove without being shown.</a:t>
            </a:r>
            <a:endParaRPr lang="en-US" sz="1250" dirty="0"/>
          </a:p>
        </p:txBody>
      </p:sp>
      <p:sp>
        <p:nvSpPr>
          <p:cNvPr id="7" name="Shape 5"/>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8" name="Shape 6"/>
          <p:cNvSpPr/>
          <p:nvPr/>
        </p:nvSpPr>
        <p:spPr>
          <a:xfrm>
            <a:off x="777240" y="2194560"/>
            <a:ext cx="640080" cy="457200"/>
          </a:xfrm>
          <a:prstGeom prst="rect">
            <a:avLst/>
          </a:prstGeom>
          <a:solidFill>
            <a:srgbClr val="2F6D62"/>
          </a:solidFill>
          <a:ln w="12700">
            <a:solidFill>
              <a:srgbClr val="2F6D62"/>
            </a:solidFill>
            <a:prstDash val="solid"/>
          </a:ln>
        </p:spPr>
      </p:sp>
      <p:sp>
        <p:nvSpPr>
          <p:cNvPr id="9" name="Shape 7"/>
          <p:cNvSpPr/>
          <p:nvPr/>
        </p:nvSpPr>
        <p:spPr>
          <a:xfrm>
            <a:off x="704088" y="1920240"/>
            <a:ext cx="786384" cy="310896"/>
          </a:xfrm>
          <a:prstGeom prst="triangle">
            <a:avLst/>
          </a:prstGeom>
          <a:solidFill>
            <a:srgbClr val="2F6D62"/>
          </a:solidFill>
          <a:ln w="12700">
            <a:solidFill>
              <a:srgbClr val="2F6D62"/>
            </a:solidFill>
            <a:prstDash val="solid"/>
          </a:ln>
        </p:spPr>
      </p:sp>
      <p:sp>
        <p:nvSpPr>
          <p:cNvPr id="10" name="Shape 8"/>
          <p:cNvSpPr/>
          <p:nvPr/>
        </p:nvSpPr>
        <p:spPr>
          <a:xfrm>
            <a:off x="1783080" y="2121408"/>
            <a:ext cx="237744" cy="237744"/>
          </a:xfrm>
          <a:prstGeom prst="ellipse">
            <a:avLst/>
          </a:prstGeom>
          <a:solidFill>
            <a:srgbClr val="E8B94B"/>
          </a:solidFill>
          <a:ln w="19050">
            <a:solidFill>
              <a:srgbClr val="B98A2B"/>
            </a:solidFill>
            <a:prstDash val="solid"/>
          </a:ln>
        </p:spPr>
      </p:sp>
      <p:sp>
        <p:nvSpPr>
          <p:cNvPr id="11" name="Shape 9"/>
          <p:cNvSpPr/>
          <p:nvPr/>
        </p:nvSpPr>
        <p:spPr>
          <a:xfrm>
            <a:off x="2002536" y="2203704"/>
            <a:ext cx="457200" cy="73152"/>
          </a:xfrm>
          <a:prstGeom prst="rect">
            <a:avLst/>
          </a:prstGeom>
          <a:solidFill>
            <a:srgbClr val="E8B94B"/>
          </a:solidFill>
          <a:ln w="9525">
            <a:solidFill>
              <a:srgbClr val="B98A2B"/>
            </a:solidFill>
            <a:prstDash val="solid"/>
          </a:ln>
        </p:spPr>
      </p:sp>
      <p:sp>
        <p:nvSpPr>
          <p:cNvPr id="12" name="Shape 10"/>
          <p:cNvSpPr/>
          <p:nvPr/>
        </p:nvSpPr>
        <p:spPr>
          <a:xfrm>
            <a:off x="2313432" y="2258568"/>
            <a:ext cx="64008" cy="109728"/>
          </a:xfrm>
          <a:prstGeom prst="rect">
            <a:avLst/>
          </a:prstGeom>
          <a:solidFill>
            <a:srgbClr val="E8B94B"/>
          </a:solidFill>
          <a:ln w="9525">
            <a:solidFill>
              <a:srgbClr val="B98A2B"/>
            </a:solidFill>
            <a:prstDash val="solid"/>
          </a:ln>
        </p:spPr>
      </p:sp>
      <p:sp>
        <p:nvSpPr>
          <p:cNvPr id="13" name="Text 11"/>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4" name="Text 12"/>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5" name="Shape 13"/>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6" name="Shape 14"/>
          <p:cNvSpPr/>
          <p:nvPr/>
        </p:nvSpPr>
        <p:spPr>
          <a:xfrm>
            <a:off x="5120640" y="2194560"/>
            <a:ext cx="640080" cy="457200"/>
          </a:xfrm>
          <a:prstGeom prst="rect">
            <a:avLst/>
          </a:prstGeom>
          <a:solidFill>
            <a:srgbClr val="D97A14"/>
          </a:solidFill>
          <a:ln w="12700">
            <a:solidFill>
              <a:srgbClr val="D97A14"/>
            </a:solidFill>
            <a:prstDash val="solid"/>
          </a:ln>
        </p:spPr>
      </p:sp>
      <p:sp>
        <p:nvSpPr>
          <p:cNvPr id="17" name="Shape 15"/>
          <p:cNvSpPr/>
          <p:nvPr/>
        </p:nvSpPr>
        <p:spPr>
          <a:xfrm>
            <a:off x="5047488" y="1920240"/>
            <a:ext cx="786384" cy="310896"/>
          </a:xfrm>
          <a:prstGeom prst="triangle">
            <a:avLst/>
          </a:prstGeom>
          <a:solidFill>
            <a:srgbClr val="D97A14"/>
          </a:solidFill>
          <a:ln w="12700">
            <a:solidFill>
              <a:srgbClr val="D97A14"/>
            </a:solidFill>
            <a:prstDash val="solid"/>
          </a:ln>
        </p:spPr>
      </p:sp>
      <p:sp>
        <p:nvSpPr>
          <p:cNvPr id="18" name="Shape 16"/>
          <p:cNvSpPr/>
          <p:nvPr/>
        </p:nvSpPr>
        <p:spPr>
          <a:xfrm>
            <a:off x="6126480" y="2121408"/>
            <a:ext cx="237744" cy="237744"/>
          </a:xfrm>
          <a:prstGeom prst="ellipse">
            <a:avLst/>
          </a:prstGeom>
          <a:solidFill>
            <a:srgbClr val="E8B94B"/>
          </a:solidFill>
          <a:ln w="19050">
            <a:solidFill>
              <a:srgbClr val="B98A2B"/>
            </a:solidFill>
            <a:prstDash val="solid"/>
          </a:ln>
        </p:spPr>
      </p:sp>
      <p:sp>
        <p:nvSpPr>
          <p:cNvPr id="19" name="Shape 17"/>
          <p:cNvSpPr/>
          <p:nvPr/>
        </p:nvSpPr>
        <p:spPr>
          <a:xfrm>
            <a:off x="6345936" y="2203704"/>
            <a:ext cx="457200" cy="73152"/>
          </a:xfrm>
          <a:prstGeom prst="rect">
            <a:avLst/>
          </a:prstGeom>
          <a:solidFill>
            <a:srgbClr val="E8B94B"/>
          </a:solidFill>
          <a:ln w="9525">
            <a:solidFill>
              <a:srgbClr val="B98A2B"/>
            </a:solidFill>
            <a:prstDash val="solid"/>
          </a:ln>
        </p:spPr>
      </p:sp>
      <p:sp>
        <p:nvSpPr>
          <p:cNvPr id="20" name="Shape 18"/>
          <p:cNvSpPr/>
          <p:nvPr/>
        </p:nvSpPr>
        <p:spPr>
          <a:xfrm>
            <a:off x="6656832" y="2258568"/>
            <a:ext cx="64008" cy="109728"/>
          </a:xfrm>
          <a:prstGeom prst="rect">
            <a:avLst/>
          </a:prstGeom>
          <a:solidFill>
            <a:srgbClr val="E8B94B"/>
          </a:solidFill>
          <a:ln w="9525">
            <a:solidFill>
              <a:srgbClr val="B98A2B"/>
            </a:solidFill>
            <a:prstDash val="solid"/>
          </a:ln>
        </p:spPr>
      </p:sp>
      <p:sp>
        <p:nvSpPr>
          <p:cNvPr id="21" name="Text 19"/>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2" name="Text 20"/>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3" name="Text 21"/>
          <p:cNvSpPr txBox="1"/>
          <p:nvPr/>
        </p:nvSpPr>
        <p:spPr>
          <a:xfrm>
            <a:off x="457200" y="39776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(ch. 4 and 8): a signature proves you hold the key while the key itself stays secret</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46</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46</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Mt. Gox: the exchange that lost everyone's coins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Tokyo, February 2014 - CEO Mark Karpeles files for bankruptcy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Not a parable: a named company, a named CEO, a dated court filing - and the course's first security lesson.</a:t>
            </a:r>
            <a:endParaRPr lang="en-US" sz="1250" dirty="0"/>
          </a:p>
        </p:txBody>
      </p:sp>
      <p:sp>
        <p:nvSpPr>
          <p:cNvPr id="7" name="Shape 5"/>
          <p:cNvSpPr/>
          <p:nvPr/>
        </p:nvSpPr>
        <p:spPr>
          <a:xfrm>
            <a:off x="457200" y="1481328"/>
            <a:ext cx="2590800" cy="1143000"/>
          </a:xfrm>
          <a:prstGeom prst="roundRect">
            <a:avLst>
              <a:gd name="adj" fmla="val 6400"/>
            </a:avLst>
          </a:prstGeom>
          <a:solidFill>
            <a:srgbClr val="F2ECE1"/>
          </a:solidFill>
          <a:ln w="12700">
            <a:solidFill>
              <a:srgbClr val="DFD6C7"/>
            </a:solidFill>
            <a:prstDash val="solid"/>
          </a:ln>
        </p:spPr>
      </p:sp>
      <p:sp>
        <p:nvSpPr>
          <p:cNvPr id="8" name="Text 6"/>
          <p:cNvSpPr txBox="1"/>
          <p:nvPr/>
        </p:nvSpPr>
        <p:spPr>
          <a:xfrm>
            <a:off x="5669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9" name="Text 7"/>
          <p:cNvSpPr txBox="1"/>
          <p:nvPr/>
        </p:nvSpPr>
        <p:spPr>
          <a:xfrm>
            <a:off x="5669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missing per the Tokyo court filing, Feb 2014</a:t>
            </a:r>
            <a:endParaRPr lang="en-US" sz="1150" dirty="0"/>
          </a:p>
        </p:txBody>
      </p:sp>
      <p:sp>
        <p:nvSpPr>
          <p:cNvPr id="10" name="Shape 8"/>
          <p:cNvSpPr/>
          <p:nvPr/>
        </p:nvSpPr>
        <p:spPr>
          <a:xfrm>
            <a:off x="3276600" y="1481328"/>
            <a:ext cx="2590800" cy="1143000"/>
          </a:xfrm>
          <a:prstGeom prst="roundRect">
            <a:avLst>
              <a:gd name="adj" fmla="val 6400"/>
            </a:avLst>
          </a:prstGeom>
          <a:solidFill>
            <a:srgbClr val="F2ECE1"/>
          </a:solidFill>
          <a:ln w="12700">
            <a:solidFill>
              <a:srgbClr val="DFD6C7"/>
            </a:solidFill>
            <a:prstDash val="solid"/>
          </a:ln>
        </p:spPr>
      </p:sp>
      <p:sp>
        <p:nvSpPr>
          <p:cNvPr id="11" name="Text 9"/>
          <p:cNvSpPr txBox="1"/>
          <p:nvPr/>
        </p:nvSpPr>
        <p:spPr>
          <a:xfrm>
            <a:off x="33863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2" name="Text 10"/>
          <p:cNvSpPr txBox="1"/>
          <p:nvPr/>
        </p:nvSpPr>
        <p:spPr>
          <a:xfrm>
            <a:off x="33863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bitcoin exchange in the world</a:t>
            </a:r>
            <a:endParaRPr lang="en-US" sz="1150" dirty="0"/>
          </a:p>
        </p:txBody>
      </p:sp>
      <p:sp>
        <p:nvSpPr>
          <p:cNvPr id="13" name="Shape 11"/>
          <p:cNvSpPr/>
          <p:nvPr/>
        </p:nvSpPr>
        <p:spPr>
          <a:xfrm>
            <a:off x="6096000" y="1481328"/>
            <a:ext cx="2590800" cy="1143000"/>
          </a:xfrm>
          <a:prstGeom prst="roundRect">
            <a:avLst>
              <a:gd name="adj" fmla="val 6400"/>
            </a:avLst>
          </a:prstGeom>
          <a:solidFill>
            <a:srgbClr val="F2ECE1"/>
          </a:solidFill>
          <a:ln w="12700">
            <a:solidFill>
              <a:srgbClr val="DFD6C7"/>
            </a:solidFill>
            <a:prstDash val="solid"/>
          </a:ln>
        </p:spPr>
      </p:sp>
      <p:sp>
        <p:nvSpPr>
          <p:cNvPr id="14" name="Text 12"/>
          <p:cNvSpPr txBox="1"/>
          <p:nvPr/>
        </p:nvSpPr>
        <p:spPr>
          <a:xfrm>
            <a:off x="62057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5" name="Text 13"/>
          <p:cNvSpPr txBox="1"/>
          <p:nvPr/>
        </p:nvSpPr>
        <p:spPr>
          <a:xfrm>
            <a:off x="62057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6" name="Shape 14"/>
          <p:cNvSpPr/>
          <p:nvPr/>
        </p:nvSpPr>
        <p:spPr>
          <a:xfrm>
            <a:off x="457200" y="301066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27889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Customers saw balances on a website; the keys - so the coins - sat in one company's safe</a:t>
            </a:r>
            <a:endParaRPr lang="en-US" sz="1300" dirty="0"/>
          </a:p>
        </p:txBody>
      </p:sp>
      <p:sp>
        <p:nvSpPr>
          <p:cNvPr id="18" name="Shape 16"/>
          <p:cNvSpPr/>
          <p:nvPr/>
        </p:nvSpPr>
        <p:spPr>
          <a:xfrm>
            <a:off x="457200" y="358216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3604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When the keys vanished, every balance on the screen meant nothing</a:t>
            </a:r>
            <a:endParaRPr lang="en-US" sz="1300" dirty="0"/>
          </a:p>
        </p:txBody>
      </p:sp>
      <p:sp>
        <p:nvSpPr>
          <p:cNvPr id="20"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Mt. Gox, led by CEO Mark…</a:t>
            </a:r>
            <a:endParaRPr lang="en-US" sz="750" dirty="0"/>
          </a:p>
        </p:txBody>
      </p:sp>
      <p:sp>
        <p:nvSpPr>
          <p:cNvPr id="22"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Tokyo; bankruptcy file…</a:t>
            </a:r>
            <a:endParaRPr lang="en-US" sz="750" dirty="0"/>
          </a:p>
        </p:txBody>
      </p:sp>
      <p:sp>
        <p:nvSpPr>
          <p:cNvPr id="24"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February 2014</a:t>
            </a:r>
            <a:endParaRPr lang="en-US" sz="750" dirty="0"/>
          </a:p>
        </p:txBody>
      </p:sp>
      <p:sp>
        <p:nvSpPr>
          <p:cNvPr id="26"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 - exchanges included</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46</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Shape 4"/>
          <p:cNvSpPr/>
          <p:nvPr/>
        </p:nvSpPr>
        <p:spPr>
          <a:xfrm>
            <a:off x="457200" y="15910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91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54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Start from a human backup phrase and a salt</a:t>
            </a:r>
            <a:endParaRPr lang="en-US" sz="1100" dirty="0"/>
          </a:p>
        </p:txBody>
      </p:sp>
      <p:sp>
        <p:nvSpPr>
          <p:cNvPr id="9" name="Shape 7"/>
          <p:cNvSpPr/>
          <p:nvPr/>
        </p:nvSpPr>
        <p:spPr>
          <a:xfrm>
            <a:off x="457200" y="21625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62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5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them with HMAC-SHA512 - that is one round</a:t>
            </a:r>
            <a:endParaRPr lang="en-US" sz="1100" dirty="0"/>
          </a:p>
        </p:txBody>
      </p:sp>
      <p:sp>
        <p:nvSpPr>
          <p:cNvPr id="12" name="Shape 10"/>
          <p:cNvSpPr/>
          <p:nvPr/>
        </p:nvSpPr>
        <p:spPr>
          <a:xfrm>
            <a:off x="457200" y="27340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97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Feed each round into the next, 2,048 times</a:t>
            </a:r>
            <a:endParaRPr lang="en-US" sz="1100" dirty="0"/>
          </a:p>
        </p:txBody>
      </p:sp>
      <p:sp>
        <p:nvSpPr>
          <p:cNvPr id="15" name="Shape 13"/>
          <p:cNvSpPr/>
          <p:nvPr/>
        </p:nvSpPr>
        <p:spPr>
          <a:xfrm>
            <a:off x="457200" y="33055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05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68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a 64-byte seed; a guesser pays the 2,048 rounds for every guess</a:t>
            </a:r>
            <a:endParaRPr lang="en-US" sz="1100" dirty="0"/>
          </a:p>
        </p:txBody>
      </p:sp>
      <p:sp>
        <p:nvSpPr>
          <p:cNvPr id="18" name="Shape 16"/>
          <p:cNvSpPr/>
          <p:nvPr/>
        </p:nvSpPr>
        <p:spPr>
          <a:xfrm flipV="1">
            <a:off x="4206240" y="1481328"/>
            <a:ext cx="4206240" cy="214884"/>
          </a:xfrm>
          <a:prstGeom prst="trapezoid">
            <a:avLst/>
          </a:prstGeom>
          <a:solidFill>
            <a:srgbClr val="2F6D62"/>
          </a:solidFill>
          <a:ln w="12700">
            <a:solidFill>
              <a:srgbClr val="FFFFFF"/>
            </a:solidFill>
            <a:prstDash val="solid"/>
          </a:ln>
        </p:spPr>
      </p:sp>
      <p:sp>
        <p:nvSpPr>
          <p:cNvPr id="19" name="Text 17"/>
          <p:cNvSpPr txBox="1"/>
          <p:nvPr/>
        </p:nvSpPr>
        <p:spPr>
          <a:xfrm>
            <a:off x="4206240" y="1481328"/>
            <a:ext cx="4206240"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20" name="Shape 18"/>
          <p:cNvSpPr/>
          <p:nvPr/>
        </p:nvSpPr>
        <p:spPr>
          <a:xfrm flipV="1">
            <a:off x="4584802" y="1805940"/>
            <a:ext cx="3449117" cy="214884"/>
          </a:xfrm>
          <a:prstGeom prst="trapezoid">
            <a:avLst/>
          </a:prstGeom>
          <a:solidFill>
            <a:srgbClr val="2F6D62"/>
          </a:solidFill>
          <a:ln w="12700">
            <a:solidFill>
              <a:srgbClr val="FFFFFF"/>
            </a:solidFill>
            <a:prstDash val="solid"/>
          </a:ln>
        </p:spPr>
      </p:sp>
      <p:sp>
        <p:nvSpPr>
          <p:cNvPr id="21" name="Text 19"/>
          <p:cNvSpPr txBox="1"/>
          <p:nvPr/>
        </p:nvSpPr>
        <p:spPr>
          <a:xfrm>
            <a:off x="4584802" y="1805940"/>
            <a:ext cx="3449117"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22" name="Shape 20"/>
          <p:cNvSpPr/>
          <p:nvPr/>
        </p:nvSpPr>
        <p:spPr>
          <a:xfrm flipV="1">
            <a:off x="4963363" y="2130552"/>
            <a:ext cx="2691994" cy="214884"/>
          </a:xfrm>
          <a:prstGeom prst="trapezoid">
            <a:avLst/>
          </a:prstGeom>
          <a:solidFill>
            <a:srgbClr val="2F6D62"/>
          </a:solidFill>
          <a:ln w="12700">
            <a:solidFill>
              <a:srgbClr val="FFFFFF"/>
            </a:solidFill>
            <a:prstDash val="solid"/>
          </a:ln>
        </p:spPr>
      </p:sp>
      <p:sp>
        <p:nvSpPr>
          <p:cNvPr id="23" name="Text 21"/>
          <p:cNvSpPr txBox="1"/>
          <p:nvPr/>
        </p:nvSpPr>
        <p:spPr>
          <a:xfrm>
            <a:off x="4963363" y="2130552"/>
            <a:ext cx="2691994"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24" name="Shape 22"/>
          <p:cNvSpPr/>
          <p:nvPr/>
        </p:nvSpPr>
        <p:spPr>
          <a:xfrm flipV="1">
            <a:off x="5341925" y="2455164"/>
            <a:ext cx="1934870" cy="214884"/>
          </a:xfrm>
          <a:prstGeom prst="trapezoid">
            <a:avLst/>
          </a:prstGeom>
          <a:solidFill>
            <a:srgbClr val="D97A14"/>
          </a:solidFill>
          <a:ln w="12700">
            <a:solidFill>
              <a:srgbClr val="FFFFFF"/>
            </a:solidFill>
            <a:prstDash val="solid"/>
          </a:ln>
        </p:spPr>
      </p:sp>
      <p:sp>
        <p:nvSpPr>
          <p:cNvPr id="25" name="Text 23"/>
          <p:cNvSpPr txBox="1"/>
          <p:nvPr/>
        </p:nvSpPr>
        <p:spPr>
          <a:xfrm>
            <a:off x="5341925" y="2455164"/>
            <a:ext cx="1934870" cy="2148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 64 bytes</a:t>
            </a:r>
            <a:endParaRPr lang="en-US" sz="1050" dirty="0"/>
          </a:p>
        </p:txBody>
      </p:sp>
      <p:sp>
        <p:nvSpPr>
          <p:cNvPr id="26" name="Text 24"/>
          <p:cNvSpPr txBox="1"/>
          <p:nvPr/>
        </p:nvSpPr>
        <p:spPr>
          <a:xfrm>
            <a:off x="4206240" y="2816352"/>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27" name="Text 25"/>
          <p:cNvSpPr txBox="1"/>
          <p:nvPr/>
        </p:nvSpPr>
        <p:spPr>
          <a:xfrm>
            <a:off x="3931920" y="29260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3931920" y="3200400"/>
            <a:ext cx="4754880" cy="1325880"/>
          </a:xfrm>
          <a:prstGeom prst="roundRect">
            <a:avLst>
              <a:gd name="adj" fmla="val 6897"/>
            </a:avLst>
          </a:prstGeom>
          <a:solidFill>
            <a:srgbClr val="23272E"/>
          </a:solidFill>
          <a:ln w="12700">
            <a:solidFill>
              <a:srgbClr val="23272E"/>
            </a:solidFill>
            <a:prstDash val="solid"/>
          </a:ln>
        </p:spPr>
      </p:sp>
      <p:sp>
        <p:nvSpPr>
          <p:cNvPr id="29" name="Text 27"/>
          <p:cNvSpPr txBox="1"/>
          <p:nvPr/>
        </p:nvSpPr>
        <p:spPr>
          <a:xfrm>
            <a:off x="4114800" y="3319272"/>
            <a:ext cx="4389120" cy="108813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pPr indent="0" marL="0">
              <a:buNone/>
            </a:pPr>
            <a:r>
              <a:rPr lang="en-US" sz="800" dirty="0">
                <a:solidFill>
                  <a:srgbClr val="E6EDF3"/>
                </a:solidFill>
                <a:latin typeface="Courier New" pitchFamily="34" charset="0"/>
                <a:ea typeface="Courier New" pitchFamily="34" charset="-122"/>
                <a:cs typeface="Courier New" pitchFamily="34" charset="-120"/>
              </a:rPr>
              <a:t> hmac</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password, salt, iters = b</a:t>
            </a:r>
            <a:pPr indent="0" marL="0">
              <a:buNone/>
            </a:pPr>
            <a:r>
              <a:rPr lang="en-US" sz="800" dirty="0">
                <a:solidFill>
                  <a:srgbClr val="9ECBFF"/>
                </a:solidFill>
                <a:latin typeface="Courier New" pitchFamily="34" charset="0"/>
                <a:ea typeface="Courier New" pitchFamily="34" charset="-122"/>
                <a:cs typeface="Courier New" pitchFamily="34" charset="-120"/>
              </a:rPr>
              <a:t>'abandon'</a:t>
            </a:r>
            <a:pPr indent="0" marL="0">
              <a:buNone/>
            </a:pPr>
            <a:r>
              <a:rPr lang="en-US" sz="800" dirty="0">
                <a:solidFill>
                  <a:srgbClr val="E6EDF3"/>
                </a:solidFill>
                <a:latin typeface="Courier New" pitchFamily="34" charset="0"/>
                <a:ea typeface="Courier New" pitchFamily="34" charset="-122"/>
                <a:cs typeface="Courier New" pitchFamily="34" charset="-120"/>
              </a:rPr>
              <a:t>, b</a:t>
            </a:r>
            <a:pPr indent="0" marL="0">
              <a:buNone/>
            </a:pPr>
            <a:r>
              <a:rPr lang="en-US" sz="800" dirty="0">
                <a:solidFill>
                  <a:srgbClr val="9ECBFF"/>
                </a:solidFill>
                <a:latin typeface="Courier New" pitchFamily="34" charset="0"/>
                <a:ea typeface="Courier New" pitchFamily="34" charset="-122"/>
                <a:cs typeface="Courier New" pitchFamily="34" charset="-120"/>
              </a:rPr>
              <a:t>'mnemonic'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2048</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u = hmac.new(password, salt + bytes([</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1</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'sha512'</a:t>
            </a:r>
            <a:pPr indent="0" marL="0">
              <a:buNone/>
            </a:pPr>
            <a:r>
              <a:rPr lang="en-US" sz="800" dirty="0">
                <a:solidFill>
                  <a:srgbClr val="E6EDF3"/>
                </a:solidFill>
                <a:latin typeface="Courier New" pitchFamily="34" charset="0"/>
                <a:ea typeface="Courier New" pitchFamily="34" charset="-122"/>
                <a:cs typeface="Courier New" pitchFamily="34" charset="-120"/>
              </a:rPr>
              <a:t>).digest()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seed = u</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_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range(iters - </a:t>
            </a:r>
            <a:pPr indent="0" marL="0">
              <a:buNone/>
            </a:pPr>
            <a:r>
              <a:rPr lang="en-US" sz="800" dirty="0">
                <a:solidFill>
                  <a:srgbClr val="FFD28A"/>
                </a:solidFill>
                <a:latin typeface="Courier New" pitchFamily="34" charset="0"/>
                <a:ea typeface="Courier New" pitchFamily="34" charset="-122"/>
                <a:cs typeface="Courier New" pitchFamily="34" charset="-120"/>
              </a:rPr>
              <a:t>1</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u = hmac.new(password, u, </a:t>
            </a:r>
            <a:pPr indent="0" marL="0">
              <a:buNone/>
            </a:pPr>
            <a:r>
              <a:rPr lang="en-US" sz="800" dirty="0">
                <a:solidFill>
                  <a:srgbClr val="9ECBFF"/>
                </a:solidFill>
                <a:latin typeface="Courier New" pitchFamily="34" charset="0"/>
                <a:ea typeface="Courier New" pitchFamily="34" charset="-122"/>
                <a:cs typeface="Courier New" pitchFamily="34" charset="-120"/>
              </a:rPr>
              <a:t>'sha512'</a:t>
            </a:r>
            <a:pPr indent="0" marL="0">
              <a:buNone/>
            </a:pPr>
            <a:r>
              <a:rPr lang="en-US" sz="800" dirty="0">
                <a:solidFill>
                  <a:srgbClr val="E6EDF3"/>
                </a:solidFill>
                <a:latin typeface="Courier New" pitchFamily="34" charset="0"/>
                <a:ea typeface="Courier New" pitchFamily="34" charset="-122"/>
                <a:cs typeface="Courier New" pitchFamily="34" charset="-120"/>
              </a:rPr>
              <a:t>).digest()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seed = bytes(a ^ b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a, b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zip(seed, u))</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(len(seed), seed.hex()[:</a:t>
            </a:r>
            <a:pPr indent="0" marL="0">
              <a:buNone/>
            </a:pPr>
            <a:r>
              <a:rPr lang="en-US" sz="800" dirty="0">
                <a:solidFill>
                  <a:srgbClr val="FFD28A"/>
                </a:solidFill>
                <a:latin typeface="Courier New" pitchFamily="34" charset="0"/>
                <a:ea typeface="Courier New" pitchFamily="34" charset="-122"/>
                <a:cs typeface="Courier New" pitchFamily="34" charset="-120"/>
              </a:rPr>
              <a:t>8</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30" name="Text 28"/>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(64, 'd96147bf')</a:t>
            </a:r>
            <a:endParaRPr lang="en-US" sz="900" dirty="0"/>
          </a:p>
        </p:txBody>
      </p:sp>
      <p:sp>
        <p:nvSpPr>
          <p:cNvPr id="31" name="Text 29"/>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46</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761488"/>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761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72491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channel opens on-chain: Alice 60,000, Bob 40,000</a:t>
            </a:r>
            <a:endParaRPr lang="en-US" sz="1050" dirty="0"/>
          </a:p>
        </p:txBody>
      </p:sp>
      <p:sp>
        <p:nvSpPr>
          <p:cNvPr id="20" name="Shape 18"/>
          <p:cNvSpPr/>
          <p:nvPr/>
        </p:nvSpPr>
        <p:spPr>
          <a:xfrm>
            <a:off x="457200" y="3340608"/>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3406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30403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100 payments of 10 sat hop inside the channel</a:t>
            </a:r>
            <a:endParaRPr lang="en-US" sz="1050" dirty="0"/>
          </a:p>
        </p:txBody>
      </p:sp>
      <p:sp>
        <p:nvSpPr>
          <p:cNvPr id="23" name="Shape 21"/>
          <p:cNvSpPr/>
          <p:nvPr/>
        </p:nvSpPr>
        <p:spPr>
          <a:xfrm>
            <a:off x="457200" y="3919728"/>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9197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88315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Only the final balances settle on-chain: 2 transactions total</a:t>
            </a:r>
            <a:endParaRPr lang="en-US" sz="1050" dirty="0"/>
          </a:p>
        </p:txBody>
      </p:sp>
      <p:sp>
        <p:nvSpPr>
          <p:cNvPr id="26" name="Text 24"/>
          <p:cNvSpPr txBox="1"/>
          <p:nvPr/>
        </p:nvSpPr>
        <p:spPr>
          <a:xfrm>
            <a:off x="3931920" y="263347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7" name="Shape 25"/>
          <p:cNvSpPr/>
          <p:nvPr/>
        </p:nvSpPr>
        <p:spPr>
          <a:xfrm>
            <a:off x="5212080" y="2660904"/>
            <a:ext cx="2240280" cy="310896"/>
          </a:xfrm>
          <a:prstGeom prst="roundRect">
            <a:avLst>
              <a:gd name="adj" fmla="val 14706"/>
            </a:avLst>
          </a:prstGeom>
          <a:solidFill>
            <a:srgbClr val="D97A14"/>
          </a:solidFill>
          <a:ln w="12700">
            <a:solidFill>
              <a:srgbClr val="D97A14"/>
            </a:solidFill>
            <a:prstDash val="solid"/>
          </a:ln>
        </p:spPr>
      </p:sp>
      <p:sp>
        <p:nvSpPr>
          <p:cNvPr id="28" name="Text 26"/>
          <p:cNvSpPr txBox="1"/>
          <p:nvPr/>
        </p:nvSpPr>
        <p:spPr>
          <a:xfrm>
            <a:off x="7507224" y="266090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9" name="Text 27"/>
          <p:cNvSpPr txBox="1"/>
          <p:nvPr/>
        </p:nvSpPr>
        <p:spPr>
          <a:xfrm>
            <a:off x="3931920" y="287731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30" name="Shape 28"/>
          <p:cNvSpPr/>
          <p:nvPr/>
        </p:nvSpPr>
        <p:spPr>
          <a:xfrm>
            <a:off x="5212080" y="2904744"/>
            <a:ext cx="1556805" cy="310896"/>
          </a:xfrm>
          <a:prstGeom prst="roundRect">
            <a:avLst>
              <a:gd name="adj" fmla="val 14706"/>
            </a:avLst>
          </a:prstGeom>
          <a:solidFill>
            <a:srgbClr val="2F6D62"/>
          </a:solidFill>
          <a:ln w="12700">
            <a:solidFill>
              <a:srgbClr val="2F6D62"/>
            </a:solidFill>
            <a:prstDash val="solid"/>
          </a:ln>
        </p:spPr>
      </p:sp>
      <p:sp>
        <p:nvSpPr>
          <p:cNvPr id="31" name="Text 29"/>
          <p:cNvSpPr txBox="1"/>
          <p:nvPr/>
        </p:nvSpPr>
        <p:spPr>
          <a:xfrm>
            <a:off x="6823749" y="290474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32" name="Text 30"/>
          <p:cNvSpPr txBox="1"/>
          <p:nvPr/>
        </p:nvSpPr>
        <p:spPr>
          <a:xfrm>
            <a:off x="3931920" y="312115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33" name="Shape 31"/>
          <p:cNvSpPr/>
          <p:nvPr/>
        </p:nvSpPr>
        <p:spPr>
          <a:xfrm>
            <a:off x="5212080" y="3148584"/>
            <a:ext cx="109728" cy="310896"/>
          </a:xfrm>
          <a:prstGeom prst="roundRect">
            <a:avLst>
              <a:gd name="adj" fmla="val 41667"/>
            </a:avLst>
          </a:prstGeom>
          <a:solidFill>
            <a:srgbClr val="D97A14"/>
          </a:solidFill>
          <a:ln w="12700">
            <a:solidFill>
              <a:srgbClr val="D97A14"/>
            </a:solidFill>
            <a:prstDash val="solid"/>
          </a:ln>
        </p:spPr>
      </p:sp>
      <p:sp>
        <p:nvSpPr>
          <p:cNvPr id="34" name="Text 32"/>
          <p:cNvSpPr txBox="1"/>
          <p:nvPr/>
        </p:nvSpPr>
        <p:spPr>
          <a:xfrm>
            <a:off x="5376672" y="314858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5" name="Text 33"/>
          <p:cNvSpPr txBox="1"/>
          <p:nvPr/>
        </p:nvSpPr>
        <p:spPr>
          <a:xfrm>
            <a:off x="3931920" y="349300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a:t>
            </a:r>
            <a:endParaRPr lang="en-US" sz="1150" dirty="0"/>
          </a:p>
        </p:txBody>
      </p:sp>
      <p:sp>
        <p:nvSpPr>
          <p:cNvPr id="36" name="Shape 34"/>
          <p:cNvSpPr/>
          <p:nvPr/>
        </p:nvSpPr>
        <p:spPr>
          <a:xfrm>
            <a:off x="3931920" y="3767328"/>
            <a:ext cx="4754880" cy="758952"/>
          </a:xfrm>
          <a:prstGeom prst="roundRect">
            <a:avLst>
              <a:gd name="adj" fmla="val 12048"/>
            </a:avLst>
          </a:prstGeom>
          <a:solidFill>
            <a:srgbClr val="23272E"/>
          </a:solidFill>
          <a:ln w="12700">
            <a:solidFill>
              <a:srgbClr val="23272E"/>
            </a:solidFill>
            <a:prstDash val="solid"/>
          </a:ln>
        </p:spPr>
      </p:sp>
      <p:sp>
        <p:nvSpPr>
          <p:cNvPr id="37" name="Text 35"/>
          <p:cNvSpPr txBox="1"/>
          <p:nvPr/>
        </p:nvSpPr>
        <p:spPr>
          <a:xfrm>
            <a:off x="4114800" y="3886200"/>
            <a:ext cx="4389120" cy="52120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onchain, a, b = </a:t>
            </a:r>
            <a:pPr indent="0" marL="0">
              <a:buNone/>
            </a:pPr>
            <a:r>
              <a:rPr lang="en-US" sz="800" dirty="0">
                <a:solidFill>
                  <a:srgbClr val="FFD28A"/>
                </a:solidFill>
                <a:latin typeface="Courier New" pitchFamily="34" charset="0"/>
                <a:ea typeface="Courier New" pitchFamily="34" charset="-122"/>
                <a:cs typeface="Courier New" pitchFamily="34" charset="-120"/>
              </a:rPr>
              <a:t>2</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60_000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40_000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_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range(</a:t>
            </a:r>
            <a:pPr indent="0" marL="0">
              <a:buNone/>
            </a:pPr>
            <a:r>
              <a:rPr lang="en-US" sz="800" dirty="0">
                <a:solidFill>
                  <a:srgbClr val="FFD28A"/>
                </a:solidFill>
                <a:latin typeface="Courier New" pitchFamily="34" charset="0"/>
                <a:ea typeface="Courier New" pitchFamily="34" charset="-122"/>
                <a:cs typeface="Courier New" pitchFamily="34" charset="-120"/>
              </a:rPr>
              <a:t>100</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 b = a - </a:t>
            </a:r>
            <a:pPr indent="0" marL="0">
              <a:buNone/>
            </a:pPr>
            <a:r>
              <a:rPr lang="en-US" sz="800" dirty="0">
                <a:solidFill>
                  <a:srgbClr val="FFD28A"/>
                </a:solidFill>
                <a:latin typeface="Courier New" pitchFamily="34" charset="0"/>
                <a:ea typeface="Courier New" pitchFamily="34" charset="-122"/>
                <a:cs typeface="Courier New" pitchFamily="34" charset="-120"/>
              </a:rPr>
              <a:t>10</a:t>
            </a:r>
            <a:pPr indent="0" marL="0">
              <a:buNone/>
            </a:pPr>
            <a:r>
              <a:rPr lang="en-US" sz="800" dirty="0">
                <a:solidFill>
                  <a:srgbClr val="E6EDF3"/>
                </a:solidFill>
                <a:latin typeface="Courier New" pitchFamily="34" charset="0"/>
                <a:ea typeface="Courier New" pitchFamily="34" charset="-122"/>
                <a:cs typeface="Courier New" pitchFamily="34" charset="-120"/>
              </a:rPr>
              <a:t>, b + </a:t>
            </a:r>
            <a:pPr indent="0" marL="0">
              <a:buNone/>
            </a:pPr>
            <a:r>
              <a:rPr lang="en-US" sz="800" dirty="0">
                <a:solidFill>
                  <a:srgbClr val="FFD28A"/>
                </a:solidFill>
                <a:latin typeface="Courier New" pitchFamily="34" charset="0"/>
                <a:ea typeface="Courier New" pitchFamily="34" charset="-122"/>
                <a:cs typeface="Courier New" pitchFamily="34" charset="-120"/>
              </a:rPr>
              <a:t>10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(a, b, a + b, onchain)</a:t>
            </a:r>
            <a:endParaRPr lang="en-US" sz="800" dirty="0"/>
          </a:p>
        </p:txBody>
      </p:sp>
      <p:sp>
        <p:nvSpPr>
          <p:cNvPr id="38" name="Text 36"/>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(59000, 41000, 100000, 2)</a:t>
            </a:r>
            <a:endParaRPr lang="en-US" sz="900" dirty="0"/>
          </a:p>
        </p:txBody>
      </p:sp>
      <p:sp>
        <p:nvSpPr>
          <p:cNvPr id="39" name="Text 37"/>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3.14.4</a:t>
            </a:r>
            <a:endParaRPr lang="en-US" sz="90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46</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46</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46</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Shape 4"/>
          <p:cNvSpPr/>
          <p:nvPr/>
        </p:nvSpPr>
        <p:spPr>
          <a:xfrm>
            <a:off x="457200" y="151790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8132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Each block stores the digest of the one before</a:t>
            </a:r>
            <a:endParaRPr lang="en-US" sz="1000" dirty="0"/>
          </a:p>
        </p:txBody>
      </p:sp>
      <p:sp>
        <p:nvSpPr>
          <p:cNvPr id="9" name="Shape 7"/>
          <p:cNvSpPr/>
          <p:nvPr/>
        </p:nvSpPr>
        <p:spPr>
          <a:xfrm>
            <a:off x="457200" y="19293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9280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Verify = recompute every digest: True</a:t>
            </a:r>
            <a:endParaRPr lang="en-US" sz="1000" dirty="0"/>
          </a:p>
        </p:txBody>
      </p:sp>
      <p:sp>
        <p:nvSpPr>
          <p:cNvPr id="12" name="Shape 10"/>
          <p:cNvSpPr/>
          <p:nvPr/>
        </p:nvSpPr>
        <p:spPr>
          <a:xfrm>
            <a:off x="457200" y="234086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40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0428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Change one byte - the next block refuses: False</a:t>
            </a:r>
            <a:endParaRPr lang="en-US" sz="1000" dirty="0"/>
          </a:p>
        </p:txBody>
      </p:sp>
      <p:sp>
        <p:nvSpPr>
          <p:cNvPr id="15" name="Shape 13"/>
          <p:cNvSpPr/>
          <p:nvPr/>
        </p:nvSpPr>
        <p:spPr>
          <a:xfrm>
            <a:off x="3840480" y="1426464"/>
            <a:ext cx="1371600" cy="841248"/>
          </a:xfrm>
          <a:prstGeom prst="roundRect">
            <a:avLst>
              <a:gd name="adj" fmla="val 8696"/>
            </a:avLst>
          </a:prstGeom>
          <a:solidFill>
            <a:srgbClr val="F2ECE1"/>
          </a:solidFill>
          <a:ln w="22225">
            <a:solidFill>
              <a:srgbClr val="5B8C5A"/>
            </a:solidFill>
            <a:prstDash val="solid"/>
          </a:ln>
        </p:spPr>
      </p:sp>
      <p:sp>
        <p:nvSpPr>
          <p:cNvPr id="16" name="Text 14"/>
          <p:cNvSpPr txBox="1"/>
          <p:nvPr/>
        </p:nvSpPr>
        <p:spPr>
          <a:xfrm>
            <a:off x="3840480" y="148132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17" name="Text 15"/>
          <p:cNvSpPr txBox="1"/>
          <p:nvPr/>
        </p:nvSpPr>
        <p:spPr>
          <a:xfrm>
            <a:off x="3886200" y="179222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8" name="Shape 16"/>
          <p:cNvSpPr/>
          <p:nvPr/>
        </p:nvSpPr>
        <p:spPr>
          <a:xfrm>
            <a:off x="5212080" y="1847088"/>
            <a:ext cx="365760" cy="0"/>
          </a:xfrm>
          <a:prstGeom prst="line">
            <a:avLst/>
          </a:prstGeom>
          <a:noFill/>
          <a:ln w="25400">
            <a:solidFill>
              <a:srgbClr val="B6533C"/>
            </a:solidFill>
            <a:prstDash val="solid"/>
            <a:tailEnd type="triangle"/>
          </a:ln>
        </p:spPr>
      </p:sp>
      <p:sp>
        <p:nvSpPr>
          <p:cNvPr id="19" name="Shape 17"/>
          <p:cNvSpPr/>
          <p:nvPr/>
        </p:nvSpPr>
        <p:spPr>
          <a:xfrm>
            <a:off x="5577840" y="1426464"/>
            <a:ext cx="1371600" cy="841248"/>
          </a:xfrm>
          <a:prstGeom prst="roundRect">
            <a:avLst>
              <a:gd name="adj" fmla="val 8696"/>
            </a:avLst>
          </a:prstGeom>
          <a:solidFill>
            <a:srgbClr val="F3DED6"/>
          </a:solidFill>
          <a:ln w="22225">
            <a:solidFill>
              <a:srgbClr val="B6533C"/>
            </a:solidFill>
            <a:prstDash val="solid"/>
          </a:ln>
        </p:spPr>
      </p:sp>
      <p:sp>
        <p:nvSpPr>
          <p:cNvPr id="20" name="Text 18"/>
          <p:cNvSpPr txBox="1"/>
          <p:nvPr/>
        </p:nvSpPr>
        <p:spPr>
          <a:xfrm>
            <a:off x="5577840" y="1481328"/>
            <a:ext cx="13716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1</a:t>
            </a:r>
            <a:endParaRPr lang="en-US" sz="1100" dirty="0"/>
          </a:p>
        </p:txBody>
      </p:sp>
      <p:sp>
        <p:nvSpPr>
          <p:cNvPr id="21" name="Text 19"/>
          <p:cNvSpPr txBox="1"/>
          <p:nvPr/>
        </p:nvSpPr>
        <p:spPr>
          <a:xfrm>
            <a:off x="5623560" y="1792224"/>
            <a:ext cx="12801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data changed!</a:t>
            </a:r>
            <a:endParaRPr lang="en-US" sz="850" dirty="0"/>
          </a:p>
        </p:txBody>
      </p:sp>
      <p:sp>
        <p:nvSpPr>
          <p:cNvPr id="22" name="Shape 20"/>
          <p:cNvSpPr/>
          <p:nvPr/>
        </p:nvSpPr>
        <p:spPr>
          <a:xfrm>
            <a:off x="6949440" y="1847088"/>
            <a:ext cx="365760" cy="0"/>
          </a:xfrm>
          <a:prstGeom prst="line">
            <a:avLst/>
          </a:prstGeom>
          <a:noFill/>
          <a:ln w="25400">
            <a:solidFill>
              <a:srgbClr val="B6533C"/>
            </a:solidFill>
            <a:prstDash val="solid"/>
            <a:tailEnd type="triangle"/>
          </a:ln>
        </p:spPr>
      </p:sp>
      <p:sp>
        <p:nvSpPr>
          <p:cNvPr id="23" name="Shape 21"/>
          <p:cNvSpPr/>
          <p:nvPr/>
        </p:nvSpPr>
        <p:spPr>
          <a:xfrm>
            <a:off x="7315200" y="1426464"/>
            <a:ext cx="1371600" cy="841248"/>
          </a:xfrm>
          <a:prstGeom prst="roundRect">
            <a:avLst>
              <a:gd name="adj" fmla="val 8696"/>
            </a:avLst>
          </a:prstGeom>
          <a:solidFill>
            <a:srgbClr val="F3DED6"/>
          </a:solidFill>
          <a:ln w="22225">
            <a:solidFill>
              <a:srgbClr val="B6533C"/>
            </a:solidFill>
            <a:prstDash val="solid"/>
          </a:ln>
        </p:spPr>
      </p:sp>
      <p:sp>
        <p:nvSpPr>
          <p:cNvPr id="24" name="Text 22"/>
          <p:cNvSpPr txBox="1"/>
          <p:nvPr/>
        </p:nvSpPr>
        <p:spPr>
          <a:xfrm>
            <a:off x="7315200" y="1481328"/>
            <a:ext cx="13716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2</a:t>
            </a:r>
            <a:endParaRPr lang="en-US" sz="1100" dirty="0"/>
          </a:p>
        </p:txBody>
      </p:sp>
      <p:sp>
        <p:nvSpPr>
          <p:cNvPr id="25" name="Text 23"/>
          <p:cNvSpPr txBox="1"/>
          <p:nvPr/>
        </p:nvSpPr>
        <p:spPr>
          <a:xfrm>
            <a:off x="7360920" y="1792224"/>
            <a:ext cx="12801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digest of block 1</a:t>
            </a:r>
            <a:endParaRPr lang="en-US" sz="850" dirty="0"/>
          </a:p>
        </p:txBody>
      </p:sp>
      <p:sp>
        <p:nvSpPr>
          <p:cNvPr id="26" name="Text 24"/>
          <p:cNvSpPr txBox="1"/>
          <p:nvPr/>
        </p:nvSpPr>
        <p:spPr>
          <a:xfrm>
            <a:off x="3840480" y="2340864"/>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then False</a:t>
            </a:r>
            <a:endParaRPr lang="en-US" sz="1050" dirty="0"/>
          </a:p>
        </p:txBody>
      </p:sp>
      <p:sp>
        <p:nvSpPr>
          <p:cNvPr id="27" name="Text 2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29" name="Text 27"/>
          <p:cNvSpPr txBox="1"/>
          <p:nvPr/>
        </p:nvSpPr>
        <p:spPr>
          <a:xfrm>
            <a:off x="640080" y="2953512"/>
            <a:ext cx="7863840" cy="145389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import</a:t>
            </a:r>
            <a:pPr indent="0" marL="0">
              <a:buNone/>
            </a:pPr>
            <a:r>
              <a:rPr lang="en-US" sz="780" dirty="0">
                <a:solidFill>
                  <a:srgbClr val="E6EDF3"/>
                </a:solidFill>
                <a:latin typeface="Courier New" pitchFamily="34" charset="0"/>
                <a:ea typeface="Courier New" pitchFamily="34" charset="-122"/>
                <a:cs typeface="Courier New" pitchFamily="34" charset="-120"/>
              </a:rPr>
              <a:t> hashlib</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link(prev, data):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hashlib.sha256((prev + data).encode()).hexdigest()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data = [</a:t>
            </a:r>
            <a:pPr indent="0" marL="0">
              <a:buNone/>
            </a:pPr>
            <a:r>
              <a:rPr lang="en-US" sz="780" dirty="0">
                <a:solidFill>
                  <a:srgbClr val="9ECBFF"/>
                </a:solidFill>
                <a:latin typeface="Courier New" pitchFamily="34" charset="0"/>
                <a:ea typeface="Courier New" pitchFamily="34" charset="-122"/>
                <a:cs typeface="Courier New" pitchFamily="34" charset="-120"/>
              </a:rPr>
              <a:t>'Joe pays Alice 1'</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 pays Eve 2'</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'Eve pays Joe 3'</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build(items):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hs, prev = [], </a:t>
            </a:r>
            <a:pPr indent="0" marL="0">
              <a:buNone/>
            </a:pPr>
            <a:r>
              <a:rPr lang="en-US" sz="780" dirty="0">
                <a:solidFill>
                  <a:srgbClr val="9ECBFF"/>
                </a:solidFill>
                <a:latin typeface="Courier New" pitchFamily="34" charset="0"/>
                <a:ea typeface="Courier New" pitchFamily="34" charset="-122"/>
                <a:cs typeface="Courier New" pitchFamily="34" charset="-120"/>
              </a:rPr>
              <a:t>'genesis'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d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items: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prev = link(prev, d); hs.append(prev)</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hs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stored = build(data)</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tampered = [</a:t>
            </a:r>
            <a:pPr indent="0" marL="0">
              <a:buNone/>
            </a:pPr>
            <a:r>
              <a:rPr lang="en-US" sz="780" dirty="0">
                <a:solidFill>
                  <a:srgbClr val="9ECBFF"/>
                </a:solidFill>
                <a:latin typeface="Courier New" pitchFamily="34" charset="0"/>
                <a:ea typeface="Courier New" pitchFamily="34" charset="-122"/>
                <a:cs typeface="Courier New" pitchFamily="34" charset="-120"/>
              </a:rPr>
              <a:t>'Joe pays Alice 100'</a:t>
            </a:r>
            <a:pPr indent="0" marL="0">
              <a:buNone/>
            </a:pPr>
            <a:r>
              <a:rPr lang="en-US" sz="780" dirty="0">
                <a:solidFill>
                  <a:srgbClr val="E6EDF3"/>
                </a:solidFill>
                <a:latin typeface="Courier New" pitchFamily="34" charset="0"/>
                <a:ea typeface="Courier New" pitchFamily="34" charset="-122"/>
                <a:cs typeface="Courier New" pitchFamily="34" charset="-120"/>
              </a:rPr>
              <a:t>] + data[</a:t>
            </a:r>
            <a:pPr indent="0" marL="0">
              <a:buNone/>
            </a:pPr>
            <a:r>
              <a:rPr lang="en-US" sz="780" dirty="0">
                <a:solidFill>
                  <a:srgbClr val="FFD28A"/>
                </a:solidFill>
                <a:latin typeface="Courier New" pitchFamily="34" charset="0"/>
                <a:ea typeface="Courier New" pitchFamily="34" charset="-122"/>
                <a:cs typeface="Courier New" pitchFamily="34" charset="-120"/>
              </a:rPr>
              <a:t>1</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780" dirty="0"/>
          </a:p>
        </p:txBody>
      </p:sp>
      <p:sp>
        <p:nvSpPr>
          <p:cNvPr id="30" name="Text 28"/>
          <p:cNvSpPr txBox="1"/>
          <p:nvPr/>
        </p:nvSpPr>
        <p:spPr>
          <a:xfrm>
            <a:off x="457200" y="4544568"/>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a:t>
            </a:r>
            <a:endParaRPr lang="en-US" sz="900" dirty="0"/>
          </a:p>
        </p:txBody>
      </p:sp>
      <p:sp>
        <p:nvSpPr>
          <p:cNvPr id="31" name="Text 29"/>
          <p:cNvSpPr txBox="1"/>
          <p:nvPr/>
        </p:nvSpPr>
        <p:spPr>
          <a:xfrm>
            <a:off x="457200" y="4800600"/>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46</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530352"/>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530352"/>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895344"/>
            <a:ext cx="3033979" cy="530352"/>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895344"/>
            <a:ext cx="3033979"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46</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Shape 4"/>
          <p:cNvSpPr/>
          <p:nvPr/>
        </p:nvSpPr>
        <p:spPr>
          <a:xfrm>
            <a:off x="457200" y="151790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8132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Channels: Alice-Bob, Bob-Carol, Carol-Dave</a:t>
            </a:r>
            <a:endParaRPr lang="en-US" sz="1000" dirty="0"/>
          </a:p>
        </p:txBody>
      </p:sp>
      <p:sp>
        <p:nvSpPr>
          <p:cNvPr id="9" name="Shape 7"/>
          <p:cNvSpPr/>
          <p:nvPr/>
        </p:nvSpPr>
        <p:spPr>
          <a:xfrm>
            <a:off x="457200" y="19293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9280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Alice pays Dave with no direct channel</a:t>
            </a:r>
            <a:endParaRPr lang="en-US" sz="1000" dirty="0"/>
          </a:p>
        </p:txBody>
      </p:sp>
      <p:sp>
        <p:nvSpPr>
          <p:cNvPr id="12" name="Shape 10"/>
          <p:cNvSpPr/>
          <p:nvPr/>
        </p:nvSpPr>
        <p:spPr>
          <a:xfrm>
            <a:off x="457200" y="234086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40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0428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path is found: 3 hops, chain untouched</a:t>
            </a:r>
            <a:endParaRPr lang="en-US" sz="1000" dirty="0"/>
          </a:p>
        </p:txBody>
      </p:sp>
      <p:sp>
        <p:nvSpPr>
          <p:cNvPr id="15" name="Shape 13"/>
          <p:cNvSpPr/>
          <p:nvPr/>
        </p:nvSpPr>
        <p:spPr>
          <a:xfrm>
            <a:off x="4453128" y="1938528"/>
            <a:ext cx="902208" cy="0"/>
          </a:xfrm>
          <a:prstGeom prst="line">
            <a:avLst/>
          </a:prstGeom>
          <a:noFill/>
          <a:ln w="28575">
            <a:solidFill>
              <a:srgbClr val="D97A14"/>
            </a:solidFill>
            <a:prstDash val="solid"/>
            <a:tailEnd type="triangle"/>
          </a:ln>
        </p:spPr>
      </p:sp>
      <p:sp>
        <p:nvSpPr>
          <p:cNvPr id="16" name="Shape 14"/>
          <p:cNvSpPr/>
          <p:nvPr/>
        </p:nvSpPr>
        <p:spPr>
          <a:xfrm>
            <a:off x="4032504" y="1719072"/>
            <a:ext cx="438912" cy="438912"/>
          </a:xfrm>
          <a:prstGeom prst="ellipse">
            <a:avLst/>
          </a:prstGeom>
          <a:solidFill>
            <a:srgbClr val="D97A14"/>
          </a:solidFill>
          <a:ln w="19050">
            <a:solidFill>
              <a:srgbClr val="FFFFFF"/>
            </a:solidFill>
            <a:prstDash val="solid"/>
          </a:ln>
        </p:spPr>
      </p:sp>
      <p:sp>
        <p:nvSpPr>
          <p:cNvPr id="17" name="Text 15"/>
          <p:cNvSpPr txBox="1"/>
          <p:nvPr/>
        </p:nvSpPr>
        <p:spPr>
          <a:xfrm>
            <a:off x="370332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8" name="Shape 16"/>
          <p:cNvSpPr/>
          <p:nvPr/>
        </p:nvSpPr>
        <p:spPr>
          <a:xfrm>
            <a:off x="5794248" y="1938528"/>
            <a:ext cx="902208" cy="0"/>
          </a:xfrm>
          <a:prstGeom prst="line">
            <a:avLst/>
          </a:prstGeom>
          <a:noFill/>
          <a:ln w="28575">
            <a:solidFill>
              <a:srgbClr val="D97A14"/>
            </a:solidFill>
            <a:prstDash val="solid"/>
            <a:tailEnd type="triangle"/>
          </a:ln>
        </p:spPr>
      </p:sp>
      <p:sp>
        <p:nvSpPr>
          <p:cNvPr id="19" name="Shape 17"/>
          <p:cNvSpPr/>
          <p:nvPr/>
        </p:nvSpPr>
        <p:spPr>
          <a:xfrm>
            <a:off x="5373624" y="1719072"/>
            <a:ext cx="438912" cy="438912"/>
          </a:xfrm>
          <a:prstGeom prst="ellipse">
            <a:avLst/>
          </a:prstGeom>
          <a:solidFill>
            <a:srgbClr val="2F6D62"/>
          </a:solidFill>
          <a:ln w="19050">
            <a:solidFill>
              <a:srgbClr val="FFFFFF"/>
            </a:solidFill>
            <a:prstDash val="solid"/>
          </a:ln>
        </p:spPr>
      </p:sp>
      <p:sp>
        <p:nvSpPr>
          <p:cNvPr id="20" name="Text 18"/>
          <p:cNvSpPr txBox="1"/>
          <p:nvPr/>
        </p:nvSpPr>
        <p:spPr>
          <a:xfrm>
            <a:off x="504444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21" name="Shape 19"/>
          <p:cNvSpPr/>
          <p:nvPr/>
        </p:nvSpPr>
        <p:spPr>
          <a:xfrm>
            <a:off x="7135368" y="1938528"/>
            <a:ext cx="902208" cy="0"/>
          </a:xfrm>
          <a:prstGeom prst="line">
            <a:avLst/>
          </a:prstGeom>
          <a:noFill/>
          <a:ln w="28575">
            <a:solidFill>
              <a:srgbClr val="D97A14"/>
            </a:solidFill>
            <a:prstDash val="solid"/>
            <a:tailEnd type="triangle"/>
          </a:ln>
        </p:spPr>
      </p:sp>
      <p:sp>
        <p:nvSpPr>
          <p:cNvPr id="22" name="Shape 20"/>
          <p:cNvSpPr/>
          <p:nvPr/>
        </p:nvSpPr>
        <p:spPr>
          <a:xfrm>
            <a:off x="6714744" y="1719072"/>
            <a:ext cx="438912" cy="438912"/>
          </a:xfrm>
          <a:prstGeom prst="ellipse">
            <a:avLst/>
          </a:prstGeom>
          <a:solidFill>
            <a:srgbClr val="2F6D62"/>
          </a:solidFill>
          <a:ln w="19050">
            <a:solidFill>
              <a:srgbClr val="FFFFFF"/>
            </a:solidFill>
            <a:prstDash val="solid"/>
          </a:ln>
        </p:spPr>
      </p:sp>
      <p:sp>
        <p:nvSpPr>
          <p:cNvPr id="23" name="Text 21"/>
          <p:cNvSpPr txBox="1"/>
          <p:nvPr/>
        </p:nvSpPr>
        <p:spPr>
          <a:xfrm>
            <a:off x="638556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24" name="Shape 22"/>
          <p:cNvSpPr/>
          <p:nvPr/>
        </p:nvSpPr>
        <p:spPr>
          <a:xfrm>
            <a:off x="8055864" y="1719072"/>
            <a:ext cx="438912" cy="438912"/>
          </a:xfrm>
          <a:prstGeom prst="ellipse">
            <a:avLst/>
          </a:prstGeom>
          <a:solidFill>
            <a:srgbClr val="D97A14"/>
          </a:solidFill>
          <a:ln w="19050">
            <a:solidFill>
              <a:srgbClr val="FFFFFF"/>
            </a:solidFill>
            <a:prstDash val="solid"/>
          </a:ln>
        </p:spPr>
      </p:sp>
      <p:sp>
        <p:nvSpPr>
          <p:cNvPr id="25" name="Text 23"/>
          <p:cNvSpPr txBox="1"/>
          <p:nvPr/>
        </p:nvSpPr>
        <p:spPr>
          <a:xfrm>
            <a:off x="772668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6" name="Text 24"/>
          <p:cNvSpPr txBox="1"/>
          <p:nvPr/>
        </p:nvSpPr>
        <p:spPr>
          <a:xfrm>
            <a:off x="3931920" y="2596896"/>
            <a:ext cx="466344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a:t>
            </a:r>
            <a:endParaRPr lang="en-US" sz="1100" dirty="0"/>
          </a:p>
        </p:txBody>
      </p:sp>
      <p:sp>
        <p:nvSpPr>
          <p:cNvPr id="27" name="Text 2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29" name="Text 27"/>
          <p:cNvSpPr txBox="1"/>
          <p:nvPr/>
        </p:nvSpPr>
        <p:spPr>
          <a:xfrm>
            <a:off x="640080" y="2953512"/>
            <a:ext cx="7863840" cy="1453896"/>
          </a:xfrm>
          <a:prstGeom prst="rect">
            <a:avLst/>
          </a:prstGeom>
          <a:noFill/>
          <a:ln/>
        </p:spPr>
        <p:txBody>
          <a:bodyPr wrap="square" lIns="0" tIns="0" rIns="0" bIns="0" rtlCol="0" anchor="t"/>
          <a:lstStyle/>
          <a:p>
            <a:pPr indent="0" marL="0">
              <a:buNone/>
            </a:pPr>
            <a:r>
              <a:rPr lang="en-US" sz="780" dirty="0">
                <a:solidFill>
                  <a:srgbClr val="E6EDF3"/>
                </a:solidFill>
                <a:latin typeface="Courier New" pitchFamily="34" charset="0"/>
                <a:ea typeface="Courier New" pitchFamily="34" charset="-122"/>
                <a:cs typeface="Courier New" pitchFamily="34" charset="-120"/>
              </a:rPr>
              <a:t>channels =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'Bob'</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'Bob'</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'Carol'</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'Carol'</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nbr = {}</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x, y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channels: nbr.setdefault(x, []).append(y); nbr.setdefault(y, []).append(x)</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path, frontier =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while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not</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path:</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nxt = []</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x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frontier: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y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nbr[x]:</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if</a:t>
            </a:r>
            <a:pPr indent="0" marL="0">
              <a:buNone/>
            </a:pPr>
            <a:r>
              <a:rPr lang="en-US" sz="780" dirty="0">
                <a:solidFill>
                  <a:srgbClr val="E6EDF3"/>
                </a:solidFill>
                <a:latin typeface="Courier New" pitchFamily="34" charset="0"/>
                <a:ea typeface="Courier New" pitchFamily="34" charset="-122"/>
                <a:cs typeface="Courier New" pitchFamily="34" charset="-120"/>
              </a:rPr>
              <a:t> y </a:t>
            </a:r>
            <a:pPr indent="0" marL="0">
              <a:buNone/>
            </a:pPr>
            <a:r>
              <a:rPr lang="en-US" sz="780" b="1" dirty="0">
                <a:solidFill>
                  <a:srgbClr val="F2A860"/>
                </a:solidFill>
                <a:latin typeface="Courier New" pitchFamily="34" charset="0"/>
                <a:ea typeface="Courier New" pitchFamily="34" charset="-122"/>
                <a:cs typeface="Courier New" pitchFamily="34" charset="-120"/>
              </a:rPr>
              <a:t>not</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path: path[y] = path[x] + [y]; nxt.append(y)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frontier = nxt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(path[</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len(path[</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 </a:t>
            </a:r>
            <a:pPr indent="0" marL="0">
              <a:buNone/>
            </a:pPr>
            <a:r>
              <a:rPr lang="en-US" sz="780" dirty="0">
                <a:solidFill>
                  <a:srgbClr val="FFD28A"/>
                </a:solidFill>
                <a:latin typeface="Courier New" pitchFamily="34" charset="0"/>
                <a:ea typeface="Courier New" pitchFamily="34" charset="-122"/>
                <a:cs typeface="Courier New" pitchFamily="34" charset="-120"/>
              </a:rPr>
              <a:t>1</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channels)</a:t>
            </a:r>
            <a:endParaRPr lang="en-US" sz="780" dirty="0"/>
          </a:p>
        </p:txBody>
      </p:sp>
      <p:sp>
        <p:nvSpPr>
          <p:cNvPr id="30" name="Text 28"/>
          <p:cNvSpPr txBox="1"/>
          <p:nvPr/>
        </p:nvSpPr>
        <p:spPr>
          <a:xfrm>
            <a:off x="457200" y="4544568"/>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(['Alice', 'Bob', 'Carol', 'Dave'], 3, False)</a:t>
            </a:r>
            <a:endParaRPr lang="en-US" sz="900" dirty="0"/>
          </a:p>
        </p:txBody>
      </p:sp>
      <p:sp>
        <p:nvSpPr>
          <p:cNvPr id="31" name="Text 29"/>
          <p:cNvSpPr txBox="1"/>
          <p:nvPr/>
        </p:nvSpPr>
        <p:spPr>
          <a:xfrm>
            <a:off x="457200" y="4800600"/>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46</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newspaper headline sits in block 0, and the first payment went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five thousand years of forms, three kinds today - what differs is who keeps it</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Supply: 21 million by arithmetic - halvings on real, chain-stamped dates; a sum anyone can re-run</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Price: discovered by trades, never declared - from two pizzas to $854M on one log chart</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no bank in the middle - every node checks every rule, and mining pays for honesty</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whoever holds the keys holds the coins - Mt. Gox is the named, dated proof</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46</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history of bitcoin  coingecko.com</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Internet Archive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Internet Archive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46</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2026-10-16T07:09:55Z</dcterms:created>
  <dcterms:modified xsi:type="dcterms:W3CDTF">2026-10-16T07:09:55Z</dcterms:modified>
</cp:coreProperties>
</file>