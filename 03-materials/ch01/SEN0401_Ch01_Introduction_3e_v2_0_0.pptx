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Cambria"/>
              </a:defRPr>
            </a:pPr>
            <a:r>
              <a:rPr sz="1300" b="0" i="0" u="none" strike="noStrike">
                <a:solidFill>
                  <a:srgbClr val="1B1F24"/>
                </a:solidFill>
                <a:latin typeface="Cambria"/>
              </a:rPr>
              <a:t>Block subsidy per era of 210,000 blocks (BTC)</a:t>
            </a:r>
          </a:p>
        </c:rich>
      </c:tx>
      <c:layout/>
      <c:overlay val="0"/>
    </c:title>
    <c:autoTitleDeleted val="0"/>
    <c:plotArea>
      <c:layout/>
      <c:lineChart>
        <c:varyColors val="0"/>
        <c:ser>
          <c:idx val="0"/>
          <c:order val="0"/>
          <c:tx>
            <c:strRef>
              <c:f>Sheet1!$B$1</c:f>
              <c:strCache>
                <c:ptCount val="1"/>
                <c:pt idx="0">
                  <c:v>subsidy</c:v>
                </c:pt>
              </c:strCache>
            </c:strRef>
          </c:tx>
          <c:spPr>
            <a:solidFill>
              <a:srgbClr val="F7931A"/>
            </a:solidFill>
            <a:ln w="31750" cap="flat">
              <a:solidFill>
                <a:srgbClr val="F793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7931A"/>
              </a:solidFill>
              <a:ln w="9525" cap="flat">
                <a:solidFill>
                  <a:srgbClr val="F7931A"/>
                </a:solidFill>
                <a:prstDash val="solid"/>
                <a:round/>
              </a:ln>
              <a:effectLst/>
            </c:spPr>
          </c:marker>
          <c:cat>
            <c:multiLvlStrRef>
              <c:f>Sheet1!$A$2:$A$10</c:f>
              <c:multiLvlStrCache>
                <c:ptCount val="9"/>
                <c:lvl>
                  <c:pt idx="0">
                    <c:v>era 0</c:v>
                  </c:pt>
                  <c:pt idx="1">
                    <c:v>era 1</c:v>
                  </c:pt>
                  <c:pt idx="2">
                    <c:v>era 2</c:v>
                  </c:pt>
                  <c:pt idx="3">
                    <c:v>era 3</c:v>
                  </c:pt>
                  <c:pt idx="4">
                    <c:v>era 4</c:v>
                  </c:pt>
                  <c:pt idx="5">
                    <c:v>era 5</c:v>
                  </c:pt>
                  <c:pt idx="6">
                    <c:v>era 6</c:v>
                  </c:pt>
                  <c:pt idx="7">
                    <c:v>era 7</c:v>
                  </c:pt>
                  <c:pt idx="8">
                    <c:v>era 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4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 Concepts are corpus-derived from the 3rd edition's chapter 1 through the Stage 1 research record; the explanations were rewritten for version 1.2.0 from the documents and files listed at the head of this module, each read for this version, with every quotation re-read from its saved copy and every number recomputed by a claim that the builder executes; the supporting concepts (the cryptographic primitives, the parts of the chain, the everyday computing terms, the two threats, the objects of a payment and the standards bodies) were added because an audit of the terms used in the explanations 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 What it is.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The Money branch gathers everything the chapter says about that currency itself: what its unit is called and how the unit is divided, how much of it will ever exist, who creates it and when, and what decides its price.
Money - Why it matters. A currency is only as useful as the rules that govern it. People accept money because they expect to be able to spend it later at a value they can foresee, and the expectation depends on knowing who can create more of it and how fast. Conventional currencies answer these questions with institutions, namely a central bank and a clearing system, whereas Bitcoin answers them with rules written into software that every participant can read. Understanding the monetary side first makes the technical machinery of the later branches easier to follow, because every mechanism exists to protect one of these monetary rules.
Money - Where you meet it. The monetary rules appear in every part of the chapter. The unit and its subdivisions appear whenever Alice and Joe agree on an amount. The supply schedule appears in the account of mining, where new bitcoin is paid out as a reward. The price appears in the section that asks who sets the price of bitcoin, and the issuance rules appear in the argument that mining replaces the functions of a central bank (Antonopoulos and Harding, 2023).
Money - How it works. The branch has four sections. The Unit section fixes the vocabulary of bitcoin, the satoshi and the capital letter. The Supply section explains the schedule by which the total supply stays just below 21 million and how the subsidy of each block is halved at fixed intervals. The Price section explains why the exchange rate floats and how a single market rate is computed from many trades. The Issuance section compares Bitcoin's way of creating money with that of a central bank and explains why the currency is called deflationary.
Money - Watch out. Three misconceptions are worth removing early. First, there is no company or authority that issues bitcoin; the rules of issuance are enforced by every participant. Second, the number of bitcoin is not unlimited, but the limit is a property of the software rules and not a law of nature, so it is only as strong as the agreement of the participants to keep it. Third, a figure such as the price or the current subsidy is a value at a date; the chapter's rules stay fixed while those values change.
Network - What it is.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This branch contains the ideas of consensus, which is the agreement, and of history, which tells how the system came to exist.
Network - Why it matters. A money system that is held together by many independent computers must solve a hard problem: those computers have to agree on which payments happened, even though they receive messages in different orders and some of them may be dishonest. The solution is the main technical achievement of Bitcoin, and the chapter presents it as a breakthrough in distributed computing (Antonopoulos and Harding, 2023). Without an understanding of the agreement mechanism, the rest of the course reads as a list of unrelated parts.
Network - Where you meet it. The network appears whenever the chapter speaks about transactions travelling from Joe's wallet to Alice's wallet, about miners, and about the nodes that validate. The historical part appears in the section named History of Bitcoin, which cites the 2008 paper, the start of the network in 2009, and the withdrawal of its inventor from the public in 2011 (Antonopoulos and Harding, 2023).
Network - How it works. The branch has three sections. The Consensus section explains proof of work, the double-spend problem it solves, the mining by which blocks are produced, the adjustment of difficulty that keeps the pace constant, and the problem in distributed computing that Bitcoin's design answers. The History section tells who proposed the system and what it built on. The Standards section explains the two social mechanisms through which the system is documented and governed: the numbered improvement proposals and open source software.
Network - Watch out. It is easy to imagine the network as a company with servers, and the chapter warns against that picture; there is no central server. It is equally easy to imagine consensus as a vote of people, whereas the agreement is reached by software that checks the same rules and follows the chain with the most work. The branch should be read with both corrections in mind.
Wallet - What it is.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This branch collects everything the chapter says about choosing, classifying and protecting a wallet.
Wallet - Why it matters. A wallet is where the abstract rules of the network meet a human being. It decides how much of the work of validation the user does himself, who holds the keys that control the money, and what happens when a phone is lost. The chapter says that wallets vary in quality, performance, security, privacy and reliability, and that choosing a wallet is highly subjective and depends on the use and the user's expertise, so that it would be pointless to recommend a specific brand (Antonopoulos and Harding, 2023).
Wallet - Where you meet it. Wallets are the most visible applications of the ecosystem and the chapter notes that they are one of the most actively developed ones, with intense competition: a new wallet is probably being developed right now, while several wallets from last year are no longer actively maintained (Antonopoulos and Harding, 2023). Every example in the chapter, from Alice's first start-up to Joe's payment, takes place inside a wallet.
Wallet - How it works. The chapter classifies wallets in three ways, and the branch follows them. By platform, there are desktop, mobile, web and hardware wallets. By autonomy, there are full nodes, lightweight clients and third-party API clients. By control, there are noncustodial wallets, where the user holds the keys, and custodial services, where a third party does. A fourth section is about backup, because a user who holds the keys must also be able to restore them.
Wallet - Watch out. The three classifications are independent and combine freely. The chapter notes that many wallets fall into a few groups, the three most common being the desktop full node, the mobile lightweight wallet, and the web-based account with a third party, but that the lines between categories are sometimes blurry because software runs on multiple platforms and can interact with the network in different ways (Antonopoulos and Harding, 2023). A student should therefore describe a wallet along all three dimensions.
Usage - What it is. The Usage branch follows the chapter's story of Alice and Joe: how Alice receives her first address, how she acquires her first bitcoin, and how Joe sends it. It also contains the concepts that the story needs, such as the transaction, the fee, the confirmation and the irreversibility of a payment, and the closing bridge from Bitcoin's idea of control by key to the identity standards of the web (Antonopoulos and Harding, 2023).
Usage - Why it matters. Usage is where a learner first sees the system work. The abstract rules of the earlier branches become a few taps on a phone: an address on a screen, a code scanned by a camera, a status that changes from unconfirmed to confirmed. A student who can follow the story step by step has the picture to which every later technical chapter adds detail.
Usage - Where you meet it. The branch corresponds to the second half of the chapter, from the section Quick Start to the section Sending and Receiving Bitcoin. In the next chapter the story is continued with Alice's first purchase, which is examined at the level of the underlying transaction and its propagation (Antonopoulos and Harding, 2023).
Usage - How it works. The branch has four sections. Address explains what a user gives others in order to be paid and how to protect privacy. Transfer explains the payment itself, from the signed transaction to its confirmation. Acquisition lists the four ways of obtaining a first bitcoin and the identity checks that come with some of them. Semantic bridge connects the chapter's key idea to W3C standards for digital identity.
Usage - Watch out. The story is a simplification, and the chapter says it in one sentence: in the next chapter we will look at the underlying transaction and propagation technologies in more detail (Antonopoulos and Harding, 2023). The reader should not conclude that a payment is only a scan and a tap. The warnings that accompany each step, about lost keys, phishing, reuse of addresses and irreversible mistakes, are part of the lesson.
Foundations - What it is.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This branch stops to explain each of those words, so that a student who has not met them before can follow the later branches without guessing.
Foundations - Why it matters. A technical text is only as clear as its vocabulary. Bitcoin is built from ideas of cryptography, of distributed computing and of ordinary internet engineering, and none of the three is new to the specialist while all of them are new to many beginners. Explaining them once and in one place also shows an important fact about the subject: Bitcoin invents very little vocabulary of its own and mostly combines established techniques in a new arrangement, which is how the chapter itself describes Nakamoto's contribution (Antonopoulos and Harding, 2023).
Foundations - Where you meet it. The ideas appear throughout the chapter. A hash function is used by proof of work, by the checksum of a recovery code and by Hashcash; a digital signature is what makes a transaction valid; a block and a blockchain are the record that the whole network maintains; and a protocol, an API, a URI and a QR code are the means by which wallets talk to each other and to the people who use them. Each later explanation points back to the concept here.
Foundations - How it works. The branch has four sections. The Cryptography section explains the mathematical tools: the hash function, the digital signature, public-key cryptography, the private key, entropy, the checksum, the keyed hash and key stretching. The Chain section explains the block, the blockchain, the timestamp and the node. The Computing section explains the everyday technology on which Bitcoin runs, from the internet and its protocols to databases and operating systems. The Threats section explains malware and phishing, the two attacks that the chapter warns about.
Foundations - Watch out. Two cautions apply to the whole branch. The explanations are introductions, and the later chapters of the textbook return to the same ideas in greater depth, so a student should treat the examples here as the smallest correct version of each idea and not as a complete treatment. The examples in this branch are also deliberately small, with tiny numbers, so that they can be computed by hand or in a few lines of Python; real Bitcoin uses far larger values and different algorithms for some of them, and the text says where this matters.
Nature - What it is. The Nature branch answers a question that precedes all the others: what kind of thing is Bitcoin? Chapter 1 gives two complementary answers. The first describes the characteristics of the currency, which is virtual, borderless, decentralized and robust. The second describes the architecture, which the chapter lists as four innovations brought together: a decentralized peer-to-peer network, a public transaction journal, a set of rules for validation and issuance, and a mechanism for reaching consensus (Antonopoulos and Harding, 2023).
Nature - Why it matters. A student who knows only how to use a wallet knows what Bitcoin does and not why it is built as it is. The characteristics explain the goals, and the architecture explains how the goals are met. The sidebar on digital currencies before Bitcoin makes the link: earlier systems were centralized and easy to attack, so a decentralized digital currency was needed to be robust against intervention by antagonists, whether legitimate governments or criminal elements (Antonopoulos and Harding, 2023).
Nature - Where you meet it. The characteristics appear in the opening paragraphs of the chapter, where Bitcoin is called arguably the perfect form of money for the internet because it is fast, secure and borderless, and where the currency is described as entirely virtual (Antonopoulos and Harding, 2023). The architecture appears in the list of what Bitcoin consists of, and each item of that list is then explained in the Network branch and the Foundations branch.
Nature - How it works. The branch has two sections. The Characteristic section contains four concepts, virtual, borderless, decentralized and robust, each of which names a property that the chapter attributes to the currency. The Architecture section contains three concepts that correspond to three of the four innovations in the chapter's list: the peer-to-peer protocol, the public journal and the consensus rule set. The fourth innovation, the proof-of-work mechanism, has its own concept in the Network branch.
Nature - Watch out. A list of attractive adjectives is not an argument. Each characteristic is a claim that can be examined, and each depends on conditions: a currency is borderless only where people can reach the network, decentralized only while control stays spread out, and robust only against the threats it was designed for. The branch should be read as an account of design goals, with the evidence supplied by the other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 What it is.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The Money branch gathers everything the chapter says about that currency itself: what its unit is called and how the unit is divided, how much of it will ever exist, who creates it and when, and what decides its price.
Money - Why it matters. A currency is only as useful as the rules that govern it. People accept money because they expect to be able to spend it later at a value they can foresee, and the expectation depends on knowing who can create more of it and how fast. Conventional currencies answer these questions with institutions, namely a central bank and a clearing system, whereas Bitcoin answers them with rules written into software that every participant can read. Understanding the monetary side first makes the technical machinery of the later branches easier to follow, because every mechanism exists to protect one of these monetary rules.
Money - Where you meet it. The monetary rules appear in every part of the chapter. The unit and its subdivisions appear whenever Alice and Joe agree on an amount. The supply schedule appears in the account of mining, where new bitcoin is paid out as a reward. The price appears in the section that asks who sets the price of bitcoin, and the issuance rules appear in the argument that mining replaces the functions of a central bank (Antonopoulos and Harding, 2023).
Money - How it works. The branch has four sections. The Unit section fixes the vocabulary of bitcoin, the satoshi and the capital letter. The Supply section explains the schedule by which the total supply stays just below 21 million and how the subsidy of each block is halved at fixed intervals. The Price section explains why the exchange rate floats and how a single market rate is computed from many trades. The Issuance section compares Bitcoin's way of creating money with that of a central bank and explains why the currency is called deflationary.
Money - Watch out. Three misconceptions are worth removing early. First, there is no company or authority that issues bitcoin; the rules of issuance are enforced by every participant. Second, the number of bitcoin is not unlimited, but the limit is a property of the software rules and not a law of nature, so it is only as strong as the agreement of the participants to keep it. Third, a figure such as the price or the current subsidy is a value at a date; the chapter's rules stay fixed while those values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 What it is. 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Together these give a student the exact vocabulary in which amounts are written in the rest of the course (Antonopoulos and Harding, 2023).
Unit - Why it matters. An imprecise vocabulary produces imprecise reasoning. A student who writes that Bitcoin was sent when bitcoin was meant has confused the payment system with the thing that it transports, and an engineer who forgets how amounts are divided will make rounding errors in software that handles real value. The unit section therefore comes first so that every later figure can be stated without ambiguity.
Unit - How it works. The two concepts of this section move from the name to the arithmetic. The first one explains the convention of writing bitcoin with a small letter for the unit and Bitcoin with a capital letter for the system. The second one explains the satoshi, the integer unit in which amounts are counted, and shows with a short computation how a decimal amount of bitcoin is converted into satoshis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Supply - What it is.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This section explains the three ideas behind that sentence: the cap on the total, the halving of the subsidy at fixed intervals, and the subsidy itself, which is the amount of new bitcoin paid to the miner of each block.
Supply - Why it matters. Predictability is the economic point of the schedule. Anyone can compute in advance how many bitcoin will exist at any future block, and nobody can change the schedule without the agreement of the participants who run the software. For a student, the supply schedule is also the best first example of how a rule of an economic system can be written as a short program and checked by execution.
Supply - How it works. The three concepts build on one another. The block subsidy is the quantity that is paid for each block. The halving is the rule that cuts the subsidy in half every 210,000 blocks. The supply cap is the total that results when all the subsidies of all the eras are added together, and the section shows that the sum is just below 21 million and not equal to it, because each era's subsidy is a whole number of satoshis.
Issuance - What it is. The Issuance section is about who creates money and by what rule. In a conventional economy a central bank controls the creation of money, and a clearing system settles payments between banks. The chapter argues that Bitcoin mining decentralizes the currency-issuance and clearing functions of a central bank and replaces the need for any central bank, and it describes the currency as deflationary over the long term (Antonopoulos and Harding, 2023).
Issuance - Why it matters. Issuance is the point at which Bitcoin differs most from the money that students already know. A central bank can respond to an emergency by creating more money, and a clearing house can reverse or delay a payment, but a rule-based system gives up both powers in exchange for predictability and for independence from any single institution. The section helps a student to judge that trade-off with the institutions in front of him.
Issuance - How it works. The four concepts of the section pair the old with the new. The central bank and the clearing house are the institutions that the chapter says Bitcoin replaces. The replacement concept describes how mining takes over their functions, and the deflation concept describes the long-term consequence of an issuance that shrinks until it ends, with a computed date for the last subsidy.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Supply - What it is.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This section explains the three ideas behind that sentence: the cap on the total, the halving of the subsidy at fixed intervals, and the subsidy itself, which is the amount of new bitcoin paid to the miner of each block.
Supply - Why it matters. Predictability is the economic point of the schedule. Anyone can compute in advance how many bitcoin will exist at any future block, and nobody can change the schedule without the agreement of the participants who run the software. For a student, the supply schedule is also the best first example of how a rule of an economic system can be written as a short program and checked by execution.
Supply - How it works. The three concepts build on one another. The block subsidy is the quantity that is paid for each block. The halving is the rule that cuts the subsidy in half every 210,000 blocks. The supply cap is the total that results when all the subsidies of all the eras are added together, and the section shows that the sum is just below 21 million and not equal to it, because each era's subsidy is a whole number of satoshis.
Issuance - What it is. The Issuance section is about who creates money and by what rule. In a conventional economy a central bank controls the creation of money, and a clearing system settles payments between banks. The chapter argues that Bitcoin mining decentralizes the currency-issuance and clearing functions of a central bank and replaces the need for any central bank, and it describes the currency as deflationary over the long term (Antonopoulos and Harding, 2023).
Issuance - Why it matters. Issuance is the point at which Bitcoin differs most from the money that students already know. A central bank can respond to an emergency by creating more money, and a clearing house can reverse or delay a payment, but a rule-based system gives up both powers in exchange for predictability and for independence from any single institution. The section helps a student to judge that trade-off with the institutions in front of him.
Issuance - How it works. The four concepts of the section pair the old with the new. The central bank and the clearing house are the institutions that the chapter says Bitcoin replaces. The replacement concept describes how mining takes over their functions, and the deflation concept describes the long-term consequence of an issuance that shrinks until it ends, with a computed date for the last subsidy.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 What it is. The Price section addresses a question that every newcomer asks, namely who sets the price of bitcoin. The chapter's short answer is that the price is set by markets (Antonopoulos and Harding, 2023). The section contains the idea of a floating exchange rate and the way in which a single quotation is computed from the many trades that happen in different places.
Price - Why it matters. Bitcoin has no issuer who could announce a price, and it has no central bank that could fix an exchange rate against another currency. The price therefore has to be discovered, and the quality of the discovery determines whether two people can agree on how much cash is worth a given amount of bitcoin, as Alice and Joe must before their exchange.
Price - How it works. The first concept in the section explains why the rate floats and how it is quoted as a currency pair. The second concept explains the volume-weighted average, the statistic that pricing services use to combine the prices of several markets into one figure, and gives a small computation that shows why a trade of large volume counts for more than a trade of small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 What it is.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This branch contains the ideas of consensus, which is the agreement, and of history, which tells how the system came to exist.
Network - Why it matters. A money system that is held together by many independent computers must solve a hard problem: those computers have to agree on which payments happened, even though they receive messages in different orders and some of them may be dishonest. The solution is the main technical achievement of Bitcoin, and the chapter presents it as a breakthrough in distributed computing (Antonopoulos and Harding, 2023). Without an understanding of the agreement mechanism, the rest of the course reads as a list of unrelated parts.
Network - Where you meet it. The network appears whenever the chapter speaks about transactions travelling from Joe's wallet to Alice's wallet, about miners, and about the nodes that validate. The historical part appears in the section named History of Bitcoin, which cites the 2008 paper, the start of the network in 2009, and the withdrawal of its inventor from the public in 2011 (Antonopoulos and Harding, 2023).
Network - How it works. The branch has three sections. The Consensus section explains proof of work, the double-spend problem it solves, the mining by which blocks are produced, the adjustment of difficulty that keeps the pace constant, and the problem in distributed computing that Bitcoin's design answers. The History section tells who proposed the system and what it built on. The Standards section explains the two social mechanisms through which the system is documented and governed: the numbered improvement proposals and open source software.
Network - Watch out. It is easy to imagine the network as a company with servers, and the chapter warns against that picture; there is no central server. It is equally easy to imagine consensus as a vote of people, whereas the agreement is reached by software that checks the same rules and follows the chain with the most work. The branch should be read with both corrections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 What it is.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This branch contains the ideas of consensus, which is the agreement, and of history, which tells how the system came to exist.
Network - Why it matters. A money system that is held together by many independent computers must solve a hard problem: those computers have to agree on which payments happened, even though they receive messages in different orders and some of them may be dishonest. The solution is the main technical achievement of Bitcoin, and the chapter presents it as a breakthrough in distributed computing (Antonopoulos and Harding, 2023). Without an understanding of the agreement mechanism, the rest of the course reads as a list of unrelated parts.
Network - Where you meet it. The network appears whenever the chapter speaks about transactions travelling from Joe's wallet to Alice's wallet, about miners, and about the nodes that validate. The historical part appears in the section named History of Bitcoin, which cites the 2008 paper, the start of the network in 2009, and the withdrawal of its inventor from the public in 2011 (Antonopoulos and Harding, 2023).
Network - How it works. The branch has three sections. The Consensus section explains proof of work, the double-spend problem it solves, the mining by which blocks are produced, the adjustment of difficulty that keeps the pace constant, and the problem in distributed computing that Bitcoin's design answers. The History section tells who proposed the system and what it built on. The Standards section explains the two social mechanisms through which the system is documented and governed: the numbered improvement proposals and open source software.
Network - Watch out. It is easy to imagine the network as a company with servers, and the chapter warns against that picture; there is no central server. It is equally easy to imagine consensus as a vote of people, whereas the agreement is reached by software that checks the same rules and follows the chain with the most work. The branch should be read with both corrections in mind.
Consensus - What it is. Consensus is the state in which the participants of the network agree on the same record of transactions. The chapter says that the proof-of-work algorithm is a mechanism for reaching global decentralized consensus on the valid blockchain, and that a key innovation was to use a distributed computation system to conduct a global lottery every 10 minutes on average, allowing the decentralized network to arrive at consensus about the state of transactions (Antonopoulos and Harding, 2023).
Consensus - Why it matters. Consensus is what turns a crowd of computers into a ledger. Without it, two participants could hold different histories and each could claim that the other's payments never happened. The consensus mechanism is also what protects against the double-spend, the main threat to any digital money, so the concepts of this section explain the security of the entire system.
Consensus - How it works. The section contains five concepts. Proof of work is the costly computation that makes a block hard to produce and easy to check. The double-spend is the attack that the whole scheme is designed to prevent. Mining is the activity of performing the work, difficulty adjustment keeps the pace at one block in 10 minutes, and the Byzantine Generals' Problem is the classical problem in distributed computing that the design solves. Concepts of the Foundations branch, such as the hash function, are used here and explained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 What it is.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This branch contains the ideas of consensus, which is the agreement, and of history, which tells how the system came to exist.
Network - Why it matters. A money system that is held together by many independent computers must solve a hard problem: those computers have to agree on which payments happened, even though they receive messages in different orders and some of them may be dishonest. The solution is the main technical achievement of Bitcoin, and the chapter presents it as a breakthrough in distributed computing (Antonopoulos and Harding, 2023). Without an understanding of the agreement mechanism, the rest of the course reads as a list of unrelated parts.
Network - Where you meet it. The network appears whenever the chapter speaks about transactions travelling from Joe's wallet to Alice's wallet, about miners, and about the nodes that validate. The historical part appears in the section named History of Bitcoin, which cites the 2008 paper, the start of the network in 2009, and the withdrawal of its inventor from the public in 2011 (Antonopoulos and Harding, 2023).
Network - How it works. The branch has three sections. The Consensus section explains proof of work, the double-spend problem it solves, the mining by which blocks are produced, the adjustment of difficulty that keeps the pace constant, and the problem in distributed computing that Bitcoin's design answers. The History section tells who proposed the system and what it built on. The Standards section explains the two social mechanisms through which the system is documented and governed: the numbered improvement proposals and open source software.
Network - Watch out. It is easy to imagine the network as a company with servers, and the chapter warns against that picture; there is no central server. It is equally easy to imagine consensus as a vote of people, whereas the agreement is reached by software that checks the same rules and follows the chain with the most work. The branch should be read with both corrections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 What it is. Consensus is the state in which the participants of the network agree on the same record of transactions. The chapter says that the proof-of-work algorithm is a mechanism for reaching global decentralized consensus on the valid blockchain, and that a key innovation was to use a distributed computation system to conduct a global lottery every 10 minutes on average, allowing the decentralized network to arrive at consensus about the state of transactions (Antonopoulos and Harding, 2023).
Consensus - Why it matters. Consensus is what turns a crowd of computers into a ledger. Without it, two participants could hold different histories and each could claim that the other's payments never happened. The consensus mechanism is also what protects against the double-spend, the main threat to any digital money, so the concepts of this section explain the security of the entire system.
Consensus - How it works. The section contains five concepts. Proof of work is the costly computation that makes a block hard to produce and easy to check. The double-spend is the attack that the whole scheme is designed to prevent. Mining is the activity of performing the work, difficulty adjustment keeps the pace at one block in 10 minutes, and the Byzantine Generals' Problem is the classical problem in distributed computing that the design solves. Concepts of the Foundations branch, such as the hash function, are used here and explained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 What it is. Consensus is the state in which the participants of the network agree on the same record of transactions. The chapter says that the proof-of-work algorithm is a mechanism for reaching global decentralized consensus on the valid blockchain, and that a key innovation was to use a distributed computation system to conduct a global lottery every 10 minutes on average, allowing the decentralized network to arrive at consensus about the state of transactions (Antonopoulos and Harding, 2023).
Consensus - Why it matters. Consensus is what turns a crowd of computers into a ledger. Without it, two participants could hold different histories and each could claim that the other's payments never happened. The consensus mechanism is also what protects against the double-spend, the main threat to any digital money, so the concepts of this section explain the security of the entire system.
Consensus - How it works. The section contains five concepts. Proof of work is the costly computation that makes a block hard to produce and easy to check. The double-spend is the attack that the whole scheme is designed to prevent. Mining is the activity of performing the work, difficulty adjustment keeps the pace at one block in 10 minutes, and the Byzantine Generals' Problem is the classical problem in distributed computing that the design solves. Concepts of the Foundations branch, such as the hash function, are used here and explained there.
History - What it is. The History section tells where Bitcoin came from. The chapter describes the system as first described in 2008 with the publication of a paper under the alias Satoshi Nakamoto, as started in 2009 on a reference implementation, and as left in April 2011 to a group of volunteers when its inventor withdrew from the public (Antonopoulos and Harding, 2023). It also contains the sidebar on digital currencies before Bitcoin and the origin of proof of work in Hashcash.
History - Why it matters. History explains why the design looks as it does. Bitcoin was not invented from nothing: it combined prior inventions such as digital signatures and Hashcash, and it answered the failure of earlier centralized digital currencies, which were targeted by governments and attacked by hackers. A student who knows the history can distinguish what was new in Bitcoin from what was inherited.
History - How it works. The five concepts of the section run from the past to the present. Prior digital currencies and Hashcash describe what existed before. The whitepaper and its author describe the proposal. The reference implementation describes the first software, which is still developed and maintained today. Taken together, they show the system as a chain of dated steps that can be checked against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Wallet - What it is.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This branch collects everything the chapter says about choosing, classifying and protecting a wallet.
Wallet - Why it matters. A wallet is where the abstract rules of the network meet a human being. It decides how much of the work of validation the user does himself, who holds the keys that control the money, and what happens when a phone is lost. The chapter says that wallets vary in quality, performance, security, privacy and reliability, and that choosing a wallet is highly subjective and depends on the use and the user's expertise, so that it would be pointless to recommend a specific brand (Antonopoulos and Harding, 2023).
Wallet - Where you meet it. Wallets are the most visible applications of the ecosystem and the chapter notes that they are one of the most actively developed ones, with intense competition: a new wallet is probably being developed right now, while several wallets from last year are no longer actively maintained (Antonopoulos and Harding, 2023). Every example in the chapter, from Alice's first start-up to Joe's payment, takes place inside a wallet.
Wallet - How it works. The chapter classifies wallets in three ways, and the branch follows them. By platform, there are desktop, mobile, web and hardware wallets. By autonomy, there are full nodes, lightweight clients and third-party API clients. By control, there are noncustodial wallets, where the user holds the keys, and custodial services, where a third party does. A fourth section is about backup, because a user who holds the keys must also be able to restore them.
Wallet - Watch out. The three classifications are independent and combine freely. The chapter notes that many wallets fall into a few groups, the three most common being the desktop full node, the mobile lightweight wallet, and the web-based account with a third party, but that the lines between categories are sometimes blurry because software runs on multiple platforms and can interact with the network in different ways (Antonopoulos and Harding, 2023). A student should therefore describe a wallet along all three dimensions.
Usage - What it is. The Usage branch follows the chapter's story of Alice and Joe: how Alice receives her first address, how she acquires her first bitcoin, and how Joe sends it. It also contains the concepts that the story needs, such as the transaction, the fee, the confirmation and the irreversibility of a payment, and the closing bridge from Bitcoin's idea of control by key to the identity standards of the web (Antonopoulos and Harding, 2023).
Usage - Why it matters. Usage is where a learner first sees the system work. The abstract rules of the earlier branches become a few taps on a phone: an address on a screen, a code scanned by a camera, a status that changes from unconfirmed to confirmed. A student who can follow the story step by step has the picture to which every later technical chapter adds detail.
Usage - Where you meet it. The branch corresponds to the second half of the chapter, from the section Quick Start to the section Sending and Receiving Bitcoin. In the next chapter the story is continued with Alice's first purchase, which is examined at the level of the underlying transaction and its propagation (Antonopoulos and Harding, 2023).
Usage - How it works. The branch has four sections. Address explains what a user gives others in order to be paid and how to protect privacy. Transfer explains the payment itself, from the signed transaction to its confirmation. Acquisition lists the four ways of obtaining a first bitcoin and the identity checks that come with some of them. Semantic bridge connects the chapter's key idea to W3C standards for digital identity.
Usage - Watch out. The story is a simplification, and the chapter says it in one sentence: in the next chapter we will look at the underlying transaction and propagation technologies in more detail (Antonopoulos and Harding, 2023). The reader should not conclude that a payment is only a scan and a tap. The warnings that accompany each step, about lost keys, phishing, reuse of addresses and irreversible mistakes, are part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Wallet - What it is.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This branch collects everything the chapter says about choosing, classifying and protecting a wallet.
Wallet - Why it matters. A wallet is where the abstract rules of the network meet a human being. It decides how much of the work of validation the user does himself, who holds the keys that control the money, and what happens when a phone is lost. The chapter says that wallets vary in quality, performance, security, privacy and reliability, and that choosing a wallet is highly subjective and depends on the use and the user's expertise, so that it would be pointless to recommend a specific brand (Antonopoulos and Harding, 2023).
Wallet - Where you meet it. Wallets are the most visible applications of the ecosystem and the chapter notes that they are one of the most actively developed ones, with intense competition: a new wallet is probably being developed right now, while several wallets from last year are no longer actively maintained (Antonopoulos and Harding, 2023). Every example in the chapter, from Alice's first start-up to Joe's payment, takes place inside a wallet.
Wallet - How it works. The chapter classifies wallets in three ways, and the branch follows them. By platform, there are desktop, mobile, web and hardware wallets. By autonomy, there are full nodes, lightweight clients and third-party API clients. By control, there are noncustodial wallets, where the user holds the keys, and custodial services, where a third party does. A fourth section is about backup, because a user who holds the keys must also be able to restore them.
Wallet - Watch out. The three classifications are independent and combine freely. The chapter notes that many wallets fall into a few groups, the three most common being the desktop full node, the mobile lightweight wallet, and the web-based account with a third party, but that the lines between categories are sometimes blurry because software runs on multiple platforms and can interact with the network in different ways (Antonopoulos and Harding, 2023). A student should therefore describe a wallet along all three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KeyControl - What it is. Key control is the question of who holds the private keys that unlock a wallet's funds. The chapter calls this a very important additional consideration and says that access to bitcoins is controlled by private keys, which are like very long PINs. If you are the only one with control over the keys, you are in control of your bitcoins; if you do not have control, your bitcoins are managed by a third party who ultimately controls your funds on your behalf (Antonopoulos and Harding, 2023).
KeyControl - Why it matters. The question decides who really owns the money. In the traditional financial system a bank holds the account and the customer holds a claim against it, whereas in Bitcoin the holder of the key holds the money itself. The chapter condenses the lesson into the sentence Your keys, your coins. Not your keys, not your coins, which its author says he coined to emphasise this point (Antonopoulos and Harding, 2023).
KeyControl - How it works. Two concepts divide the section. The noncustodial wallet is the arrangement in which the user alone controls the keys and bears the responsibility for backing them up. The custodial wallet or account is the arrangement in which a custodian holds the keys. The chapter's advice is to understand the difference before choosing, since the same word wallet is used for both.
WalletPlatform - What it is. The platform of a wallet is the kind of device and software environment on which it runs. The chapter's section on the types of Bitcoin wallets categorises wallets first by platform and lists the desktop wallet, the mobile wallet, the web wallet and the hardware signing device (Antonopoulos and Harding, 2023). The platform determines how convenient the wallet is, how exposed it is to attack, and how much of the user's data is revealed to others.
WalletPlatform - Why it matters. Every platform trades one benefit against another. A desktop wallet gives control and autonomy but runs on a general-purpose computer; a mobile wallet is convenient but often relies on remote servers; a web wallet is the easiest to start with and gives up the most control; a hardware device offers the strongest protection of keys and needs a second program to do the rest. Knowing the pattern lets a learner judge any new wallet, not only the ones named in the book.
WalletPlatform - How it works. The four concepts of this section follow the order of the chapter. Each is described by what it runs on, what it protects, and what the user must trust. The comparison rests on the facts the chapter gives, and the remaining sections of the branch add the two other classifications of autonomy and key control.
Backup - What it is. 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Backup - Why it matters. In a system without a helpdesk, the backup is the only insurance. The chapter explains that the control of the keys brings the responsibility for them, and that a user who loses the keys loses the money. The section therefore treats the recovery code, the wallet's other data, and the newer payment methods in turn, because each has its own way of being lost.
Backup - How it works. The recovery code is the central concept, and the section also covers wallet metadata, the labels and notes of the user. The offchain payment is described in the Usage branch, because it is a way of paying; the section draws the consequence for backup. The warning about fake wallets that ask for the code belongs to the recovery code, and is explained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What it is. 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Backup - Why it matters. In a system without a helpdesk, the backup is the only insurance. The chapter explains that the control of the keys brings the responsibility for them, and that a user who loses the keys loses the money. The section therefore treats the recovery code, the wallet's other data, and the newer payment methods in turn, because each has its own way of being lost.
Backup - How it works. The recovery code is the central concept, and the section also covers wallet metadata, the labels and notes of the user. The offchain payment is described in the Usage branch, because it is a way of paying; the section draws the consequence for backup. The warning about fake wallets that ask for the code belongs to the recovery code, and is explained there.
KeyControl - What it is. Key control is the question of who holds the private keys that unlock a wallet's funds. The chapter calls this a very important additional consideration and says that access to bitcoins is controlled by private keys, which are like very long PINs. If you are the only one with control over the keys, you are in control of your bitcoins; if you do not have control, your bitcoins are managed by a third party who ultimately controls your funds on your behalf (Antonopoulos and Harding, 2023).
KeyControl - Why it matters. The question decides who really owns the money. In the traditional financial system a bank holds the account and the customer holds a claim against it, whereas in Bitcoin the holder of the key holds the money itself. The chapter condenses the lesson into the sentence Your keys, your coins. Not your keys, not your coins, which its author says he coined to emphasise this point (Antonopoulos and Harding, 2023).
KeyControl - How it works. Two concepts divide the section. The noncustodial wallet is the arrangement in which the user alone controls the keys and bears the responsibility for backing them up. The custodial wallet or account is the arrangement in which a custodian holds the keys. The chapter's advice is to understand the difference before choosing, since the same word wallet is used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Acquisition - What it is. The Acquisition section lists the ways in which a newcomer obtains a first bitcoin, which is the practical problem a reader faces as soon as the wallet is installed. The chapter says that the first task for new users is to acquire some bitcoin, and it names four methods: finding a friend who has some and buying directly, earning bitcoin by selling a product or a service, using a Bitcoin ATM in one's city, and using a currency exchange linked to a bank account (Antonopoulos and Harding, 2023). A fifth concept of the section explains the identity checks that accompany some of these, because the chapter devotes a paragraph to why they exist and how long they take.
Acquisition - Why it matters. Acquisition is the point at which Bitcoin touches the conventional financial system, and the chapter spends a whole section on it because the two systems behave differently where they meet. Conventional electronic payments are reversible and regulated, while bitcoin payments are irreversible, and the chapter draws the consequence: a seller of bitcoin who accepts a reversible payment carries a very high risk, which is why companies demand identity and credit checks that may take days or weeks (Antonopoulos and Harding, 2023). The four methods therefore differ not only in convenience but in how private they are, how quickly they work, and how much of the conventional system a newcomer has to enter in order to use them.
Acquisition - How it works. The four methods can be read as a scale from the least to the most formal. A friend sells directly, with nothing between the two people but an agreed rate; a worker or a shop is paid in bitcoin for something of value; a machine takes cash and sends bitcoin to a phone; and an exchange offers a market with a bank account behind it. The chapter's own summary of the first method is that it is the least complicated, and it suggests a local Bitcoin meetup as a way to find such a seller (Antonopoulos and Harding, 2023). The concept of identity verification then explains why the more formal methods ask for documents, and the privacy concept of the address group explains why that matters for everything the buyer does afterwards.
Address - What it is. The Address section explains the destination of a payment. An address is what a person shares so that others can send bitcoin to his wallet, and it is the first thing Alice's new wallet produces when she presses Receive. The chapter's tip adds that there are a variety of Bitcoin addresses and invoice formats, and that both may be shared with other users who can then send bitcoin directly to the wallet (Antonopoulos and Harding, 2023). The section therefore contains three concepts: the address itself, the invoice that can carry an address together with an amount and a description, and the question of how reusing an address affects privacy.
Address - Why it matters. An address is at once harmless and revealing, and the section exists to keep the two apart. It is harmless because knowing an address does not allow anybody to take money: the chapter states that, unlike a bank account number, nobody who learns one of your addresses can withdraw from your wallet, because you must initiate all spends (Antonopoulos and Harding, 2023). It is revealing because every payment made to it is visible on the public record for ever, so the way a person uses addresses decides how much of his financial life becomes visible to others. The habits that follow from this cost nothing, which is why the chapter states them as a rule rather than as advice.
Address - How it works. The three concepts of the section move from the object to its use. The first describes what an address is and where it comes from, namely a number derived from the private key that the wallet generates on its own, with no registration anywhere. The second describes the invoice, a request for payment that a wallet can read, usually from a QR code, and that can carry an amount and a description beside the address. The third explains why a new address should be used for each payment, and states the risk the chapter names: two people given the same address can see what the other one sent.
Transfer - What it is. 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Transfer - Why it matters. A transfer is the unit of activity of the whole system. Everything else, the miners, the nodes and the blocks, exists to carry transfers safely. The section also gives a first view of the economics of the system: the fee that pays for inclusion, and the waiting time that gives the payment its finality.
Transfer - How it works. The concepts proceed in the order of events. Sending and receiving gives the story. The transaction is the signed object that travels, and its inputs and outputs explain where the value comes from and goes to. The fee follows from the difference between them. The confirmation marks the moment of clearing, and irreversibility is the consequence. The offchain payment completes the picture with payments that do not appear on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Foundations - What it is.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This branch stops to explain each of those words, so that a student who has not met them before can follow the later branches without guessing.
Foundations - Why it matters. A technical text is only as clear as its vocabulary. Bitcoin is built from ideas of cryptography, of distributed computing and of ordinary internet engineering, and none of the three is new to the specialist while all of them are new to many beginners. Explaining them once and in one place also shows an important fact about the subject: Bitcoin invents very little vocabulary of its own and mostly combines established techniques in a new arrangement, which is how the chapter itself describes Nakamoto's contribution (Antonopoulos and Harding, 2023).
Foundations - Where you meet it. The ideas appear throughout the chapter. A hash function is used by proof of work, by the checksum of a recovery code and by Hashcash; a digital signature is what makes a transaction valid; a block and a blockchain are the record that the whole network maintains; and a protocol, an API, a URI and a QR code are the means by which wallets talk to each other and to the people who use them. Each later explanation points back to the concept here.
Foundations - How it works. The branch has four sections. The Cryptography section explains the mathematical tools: the hash function, the digital signature, public-key cryptography, the private key, entropy, the checksum, the keyed hash and key stretching. The Chain section explains the block, the blockchain, the timestamp and the node. The Computing section explains the everyday technology on which Bitcoin runs, from the internet and its protocols to databases and operating systems. The Threats section explains malware and phishing, the two attacks that the chapter warns about.
Foundations - Watch out. Two cautions apply to the whole branch. The explanations are introductions, and the later chapters of the textbook return to the same ideas in greater depth, so a student should treat the examples here as the smallest correct version of each idea and not as a complete treatment. The examples in this branch are also deliberately small, with tiny numbers, so that they can be computed by hand or in a few lines of Python; real Bitcoin uses far larger values and different algorithms for some of them, and the text says where this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Foundations - What it is.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This branch stops to explain each of those words, so that a student who has not met them before can follow the later branches without guessing.
Foundations - Why it matters. A technical text is only as clear as its vocabulary. Bitcoin is built from ideas of cryptography, of distributed computing and of ordinary internet engineering, and none of the three is new to the specialist while all of them are new to many beginners. Explaining them once and in one place also shows an important fact about the subject: Bitcoin invents very little vocabulary of its own and mostly combines established techniques in a new arrangement, which is how the chapter itself describes Nakamoto's contribution (Antonopoulos and Harding, 2023).
Foundations - Where you meet it. The ideas appear throughout the chapter. A hash function is used by proof of work, by the checksum of a recovery code and by Hashcash; a digital signature is what makes a transaction valid; a block and a blockchain are the record that the whole network maintains; and a protocol, an API, a URI and a QR code are the means by which wallets talk to each other and to the people who use them. Each later explanation points back to the concept here.
Foundations - How it works. The branch has four sections. The Cryptography section explains the mathematical tools: the hash function, the digital signature, public-key cryptography, the private key, entropy, the checksum, the keyed hash and key stretching. The Chain section explains the block, the blockchain, the timestamp and the node. The Computing section explains the everyday technology on which Bitcoin runs, from the internet and its protocols to databases and operating systems. The Threats section explains malware and phishing, the two attacks that the chapter warns about.
Foundations - Watch out. Two cautions apply to the whole branch. The explanations are introductions, and the later chapters of the textbook return to the same ideas in greater depth, so a student should treat the examples here as the smallest correct version of each idea and not as a complete treatment. The examples in this branch are also deliberately small, with tiny numbers, so that they can be computed by hand or in a few lines of Python; real Bitcoin uses far larger values and different algorithms for some of them, and the text says where this matters.
Cryptography - What it is. Cryptography is the science of transforming data so that its meaning is hidden, so that undetected alteration is prevented, or so that unauthorised use is prevented. The Internet Security Glossary describes it in these terms and adds that if the transformation is reversible, cryptography also deals with restoring the data (Shirey, 2007). The Mozilla glossary puts it more simply, as the science that studies how to encode and transmit messages securely, and adds that it tackles identification, authentication and data integrity as well as confidentiality (Mozilla Developer Network, 2026).
Cryptography - Why it matters. Digital money has a problem that physical money does not have. A banknote is hard to copy because of its paper and its printing, but a digital file can be copied perfectly and without cost. Chapter 1 explains that cryptography takes the place of the special paper and inks: it provides the basis for trusting the legitimacy of a user's claim to value, and cryptographic digital signatures let a user prove ownership of a digital asset (Antonopoulos and Harding, 2023). Without cryptography there would be no way to say who may spend which coin.
Cryptography - Where you meet it. Cryptography is met every time a person uses a secure website, signs a document digitally, or opens a payment application. In Bitcoin it appears in eight forms that this section explains: the hash function that condenses data into a fingerprint, the digital signature that proves who authorised a transaction, the public-key cryptography that makes signatures possible, the private key that a wallet protects, the entropy that makes keys unpredictable, the checksum that detects typing errors, the keyed hash that binds a result to a secret, and the key stretching that makes guessing slow.
Cryptography - How it works. The eight concepts form a chain. A wallet begins with entropy, which is randomness that an attacker cannot predict. The randomness becomes a private key, from which a public key is derived. The wallet then signs data with the private key, and anyone can check the signature with the public key, using a hash function to condense the data first. A checksum protects the backup against mistakes; a keyed hash is the building block from which the slow derivation is made; and key stretching slows down an attacker who tries to guess the backup.
Cryptography - Watch out. Cryptography is often imagined as secrecy alone, which is a mistake that this chapter corrects. Bitcoin transactions are public, and nothing in them is encrypted; the cryptography of Bitcoin is used to prove who authorised a payment and to make the record hard to alter, not to hide it. A second mistake is to think that cryptography is magic. Its security rests on mathematical assumptions and on correct use, and most real losses come from bad use, such as a weak password or a stolen backup, and not from a failure of the mathematics.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 - What it is.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The chapter uses all four words in its first pages (Antonopoulos and Harding, 2023).
Chain - Why it matters. A payment system needs a single agreed record of what happened and in what order. In the system of a bank this record is a database that the bank keeps. In Bitcoin it is the blockchain, kept by thousands of nodes at once, with each block fixing the order of its transactions and tying itself to the past. Understanding the chain makes clear why changing an old payment is so hard.
Chain - Where you meet it. The vocabulary of the chain appears throughout chapter 1: in the description of mining, which adds a block roughly every ten minutes; in the sidebar on confirmations, which counts blocks to decide when a payment may be trusted; and in the account of how Joe's transaction spreads from node to node until most of the well-connected nodes have it (Antonopoulos and Harding, 2023). The same four words are used outside the book by block explorers, which display the chain, by wallets, which report a confirmation count, and by news reports, which quote block heights and times. A student who reads them in this course should expect to meet them again in every later chapter.
Chain - How it works. The four concepts are explained from the inside out. The block is the unit. The blockchain is the chain of units, tied together by hashes. The timestamp explains the time mark that each block carries and what it is good for. The node explains who stores and checks the chain, and prepares the later sections on full nodes and lightweight clients.
Chain - Watch out. The word blockchain is used in many different senses in popular writing, where it often means any shared database with some cryptography in it. In this course it keeps the narrower sense of the textbook's glossary: the particular list of validated blocks that the Bitcoin network agrees on, each one linked to its predecessor back to the first block (Antonopoulos and Harding, 2023). The word node is similarly narrowed, since the chapter uses it for a computer that takes part in this network and not for any point in any graph. Keeping the vocabulary this strict is what lets the later chapters make precise statements.
Cryptography - What it is. Cryptography is the science of transforming data so that its meaning is hidden, so that undetected alteration is prevented, or so that unauthorised use is prevented. The Internet Security Glossary describes it in these terms and adds that if the transformation is reversible, cryptography also deals with restoring the data (Shirey, 2007). The Mozilla glossary puts it more simply, as the science that studies how to encode and transmit messages securely, and adds that it tackles identification, authentication and data integrity as well as confidentiality (Mozilla Developer Network, 2026).
Cryptography - Why it matters. Digital money has a problem that physical money does not have. A banknote is hard to copy because of its paper and its printing, but a digital file can be copied perfectly and without cost. Chapter 1 explains that cryptography takes the place of the special paper and inks: it provides the basis for trusting the legitimacy of a user's claim to value, and cryptographic digital signatures let a user prove ownership of a digital asset (Antonopoulos and Harding, 2023). Without cryptography there would be no way to say who may spend which coin.
Cryptography - Where you meet it. Cryptography is met every time a person uses a secure website, signs a document digitally, or opens a payment application. In Bitcoin it appears in eight forms that this section explains: the hash function that condenses data into a fingerprint, the digital signature that proves who authorised a transaction, the public-key cryptography that makes signatures possible, the private key that a wallet protects, the entropy that makes keys unpredictable, the checksum that detects typing errors, the keyed hash that binds a result to a secret, and the key stretching that makes guessing slow.
Cryptography - How it works. The eight concepts form a chain. A wallet begins with entropy, which is randomness that an attacker cannot predict. The randomness becomes a private key, from which a public key is derived. The wallet then signs data with the private key, and anyone can check the signature with the public key, using a hash function to condense the data first. A checksum protects the backup against mistakes; a keyed hash is the building block from which the slow derivation is made; and key stretching slows down an attacker who tries to guess the backup.
Cryptography - Watch out. Cryptography is often imagined as secrecy alone, which is a mistake that this chapter corrects. Bitcoin transactions are public, and nothing in them is encrypted; the cryptography of Bitcoin is used to prove who authorised a payment and to make the record hard to alter, not to hide it. A second mistake is to think that cryptography is magic. Its security rests on mathematical assumptions and on correct use, and most real losses come from bad use, such as a weak password or a stolen backup, and not from a failure of the mathematics.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 - What it is.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The chapter uses all four words in its first pages (Antonopoulos and Harding, 2023).
Chain - Why it matters. A payment system needs a single agreed record of what happened and in what order. In the system of a bank this record is a database that the bank keeps. In Bitcoin it is the blockchain, kept by thousands of nodes at once, with each block fixing the order of its transactions and tying itself to the past. Understanding the chain makes clear why changing an old payment is so hard.
Chain - Where you meet it. The vocabulary of the chain appears throughout chapter 1: in the description of mining, which adds a block roughly every ten minutes; in the sidebar on confirmations, which counts blocks to decide when a payment may be trusted; and in the account of how Joe's transaction spreads from node to node until most of the well-connected nodes have it (Antonopoulos and Harding, 2023). The same four words are used outside the book by block explorers, which display the chain, by wallets, which report a confirmation count, and by news reports, which quote block heights and times. A student who reads them in this course should expect to meet them again in every later chapter.
Chain - How it works. The four concepts are explained from the inside out. The block is the unit. The blockchain is the chain of units, tied together by hashes. The timestamp explains the time mark that each block carries and what it is good for. The node explains who stores and checks the chain, and prepares the later sections on full nodes and lightweight clients.
Chain - Watch out. The word blockchain is used in many different senses in popular writing, where it often means any shared database with some cryptography in it. In this course it keeps the narrower sense of the textbook's glossary: the particular list of validated blocks that the Bitcoin network agrees on, each one linked to its predecessor back to the first block (Antonopoulos and Harding, 2023). The word node is similarly narrowed, since the chapter uses it for a computer that takes part in this network and not for any point in any graph. Keeping the vocabulary this strict is what lets the later chapters make precise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Computing - What it is. 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Chapter 1 mentions all of these in passing (Antonopoulos and Harding, 2023).
Computing - Why it matters. Bitcoin is software, and software is built on top of other software. A student who understands the layers beneath a wallet can see which parts of the system belong to Bitcoin and which belong to the general technology of computing. This also explains the chapter's comparison between wallets and web browsers: both are applications that speak a protocol on top of the internet (Antonopoulos and Harding, 2023).
Computing - Where you meet it. The terms appear when the chapter says that Bitcoin users communicate with each other using the Bitcoin protocol primarily via the internet, that a wallet is like a web browser for the HTTP protocol, that a desktop wallet runs on a general-use operating system, and that a mobile wallet retrieves information from remote servers (Antonopoulos and Harding, 2023). Later sections add the QR code, the URI of an invoice and the database in which a wallet keeps its labels.
Computing - How it works. The twelve concepts of the section move from the network to the machine. The internet, the protocol, HTTP, the server and the distributed system describe how computers cooperate. The API, the URI and the QR code describe how programs and people name and exchange things. The web browser, the operating system and the database describe where software runs and where data is kept. The bit and the byte describe how data is measured.
Computing - Watch out. Each of these technologies is a large field of its own, and a few paragraphs cannot do any of them justice. The goal of this section is therefore deliberately modest: for each term, a working definition taken from a published glossary, the one fact about it that chapter 1 actually needs, a small example where one can be computed, and a warning about the misunderstanding that most often follows. A student who already knows these terms can read the section quickly; a student who does not should read it before the Wallet and Usage branches, which use the words without explanation.
Threats - What it is. The Threats section explains two attacks that chapter 1 warns about by name or by description: malicious software that steals or destroys, and phishing, which tricks a person into handing over a secret. Both aim at the weakest part of the system, which is often not the cryptography but the person or the device (Antonopoulos and Harding, 2023).
Threats - Why it matters. Bitcoin shifts the responsibility for both attacks onto the user, which is why a chapter for beginners warns about them at all. A bank can reverse a fraudulent card payment and issue a new card, but nobody can reverse a Bitcoin transaction and nobody can restore a recovery code that a thief has copied, because the chapter's own rules make a payment irreversible and a key the only proof of ownership (Antonopoulos and Harding, 2023). The loss is therefore final, and it is final at the moment of the mistake rather than after an investigation. Recognising the two attacks is for that reason part of the basic knowledge of anyone who holds keys, in the same way that recognising a counterfeit note belongs to handling cash.
Threats - Where you meet it. The warning appears in the section on recovery codes, where the chapter says that many malware applications mimic the design of a wallet, insist that you enter your recovery code, and relay it to the developer so that they can steal your funds, which is the equivalent of phishing websites (Antonopoulos and Harding, 2023). The same threats appear in the discussion of web wallets and desktop wallets.
Threats - How it works. The two concepts of the section describe the means and the method, and they usually appear together. Malware is the software that does the harm once it is running on a device: it can read files, watch what is typed, and send what it finds away. Phishing is the deception that persuades a person to install that software, to open a counterfeit page, or simply to type a secret where the attacker can read it. The chapter's own example joins the two in a single sentence, because the fake wallet application is malware that works by phishing: it imitates a real wallet and insists that the user enter the recovery code (Antonopoulos and Harding, 2023).
Threats - Watch out. No technology removes these threats completely, because both of them end at a decision that a person makes. The best defences are therefore habits rather than products: obtaining a wallet only from its official source, checking the publisher of an application and not only its name, never entering a recovery code except during the first set-up and a genuine recovery, as the chapter's rule says, and reading the address of a page before typing anything into it (Antonopoulos and Harding, 2023). A second habit limits the damage when the first one fails, which is to keep only a small amount on a device that is used for everything else. The chapter's final piece of advice for an unexpected request is to consult an expert rather than to decide alone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Nature - What it is. The Nature branch answers a question that precedes all the others: what kind of thing is Bitcoin? Chapter 1 gives two complementary answers. The first describes the characteristics of the currency, which is virtual, borderless, decentralized and robust. The second describes the architecture, which the chapter lists as four innovations brought together: a decentralized peer-to-peer network, a public transaction journal, a set of rules for validation and issuance, and a mechanism for reaching consensus (Antonopoulos and Harding, 2023).
Nature - Why it matters. A student who knows only how to use a wallet knows what Bitcoin does and not why it is built as it is. The characteristics explain the goals, and the architecture explains how the goals are met. The sidebar on digital currencies before Bitcoin makes the link: earlier systems were centralized and easy to attack, so a decentralized digital currency was needed to be robust against intervention by antagonists, whether legitimate governments or criminal elements (Antonopoulos and Harding, 2023).
Nature - Where you meet it. The characteristics appear in the opening paragraphs of the chapter, where Bitcoin is called arguably the perfect form of money for the internet because it is fast, secure and borderless, and where the currency is described as entirely virtual (Antonopoulos and Harding, 2023). The architecture appears in the list of what Bitcoin consists of, and each item of that list is then explained in the Network branch and the Foundations branch.
Nature - How it works. The branch has two sections. The Characteristic section contains four concepts, virtual, borderless, decentralized and robust, each of which names a property that the chapter attributes to the currency. The Architecture section contains three concepts that correspond to three of the four innovations in the chapter's list: the peer-to-peer protocol, the public journal and the consensus rule set. The fourth innovation, the proof-of-work mechanism, has its own concept in the Network branch.
Nature - Watch out. A list of attractive adjectives is not an argument. Each characteristic is a claim that can be examined, and each depends on conditions: a currency is borderless only where people can reach the network, decentralized only while control stays spread out, and robust only against the threats it was designed for. The branch should be read as an account of design goals, with the evidence supplied by the other branches.
Characteristic - What it is. The Characteristic section collects four properties that the chapter attributes to the bitcoin currency: it is virtual, it is borderless, it is decentralized, and it is robust. The first two come from the opening description of the currency, where Bitcoin is called arguably the perfect form of money for the internet because it is fast, secure and borderless, and the last two from the sidebar that explains why a decentralized digital currency was needed at all (Antonopoulos and Harding, 2023). The four are properties of the thing itself and not of any program that uses it, which is why they sit in their own branch rather than among the wallets.
Characteristic - Why it matters. These properties distinguish Bitcoin from conventional money and from the earlier digital currencies that the chapter's sidebar describes. Conventional money exists in a physical and an electronic form at once and is controlled by central institutions; the earlier digital currencies were electronic but centralized, and the sidebar records that they were therefore easy to attack and that most were litigated out of existence or collapsed with the company behind them (Antonopoulos and Harding, 2023). Bitcoin combines a purely virtual existence with the absence of any central authority, and the chapter presents that combination, rather than either half of it, as the reason the currency suits the internet.
Characteristic - How it works. Each concept in the section is defined by the sentence of the chapter that introduces it and is then connected to the mechanism that makes it true, because a property without a mechanism is only a slogan. Virtual is shown by computing a balance from a list of transfers, which demonstrates that the coins need not exist anywhere as objects. Borderless, decentralized and robust are referred to the mechanisms of the other branches: the peer-to-peer protocol carries a payment without asking where its parties live, the consensus rules let every participant check issuance for himself, and proof of work makes the rewriting of history expensive. A learner who can name the mechanism for each property has understood the section.
Architecture - What it is. The Architecture section describes how the Bitcoin system is put together. After the opening pages, the chapter lists what Bitcoin consists of: a decentralized peer-to-peer network, a public transaction journal, a set of rules for independent transaction validation and currency issuance, and a mechanism for reaching global decentralized consensus on the valid blockchain (Antonopoulos and Harding, 2023). It adds that Bitcoin builds on decades of research in cryptography and distributed systems and includes at least four key innovations brought together in a unique and powerful combination.
Architecture - Why it matters. The combination, rather than any single part, is the invention. Digital signatures, hash functions and peer-to-peer networks existed before. What was new was the arrangement in which they support each other, so that a money system works without a central party. A student who can name the four parts and say what each contributes understands the structure of the whole subject.
Architecture - How it works. Three of the four parts are concepts of this section. The peer-to-peer protocol describes the network. The public journal describes the record. The consensus rule set describes the rules every participant applies. The fourth part, the proof-of-work mechanism, is explained in the Consensus section of the Network branch, because it is the means by which the other three are brought to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 - What it is. 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Transfer - Why it matters. A transfer is the unit of activity of the whole system. Everything else, the miners, the nodes and the blocks, exists to carry transfers safely. The section also gives a first view of the economics of the system: the fee that pays for inclusion, and the waiting time that gives the payment its finality.
Transfer - How it works. The concepts proceed in the order of events. Sending and receiving gives the story. The transaction is the signed object that travels, and its inputs and outputs explain where the value comes from and goes to. The fee follows from the difference between them. The confirmation marks the moment of clearing, and irreversibility is the consequence. The offchain payment completes the picture with payments that do not appear on the chain.
SemanticBridge - What it is. The semantic bridge connects the chapter's central idea with the theme of this course, semantic technologies. The idea is that control belongs to whoever holds the keys, with no central registry that grants or removes it. The World Wide Web Consortium has turned the same idea into standards for digital identity, the Decentralized Identifiers and the Verifiable Credentials (World Wide Web Consortium, 2022).
SemanticBridge - Why it matters. A student of blockchain technology should know that its main principle is not limited to money. Whenever a system needs to say who someone is, or what someone may do, it faces the same choice between a central registry and control by keys. The bridge shows that the choice recurs in the identity layer of the web, and that standard vocabularies exist for it.
SemanticBridge - How it works. Two concepts form the bridge. A decentralized identifier is an identifier that its holder controls without a central registry. A verifiable credential is a set of claims about a subject that an issuer has signed and that a holder can show to a verifier. Both are specified as W3C Recommendations, and both rely on the digital signatures and keys explained in the Foundations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325880"/>
            <a:ext cx="228600" cy="0"/>
          </a:xfrm>
          <a:prstGeom prst="line">
            <a:avLst/>
          </a:prstGeom>
          <a:noFill/>
          <a:ln w="19050">
            <a:solidFill>
              <a:srgbClr val="F7931A"/>
            </a:solidFill>
            <a:prstDash val="solid"/>
          </a:ln>
        </p:spPr>
      </p:sp>
      <p:sp>
        <p:nvSpPr>
          <p:cNvPr id="4" name="Shape 2"/>
          <p:cNvSpPr/>
          <p:nvPr/>
        </p:nvSpPr>
        <p:spPr>
          <a:xfrm>
            <a:off x="1508760" y="96012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325880"/>
            <a:ext cx="228600" cy="0"/>
          </a:xfrm>
          <a:prstGeom prst="line">
            <a:avLst/>
          </a:prstGeom>
          <a:noFill/>
          <a:ln w="19050">
            <a:solidFill>
              <a:srgbClr val="F7931A"/>
            </a:solidFill>
            <a:prstDash val="solid"/>
          </a:ln>
        </p:spPr>
      </p:sp>
      <p:sp>
        <p:nvSpPr>
          <p:cNvPr id="6" name="Shape 4"/>
          <p:cNvSpPr/>
          <p:nvPr/>
        </p:nvSpPr>
        <p:spPr>
          <a:xfrm>
            <a:off x="2468880" y="96012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F7931A"/>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4F2EE"/>
          </a:solidFill>
          <a:ln w="12700">
            <a:solidFill>
              <a:srgbClr val="D9D4CC"/>
            </a:solidFill>
            <a:prstDash val="solid"/>
          </a:ln>
        </p:spPr>
      </p:sp>
      <p:sp>
        <p:nvSpPr>
          <p:cNvPr id="7" name="Text 5"/>
          <p:cNvSpPr txBox="1"/>
          <p:nvPr/>
        </p:nvSpPr>
        <p:spPr>
          <a:xfrm>
            <a:off x="566928" y="1444752"/>
            <a:ext cx="2371344" cy="685800"/>
          </a:xfrm>
          <a:prstGeom prst="rect">
            <a:avLst/>
          </a:prstGeom>
          <a:noFill/>
          <a:ln/>
        </p:spPr>
        <p:txBody>
          <a:bodyPr wrap="square" lIns="0" tIns="0" rIns="0" bIns="0" rtlCol="0" anchor="ctr"/>
          <a:lstStyle/>
          <a:p>
            <a:pPr indent="0" marL="0">
              <a:buNone/>
            </a:pPr>
            <a:r>
              <a:rPr lang="en-US" sz="2800" b="1" dirty="0">
                <a:solidFill>
                  <a:srgbClr val="F7931A"/>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4F2EE"/>
          </a:solidFill>
          <a:ln w="12700">
            <a:solidFill>
              <a:srgbClr val="D9D4CC"/>
            </a:solidFill>
            <a:prstDash val="solid"/>
          </a:ln>
        </p:spPr>
      </p:sp>
      <p:sp>
        <p:nvSpPr>
          <p:cNvPr id="10" name="Text 8"/>
          <p:cNvSpPr txBox="1"/>
          <p:nvPr/>
        </p:nvSpPr>
        <p:spPr>
          <a:xfrm>
            <a:off x="3386328" y="1444752"/>
            <a:ext cx="2371344" cy="685800"/>
          </a:xfrm>
          <a:prstGeom prst="rect">
            <a:avLst/>
          </a:prstGeom>
          <a:noFill/>
          <a:ln/>
        </p:spPr>
        <p:txBody>
          <a:bodyPr wrap="square" lIns="0" tIns="0" rIns="0" bIns="0" rtlCol="0" anchor="ctr"/>
          <a:lstStyle/>
          <a:p>
            <a:pPr indent="0" marL="0">
              <a:buNone/>
            </a:pPr>
            <a:r>
              <a:rPr lang="en-US" sz="2800" b="1" dirty="0">
                <a:solidFill>
                  <a:srgbClr val="F7931A"/>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4F2EE"/>
          </a:solidFill>
          <a:ln w="12700">
            <a:solidFill>
              <a:srgbClr val="D9D4CC"/>
            </a:solidFill>
            <a:prstDash val="solid"/>
          </a:ln>
        </p:spPr>
      </p:sp>
      <p:sp>
        <p:nvSpPr>
          <p:cNvPr id="13" name="Text 11"/>
          <p:cNvSpPr txBox="1"/>
          <p:nvPr/>
        </p:nvSpPr>
        <p:spPr>
          <a:xfrm>
            <a:off x="6205728" y="1444752"/>
            <a:ext cx="2371344" cy="685800"/>
          </a:xfrm>
          <a:prstGeom prst="rect">
            <a:avLst/>
          </a:prstGeom>
          <a:noFill/>
          <a:ln/>
        </p:spPr>
        <p:txBody>
          <a:bodyPr wrap="square" lIns="0" tIns="0" rIns="0" bIns="0" rtlCol="0" anchor="ctr"/>
          <a:lstStyle/>
          <a:p>
            <a:pPr indent="0" marL="0">
              <a:buNone/>
            </a:pPr>
            <a:r>
              <a:rPr lang="en-US" sz="2800" b="1" dirty="0">
                <a:solidFill>
                  <a:srgbClr val="F7931A"/>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F2933"/>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1F2933"/>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1F2933"/>
                </a:solidFill>
                <a:latin typeface="Calibri" pitchFamily="34" charset="0"/>
                <a:ea typeface="Calibri" pitchFamily="34" charset="-122"/>
                <a:cs typeface="Calibri" pitchFamily="34" charset="-120"/>
              </a:rPr>
              <a:t>The problems each part was designed to solve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F7931A"/>
          </a:solidFill>
          <a:ln w="12700">
            <a:solidFill>
              <a:srgbClr val="F7931A"/>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F7931A"/>
          </a:solidFill>
          <a:ln w="12700">
            <a:solidFill>
              <a:srgbClr val="F7931A"/>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F7931A"/>
          </a:solidFill>
          <a:ln w="12700">
            <a:solidFill>
              <a:srgbClr val="F7931A"/>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F7931A"/>
          </a:solidFill>
          <a:ln w="12700">
            <a:solidFill>
              <a:srgbClr val="F7931A"/>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F7931A"/>
          </a:solidFill>
          <a:ln w="12700">
            <a:solidFill>
              <a:srgbClr val="F7931A"/>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F7931A"/>
          </a:solidFill>
          <a:ln w="12700">
            <a:solidFill>
              <a:srgbClr val="F7931A"/>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F7931A"/>
          </a:solidFill>
          <a:ln w="12700">
            <a:solidFill>
              <a:srgbClr val="F7931A"/>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Shape 4"/>
          <p:cNvSpPr/>
          <p:nvPr/>
        </p:nvSpPr>
        <p:spPr>
          <a:xfrm>
            <a:off x="365760" y="2674620"/>
            <a:ext cx="1417320" cy="548640"/>
          </a:xfrm>
          <a:prstGeom prst="roundRect">
            <a:avLst>
              <a:gd name="adj" fmla="val 16667"/>
            </a:avLst>
          </a:prstGeom>
          <a:solidFill>
            <a:srgbClr val="F7931A"/>
          </a:solidFill>
          <a:ln w="12700">
            <a:solidFill>
              <a:srgbClr val="F7931A"/>
            </a:solidFill>
            <a:prstDash val="solid"/>
          </a:ln>
        </p:spPr>
      </p:sp>
      <p:sp>
        <p:nvSpPr>
          <p:cNvPr id="7" name="Text 5"/>
          <p:cNvSpPr txBox="1"/>
          <p:nvPr/>
        </p:nvSpPr>
        <p:spPr>
          <a:xfrm>
            <a:off x="365760" y="267462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8" name="Shape 6"/>
          <p:cNvSpPr/>
          <p:nvPr/>
        </p:nvSpPr>
        <p:spPr>
          <a:xfrm flipV="1">
            <a:off x="1783080" y="1472184"/>
            <a:ext cx="502920" cy="1476756"/>
          </a:xfrm>
          <a:prstGeom prst="line">
            <a:avLst/>
          </a:prstGeom>
          <a:noFill/>
          <a:ln w="13970">
            <a:solidFill>
              <a:srgbClr val="C9D1DA"/>
            </a:solidFill>
            <a:prstDash val="solid"/>
          </a:ln>
        </p:spPr>
      </p:sp>
      <p:sp>
        <p:nvSpPr>
          <p:cNvPr id="9" name="Shape 7"/>
          <p:cNvSpPr/>
          <p:nvPr/>
        </p:nvSpPr>
        <p:spPr>
          <a:xfrm>
            <a:off x="2331720" y="1234440"/>
            <a:ext cx="1691640" cy="475488"/>
          </a:xfrm>
          <a:prstGeom prst="roundRect">
            <a:avLst>
              <a:gd name="adj" fmla="val 15385"/>
            </a:avLst>
          </a:prstGeom>
          <a:solidFill>
            <a:srgbClr val="3A4250"/>
          </a:solidFill>
          <a:ln w="9525">
            <a:solidFill>
              <a:srgbClr val="D9D4CC"/>
            </a:solidFill>
            <a:prstDash val="solid"/>
          </a:ln>
        </p:spPr>
      </p:sp>
      <p:sp>
        <p:nvSpPr>
          <p:cNvPr id="10" name="Text 8"/>
          <p:cNvSpPr txBox="1"/>
          <p:nvPr/>
        </p:nvSpPr>
        <p:spPr>
          <a:xfrm>
            <a:off x="2386584" y="123444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1" name="Shape 9"/>
          <p:cNvSpPr/>
          <p:nvPr/>
        </p:nvSpPr>
        <p:spPr>
          <a:xfrm>
            <a:off x="4023360" y="1472184"/>
            <a:ext cx="274320" cy="0"/>
          </a:xfrm>
          <a:prstGeom prst="line">
            <a:avLst/>
          </a:prstGeom>
          <a:noFill/>
          <a:ln w="13970">
            <a:solidFill>
              <a:srgbClr val="C9D1DA"/>
            </a:solidFill>
            <a:prstDash val="solid"/>
          </a:ln>
        </p:spPr>
      </p:sp>
      <p:sp>
        <p:nvSpPr>
          <p:cNvPr id="12" name="Shape 10"/>
          <p:cNvSpPr/>
          <p:nvPr/>
        </p:nvSpPr>
        <p:spPr>
          <a:xfrm>
            <a:off x="4297680" y="1252728"/>
            <a:ext cx="4480560" cy="438912"/>
          </a:xfrm>
          <a:prstGeom prst="roundRect">
            <a:avLst>
              <a:gd name="adj" fmla="val 12500"/>
            </a:avLst>
          </a:prstGeom>
          <a:solidFill>
            <a:srgbClr val="F4F2EE"/>
          </a:solidFill>
          <a:ln w="6350">
            <a:solidFill>
              <a:srgbClr val="D9D4CC"/>
            </a:solidFill>
            <a:prstDash val="solid"/>
          </a:ln>
        </p:spPr>
      </p:sp>
      <p:sp>
        <p:nvSpPr>
          <p:cNvPr id="13" name="Text 11"/>
          <p:cNvSpPr txBox="1"/>
          <p:nvPr/>
        </p:nvSpPr>
        <p:spPr>
          <a:xfrm>
            <a:off x="4407408" y="1252728"/>
            <a:ext cx="4261104" cy="43891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Unit  ·  Supply  ·  Price  ·  Issuance</a:t>
            </a:r>
            <a:endParaRPr lang="en-US" sz="1200" dirty="0"/>
          </a:p>
        </p:txBody>
      </p:sp>
      <p:sp>
        <p:nvSpPr>
          <p:cNvPr id="14" name="Shape 12"/>
          <p:cNvSpPr/>
          <p:nvPr/>
        </p:nvSpPr>
        <p:spPr>
          <a:xfrm flipV="1">
            <a:off x="1783080" y="2062886"/>
            <a:ext cx="502920" cy="886054"/>
          </a:xfrm>
          <a:prstGeom prst="line">
            <a:avLst/>
          </a:prstGeom>
          <a:noFill/>
          <a:ln w="13970">
            <a:solidFill>
              <a:srgbClr val="C9D1DA"/>
            </a:solidFill>
            <a:prstDash val="solid"/>
          </a:ln>
        </p:spPr>
      </p:sp>
      <p:sp>
        <p:nvSpPr>
          <p:cNvPr id="15" name="Shape 13"/>
          <p:cNvSpPr/>
          <p:nvPr/>
        </p:nvSpPr>
        <p:spPr>
          <a:xfrm>
            <a:off x="2331720" y="1825142"/>
            <a:ext cx="1691640" cy="475488"/>
          </a:xfrm>
          <a:prstGeom prst="roundRect">
            <a:avLst>
              <a:gd name="adj" fmla="val 15385"/>
            </a:avLst>
          </a:prstGeom>
          <a:solidFill>
            <a:srgbClr val="3A4250"/>
          </a:solidFill>
          <a:ln w="9525">
            <a:solidFill>
              <a:srgbClr val="D9D4CC"/>
            </a:solidFill>
            <a:prstDash val="solid"/>
          </a:ln>
        </p:spPr>
      </p:sp>
      <p:sp>
        <p:nvSpPr>
          <p:cNvPr id="16" name="Text 14"/>
          <p:cNvSpPr txBox="1"/>
          <p:nvPr/>
        </p:nvSpPr>
        <p:spPr>
          <a:xfrm>
            <a:off x="2386584" y="182514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7" name="Shape 15"/>
          <p:cNvSpPr/>
          <p:nvPr/>
        </p:nvSpPr>
        <p:spPr>
          <a:xfrm>
            <a:off x="4023360" y="2062886"/>
            <a:ext cx="274320" cy="0"/>
          </a:xfrm>
          <a:prstGeom prst="line">
            <a:avLst/>
          </a:prstGeom>
          <a:noFill/>
          <a:ln w="13970">
            <a:solidFill>
              <a:srgbClr val="C9D1DA"/>
            </a:solidFill>
            <a:prstDash val="solid"/>
          </a:ln>
        </p:spPr>
      </p:sp>
      <p:sp>
        <p:nvSpPr>
          <p:cNvPr id="18" name="Shape 16"/>
          <p:cNvSpPr/>
          <p:nvPr/>
        </p:nvSpPr>
        <p:spPr>
          <a:xfrm>
            <a:off x="4297680" y="1843430"/>
            <a:ext cx="4480560" cy="438912"/>
          </a:xfrm>
          <a:prstGeom prst="roundRect">
            <a:avLst>
              <a:gd name="adj" fmla="val 12500"/>
            </a:avLst>
          </a:prstGeom>
          <a:solidFill>
            <a:srgbClr val="F4F2EE"/>
          </a:solidFill>
          <a:ln w="6350">
            <a:solidFill>
              <a:srgbClr val="D9D4CC"/>
            </a:solidFill>
            <a:prstDash val="solid"/>
          </a:ln>
        </p:spPr>
      </p:sp>
      <p:sp>
        <p:nvSpPr>
          <p:cNvPr id="19" name="Text 17"/>
          <p:cNvSpPr txBox="1"/>
          <p:nvPr/>
        </p:nvSpPr>
        <p:spPr>
          <a:xfrm>
            <a:off x="4407408" y="1843430"/>
            <a:ext cx="4261104" cy="43891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Consensus  ·  History  ·  Standards</a:t>
            </a:r>
            <a:endParaRPr lang="en-US" sz="1200" dirty="0"/>
          </a:p>
        </p:txBody>
      </p:sp>
      <p:sp>
        <p:nvSpPr>
          <p:cNvPr id="20" name="Shape 18"/>
          <p:cNvSpPr/>
          <p:nvPr/>
        </p:nvSpPr>
        <p:spPr>
          <a:xfrm flipV="1">
            <a:off x="1783080" y="2653589"/>
            <a:ext cx="502920" cy="295351"/>
          </a:xfrm>
          <a:prstGeom prst="line">
            <a:avLst/>
          </a:prstGeom>
          <a:noFill/>
          <a:ln w="13970">
            <a:solidFill>
              <a:srgbClr val="C9D1DA"/>
            </a:solidFill>
            <a:prstDash val="solid"/>
          </a:ln>
        </p:spPr>
      </p:sp>
      <p:sp>
        <p:nvSpPr>
          <p:cNvPr id="21" name="Shape 19"/>
          <p:cNvSpPr/>
          <p:nvPr/>
        </p:nvSpPr>
        <p:spPr>
          <a:xfrm>
            <a:off x="2331720" y="2415845"/>
            <a:ext cx="1691640" cy="475488"/>
          </a:xfrm>
          <a:prstGeom prst="roundRect">
            <a:avLst>
              <a:gd name="adj" fmla="val 15385"/>
            </a:avLst>
          </a:prstGeom>
          <a:solidFill>
            <a:srgbClr val="3A4250"/>
          </a:solidFill>
          <a:ln w="9525">
            <a:solidFill>
              <a:srgbClr val="D9D4CC"/>
            </a:solidFill>
            <a:prstDash val="solid"/>
          </a:ln>
        </p:spPr>
      </p:sp>
      <p:sp>
        <p:nvSpPr>
          <p:cNvPr id="22" name="Text 20"/>
          <p:cNvSpPr txBox="1"/>
          <p:nvPr/>
        </p:nvSpPr>
        <p:spPr>
          <a:xfrm>
            <a:off x="2386584" y="2415845"/>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3" name="Shape 21"/>
          <p:cNvSpPr/>
          <p:nvPr/>
        </p:nvSpPr>
        <p:spPr>
          <a:xfrm>
            <a:off x="4023360" y="2653589"/>
            <a:ext cx="274320" cy="0"/>
          </a:xfrm>
          <a:prstGeom prst="line">
            <a:avLst/>
          </a:prstGeom>
          <a:noFill/>
          <a:ln w="13970">
            <a:solidFill>
              <a:srgbClr val="C9D1DA"/>
            </a:solidFill>
            <a:prstDash val="solid"/>
          </a:ln>
        </p:spPr>
      </p:sp>
      <p:sp>
        <p:nvSpPr>
          <p:cNvPr id="24" name="Shape 22"/>
          <p:cNvSpPr/>
          <p:nvPr/>
        </p:nvSpPr>
        <p:spPr>
          <a:xfrm>
            <a:off x="4297680" y="2434133"/>
            <a:ext cx="4480560" cy="438912"/>
          </a:xfrm>
          <a:prstGeom prst="roundRect">
            <a:avLst>
              <a:gd name="adj" fmla="val 12500"/>
            </a:avLst>
          </a:prstGeom>
          <a:solidFill>
            <a:srgbClr val="F4F2EE"/>
          </a:solidFill>
          <a:ln w="6350">
            <a:solidFill>
              <a:srgbClr val="D9D4CC"/>
            </a:solidFill>
            <a:prstDash val="solid"/>
          </a:ln>
        </p:spPr>
      </p:sp>
      <p:sp>
        <p:nvSpPr>
          <p:cNvPr id="25" name="Text 23"/>
          <p:cNvSpPr txBox="1"/>
          <p:nvPr/>
        </p:nvSpPr>
        <p:spPr>
          <a:xfrm>
            <a:off x="4407408" y="2434133"/>
            <a:ext cx="4261104" cy="43891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6" name="Shape 24"/>
          <p:cNvSpPr/>
          <p:nvPr/>
        </p:nvSpPr>
        <p:spPr>
          <a:xfrm>
            <a:off x="1783080" y="2948940"/>
            <a:ext cx="502920" cy="295351"/>
          </a:xfrm>
          <a:prstGeom prst="line">
            <a:avLst/>
          </a:prstGeom>
          <a:noFill/>
          <a:ln w="13970">
            <a:solidFill>
              <a:srgbClr val="C9D1DA"/>
            </a:solidFill>
            <a:prstDash val="solid"/>
          </a:ln>
        </p:spPr>
      </p:sp>
      <p:sp>
        <p:nvSpPr>
          <p:cNvPr id="27" name="Shape 25"/>
          <p:cNvSpPr/>
          <p:nvPr/>
        </p:nvSpPr>
        <p:spPr>
          <a:xfrm>
            <a:off x="2331720" y="3006547"/>
            <a:ext cx="1691640" cy="475488"/>
          </a:xfrm>
          <a:prstGeom prst="roundRect">
            <a:avLst>
              <a:gd name="adj" fmla="val 15385"/>
            </a:avLst>
          </a:prstGeom>
          <a:solidFill>
            <a:srgbClr val="3A4250"/>
          </a:solidFill>
          <a:ln w="9525">
            <a:solidFill>
              <a:srgbClr val="D9D4CC"/>
            </a:solidFill>
            <a:prstDash val="solid"/>
          </a:ln>
        </p:spPr>
      </p:sp>
      <p:sp>
        <p:nvSpPr>
          <p:cNvPr id="28" name="Text 26"/>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29" name="Shape 27"/>
          <p:cNvSpPr/>
          <p:nvPr/>
        </p:nvSpPr>
        <p:spPr>
          <a:xfrm>
            <a:off x="4023360" y="3244291"/>
            <a:ext cx="274320" cy="0"/>
          </a:xfrm>
          <a:prstGeom prst="line">
            <a:avLst/>
          </a:prstGeom>
          <a:noFill/>
          <a:ln w="13970">
            <a:solidFill>
              <a:srgbClr val="C9D1DA"/>
            </a:solidFill>
            <a:prstDash val="solid"/>
          </a:ln>
        </p:spPr>
      </p:sp>
      <p:sp>
        <p:nvSpPr>
          <p:cNvPr id="30" name="Shape 28"/>
          <p:cNvSpPr/>
          <p:nvPr/>
        </p:nvSpPr>
        <p:spPr>
          <a:xfrm>
            <a:off x="4297680" y="3024835"/>
            <a:ext cx="4480560" cy="438912"/>
          </a:xfrm>
          <a:prstGeom prst="roundRect">
            <a:avLst>
              <a:gd name="adj" fmla="val 12500"/>
            </a:avLst>
          </a:prstGeom>
          <a:solidFill>
            <a:srgbClr val="F4F2EE"/>
          </a:solidFill>
          <a:ln w="6350">
            <a:solidFill>
              <a:srgbClr val="D9D4CC"/>
            </a:solidFill>
            <a:prstDash val="solid"/>
          </a:ln>
        </p:spPr>
      </p:sp>
      <p:sp>
        <p:nvSpPr>
          <p:cNvPr id="31" name="Text 29"/>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2" name="Shape 30"/>
          <p:cNvSpPr/>
          <p:nvPr/>
        </p:nvSpPr>
        <p:spPr>
          <a:xfrm>
            <a:off x="1783080" y="2948940"/>
            <a:ext cx="502920" cy="886054"/>
          </a:xfrm>
          <a:prstGeom prst="line">
            <a:avLst/>
          </a:prstGeom>
          <a:noFill/>
          <a:ln w="13970">
            <a:solidFill>
              <a:srgbClr val="C9D1DA"/>
            </a:solidFill>
            <a:prstDash val="solid"/>
          </a:ln>
        </p:spPr>
      </p:sp>
      <p:sp>
        <p:nvSpPr>
          <p:cNvPr id="33" name="Shape 31"/>
          <p:cNvSpPr/>
          <p:nvPr/>
        </p:nvSpPr>
        <p:spPr>
          <a:xfrm>
            <a:off x="2331720" y="3597250"/>
            <a:ext cx="1691640" cy="475488"/>
          </a:xfrm>
          <a:prstGeom prst="roundRect">
            <a:avLst>
              <a:gd name="adj" fmla="val 15385"/>
            </a:avLst>
          </a:prstGeom>
          <a:solidFill>
            <a:srgbClr val="3A4250"/>
          </a:solidFill>
          <a:ln w="9525">
            <a:solidFill>
              <a:srgbClr val="D9D4CC"/>
            </a:solidFill>
            <a:prstDash val="solid"/>
          </a:ln>
        </p:spPr>
      </p:sp>
      <p:sp>
        <p:nvSpPr>
          <p:cNvPr id="34" name="Text 32"/>
          <p:cNvSpPr txBox="1"/>
          <p:nvPr/>
        </p:nvSpPr>
        <p:spPr>
          <a:xfrm>
            <a:off x="2386584" y="359725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5" name="Shape 33"/>
          <p:cNvSpPr/>
          <p:nvPr/>
        </p:nvSpPr>
        <p:spPr>
          <a:xfrm>
            <a:off x="4023360" y="3834994"/>
            <a:ext cx="274320" cy="0"/>
          </a:xfrm>
          <a:prstGeom prst="line">
            <a:avLst/>
          </a:prstGeom>
          <a:noFill/>
          <a:ln w="13970">
            <a:solidFill>
              <a:srgbClr val="C9D1DA"/>
            </a:solidFill>
            <a:prstDash val="solid"/>
          </a:ln>
        </p:spPr>
      </p:sp>
      <p:sp>
        <p:nvSpPr>
          <p:cNvPr id="36" name="Shape 34"/>
          <p:cNvSpPr/>
          <p:nvPr/>
        </p:nvSpPr>
        <p:spPr>
          <a:xfrm>
            <a:off x="4297680" y="3615538"/>
            <a:ext cx="4480560" cy="438912"/>
          </a:xfrm>
          <a:prstGeom prst="roundRect">
            <a:avLst>
              <a:gd name="adj" fmla="val 12500"/>
            </a:avLst>
          </a:prstGeom>
          <a:solidFill>
            <a:srgbClr val="F4F2EE"/>
          </a:solidFill>
          <a:ln w="6350">
            <a:solidFill>
              <a:srgbClr val="D9D4CC"/>
            </a:solidFill>
            <a:prstDash val="solid"/>
          </a:ln>
        </p:spPr>
      </p:sp>
      <p:sp>
        <p:nvSpPr>
          <p:cNvPr id="37" name="Text 35"/>
          <p:cNvSpPr txBox="1"/>
          <p:nvPr/>
        </p:nvSpPr>
        <p:spPr>
          <a:xfrm>
            <a:off x="4407408" y="3615538"/>
            <a:ext cx="4261104" cy="43891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Cryptography  ·  Chain  ·  Computing  ·  Threats</a:t>
            </a:r>
            <a:endParaRPr lang="en-US" sz="1200" dirty="0"/>
          </a:p>
        </p:txBody>
      </p:sp>
      <p:sp>
        <p:nvSpPr>
          <p:cNvPr id="38" name="Shape 36"/>
          <p:cNvSpPr/>
          <p:nvPr/>
        </p:nvSpPr>
        <p:spPr>
          <a:xfrm>
            <a:off x="1783080" y="2948940"/>
            <a:ext cx="502920" cy="1476756"/>
          </a:xfrm>
          <a:prstGeom prst="line">
            <a:avLst/>
          </a:prstGeom>
          <a:noFill/>
          <a:ln w="13970">
            <a:solidFill>
              <a:srgbClr val="C9D1DA"/>
            </a:solidFill>
            <a:prstDash val="solid"/>
          </a:ln>
        </p:spPr>
      </p:sp>
      <p:sp>
        <p:nvSpPr>
          <p:cNvPr id="39" name="Shape 37"/>
          <p:cNvSpPr/>
          <p:nvPr/>
        </p:nvSpPr>
        <p:spPr>
          <a:xfrm>
            <a:off x="2331720" y="4187952"/>
            <a:ext cx="1691640" cy="475488"/>
          </a:xfrm>
          <a:prstGeom prst="roundRect">
            <a:avLst>
              <a:gd name="adj" fmla="val 15385"/>
            </a:avLst>
          </a:prstGeom>
          <a:solidFill>
            <a:srgbClr val="3A4250"/>
          </a:solidFill>
          <a:ln w="9525">
            <a:solidFill>
              <a:srgbClr val="D9D4CC"/>
            </a:solidFill>
            <a:prstDash val="solid"/>
          </a:ln>
        </p:spPr>
      </p:sp>
      <p:sp>
        <p:nvSpPr>
          <p:cNvPr id="40" name="Text 38"/>
          <p:cNvSpPr txBox="1"/>
          <p:nvPr/>
        </p:nvSpPr>
        <p:spPr>
          <a:xfrm>
            <a:off x="2386584" y="41879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1" name="Shape 39"/>
          <p:cNvSpPr/>
          <p:nvPr/>
        </p:nvSpPr>
        <p:spPr>
          <a:xfrm>
            <a:off x="4023360" y="4425696"/>
            <a:ext cx="274320" cy="0"/>
          </a:xfrm>
          <a:prstGeom prst="line">
            <a:avLst/>
          </a:prstGeom>
          <a:noFill/>
          <a:ln w="13970">
            <a:solidFill>
              <a:srgbClr val="C9D1DA"/>
            </a:solidFill>
            <a:prstDash val="solid"/>
          </a:ln>
        </p:spPr>
      </p:sp>
      <p:sp>
        <p:nvSpPr>
          <p:cNvPr id="42" name="Shape 40"/>
          <p:cNvSpPr/>
          <p:nvPr/>
        </p:nvSpPr>
        <p:spPr>
          <a:xfrm>
            <a:off x="4297680" y="4206240"/>
            <a:ext cx="4480560" cy="438912"/>
          </a:xfrm>
          <a:prstGeom prst="roundRect">
            <a:avLst>
              <a:gd name="adj" fmla="val 12500"/>
            </a:avLst>
          </a:prstGeom>
          <a:solidFill>
            <a:srgbClr val="F4F2EE"/>
          </a:solidFill>
          <a:ln w="6350">
            <a:solidFill>
              <a:srgbClr val="D9D4CC"/>
            </a:solidFill>
            <a:prstDash val="solid"/>
          </a:ln>
        </p:spPr>
      </p:sp>
      <p:sp>
        <p:nvSpPr>
          <p:cNvPr id="43" name="Text 41"/>
          <p:cNvSpPr txBox="1"/>
          <p:nvPr/>
        </p:nvSpPr>
        <p:spPr>
          <a:xfrm>
            <a:off x="4407408" y="4206240"/>
            <a:ext cx="4261104" cy="43891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Characteristic  ·  Architecture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Money</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5" name="Shape 3"/>
          <p:cNvSpPr/>
          <p:nvPr/>
        </p:nvSpPr>
        <p:spPr>
          <a:xfrm>
            <a:off x="777240" y="2697480"/>
            <a:ext cx="1856232" cy="1737360"/>
          </a:xfrm>
          <a:prstGeom prst="roundRect">
            <a:avLst>
              <a:gd name="adj" fmla="val 4211"/>
            </a:avLst>
          </a:prstGeom>
          <a:solidFill>
            <a:srgbClr val="3A4250"/>
          </a:solidFill>
          <a:ln w="12700">
            <a:solidFill>
              <a:srgbClr val="F7931A"/>
            </a:solidFill>
            <a:prstDash val="solid"/>
          </a:ln>
        </p:spPr>
      </p:sp>
      <p:sp>
        <p:nvSpPr>
          <p:cNvPr id="6" name="Text 4"/>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pPr algn="ctr" indent="0" marL="0">
              <a:buNone/>
            </a:pPr>
            <a:endParaRPr lang="en-US" sz="1400" dirty="0"/>
          </a:p>
        </p:txBody>
      </p:sp>
      <p:sp>
        <p:nvSpPr>
          <p:cNvPr id="7" name="Shape 5"/>
          <p:cNvSpPr/>
          <p:nvPr/>
        </p:nvSpPr>
        <p:spPr>
          <a:xfrm>
            <a:off x="2779776" y="2697480"/>
            <a:ext cx="1856232" cy="1737360"/>
          </a:xfrm>
          <a:prstGeom prst="roundRect">
            <a:avLst>
              <a:gd name="adj" fmla="val 4211"/>
            </a:avLst>
          </a:prstGeom>
          <a:solidFill>
            <a:srgbClr val="3A4250"/>
          </a:solidFill>
          <a:ln w="12700">
            <a:solidFill>
              <a:srgbClr val="F7931A"/>
            </a:solidFill>
            <a:prstDash val="solid"/>
          </a:ln>
        </p:spPr>
      </p:sp>
      <p:sp>
        <p:nvSpPr>
          <p:cNvPr id="8" name="Text 6"/>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pPr algn="ctr" indent="0" marL="0">
              <a:buNone/>
            </a:pPr>
            <a:endParaRPr lang="en-US" sz="1400" dirty="0"/>
          </a:p>
        </p:txBody>
      </p:sp>
      <p:sp>
        <p:nvSpPr>
          <p:cNvPr id="9" name="Shape 7"/>
          <p:cNvSpPr/>
          <p:nvPr/>
        </p:nvSpPr>
        <p:spPr>
          <a:xfrm>
            <a:off x="4782312" y="2697480"/>
            <a:ext cx="1856232" cy="1737360"/>
          </a:xfrm>
          <a:prstGeom prst="roundRect">
            <a:avLst>
              <a:gd name="adj" fmla="val 4211"/>
            </a:avLst>
          </a:prstGeom>
          <a:solidFill>
            <a:srgbClr val="3A4250"/>
          </a:solidFill>
          <a:ln w="12700">
            <a:solidFill>
              <a:srgbClr val="F7931A"/>
            </a:solidFill>
            <a:prstDash val="solid"/>
          </a:ln>
        </p:spPr>
      </p:sp>
      <p:sp>
        <p:nvSpPr>
          <p:cNvPr id="10" name="Text 8"/>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pPr algn="ctr" indent="0" marL="0">
              <a:buNone/>
            </a:pPr>
            <a:endParaRPr lang="en-US" sz="1400" dirty="0"/>
          </a:p>
        </p:txBody>
      </p:sp>
      <p:sp>
        <p:nvSpPr>
          <p:cNvPr id="11" name="Shape 9"/>
          <p:cNvSpPr/>
          <p:nvPr/>
        </p:nvSpPr>
        <p:spPr>
          <a:xfrm>
            <a:off x="6784848" y="2697480"/>
            <a:ext cx="1856232" cy="1737360"/>
          </a:xfrm>
          <a:prstGeom prst="roundRect">
            <a:avLst>
              <a:gd name="adj" fmla="val 4211"/>
            </a:avLst>
          </a:prstGeom>
          <a:solidFill>
            <a:srgbClr val="3A4250"/>
          </a:solidFill>
          <a:ln w="12700">
            <a:solidFill>
              <a:srgbClr val="F7931A"/>
            </a:solidFill>
            <a:prstDash val="solid"/>
          </a:ln>
        </p:spPr>
      </p:sp>
      <p:sp>
        <p:nvSpPr>
          <p:cNvPr id="12" name="Text 10"/>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pPr algn="ctr" indent="0" marL="0">
              <a:buNone/>
            </a:pP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3A4250"/>
          </a:solidFill>
          <a:ln w="12700">
            <a:solidFill>
              <a:srgbClr val="F7931A"/>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C9D1DA"/>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F7931A"/>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3A4250"/>
          </a:solidFill>
          <a:ln w="12700">
            <a:solidFill>
              <a:srgbClr val="F7931A"/>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C9D1DA"/>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F7931A"/>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3A4250"/>
          </a:solidFill>
          <a:ln w="12700">
            <a:solidFill>
              <a:srgbClr val="F7931A"/>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C9D1DA"/>
                </a:solidFill>
                <a:latin typeface="Calibri" pitchFamily="34" charset="0"/>
                <a:ea typeface="Calibri" pitchFamily="34" charset="-122"/>
                <a:cs typeface="Calibri" pitchFamily="34" charset="-120"/>
              </a:rPr>
              <a:t>the smallest unit</a:t>
            </a:r>
            <a:endParaRPr lang="en-US" sz="1300" dirty="0"/>
          </a:p>
        </p:txBody>
      </p:sp>
      <p:sp>
        <p:nvSpPr>
          <p:cNvPr id="14" name="Shape 12"/>
          <p:cNvSpPr/>
          <p:nvPr/>
        </p:nvSpPr>
        <p:spPr>
          <a:xfrm>
            <a:off x="457200" y="2743200"/>
            <a:ext cx="5120640" cy="1005840"/>
          </a:xfrm>
          <a:prstGeom prst="roundRect">
            <a:avLst>
              <a:gd name="adj" fmla="val 9091"/>
            </a:avLst>
          </a:prstGeom>
          <a:solidFill>
            <a:srgbClr val="15191E"/>
          </a:solidFill>
          <a:ln w="12700">
            <a:solidFill>
              <a:srgbClr val="15191E"/>
            </a:solidFill>
            <a:prstDash val="solid"/>
          </a:ln>
        </p:spPr>
      </p:sp>
      <p:sp>
        <p:nvSpPr>
          <p:cNvPr id="15" name="Text 13"/>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int(decimal.Decimal('0.001')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6" name="Text 14"/>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7" name="Shape 15"/>
          <p:cNvSpPr/>
          <p:nvPr/>
        </p:nvSpPr>
        <p:spPr>
          <a:xfrm>
            <a:off x="5852160" y="2743200"/>
            <a:ext cx="2834640" cy="1371600"/>
          </a:xfrm>
          <a:prstGeom prst="roundRect">
            <a:avLst>
              <a:gd name="adj" fmla="val 5333"/>
            </a:avLst>
          </a:prstGeom>
          <a:solidFill>
            <a:srgbClr val="F4F2EE"/>
          </a:solidFill>
          <a:ln w="12700">
            <a:solidFill>
              <a:srgbClr val="D9D4CC"/>
            </a:solidFill>
            <a:prstDash val="solid"/>
          </a:ln>
        </p:spPr>
      </p:sp>
      <p:sp>
        <p:nvSpPr>
          <p:cNvPr id="18" name="Text 16"/>
          <p:cNvSpPr txBox="1"/>
          <p:nvPr/>
        </p:nvSpPr>
        <p:spPr>
          <a:xfrm>
            <a:off x="5961888" y="2816352"/>
            <a:ext cx="2615184" cy="685800"/>
          </a:xfrm>
          <a:prstGeom prst="rect">
            <a:avLst/>
          </a:prstGeom>
          <a:noFill/>
          <a:ln/>
        </p:spPr>
        <p:txBody>
          <a:bodyPr wrap="square" lIns="0" tIns="0" rIns="0" bIns="0" rtlCol="0" anchor="ctr"/>
          <a:lstStyle/>
          <a:p>
            <a:pPr indent="0" marL="0">
              <a:buNone/>
            </a:pPr>
            <a:r>
              <a:rPr lang="en-US" sz="2800" b="1" dirty="0">
                <a:solidFill>
                  <a:srgbClr val="F7931A"/>
                </a:solidFill>
                <a:latin typeface="Cambria" pitchFamily="34" charset="0"/>
                <a:ea typeface="Cambria" pitchFamily="34" charset="-122"/>
                <a:cs typeface="Cambria" pitchFamily="34" charset="-120"/>
              </a:rPr>
              <a:t>100000</a:t>
            </a:r>
            <a:endParaRPr lang="en-US" sz="2800" dirty="0"/>
          </a:p>
        </p:txBody>
      </p:sp>
      <p:sp>
        <p:nvSpPr>
          <p:cNvPr id="19" name="Text 17"/>
          <p:cNvSpPr txBox="1"/>
          <p:nvPr/>
        </p:nvSpPr>
        <p:spPr>
          <a:xfrm>
            <a:off x="5961888" y="3456432"/>
            <a:ext cx="2615184" cy="603504"/>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satoshis in 0.001 BTC - the slide ran it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325880"/>
            <a:ext cx="2926080" cy="996696"/>
          </a:xfrm>
          <a:prstGeom prst="roundRect">
            <a:avLst>
              <a:gd name="adj" fmla="val 7339"/>
            </a:avLst>
          </a:prstGeom>
          <a:solidFill>
            <a:srgbClr val="F4F2EE"/>
          </a:solidFill>
          <a:ln w="12700">
            <a:solidFill>
              <a:srgbClr val="D9D4CC"/>
            </a:solidFill>
            <a:prstDash val="solid"/>
          </a:ln>
        </p:spPr>
      </p:sp>
      <p:sp>
        <p:nvSpPr>
          <p:cNvPr id="8" name="Text 5"/>
          <p:cNvSpPr txBox="1"/>
          <p:nvPr/>
        </p:nvSpPr>
        <p:spPr>
          <a:xfrm>
            <a:off x="5870448" y="1362456"/>
            <a:ext cx="2706624" cy="518282"/>
          </a:xfrm>
          <a:prstGeom prst="rect">
            <a:avLst/>
          </a:prstGeom>
          <a:noFill/>
          <a:ln/>
        </p:spPr>
        <p:txBody>
          <a:bodyPr wrap="square" lIns="0" tIns="0" rIns="0" bIns="0" rtlCol="0" anchor="ctr"/>
          <a:lstStyle/>
          <a:p>
            <a:pPr indent="0" marL="0">
              <a:buNone/>
            </a:pPr>
            <a:r>
              <a:rPr lang="en-US" sz="2600" b="1" dirty="0">
                <a:solidFill>
                  <a:srgbClr val="F7931A"/>
                </a:solidFill>
                <a:latin typeface="Cambria" pitchFamily="34" charset="0"/>
                <a:ea typeface="Cambria" pitchFamily="34" charset="-122"/>
                <a:cs typeface="Cambria" pitchFamily="34" charset="-120"/>
              </a:rPr>
              <a:t>210,000</a:t>
            </a:r>
            <a:endParaRPr lang="en-US" sz="2600" dirty="0"/>
          </a:p>
        </p:txBody>
      </p:sp>
      <p:sp>
        <p:nvSpPr>
          <p:cNvPr id="9" name="Text 6"/>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5B6B7B"/>
                </a:solidFill>
                <a:latin typeface="Calibri" pitchFamily="34" charset="0"/>
                <a:ea typeface="Calibri" pitchFamily="34" charset="-122"/>
                <a:cs typeface="Calibri" pitchFamily="34" charset="-120"/>
              </a:rPr>
              <a:t>blocks between halvings</a:t>
            </a:r>
            <a:endParaRPr lang="en-US" sz="1100" dirty="0"/>
          </a:p>
        </p:txBody>
      </p:sp>
      <p:sp>
        <p:nvSpPr>
          <p:cNvPr id="10" name="Shape 7"/>
          <p:cNvSpPr/>
          <p:nvPr/>
        </p:nvSpPr>
        <p:spPr>
          <a:xfrm>
            <a:off x="5760720" y="2450592"/>
            <a:ext cx="2926080" cy="996696"/>
          </a:xfrm>
          <a:prstGeom prst="roundRect">
            <a:avLst>
              <a:gd name="adj" fmla="val 7339"/>
            </a:avLst>
          </a:prstGeom>
          <a:solidFill>
            <a:srgbClr val="F4F2EE"/>
          </a:solidFill>
          <a:ln w="12700">
            <a:solidFill>
              <a:srgbClr val="D9D4CC"/>
            </a:solidFill>
            <a:prstDash val="solid"/>
          </a:ln>
        </p:spPr>
      </p:sp>
      <p:sp>
        <p:nvSpPr>
          <p:cNvPr id="11" name="Text 8"/>
          <p:cNvSpPr txBox="1"/>
          <p:nvPr/>
        </p:nvSpPr>
        <p:spPr>
          <a:xfrm>
            <a:off x="5870448" y="2487168"/>
            <a:ext cx="2706624" cy="518282"/>
          </a:xfrm>
          <a:prstGeom prst="rect">
            <a:avLst/>
          </a:prstGeom>
          <a:noFill/>
          <a:ln/>
        </p:spPr>
        <p:txBody>
          <a:bodyPr wrap="square" lIns="0" tIns="0" rIns="0" bIns="0" rtlCol="0" anchor="ctr"/>
          <a:lstStyle/>
          <a:p>
            <a:pPr indent="0" marL="0">
              <a:buNone/>
            </a:pPr>
            <a:r>
              <a:rPr lang="en-US" sz="2000" b="1" dirty="0">
                <a:solidFill>
                  <a:srgbClr val="F7931A"/>
                </a:solidFill>
                <a:latin typeface="Cambria" pitchFamily="34" charset="0"/>
                <a:ea typeface="Cambria" pitchFamily="34" charset="-122"/>
                <a:cs typeface="Cambria" pitchFamily="34" charset="-120"/>
              </a:rPr>
              <a:t>20999999.9769</a:t>
            </a:r>
            <a:endParaRPr lang="en-US" sz="2000" dirty="0"/>
          </a:p>
        </p:txBody>
      </p:sp>
      <p:sp>
        <p:nvSpPr>
          <p:cNvPr id="12" name="Text 9"/>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5B6B7B"/>
                </a:solidFill>
                <a:latin typeface="Calibri" pitchFamily="34" charset="0"/>
                <a:ea typeface="Calibri" pitchFamily="34" charset="-122"/>
                <a:cs typeface="Calibri" pitchFamily="34" charset="-120"/>
              </a:rPr>
              <a:t>the sum of every era's issuance</a:t>
            </a:r>
            <a:endParaRPr lang="en-US" sz="1100" dirty="0"/>
          </a:p>
        </p:txBody>
      </p:sp>
      <p:sp>
        <p:nvSpPr>
          <p:cNvPr id="13" name="Shape 10"/>
          <p:cNvSpPr/>
          <p:nvPr/>
        </p:nvSpPr>
        <p:spPr>
          <a:xfrm>
            <a:off x="5760720" y="3575304"/>
            <a:ext cx="2926080" cy="996696"/>
          </a:xfrm>
          <a:prstGeom prst="roundRect">
            <a:avLst>
              <a:gd name="adj" fmla="val 7339"/>
            </a:avLst>
          </a:prstGeom>
          <a:solidFill>
            <a:srgbClr val="F4F2EE"/>
          </a:solidFill>
          <a:ln w="12700">
            <a:solidFill>
              <a:srgbClr val="D9D4CC"/>
            </a:solidFill>
            <a:prstDash val="solid"/>
          </a:ln>
        </p:spPr>
      </p:sp>
      <p:sp>
        <p:nvSpPr>
          <p:cNvPr id="14" name="Text 11"/>
          <p:cNvSpPr txBox="1"/>
          <p:nvPr/>
        </p:nvSpPr>
        <p:spPr>
          <a:xfrm>
            <a:off x="5870448" y="3611880"/>
            <a:ext cx="2706624" cy="518282"/>
          </a:xfrm>
          <a:prstGeom prst="rect">
            <a:avLst/>
          </a:prstGeom>
          <a:noFill/>
          <a:ln/>
        </p:spPr>
        <p:txBody>
          <a:bodyPr wrap="square" lIns="0" tIns="0" rIns="0" bIns="0" rtlCol="0" anchor="ctr"/>
          <a:lstStyle/>
          <a:p>
            <a:pPr indent="0" marL="0">
              <a:buNone/>
            </a:pPr>
            <a:r>
              <a:rPr lang="en-US" sz="2600" b="1" dirty="0">
                <a:solidFill>
                  <a:srgbClr val="F7931A"/>
                </a:solidFill>
                <a:latin typeface="Cambria" pitchFamily="34" charset="0"/>
                <a:ea typeface="Cambria" pitchFamily="34" charset="-122"/>
                <a:cs typeface="Cambria" pitchFamily="34" charset="-120"/>
              </a:rPr>
              <a:t>~2140</a:t>
            </a:r>
            <a:endParaRPr lang="en-US" sz="2600" dirty="0"/>
          </a:p>
        </p:txBody>
      </p:sp>
      <p:sp>
        <p:nvSpPr>
          <p:cNvPr id="15" name="Text 12"/>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5B6B7B"/>
                </a:solidFill>
                <a:latin typeface="Calibri" pitchFamily="34" charset="0"/>
                <a:ea typeface="Calibri" pitchFamily="34" charset="-122"/>
                <a:cs typeface="Calibri" pitchFamily="34" charset="-120"/>
              </a:rPr>
              <a:t>the year issuance ends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Shape 4"/>
          <p:cNvSpPr/>
          <p:nvPr/>
        </p:nvSpPr>
        <p:spPr>
          <a:xfrm>
            <a:off x="457200" y="1325880"/>
            <a:ext cx="8229600" cy="960120"/>
          </a:xfrm>
          <a:prstGeom prst="roundRect">
            <a:avLst>
              <a:gd name="adj" fmla="val 9524"/>
            </a:avLst>
          </a:prstGeom>
          <a:solidFill>
            <a:srgbClr val="15191E"/>
          </a:solidFill>
          <a:ln w="12700">
            <a:solidFill>
              <a:srgbClr val="15191E"/>
            </a:solidFill>
            <a:prstDash val="solid"/>
          </a:ln>
        </p:spPr>
      </p:sp>
      <p:sp>
        <p:nvSpPr>
          <p:cNvPr id="7" name="Text 5"/>
          <p:cNvSpPr txBox="1"/>
          <p:nvPr/>
        </p:nvSpPr>
        <p:spPr>
          <a:xfrm>
            <a:off x="640080" y="1444752"/>
            <a:ext cx="7863840" cy="72237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8" name="Text 6"/>
          <p:cNvSpPr txBox="1"/>
          <p:nvPr/>
        </p:nvSpPr>
        <p:spPr>
          <a:xfrm>
            <a:off x="457200" y="230428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2468880"/>
            <a:ext cx="8229600" cy="960120"/>
          </a:xfrm>
          <a:prstGeom prst="roundRect">
            <a:avLst>
              <a:gd name="adj" fmla="val 9524"/>
            </a:avLst>
          </a:prstGeom>
          <a:solidFill>
            <a:srgbClr val="15191E"/>
          </a:solidFill>
          <a:ln w="12700">
            <a:solidFill>
              <a:srgbClr val="15191E"/>
            </a:solidFill>
            <a:prstDash val="solid"/>
          </a:ln>
        </p:spPr>
      </p:sp>
      <p:sp>
        <p:nvSpPr>
          <p:cNvPr id="10" name="Text 8"/>
          <p:cNvSpPr txBox="1"/>
          <p:nvPr/>
        </p:nvSpPr>
        <p:spPr>
          <a:xfrm>
            <a:off x="640080" y="2587752"/>
            <a:ext cx="7863840" cy="72237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840000 // 210000)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11" name="Text 9"/>
          <p:cNvSpPr txBox="1"/>
          <p:nvPr/>
        </p:nvSpPr>
        <p:spPr>
          <a:xfrm>
            <a:off x="457200" y="344728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611880"/>
            <a:ext cx="8229600" cy="960120"/>
          </a:xfrm>
          <a:prstGeom prst="roundRect">
            <a:avLst>
              <a:gd name="adj" fmla="val 9524"/>
            </a:avLst>
          </a:prstGeom>
          <a:solidFill>
            <a:srgbClr val="15191E"/>
          </a:solidFill>
          <a:ln w="12700">
            <a:solidFill>
              <a:srgbClr val="15191E"/>
            </a:solidFill>
            <a:prstDash val="solid"/>
          </a:ln>
        </p:spPr>
      </p:sp>
      <p:sp>
        <p:nvSpPr>
          <p:cNvPr id="13" name="Text 11"/>
          <p:cNvSpPr txBox="1"/>
          <p:nvPr/>
        </p:nvSpPr>
        <p:spPr>
          <a:xfrm>
            <a:off x="640080" y="3730752"/>
            <a:ext cx="7863840" cy="72237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h // 210000) / 10**8 for h in (0, 210000, 420000, 630000, 840000)]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[50.0, 25.0, 12.5, 6.25, 3.125]</a:t>
            </a:r>
            <a:endParaRPr lang="en-US" sz="1100" dirty="0"/>
          </a:p>
        </p:txBody>
      </p:sp>
      <p:sp>
        <p:nvSpPr>
          <p:cNvPr id="14" name="Text 12"/>
          <p:cNvSpPr txBox="1"/>
          <p:nvPr/>
        </p:nvSpPr>
        <p:spPr>
          <a:xfrm>
            <a:off x="457200" y="459028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No authority sets an exchange rate</a:t>
            </a:r>
            <a:endParaRPr lang="en-US" sz="1300" dirty="0"/>
          </a:p>
        </p:txBody>
      </p:sp>
      <p:sp>
        <p:nvSpPr>
          <p:cNvPr id="6" name="Text 4"/>
          <p:cNvSpPr txBox="1"/>
          <p:nvPr/>
        </p:nvSpPr>
        <p:spPr>
          <a:xfrm>
            <a:off x="457200" y="1371600"/>
            <a:ext cx="4023360" cy="31089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F2933"/>
                </a:solidFill>
                <a:latin typeface="Calibri" pitchFamily="34" charset="0"/>
                <a:ea typeface="Calibri" pitchFamily="34" charset="-122"/>
                <a:cs typeface="Calibri" pitchFamily="34" charset="-120"/>
              </a:rPr>
              <a:t>Bitcoin floats against every other currency</a:t>
            </a:r>
            <a:endParaRPr lang="en-US" sz="1500" dirty="0"/>
          </a:p>
          <a:p>
            <a:pPr marL="342900" indent="-342900">
              <a:spcAft>
                <a:spcPts val="400"/>
              </a:spcAft>
              <a:buSzPct val="100000"/>
              <a:buChar char="•"/>
            </a:pPr>
            <a:r>
              <a:rPr lang="en-US" sz="1500" dirty="0">
                <a:solidFill>
                  <a:srgbClr val="1F2933"/>
                </a:solidFill>
                <a:latin typeface="Calibri" pitchFamily="34" charset="0"/>
                <a:ea typeface="Calibri" pitchFamily="34" charset="-122"/>
                <a:cs typeface="Calibri" pitchFamily="34" charset="-120"/>
              </a:rPr>
              <a:t>Markets discover the price trade by trade</a:t>
            </a:r>
            <a:endParaRPr lang="en-US" sz="1500" dirty="0"/>
          </a:p>
          <a:p>
            <a:pPr marL="342900" indent="-342900">
              <a:spcAft>
                <a:spcPts val="400"/>
              </a:spcAft>
              <a:buSzPct val="100000"/>
              <a:buChar char="•"/>
            </a:pPr>
            <a:r>
              <a:rPr lang="en-US" sz="1500" dirty="0">
                <a:solidFill>
                  <a:srgbClr val="1F2933"/>
                </a:solidFill>
                <a:latin typeface="Calibri" pitchFamily="34" charset="0"/>
                <a:ea typeface="Calibri" pitchFamily="34" charset="-122"/>
                <a:cs typeface="Calibri" pitchFamily="34" charset="-120"/>
              </a:rPr>
              <a:t>A volume-weighted average summarises a day</a:t>
            </a:r>
            <a:endParaRPr lang="en-US" sz="1500" dirty="0"/>
          </a:p>
        </p:txBody>
      </p:sp>
      <p:sp>
        <p:nvSpPr>
          <p:cNvPr id="7" name="Shape 5"/>
          <p:cNvSpPr/>
          <p:nvPr/>
        </p:nvSpPr>
        <p:spPr>
          <a:xfrm>
            <a:off x="4663440" y="1371600"/>
            <a:ext cx="4023360" cy="1188720"/>
          </a:xfrm>
          <a:prstGeom prst="roundRect">
            <a:avLst>
              <a:gd name="adj" fmla="val 7692"/>
            </a:avLst>
          </a:prstGeom>
          <a:solidFill>
            <a:srgbClr val="15191E"/>
          </a:solidFill>
          <a:ln w="12700">
            <a:solidFill>
              <a:srgbClr val="15191E"/>
            </a:solidFill>
            <a:prstDash val="solid"/>
          </a:ln>
        </p:spPr>
      </p:sp>
      <p:sp>
        <p:nvSpPr>
          <p:cNvPr id="8" name="Text 6"/>
          <p:cNvSpPr txBox="1"/>
          <p:nvPr/>
        </p:nvSpPr>
        <p:spPr>
          <a:xfrm>
            <a:off x="4846320" y="1490472"/>
            <a:ext cx="3657600" cy="95097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round(0.001 * 60000, 2)</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60.0</a:t>
            </a:r>
            <a:endParaRPr lang="en-US" sz="1100" dirty="0"/>
          </a:p>
        </p:txBody>
      </p:sp>
      <p:sp>
        <p:nvSpPr>
          <p:cNvPr id="9" name="Text 7"/>
          <p:cNvSpPr txBox="1"/>
          <p:nvPr/>
        </p:nvSpPr>
        <p:spPr>
          <a:xfrm>
            <a:off x="4663440" y="2578608"/>
            <a:ext cx="402336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0" name="Shape 8"/>
          <p:cNvSpPr/>
          <p:nvPr/>
        </p:nvSpPr>
        <p:spPr>
          <a:xfrm>
            <a:off x="4663440" y="2834640"/>
            <a:ext cx="4023360" cy="1188720"/>
          </a:xfrm>
          <a:prstGeom prst="roundRect">
            <a:avLst>
              <a:gd name="adj" fmla="val 7692"/>
            </a:avLst>
          </a:prstGeom>
          <a:solidFill>
            <a:srgbClr val="15191E"/>
          </a:solidFill>
          <a:ln w="12700">
            <a:solidFill>
              <a:srgbClr val="15191E"/>
            </a:solidFill>
            <a:prstDash val="solid"/>
          </a:ln>
        </p:spPr>
      </p:sp>
      <p:sp>
        <p:nvSpPr>
          <p:cNvPr id="11" name="Text 9"/>
          <p:cNvSpPr txBox="1"/>
          <p:nvPr/>
        </p:nvSpPr>
        <p:spPr>
          <a:xfrm>
            <a:off x="4846320" y="2953512"/>
            <a:ext cx="3657600" cy="95097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sum(p * v for p, v in [(100, 3), (104, 1)]) / sum(v for p, v in [(100, 3), (104,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101.0</a:t>
            </a:r>
            <a:endParaRPr lang="en-US" sz="1100" dirty="0"/>
          </a:p>
        </p:txBody>
      </p:sp>
      <p:sp>
        <p:nvSpPr>
          <p:cNvPr id="12" name="Text 10"/>
          <p:cNvSpPr txBox="1"/>
          <p:nvPr/>
        </p:nvSpPr>
        <p:spPr>
          <a:xfrm>
            <a:off x="4663440" y="4041648"/>
            <a:ext cx="402336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Network</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No bank in the middle - and what replaces it</a:t>
            </a:r>
            <a:endParaRPr lang="en-US" sz="1500" dirty="0"/>
          </a:p>
        </p:txBody>
      </p:sp>
      <p:sp>
        <p:nvSpPr>
          <p:cNvPr id="5" name="Shape 3"/>
          <p:cNvSpPr/>
          <p:nvPr/>
        </p:nvSpPr>
        <p:spPr>
          <a:xfrm>
            <a:off x="777240" y="2697480"/>
            <a:ext cx="1856232" cy="1737360"/>
          </a:xfrm>
          <a:prstGeom prst="roundRect">
            <a:avLst>
              <a:gd name="adj" fmla="val 4211"/>
            </a:avLst>
          </a:prstGeom>
          <a:solidFill>
            <a:srgbClr val="3A4250"/>
          </a:solidFill>
          <a:ln w="12700">
            <a:solidFill>
              <a:srgbClr val="F7931A"/>
            </a:solidFill>
            <a:prstDash val="solid"/>
          </a:ln>
        </p:spPr>
      </p:sp>
      <p:sp>
        <p:nvSpPr>
          <p:cNvPr id="6" name="Text 4"/>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pPr algn="ctr" indent="0" marL="0">
              <a:buNone/>
            </a:pPr>
            <a:endParaRPr lang="en-US" sz="1400" dirty="0"/>
          </a:p>
        </p:txBody>
      </p:sp>
      <p:sp>
        <p:nvSpPr>
          <p:cNvPr id="7" name="Shape 5"/>
          <p:cNvSpPr/>
          <p:nvPr/>
        </p:nvSpPr>
        <p:spPr>
          <a:xfrm>
            <a:off x="2779776" y="2697480"/>
            <a:ext cx="1856232" cy="1737360"/>
          </a:xfrm>
          <a:prstGeom prst="roundRect">
            <a:avLst>
              <a:gd name="adj" fmla="val 4211"/>
            </a:avLst>
          </a:prstGeom>
          <a:solidFill>
            <a:srgbClr val="3A4250"/>
          </a:solidFill>
          <a:ln w="12700">
            <a:solidFill>
              <a:srgbClr val="F7931A"/>
            </a:solidFill>
            <a:prstDash val="solid"/>
          </a:ln>
        </p:spPr>
      </p:sp>
      <p:sp>
        <p:nvSpPr>
          <p:cNvPr id="8" name="Text 6"/>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pPr algn="ctr" indent="0" marL="0">
              <a:buNone/>
            </a:pPr>
            <a:endParaRPr lang="en-US" sz="1400" dirty="0"/>
          </a:p>
        </p:txBody>
      </p:sp>
      <p:sp>
        <p:nvSpPr>
          <p:cNvPr id="9" name="Shape 7"/>
          <p:cNvSpPr/>
          <p:nvPr/>
        </p:nvSpPr>
        <p:spPr>
          <a:xfrm>
            <a:off x="4782312" y="2697480"/>
            <a:ext cx="1856232" cy="1737360"/>
          </a:xfrm>
          <a:prstGeom prst="roundRect">
            <a:avLst>
              <a:gd name="adj" fmla="val 4211"/>
            </a:avLst>
          </a:prstGeom>
          <a:solidFill>
            <a:srgbClr val="3A4250"/>
          </a:solidFill>
          <a:ln w="12700">
            <a:solidFill>
              <a:srgbClr val="F7931A"/>
            </a:solidFill>
            <a:prstDash val="solid"/>
          </a:ln>
        </p:spPr>
      </p:sp>
      <p:sp>
        <p:nvSpPr>
          <p:cNvPr id="10" name="Text 8"/>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pPr algn="ctr" indent="0" marL="0">
              <a:buNone/>
            </a:pPr>
            <a:endParaRPr lang="en-US" sz="1400" dirty="0"/>
          </a:p>
        </p:txBody>
      </p:sp>
      <p:sp>
        <p:nvSpPr>
          <p:cNvPr id="11" name="Shape 9"/>
          <p:cNvSpPr/>
          <p:nvPr/>
        </p:nvSpPr>
        <p:spPr>
          <a:xfrm>
            <a:off x="6784848" y="2697480"/>
            <a:ext cx="1856232" cy="1737360"/>
          </a:xfrm>
          <a:prstGeom prst="roundRect">
            <a:avLst>
              <a:gd name="adj" fmla="val 4211"/>
            </a:avLst>
          </a:prstGeom>
          <a:solidFill>
            <a:srgbClr val="3A4250"/>
          </a:solidFill>
          <a:ln w="12700">
            <a:solidFill>
              <a:srgbClr val="F7931A"/>
            </a:solidFill>
            <a:prstDash val="solid"/>
          </a:ln>
        </p:spPr>
      </p:sp>
      <p:sp>
        <p:nvSpPr>
          <p:cNvPr id="12" name="Text 10"/>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pPr algn="ctr" indent="0" marL="0">
              <a:buNone/>
            </a:pP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4F2EE"/>
          </a:solidFill>
          <a:ln w="12700">
            <a:solidFill>
              <a:srgbClr val="D9D4CC"/>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3A4250"/>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C9D1DA"/>
            </a:solidFill>
            <a:prstDash val="solid"/>
          </a:ln>
        </p:spPr>
      </p:sp>
      <p:sp>
        <p:nvSpPr>
          <p:cNvPr id="9" name="Shape 7"/>
          <p:cNvSpPr/>
          <p:nvPr/>
        </p:nvSpPr>
        <p:spPr>
          <a:xfrm>
            <a:off x="2231136" y="1906524"/>
            <a:ext cx="384048" cy="384048"/>
          </a:xfrm>
          <a:prstGeom prst="ellipse">
            <a:avLst/>
          </a:prstGeom>
          <a:solidFill>
            <a:srgbClr val="3A4250"/>
          </a:solidFill>
          <a:ln w="9525">
            <a:solidFill>
              <a:srgbClr val="D9D4CC"/>
            </a:solidFill>
            <a:prstDash val="solid"/>
          </a:ln>
        </p:spPr>
      </p:sp>
      <p:sp>
        <p:nvSpPr>
          <p:cNvPr id="10" name="Shape 8"/>
          <p:cNvSpPr/>
          <p:nvPr/>
        </p:nvSpPr>
        <p:spPr>
          <a:xfrm flipV="1">
            <a:off x="2423160" y="2546604"/>
            <a:ext cx="776056" cy="448056"/>
          </a:xfrm>
          <a:prstGeom prst="line">
            <a:avLst/>
          </a:prstGeom>
          <a:noFill/>
          <a:ln w="13970">
            <a:solidFill>
              <a:srgbClr val="C9D1DA"/>
            </a:solidFill>
            <a:prstDash val="solid"/>
          </a:ln>
        </p:spPr>
      </p:sp>
      <p:sp>
        <p:nvSpPr>
          <p:cNvPr id="11" name="Shape 9"/>
          <p:cNvSpPr/>
          <p:nvPr/>
        </p:nvSpPr>
        <p:spPr>
          <a:xfrm>
            <a:off x="3007192" y="2354580"/>
            <a:ext cx="384048" cy="384048"/>
          </a:xfrm>
          <a:prstGeom prst="ellipse">
            <a:avLst/>
          </a:prstGeom>
          <a:solidFill>
            <a:srgbClr val="3A4250"/>
          </a:solidFill>
          <a:ln w="9525">
            <a:solidFill>
              <a:srgbClr val="D9D4CC"/>
            </a:solidFill>
            <a:prstDash val="solid"/>
          </a:ln>
        </p:spPr>
      </p:sp>
      <p:sp>
        <p:nvSpPr>
          <p:cNvPr id="12" name="Shape 10"/>
          <p:cNvSpPr/>
          <p:nvPr/>
        </p:nvSpPr>
        <p:spPr>
          <a:xfrm>
            <a:off x="2423160" y="2994660"/>
            <a:ext cx="776056" cy="448056"/>
          </a:xfrm>
          <a:prstGeom prst="line">
            <a:avLst/>
          </a:prstGeom>
          <a:noFill/>
          <a:ln w="13970">
            <a:solidFill>
              <a:srgbClr val="C9D1DA"/>
            </a:solidFill>
            <a:prstDash val="solid"/>
          </a:ln>
        </p:spPr>
      </p:sp>
      <p:sp>
        <p:nvSpPr>
          <p:cNvPr id="13" name="Shape 11"/>
          <p:cNvSpPr/>
          <p:nvPr/>
        </p:nvSpPr>
        <p:spPr>
          <a:xfrm>
            <a:off x="3007192" y="3250692"/>
            <a:ext cx="384048" cy="384048"/>
          </a:xfrm>
          <a:prstGeom prst="ellipse">
            <a:avLst/>
          </a:prstGeom>
          <a:solidFill>
            <a:srgbClr val="3A4250"/>
          </a:solidFill>
          <a:ln w="9525">
            <a:solidFill>
              <a:srgbClr val="D9D4CC"/>
            </a:solidFill>
            <a:prstDash val="solid"/>
          </a:ln>
        </p:spPr>
      </p:sp>
      <p:sp>
        <p:nvSpPr>
          <p:cNvPr id="14" name="Shape 12"/>
          <p:cNvSpPr/>
          <p:nvPr/>
        </p:nvSpPr>
        <p:spPr>
          <a:xfrm flipV="1">
            <a:off x="2423160" y="2994660"/>
            <a:ext cx="0" cy="896112"/>
          </a:xfrm>
          <a:prstGeom prst="line">
            <a:avLst/>
          </a:prstGeom>
          <a:noFill/>
          <a:ln w="13970">
            <a:solidFill>
              <a:srgbClr val="C9D1DA"/>
            </a:solidFill>
            <a:prstDash val="solid"/>
          </a:ln>
        </p:spPr>
      </p:sp>
      <p:sp>
        <p:nvSpPr>
          <p:cNvPr id="15" name="Shape 13"/>
          <p:cNvSpPr/>
          <p:nvPr/>
        </p:nvSpPr>
        <p:spPr>
          <a:xfrm>
            <a:off x="2231136" y="3698748"/>
            <a:ext cx="384048" cy="384048"/>
          </a:xfrm>
          <a:prstGeom prst="ellipse">
            <a:avLst/>
          </a:prstGeom>
          <a:solidFill>
            <a:srgbClr val="3A4250"/>
          </a:solidFill>
          <a:ln w="9525">
            <a:solidFill>
              <a:srgbClr val="D9D4CC"/>
            </a:solidFill>
            <a:prstDash val="solid"/>
          </a:ln>
        </p:spPr>
      </p:sp>
      <p:sp>
        <p:nvSpPr>
          <p:cNvPr id="16" name="Shape 14"/>
          <p:cNvSpPr/>
          <p:nvPr/>
        </p:nvSpPr>
        <p:spPr>
          <a:xfrm flipH="1">
            <a:off x="1647104" y="2994660"/>
            <a:ext cx="776056" cy="448056"/>
          </a:xfrm>
          <a:prstGeom prst="line">
            <a:avLst/>
          </a:prstGeom>
          <a:noFill/>
          <a:ln w="13970">
            <a:solidFill>
              <a:srgbClr val="C9D1DA"/>
            </a:solidFill>
            <a:prstDash val="solid"/>
          </a:ln>
        </p:spPr>
      </p:sp>
      <p:sp>
        <p:nvSpPr>
          <p:cNvPr id="17" name="Shape 15"/>
          <p:cNvSpPr/>
          <p:nvPr/>
        </p:nvSpPr>
        <p:spPr>
          <a:xfrm>
            <a:off x="1455080" y="3250692"/>
            <a:ext cx="384048" cy="384048"/>
          </a:xfrm>
          <a:prstGeom prst="ellipse">
            <a:avLst/>
          </a:prstGeom>
          <a:solidFill>
            <a:srgbClr val="3A4250"/>
          </a:solidFill>
          <a:ln w="9525">
            <a:solidFill>
              <a:srgbClr val="D9D4CC"/>
            </a:solidFill>
            <a:prstDash val="solid"/>
          </a:ln>
        </p:spPr>
      </p:sp>
      <p:sp>
        <p:nvSpPr>
          <p:cNvPr id="18" name="Shape 16"/>
          <p:cNvSpPr/>
          <p:nvPr/>
        </p:nvSpPr>
        <p:spPr>
          <a:xfrm flipH="1" flipV="1">
            <a:off x="1647104" y="2546604"/>
            <a:ext cx="776056" cy="448056"/>
          </a:xfrm>
          <a:prstGeom prst="line">
            <a:avLst/>
          </a:prstGeom>
          <a:noFill/>
          <a:ln w="13970">
            <a:solidFill>
              <a:srgbClr val="C9D1DA"/>
            </a:solidFill>
            <a:prstDash val="solid"/>
          </a:ln>
        </p:spPr>
      </p:sp>
      <p:sp>
        <p:nvSpPr>
          <p:cNvPr id="19" name="Shape 17"/>
          <p:cNvSpPr/>
          <p:nvPr/>
        </p:nvSpPr>
        <p:spPr>
          <a:xfrm>
            <a:off x="1455080" y="2354580"/>
            <a:ext cx="384048" cy="384048"/>
          </a:xfrm>
          <a:prstGeom prst="ellipse">
            <a:avLst/>
          </a:prstGeom>
          <a:solidFill>
            <a:srgbClr val="3A4250"/>
          </a:solidFill>
          <a:ln w="9525">
            <a:solidFill>
              <a:srgbClr val="D9D4CC"/>
            </a:solidFill>
            <a:prstDash val="solid"/>
          </a:ln>
        </p:spPr>
      </p:sp>
      <p:sp>
        <p:nvSpPr>
          <p:cNvPr id="20" name="Shape 18"/>
          <p:cNvSpPr/>
          <p:nvPr/>
        </p:nvSpPr>
        <p:spPr>
          <a:xfrm>
            <a:off x="2121408" y="2692908"/>
            <a:ext cx="603504" cy="603504"/>
          </a:xfrm>
          <a:prstGeom prst="ellipse">
            <a:avLst/>
          </a:prstGeom>
          <a:solidFill>
            <a:srgbClr val="1B1F24"/>
          </a:solidFill>
          <a:ln w="19050">
            <a:solidFill>
              <a:srgbClr val="F7931A"/>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4F2EE"/>
          </a:solidFill>
          <a:ln w="12700">
            <a:solidFill>
              <a:srgbClr val="D9D4CC"/>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F7931A"/>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C9D1DA"/>
            </a:solidFill>
            <a:prstDash val="solid"/>
          </a:ln>
        </p:spPr>
      </p:sp>
      <p:sp>
        <p:nvSpPr>
          <p:cNvPr id="25" name="Shape 23"/>
          <p:cNvSpPr/>
          <p:nvPr/>
        </p:nvSpPr>
        <p:spPr>
          <a:xfrm>
            <a:off x="6720840" y="2098548"/>
            <a:ext cx="896112" cy="896112"/>
          </a:xfrm>
          <a:prstGeom prst="line">
            <a:avLst/>
          </a:prstGeom>
          <a:noFill/>
          <a:ln w="10160">
            <a:solidFill>
              <a:srgbClr val="C9D1DA"/>
            </a:solidFill>
            <a:prstDash val="solid"/>
          </a:ln>
        </p:spPr>
      </p:sp>
      <p:sp>
        <p:nvSpPr>
          <p:cNvPr id="26" name="Shape 24"/>
          <p:cNvSpPr/>
          <p:nvPr/>
        </p:nvSpPr>
        <p:spPr>
          <a:xfrm>
            <a:off x="6720840" y="2098548"/>
            <a:ext cx="633647" cy="1529759"/>
          </a:xfrm>
          <a:prstGeom prst="line">
            <a:avLst/>
          </a:prstGeom>
          <a:noFill/>
          <a:ln w="6985">
            <a:solidFill>
              <a:srgbClr val="C9D1DA"/>
            </a:solidFill>
            <a:prstDash val="solid"/>
          </a:ln>
        </p:spPr>
      </p:sp>
      <p:sp>
        <p:nvSpPr>
          <p:cNvPr id="27" name="Shape 25"/>
          <p:cNvSpPr/>
          <p:nvPr/>
        </p:nvSpPr>
        <p:spPr>
          <a:xfrm>
            <a:off x="7354487" y="2361013"/>
            <a:ext cx="262465" cy="633647"/>
          </a:xfrm>
          <a:prstGeom prst="line">
            <a:avLst/>
          </a:prstGeom>
          <a:noFill/>
          <a:ln w="12700">
            <a:solidFill>
              <a:srgbClr val="C9D1DA"/>
            </a:solidFill>
            <a:prstDash val="solid"/>
          </a:ln>
        </p:spPr>
      </p:sp>
      <p:sp>
        <p:nvSpPr>
          <p:cNvPr id="28" name="Shape 26"/>
          <p:cNvSpPr/>
          <p:nvPr/>
        </p:nvSpPr>
        <p:spPr>
          <a:xfrm flipV="1">
            <a:off x="7354487" y="2361013"/>
            <a:ext cx="0" cy="1267294"/>
          </a:xfrm>
          <a:prstGeom prst="line">
            <a:avLst/>
          </a:prstGeom>
          <a:noFill/>
          <a:ln w="10160">
            <a:solidFill>
              <a:srgbClr val="C9D1DA"/>
            </a:solidFill>
            <a:prstDash val="solid"/>
          </a:ln>
        </p:spPr>
      </p:sp>
      <p:sp>
        <p:nvSpPr>
          <p:cNvPr id="29" name="Shape 27"/>
          <p:cNvSpPr/>
          <p:nvPr/>
        </p:nvSpPr>
        <p:spPr>
          <a:xfrm flipH="1">
            <a:off x="6720840" y="2361013"/>
            <a:ext cx="633647" cy="1529759"/>
          </a:xfrm>
          <a:prstGeom prst="line">
            <a:avLst/>
          </a:prstGeom>
          <a:noFill/>
          <a:ln w="6985">
            <a:solidFill>
              <a:srgbClr val="C9D1DA"/>
            </a:solidFill>
            <a:prstDash val="solid"/>
          </a:ln>
        </p:spPr>
      </p:sp>
      <p:sp>
        <p:nvSpPr>
          <p:cNvPr id="30" name="Shape 28"/>
          <p:cNvSpPr/>
          <p:nvPr/>
        </p:nvSpPr>
        <p:spPr>
          <a:xfrm flipH="1">
            <a:off x="7354487" y="2994660"/>
            <a:ext cx="262465" cy="633647"/>
          </a:xfrm>
          <a:prstGeom prst="line">
            <a:avLst/>
          </a:prstGeom>
          <a:noFill/>
          <a:ln w="12700">
            <a:solidFill>
              <a:srgbClr val="C9D1DA"/>
            </a:solidFill>
            <a:prstDash val="solid"/>
          </a:ln>
        </p:spPr>
      </p:sp>
      <p:sp>
        <p:nvSpPr>
          <p:cNvPr id="31" name="Shape 29"/>
          <p:cNvSpPr/>
          <p:nvPr/>
        </p:nvSpPr>
        <p:spPr>
          <a:xfrm flipH="1">
            <a:off x="6720840" y="2994660"/>
            <a:ext cx="896112" cy="896112"/>
          </a:xfrm>
          <a:prstGeom prst="line">
            <a:avLst/>
          </a:prstGeom>
          <a:noFill/>
          <a:ln w="10160">
            <a:solidFill>
              <a:srgbClr val="C9D1DA"/>
            </a:solidFill>
            <a:prstDash val="solid"/>
          </a:ln>
        </p:spPr>
      </p:sp>
      <p:sp>
        <p:nvSpPr>
          <p:cNvPr id="32" name="Shape 30"/>
          <p:cNvSpPr/>
          <p:nvPr/>
        </p:nvSpPr>
        <p:spPr>
          <a:xfrm flipH="1">
            <a:off x="6087193" y="2994660"/>
            <a:ext cx="1529759" cy="633647"/>
          </a:xfrm>
          <a:prstGeom prst="line">
            <a:avLst/>
          </a:prstGeom>
          <a:noFill/>
          <a:ln w="6985">
            <a:solidFill>
              <a:srgbClr val="C9D1DA"/>
            </a:solidFill>
            <a:prstDash val="solid"/>
          </a:ln>
        </p:spPr>
      </p:sp>
      <p:sp>
        <p:nvSpPr>
          <p:cNvPr id="33" name="Shape 31"/>
          <p:cNvSpPr/>
          <p:nvPr/>
        </p:nvSpPr>
        <p:spPr>
          <a:xfrm flipH="1">
            <a:off x="6720840" y="3628307"/>
            <a:ext cx="633647" cy="262465"/>
          </a:xfrm>
          <a:prstGeom prst="line">
            <a:avLst/>
          </a:prstGeom>
          <a:noFill/>
          <a:ln w="12700">
            <a:solidFill>
              <a:srgbClr val="C9D1DA"/>
            </a:solidFill>
            <a:prstDash val="solid"/>
          </a:ln>
        </p:spPr>
      </p:sp>
      <p:sp>
        <p:nvSpPr>
          <p:cNvPr id="34" name="Shape 32"/>
          <p:cNvSpPr/>
          <p:nvPr/>
        </p:nvSpPr>
        <p:spPr>
          <a:xfrm flipH="1">
            <a:off x="6087193" y="3628307"/>
            <a:ext cx="1267294" cy="0"/>
          </a:xfrm>
          <a:prstGeom prst="line">
            <a:avLst/>
          </a:prstGeom>
          <a:noFill/>
          <a:ln w="10160">
            <a:solidFill>
              <a:srgbClr val="C9D1DA"/>
            </a:solidFill>
            <a:prstDash val="solid"/>
          </a:ln>
        </p:spPr>
      </p:sp>
      <p:sp>
        <p:nvSpPr>
          <p:cNvPr id="35" name="Shape 33"/>
          <p:cNvSpPr/>
          <p:nvPr/>
        </p:nvSpPr>
        <p:spPr>
          <a:xfrm flipH="1" flipV="1">
            <a:off x="5824728" y="2994660"/>
            <a:ext cx="1529759" cy="633647"/>
          </a:xfrm>
          <a:prstGeom prst="line">
            <a:avLst/>
          </a:prstGeom>
          <a:noFill/>
          <a:ln w="6985">
            <a:solidFill>
              <a:srgbClr val="C9D1DA"/>
            </a:solidFill>
            <a:prstDash val="solid"/>
          </a:ln>
        </p:spPr>
      </p:sp>
      <p:sp>
        <p:nvSpPr>
          <p:cNvPr id="36" name="Shape 34"/>
          <p:cNvSpPr/>
          <p:nvPr/>
        </p:nvSpPr>
        <p:spPr>
          <a:xfrm flipH="1" flipV="1">
            <a:off x="6087193" y="3628307"/>
            <a:ext cx="633647" cy="262465"/>
          </a:xfrm>
          <a:prstGeom prst="line">
            <a:avLst/>
          </a:prstGeom>
          <a:noFill/>
          <a:ln w="12700">
            <a:solidFill>
              <a:srgbClr val="C9D1DA"/>
            </a:solidFill>
            <a:prstDash val="solid"/>
          </a:ln>
        </p:spPr>
      </p:sp>
      <p:sp>
        <p:nvSpPr>
          <p:cNvPr id="37" name="Shape 35"/>
          <p:cNvSpPr/>
          <p:nvPr/>
        </p:nvSpPr>
        <p:spPr>
          <a:xfrm flipH="1" flipV="1">
            <a:off x="5824728" y="2994660"/>
            <a:ext cx="896112" cy="896112"/>
          </a:xfrm>
          <a:prstGeom prst="line">
            <a:avLst/>
          </a:prstGeom>
          <a:noFill/>
          <a:ln w="10160">
            <a:solidFill>
              <a:srgbClr val="C9D1DA"/>
            </a:solidFill>
            <a:prstDash val="solid"/>
          </a:ln>
        </p:spPr>
      </p:sp>
      <p:sp>
        <p:nvSpPr>
          <p:cNvPr id="38" name="Shape 36"/>
          <p:cNvSpPr/>
          <p:nvPr/>
        </p:nvSpPr>
        <p:spPr>
          <a:xfrm flipH="1" flipV="1">
            <a:off x="6087193" y="2361013"/>
            <a:ext cx="633647" cy="1529759"/>
          </a:xfrm>
          <a:prstGeom prst="line">
            <a:avLst/>
          </a:prstGeom>
          <a:noFill/>
          <a:ln w="6985">
            <a:solidFill>
              <a:srgbClr val="C9D1DA"/>
            </a:solidFill>
            <a:prstDash val="solid"/>
          </a:ln>
        </p:spPr>
      </p:sp>
      <p:sp>
        <p:nvSpPr>
          <p:cNvPr id="39" name="Shape 37"/>
          <p:cNvSpPr/>
          <p:nvPr/>
        </p:nvSpPr>
        <p:spPr>
          <a:xfrm flipH="1" flipV="1">
            <a:off x="5824728" y="2994660"/>
            <a:ext cx="262465" cy="633647"/>
          </a:xfrm>
          <a:prstGeom prst="line">
            <a:avLst/>
          </a:prstGeom>
          <a:noFill/>
          <a:ln w="12700">
            <a:solidFill>
              <a:srgbClr val="C9D1DA"/>
            </a:solidFill>
            <a:prstDash val="solid"/>
          </a:ln>
        </p:spPr>
      </p:sp>
      <p:sp>
        <p:nvSpPr>
          <p:cNvPr id="40" name="Shape 38"/>
          <p:cNvSpPr/>
          <p:nvPr/>
        </p:nvSpPr>
        <p:spPr>
          <a:xfrm>
            <a:off x="6087193" y="2361013"/>
            <a:ext cx="0" cy="1267294"/>
          </a:xfrm>
          <a:prstGeom prst="line">
            <a:avLst/>
          </a:prstGeom>
          <a:noFill/>
          <a:ln w="10160">
            <a:solidFill>
              <a:srgbClr val="C9D1DA"/>
            </a:solidFill>
            <a:prstDash val="solid"/>
          </a:ln>
        </p:spPr>
      </p:sp>
      <p:sp>
        <p:nvSpPr>
          <p:cNvPr id="41" name="Shape 39"/>
          <p:cNvSpPr/>
          <p:nvPr/>
        </p:nvSpPr>
        <p:spPr>
          <a:xfrm flipV="1">
            <a:off x="5824728" y="2361013"/>
            <a:ext cx="262465" cy="633647"/>
          </a:xfrm>
          <a:prstGeom prst="line">
            <a:avLst/>
          </a:prstGeom>
          <a:noFill/>
          <a:ln w="12700">
            <a:solidFill>
              <a:srgbClr val="C9D1DA"/>
            </a:solidFill>
            <a:prstDash val="solid"/>
          </a:ln>
        </p:spPr>
      </p:sp>
      <p:sp>
        <p:nvSpPr>
          <p:cNvPr id="42" name="Shape 40"/>
          <p:cNvSpPr/>
          <p:nvPr/>
        </p:nvSpPr>
        <p:spPr>
          <a:xfrm>
            <a:off x="6528816" y="1906524"/>
            <a:ext cx="384048" cy="384048"/>
          </a:xfrm>
          <a:prstGeom prst="ellipse">
            <a:avLst/>
          </a:prstGeom>
          <a:solidFill>
            <a:srgbClr val="F7931A"/>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F7931A"/>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F7931A"/>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F7931A"/>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F7931A"/>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F7931A"/>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F7931A"/>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F7931A"/>
          </a:solidFill>
          <a:ln w="9525">
            <a:solidFill>
              <a:srgbClr val="FFFFFF"/>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Text 4"/>
          <p:cNvSpPr txBox="1"/>
          <p:nvPr/>
        </p:nvSpPr>
        <p:spPr>
          <a:xfrm>
            <a:off x="457200" y="137160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Every node speaks the same protocol</a:t>
            </a:r>
            <a:endParaRPr lang="en-US" sz="1450" dirty="0"/>
          </a:p>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Any peer can join or leave freely</a:t>
            </a:r>
            <a:endParaRPr lang="en-US" sz="1450" dirty="0"/>
          </a:p>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Four peers already form a working net</a:t>
            </a:r>
            <a:endParaRPr lang="en-US" sz="1450" dirty="0"/>
          </a:p>
        </p:txBody>
      </p:sp>
      <p:sp>
        <p:nvSpPr>
          <p:cNvPr id="7" name="Shape 5"/>
          <p:cNvSpPr/>
          <p:nvPr/>
        </p:nvSpPr>
        <p:spPr>
          <a:xfrm>
            <a:off x="3931920" y="1371600"/>
            <a:ext cx="4754880" cy="3017520"/>
          </a:xfrm>
          <a:prstGeom prst="roundRect">
            <a:avLst>
              <a:gd name="adj" fmla="val 3030"/>
            </a:avLst>
          </a:prstGeom>
          <a:solidFill>
            <a:srgbClr val="15191E"/>
          </a:solidFill>
          <a:ln w="12700">
            <a:solidFill>
              <a:srgbClr val="15191E"/>
            </a:solidFill>
            <a:prstDash val="solid"/>
          </a:ln>
        </p:spPr>
      </p:sp>
      <p:sp>
        <p:nvSpPr>
          <p:cNvPr id="8" name="Text 6"/>
          <p:cNvSpPr txBox="1"/>
          <p:nvPr/>
        </p:nvSpPr>
        <p:spPr>
          <a:xfrm>
            <a:off x="4114800" y="1490472"/>
            <a:ext cx="4389120" cy="277977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links = {'A': ['B', 'C'], 'B': ['A', 'D'], 'C': ['A', 'E'], 'D': ['B', 'F'], 'E': ['C', 'F'], 'F': ['D', 'E', 'G'], 'G': ['F']}</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seen, frontier, rounds = {'A'}, {'A'}, 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while len(seen) &lt; len(links):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frontier = {n for f in frontier for n in links[f]} - seen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seen |= frontier; rounds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rounds</a:t>
            </a:r>
            <a:endParaRPr lang="en-US" sz="1000" dirty="0"/>
          </a:p>
        </p:txBody>
      </p:sp>
      <p:sp>
        <p:nvSpPr>
          <p:cNvPr id="9" name="Text 7"/>
          <p:cNvSpPr txBox="1"/>
          <p:nvPr/>
        </p:nvSpPr>
        <p:spPr>
          <a:xfrm>
            <a:off x="3931920" y="4407408"/>
            <a:ext cx="475488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4</a:t>
            </a:r>
            <a:endParaRPr lang="en-US" sz="1000" dirty="0"/>
          </a:p>
        </p:txBody>
      </p:sp>
      <p:sp>
        <p:nvSpPr>
          <p:cNvPr id="10" name="Text 8"/>
          <p:cNvSpPr txBox="1"/>
          <p:nvPr/>
        </p:nvSpPr>
        <p:spPr>
          <a:xfrm>
            <a:off x="3931920" y="4663440"/>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PeerToPeerProtocol, lines 1 to 6 of 6, run under Python 3.14.4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Text 4"/>
          <p:cNvSpPr txBox="1"/>
          <p:nvPr/>
        </p:nvSpPr>
        <p:spPr>
          <a:xfrm>
            <a:off x="457200" y="137160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A rule set is code every node runs</a:t>
            </a:r>
            <a:endParaRPr lang="en-US" sz="1450" dirty="0"/>
          </a:p>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A block either conforms or it does not</a:t>
            </a:r>
            <a:endParaRPr lang="en-US" sz="1450" dirty="0"/>
          </a:p>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No vote, no committee, no appeal</a:t>
            </a:r>
            <a:endParaRPr lang="en-US" sz="1450" dirty="0"/>
          </a:p>
        </p:txBody>
      </p:sp>
      <p:sp>
        <p:nvSpPr>
          <p:cNvPr id="7" name="Shape 5"/>
          <p:cNvSpPr/>
          <p:nvPr/>
        </p:nvSpPr>
        <p:spPr>
          <a:xfrm>
            <a:off x="3931920" y="1371600"/>
            <a:ext cx="4754880" cy="3017520"/>
          </a:xfrm>
          <a:prstGeom prst="roundRect">
            <a:avLst>
              <a:gd name="adj" fmla="val 3030"/>
            </a:avLst>
          </a:prstGeom>
          <a:solidFill>
            <a:srgbClr val="15191E"/>
          </a:solidFill>
          <a:ln w="12700">
            <a:solidFill>
              <a:srgbClr val="15191E"/>
            </a:solidFill>
            <a:prstDash val="solid"/>
          </a:ln>
        </p:spPr>
      </p:sp>
      <p:sp>
        <p:nvSpPr>
          <p:cNvPr id="8" name="Text 6"/>
          <p:cNvSpPr txBox="1"/>
          <p:nvPr/>
        </p:nvSpPr>
        <p:spPr>
          <a:xfrm>
            <a:off x="4114800" y="1490472"/>
            <a:ext cx="4389120" cy="277977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def accept(claim, height, fees):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subsidy = (50 * 10**8) &gt;&gt; (height // 210000)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return claim &lt;= subsidy + fees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[accept(312_500_000, 840000, 0), accept(312_500_001, 840000, 0), accept(325_000_000, 840000, 12_500_000)]</a:t>
            </a:r>
            <a:endParaRPr lang="en-US" sz="1000" dirty="0"/>
          </a:p>
        </p:txBody>
      </p:sp>
      <p:sp>
        <p:nvSpPr>
          <p:cNvPr id="9" name="Text 7"/>
          <p:cNvSpPr txBox="1"/>
          <p:nvPr/>
        </p:nvSpPr>
        <p:spPr>
          <a:xfrm>
            <a:off x="3931920" y="4407408"/>
            <a:ext cx="475488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[True, False, True]</a:t>
            </a:r>
            <a:endParaRPr lang="en-US" sz="1000" dirty="0"/>
          </a:p>
        </p:txBody>
      </p:sp>
      <p:sp>
        <p:nvSpPr>
          <p:cNvPr id="10" name="Text 8"/>
          <p:cNvSpPr txBox="1"/>
          <p:nvPr/>
        </p:nvSpPr>
        <p:spPr>
          <a:xfrm>
            <a:off x="3931920" y="4663440"/>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ConsensusRuleSet, lines 1 to 4 of 4, run under Python 3.14.4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3A4250"/>
          </a:solidFill>
          <a:ln w="12700">
            <a:solidFill>
              <a:srgbClr val="F7931A"/>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F7931A"/>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3A4250"/>
          </a:solidFill>
          <a:ln w="12700">
            <a:solidFill>
              <a:srgbClr val="F7931A"/>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F7931A"/>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3A4250"/>
          </a:solidFill>
          <a:ln w="12700">
            <a:solidFill>
              <a:srgbClr val="F7931A"/>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F7931A"/>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3A4250"/>
          </a:solidFill>
          <a:ln w="12700">
            <a:solidFill>
              <a:srgbClr val="F7931A"/>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F2933"/>
                </a:solidFill>
                <a:latin typeface="Calibri" pitchFamily="34" charset="0"/>
                <a:ea typeface="Calibri" pitchFamily="34" charset="-122"/>
                <a:cs typeface="Calibri" pitchFamily="34" charset="-120"/>
              </a:rPr>
              <a:t>The subsidy follows the halving chart you just saw</a:t>
            </a:r>
            <a:endParaRPr lang="en-US" sz="1500" dirty="0"/>
          </a:p>
          <a:p>
            <a:pPr marL="342900" indent="-342900">
              <a:spcAft>
                <a:spcPts val="400"/>
              </a:spcAft>
              <a:buSzPct val="100000"/>
              <a:buChar char="•"/>
            </a:pPr>
            <a:r>
              <a:rPr lang="en-US" sz="1500" dirty="0">
                <a:solidFill>
                  <a:srgbClr val="1F2933"/>
                </a:solidFill>
                <a:latin typeface="Calibri" pitchFamily="34" charset="0"/>
                <a:ea typeface="Calibri" pitchFamily="34" charset="-122"/>
                <a:cs typeface="Calibri" pitchFamily="34" charset="-120"/>
              </a:rPr>
              <a:t>Cheating costs more than the reward it could win</a:t>
            </a:r>
            <a:endParaRPr lang="en-US" sz="1500" dirty="0"/>
          </a:p>
          <a:p>
            <a:pPr marL="342900" indent="-342900">
              <a:spcAft>
                <a:spcPts val="400"/>
              </a:spcAft>
              <a:buSzPct val="100000"/>
              <a:buChar char="•"/>
            </a:pPr>
            <a:r>
              <a:rPr lang="en-US" sz="1500" dirty="0">
                <a:solidFill>
                  <a:srgbClr val="1F2933"/>
                </a:solidFill>
                <a:latin typeface="Calibri" pitchFamily="34" charset="0"/>
                <a:ea typeface="Calibri" pitchFamily="34" charset="-122"/>
                <a:cs typeface="Calibri" pitchFamily="34" charset="-120"/>
              </a:rPr>
              <a:t>Chapter 12 opens the mechanism in full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Wallets and first use</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5" name="Shape 3"/>
          <p:cNvSpPr/>
          <p:nvPr/>
        </p:nvSpPr>
        <p:spPr>
          <a:xfrm>
            <a:off x="777240" y="2697480"/>
            <a:ext cx="1856232" cy="1737360"/>
          </a:xfrm>
          <a:prstGeom prst="roundRect">
            <a:avLst>
              <a:gd name="adj" fmla="val 4211"/>
            </a:avLst>
          </a:prstGeom>
          <a:solidFill>
            <a:srgbClr val="3A4250"/>
          </a:solidFill>
          <a:ln w="12700">
            <a:solidFill>
              <a:srgbClr val="F7931A"/>
            </a:solidFill>
            <a:prstDash val="solid"/>
          </a:ln>
        </p:spPr>
      </p:sp>
      <p:sp>
        <p:nvSpPr>
          <p:cNvPr id="6" name="Text 4"/>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pPr algn="ctr" indent="0" marL="0">
              <a:buNone/>
            </a:pPr>
            <a:endParaRPr lang="en-US" sz="1400" dirty="0"/>
          </a:p>
        </p:txBody>
      </p:sp>
      <p:sp>
        <p:nvSpPr>
          <p:cNvPr id="7" name="Shape 5"/>
          <p:cNvSpPr/>
          <p:nvPr/>
        </p:nvSpPr>
        <p:spPr>
          <a:xfrm>
            <a:off x="2779776" y="2697480"/>
            <a:ext cx="1856232" cy="1737360"/>
          </a:xfrm>
          <a:prstGeom prst="roundRect">
            <a:avLst>
              <a:gd name="adj" fmla="val 4211"/>
            </a:avLst>
          </a:prstGeom>
          <a:solidFill>
            <a:srgbClr val="3A4250"/>
          </a:solidFill>
          <a:ln w="12700">
            <a:solidFill>
              <a:srgbClr val="F7931A"/>
            </a:solidFill>
            <a:prstDash val="solid"/>
          </a:ln>
        </p:spPr>
      </p:sp>
      <p:sp>
        <p:nvSpPr>
          <p:cNvPr id="8" name="Text 6"/>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pPr algn="ctr" indent="0" marL="0">
              <a:buNone/>
            </a:pPr>
            <a:endParaRPr lang="en-US" sz="1400" dirty="0"/>
          </a:p>
        </p:txBody>
      </p:sp>
      <p:sp>
        <p:nvSpPr>
          <p:cNvPr id="9" name="Shape 7"/>
          <p:cNvSpPr/>
          <p:nvPr/>
        </p:nvSpPr>
        <p:spPr>
          <a:xfrm>
            <a:off x="4782312" y="2697480"/>
            <a:ext cx="1856232" cy="1737360"/>
          </a:xfrm>
          <a:prstGeom prst="roundRect">
            <a:avLst>
              <a:gd name="adj" fmla="val 4211"/>
            </a:avLst>
          </a:prstGeom>
          <a:solidFill>
            <a:srgbClr val="3A4250"/>
          </a:solidFill>
          <a:ln w="12700">
            <a:solidFill>
              <a:srgbClr val="F7931A"/>
            </a:solidFill>
            <a:prstDash val="solid"/>
          </a:ln>
        </p:spPr>
      </p:sp>
      <p:sp>
        <p:nvSpPr>
          <p:cNvPr id="10" name="Text 8"/>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pPr algn="ctr" indent="0" marL="0">
              <a:buNone/>
            </a:pPr>
            <a:endParaRPr lang="en-US" sz="1400" dirty="0"/>
          </a:p>
        </p:txBody>
      </p:sp>
      <p:sp>
        <p:nvSpPr>
          <p:cNvPr id="11" name="Shape 9"/>
          <p:cNvSpPr/>
          <p:nvPr/>
        </p:nvSpPr>
        <p:spPr>
          <a:xfrm>
            <a:off x="6784848" y="2697480"/>
            <a:ext cx="1856232" cy="1737360"/>
          </a:xfrm>
          <a:prstGeom prst="roundRect">
            <a:avLst>
              <a:gd name="adj" fmla="val 4211"/>
            </a:avLst>
          </a:prstGeom>
          <a:solidFill>
            <a:srgbClr val="3A4250"/>
          </a:solidFill>
          <a:ln w="12700">
            <a:solidFill>
              <a:srgbClr val="F7931A"/>
            </a:solidFill>
            <a:prstDash val="solid"/>
          </a:ln>
        </p:spPr>
      </p:sp>
      <p:sp>
        <p:nvSpPr>
          <p:cNvPr id="12" name="Text 10"/>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pPr algn="ctr" indent="0" marL="0">
              <a:buNone/>
            </a:pP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Shape 4"/>
          <p:cNvSpPr/>
          <p:nvPr/>
        </p:nvSpPr>
        <p:spPr>
          <a:xfrm>
            <a:off x="365760" y="2674620"/>
            <a:ext cx="1417320" cy="548640"/>
          </a:xfrm>
          <a:prstGeom prst="roundRect">
            <a:avLst>
              <a:gd name="adj" fmla="val 16667"/>
            </a:avLst>
          </a:prstGeom>
          <a:solidFill>
            <a:srgbClr val="F7931A"/>
          </a:solidFill>
          <a:ln w="12700">
            <a:solidFill>
              <a:srgbClr val="F7931A"/>
            </a:solidFill>
            <a:prstDash val="solid"/>
          </a:ln>
        </p:spPr>
      </p:sp>
      <p:sp>
        <p:nvSpPr>
          <p:cNvPr id="7" name="Text 5"/>
          <p:cNvSpPr txBox="1"/>
          <p:nvPr/>
        </p:nvSpPr>
        <p:spPr>
          <a:xfrm>
            <a:off x="365760" y="267462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8" name="Shape 6"/>
          <p:cNvSpPr/>
          <p:nvPr/>
        </p:nvSpPr>
        <p:spPr>
          <a:xfrm flipV="1">
            <a:off x="1783080" y="1472184"/>
            <a:ext cx="502920" cy="1476756"/>
          </a:xfrm>
          <a:prstGeom prst="line">
            <a:avLst/>
          </a:prstGeom>
          <a:noFill/>
          <a:ln w="13970">
            <a:solidFill>
              <a:srgbClr val="C9D1DA"/>
            </a:solidFill>
            <a:prstDash val="solid"/>
          </a:ln>
        </p:spPr>
      </p:sp>
      <p:sp>
        <p:nvSpPr>
          <p:cNvPr id="9" name="Shape 7"/>
          <p:cNvSpPr/>
          <p:nvPr/>
        </p:nvSpPr>
        <p:spPr>
          <a:xfrm>
            <a:off x="2331720" y="1234440"/>
            <a:ext cx="1691640" cy="475488"/>
          </a:xfrm>
          <a:prstGeom prst="roundRect">
            <a:avLst>
              <a:gd name="adj" fmla="val 15385"/>
            </a:avLst>
          </a:prstGeom>
          <a:solidFill>
            <a:srgbClr val="3A4250"/>
          </a:solidFill>
          <a:ln w="9525">
            <a:solidFill>
              <a:srgbClr val="D9D4CC"/>
            </a:solidFill>
            <a:prstDash val="solid"/>
          </a:ln>
        </p:spPr>
      </p:sp>
      <p:sp>
        <p:nvSpPr>
          <p:cNvPr id="10" name="Text 8"/>
          <p:cNvSpPr txBox="1"/>
          <p:nvPr/>
        </p:nvSpPr>
        <p:spPr>
          <a:xfrm>
            <a:off x="2386584" y="123444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1" name="Shape 9"/>
          <p:cNvSpPr/>
          <p:nvPr/>
        </p:nvSpPr>
        <p:spPr>
          <a:xfrm>
            <a:off x="4023360" y="1472184"/>
            <a:ext cx="274320" cy="0"/>
          </a:xfrm>
          <a:prstGeom prst="line">
            <a:avLst/>
          </a:prstGeom>
          <a:noFill/>
          <a:ln w="13970">
            <a:solidFill>
              <a:srgbClr val="C9D1DA"/>
            </a:solidFill>
            <a:prstDash val="solid"/>
          </a:ln>
        </p:spPr>
      </p:sp>
      <p:sp>
        <p:nvSpPr>
          <p:cNvPr id="12" name="Shape 10"/>
          <p:cNvSpPr/>
          <p:nvPr/>
        </p:nvSpPr>
        <p:spPr>
          <a:xfrm>
            <a:off x="4297680" y="1252728"/>
            <a:ext cx="4480560" cy="438912"/>
          </a:xfrm>
          <a:prstGeom prst="roundRect">
            <a:avLst>
              <a:gd name="adj" fmla="val 12500"/>
            </a:avLst>
          </a:prstGeom>
          <a:solidFill>
            <a:srgbClr val="F4F2EE"/>
          </a:solidFill>
          <a:ln w="6350">
            <a:solidFill>
              <a:srgbClr val="D9D4CC"/>
            </a:solidFill>
            <a:prstDash val="solid"/>
          </a:ln>
        </p:spPr>
      </p:sp>
      <p:sp>
        <p:nvSpPr>
          <p:cNvPr id="13" name="Text 11"/>
          <p:cNvSpPr txBox="1"/>
          <p:nvPr/>
        </p:nvSpPr>
        <p:spPr>
          <a:xfrm>
            <a:off x="4407408" y="1252728"/>
            <a:ext cx="4261104" cy="438912"/>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4" name="Shape 12"/>
          <p:cNvSpPr/>
          <p:nvPr/>
        </p:nvSpPr>
        <p:spPr>
          <a:xfrm flipV="1">
            <a:off x="1783080" y="2456688"/>
            <a:ext cx="502920" cy="492252"/>
          </a:xfrm>
          <a:prstGeom prst="line">
            <a:avLst/>
          </a:prstGeom>
          <a:noFill/>
          <a:ln w="13970">
            <a:solidFill>
              <a:srgbClr val="C9D1DA"/>
            </a:solidFill>
            <a:prstDash val="solid"/>
          </a:ln>
        </p:spPr>
      </p:sp>
      <p:sp>
        <p:nvSpPr>
          <p:cNvPr id="15" name="Shape 13"/>
          <p:cNvSpPr/>
          <p:nvPr/>
        </p:nvSpPr>
        <p:spPr>
          <a:xfrm>
            <a:off x="2331720" y="2218944"/>
            <a:ext cx="1691640" cy="475488"/>
          </a:xfrm>
          <a:prstGeom prst="roundRect">
            <a:avLst>
              <a:gd name="adj" fmla="val 15385"/>
            </a:avLst>
          </a:prstGeom>
          <a:solidFill>
            <a:srgbClr val="3A4250"/>
          </a:solidFill>
          <a:ln w="9525">
            <a:solidFill>
              <a:srgbClr val="D9D4CC"/>
            </a:solidFill>
            <a:prstDash val="solid"/>
          </a:ln>
        </p:spPr>
      </p:sp>
      <p:sp>
        <p:nvSpPr>
          <p:cNvPr id="16" name="Text 14"/>
          <p:cNvSpPr txBox="1"/>
          <p:nvPr/>
        </p:nvSpPr>
        <p:spPr>
          <a:xfrm>
            <a:off x="2386584" y="2218944"/>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7" name="Shape 15"/>
          <p:cNvSpPr/>
          <p:nvPr/>
        </p:nvSpPr>
        <p:spPr>
          <a:xfrm>
            <a:off x="4023360" y="2456688"/>
            <a:ext cx="274320" cy="0"/>
          </a:xfrm>
          <a:prstGeom prst="line">
            <a:avLst/>
          </a:prstGeom>
          <a:noFill/>
          <a:ln w="13970">
            <a:solidFill>
              <a:srgbClr val="C9D1DA"/>
            </a:solidFill>
            <a:prstDash val="solid"/>
          </a:ln>
        </p:spPr>
      </p:sp>
      <p:sp>
        <p:nvSpPr>
          <p:cNvPr id="18" name="Shape 16"/>
          <p:cNvSpPr/>
          <p:nvPr/>
        </p:nvSpPr>
        <p:spPr>
          <a:xfrm>
            <a:off x="4297680" y="2237232"/>
            <a:ext cx="4480560" cy="438912"/>
          </a:xfrm>
          <a:prstGeom prst="roundRect">
            <a:avLst>
              <a:gd name="adj" fmla="val 12500"/>
            </a:avLst>
          </a:prstGeom>
          <a:solidFill>
            <a:srgbClr val="F4F2EE"/>
          </a:solidFill>
          <a:ln w="6350">
            <a:solidFill>
              <a:srgbClr val="D9D4CC"/>
            </a:solidFill>
            <a:prstDash val="solid"/>
          </a:ln>
        </p:spPr>
      </p:sp>
      <p:sp>
        <p:nvSpPr>
          <p:cNvPr id="19" name="Text 17"/>
          <p:cNvSpPr txBox="1"/>
          <p:nvPr/>
        </p:nvSpPr>
        <p:spPr>
          <a:xfrm>
            <a:off x="4407408" y="2237232"/>
            <a:ext cx="4261104" cy="438912"/>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0" name="Shape 18"/>
          <p:cNvSpPr/>
          <p:nvPr/>
        </p:nvSpPr>
        <p:spPr>
          <a:xfrm>
            <a:off x="1783080" y="2948940"/>
            <a:ext cx="502920" cy="492252"/>
          </a:xfrm>
          <a:prstGeom prst="line">
            <a:avLst/>
          </a:prstGeom>
          <a:noFill/>
          <a:ln w="13970">
            <a:solidFill>
              <a:srgbClr val="C9D1DA"/>
            </a:solidFill>
            <a:prstDash val="solid"/>
          </a:ln>
        </p:spPr>
      </p:sp>
      <p:sp>
        <p:nvSpPr>
          <p:cNvPr id="21" name="Shape 19"/>
          <p:cNvSpPr/>
          <p:nvPr/>
        </p:nvSpPr>
        <p:spPr>
          <a:xfrm>
            <a:off x="2331720" y="3203448"/>
            <a:ext cx="1691640" cy="475488"/>
          </a:xfrm>
          <a:prstGeom prst="roundRect">
            <a:avLst>
              <a:gd name="adj" fmla="val 15385"/>
            </a:avLst>
          </a:prstGeom>
          <a:solidFill>
            <a:srgbClr val="3A4250"/>
          </a:solidFill>
          <a:ln w="9525">
            <a:solidFill>
              <a:srgbClr val="D9D4CC"/>
            </a:solidFill>
            <a:prstDash val="solid"/>
          </a:ln>
        </p:spPr>
      </p:sp>
      <p:sp>
        <p:nvSpPr>
          <p:cNvPr id="22" name="Text 20"/>
          <p:cNvSpPr txBox="1"/>
          <p:nvPr/>
        </p:nvSpPr>
        <p:spPr>
          <a:xfrm>
            <a:off x="2386584" y="320344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3" name="Shape 21"/>
          <p:cNvSpPr/>
          <p:nvPr/>
        </p:nvSpPr>
        <p:spPr>
          <a:xfrm>
            <a:off x="4023360" y="3441192"/>
            <a:ext cx="274320" cy="0"/>
          </a:xfrm>
          <a:prstGeom prst="line">
            <a:avLst/>
          </a:prstGeom>
          <a:noFill/>
          <a:ln w="13970">
            <a:solidFill>
              <a:srgbClr val="C9D1DA"/>
            </a:solidFill>
            <a:prstDash val="solid"/>
          </a:ln>
        </p:spPr>
      </p:sp>
      <p:sp>
        <p:nvSpPr>
          <p:cNvPr id="24" name="Shape 22"/>
          <p:cNvSpPr/>
          <p:nvPr/>
        </p:nvSpPr>
        <p:spPr>
          <a:xfrm>
            <a:off x="4297680" y="3221736"/>
            <a:ext cx="4480560" cy="438912"/>
          </a:xfrm>
          <a:prstGeom prst="roundRect">
            <a:avLst>
              <a:gd name="adj" fmla="val 12500"/>
            </a:avLst>
          </a:prstGeom>
          <a:solidFill>
            <a:srgbClr val="F4F2EE"/>
          </a:solidFill>
          <a:ln w="6350">
            <a:solidFill>
              <a:srgbClr val="D9D4CC"/>
            </a:solidFill>
            <a:prstDash val="solid"/>
          </a:ln>
        </p:spPr>
      </p:sp>
      <p:sp>
        <p:nvSpPr>
          <p:cNvPr id="25" name="Text 23"/>
          <p:cNvSpPr txBox="1"/>
          <p:nvPr/>
        </p:nvSpPr>
        <p:spPr>
          <a:xfrm>
            <a:off x="4407408" y="3221736"/>
            <a:ext cx="4261104" cy="438912"/>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Noncustodial Wallet  ·  Custodial Wallet</a:t>
            </a:r>
            <a:endParaRPr lang="en-US" sz="1150" dirty="0"/>
          </a:p>
        </p:txBody>
      </p:sp>
      <p:sp>
        <p:nvSpPr>
          <p:cNvPr id="26" name="Shape 24"/>
          <p:cNvSpPr/>
          <p:nvPr/>
        </p:nvSpPr>
        <p:spPr>
          <a:xfrm>
            <a:off x="1783080" y="2948940"/>
            <a:ext cx="502920" cy="1476756"/>
          </a:xfrm>
          <a:prstGeom prst="line">
            <a:avLst/>
          </a:prstGeom>
          <a:noFill/>
          <a:ln w="13970">
            <a:solidFill>
              <a:srgbClr val="C9D1DA"/>
            </a:solidFill>
            <a:prstDash val="solid"/>
          </a:ln>
        </p:spPr>
      </p:sp>
      <p:sp>
        <p:nvSpPr>
          <p:cNvPr id="27" name="Shape 25"/>
          <p:cNvSpPr/>
          <p:nvPr/>
        </p:nvSpPr>
        <p:spPr>
          <a:xfrm>
            <a:off x="2331720" y="4187952"/>
            <a:ext cx="1691640" cy="475488"/>
          </a:xfrm>
          <a:prstGeom prst="roundRect">
            <a:avLst>
              <a:gd name="adj" fmla="val 15385"/>
            </a:avLst>
          </a:prstGeom>
          <a:solidFill>
            <a:srgbClr val="3A4250"/>
          </a:solidFill>
          <a:ln w="9525">
            <a:solidFill>
              <a:srgbClr val="D9D4CC"/>
            </a:solidFill>
            <a:prstDash val="solid"/>
          </a:ln>
        </p:spPr>
      </p:sp>
      <p:sp>
        <p:nvSpPr>
          <p:cNvPr id="28" name="Text 26"/>
          <p:cNvSpPr txBox="1"/>
          <p:nvPr/>
        </p:nvSpPr>
        <p:spPr>
          <a:xfrm>
            <a:off x="2386584" y="418795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29" name="Shape 27"/>
          <p:cNvSpPr/>
          <p:nvPr/>
        </p:nvSpPr>
        <p:spPr>
          <a:xfrm>
            <a:off x="4023360" y="4425696"/>
            <a:ext cx="274320" cy="0"/>
          </a:xfrm>
          <a:prstGeom prst="line">
            <a:avLst/>
          </a:prstGeom>
          <a:noFill/>
          <a:ln w="13970">
            <a:solidFill>
              <a:srgbClr val="C9D1DA"/>
            </a:solidFill>
            <a:prstDash val="solid"/>
          </a:ln>
        </p:spPr>
      </p:sp>
      <p:sp>
        <p:nvSpPr>
          <p:cNvPr id="30" name="Shape 28"/>
          <p:cNvSpPr/>
          <p:nvPr/>
        </p:nvSpPr>
        <p:spPr>
          <a:xfrm>
            <a:off x="4297680" y="4206240"/>
            <a:ext cx="4480560" cy="438912"/>
          </a:xfrm>
          <a:prstGeom prst="roundRect">
            <a:avLst>
              <a:gd name="adj" fmla="val 12500"/>
            </a:avLst>
          </a:prstGeom>
          <a:solidFill>
            <a:srgbClr val="F4F2EE"/>
          </a:solidFill>
          <a:ln w="6350">
            <a:solidFill>
              <a:srgbClr val="D9D4CC"/>
            </a:solidFill>
            <a:prstDash val="solid"/>
          </a:ln>
        </p:spPr>
      </p:sp>
      <p:sp>
        <p:nvSpPr>
          <p:cNvPr id="31" name="Text 29"/>
          <p:cNvSpPr txBox="1"/>
          <p:nvPr/>
        </p:nvSpPr>
        <p:spPr>
          <a:xfrm>
            <a:off x="4407408" y="4206240"/>
            <a:ext cx="4261104" cy="438912"/>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Recovery Code  ·  Wallet Metadata</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4F2EE"/>
          </a:solidFill>
          <a:ln w="15875">
            <a:solidFill>
              <a:srgbClr val="F7931A"/>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4F2EE"/>
          </a:solidFill>
          <a:ln w="15875">
            <a:solidFill>
              <a:srgbClr val="3A4250"/>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4F2EE"/>
          </a:solidFill>
          <a:ln w="12700">
            <a:solidFill>
              <a:srgbClr val="F7931A"/>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4F2EE"/>
          </a:solidFill>
          <a:ln w="12700">
            <a:solidFill>
              <a:srgbClr val="F7931A"/>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4F2EE"/>
          </a:solidFill>
          <a:ln w="12700">
            <a:solidFill>
              <a:srgbClr val="F7931A"/>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4F2EE"/>
          </a:solidFill>
          <a:ln w="12700">
            <a:solidFill>
              <a:srgbClr val="F7931A"/>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4F2EE"/>
          </a:solidFill>
          <a:ln w="12700">
            <a:solidFill>
              <a:srgbClr val="F7931A"/>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paper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Key stretching makes guessing expensive</a:t>
            </a:r>
            <a:endParaRPr lang="en-US" sz="1300" dirty="0"/>
          </a:p>
        </p:txBody>
      </p:sp>
      <p:sp>
        <p:nvSpPr>
          <p:cNvPr id="6" name="Text 4"/>
          <p:cNvSpPr txBox="1"/>
          <p:nvPr/>
        </p:nvSpPr>
        <p:spPr>
          <a:xfrm>
            <a:off x="457200" y="137160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A backup phrase becomes the wallet seed</a:t>
            </a:r>
            <a:endParaRPr lang="en-US" sz="1450" dirty="0"/>
          </a:p>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2,048 HMAC rounds slow every guess</a:t>
            </a:r>
            <a:endParaRPr lang="en-US" sz="1450" dirty="0"/>
          </a:p>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Chapter 5 derives whole wallets from this</a:t>
            </a:r>
            <a:endParaRPr lang="en-US" sz="1450" dirty="0"/>
          </a:p>
        </p:txBody>
      </p:sp>
      <p:sp>
        <p:nvSpPr>
          <p:cNvPr id="7" name="Shape 5"/>
          <p:cNvSpPr/>
          <p:nvPr/>
        </p:nvSpPr>
        <p:spPr>
          <a:xfrm>
            <a:off x="3931920" y="1371600"/>
            <a:ext cx="4754880" cy="3017520"/>
          </a:xfrm>
          <a:prstGeom prst="roundRect">
            <a:avLst>
              <a:gd name="adj" fmla="val 3030"/>
            </a:avLst>
          </a:prstGeom>
          <a:solidFill>
            <a:srgbClr val="15191E"/>
          </a:solidFill>
          <a:ln w="12700">
            <a:solidFill>
              <a:srgbClr val="15191E"/>
            </a:solidFill>
            <a:prstDash val="solid"/>
          </a:ln>
        </p:spPr>
      </p:sp>
      <p:sp>
        <p:nvSpPr>
          <p:cNvPr id="8" name="Text 6"/>
          <p:cNvSpPr txBox="1"/>
          <p:nvPr/>
        </p:nvSpPr>
        <p:spPr>
          <a:xfrm>
            <a:off x="4114800" y="1490472"/>
            <a:ext cx="4389120" cy="277977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import hmac</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password, salt, iters = b'abandon', b'mnemonic', 2048</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u = hmac.new(password, salt + bytes([0, 0, 0, 1]),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seed =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range(iters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u = hmac.new(password, u,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seed = bytes(a ^ b for a, b in zip(seed,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(len(seed), seed.hex()[:8])</a:t>
            </a:r>
            <a:endParaRPr lang="en-US" sz="1000" dirty="0"/>
          </a:p>
        </p:txBody>
      </p:sp>
      <p:sp>
        <p:nvSpPr>
          <p:cNvPr id="9" name="Text 7"/>
          <p:cNvSpPr txBox="1"/>
          <p:nvPr/>
        </p:nvSpPr>
        <p:spPr>
          <a:xfrm>
            <a:off x="3931920" y="4407408"/>
            <a:ext cx="475488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(64, 'd96147bf')</a:t>
            </a:r>
            <a:endParaRPr lang="en-US" sz="1000" dirty="0"/>
          </a:p>
        </p:txBody>
      </p:sp>
      <p:sp>
        <p:nvSpPr>
          <p:cNvPr id="10" name="Text 8"/>
          <p:cNvSpPr txBox="1"/>
          <p:nvPr/>
        </p:nvSpPr>
        <p:spPr>
          <a:xfrm>
            <a:off x="3931920" y="4663440"/>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KeyStretching, lines 1 to 8 of 8, run under Python 3.14.4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463040"/>
            <a:ext cx="1700784" cy="1097280"/>
          </a:xfrm>
          <a:prstGeom prst="roundRect">
            <a:avLst>
              <a:gd name="adj" fmla="val 8333"/>
            </a:avLst>
          </a:prstGeom>
          <a:solidFill>
            <a:srgbClr val="3A4250"/>
          </a:solidFill>
          <a:ln w="12700">
            <a:solidFill>
              <a:srgbClr val="F7931A"/>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2011680"/>
            <a:ext cx="365760" cy="0"/>
          </a:xfrm>
          <a:prstGeom prst="line">
            <a:avLst/>
          </a:prstGeom>
          <a:noFill/>
          <a:ln w="25400">
            <a:solidFill>
              <a:srgbClr val="F7931A"/>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3A4250"/>
          </a:solidFill>
          <a:ln w="12700">
            <a:solidFill>
              <a:srgbClr val="F7931A"/>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2011680"/>
            <a:ext cx="365760" cy="0"/>
          </a:xfrm>
          <a:prstGeom prst="line">
            <a:avLst/>
          </a:prstGeom>
          <a:noFill/>
          <a:ln w="25400">
            <a:solidFill>
              <a:srgbClr val="F7931A"/>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3A4250"/>
          </a:solidFill>
          <a:ln w="12700">
            <a:solidFill>
              <a:srgbClr val="F7931A"/>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2011680"/>
            <a:ext cx="365760" cy="0"/>
          </a:xfrm>
          <a:prstGeom prst="line">
            <a:avLst/>
          </a:prstGeom>
          <a:noFill/>
          <a:ln w="25400">
            <a:solidFill>
              <a:srgbClr val="F7931A"/>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3A4250"/>
          </a:solidFill>
          <a:ln w="12700">
            <a:solidFill>
              <a:srgbClr val="F7931A"/>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the network accepts it</a:t>
            </a:r>
            <a:endParaRPr lang="en-US" sz="1250" dirty="0"/>
          </a:p>
        </p:txBody>
      </p:sp>
      <p:sp>
        <p:nvSpPr>
          <p:cNvPr id="17" name="Shape 15"/>
          <p:cNvSpPr/>
          <p:nvPr/>
        </p:nvSpPr>
        <p:spPr>
          <a:xfrm>
            <a:off x="457200" y="2880360"/>
            <a:ext cx="8229600" cy="1371600"/>
          </a:xfrm>
          <a:prstGeom prst="roundRect">
            <a:avLst>
              <a:gd name="adj" fmla="val 6667"/>
            </a:avLst>
          </a:prstGeom>
          <a:solidFill>
            <a:srgbClr val="15191E"/>
          </a:solidFill>
          <a:ln w="12700">
            <a:solidFill>
              <a:srgbClr val="15191E"/>
            </a:solidFill>
            <a:prstDash val="solid"/>
          </a:ln>
        </p:spPr>
      </p:sp>
      <p:sp>
        <p:nvSpPr>
          <p:cNvPr id="18" name="Text 16"/>
          <p:cNvSpPr txBox="1"/>
          <p:nvPr/>
        </p:nvSpPr>
        <p:spPr>
          <a:xfrm>
            <a:off x="640080" y="2999232"/>
            <a:ext cx="7863840" cy="113385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onchain, a, b = 2, 60_000, 40_000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range(100):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 b = a - 10, b + 10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(a, b, a + b, onchain)</a:t>
            </a:r>
            <a:endParaRPr lang="en-US" sz="1000" dirty="0"/>
          </a:p>
        </p:txBody>
      </p:sp>
      <p:sp>
        <p:nvSpPr>
          <p:cNvPr id="19" name="Text 17"/>
          <p:cNvSpPr txBox="1"/>
          <p:nvPr/>
        </p:nvSpPr>
        <p:spPr>
          <a:xfrm>
            <a:off x="457200" y="4270248"/>
            <a:ext cx="822960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(59000, 41000, 100000, 2)</a:t>
            </a:r>
            <a:endParaRPr lang="en-US" sz="1000" dirty="0"/>
          </a:p>
        </p:txBody>
      </p:sp>
      <p:sp>
        <p:nvSpPr>
          <p:cNvPr id="20" name="Text 18"/>
          <p:cNvSpPr txBox="1"/>
          <p:nvPr/>
        </p:nvSpPr>
        <p:spPr>
          <a:xfrm>
            <a:off x="457200" y="452628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PaymentChannel, lines 1 to 4 of 4, run under Python 3.14.4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Foundations</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two old problems Bitcoin finally joined up</a:t>
            </a:r>
            <a:endParaRPr lang="en-US" sz="1500" dirty="0"/>
          </a:p>
        </p:txBody>
      </p:sp>
      <p:sp>
        <p:nvSpPr>
          <p:cNvPr id="5" name="Shape 3"/>
          <p:cNvSpPr/>
          <p:nvPr/>
        </p:nvSpPr>
        <p:spPr>
          <a:xfrm>
            <a:off x="777240" y="2697480"/>
            <a:ext cx="1856232" cy="1737360"/>
          </a:xfrm>
          <a:prstGeom prst="roundRect">
            <a:avLst>
              <a:gd name="adj" fmla="val 4211"/>
            </a:avLst>
          </a:prstGeom>
          <a:solidFill>
            <a:srgbClr val="3A4250"/>
          </a:solidFill>
          <a:ln w="12700">
            <a:solidFill>
              <a:srgbClr val="F7931A"/>
            </a:solidFill>
            <a:prstDash val="solid"/>
          </a:ln>
        </p:spPr>
      </p:sp>
      <p:sp>
        <p:nvSpPr>
          <p:cNvPr id="6" name="Text 4"/>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pPr algn="ctr" indent="0" marL="0">
              <a:buNone/>
            </a:pPr>
            <a:endParaRPr lang="en-US" sz="1400" dirty="0"/>
          </a:p>
        </p:txBody>
      </p:sp>
      <p:sp>
        <p:nvSpPr>
          <p:cNvPr id="7" name="Shape 5"/>
          <p:cNvSpPr/>
          <p:nvPr/>
        </p:nvSpPr>
        <p:spPr>
          <a:xfrm>
            <a:off x="2779776" y="2697480"/>
            <a:ext cx="1856232" cy="1737360"/>
          </a:xfrm>
          <a:prstGeom prst="roundRect">
            <a:avLst>
              <a:gd name="adj" fmla="val 4211"/>
            </a:avLst>
          </a:prstGeom>
          <a:solidFill>
            <a:srgbClr val="3A4250"/>
          </a:solidFill>
          <a:ln w="12700">
            <a:solidFill>
              <a:srgbClr val="F7931A"/>
            </a:solidFill>
            <a:prstDash val="solid"/>
          </a:ln>
        </p:spPr>
      </p:sp>
      <p:sp>
        <p:nvSpPr>
          <p:cNvPr id="8" name="Text 6"/>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pPr algn="ctr" indent="0" marL="0">
              <a:buNone/>
            </a:pPr>
            <a:endParaRPr lang="en-US" sz="1400" dirty="0"/>
          </a:p>
        </p:txBody>
      </p:sp>
      <p:sp>
        <p:nvSpPr>
          <p:cNvPr id="9" name="Shape 7"/>
          <p:cNvSpPr/>
          <p:nvPr/>
        </p:nvSpPr>
        <p:spPr>
          <a:xfrm>
            <a:off x="4782312" y="2697480"/>
            <a:ext cx="1856232" cy="1737360"/>
          </a:xfrm>
          <a:prstGeom prst="roundRect">
            <a:avLst>
              <a:gd name="adj" fmla="val 4211"/>
            </a:avLst>
          </a:prstGeom>
          <a:solidFill>
            <a:srgbClr val="3A4250"/>
          </a:solidFill>
          <a:ln w="12700">
            <a:solidFill>
              <a:srgbClr val="F7931A"/>
            </a:solidFill>
            <a:prstDash val="solid"/>
          </a:ln>
        </p:spPr>
      </p:sp>
      <p:sp>
        <p:nvSpPr>
          <p:cNvPr id="10" name="Text 8"/>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pPr algn="ctr" indent="0" marL="0">
              <a:buNone/>
            </a:pPr>
            <a:endParaRPr lang="en-US" sz="1400" dirty="0"/>
          </a:p>
        </p:txBody>
      </p:sp>
      <p:sp>
        <p:nvSpPr>
          <p:cNvPr id="11" name="Shape 9"/>
          <p:cNvSpPr/>
          <p:nvPr/>
        </p:nvSpPr>
        <p:spPr>
          <a:xfrm>
            <a:off x="6784848" y="2697480"/>
            <a:ext cx="1856232" cy="1737360"/>
          </a:xfrm>
          <a:prstGeom prst="roundRect">
            <a:avLst>
              <a:gd name="adj" fmla="val 4211"/>
            </a:avLst>
          </a:prstGeom>
          <a:solidFill>
            <a:srgbClr val="3A4250"/>
          </a:solidFill>
          <a:ln w="12700">
            <a:solidFill>
              <a:srgbClr val="F7931A"/>
            </a:solidFill>
            <a:prstDash val="solid"/>
          </a:ln>
        </p:spPr>
      </p:sp>
      <p:sp>
        <p:nvSpPr>
          <p:cNvPr id="12" name="Text 10"/>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pPr algn="ctr" indent="0" marL="0">
              <a:buNone/>
            </a:pP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4F2EE"/>
          </a:solidFill>
          <a:ln w="12700">
            <a:solidFill>
              <a:srgbClr val="F4F2EE"/>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3A4250"/>
          </a:solidFill>
          <a:ln w="12700">
            <a:solidFill>
              <a:srgbClr val="F7931A"/>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F7931A"/>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3A4250"/>
          </a:solidFill>
          <a:ln w="12700">
            <a:solidFill>
              <a:srgbClr val="F7931A"/>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F7931A"/>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3A4250"/>
          </a:solidFill>
          <a:ln w="12700">
            <a:solidFill>
              <a:srgbClr val="F7931A"/>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F7931A"/>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3A4250"/>
          </a:solidFill>
          <a:ln w="12700">
            <a:solidFill>
              <a:srgbClr val="F7931A"/>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F7931A"/>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3A4250"/>
          </a:solidFill>
          <a:ln w="12700">
            <a:solidFill>
              <a:srgbClr val="F7931A"/>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C9D1DA"/>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F2933"/>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1F2933"/>
                </a:solidFill>
                <a:latin typeface="Calibri" pitchFamily="34" charset="0"/>
                <a:ea typeface="Calibri" pitchFamily="34" charset="-122"/>
                <a:cs typeface="Calibri" pitchFamily="34" charset="-120"/>
              </a:rPr>
              <a:t>Every later chapter opens one of these boxes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Text 4"/>
          <p:cNvSpPr txBox="1"/>
          <p:nvPr/>
        </p:nvSpPr>
        <p:spPr>
          <a:xfrm>
            <a:off x="457200" y="137160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Change one byte and every later link breaks</a:t>
            </a:r>
            <a:endParaRPr lang="en-US" sz="1450" dirty="0"/>
          </a:p>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Verification is recomputing, not trusting</a:t>
            </a:r>
            <a:endParaRPr lang="en-US" sz="1450" dirty="0"/>
          </a:p>
        </p:txBody>
      </p:sp>
      <p:sp>
        <p:nvSpPr>
          <p:cNvPr id="7" name="Shape 5"/>
          <p:cNvSpPr/>
          <p:nvPr/>
        </p:nvSpPr>
        <p:spPr>
          <a:xfrm>
            <a:off x="3931920" y="1371600"/>
            <a:ext cx="4754880" cy="3017520"/>
          </a:xfrm>
          <a:prstGeom prst="roundRect">
            <a:avLst>
              <a:gd name="adj" fmla="val 3030"/>
            </a:avLst>
          </a:prstGeom>
          <a:solidFill>
            <a:srgbClr val="15191E"/>
          </a:solidFill>
          <a:ln w="12700">
            <a:solidFill>
              <a:srgbClr val="15191E"/>
            </a:solidFill>
            <a:prstDash val="solid"/>
          </a:ln>
        </p:spPr>
      </p:sp>
      <p:sp>
        <p:nvSpPr>
          <p:cNvPr id="8" name="Text 6"/>
          <p:cNvSpPr txBox="1"/>
          <p:nvPr/>
        </p:nvSpPr>
        <p:spPr>
          <a:xfrm>
            <a:off x="4114800" y="1490472"/>
            <a:ext cx="4389120" cy="277977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import hashlib</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link(prev, data): return hashlib.sha256((prev + data).encode()).hexdigest()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data = ['Joe pays Alice 1', 'Alice pays Eve 2', 'Eve pays Joe 3']</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build(items):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hs, prev = [], 'genesis'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d in items: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prev = link(prev, d); hs.append(prev)</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hs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stored = build(data)</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tampered = ['Joe pays Alice 100'] + data[1:]</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950" dirty="0"/>
          </a:p>
        </p:txBody>
      </p:sp>
      <p:sp>
        <p:nvSpPr>
          <p:cNvPr id="9" name="Text 7"/>
          <p:cNvSpPr txBox="1"/>
          <p:nvPr/>
        </p:nvSpPr>
        <p:spPr>
          <a:xfrm>
            <a:off x="3931920" y="4407408"/>
            <a:ext cx="4754880" cy="256032"/>
          </a:xfrm>
          <a:prstGeom prst="rect">
            <a:avLst/>
          </a:prstGeom>
          <a:noFill/>
          <a:ln/>
        </p:spPr>
        <p:txBody>
          <a:bodyPr wrap="square" lIns="0" tIns="0" rIns="0" bIns="0" rtlCol="0" anchor="ctr"/>
          <a:lstStyle/>
          <a:p>
            <a:pPr indent="0" marL="0">
              <a:buNone/>
            </a:pPr>
            <a:r>
              <a:rPr lang="en-US" sz="950" b="1" dirty="0">
                <a:solidFill>
                  <a:srgbClr val="F7931A"/>
                </a:solidFill>
                <a:latin typeface="Courier New" pitchFamily="34" charset="0"/>
                <a:ea typeface="Courier New" pitchFamily="34" charset="-122"/>
                <a:cs typeface="Courier New" pitchFamily="34" charset="-120"/>
              </a:rPr>
              <a:t>result  </a:t>
            </a:r>
            <a:pPr indent="0" marL="0">
              <a:buNone/>
            </a:pPr>
            <a:r>
              <a:rPr lang="en-US" sz="950" dirty="0">
                <a:solidFill>
                  <a:srgbClr val="1B1F24"/>
                </a:solidFill>
                <a:latin typeface="Courier New" pitchFamily="34" charset="0"/>
                <a:ea typeface="Courier New" pitchFamily="34" charset="-122"/>
                <a:cs typeface="Courier New" pitchFamily="34" charset="-120"/>
              </a:rPr>
              <a:t>(True, False)</a:t>
            </a:r>
            <a:endParaRPr lang="en-US" sz="950" dirty="0"/>
          </a:p>
        </p:txBody>
      </p:sp>
      <p:sp>
        <p:nvSpPr>
          <p:cNvPr id="10" name="Text 8"/>
          <p:cNvSpPr txBox="1"/>
          <p:nvPr/>
        </p:nvSpPr>
        <p:spPr>
          <a:xfrm>
            <a:off x="3931920" y="4663440"/>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Blockchain, lines 1 to 11 of 11, run under Python 3.14.4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vocabularies the whole book leans on</a:t>
            </a:r>
            <a:endParaRPr lang="en-US" sz="1300" dirty="0"/>
          </a:p>
        </p:txBody>
      </p:sp>
      <p:sp>
        <p:nvSpPr>
          <p:cNvPr id="6" name="Shape 4"/>
          <p:cNvSpPr/>
          <p:nvPr/>
        </p:nvSpPr>
        <p:spPr>
          <a:xfrm>
            <a:off x="365760" y="2651760"/>
            <a:ext cx="1417320" cy="548640"/>
          </a:xfrm>
          <a:prstGeom prst="roundRect">
            <a:avLst>
              <a:gd name="adj" fmla="val 16667"/>
            </a:avLst>
          </a:prstGeom>
          <a:solidFill>
            <a:srgbClr val="F7931A"/>
          </a:solidFill>
          <a:ln w="12700">
            <a:solidFill>
              <a:srgbClr val="F7931A"/>
            </a:solidFill>
            <a:prstDash val="solid"/>
          </a:ln>
        </p:spPr>
      </p:sp>
      <p:sp>
        <p:nvSpPr>
          <p:cNvPr id="7" name="Text 5"/>
          <p:cNvSpPr txBox="1"/>
          <p:nvPr/>
        </p:nvSpPr>
        <p:spPr>
          <a:xfrm>
            <a:off x="365760" y="265176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8" name="Shape 6"/>
          <p:cNvSpPr/>
          <p:nvPr/>
        </p:nvSpPr>
        <p:spPr>
          <a:xfrm flipV="1">
            <a:off x="1783080" y="1517904"/>
            <a:ext cx="502920" cy="1408176"/>
          </a:xfrm>
          <a:prstGeom prst="line">
            <a:avLst/>
          </a:prstGeom>
          <a:noFill/>
          <a:ln w="13970">
            <a:solidFill>
              <a:srgbClr val="C9D1DA"/>
            </a:solidFill>
            <a:prstDash val="solid"/>
          </a:ln>
        </p:spPr>
      </p:sp>
      <p:sp>
        <p:nvSpPr>
          <p:cNvPr id="9" name="Shape 7"/>
          <p:cNvSpPr/>
          <p:nvPr/>
        </p:nvSpPr>
        <p:spPr>
          <a:xfrm>
            <a:off x="2331720" y="1280160"/>
            <a:ext cx="1691640" cy="475488"/>
          </a:xfrm>
          <a:prstGeom prst="roundRect">
            <a:avLst>
              <a:gd name="adj" fmla="val 15385"/>
            </a:avLst>
          </a:prstGeom>
          <a:solidFill>
            <a:srgbClr val="3A4250"/>
          </a:solidFill>
          <a:ln w="9525">
            <a:solidFill>
              <a:srgbClr val="D9D4CC"/>
            </a:solidFill>
            <a:prstDash val="solid"/>
          </a:ln>
        </p:spPr>
      </p:sp>
      <p:sp>
        <p:nvSpPr>
          <p:cNvPr id="10" name="Text 8"/>
          <p:cNvSpPr txBox="1"/>
          <p:nvPr/>
        </p:nvSpPr>
        <p:spPr>
          <a:xfrm>
            <a:off x="2386584" y="12801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1" name="Shape 9"/>
          <p:cNvSpPr/>
          <p:nvPr/>
        </p:nvSpPr>
        <p:spPr>
          <a:xfrm>
            <a:off x="4023360" y="1517904"/>
            <a:ext cx="274320" cy="0"/>
          </a:xfrm>
          <a:prstGeom prst="line">
            <a:avLst/>
          </a:prstGeom>
          <a:noFill/>
          <a:ln w="13970">
            <a:solidFill>
              <a:srgbClr val="C9D1DA"/>
            </a:solidFill>
            <a:prstDash val="solid"/>
          </a:ln>
        </p:spPr>
      </p:sp>
      <p:sp>
        <p:nvSpPr>
          <p:cNvPr id="12" name="Shape 10"/>
          <p:cNvSpPr/>
          <p:nvPr/>
        </p:nvSpPr>
        <p:spPr>
          <a:xfrm>
            <a:off x="4297680" y="1298448"/>
            <a:ext cx="4480560" cy="438912"/>
          </a:xfrm>
          <a:prstGeom prst="roundRect">
            <a:avLst>
              <a:gd name="adj" fmla="val 12500"/>
            </a:avLst>
          </a:prstGeom>
          <a:solidFill>
            <a:srgbClr val="F4F2EE"/>
          </a:solidFill>
          <a:ln w="6350">
            <a:solidFill>
              <a:srgbClr val="D9D4CC"/>
            </a:solidFill>
            <a:prstDash val="solid"/>
          </a:ln>
        </p:spPr>
      </p:sp>
      <p:sp>
        <p:nvSpPr>
          <p:cNvPr id="13" name="Text 11"/>
          <p:cNvSpPr txBox="1"/>
          <p:nvPr/>
        </p:nvSpPr>
        <p:spPr>
          <a:xfrm>
            <a:off x="4407408" y="1298448"/>
            <a:ext cx="4261104" cy="438912"/>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4" name="Shape 12"/>
          <p:cNvSpPr/>
          <p:nvPr/>
        </p:nvSpPr>
        <p:spPr>
          <a:xfrm flipV="1">
            <a:off x="1783080" y="2456688"/>
            <a:ext cx="502920" cy="469392"/>
          </a:xfrm>
          <a:prstGeom prst="line">
            <a:avLst/>
          </a:prstGeom>
          <a:noFill/>
          <a:ln w="13970">
            <a:solidFill>
              <a:srgbClr val="C9D1DA"/>
            </a:solidFill>
            <a:prstDash val="solid"/>
          </a:ln>
        </p:spPr>
      </p:sp>
      <p:sp>
        <p:nvSpPr>
          <p:cNvPr id="15" name="Shape 13"/>
          <p:cNvSpPr/>
          <p:nvPr/>
        </p:nvSpPr>
        <p:spPr>
          <a:xfrm>
            <a:off x="2331720" y="2218944"/>
            <a:ext cx="1691640" cy="475488"/>
          </a:xfrm>
          <a:prstGeom prst="roundRect">
            <a:avLst>
              <a:gd name="adj" fmla="val 15385"/>
            </a:avLst>
          </a:prstGeom>
          <a:solidFill>
            <a:srgbClr val="3A4250"/>
          </a:solidFill>
          <a:ln w="9525">
            <a:solidFill>
              <a:srgbClr val="D9D4CC"/>
            </a:solidFill>
            <a:prstDash val="solid"/>
          </a:ln>
        </p:spPr>
      </p:sp>
      <p:sp>
        <p:nvSpPr>
          <p:cNvPr id="16" name="Text 14"/>
          <p:cNvSpPr txBox="1"/>
          <p:nvPr/>
        </p:nvSpPr>
        <p:spPr>
          <a:xfrm>
            <a:off x="2386584" y="2218944"/>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7" name="Shape 15"/>
          <p:cNvSpPr/>
          <p:nvPr/>
        </p:nvSpPr>
        <p:spPr>
          <a:xfrm>
            <a:off x="4023360" y="2456688"/>
            <a:ext cx="274320" cy="0"/>
          </a:xfrm>
          <a:prstGeom prst="line">
            <a:avLst/>
          </a:prstGeom>
          <a:noFill/>
          <a:ln w="13970">
            <a:solidFill>
              <a:srgbClr val="C9D1DA"/>
            </a:solidFill>
            <a:prstDash val="solid"/>
          </a:ln>
        </p:spPr>
      </p:sp>
      <p:sp>
        <p:nvSpPr>
          <p:cNvPr id="18" name="Shape 16"/>
          <p:cNvSpPr/>
          <p:nvPr/>
        </p:nvSpPr>
        <p:spPr>
          <a:xfrm>
            <a:off x="4297680" y="2237232"/>
            <a:ext cx="4480560" cy="438912"/>
          </a:xfrm>
          <a:prstGeom prst="roundRect">
            <a:avLst>
              <a:gd name="adj" fmla="val 12500"/>
            </a:avLst>
          </a:prstGeom>
          <a:solidFill>
            <a:srgbClr val="F4F2EE"/>
          </a:solidFill>
          <a:ln w="6350">
            <a:solidFill>
              <a:srgbClr val="D9D4CC"/>
            </a:solidFill>
            <a:prstDash val="solid"/>
          </a:ln>
        </p:spPr>
      </p:sp>
      <p:sp>
        <p:nvSpPr>
          <p:cNvPr id="19" name="Text 17"/>
          <p:cNvSpPr txBox="1"/>
          <p:nvPr/>
        </p:nvSpPr>
        <p:spPr>
          <a:xfrm>
            <a:off x="4407408" y="2237232"/>
            <a:ext cx="4261104" cy="438912"/>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Block  ·  Blockchain  ·  Timestamp  ·  Node</a:t>
            </a:r>
            <a:endParaRPr lang="en-US" sz="1100" dirty="0"/>
          </a:p>
        </p:txBody>
      </p:sp>
      <p:sp>
        <p:nvSpPr>
          <p:cNvPr id="20" name="Shape 18"/>
          <p:cNvSpPr/>
          <p:nvPr/>
        </p:nvSpPr>
        <p:spPr>
          <a:xfrm>
            <a:off x="1783080" y="2926080"/>
            <a:ext cx="502920" cy="469392"/>
          </a:xfrm>
          <a:prstGeom prst="line">
            <a:avLst/>
          </a:prstGeom>
          <a:noFill/>
          <a:ln w="13970">
            <a:solidFill>
              <a:srgbClr val="C9D1DA"/>
            </a:solidFill>
            <a:prstDash val="solid"/>
          </a:ln>
        </p:spPr>
      </p:sp>
      <p:sp>
        <p:nvSpPr>
          <p:cNvPr id="21" name="Shape 19"/>
          <p:cNvSpPr/>
          <p:nvPr/>
        </p:nvSpPr>
        <p:spPr>
          <a:xfrm>
            <a:off x="2331720" y="3157728"/>
            <a:ext cx="1691640" cy="475488"/>
          </a:xfrm>
          <a:prstGeom prst="roundRect">
            <a:avLst>
              <a:gd name="adj" fmla="val 15385"/>
            </a:avLst>
          </a:prstGeom>
          <a:solidFill>
            <a:srgbClr val="3A4250"/>
          </a:solidFill>
          <a:ln w="9525">
            <a:solidFill>
              <a:srgbClr val="D9D4CC"/>
            </a:solidFill>
            <a:prstDash val="solid"/>
          </a:ln>
        </p:spPr>
      </p:sp>
      <p:sp>
        <p:nvSpPr>
          <p:cNvPr id="22" name="Text 20"/>
          <p:cNvSpPr txBox="1"/>
          <p:nvPr/>
        </p:nvSpPr>
        <p:spPr>
          <a:xfrm>
            <a:off x="2386584" y="31577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3" name="Shape 21"/>
          <p:cNvSpPr/>
          <p:nvPr/>
        </p:nvSpPr>
        <p:spPr>
          <a:xfrm>
            <a:off x="4023360" y="3395472"/>
            <a:ext cx="274320" cy="0"/>
          </a:xfrm>
          <a:prstGeom prst="line">
            <a:avLst/>
          </a:prstGeom>
          <a:noFill/>
          <a:ln w="13970">
            <a:solidFill>
              <a:srgbClr val="C9D1DA"/>
            </a:solidFill>
            <a:prstDash val="solid"/>
          </a:ln>
        </p:spPr>
      </p:sp>
      <p:sp>
        <p:nvSpPr>
          <p:cNvPr id="24" name="Shape 22"/>
          <p:cNvSpPr/>
          <p:nvPr/>
        </p:nvSpPr>
        <p:spPr>
          <a:xfrm>
            <a:off x="4297680" y="3176016"/>
            <a:ext cx="4480560" cy="438912"/>
          </a:xfrm>
          <a:prstGeom prst="roundRect">
            <a:avLst>
              <a:gd name="adj" fmla="val 12500"/>
            </a:avLst>
          </a:prstGeom>
          <a:solidFill>
            <a:srgbClr val="F4F2EE"/>
          </a:solidFill>
          <a:ln w="6350">
            <a:solidFill>
              <a:srgbClr val="D9D4CC"/>
            </a:solidFill>
            <a:prstDash val="solid"/>
          </a:ln>
        </p:spPr>
      </p:sp>
      <p:sp>
        <p:nvSpPr>
          <p:cNvPr id="25" name="Text 23"/>
          <p:cNvSpPr txBox="1"/>
          <p:nvPr/>
        </p:nvSpPr>
        <p:spPr>
          <a:xfrm>
            <a:off x="4407408" y="3176016"/>
            <a:ext cx="4261104" cy="438912"/>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6" name="Shape 24"/>
          <p:cNvSpPr/>
          <p:nvPr/>
        </p:nvSpPr>
        <p:spPr>
          <a:xfrm>
            <a:off x="1783080" y="2926080"/>
            <a:ext cx="502920" cy="1408176"/>
          </a:xfrm>
          <a:prstGeom prst="line">
            <a:avLst/>
          </a:prstGeom>
          <a:noFill/>
          <a:ln w="13970">
            <a:solidFill>
              <a:srgbClr val="C9D1DA"/>
            </a:solidFill>
            <a:prstDash val="solid"/>
          </a:ln>
        </p:spPr>
      </p:sp>
      <p:sp>
        <p:nvSpPr>
          <p:cNvPr id="27" name="Shape 25"/>
          <p:cNvSpPr/>
          <p:nvPr/>
        </p:nvSpPr>
        <p:spPr>
          <a:xfrm>
            <a:off x="2331720" y="4096512"/>
            <a:ext cx="1691640" cy="475488"/>
          </a:xfrm>
          <a:prstGeom prst="roundRect">
            <a:avLst>
              <a:gd name="adj" fmla="val 15385"/>
            </a:avLst>
          </a:prstGeom>
          <a:solidFill>
            <a:srgbClr val="3A4250"/>
          </a:solidFill>
          <a:ln w="9525">
            <a:solidFill>
              <a:srgbClr val="D9D4CC"/>
            </a:solidFill>
            <a:prstDash val="solid"/>
          </a:ln>
        </p:spPr>
      </p:sp>
      <p:sp>
        <p:nvSpPr>
          <p:cNvPr id="28" name="Text 26"/>
          <p:cNvSpPr txBox="1"/>
          <p:nvPr/>
        </p:nvSpPr>
        <p:spPr>
          <a:xfrm>
            <a:off x="2386584" y="409651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29" name="Shape 27"/>
          <p:cNvSpPr/>
          <p:nvPr/>
        </p:nvSpPr>
        <p:spPr>
          <a:xfrm>
            <a:off x="4023360" y="4334256"/>
            <a:ext cx="274320" cy="0"/>
          </a:xfrm>
          <a:prstGeom prst="line">
            <a:avLst/>
          </a:prstGeom>
          <a:noFill/>
          <a:ln w="13970">
            <a:solidFill>
              <a:srgbClr val="C9D1DA"/>
            </a:solidFill>
            <a:prstDash val="solid"/>
          </a:ln>
        </p:spPr>
      </p:sp>
      <p:sp>
        <p:nvSpPr>
          <p:cNvPr id="30" name="Shape 28"/>
          <p:cNvSpPr/>
          <p:nvPr/>
        </p:nvSpPr>
        <p:spPr>
          <a:xfrm>
            <a:off x="4297680" y="4114800"/>
            <a:ext cx="4480560" cy="438912"/>
          </a:xfrm>
          <a:prstGeom prst="roundRect">
            <a:avLst>
              <a:gd name="adj" fmla="val 12500"/>
            </a:avLst>
          </a:prstGeom>
          <a:solidFill>
            <a:srgbClr val="F4F2EE"/>
          </a:solidFill>
          <a:ln w="6350">
            <a:solidFill>
              <a:srgbClr val="D9D4CC"/>
            </a:solidFill>
            <a:prstDash val="solid"/>
          </a:ln>
        </p:spPr>
      </p:sp>
      <p:sp>
        <p:nvSpPr>
          <p:cNvPr id="31" name="Text 29"/>
          <p:cNvSpPr txBox="1"/>
          <p:nvPr/>
        </p:nvSpPr>
        <p:spPr>
          <a:xfrm>
            <a:off x="4407408" y="4114800"/>
            <a:ext cx="4261104" cy="438912"/>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Malware  ·  Phishing</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325880"/>
            <a:ext cx="8229600" cy="365760"/>
          </a:xfrm>
          <a:prstGeom prst="rect">
            <a:avLst/>
          </a:prstGeom>
          <a:noFill/>
          <a:ln/>
        </p:spPr>
        <p:txBody>
          <a:bodyPr wrap="square" lIns="0" tIns="0" rIns="0" bIns="0" rtlCol="0" anchor="t"/>
          <a:lstStyle/>
          <a:p>
            <a:pPr algn="l" indent="0" marL="0">
              <a:buNone/>
            </a:pPr>
            <a:r>
              <a:rPr lang="en-US" sz="1500" b="1" dirty="0">
                <a:solidFill>
                  <a:srgbClr val="1B1F24"/>
                </a:solidFill>
                <a:latin typeface="Calibri" pitchFamily="34" charset="0"/>
                <a:ea typeface="Calibri" pitchFamily="34" charset="-122"/>
                <a:cs typeface="Calibri" pitchFamily="34" charset="-120"/>
              </a:rPr>
              <a:t>Characteristics - each one a design choice</a:t>
            </a:r>
            <a:endParaRPr lang="en-US" sz="1500" dirty="0"/>
          </a:p>
        </p:txBody>
      </p:sp>
      <p:sp>
        <p:nvSpPr>
          <p:cNvPr id="7" name="Shape 5"/>
          <p:cNvSpPr/>
          <p:nvPr/>
        </p:nvSpPr>
        <p:spPr>
          <a:xfrm>
            <a:off x="457200" y="1783080"/>
            <a:ext cx="1414577" cy="530352"/>
          </a:xfrm>
          <a:prstGeom prst="roundRect">
            <a:avLst>
              <a:gd name="adj" fmla="val 50000"/>
            </a:avLst>
          </a:prstGeom>
          <a:solidFill>
            <a:srgbClr val="F4F2EE"/>
          </a:solidFill>
          <a:ln w="12700">
            <a:solidFill>
              <a:srgbClr val="F7931A"/>
            </a:solidFill>
            <a:prstDash val="solid"/>
          </a:ln>
        </p:spPr>
      </p:sp>
      <p:sp>
        <p:nvSpPr>
          <p:cNvPr id="8" name="Text 6"/>
          <p:cNvSpPr txBox="1"/>
          <p:nvPr/>
        </p:nvSpPr>
        <p:spPr>
          <a:xfrm>
            <a:off x="457200" y="1783080"/>
            <a:ext cx="1414577" cy="530352"/>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Virtual</a:t>
            </a:r>
            <a:endParaRPr lang="en-US" sz="1400" dirty="0"/>
          </a:p>
        </p:txBody>
      </p:sp>
      <p:sp>
        <p:nvSpPr>
          <p:cNvPr id="9" name="Shape 7"/>
          <p:cNvSpPr/>
          <p:nvPr/>
        </p:nvSpPr>
        <p:spPr>
          <a:xfrm>
            <a:off x="2072945" y="1783080"/>
            <a:ext cx="1856232" cy="530352"/>
          </a:xfrm>
          <a:prstGeom prst="roundRect">
            <a:avLst>
              <a:gd name="adj" fmla="val 50000"/>
            </a:avLst>
          </a:prstGeom>
          <a:solidFill>
            <a:srgbClr val="F4F2EE"/>
          </a:solidFill>
          <a:ln w="12700">
            <a:solidFill>
              <a:srgbClr val="F7931A"/>
            </a:solidFill>
            <a:prstDash val="solid"/>
          </a:ln>
        </p:spPr>
      </p:sp>
      <p:sp>
        <p:nvSpPr>
          <p:cNvPr id="10" name="Text 8"/>
          <p:cNvSpPr txBox="1"/>
          <p:nvPr/>
        </p:nvSpPr>
        <p:spPr>
          <a:xfrm>
            <a:off x="2072945" y="1783080"/>
            <a:ext cx="1856232" cy="530352"/>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Borderless</a:t>
            </a:r>
            <a:endParaRPr lang="en-US" sz="1400" dirty="0"/>
          </a:p>
        </p:txBody>
      </p:sp>
      <p:sp>
        <p:nvSpPr>
          <p:cNvPr id="11" name="Shape 9"/>
          <p:cNvSpPr/>
          <p:nvPr/>
        </p:nvSpPr>
        <p:spPr>
          <a:xfrm>
            <a:off x="4130345" y="1783080"/>
            <a:ext cx="2297887" cy="530352"/>
          </a:xfrm>
          <a:prstGeom prst="roundRect">
            <a:avLst>
              <a:gd name="adj" fmla="val 50000"/>
            </a:avLst>
          </a:prstGeom>
          <a:solidFill>
            <a:srgbClr val="F4F2EE"/>
          </a:solidFill>
          <a:ln w="12700">
            <a:solidFill>
              <a:srgbClr val="F7931A"/>
            </a:solidFill>
            <a:prstDash val="solid"/>
          </a:ln>
        </p:spPr>
      </p:sp>
      <p:sp>
        <p:nvSpPr>
          <p:cNvPr id="12" name="Text 10"/>
          <p:cNvSpPr txBox="1"/>
          <p:nvPr/>
        </p:nvSpPr>
        <p:spPr>
          <a:xfrm>
            <a:off x="4130345" y="1783080"/>
            <a:ext cx="2297887" cy="530352"/>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Decentralized</a:t>
            </a:r>
            <a:endParaRPr lang="en-US" sz="1400" dirty="0"/>
          </a:p>
        </p:txBody>
      </p:sp>
      <p:sp>
        <p:nvSpPr>
          <p:cNvPr id="13" name="Shape 11"/>
          <p:cNvSpPr/>
          <p:nvPr/>
        </p:nvSpPr>
        <p:spPr>
          <a:xfrm>
            <a:off x="6629400" y="1783080"/>
            <a:ext cx="1267358" cy="530352"/>
          </a:xfrm>
          <a:prstGeom prst="roundRect">
            <a:avLst>
              <a:gd name="adj" fmla="val 50000"/>
            </a:avLst>
          </a:prstGeom>
          <a:solidFill>
            <a:srgbClr val="F4F2EE"/>
          </a:solidFill>
          <a:ln w="12700">
            <a:solidFill>
              <a:srgbClr val="F7931A"/>
            </a:solidFill>
            <a:prstDash val="solid"/>
          </a:ln>
        </p:spPr>
      </p:sp>
      <p:sp>
        <p:nvSpPr>
          <p:cNvPr id="14" name="Text 12"/>
          <p:cNvSpPr txBox="1"/>
          <p:nvPr/>
        </p:nvSpPr>
        <p:spPr>
          <a:xfrm>
            <a:off x="6629400" y="1783080"/>
            <a:ext cx="1267358" cy="530352"/>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Robust</a:t>
            </a:r>
            <a:endParaRPr lang="en-US" sz="1400" dirty="0"/>
          </a:p>
        </p:txBody>
      </p:sp>
      <p:sp>
        <p:nvSpPr>
          <p:cNvPr id="15" name="Text 13"/>
          <p:cNvSpPr txBox="1"/>
          <p:nvPr/>
        </p:nvSpPr>
        <p:spPr>
          <a:xfrm>
            <a:off x="457200" y="2697480"/>
            <a:ext cx="8229600" cy="365760"/>
          </a:xfrm>
          <a:prstGeom prst="rect">
            <a:avLst/>
          </a:prstGeom>
          <a:noFill/>
          <a:ln/>
        </p:spPr>
        <p:txBody>
          <a:bodyPr wrap="square" lIns="0" tIns="0" rIns="0" bIns="0" rtlCol="0" anchor="t"/>
          <a:lstStyle/>
          <a:p>
            <a:pPr algn="l" indent="0" marL="0">
              <a:buNone/>
            </a:pPr>
            <a:r>
              <a:rPr lang="en-US" sz="1500" b="1" dirty="0">
                <a:solidFill>
                  <a:srgbClr val="1B1F24"/>
                </a:solidFill>
                <a:latin typeface="Calibri" pitchFamily="34" charset="0"/>
                <a:ea typeface="Calibri" pitchFamily="34" charset="-122"/>
                <a:cs typeface="Calibri" pitchFamily="34" charset="-120"/>
              </a:rPr>
              <a:t>The architecture that delivers them</a:t>
            </a:r>
            <a:endParaRPr lang="en-US" sz="1500" dirty="0"/>
          </a:p>
        </p:txBody>
      </p:sp>
      <p:sp>
        <p:nvSpPr>
          <p:cNvPr id="16" name="Shape 14"/>
          <p:cNvSpPr/>
          <p:nvPr/>
        </p:nvSpPr>
        <p:spPr>
          <a:xfrm>
            <a:off x="457200" y="3154680"/>
            <a:ext cx="3475634" cy="530352"/>
          </a:xfrm>
          <a:prstGeom prst="roundRect">
            <a:avLst>
              <a:gd name="adj" fmla="val 50000"/>
            </a:avLst>
          </a:prstGeom>
          <a:solidFill>
            <a:srgbClr val="F4F2EE"/>
          </a:solidFill>
          <a:ln w="12700">
            <a:solidFill>
              <a:srgbClr val="F7931A"/>
            </a:solidFill>
            <a:prstDash val="solid"/>
          </a:ln>
        </p:spPr>
      </p:sp>
      <p:sp>
        <p:nvSpPr>
          <p:cNvPr id="17" name="Text 15"/>
          <p:cNvSpPr txBox="1"/>
          <p:nvPr/>
        </p:nvSpPr>
        <p:spPr>
          <a:xfrm>
            <a:off x="457200" y="3154680"/>
            <a:ext cx="3475634" cy="530352"/>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Peer To Peer Protocol</a:t>
            </a:r>
            <a:endParaRPr lang="en-US" sz="1400" dirty="0"/>
          </a:p>
        </p:txBody>
      </p:sp>
      <p:sp>
        <p:nvSpPr>
          <p:cNvPr id="18" name="Shape 16"/>
          <p:cNvSpPr/>
          <p:nvPr/>
        </p:nvSpPr>
        <p:spPr>
          <a:xfrm>
            <a:off x="4134002" y="3154680"/>
            <a:ext cx="2445106" cy="530352"/>
          </a:xfrm>
          <a:prstGeom prst="roundRect">
            <a:avLst>
              <a:gd name="adj" fmla="val 50000"/>
            </a:avLst>
          </a:prstGeom>
          <a:solidFill>
            <a:srgbClr val="F4F2EE"/>
          </a:solidFill>
          <a:ln w="12700">
            <a:solidFill>
              <a:srgbClr val="F7931A"/>
            </a:solidFill>
            <a:prstDash val="solid"/>
          </a:ln>
        </p:spPr>
      </p:sp>
      <p:sp>
        <p:nvSpPr>
          <p:cNvPr id="19" name="Text 17"/>
          <p:cNvSpPr txBox="1"/>
          <p:nvPr/>
        </p:nvSpPr>
        <p:spPr>
          <a:xfrm>
            <a:off x="4134002" y="3154680"/>
            <a:ext cx="2445106" cy="530352"/>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Public Journal</a:t>
            </a:r>
            <a:endParaRPr lang="en-US" sz="1400" dirty="0"/>
          </a:p>
        </p:txBody>
      </p:sp>
      <p:sp>
        <p:nvSpPr>
          <p:cNvPr id="20" name="Shape 18"/>
          <p:cNvSpPr/>
          <p:nvPr/>
        </p:nvSpPr>
        <p:spPr>
          <a:xfrm>
            <a:off x="457200" y="3849624"/>
            <a:ext cx="3033979" cy="530352"/>
          </a:xfrm>
          <a:prstGeom prst="roundRect">
            <a:avLst>
              <a:gd name="adj" fmla="val 50000"/>
            </a:avLst>
          </a:prstGeom>
          <a:solidFill>
            <a:srgbClr val="F4F2EE"/>
          </a:solidFill>
          <a:ln w="12700">
            <a:solidFill>
              <a:srgbClr val="F7931A"/>
            </a:solidFill>
            <a:prstDash val="solid"/>
          </a:ln>
        </p:spPr>
      </p:sp>
      <p:sp>
        <p:nvSpPr>
          <p:cNvPr id="21" name="Text 19"/>
          <p:cNvSpPr txBox="1"/>
          <p:nvPr/>
        </p:nvSpPr>
        <p:spPr>
          <a:xfrm>
            <a:off x="457200" y="3849624"/>
            <a:ext cx="3033979" cy="530352"/>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Consensus Rule Set</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Text 4"/>
          <p:cNvSpPr txBox="1"/>
          <p:nvPr/>
        </p:nvSpPr>
        <p:spPr>
          <a:xfrm>
            <a:off x="457200" y="137160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Channels move value without touching the chain</a:t>
            </a:r>
            <a:endParaRPr lang="en-US" sz="1450" dirty="0"/>
          </a:p>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Routes hop wallet to wallet</a:t>
            </a:r>
            <a:endParaRPr lang="en-US" sz="1450" dirty="0"/>
          </a:p>
          <a:p>
            <a:pPr marL="342900" indent="-342900">
              <a:spcAft>
                <a:spcPts val="400"/>
              </a:spcAft>
              <a:buSzPct val="100000"/>
              <a:buChar char="•"/>
            </a:pPr>
            <a:r>
              <a:rPr lang="en-US" sz="1450" dirty="0">
                <a:solidFill>
                  <a:srgbClr val="1F2933"/>
                </a:solidFill>
                <a:latin typeface="Calibri" pitchFamily="34" charset="0"/>
                <a:ea typeface="Calibri" pitchFamily="34" charset="-122"/>
                <a:cs typeface="Calibri" pitchFamily="34" charset="-120"/>
              </a:rPr>
              <a:t>The chain settles only open and close</a:t>
            </a:r>
            <a:endParaRPr lang="en-US" sz="1450" dirty="0"/>
          </a:p>
        </p:txBody>
      </p:sp>
      <p:sp>
        <p:nvSpPr>
          <p:cNvPr id="7" name="Shape 5"/>
          <p:cNvSpPr/>
          <p:nvPr/>
        </p:nvSpPr>
        <p:spPr>
          <a:xfrm>
            <a:off x="3931920" y="1371600"/>
            <a:ext cx="4754880" cy="3017520"/>
          </a:xfrm>
          <a:prstGeom prst="roundRect">
            <a:avLst>
              <a:gd name="adj" fmla="val 3030"/>
            </a:avLst>
          </a:prstGeom>
          <a:solidFill>
            <a:srgbClr val="15191E"/>
          </a:solidFill>
          <a:ln w="12700">
            <a:solidFill>
              <a:srgbClr val="15191E"/>
            </a:solidFill>
            <a:prstDash val="solid"/>
          </a:ln>
        </p:spPr>
      </p:sp>
      <p:sp>
        <p:nvSpPr>
          <p:cNvPr id="8" name="Text 6"/>
          <p:cNvSpPr txBox="1"/>
          <p:nvPr/>
        </p:nvSpPr>
        <p:spPr>
          <a:xfrm>
            <a:off x="4114800" y="1490472"/>
            <a:ext cx="4389120" cy="277977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channels = {('Alice', 'Bob'), ('Bob', 'Carol'), ('Carol', 'Dave')}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nbr =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for x, y in channels: nbr.setdefault(x, []).append(y); nbr.setdefault(y, []).append(x)</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path, frontier = {'Alice': ['Alice']}, ['Alice']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while 'Dave' not in path:</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nxt =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x in frontier: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y in nbr[x]:</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y not in path: path[y] = path[x] + [y]; nxt.append(y)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frontier = nxt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result = (path['Dave'], len(path['Dave']) - 1, ('Alice', 'Dave') in channels)</a:t>
            </a:r>
            <a:endParaRPr lang="en-US" sz="950" dirty="0"/>
          </a:p>
        </p:txBody>
      </p:sp>
      <p:sp>
        <p:nvSpPr>
          <p:cNvPr id="9" name="Text 7"/>
          <p:cNvSpPr txBox="1"/>
          <p:nvPr/>
        </p:nvSpPr>
        <p:spPr>
          <a:xfrm>
            <a:off x="3931920" y="4407408"/>
            <a:ext cx="4754880" cy="256032"/>
          </a:xfrm>
          <a:prstGeom prst="rect">
            <a:avLst/>
          </a:prstGeom>
          <a:noFill/>
          <a:ln/>
        </p:spPr>
        <p:txBody>
          <a:bodyPr wrap="square" lIns="0" tIns="0" rIns="0" bIns="0" rtlCol="0" anchor="ctr"/>
          <a:lstStyle/>
          <a:p>
            <a:pPr indent="0" marL="0">
              <a:buNone/>
            </a:pPr>
            <a:r>
              <a:rPr lang="en-US" sz="950" b="1" dirty="0">
                <a:solidFill>
                  <a:srgbClr val="F7931A"/>
                </a:solidFill>
                <a:latin typeface="Courier New" pitchFamily="34" charset="0"/>
                <a:ea typeface="Courier New" pitchFamily="34" charset="-122"/>
                <a:cs typeface="Courier New" pitchFamily="34" charset="-120"/>
              </a:rPr>
              <a:t>result  </a:t>
            </a:r>
            <a:pPr indent="0" marL="0">
              <a:buNone/>
            </a:pPr>
            <a:r>
              <a:rPr lang="en-US" sz="950" dirty="0">
                <a:solidFill>
                  <a:srgbClr val="1B1F24"/>
                </a:solidFill>
                <a:latin typeface="Courier New" pitchFamily="34" charset="0"/>
                <a:ea typeface="Courier New" pitchFamily="34" charset="-122"/>
                <a:cs typeface="Courier New" pitchFamily="34" charset="-120"/>
              </a:rPr>
              <a:t>(['Alice', 'Bob', 'Carol', 'Dave'], 3, False)</a:t>
            </a:r>
            <a:endParaRPr lang="en-US" sz="950" dirty="0"/>
          </a:p>
        </p:txBody>
      </p:sp>
      <p:sp>
        <p:nvSpPr>
          <p:cNvPr id="10" name="Text 8"/>
          <p:cNvSpPr txBox="1"/>
          <p:nvPr/>
        </p:nvSpPr>
        <p:spPr>
          <a:xfrm>
            <a:off x="3931920" y="4663440"/>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LightningNetwork, lines 1 to 11 of 11, run under Python 3.14.4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1508760"/>
            <a:ext cx="8046720" cy="8686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you should now be able to say</a:t>
            </a:r>
            <a:endParaRPr lang="en-US" sz="2800" dirty="0"/>
          </a:p>
        </p:txBody>
      </p:sp>
      <p:sp>
        <p:nvSpPr>
          <p:cNvPr id="3" name="Text 1"/>
          <p:cNvSpPr txBox="1"/>
          <p:nvPr/>
        </p:nvSpPr>
        <p:spPr>
          <a:xfrm>
            <a:off x="548640" y="2468880"/>
            <a:ext cx="8046720" cy="731520"/>
          </a:xfrm>
          <a:prstGeom prst="rect">
            <a:avLst/>
          </a:prstGeom>
          <a:noFill/>
          <a:ln/>
        </p:spPr>
        <p:txBody>
          <a:bodyPr wrap="square" lIns="0" tIns="0" rIns="0" bIns="0" rtlCol="0" anchor="t"/>
          <a:lstStyle/>
          <a:p>
            <a:pPr indent="0" marL="0">
              <a:buNone/>
            </a:pPr>
            <a:r>
              <a:rPr lang="en-US" sz="1600" dirty="0">
                <a:solidFill>
                  <a:srgbClr val="F7931A"/>
                </a:solidFill>
                <a:latin typeface="Calibri" pitchFamily="34" charset="0"/>
                <a:ea typeface="Calibri" pitchFamily="34" charset="-122"/>
                <a:cs typeface="Calibri" pitchFamily="34" charset="-120"/>
              </a:rPr>
              <a:t>And where each claim gets its proof</a:t>
            </a:r>
            <a:endParaRPr lang="en-US" sz="1600" dirty="0"/>
          </a:p>
        </p:txBody>
      </p:sp>
      <p:sp>
        <p:nvSpPr>
          <p:cNvPr id="4" name="Text 2"/>
          <p:cNvSpPr txBox="1"/>
          <p:nvPr/>
        </p:nvSpPr>
        <p:spPr>
          <a:xfrm>
            <a:off x="548640" y="2103120"/>
            <a:ext cx="8046720" cy="210312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FFFFFF"/>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FFFFFF"/>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FFFFFF"/>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FFFFFF"/>
                </a:solidFill>
                <a:latin typeface="Calibri" pitchFamily="34" charset="0"/>
                <a:ea typeface="Calibri" pitchFamily="34" charset="-122"/>
                <a:cs typeface="Calibri" pitchFamily="34" charset="-120"/>
              </a:rPr>
              <a:t>Which chapter opens each box we drew</a:t>
            </a:r>
            <a:endParaRPr lang="en-US" sz="1600" dirty="0"/>
          </a:p>
        </p:txBody>
      </p:sp>
      <p:sp>
        <p:nvSpPr>
          <p:cNvPr id="5" name="Text 3"/>
          <p:cNvSpPr txBox="1"/>
          <p:nvPr/>
        </p:nvSpPr>
        <p:spPr>
          <a:xfrm>
            <a:off x="548640" y="4315968"/>
            <a:ext cx="8046720" cy="457200"/>
          </a:xfrm>
          <a:prstGeom prst="rect">
            <a:avLst/>
          </a:prstGeom>
          <a:noFill/>
          <a:ln/>
        </p:spPr>
        <p:txBody>
          <a:bodyPr wrap="square" lIns="0" tIns="0" rIns="0" bIns="0" rtlCol="0" anchor="ctr"/>
          <a:lstStyle/>
          <a:p>
            <a:pPr indent="0" marL="0">
              <a:buNone/>
            </a:pPr>
            <a:r>
              <a:rPr lang="en-US" sz="2000" i="1" dirty="0">
                <a:solidFill>
                  <a:srgbClr val="C9D1DA"/>
                </a:solidFill>
                <a:latin typeface="Cambria" pitchFamily="34" charset="0"/>
                <a:ea typeface="Cambria" pitchFamily="34" charset="-122"/>
                <a:cs typeface="Cambria"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Introduction</dc:title>
  <dc:subject>PptxGenJS Presentation</dc:subject>
  <dc:creator>Yusuf Altunel</dc:creator>
  <cp:lastModifiedBy>Yusuf Altunel</cp:lastModifiedBy>
  <cp:revision>1</cp:revision>
  <dcterms:created xsi:type="dcterms:W3CDTF">2026-10-06T05:54:32Z</dcterms:created>
  <dcterms:modified xsi:type="dcterms:W3CDTF">2026-10-06T05:54:32Z</dcterms:modified>
</cp:coreProperties>
</file>