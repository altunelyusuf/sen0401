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Shape 4"/>
          <p:cNvSpPr/>
          <p:nvPr/>
        </p:nvSpPr>
        <p:spPr>
          <a:xfrm>
            <a:off x="365760" y="267462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7462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472184"/>
            <a:ext cx="502920" cy="1476756"/>
          </a:xfrm>
          <a:prstGeom prst="line">
            <a:avLst/>
          </a:prstGeom>
          <a:noFill/>
          <a:ln w="13970">
            <a:solidFill>
              <a:srgbClr val="C9BFAE"/>
            </a:solidFill>
            <a:prstDash val="solid"/>
          </a:ln>
        </p:spPr>
      </p:sp>
      <p:sp>
        <p:nvSpPr>
          <p:cNvPr id="9" name="Shape 7"/>
          <p:cNvSpPr/>
          <p:nvPr/>
        </p:nvSpPr>
        <p:spPr>
          <a:xfrm>
            <a:off x="2331720" y="123444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23444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472184"/>
            <a:ext cx="274320" cy="0"/>
          </a:xfrm>
          <a:prstGeom prst="line">
            <a:avLst/>
          </a:prstGeom>
          <a:noFill/>
          <a:ln w="13970">
            <a:solidFill>
              <a:srgbClr val="C9BFAE"/>
            </a:solidFill>
            <a:prstDash val="solid"/>
          </a:ln>
        </p:spPr>
      </p:sp>
      <p:sp>
        <p:nvSpPr>
          <p:cNvPr id="12" name="Shape 10"/>
          <p:cNvSpPr/>
          <p:nvPr/>
        </p:nvSpPr>
        <p:spPr>
          <a:xfrm>
            <a:off x="4297680" y="125272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25272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062886"/>
            <a:ext cx="502920" cy="886054"/>
          </a:xfrm>
          <a:prstGeom prst="line">
            <a:avLst/>
          </a:prstGeom>
          <a:noFill/>
          <a:ln w="13970">
            <a:solidFill>
              <a:srgbClr val="C9BFAE"/>
            </a:solidFill>
            <a:prstDash val="solid"/>
          </a:ln>
        </p:spPr>
      </p:sp>
      <p:sp>
        <p:nvSpPr>
          <p:cNvPr id="15" name="Shape 13"/>
          <p:cNvSpPr/>
          <p:nvPr/>
        </p:nvSpPr>
        <p:spPr>
          <a:xfrm>
            <a:off x="2331720" y="1825142"/>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182514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062886"/>
            <a:ext cx="274320" cy="0"/>
          </a:xfrm>
          <a:prstGeom prst="line">
            <a:avLst/>
          </a:prstGeom>
          <a:noFill/>
          <a:ln w="13970">
            <a:solidFill>
              <a:srgbClr val="C9BFAE"/>
            </a:solidFill>
            <a:prstDash val="solid"/>
          </a:ln>
        </p:spPr>
      </p:sp>
      <p:sp>
        <p:nvSpPr>
          <p:cNvPr id="18" name="Shape 16"/>
          <p:cNvSpPr/>
          <p:nvPr/>
        </p:nvSpPr>
        <p:spPr>
          <a:xfrm>
            <a:off x="4297680" y="1843430"/>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184343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53589"/>
            <a:ext cx="502920" cy="295351"/>
          </a:xfrm>
          <a:prstGeom prst="line">
            <a:avLst/>
          </a:prstGeom>
          <a:noFill/>
          <a:ln w="13970">
            <a:solidFill>
              <a:srgbClr val="C9BFAE"/>
            </a:solidFill>
            <a:prstDash val="solid"/>
          </a:ln>
        </p:spPr>
      </p:sp>
      <p:sp>
        <p:nvSpPr>
          <p:cNvPr id="21" name="Shape 19"/>
          <p:cNvSpPr/>
          <p:nvPr/>
        </p:nvSpPr>
        <p:spPr>
          <a:xfrm>
            <a:off x="2331720" y="2415845"/>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2415845"/>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53589"/>
            <a:ext cx="274320" cy="0"/>
          </a:xfrm>
          <a:prstGeom prst="line">
            <a:avLst/>
          </a:prstGeom>
          <a:noFill/>
          <a:ln w="13970">
            <a:solidFill>
              <a:srgbClr val="C9BFAE"/>
            </a:solidFill>
            <a:prstDash val="solid"/>
          </a:ln>
        </p:spPr>
      </p:sp>
      <p:sp>
        <p:nvSpPr>
          <p:cNvPr id="24" name="Shape 22"/>
          <p:cNvSpPr/>
          <p:nvPr/>
        </p:nvSpPr>
        <p:spPr>
          <a:xfrm>
            <a:off x="4297680" y="2434133"/>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2434133"/>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48940"/>
            <a:ext cx="502920" cy="295351"/>
          </a:xfrm>
          <a:prstGeom prst="line">
            <a:avLst/>
          </a:prstGeom>
          <a:noFill/>
          <a:ln w="13970">
            <a:solidFill>
              <a:srgbClr val="C9BFAE"/>
            </a:solidFill>
            <a:prstDash val="solid"/>
          </a:ln>
        </p:spPr>
      </p:sp>
      <p:sp>
        <p:nvSpPr>
          <p:cNvPr id="27" name="Shape 25"/>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244291"/>
            <a:ext cx="274320" cy="0"/>
          </a:xfrm>
          <a:prstGeom prst="line">
            <a:avLst/>
          </a:prstGeom>
          <a:noFill/>
          <a:ln w="13970">
            <a:solidFill>
              <a:srgbClr val="C9BFAE"/>
            </a:solidFill>
            <a:prstDash val="solid"/>
          </a:ln>
        </p:spPr>
      </p:sp>
      <p:sp>
        <p:nvSpPr>
          <p:cNvPr id="30" name="Shape 28"/>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48940"/>
            <a:ext cx="502920" cy="886054"/>
          </a:xfrm>
          <a:prstGeom prst="line">
            <a:avLst/>
          </a:prstGeom>
          <a:noFill/>
          <a:ln w="13970">
            <a:solidFill>
              <a:srgbClr val="C9BFAE"/>
            </a:solidFill>
            <a:prstDash val="solid"/>
          </a:ln>
        </p:spPr>
      </p:sp>
      <p:sp>
        <p:nvSpPr>
          <p:cNvPr id="33" name="Shape 31"/>
          <p:cNvSpPr/>
          <p:nvPr/>
        </p:nvSpPr>
        <p:spPr>
          <a:xfrm>
            <a:off x="2331720" y="3597250"/>
            <a:ext cx="1691640" cy="475488"/>
          </a:xfrm>
          <a:prstGeom prst="roundRect">
            <a:avLst>
              <a:gd name="adj" fmla="val 15385"/>
            </a:avLst>
          </a:prstGeom>
          <a:solidFill>
            <a:srgbClr val="2F6D62"/>
          </a:solidFill>
          <a:ln w="9525">
            <a:solidFill>
              <a:srgbClr val="2F6D62"/>
            </a:solidFill>
            <a:prstDash val="solid"/>
          </a:ln>
        </p:spPr>
      </p:sp>
      <p:sp>
        <p:nvSpPr>
          <p:cNvPr id="34" name="Text 32"/>
          <p:cNvSpPr txBox="1"/>
          <p:nvPr/>
        </p:nvSpPr>
        <p:spPr>
          <a:xfrm>
            <a:off x="2386584" y="359725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834994"/>
            <a:ext cx="274320" cy="0"/>
          </a:xfrm>
          <a:prstGeom prst="line">
            <a:avLst/>
          </a:prstGeom>
          <a:noFill/>
          <a:ln w="13970">
            <a:solidFill>
              <a:srgbClr val="C9BFAE"/>
            </a:solidFill>
            <a:prstDash val="solid"/>
          </a:ln>
        </p:spPr>
      </p:sp>
      <p:sp>
        <p:nvSpPr>
          <p:cNvPr id="36" name="Shape 34"/>
          <p:cNvSpPr/>
          <p:nvPr/>
        </p:nvSpPr>
        <p:spPr>
          <a:xfrm>
            <a:off x="4297680" y="3615538"/>
            <a:ext cx="4480560" cy="438912"/>
          </a:xfrm>
          <a:prstGeom prst="roundRect">
            <a:avLst>
              <a:gd name="adj" fmla="val 12500"/>
            </a:avLst>
          </a:prstGeom>
          <a:solidFill>
            <a:srgbClr val="F2ECE1"/>
          </a:solidFill>
          <a:ln w="6350">
            <a:solidFill>
              <a:srgbClr val="DFD6C7"/>
            </a:solidFill>
            <a:prstDash val="solid"/>
          </a:ln>
        </p:spPr>
      </p:sp>
      <p:sp>
        <p:nvSpPr>
          <p:cNvPr id="37" name="Text 35"/>
          <p:cNvSpPr txBox="1"/>
          <p:nvPr/>
        </p:nvSpPr>
        <p:spPr>
          <a:xfrm>
            <a:off x="4407408" y="361553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48940"/>
            <a:ext cx="502920" cy="1476756"/>
          </a:xfrm>
          <a:prstGeom prst="line">
            <a:avLst/>
          </a:prstGeom>
          <a:noFill/>
          <a:ln w="13970">
            <a:solidFill>
              <a:srgbClr val="C9BFAE"/>
            </a:solidFill>
            <a:prstDash val="solid"/>
          </a:ln>
        </p:spPr>
      </p:sp>
      <p:sp>
        <p:nvSpPr>
          <p:cNvPr id="39" name="Shape 37"/>
          <p:cNvSpPr/>
          <p:nvPr/>
        </p:nvSpPr>
        <p:spPr>
          <a:xfrm>
            <a:off x="2331720" y="4187952"/>
            <a:ext cx="1691640" cy="475488"/>
          </a:xfrm>
          <a:prstGeom prst="roundRect">
            <a:avLst>
              <a:gd name="adj" fmla="val 15385"/>
            </a:avLst>
          </a:prstGeom>
          <a:solidFill>
            <a:srgbClr val="2F6D62"/>
          </a:solidFill>
          <a:ln w="9525">
            <a:solidFill>
              <a:srgbClr val="2F6D62"/>
            </a:solidFill>
            <a:prstDash val="solid"/>
          </a:ln>
        </p:spPr>
      </p:sp>
      <p:sp>
        <p:nvSpPr>
          <p:cNvPr id="40" name="Text 38"/>
          <p:cNvSpPr txBox="1"/>
          <p:nvPr/>
        </p:nvSpPr>
        <p:spPr>
          <a:xfrm>
            <a:off x="2386584" y="41879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425696"/>
            <a:ext cx="274320" cy="0"/>
          </a:xfrm>
          <a:prstGeom prst="line">
            <a:avLst/>
          </a:prstGeom>
          <a:noFill/>
          <a:ln w="13970">
            <a:solidFill>
              <a:srgbClr val="C9BFAE"/>
            </a:solidFill>
            <a:prstDash val="solid"/>
          </a:ln>
        </p:spPr>
      </p:sp>
      <p:sp>
        <p:nvSpPr>
          <p:cNvPr id="42" name="Shape 40"/>
          <p:cNvSpPr/>
          <p:nvPr/>
        </p:nvSpPr>
        <p:spPr>
          <a:xfrm>
            <a:off x="4297680" y="4206240"/>
            <a:ext cx="4480560" cy="438912"/>
          </a:xfrm>
          <a:prstGeom prst="roundRect">
            <a:avLst>
              <a:gd name="adj" fmla="val 12500"/>
            </a:avLst>
          </a:prstGeom>
          <a:solidFill>
            <a:srgbClr val="F2ECE1"/>
          </a:solidFill>
          <a:ln w="6350">
            <a:solidFill>
              <a:srgbClr val="DFD6C7"/>
            </a:solidFill>
            <a:prstDash val="solid"/>
          </a:ln>
        </p:spPr>
      </p:sp>
      <p:sp>
        <p:nvSpPr>
          <p:cNvPr id="43" name="Text 41"/>
          <p:cNvSpPr txBox="1"/>
          <p:nvPr/>
        </p:nvSpPr>
        <p:spPr>
          <a:xfrm>
            <a:off x="4407408" y="42062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8" name="Shape 16"/>
          <p:cNvSpPr/>
          <p:nvPr/>
        </p:nvSpPr>
        <p:spPr>
          <a:xfrm>
            <a:off x="5852160" y="2743200"/>
            <a:ext cx="2834640" cy="1371600"/>
          </a:xfrm>
          <a:prstGeom prst="roundRect">
            <a:avLst>
              <a:gd name="adj" fmla="val 5333"/>
            </a:avLst>
          </a:prstGeom>
          <a:solidFill>
            <a:srgbClr val="F2ECE1"/>
          </a:solidFill>
          <a:ln w="12700">
            <a:solidFill>
              <a:srgbClr val="DFD6C7"/>
            </a:solidFill>
            <a:prstDash val="solid"/>
          </a:ln>
        </p:spPr>
      </p:sp>
      <p:sp>
        <p:nvSpPr>
          <p:cNvPr id="19" name="Text 17"/>
          <p:cNvSpPr txBox="1"/>
          <p:nvPr/>
        </p:nvSpPr>
        <p:spPr>
          <a:xfrm>
            <a:off x="5961888" y="2816352"/>
            <a:ext cx="261518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100000</a:t>
            </a:r>
            <a:endParaRPr lang="en-US" sz="2800" dirty="0"/>
          </a:p>
        </p:txBody>
      </p:sp>
      <p:sp>
        <p:nvSpPr>
          <p:cNvPr id="20" name="Text 18"/>
          <p:cNvSpPr txBox="1"/>
          <p:nvPr/>
        </p:nvSpPr>
        <p:spPr>
          <a:xfrm>
            <a:off x="5961888" y="3456432"/>
            <a:ext cx="261518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satoshis in 0.001 BTC - the slide ran it</a:t>
            </a:r>
            <a:endParaRPr lang="en-US" sz="11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Text 4"/>
          <p:cNvSpPr txBox="1"/>
          <p:nvPr/>
        </p:nvSpPr>
        <p:spPr>
          <a:xfrm>
            <a:off x="457200" y="1371600"/>
            <a:ext cx="320040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Sum every era and the cap appears</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 halving is one shift right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Any height tells you its subsidy</a:t>
            </a:r>
            <a:endParaRPr lang="en-US" sz="1450" dirty="0"/>
          </a:p>
        </p:txBody>
      </p:sp>
      <p:sp>
        <p:nvSpPr>
          <p:cNvPr id="7" name="Text 5"/>
          <p:cNvSpPr txBox="1"/>
          <p:nvPr/>
        </p:nvSpPr>
        <p:spPr>
          <a:xfrm>
            <a:off x="3840480" y="102412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cap, summed over 33 eras</a:t>
            </a:r>
            <a:endParaRPr lang="en-US" sz="1150" dirty="0"/>
          </a:p>
        </p:txBody>
      </p:sp>
      <p:sp>
        <p:nvSpPr>
          <p:cNvPr id="8" name="Shape 6"/>
          <p:cNvSpPr/>
          <p:nvPr/>
        </p:nvSpPr>
        <p:spPr>
          <a:xfrm>
            <a:off x="3840480" y="1298448"/>
            <a:ext cx="4846320" cy="914400"/>
          </a:xfrm>
          <a:prstGeom prst="roundRect">
            <a:avLst>
              <a:gd name="adj" fmla="val 10000"/>
            </a:avLst>
          </a:prstGeom>
          <a:solidFill>
            <a:srgbClr val="23272E"/>
          </a:solidFill>
          <a:ln w="12700">
            <a:solidFill>
              <a:srgbClr val="23272E"/>
            </a:solidFill>
            <a:prstDash val="solid"/>
          </a:ln>
        </p:spPr>
      </p:sp>
      <p:sp>
        <p:nvSpPr>
          <p:cNvPr id="9" name="Text 7"/>
          <p:cNvSpPr txBox="1"/>
          <p:nvPr/>
        </p:nvSpPr>
        <p:spPr>
          <a:xfrm>
            <a:off x="4023360" y="141732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0" name="Text 8"/>
          <p:cNvSpPr txBox="1"/>
          <p:nvPr/>
        </p:nvSpPr>
        <p:spPr>
          <a:xfrm>
            <a:off x="3840480" y="223113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3840480" y="212140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halving = divide by two</a:t>
            </a:r>
            <a:endParaRPr lang="en-US" sz="1150" dirty="0"/>
          </a:p>
        </p:txBody>
      </p:sp>
      <p:sp>
        <p:nvSpPr>
          <p:cNvPr id="12" name="Shape 10"/>
          <p:cNvSpPr/>
          <p:nvPr/>
        </p:nvSpPr>
        <p:spPr>
          <a:xfrm>
            <a:off x="3840480" y="2395728"/>
            <a:ext cx="4846320" cy="914400"/>
          </a:xfrm>
          <a:prstGeom prst="roundRect">
            <a:avLst>
              <a:gd name="adj" fmla="val 10000"/>
            </a:avLst>
          </a:prstGeom>
          <a:solidFill>
            <a:srgbClr val="23272E"/>
          </a:solidFill>
          <a:ln w="12700">
            <a:solidFill>
              <a:srgbClr val="23272E"/>
            </a:solidFill>
            <a:prstDash val="solid"/>
          </a:ln>
        </p:spPr>
      </p:sp>
      <p:sp>
        <p:nvSpPr>
          <p:cNvPr id="13" name="Text 11"/>
          <p:cNvSpPr txBox="1"/>
          <p:nvPr/>
        </p:nvSpPr>
        <p:spPr>
          <a:xfrm>
            <a:off x="4023360" y="251460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4" name="Text 12"/>
          <p:cNvSpPr txBox="1"/>
          <p:nvPr/>
        </p:nvSpPr>
        <p:spPr>
          <a:xfrm>
            <a:off x="3840480" y="332841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Text 13"/>
          <p:cNvSpPr txBox="1"/>
          <p:nvPr/>
        </p:nvSpPr>
        <p:spPr>
          <a:xfrm>
            <a:off x="3840480" y="321868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subsidy at any block height</a:t>
            </a:r>
            <a:endParaRPr lang="en-US" sz="1150" dirty="0"/>
          </a:p>
        </p:txBody>
      </p:sp>
      <p:sp>
        <p:nvSpPr>
          <p:cNvPr id="16" name="Shape 14"/>
          <p:cNvSpPr/>
          <p:nvPr/>
        </p:nvSpPr>
        <p:spPr>
          <a:xfrm>
            <a:off x="3840480" y="3493008"/>
            <a:ext cx="4846320" cy="914400"/>
          </a:xfrm>
          <a:prstGeom prst="roundRect">
            <a:avLst>
              <a:gd name="adj" fmla="val 10000"/>
            </a:avLst>
          </a:prstGeom>
          <a:solidFill>
            <a:srgbClr val="23272E"/>
          </a:solidFill>
          <a:ln w="12700">
            <a:solidFill>
              <a:srgbClr val="23272E"/>
            </a:solidFill>
            <a:prstDash val="solid"/>
          </a:ln>
        </p:spPr>
      </p:sp>
      <p:sp>
        <p:nvSpPr>
          <p:cNvPr id="17" name="Text 15"/>
          <p:cNvSpPr txBox="1"/>
          <p:nvPr/>
        </p:nvSpPr>
        <p:spPr>
          <a:xfrm>
            <a:off x="4023360" y="361188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 25.0, 12.5, 6.25, 3.125]</a:t>
            </a:r>
            <a:endParaRPr lang="en-US" sz="1100" dirty="0"/>
          </a:p>
        </p:txBody>
      </p:sp>
      <p:sp>
        <p:nvSpPr>
          <p:cNvPr id="18" name="Text 16"/>
          <p:cNvSpPr txBox="1"/>
          <p:nvPr/>
        </p:nvSpPr>
        <p:spPr>
          <a:xfrm>
            <a:off x="3840480" y="442569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Text 4"/>
          <p:cNvSpPr txBox="1"/>
          <p:nvPr/>
        </p:nvSpPr>
        <p:spPr>
          <a:xfrm>
            <a:off x="457200" y="1371600"/>
            <a:ext cx="402336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Bitcoin floats against every other currency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Markets discover the price trade by trade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volume-weighted average summarises a day</a:t>
            </a:r>
            <a:endParaRPr lang="en-US" sz="1500" dirty="0"/>
          </a:p>
        </p:txBody>
      </p:sp>
      <p:sp>
        <p:nvSpPr>
          <p:cNvPr id="7" name="Text 5"/>
          <p:cNvSpPr txBox="1"/>
          <p:nvPr/>
        </p:nvSpPr>
        <p:spPr>
          <a:xfrm>
            <a:off x="4663440" y="10972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price is a ratio of two quotes</a:t>
            </a:r>
            <a:endParaRPr lang="en-US" sz="1150" dirty="0"/>
          </a:p>
        </p:txBody>
      </p:sp>
      <p:sp>
        <p:nvSpPr>
          <p:cNvPr id="8" name="Shape 6"/>
          <p:cNvSpPr/>
          <p:nvPr/>
        </p:nvSpPr>
        <p:spPr>
          <a:xfrm>
            <a:off x="4663440" y="1371600"/>
            <a:ext cx="4023360" cy="1188720"/>
          </a:xfrm>
          <a:prstGeom prst="roundRect">
            <a:avLst>
              <a:gd name="adj" fmla="val 7692"/>
            </a:avLst>
          </a:prstGeom>
          <a:solidFill>
            <a:srgbClr val="23272E"/>
          </a:solidFill>
          <a:ln w="12700">
            <a:solidFill>
              <a:srgbClr val="23272E"/>
            </a:solidFill>
            <a:prstDash val="solid"/>
          </a:ln>
        </p:spPr>
      </p:sp>
      <p:sp>
        <p:nvSpPr>
          <p:cNvPr id="9" name="Text 7"/>
          <p:cNvSpPr txBox="1"/>
          <p:nvPr/>
        </p:nvSpPr>
        <p:spPr>
          <a:xfrm>
            <a:off x="4846320" y="149047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round(0.001 * 60000,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60.0</a:t>
            </a:r>
            <a:endParaRPr lang="en-US" sz="1100" dirty="0"/>
          </a:p>
        </p:txBody>
      </p:sp>
      <p:sp>
        <p:nvSpPr>
          <p:cNvPr id="10" name="Text 8"/>
          <p:cNvSpPr txBox="1"/>
          <p:nvPr/>
        </p:nvSpPr>
        <p:spPr>
          <a:xfrm>
            <a:off x="4663440" y="25786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4663440" y="25603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day summarised fairly, by volume</a:t>
            </a:r>
            <a:endParaRPr lang="en-US" sz="1150" dirty="0"/>
          </a:p>
        </p:txBody>
      </p:sp>
      <p:sp>
        <p:nvSpPr>
          <p:cNvPr id="12" name="Shape 10"/>
          <p:cNvSpPr/>
          <p:nvPr/>
        </p:nvSpPr>
        <p:spPr>
          <a:xfrm>
            <a:off x="4663440" y="2834640"/>
            <a:ext cx="4023360" cy="1188720"/>
          </a:xfrm>
          <a:prstGeom prst="roundRect">
            <a:avLst>
              <a:gd name="adj" fmla="val 7692"/>
            </a:avLst>
          </a:prstGeom>
          <a:solidFill>
            <a:srgbClr val="23272E"/>
          </a:solidFill>
          <a:ln w="12700">
            <a:solidFill>
              <a:srgbClr val="23272E"/>
            </a:solidFill>
            <a:prstDash val="solid"/>
          </a:ln>
        </p:spPr>
      </p:sp>
      <p:sp>
        <p:nvSpPr>
          <p:cNvPr id="13" name="Text 11"/>
          <p:cNvSpPr txBox="1"/>
          <p:nvPr/>
        </p:nvSpPr>
        <p:spPr>
          <a:xfrm>
            <a:off x="4846320" y="295351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101.0</a:t>
            </a:r>
            <a:endParaRPr lang="en-US" sz="1100" dirty="0"/>
          </a:p>
        </p:txBody>
      </p:sp>
      <p:sp>
        <p:nvSpPr>
          <p:cNvPr id="14" name="Text 12"/>
          <p:cNvSpPr txBox="1"/>
          <p:nvPr/>
        </p:nvSpPr>
        <p:spPr>
          <a:xfrm>
            <a:off x="4663440" y="404164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Every node speaks the same protocol</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Any peer can join or leave freely</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Four peers already form a working net</a:t>
            </a:r>
            <a:endParaRPr lang="en-US" sz="1450" dirty="0"/>
          </a:p>
        </p:txBody>
      </p:sp>
      <p:sp>
        <p:nvSpPr>
          <p:cNvPr id="7" name="Text 5"/>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peers, one shared protocol - counted</a:t>
            </a:r>
            <a:endParaRPr lang="en-US" sz="1150" dirty="0"/>
          </a:p>
        </p:txBody>
      </p:sp>
      <p:sp>
        <p:nvSpPr>
          <p:cNvPr id="8" name="Shape 6"/>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9" name="Text 7"/>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links = {'A': ['B', 'C'], 'B': ['A', 'D'], 'C': ['A', 'E'], 'D': ['B', 'F'], 'E': ['C', 'F'], 'F': ['D', 'E', 'G'], 'G':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seen, frontier, rounds = {'A'}, {'A'}, 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len(seen) &lt; len(links):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frontier = {n for f in frontier for n in links[f]} - seen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seen |= frontier; rounds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rounds</a:t>
            </a:r>
            <a:endParaRPr lang="en-US" sz="1000" dirty="0"/>
          </a:p>
        </p:txBody>
      </p:sp>
      <p:sp>
        <p:nvSpPr>
          <p:cNvPr id="10" name="Text 8"/>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4</a:t>
            </a:r>
            <a:endParaRPr lang="en-US" sz="1000" dirty="0"/>
          </a:p>
        </p:txBody>
      </p:sp>
      <p:sp>
        <p:nvSpPr>
          <p:cNvPr id="11" name="Text 9"/>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27</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 rule set is code every node runs</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 block either conforms or it does not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No vote, no committee, no appeal</a:t>
            </a:r>
            <a:endParaRPr lang="en-US" sz="1450" dirty="0"/>
          </a:p>
        </p:txBody>
      </p:sp>
      <p:sp>
        <p:nvSpPr>
          <p:cNvPr id="7" name="Text 5"/>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claims against one rule set</a:t>
            </a:r>
            <a:endParaRPr lang="en-US" sz="1150" dirty="0"/>
          </a:p>
        </p:txBody>
      </p:sp>
      <p:sp>
        <p:nvSpPr>
          <p:cNvPr id="8" name="Shape 6"/>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9" name="Text 7"/>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accept(claim, height,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subsidy = (50 * 10**8) &gt;&gt; (height // 210000)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claim &lt;= subsidy +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[accept(312_500_000, 840000, 0), accept(312_500_001, 840000, 0), accept(325_000_000, 840000, 12_500_000)]</a:t>
            </a:r>
            <a:endParaRPr lang="en-US" sz="1000" dirty="0"/>
          </a:p>
        </p:txBody>
      </p:sp>
      <p:sp>
        <p:nvSpPr>
          <p:cNvPr id="10" name="Text 8"/>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[True, False, True]</a:t>
            </a:r>
            <a:endParaRPr lang="en-US" sz="1000" dirty="0"/>
          </a:p>
        </p:txBody>
      </p:sp>
      <p:sp>
        <p:nvSpPr>
          <p:cNvPr id="11" name="Text 9"/>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27</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subsidy follows the halving chart you just saw</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Cheating costs more than the reward it could win</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Chapter 12 opens the mechanism in full</a:t>
            </a:r>
            <a:endParaRPr lang="en-US" sz="15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27</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27</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Shape 4"/>
          <p:cNvSpPr/>
          <p:nvPr/>
        </p:nvSpPr>
        <p:spPr>
          <a:xfrm>
            <a:off x="365760" y="267462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7462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472184"/>
            <a:ext cx="502920" cy="1476756"/>
          </a:xfrm>
          <a:prstGeom prst="line">
            <a:avLst/>
          </a:prstGeom>
          <a:noFill/>
          <a:ln w="13970">
            <a:solidFill>
              <a:srgbClr val="C9BFAE"/>
            </a:solidFill>
            <a:prstDash val="solid"/>
          </a:ln>
        </p:spPr>
      </p:sp>
      <p:sp>
        <p:nvSpPr>
          <p:cNvPr id="9" name="Shape 7"/>
          <p:cNvSpPr/>
          <p:nvPr/>
        </p:nvSpPr>
        <p:spPr>
          <a:xfrm>
            <a:off x="2331720" y="123444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23444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472184"/>
            <a:ext cx="274320" cy="0"/>
          </a:xfrm>
          <a:prstGeom prst="line">
            <a:avLst/>
          </a:prstGeom>
          <a:noFill/>
          <a:ln w="13970">
            <a:solidFill>
              <a:srgbClr val="C9BFAE"/>
            </a:solidFill>
            <a:prstDash val="solid"/>
          </a:ln>
        </p:spPr>
      </p:sp>
      <p:sp>
        <p:nvSpPr>
          <p:cNvPr id="12" name="Shape 10"/>
          <p:cNvSpPr/>
          <p:nvPr/>
        </p:nvSpPr>
        <p:spPr>
          <a:xfrm>
            <a:off x="4297680" y="125272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25272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456688"/>
            <a:ext cx="502920" cy="492252"/>
          </a:xfrm>
          <a:prstGeom prst="line">
            <a:avLst/>
          </a:prstGeom>
          <a:noFill/>
          <a:ln w="13970">
            <a:solidFill>
              <a:srgbClr val="C9BFAE"/>
            </a:solidFill>
            <a:prstDash val="solid"/>
          </a:ln>
        </p:spPr>
      </p:sp>
      <p:sp>
        <p:nvSpPr>
          <p:cNvPr id="15" name="Shape 13"/>
          <p:cNvSpPr/>
          <p:nvPr/>
        </p:nvSpPr>
        <p:spPr>
          <a:xfrm>
            <a:off x="2331720" y="221894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218944"/>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456688"/>
            <a:ext cx="274320" cy="0"/>
          </a:xfrm>
          <a:prstGeom prst="line">
            <a:avLst/>
          </a:prstGeom>
          <a:noFill/>
          <a:ln w="13970">
            <a:solidFill>
              <a:srgbClr val="C9BFAE"/>
            </a:solidFill>
            <a:prstDash val="solid"/>
          </a:ln>
        </p:spPr>
      </p:sp>
      <p:sp>
        <p:nvSpPr>
          <p:cNvPr id="18" name="Shape 16"/>
          <p:cNvSpPr/>
          <p:nvPr/>
        </p:nvSpPr>
        <p:spPr>
          <a:xfrm>
            <a:off x="4297680" y="223723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237232"/>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48940"/>
            <a:ext cx="502920" cy="492252"/>
          </a:xfrm>
          <a:prstGeom prst="line">
            <a:avLst/>
          </a:prstGeom>
          <a:noFill/>
          <a:ln w="13970">
            <a:solidFill>
              <a:srgbClr val="C9BFAE"/>
            </a:solidFill>
            <a:prstDash val="solid"/>
          </a:ln>
        </p:spPr>
      </p:sp>
      <p:sp>
        <p:nvSpPr>
          <p:cNvPr id="21" name="Shape 19"/>
          <p:cNvSpPr/>
          <p:nvPr/>
        </p:nvSpPr>
        <p:spPr>
          <a:xfrm>
            <a:off x="2331720" y="3203448"/>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20344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41192"/>
            <a:ext cx="274320" cy="0"/>
          </a:xfrm>
          <a:prstGeom prst="line">
            <a:avLst/>
          </a:prstGeom>
          <a:noFill/>
          <a:ln w="13970">
            <a:solidFill>
              <a:srgbClr val="C9BFAE"/>
            </a:solidFill>
            <a:prstDash val="solid"/>
          </a:ln>
        </p:spPr>
      </p:sp>
      <p:sp>
        <p:nvSpPr>
          <p:cNvPr id="24" name="Shape 22"/>
          <p:cNvSpPr/>
          <p:nvPr/>
        </p:nvSpPr>
        <p:spPr>
          <a:xfrm>
            <a:off x="4297680" y="3221736"/>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22173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48940"/>
            <a:ext cx="502920" cy="1476756"/>
          </a:xfrm>
          <a:prstGeom prst="line">
            <a:avLst/>
          </a:prstGeom>
          <a:noFill/>
          <a:ln w="13970">
            <a:solidFill>
              <a:srgbClr val="C9BFAE"/>
            </a:solidFill>
            <a:prstDash val="solid"/>
          </a:ln>
        </p:spPr>
      </p:sp>
      <p:sp>
        <p:nvSpPr>
          <p:cNvPr id="27" name="Shape 25"/>
          <p:cNvSpPr/>
          <p:nvPr/>
        </p:nvSpPr>
        <p:spPr>
          <a:xfrm>
            <a:off x="2331720" y="4187952"/>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18795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425696"/>
            <a:ext cx="274320" cy="0"/>
          </a:xfrm>
          <a:prstGeom prst="line">
            <a:avLst/>
          </a:prstGeom>
          <a:noFill/>
          <a:ln w="13970">
            <a:solidFill>
              <a:srgbClr val="C9BFAE"/>
            </a:solidFill>
            <a:prstDash val="solid"/>
          </a:ln>
        </p:spPr>
      </p:sp>
      <p:sp>
        <p:nvSpPr>
          <p:cNvPr id="30" name="Shape 28"/>
          <p:cNvSpPr/>
          <p:nvPr/>
        </p:nvSpPr>
        <p:spPr>
          <a:xfrm>
            <a:off x="4297680" y="4206240"/>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20624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27</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 backup phrase becomes the wallet seed</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2,048 HMAC rounds slow every guess</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5 derives whole wallets from this</a:t>
            </a:r>
            <a:endParaRPr lang="en-US" sz="1450" dirty="0"/>
          </a:p>
        </p:txBody>
      </p:sp>
      <p:sp>
        <p:nvSpPr>
          <p:cNvPr id="7" name="Text 5"/>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2,048 rounds from phrase to seed</a:t>
            </a:r>
            <a:endParaRPr lang="en-US" sz="1150" dirty="0"/>
          </a:p>
        </p:txBody>
      </p:sp>
      <p:sp>
        <p:nvSpPr>
          <p:cNvPr id="8" name="Shape 6"/>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9" name="Text 7"/>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hmac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password, salt, iters = b'abandon', b'mnemonic', 2048</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 = hmac.new(password, salt + bytes([0, 0, 0, 1]),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seed =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range(iters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u = hmac.new(password, u,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seed = bytes(a ^ b for a, b in zip(seed,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(len(seed), seed.hex()[:8])</a:t>
            </a:r>
            <a:endParaRPr lang="en-US" sz="1000" dirty="0"/>
          </a:p>
        </p:txBody>
      </p:sp>
      <p:sp>
        <p:nvSpPr>
          <p:cNvPr id="10" name="Text 8"/>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(64, 'd96147bf')</a:t>
            </a:r>
            <a:endParaRPr lang="en-US" sz="1000" dirty="0"/>
          </a:p>
        </p:txBody>
      </p:sp>
      <p:sp>
        <p:nvSpPr>
          <p:cNvPr id="11" name="Text 9"/>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457200" y="26060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Her channel settles on-chain only twice</a:t>
            </a:r>
            <a:endParaRPr lang="en-US" sz="1150" dirty="0"/>
          </a:p>
        </p:txBody>
      </p:sp>
      <p:sp>
        <p:nvSpPr>
          <p:cNvPr id="18" name="Shape 16"/>
          <p:cNvSpPr/>
          <p:nvPr/>
        </p:nvSpPr>
        <p:spPr>
          <a:xfrm>
            <a:off x="457200" y="2880360"/>
            <a:ext cx="8229600" cy="1371600"/>
          </a:xfrm>
          <a:prstGeom prst="roundRect">
            <a:avLst>
              <a:gd name="adj" fmla="val 6667"/>
            </a:avLst>
          </a:prstGeom>
          <a:solidFill>
            <a:srgbClr val="23272E"/>
          </a:solidFill>
          <a:ln w="12700">
            <a:solidFill>
              <a:srgbClr val="23272E"/>
            </a:solidFill>
            <a:prstDash val="solid"/>
          </a:ln>
        </p:spPr>
      </p:sp>
      <p:sp>
        <p:nvSpPr>
          <p:cNvPr id="19" name="Text 17"/>
          <p:cNvSpPr txBox="1"/>
          <p:nvPr/>
        </p:nvSpPr>
        <p:spPr>
          <a:xfrm>
            <a:off x="640080" y="2999232"/>
            <a:ext cx="7863840" cy="113385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onchain, a, b = 2, 60_000, 40_000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range(100):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 b = a - 10, b + 10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 b, a + b, onchain)</a:t>
            </a:r>
            <a:endParaRPr lang="en-US" sz="1000" dirty="0"/>
          </a:p>
        </p:txBody>
      </p:sp>
      <p:sp>
        <p:nvSpPr>
          <p:cNvPr id="20" name="Text 18"/>
          <p:cNvSpPr txBox="1"/>
          <p:nvPr/>
        </p:nvSpPr>
        <p:spPr>
          <a:xfrm>
            <a:off x="457200" y="4270248"/>
            <a:ext cx="822960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(59000, 41000, 100000, 2)</a:t>
            </a:r>
            <a:endParaRPr lang="en-US" sz="1000" dirty="0"/>
          </a:p>
        </p:txBody>
      </p:sp>
      <p:sp>
        <p:nvSpPr>
          <p:cNvPr id="21" name="Text 19"/>
          <p:cNvSpPr txBox="1"/>
          <p:nvPr/>
        </p:nvSpPr>
        <p:spPr>
          <a:xfrm>
            <a:off x="457200" y="452628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27</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27</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27</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Change one byte and every later link breaks</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Verification is recomputing, not trusting</a:t>
            </a:r>
            <a:endParaRPr lang="en-US" sz="1450" dirty="0"/>
          </a:p>
        </p:txBody>
      </p:sp>
      <p:sp>
        <p:nvSpPr>
          <p:cNvPr id="7" name="Text 5"/>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Tamper with block 1, watch block 2 refuse</a:t>
            </a:r>
            <a:endParaRPr lang="en-US" sz="1150" dirty="0"/>
          </a:p>
        </p:txBody>
      </p:sp>
      <p:sp>
        <p:nvSpPr>
          <p:cNvPr id="8" name="Shape 6"/>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9" name="Text 7"/>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import hashlib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link(prev, data): return hashlib.sha256((prev + data).encode()).hexdigest()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data = ['Joe pays Alice 1', 'Alice pays Eve 2', 'Eve pays Joe 3']</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build(items):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hs, prev = [], 'genesis'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d in 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prev = link(prev, d); hs.append(prev)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hs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stored = build(data)</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tampered = ['Joe pays Alice 100'] + data[1:]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950" dirty="0"/>
          </a:p>
        </p:txBody>
      </p:sp>
      <p:sp>
        <p:nvSpPr>
          <p:cNvPr id="10" name="Text 8"/>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(True, False)</a:t>
            </a:r>
            <a:endParaRPr lang="en-US" sz="950" dirty="0"/>
          </a:p>
        </p:txBody>
      </p:sp>
      <p:sp>
        <p:nvSpPr>
          <p:cNvPr id="11" name="Text 9"/>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27</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Shape 4"/>
          <p:cNvSpPr/>
          <p:nvPr/>
        </p:nvSpPr>
        <p:spPr>
          <a:xfrm>
            <a:off x="365760" y="265176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8" name="Shape 6"/>
          <p:cNvSpPr/>
          <p:nvPr/>
        </p:nvSpPr>
        <p:spPr>
          <a:xfrm flipV="1">
            <a:off x="1783080" y="1517904"/>
            <a:ext cx="502920" cy="1408176"/>
          </a:xfrm>
          <a:prstGeom prst="line">
            <a:avLst/>
          </a:prstGeom>
          <a:noFill/>
          <a:ln w="13970">
            <a:solidFill>
              <a:srgbClr val="C9BFAE"/>
            </a:solidFill>
            <a:prstDash val="solid"/>
          </a:ln>
        </p:spPr>
      </p:sp>
      <p:sp>
        <p:nvSpPr>
          <p:cNvPr id="9" name="Shape 7"/>
          <p:cNvSpPr/>
          <p:nvPr/>
        </p:nvSpPr>
        <p:spPr>
          <a:xfrm>
            <a:off x="2331720" y="128016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2801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1" name="Shape 9"/>
          <p:cNvSpPr/>
          <p:nvPr/>
        </p:nvSpPr>
        <p:spPr>
          <a:xfrm>
            <a:off x="4023360" y="1517904"/>
            <a:ext cx="274320" cy="0"/>
          </a:xfrm>
          <a:prstGeom prst="line">
            <a:avLst/>
          </a:prstGeom>
          <a:noFill/>
          <a:ln w="13970">
            <a:solidFill>
              <a:srgbClr val="C9BFAE"/>
            </a:solidFill>
            <a:prstDash val="solid"/>
          </a:ln>
        </p:spPr>
      </p:sp>
      <p:sp>
        <p:nvSpPr>
          <p:cNvPr id="12" name="Shape 10"/>
          <p:cNvSpPr/>
          <p:nvPr/>
        </p:nvSpPr>
        <p:spPr>
          <a:xfrm>
            <a:off x="4297680" y="129844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2984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4" name="Shape 12"/>
          <p:cNvSpPr/>
          <p:nvPr/>
        </p:nvSpPr>
        <p:spPr>
          <a:xfrm flipV="1">
            <a:off x="1783080" y="2456688"/>
            <a:ext cx="502920" cy="469392"/>
          </a:xfrm>
          <a:prstGeom prst="line">
            <a:avLst/>
          </a:prstGeom>
          <a:noFill/>
          <a:ln w="13970">
            <a:solidFill>
              <a:srgbClr val="C9BFAE"/>
            </a:solidFill>
            <a:prstDash val="solid"/>
          </a:ln>
        </p:spPr>
      </p:sp>
      <p:sp>
        <p:nvSpPr>
          <p:cNvPr id="15" name="Shape 13"/>
          <p:cNvSpPr/>
          <p:nvPr/>
        </p:nvSpPr>
        <p:spPr>
          <a:xfrm>
            <a:off x="2331720" y="221894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218944"/>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7" name="Shape 15"/>
          <p:cNvSpPr/>
          <p:nvPr/>
        </p:nvSpPr>
        <p:spPr>
          <a:xfrm>
            <a:off x="4023360" y="2456688"/>
            <a:ext cx="274320" cy="0"/>
          </a:xfrm>
          <a:prstGeom prst="line">
            <a:avLst/>
          </a:prstGeom>
          <a:noFill/>
          <a:ln w="13970">
            <a:solidFill>
              <a:srgbClr val="C9BFAE"/>
            </a:solidFill>
            <a:prstDash val="solid"/>
          </a:ln>
        </p:spPr>
      </p:sp>
      <p:sp>
        <p:nvSpPr>
          <p:cNvPr id="18" name="Shape 16"/>
          <p:cNvSpPr/>
          <p:nvPr/>
        </p:nvSpPr>
        <p:spPr>
          <a:xfrm>
            <a:off x="4297680" y="223723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237232"/>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0" name="Shape 18"/>
          <p:cNvSpPr/>
          <p:nvPr/>
        </p:nvSpPr>
        <p:spPr>
          <a:xfrm>
            <a:off x="1783080" y="2926080"/>
            <a:ext cx="502920" cy="469392"/>
          </a:xfrm>
          <a:prstGeom prst="line">
            <a:avLst/>
          </a:prstGeom>
          <a:noFill/>
          <a:ln w="13970">
            <a:solidFill>
              <a:srgbClr val="C9BFAE"/>
            </a:solidFill>
            <a:prstDash val="solid"/>
          </a:ln>
        </p:spPr>
      </p:sp>
      <p:sp>
        <p:nvSpPr>
          <p:cNvPr id="21" name="Shape 19"/>
          <p:cNvSpPr/>
          <p:nvPr/>
        </p:nvSpPr>
        <p:spPr>
          <a:xfrm>
            <a:off x="2331720" y="3157728"/>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1577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3" name="Shape 21"/>
          <p:cNvSpPr/>
          <p:nvPr/>
        </p:nvSpPr>
        <p:spPr>
          <a:xfrm>
            <a:off x="4023360" y="3395472"/>
            <a:ext cx="274320" cy="0"/>
          </a:xfrm>
          <a:prstGeom prst="line">
            <a:avLst/>
          </a:prstGeom>
          <a:noFill/>
          <a:ln w="13970">
            <a:solidFill>
              <a:srgbClr val="C9BFAE"/>
            </a:solidFill>
            <a:prstDash val="solid"/>
          </a:ln>
        </p:spPr>
      </p:sp>
      <p:sp>
        <p:nvSpPr>
          <p:cNvPr id="24" name="Shape 22"/>
          <p:cNvSpPr/>
          <p:nvPr/>
        </p:nvSpPr>
        <p:spPr>
          <a:xfrm>
            <a:off x="4297680" y="3176016"/>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1760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6" name="Shape 24"/>
          <p:cNvSpPr/>
          <p:nvPr/>
        </p:nvSpPr>
        <p:spPr>
          <a:xfrm>
            <a:off x="1783080" y="2926080"/>
            <a:ext cx="502920" cy="1408176"/>
          </a:xfrm>
          <a:prstGeom prst="line">
            <a:avLst/>
          </a:prstGeom>
          <a:noFill/>
          <a:ln w="13970">
            <a:solidFill>
              <a:srgbClr val="C9BFAE"/>
            </a:solidFill>
            <a:prstDash val="solid"/>
          </a:ln>
        </p:spPr>
      </p:sp>
      <p:sp>
        <p:nvSpPr>
          <p:cNvPr id="27" name="Shape 25"/>
          <p:cNvSpPr/>
          <p:nvPr/>
        </p:nvSpPr>
        <p:spPr>
          <a:xfrm>
            <a:off x="2331720" y="4096512"/>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09651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29" name="Shape 27"/>
          <p:cNvSpPr/>
          <p:nvPr/>
        </p:nvSpPr>
        <p:spPr>
          <a:xfrm>
            <a:off x="4023360" y="4334256"/>
            <a:ext cx="274320" cy="0"/>
          </a:xfrm>
          <a:prstGeom prst="line">
            <a:avLst/>
          </a:prstGeom>
          <a:noFill/>
          <a:ln w="13970">
            <a:solidFill>
              <a:srgbClr val="C9BFAE"/>
            </a:solidFill>
            <a:prstDash val="solid"/>
          </a:ln>
        </p:spPr>
      </p:sp>
      <p:sp>
        <p:nvSpPr>
          <p:cNvPr id="30" name="Shape 28"/>
          <p:cNvSpPr/>
          <p:nvPr/>
        </p:nvSpPr>
        <p:spPr>
          <a:xfrm>
            <a:off x="4297680" y="4114800"/>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11480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27</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32588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783080"/>
            <a:ext cx="1414577"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457200" y="178308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783080"/>
            <a:ext cx="1856232"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072945" y="178308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78308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130345" y="178308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783080"/>
            <a:ext cx="1267358" cy="530352"/>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629400" y="178308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69748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154680"/>
            <a:ext cx="3475634" cy="530352"/>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15468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154680"/>
            <a:ext cx="2445106" cy="530352"/>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34002" y="315468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849624"/>
            <a:ext cx="3033979" cy="530352"/>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84962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27</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Text 4"/>
          <p:cNvSpPr txBox="1"/>
          <p:nvPr/>
        </p:nvSpPr>
        <p:spPr>
          <a:xfrm>
            <a:off x="457200" y="137160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Channels move value without touching the chain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Routes hop wallet to wallet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chain settles only open and close</a:t>
            </a:r>
            <a:endParaRPr lang="en-US" sz="1450" dirty="0"/>
          </a:p>
        </p:txBody>
      </p:sp>
      <p:sp>
        <p:nvSpPr>
          <p:cNvPr id="7" name="Text 5"/>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payment routed over three hops</a:t>
            </a:r>
            <a:endParaRPr lang="en-US" sz="1150" dirty="0"/>
          </a:p>
        </p:txBody>
      </p:sp>
      <p:sp>
        <p:nvSpPr>
          <p:cNvPr id="8" name="Shape 6"/>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9" name="Text 7"/>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channels = {('Alice', 'Bob'), ('Bob', 'Carol'), ('Carol', 'Dave')}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nbr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for x, y in channels: nbr.setdefault(x, []).append(y); nbr.setdefault(y, []).append(x)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path, frontier = {'Alice': ['Alice']}, ['Alice']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while 'Dave' not in path:</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nxt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x in frontier: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y in nbr[x]: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y not in path: path[y] = path[x] + [y]; nxt.append(y)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frontier = nxt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(path['Dave'], len(path['Dave']) - 1, ('Alice', 'Dave') in channels)</a:t>
            </a:r>
            <a:endParaRPr lang="en-US" sz="950" dirty="0"/>
          </a:p>
        </p:txBody>
      </p:sp>
      <p:sp>
        <p:nvSpPr>
          <p:cNvPr id="10" name="Text 8"/>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(['Alice', 'Bob', 'Carol', 'Dave'], 3, False)</a:t>
            </a:r>
            <a:endParaRPr lang="en-US" sz="950" dirty="0"/>
          </a:p>
        </p:txBody>
      </p:sp>
      <p:sp>
        <p:nvSpPr>
          <p:cNvPr id="11" name="Text 9"/>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27</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103120"/>
            <a:ext cx="8046720" cy="21031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27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2026-10-06T06:13:42Z</dcterms:created>
  <dcterms:modified xsi:type="dcterms:W3CDTF">2026-10-06T06:13:42Z</dcterms:modified>
</cp:coreProperties>
</file>