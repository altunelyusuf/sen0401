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Lst>
  <p:notesMasterIdLst>
    <p:notesMasterId r:id="rId10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notesMaster" Target="notesMasters/notesMaster1.xml"/><Relationship Id="rId110" Type="http://schemas.openxmlformats.org/officeDocument/2006/relationships/presProps" Target="presProps.xml"/><Relationship Id="rId111" Type="http://schemas.openxmlformats.org/officeDocument/2006/relationships/viewProps" Target="viewProps.xml"/><Relationship Id="rId112" Type="http://schemas.openxmlformats.org/officeDocument/2006/relationships/theme" Target="theme/theme1.xml"/><Relationship Id="rId1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Introduction (Antonopoulos and Harding, 2023), free under CC BY-SA 4.0. This deck follows the chapter's own concept taxonomy: 90 concepts in 6 branches, of which 42 carry a worked example. Every number, hash, address and output on these slides was executed under Python 3.14.4 by the chapter's own examples and checked against the figure the chapter corpus records; the deck is refused by its checker if any of them stops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branches are the chapter's own: Money, Network, Wallet, Usage, Foundations, Nature. Say at the start that the order of the lecture is the order of the taxonomy, so that a student who opens the interactive page afterwards finds the same tree. Concepts are corpus-derived from the 3rd edition's chapter 1 through the Stage 1 research record; the explanations were rewritten for version 1.2.0 from the documents and files listed at the head of this module, each read for this version, with every quotation re-read from its saved copy and every number recomputed by a claim that the builder executes; the supporting concepts (the cryptographic primitives, the parts of the chain, the everyday computing terms, the two threats, the objects of a payment and the standards bodies) were added because an audit of the terms used in the explanations fo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course outcome aloud and say which part of it this chapter reaches. The chapter's objectives are the page's own and are what the question bank and the mock exam are written against. Course outcome LO-1 is recorded as a draft that the course owner has not yet approved, so present it as the direction of the course rather than as a settled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competency questions the chapter's ontology was written to answer, so they are a fair statement of what a student should be able to answer at the end. Come back to them in the recap. A student who can answer all of them has the chapter; a student who can answer none of them has memorised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currency is only as useful as the rules that govern it. People accept money because they expect to be able to spend it later at a value they can foresee, and the expectation depends on knowing who can create more of it and how fast. Conventional currencies answer these questions with institutions, namely a central bank and a clearing system, whereas Bitcoin answers them with rules written into software that every participant can read. Understanding the monetary side first makes the technical machinery of the later branches easier to follow, because every mechanism exists to protect one of these monetary rules.
Three misconceptions are worth removing early. First, there is no company or authority that issues bitcoin; the rules of issuance are enforced by every participant. Second, the number of bitcoin is not unlimited, but the limit is a property of the software rules and not a law of nature, so it is only as strong as the agreement of the participants to keep it. Third, a figure such as the price or the current subsidy is a value at a date; the chapter's rules stay fixed while those values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imprecise vocabulary produces imprecise reasoning. A student who writes that Bitcoin was sent when bitcoin was meant has confused the payment system with the thing that it transports, and an engineer who forgets how amounts are divided will make rounding errors in software that handles real value. The unit section therefore comes first so that every later figure can be stated without ambiguity.
Concepts in this section: Bitcoin Unit, Satoshi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is more than a matter of spelling. The system consists of a protocol, a network, and software, while the unit is a quantity of value that is recorded by that system. Chapter 1 describes the unit as a currency that is entirely virtual, since there are no physical coins and not even individual digital coins, and it describes the system as a collection of concepts and technologies (Antonopoulos and Harding, 2023). Keeping the two words apart prevents sentences such as a Bitcoin was sent, which blur the difference between the thing that moves and the machinery that moves it.
A common slip is to treat bitcoin as a physical or digital object that can be held in the way that a coin can. The chapter is explicit that coins are implied in transactions that transfer value from spender to receiver, and that no coin object exists (Antonopoulos and Harding, 2023). A second slip is to write bitcoin with a capital letter in the middle of a sentence when the unit is meant. The convention is a convention of this textbook; other writers do not always follow it, so a student should read an unfamiliar text with the possibility of a different usage in mind.
---
A currency that is divided into very small pieces can be used for very small payments, and a system that counts in whole units avoids a class of errors. Software represents an amount as an integer number of satoshis, because integers add and subtract exactly, whereas decimal fractions held in floating-point numbers do not always do so. Bitcoin Core, the reference implementation, defines one bitcoin as 100,000,000 of its smallest units and uses a whole-number amount type for the value of every output (Bitcoin Core, 2026).
Two warnings apply. First, the satoshi must not be confused with Satoshi Nakamoto, although the unit is named after the author. Second, a conversion done with ordinary floating-point numbers can be off by a tiny amount, which is harmless in a classroom exercise and dangerous in software that moves value; the safe habit is to convert at the edges of a program and to compute with whole numbers of satoshis in between.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Predictability is the economic point of the schedule. Anyone can compute in advance how many bitcoin will exist at any future block, and nobody can change the schedule without the agreement of the participants who run the software. For a student, the supply schedule is also the best first example of how a rule of an economic system can be written as a short program and checked by execution.
Concepts in this section: Supply cap, Halving, Block subsidy.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limit on supply is what distinguishes Bitcoin from a currency that a central bank can expand. Because the rule is enforced by every full node, a miner who tries to claim more than the rule allows produces a block that the other participants reject. The chapter adds that nobody can force you to accept any bitcoins that were created beyond the expected issuance rate (Antonopoulos and Harding, 2023). The cap therefore is a promise about future behaviour that is backed by the participants' own software and not by the word of an issuer.
A cap is a rule of the software and not a physical law. It holds as long as the participants who run full nodes continue to enforce it, and changing it would require nearly all of them to agree on new software, which is why the schedule is regarded as stable. A second caution concerns the phrase just below 21 million: the true total is 20999999.9769 bitcoin, so a program that assumes exactly 21,000,000 will be off by a small but real amount. A third caution is that the cap says nothing about coins whose keys are lost; those remain counted in the supply although no one can spend them.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halving is the mechanism that makes the supply curve geometric. Each interval pays half as much as the one before, so the total converges to a limit instead of growing without end, and the issuance of new bitcoin becomes less and less important compared with the fees paid by transactions. The halving also changes the economics of mining at fixed dates, because a miner's revenue from new bitcoin drops by half on that day.
The chapter says that a halving happens about every four years, and the text of the course must not state this as an exact calendar fact. The interval is a number of blocks, 210000, and the calendar time depends on how fast blocks are actually found; at the target of one block every 10 minutes it comes to a little less than four years (210000 blocks of 10 minutes each last 3.99 years). The dates of later halvings are therefore estimates until they occur.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subsidy is the only way in which new bitcoin enters circulation, so it is at once the supply policy and the payment for the work of securing the network. The whitepaper explains the design: the first transaction in a block is a special transaction that starts a new coin owned by the creator of the block, which adds an incentive for nodes to support the network and provides a way to distribute coins into circulation in the absence of a central authority (Nakamoto, 2008). The same paper compares the steady addition of coins with gold miners who expend resources to add gold to circulation.
The subsidy is not the same as the reward: the reward of a block is the subsidy plus the fees of its transactions, and the glossary of the book describes the reward as the amount included in each new block for the miner who found the proof of work (Antonopoulos and Harding, 2023). The figure in that glossary entry, 12.5 bitcoin, was the subsidy at the time the glossary was written and is out of date. Because the subsidy keeps halving, the fees become a larger share of the reward over time, a development the whitepaper anticipated when it says that the incentive can transition entirely to transaction fees (Nakamoto, 2008).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has no issuer who could announce a price, and it has no central bank that could fix an exchange rate against another currency. The price therefore has to be discovered, and the quality of the discovery determines whether two people can agree on how much cash is worth a given amount of bitcoin, as Alice and Joe must before their exchange.
Concepts in this section: Floating exchange rate, Volume-weighted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explanation answers the question of who sets the price: markets do. This matters for anyone who accepts bitcoin as payment, because the value of the amount received can change between the moment of the agreement and the moment the money is spent. It also explains why the chapter treats the price as an input that Alice and Joe must look up before every exchange, and not as a property of the network itself.
A floating rate is not an error or a defect; it is the ordinary condition of most currencies, and the chapter says so. The risk is the volatility that comes with it, so a merchant who prices goods in a national currency but accepts bitcoin must convert at the moment of sale. A further caution concerns the data: the price shown by one website is the price of one market or one average, and two services may differ slightly, which the next concept explains.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average treats a trade of one small unit and a trade of a thousand units as equal, so a single small and unusual trade could move the result. Weighting by volume makes the figure reflect where most of the money actually changed hands. The result is a more stable and more representative reference rate, which is why pricing services and institutional reference rates use this kind of average (Antonopoulos and Harding, 2023).
The average is a summary and not a market price that anybody can necessarily trade at. Its value depends on which markets a service includes and on the period over which the trades are collected, so two services can report different numbers for the same currency pair. A volume-weighted average can also lag a fast-moving market, because older trades remain in the window; a person who needs to buy at a specific moment must look at the actual offers on the market where the purchase takes place.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Issuance is the point at which Bitcoin differs most from the money that students already know. A central bank can respond to an emergency by creating more money, and a clearing house can reverse or delay a payment, but a rule-based system gives up both powers in exchange for predictability and for independence from any single institution. The section helps a student to judge that trade-off with the institutions in front of him.
Concepts in this section: Central bank, Clearing house, Central bank replacement, Deflation.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 is needed in this chapter because the chapter defines Bitcoin partly by contrast. It says that Bitcoin mining decentralizes the currency-issuance and clearing functions of a central bank and replaces the need for any central bank (Antonopoulos and Harding, 2023). A student who does not know what a central bank does cannot judge the claim, so the function has to be named: creation of money by an authority, according to a policy that the authority can change.
To say that Bitcoin replaces the central bank is a claim about the function of issuing money, and the chapter does not claim that Bitcoin provides every other service of the institutions it names. The difference between a policy that people can change and a rule that the software enforces is the point of the comparison, and whether the rule is better is a question of economics that this textbook leaves open. The course asks the student to state the difference accurately and to avoid slogans.
---
The clearing house solves a real problem. Someone has to decide which of two conflicting payments counts, and a central party with a global view of the money in circulation can decide it. The same page of the chapter says that conventional money is also often stored and transmitted digitally and that the counterfeiting and double-spend issues are handled by clearing all electronic transactions through central authorities that have a global view of the currency in circulation (Antonopoulos and Harding, 2023). The cost of the solution is that the whole system depends on one operator.
Removing the clearing house does not remove the need for clearing; it moves the function into the network. The chapter makes this point when it says that mining decentralizes the clearing function (Antonopoulos and Harding, 2023). A second caution is that the clearing in Bitcoin is not instantaneous: the chapter says that a transaction is confirmed when it is included in a block, which happens every 10 minutes on average, and until then it is shown as unconfirmed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claim explains why Bitcoin needs mining at all. A network of equal participants has no leader who could decide which transactions come first or who could issue new money, so the work of the miner is the substitute for that leader. The reward of a block creates the currency, and the inclusion of transactions in blocks clears them. The incentive for the miner, new bitcoins and fees, pays for the work that keeps the record secure, as the whitepaper explains (Nakamoto, 2008).
The word replace should be read narrowly. The mechanism replaces the need for a central issuer and a central clearing operator, which are the two functions that the chapter names. It does not make the system free of intermediaries in practice, because the chapter itself describes users who hold their funds with custodians, exchanges and web services, and these are ordinary companies with the usual risks (Antonopoulos and Harding, 2023).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 matters because it is one of the first things that economists say about Bitcoin, and it follows directly from the rules of the previous section. If the money supply grows by a shrinking amount while demand for the money does not shrink, each unit tends to buy more over time. The chapter adds a related remark, that nobody can force you to accept any bitcoins that were created beyond the expected issuance rate (Antonopoulos and Harding, 2023). Both statements come from the same schedule.
Deflationary does not mean that the price of bitcoin must rise, and the chapter does not say so; it describes the issuance. The effect on prices is a question of economics that depends on many factors besides the supply schedule. Finally, the end of the subsidy does not end mining: the miner's income then consists of fees, which is why the whitepaper observes that the incentive can transition entirely to transaction fees and be completely inflation free (Nakamoto, 2008).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money system that is held together by many independent computers must solve a hard problem: those computers have to agree on which payments happened, even though they receive messages in different orders and some of them may be dishonest. The solution is the main technical achievement of Bitcoin, and the chapter presents it as a breakthrough in distributed computing (Antonopoulos and Harding, 2023). Without an understanding of the agreement mechanism, the rest of the course reads as a list of unrelated parts.
It is easy to imagine the network as a company with servers, and the chapter warns against that picture; there is no central server. It is equally easy to imagine consensus as a vote of people, whereas the agreement is reached by software that checks the same rules and follows the chain with the most work. The branch should be read with both corrections in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Consensus is what turns a crowd of computers into a ledger. Without it, two participants could hold different histories and each could claim that the other's payments never happened. The consensus mechanism is also what protects against the double-spend, the main threat to any digital money, so the concepts of this section explain the security of the entire system.
Concepts in this section: Proof of work, Double-spend, Mining, Difficulty adjustment, Byzantine Generals'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of the work is to make agreement possible without trust. If producing a block were free, anyone could produce as many as they liked and the network could not choose between them. By making each block costly, proof of work turns the choice into a measurable quantity: the whitepaper observes that proof of work is essentially one-CPU-one-vote, and that the majority decision is represented by the longest chain, the one with the greatest proof-of-work effort invested in it (Nakamoto, 2008). This also solves the problem that a vote by network address could be subverted by anyone able to allocate many addresses.
Proof of work does not prove that the transactions in a block are valid; validity is checked separately by every node, and a block with an invalid transaction is rejected however much work was spent on it. The work is also not useful computation in itself: its value lies in its cost. A further misconception is that the work is a puzzle that can be solved by cleverness; since a hash function behaves unpredictably, the only method is to try values, and the winner is determined by chance in proportion to the computing power used.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digital currency that cannot prevent double-spending is worthless, since the recipient could never be sure that the money received had not already been paid to someone else. Before Bitcoin the problem was handled by clearing every transaction through a central clearinghouse; the chapter calls this a weakness because the central party becomes a single point of attack, and it says that Nakamoto's proof of work elegantly solves the problem without it (Antonopoulos and Harding, 2023).
A double-spend is not made impossible by cryptography alone; a digital signature proves who authorised a payment and does not show that the payment is the only one. The protection is a consequence of consensus and gets stronger with each confirmation, so a transaction that is not yet confirmed can still be replaced by a conflicting one. The toy ledger above also shows only the principle, because a real network has no single machine that keeps the set.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Mining fulfils two purposes that a central bank would otherwise fulfil. It creates the currency, because the miner who finds a block is rewarded with brand new bitcoins and the fees paid by recent transactions, and it secures the record, because the work spent on a block makes the block costly to rewrite. The chapter says that every 10 minutes, on average, one miner can add security to past transactions, and that mining decentralizes the issuance and clearing functions of a central bank (Antonopoulos and Harding, 2023).
The word mining suggests that coins are dug out of the ground one by one. What the miner actually finds is a valid block, and the new coins are a payment attached to it. Mining is also not a guaranteed income: because the search is a lottery, a single machine may work for a very long time without finding a block, which is the reason for pools. Finally, the share of the reward that comes from new coins falls with each halving, and the miners' revenue then depends increasingly on fees.
---
Without an adjustment, the pace of blocks would depend on the number of machines. If many new machines joined, blocks would arrive in seconds and the schedule of the supply would run ahead of its calendar; if many machines left, the network would slow to a crawl. The whitepaper gives the same reason: to compensate for increasing hardware speed and varying interest in running nodes over time, the difficulty is determined by a moving average targeting an average number of blocks per hour (Nakamoto, 2008).
The adjustment lags: the network reacts only after a period of 2016 blocks, so in the short run the pace can differ much from 10 minutes. It also does not control the price or the supply directly; it controls the pace. The figure of 10 minutes is a target and an average, and the time to the next block follows a random distribution, so that a block can come seconds or an hour after the previous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the abstract form of the challenge that a money network faces. The participants are the computers, the course of action is the next block, and the traitors are dishonest participants who want to double-spend. The chapter calls Satoshi Nakamoto's invention a practical and novel solution to this problem and says that its use of proof of work to achieve consensus without a central trusted authority represents a breakthrough in distributed computing (Antonopoulos and Harding, 2023).
The solution is probabilistic, not absolute. A node can never be mathematically certain that a block is final; the chance that it will be reversed falls with every block added after it, which is the reason for waiting for confirmations. And the guarantee depends on an assumption, namely that honest participants control the majority of the computing power; the story of the generals stays a useful reminder that this assumption is what the security rests on.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History explains why the design looks as it does. Bitcoin was not invented from nothing: it combined prior inventions such as digital signatures and Hashcash, and it answered the failure of earlier centralized digital currencies, which were targeted by governments and attacked by hackers. A student who knows the history can distinguish what was new in Bitcoin from what was inherited.
Concepts in this section: Whitepaper, Reference implementation, Satoshi Nakamoto, Hashcash, Digital currencies before Bitcoin.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matters because it states the design in the author's own words, and because every later description of Bitcoin is an interpretation of it. Its abstract proposes a purely peer-to-peer version of electronic cash that would allow online payments to be sent directly from one party to another without going through a financial institution, and it proposes a solution to the double-spending problem using a peer-to-peer network (Nakamoto, 2008).
The whitepaper is not a specification. It leaves out details that the software had to settle, and the system has changed since 2008 in ways that the paper does not describe. A second observation concerns vocabulary: the saved text of the paper does not contain the word blockchain at all, and it speaks of a chain of blocks and of the longest proof-of-work chain (Nakamoto, 2008). The author's identity does not affect the text, which can be checked on its own merits.
---
Bitcoin has no written specification that is complete in itself, so the behaviour of the reference implementation has in practice defined what is valid. This is why other programs that speak the protocol are tested against it. The chapter compares the situation with the web: a Bitcoin wallet is the most common user interface of the system, just as a web browser is the most common user interface for the protocol HTTP, and many brands exist for both (Antonopoulos and Harding, 2023).
A reference implementation is a practical standard, and not a guarantee of correctness. The phrase means that the program is the one against which the behaviour of others is judged, not that it is the only program that could exist. A student should therefore distinguish the protocol, which the chapter describes as a peer-to-peer network, from Bitcoin Core, which is one program that speaks it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of the author matters less for a technical course than it might seem, and the chapter explains why. Satoshi Nakamoto withdrew from the public in April 2011, leaving the responsibility of developing the code and network to a thriving group of volunteers, and neither Nakamoto nor anyone else exerts individual control over the Bitcoin system, which operates on fully transparent mathematical principles, open source code, and consensus among participants (Antonopoulos and Harding, 2023). A system without an owner does not need a known founder.
Two pitfalls are common. The first is to treat claims about the identity as facts; the book says the identity is unknown, and so does this text. The second is to confuse the author with the unit: Satoshi Nakamoto is a person or group, while the satoshi, the unit of one hundred-millionth of a bitcoin, is only named after the author. A student should also avoid appeals to the authority of the author, since the rules of Bitcoin are those enforced by the software that participants run today.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Hashcash showed that a cost in computation could replace a cost in money or an identity check. The paper reasons that if there is a cost associated with sending each email, this may be sufficient to limit the scale of email abuse perpetrated by spammers (Back, 2002). Back's paper requires that a cost-function should be efficiently verifiable but parameterisably expensive to compute (Back, 2002), and the same two properties are what Bitcoin needed: expensive to produce, cheap to check.
Hashcash on its own does not solve double-spending: it limits the rate at which tokens can be produced, and the paper itself says that the server needs to keep a double spending database of spent tokens, to detect and reject attempts to spend the same token again (Back, 2002). Bitcoin removes the server: the whitepaper adds a chain of blocks, in which each block includes the hash of the previous block, and a rule that the longest chain, the one with the most work, counts as correct (Nakamoto, 2008). A second caution is that the cost of the work depends on hardware, which is why Bitcoin adjusts its difficulty.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failures of these projects define the problem that Bitcoin solved. The chapter reports that although the earlier currencies worked, they were centralized and, as a result, were easy to attack by governments and hackers; they used a central clearinghouse to settle all transactions at regular intervals, and in most cases they were targeted by worried governments and eventually litigated out of existence, while some failed in spectacular crashes when the parent company liquidated abruptly (Antonopoulos and Harding, 2023).
The lesson of the sidebar is not that digital money is impossible without a network of equals, but that a central operator can be a single point of attack or of failure. The chapter's conclusion is that to be robust against intervention by antagonists, whether legitimate governments or criminal elements, a decentralized digital currency was needed (Antonopoulos and Harding, 2023). A student should read that as a claim about design robustness, not as a statement of what is legal in any country.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system without an owner needs a way to evolve. Proposals must be written down, discussed, and accepted or rejected in public, and the code must be available to anyone who wants to check or reuse it. These two practices are what allow a community of volunteers, rather than a company, to maintain a system that holds real value.
Concepts in this section: Bitcoin Improvement Proposal (BIP), Open source software, W3C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BIPs give a decentralized project a public memory and a procedure. Every proposal has a number, an author, a status such as Deployed, and a type such as Specification, and it is available for anyone to read; the header of BIP 39 shows these fields (Palatinus et al., 2013). Because wallets of different authors can follow the same document, a user can move from one program to another, which is only possible when the convention is written down.
A BIP is a proposal and not a law. Its header records a status, and BIP 39 carries the status Deployed (Palatinus et al., 2013), which says that programs implement it; a proposal without that status gives no one an obligation. The appendix of the book lists which proposals Bitcoin Core implements and since which release, and the lesson is that a change takes effect only when the software that participants run contains it (Antonopoulos and Harding, 2023).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Openness is part of why a system like Bitcoin can be trusted without a company behind it. The chapter says that the Bitcoin protocol stack is available as open source software and can be run on a wide range of computing devices, including laptops and smartphones, making the technology easily accessible, and that Bitcoin operates based on fully transparent mathematical principles, open source code, and consensus among participants (Antonopoulos and Harding, 2023).
Open source does not mean that the code has been reviewed by everyone, and it does not mean that anyone can change the rules of the network. A change in the code reaches the network only if enough participants choose to run it. The chapter stresses that wallets vary in quality, performance, security, privacy and reliability (Antonopoulos and Harding, 2023), so a student should not assume that every program that handles bitcoin is of equal quality merely because the protocol is open.
---
Open standards are what let software from different makers work together on the web, and W3C is where many of them are agreed. This chapter uses two of its Recommendations as a bridge to identity: the Decentralized Identifiers v1.0 of 19 July 2022 and the Verifiable Credentials Data Model v2.0 of 15 May 2025 (World Wide Web Consortium, 2022) (World Wide Web Consortium, 2025). Both express, in a standard form, the idea that control belongs to whoever holds the keys.
A Recommendation is a standard and not a law: it binds only those who choose to implement it, and its authority comes from the number of programs that do so rather than from any power to compel. A document that exists is therefore not evidence that the technology it describes is in wide use, and a student should say that a standard specifies a thing rather than that it establishes it. The Recommendations of this consortium should also be told apart from the Bitcoin Improvement Proposals of the earlier section, which are produced by a different community with its own numbering and its own process, even though both are public, numbered documents that specify how something is to be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is where the abstract rules of the network meet a human being. It decides how much of the work of validation the user does himself, who holds the keys that control the money, and what happens when a phone is lost. The chapter says that wallets vary in quality, performance, security, privacy and reliability, and that choosing a wallet is highly subjective and depends on the use and the user's expertise, so that it would be pointless to recommend a specific brand (Antonopoulos and Harding, 2023).
The three classifications are independent and combine freely. The chapter notes that many wallets fall into a few groups, the three most common being the desktop full node, the mobile lightweight wallet, and the web-based account with a third party, but that the lines between categories are sometimes blurry because software runs on multiple platforms and can interact with the network in different ways (Antonopoulos and Harding, 2023). A student should therefore describe a wallet along all three dimensions.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platform trades one benefit against another. A desktop wallet gives control and autonomy but runs on a general-purpose computer; a mobile wallet is convenient but often relies on remote servers; a web wallet is the easiest to start with and gives up the most control; a hardware device offers the strongest protection of keys and needs a second program to do the rest. Knowing the pattern lets a learner judge any new wallet, not only the ones named in the book.
Concepts in this section: Desktop wallet, Mobile wallet, Web wallet, Hardware signing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desktop wallet matters because it is the platform on which a user can run a full node and thereby need to trust nobody else. The chapter groups the desktop full node among the most common arrangements and notes that in it you control the keys (Antonopoulos and Harding, 2023). Features that smaller devices cannot offer are also found here, such as the use of the wallet together with a node that validates the entire history.
Autonomy and control come at a price in responsibility. A desktop wallet protects nothing if the computer carries malicious software, and a lost or damaged disk loses the keys unless a backup exists. A student should therefore treat the desktop wallet as a choice for users who accept those duties, and should not assume that a program on a personal computer is more secure than a service run by professionals.
---
The phone is the device that people carry and use for everything, so a wallet on it is the natural way to receive and spend small amounts. The chapter describes these wallets as often a great choice for new users, many being designed for simplicity and ease of use, while there are also fully featured mobile wallets for power users (Antonopoulos and Harding, 2023).
The convenience has a privacy cost. The chapter warns that retrieving information from remote servers reduces your privacy by disclosing to third parties information about your Bitcoin addresses and balances (Antonopoulos and Harding, 2023). A second consideration is that a phone can be lost, stolen or reset, which is why the chapter follows the creation of the wallet at once with the recovery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wallets are easy to start with, which is why they are popular, and they show the central trade-off of the chapter in its clearest form: simplicity against control. The chapter notes that most web wallets take control of the Bitcoin keys from users in exchange for ease of use, and that it is inadvisable to store large amounts of bitcoin on third-party systems (Antonopoulos and Harding, 2023).
Convenience and safety should not be confused. A page in a browser looks like any other page, and the user cannot easily see whether the keys are on his device or on the provider's server. The advice of the chapter is plain: do not keep large amounts on third-party systems, and remember that dependence on the server reveals information about the user even in the best case.
---
The purpose is to keep the private key away from the computer or phone that is most exposed to attack. By handling all Bitcoin-related operations on the specialised hardware, the chapter says, these wallets are less vulnerable to many types of attacks (Antonopoulos and Harding, 2023). A device that only signs, and never shows the key, reduces the damage that malicious software on the connected computer can do.
The name hardware wallet is misleading, and the chapter says so in its own way: the device does not hold bitcoin, nor does it see the network, and it needs a second wallet. Its protection is limited to the keys. A student should also remember that the device is used with a recovery code, since a lost device has to be replaceable, and that the privacy of the paired wallet remains the privacy of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Autonomy decides whom the user has to trust. A program that validates everything itself trusts nobody, a program that checks only part of the data trusts its sources for the rest, and a program that asks a remote service trusts that service completely. The three degrees line up with three levels of resource use, from heavy to light.
Concepts in this section: Full node, Lightweight client, Third-party API client, Peer and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node is the one that gives the user complete autonomy, which is the chapter's term for needing to trust no one else. The price is resources: the chapter estimates that a full node uses about the same computer resources as watching an hour-long streaming video for each day of Bitcoin transactions (Antonopoulos and Harding, 2023). The whitepaper had foreseen the arrangement, and notes that businesses that receive frequent payments will probably still want to run their own nodes for more independent security and quicker verification (Nakamoto, 2008).
A full node is not necessarily a miner and not necessarily a wallet; it validates, and these other roles are added separately. It also does not make a payment faster or the network larger by itself. Its value is for its operator and for the network as a whole, since the more independent nodes check the rules, the harder it is to change the rules by force. A last point is that running one needs patience: the first download of the whole history takes a long time.
---
Most users cannot or will not run a full node on a phone, and the lightweight client is the practical answer. It keeps the one thing that cannot be delegated, the keys, and delegates the heavy task of storing and checking the chain. The whitepaper describes the method: a user needs only a copy of the block headers of the longest proof-of-work chain and a short proof that links a transaction to the block in which it is time-stamped (Nakamoto, 2008).
A lightweight client reduces its dependence on any single server by connecting to several peers, but the chapter is clear about the limit: the security of a client ultimately relies on the integrity of its peers (Antonopoulos and Harding, 2023). A student should therefore read lightweight as a statement about validation and not about control: the client still holds the keys and still creates its own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type is the least autonomous of the three, and it is included so that a student can see the whole range. A program that reads everything from a remote service has no means of checking that service. If the service is wrong, hacked or dishonest, the client cannot know, and the service learns what the client asks.
The trust placed in the remote server is complete. The chapter says that the client trusts the remote server to provide accurate information and to protect its privacy (Antonopoulos and Harding, 2023), and these two trusts can fail independently. If the keys are also held by the third party, the arrangement becomes a custodial one, which the next branch of the chapter treats.
---
The distinction explains where trust lies. A peer trusts its own checking, whereas a client trusts its peers. A general definition from the vocabulary of the internet agrees: a client is a system entity that requests and uses a service provided by another, called a server (Shirey, 2007). In Bitcoin the roles are more symmetrical, because every peer is also a server of data to others.
A client is not worse than a peer in every way: it can be much cheaper to run, and it still holds its own keys. The point is that its safety depends on someone else's honesty. A student should not describe the network as if every user were a peer, because most users, running wallets on phones, are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decides who really owns the money. In the traditional financial system a bank holds the account and the customer holds a claim against it, whereas in Bitcoin the holder of the key holds the money itself. The chapter condenses the lesson into the sentence Your keys, your coins. Not your keys, not your coins, which its author says he coined to emphasise this point (Antonopoulos and Harding, 2023).
Concepts in this section: Noncustodial wallet, Custodial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of the key is the only prerequisite to spending: possession of the key that can sign a transaction is, according to the chapter, the only thing required to spend bitcoin, which puts the control entirely in the hands of each user (Antonopoulos and Harding, 2023). The same fact has a hard consequence, which the chapter states at once: Alice bears responsibility for backing the keys up, since losing the keys means she loses access to her bitcoins.
Freedom from a third party is also freedom from its protection. There is no password reset, no support desk that can restore access, and no insurer. A student who recommends a noncustodial wallet to a beginner should recommend the backup with it. The chapter also warns that the real danger is fraud, since malware that mimics a wallet can trick the user into giving the code away.
---
Custody is convenient, and for that reason it is common. The user does not have to look after a backup or fear the loss of a device. The chapter lists web-based accounts with third parties as one of the three common groups of wallets, and says explicitly that in it you do not control the keys (Antonopoulos and Harding, 2023). The price is that the bitcoin is in effect a claim on the custodian.
The risk lies with the custodian: if it fails, is hacked, or refuses a withdrawal, the customer has only a claim against it. The first sentence of the chapter's slogan states the remedy, and the second one states the cost. A fair reading is neither that custody is always wrong nor that it is safe, but that the user should know which arrangement he is in and how much he is willing to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system without a helpdesk, the backup is the only insurance. The chapter explains that the control of the keys brings the responsibility for them, and that a user who loses the keys loses the money. The section therefore treats the recovery code, the wallet's other data, and the newer payment methods in turn, because each has its own way of being lost.
Concepts in this section: Recovery code, Wallet metadata.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makes the backup practical. A wallet contains many keys, and each new address uses a new one, but a single short code can restore them all. The chapter explains that if something happens to Alice's wallet she can download a new copy of her wallet software and enter this recovery code to rebuild the wallet database of all the onchain transactions she has ever sent or received (Antonopoulos and Harding, 2023). The other names reflect its role: seed phrase, because it provides the input, the seed, to the function that generates all of a wallet's keys.
The code is the key to the money, and whoever sees it can take the funds, so it must be kept offline and private. The chapter's warning is explicit: malware applications mimic the design of a wallet, insist that you enter your recovery code, and relay it to the developer so that they can steal your funds, which is the equivalent of phishing websites. Most wallets ask for the code only at the initial set-up and during recovery; if an application asks at any other time, the chapter advises consulting an expert (Antonopoulos and Harding, 2023). It also notes that writing the phrase down on paper tends to be more reliable than memory, and that the code alone does not restore data such as labels.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Metadata is less valuable than money, but it is valuable in its own way. The chapter compares the loss to a request to review an old bank or credit card statement in which the name of every entity you paid, or who paid you, has been blanked out (Antonopoulos and Harding, 2023). For a business or a person who must account for payments, a history without labels can be nearly useless even though the money is safe.
A recovery code is therefore a backup of the keys and not of the whole wallet. The chapter adds a second reason to keep a full backup: for wallets that use offchain payments, a mechanism that depends on onchain data cannot guarantee recovery of all of a user's bitcoins, so it is important to make frequent backups of the wallet database (Antonopoulos and Harding, 2023). Labels may also be sensitive, since they describe who the user pays.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Usage is where a learner first sees the system work. The abstract rules of the earlier branches become a few taps on a phone: an address on a screen, a code scanned by a camera, a status that changes from unconfirmed to confirmed. A student who can follow the story step by step has the picture to which every later technical chapter adds detail.
The story is a simplification, and the chapter says it in one sentence: in the next chapter we will look at the underlying transaction and propagation technologies in more detail (Antonopoulos and Harding, 2023). The reader should not conclude that a payment is only a scan and a tap. The warnings that accompany each step, about lost keys, phishing, reuse of addresses and irreversible mistakes, are part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address is at once harmless and revealing, and the section exists to keep the two apart. It is harmless because knowing an address does not allow anybody to take money: the chapter states that, unlike a bank account number, nobody who learns one of your addresses can withdraw from your wallet, because you must initiate all spends (Antonopoulos and Harding, 2023). It is revealing because every payment made to it is visible on the public record for ever, so the way a person uses addresses decides how much of his financial life becomes visible to others. The habits that follow from this cost nothing, which is why the chapter states them as a rule rather than as advice.
Concepts in this section: Bitcoin address, Invoice, Address reuse and privacy, Privacy.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Addresses make it possible to pay someone without any prior arrangement. Because the addresses are generated independently by the wallet without reference to, or registration with, any service, there is no company that must be asked and no list that must be updated (Antonopoulos and Harding, 2023). Anyone can create as many as they need, and the chapter compares giving out an address with asking others to send an email to your email address.
An address is not an account number. The chapter stresses that, unlike a bank account number, nobody who learns one of your Bitcoin addresses can withdraw money from your wallet, because you must initiate all spends (Antonopoulos and Harding, 2023). It is also not a name: an address says nothing about its owner until it is connected to an identity, and the following concepts of the section explain how that happens.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invoice saves the payer from typing and from making a mistake. Unlike a QR code that contains only a destination address, an invoice allows a wallet application to prefill the information used to send the payment, while showing a human-readable description to the user (Antonopoulos and Harding, 2023). The chapter's advice on privacy applies to it as well: generate a new invoice with a new address each time you request a payment.
An invoice is as trustworthy as its source. A fake invoice can contain an address that belongs to a thief, and a wallet that fills in the fields helps the user to pay it quickly. The chapter's warning in the section on getting started, that malware may imitate a wallet, is a reminder to check where an invoice came from. In addition, an invoice that is not paid expires by convention only; the address in it still works later.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in Bitcoin does not come from secrecy of the record, which is public, but from the difficulty of linking records to a person. The whitepaper describes this as keeping public keys anonymous: the public can see that someone is sending an amount to someone else, but without information linking the transaction to anyone, similar to the information released by stock exchanges. As an additional firewall, a new key pair should be used for each transaction to keep them from being linked to a common owner (Nakamoto, 2008).
A new address is not a complete protection. The whitepaper itself notes that some linking is still unavoidable with transactions that spend several funds at once, which reveal that their inputs were owned by the same owner, and that if the owner of a key is revealed, linking could reveal other transactions belonging to the same owner (Nakamoto, 2008). Privacy also depends on what the user does outside the system, such as using the same dedicated account at an exchange.
---
Financial information reveals much about a person: where he shops, whom he pays and how much he has. The whitepaper explains the approach of Bitcoin: the traditional banking model achieves privacy by limiting access to information to the parties involved and to the trusted third party, whereas Bitcoin can keep privacy by keeping public keys anonymous, so that the public can see that someone is sending an amount to someone else, but without information linking the transaction to anyone (Nakamoto, 2008).
Pseudonymous is not private. Everything on the chain is permanent and public, so a single mistake, such as a payment to an exchange that knows the customer, can identify an address and with it a history that stretches back in time. Anonymity is the condition of an identity being unknown or concealed (Shirey, 2007), and Bitcoin does not promise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transfer is the unit of activity of the whole system. Everything else, the miners, the nodes and the blocks, exists to carry transfers safely. The section also gives a first view of the economics of the system: the fee that pays for inclusion, and the waiting time that gives the payment its finality.
Concepts in this section: Sending and receiving, Transaction, Inputs and outputs, Transaction fee, Confirmation, Irreversibility, Offchain payment, Payment channel, Lightning Network, Electronic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example shows that a payment needs no account and no permission. The recipient only needs an address, and the sender only needs a wallet that holds funds. The chapter lets Joe enter a label for his own records and shows that the wallet may ask about the fee, since the higher the transaction fee, the faster the transaction will be confirmed (Antonopoulos and Harding, 2023).
At the moment when Alice's wallet shows the amount, the payment is not final. It is shown as unconfirmed until it is included in a block, as the sidebar on confirmations explains (Antonopoulos and Harding, 2023). A second warning concerns the instructions on the screen: a wallet that shows more than its normal prompts, for instance by demanding the recovery code, is not a legitimate part of a payment.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transaction is the only way in which ownership changes. No coin file moves from Joe to Alice; instead, Joe's wallet signs a statement that gives an amount to Alice's address. The whitepaper defines the electronic coin in the same way, as a chain of digital signatures, in which each owner transfers the coin to the next by digitally signing a hash of the previous transaction and the public key of the next owner and adding these to the end of the coin (Nakamoto, 2008).
A transaction is not a payment until it has been confirmed, and a transaction that is broadcast can still be replaced by a conflicting one by its author. It also does not contain the sender's name: it contains addresses and signatures. The following concepts explain the parts of a transaction, the fee that is attached to it, and the confirmation that makes it final.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in Bitcoin cannot be cut into arbitrary pieces, so a payment of an amount smaller than the funds available needs a second output that returns the remainder. Without inputs and outputs a transaction would have to name a whole coin and could not be paid in exact amounts. The whitepaper observes that it would be unwieldy to make a separate transaction for every cent in a transfer, and the structure avoids this.
The change output is easy to forget, and this has cost real money: a wallet that builds a transaction without the change output would give the whole difference to the miners as a fee. The chapter's advice that the wallet should be used carefully applies. Also, the whitepaper notes that transactions with several inputs necessarily reveal that their inputs were owned by the same owner, which affects privacy (Nakamoto, 2008).
---
The fee is the price of space in a block and the second part of the miner's income. The chapter says that the miner is rewarded with both brand new bitcoins and the fees paid by recent transactions, and the whitepaper adds that once a predetermined number of coins have entered circulation, the incentive can transition entirely to transaction fees (Antonopoulos and Harding, 2023). Without fees there would be no reason for a miner to include a transaction when the new coins run out.
A fee that is too low can leave a transaction unconfirmed for a long time, and a fee that is far too high is lost money. A fee also cannot be recovered when it is wasted by a mistake in the amounts. A student should note that the numbers in the example are illustrations, not market data, and that the market for fees changes constantly.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Confirmations are how a recipient gains certainty without a central authority. The glossary describes the counting: once a transaction is included in a block, it has one confirmation; as soon as another block is mined on the same blockchain, it has two, and so on; six or more confirmations is considered sufficient proof that a transaction cannot be reversed (Antonopoulos and Harding, 2023). The more blocks lie on top of a transaction, the more work an attacker would have to redo.
A confirmation is a probability, not a guarantee, and the figure assumes that the attacker is the weaker party; the paper itself notes that its calculation concerns an attacker who tries to change one of his own transactions and cannot create value out of thin air (Nakamoto, 2008). Six confirmations is a convention of caution, not a rule of the protocol. Also, a transaction can be confirmed and still be unwanted by the recipient, for instance if the sender made a mistake: confirmation makes the payment final, not correct.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property shapes the behaviour of everyone who uses the system. The whitepaper had named reversibility as a weakness of the trust-based model of payments: completely non-reversible transactions are not really possible, since financial institutions cannot avoid mediating disputes, and the cost of mediation increases transaction costs; with the possibility of reversal, the need for trust spreads, and merchants must be wary of their customers (Nakamoto, 2008).
The word irreversible should not be read as meaning final in the moment of sending. Before confirmation, a transaction can be replaced or can fail, and after confirmation the guarantee is probabilistic. It also does not protect a buyer who has paid the wrong person or in response to fraud: the sender has no recourse. For that reason the chapter advises a careful check of the address and the amount before the Send button is pressed.
---
Offchain payments reduce user costs and improve privacy, among other benefits, in the chapter's words (Antonopoulos and Harding, 2023). Every onchain transaction competes for limited space in blocks and pays a fee, so moving small and frequent payments elsewhere lowers the load. The glossary mentions payment channels as a class of techniques that allow users to make multiple transactions without committing all of them to the blockchain, and says that in a typical payment channel only two transactions are added to the blockchain while nearly unlimited payments can be made between the participants.
The chapter draws the practical lesson: a mechanism like recovery codes that depends on onchain data cannot guarantee recovery of all of a user's bitcoins, so for applications with offchain support it is important to make frequent backups of the wallet database (Antonopoulos and Harding, 2023). A student should therefore not equate holding the recovery code with having a complete backup of every kind of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transaction on the chain pays a fee and competes for limited room in blocks, so small and frequent payments are costly there. A channel moves the frequent payments elsewhere. The chapter lists the benefits of offchain technology as reduced costs and improved privacy, among other things (Antonopoulos and Harding, 2023).
The payments in a channel are not recorded in the public blockchain, so a recovery code, which rebuilds the wallet from onchain data, cannot restore them; the chapter tells users of applications with offchain support to make frequent backups of the wallet database (Antonopoulos and Harding, 2023). The toy model here also leaves out the safeguards that make real channels secure against a party that tries to cheat.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channel only helps two parties who deal with each other often. By linking channels into a network, the system lets a payer reach people with whom he has no channel, in the way that the internet lets any computer reach any other through intermediate machines. This extends the benefits of offchain payment, lower cost and better privacy, to ordinary payments between strangers (Antonopoulos and Harding, 2023).
A routed payment depends on the intermediaries having enough funds in the right channels, and it is a different system from the chain: it has its own failures and its own privacy and backup considerations. Funds held in channels are not visible in the blockchain, so a wallet that supports the network needs its database backed up as well as its recovery code (Antonopoulos and Harding, 2023).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with electronic payments explains two features of Bitcoin. First, reversibility is a service that central institutions can provide because they can see and change the record, and Bitcoin has no such institution. Second, the difference creates a risk that is central to buying bitcoin: for someone selling bitcoin, a reversible payment introduces a very high risk that the buyer will reverse the electronic payment after receiving the bitcoin (Antonopoulos and Harding, 2023).
Reversible does not mean better or worse; it means that the risk sits with a different party. Reversibility protects a buyer who has been cheated and exposes a seller to the fraud of a reversed payment, while irreversibility does the opposite, and the whitepaper proposes to balance the second case by a routine escrow arrangement in which a third party holds the money until both sides agree (Nakamoto, 2008). The chapter's lesson for a student is therefore practical rather than moral: before acting, establish which kind of payment is involved, because the party who can be hurt by a mistake is not the same in the two cases. It is also the reason that the chapter's four ways of acquiring bitcoin differ so much in how long they take.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of blockchain technology should know that its main principle is not limited to money. Whenever a system needs to say who someone is, or what someone may do, it faces the same choice between a central registry and control by keys. The bridge shows that the choice recurs in the identity layer of the web, and that standard vocabularies exist for it.
Concepts in this section: Decentralized identifier, Verifiable credential.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is independence from central parties. The specification says that, in contrast to typical federated identifiers, DIDs have been designed so that they may be decoupled from centralized registries, identity providers and certificate authorities, and that the design enables the controller of a DID to prove control over it without requiring permission from any other party (World Wide Web Consortium, 2022). This is the principle of the chapter, control by whoever holds the keys, applied to identity.
A DID is not a credential and does not say who a person is; it says only that whoever controls it can prove it. The claims that give an identifier meaning, such as an education certificate, come from the verifiable credentials of the next concept. A second caution is that the standard does not require a blockchain, and the use of the Bitcoin idea in a DID method is a design choice that each method makes for itself.
---
Credentials are what make an identifier useful. The specification says that a verifiable credential can represent all the same information that a physical credential represents, and that technologies such as digital signatures can make it more tamper-evident and trustworthy than its physical counterpart (World Wide Web Consortium, 2025). The same family of ideas, signatures that prove origin and integrity, secures Bitcoin transactions.
A valid signature shows that the issuer made the claim, not that the claim is true. A verifier still has to decide whether to trust the issuer. The specification also treats privacy as a design issue, and a careless presentation can reveal more than the verifier needs. In this course the standard serves as a bridge to semantic technologies and not as a feature of Bitcoin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Acquisition is the point at which Bitcoin touches the conventional financial system, and the chapter spends a whole section on it because the two systems behave differently where they meet. Conventional electronic payments are reversible and regulated, while bitcoin payments are irreversible, and the chapter draws the consequence: a seller of bitcoin who accepts a reversible payment carries a very high risk, which is why companies demand identity and credit checks that may take days or weeks (Antonopoulos and Harding, 2023). The four methods therefore differ not only in convenience but in how private they are, how quickly they work, and how much of the conventional system a newcomer has to enter in order to use them.
Concepts in this section: Buy from friend, Earn bitcoin, Bitcoin ATM, Currency exchange, Identity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avoids the delay and the checks of the formal routes. Because bitcoin transactions are irreversible, a seller who accepts a reversible card payment bears a very high risk, and companies therefore ask for identity verification, which may take several days or weeks; the chapter says that as a new user you cannot buy bitcoin instantly with a credit card (Antonopoulos and Harding, 2023). A friend who accepts cash, or a transfer between friends, avoids most of that.
A friend is not a guarantee. The amounts in a private deal are not protected by a regulated intermediary, and the buyer must check that the address is her own and that the payment arrives. If the transfer is later found to be a mistake, nobody can reverse it. The method also offers only small, occasional amounts and is not a supply for regular use.
---
It is the method that fits the vision of the chapter most closely, in which Bitcoin is a currency for ordinary commerce. The opening pages say that users can transfer bitcoin to do just about anything that can be done with conventional currencies, including buying and selling goods, sending money to people or organisations, or extending credit (Antonopoulos and Harding, 2023). A person who earns bitcoin never meets the reversible payment networks that cause the delays.
Income in bitcoin has the same exposure to price changes as any holding: the value of the amount received in a national currency can rise or fall before it is spent. A seller who must pay costs in a national currency may decide to convert at once. Rules on taxes and reporting apply in many countries, and this textbook does not describe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ATM is the quickest route for a person who has cash and no friend with bitcoin. The chapter lists it as the third method of acquisition, and in the story Alice, over the next days, buys more bitcoin using an ATM and an exchange (Antonopoulos and Harding, 2023). The method combines a physical machine in a city with a wallet on a phone.
Convenience has its prices, which are set by the operator and may include a margin over the market rate, and identity rules of the country may require the user to identify himself at the machine. The chapter's remarks on identity and regulation, which are explained in the concept of identity verification, apply when the machine links the user's identity to an address.
---
The exchange is the main bridge between the traditional banking system and Bitcoin. A person who wants a larger amount, or wants to sell bitcoin for the national currency, uses one. The chapter notes that where bitcoin touches traditional systems such as currency exchanges, national and international regulations often apply, and that in order to exchange bitcoin for your national currency you will often be required to provide proof of identity and banking information (Antonopoulos and Harding, 2023).
An exchange that holds the user's funds is a custodian, with the risks of custody. The identity attached to the account can connect the user to the addresses he withdraws to, with consequences for privacy: the chapter warns that once an address is attached to an identity, other transactions associated with it may become easy to identify and track, including earlier ones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checks protect the seller from the risk created by the difference between payment systems. Card payments and bank transfers can be reversed, whereas the bitcoin that was sent cannot. Because of this, a new user cannot buy bitcoin instantly with a credit card, although, as the chapter says, with a bit of patience and creative thinking you won't need to (Antonopoulos and Harding, 2023).
Identity verification applies only to the points of contact with the traditional system. The chapter observes that acquiring, holding and spending bitcoin does not require you to divulge sensitive and personally identifiable information to third parties when used correctly (Antonopoulos and Harding, 2023), and so a person who obtains bitcoin from a friend or by earning it does not go through the check. The consequence is not that the check is optional where the law requires it.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technical text is only as clear as its vocabulary. Bitcoin is built from ideas of cryptography, of distributed computing and of ordinary internet engineering, and none of the three is new to the specialist while all of them are new to many beginners. Explaining them once and in one place also shows an important fact about the subject: Bitcoin invents very little vocabulary of its own and mostly combines established techniques in a new arrangement, which is how the chapter itself describes Nakamoto's contribution (Antonopoulos and Harding, 2023).
Two cautions apply to the whole branch. The explanations are introductions, and the later chapters of the textbook return to the same ideas in greater depth, so a student should treat the examples here as the smallest correct version of each idea and not as a complete treatment. The examples in this branch are also deliberately small, with tiny numbers, so that they can be computed by hand or in a few lines of Python; real Bitcoin uses far larger values and different algorithms for some of them, and the text says where this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money has a problem that physical money does not have. A banknote is hard to copy because of its paper and its printing, but a digital file can be copied perfectly and without cost. Chapter 1 explains that cryptography takes the place of the special paper and inks: it provides the basis for trusting the legitimacy of a user's claim to value, and cryptographic digital signatures let a user prove ownership of a digital asset (Antonopoulos and Harding, 2023). Without cryptography there would be no way to say who may spend which coin.
Cryptography is often imagined as secrecy alone, which is a mistake that this chapter corrects. Bitcoin transactions are public, and nothing in them is encrypted; the cryptography of Bitcoin is used to prove who authorised a payment and to make the record hard to alter, not to hide it. A second mistake is to think that cryptography is magic. Its security rests on mathematical assumptions and on correct use, and most real losses come from bad use, such as a weak password or a stolen backup, and not from a failure of the mathematics.
Concepts in this section: Hash function, Digital signature, Public-key cryptography, Private key, Entropy, Checksum, Keyed hash, Key stretching.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fixed-length fingerprint is valuable because it makes large things easy to compare and to refer to. Two files are the same if their hashes are the same, and a signature need only cover the short hash and not the whole file. The standard that defines the SHA-2 family explains that a good hash function is secure in two ways: it is computationally infeasible to find a message that corresponds to a given digest, or to find two different messages with the same digest (Eastlake and Hansen, 2011). These properties are what proof of work and the linking of blocks rely on.
A hash function is not encryption. Nothing is hidden, because the same input always gives the same output, and nothing can be recovered from the output, because many inputs share the same hash in principle and the function is designed to be hard to run backwards. A hash also does not authenticate by itself, since anyone can compute the hash of altered data; it becomes useful when it is signed, published in a trusted place, or buried in a chain of blocks. Finally, short or guessable inputs can be found by trying them one after another, so a hash of a weak password protects little.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digital signature is what allows money to be spent without a bank. Chapter 1 explains that cryptographic digital signatures enable a user to sign a digital asset or a transaction, proving the ownership of that asset, and that with the appropriate architecture they can also be used to address the double-spend issue (Antonopoulos and Harding, 2023). The whitepaper defines the electronic coin as a chain of digital signatures, in which each owner transfers the coin to the next by signing (Nakamoto, 2008). Without signatures, anybody could write a transaction in anybody else's name.
A valid signature proves that someone holding the private key signed this exact data; it does not prove who that someone is, or that the signer meant well. If the private key is stolen, the thief can sign as the owner, and no one can tell the difference. A signature also covers only the data that was signed: a transaction that is changed after signing no longer verifies, but a transaction that was signed in error remains valid. The toy numbers of the example are far too small to be secure, and Bitcoin does not use this scheme; later chapters of the textbook explain the algorithm that it does use.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public-key cryptography, two people who wanted to exchange secret or authenticated messages first had to share a secret key in some safe way, which does not work between strangers on the internet. With a key pair, the public half can be published to everybody, and only the private half has to be protected. This asymmetry is what makes it possible to prove ownership without revealing the secret, which is exactly what a payment system between strangers needs (Antonopoulos and Harding, 2023).
The security of such a scheme depends on the difficulty of one mathematical problem, which for the toy numbers is trivial: anybody can split 3233 into its two factors and recompute the private key. Real keys use numbers that are hundreds of digits long, and Bitcoin uses a different mathematical construction altogether, which later chapters explain. A further caution is that the public key is public only in the sense that it may be shared; it must still be authentic, because an attacker who can substitute his own public key for yours receives what was meant for you.
---
The private key is the only thing that a Bitcoin user must protect, because possession of the key that can sign a transaction is the only prerequisite to spending bitcoin (Antonopoulos and Harding, 2023). This is why the control of the key decides who owns the money: whoever holds the key controls the funds, and nobody else, not even the network, can stop them. The slogan of the chapter, your keys, your coins, is a statement about the private key.
A private key must never be revealed, copied carelessly or typed into a page that asks for it. Anyone who sees it can spend the funds, and nothing can reverse the theft, since Bitcoin transactions are irreversible. The opposite danger is loss: a key that is destroyed without a backup takes the funds with it. Because of both dangers the chapter pairs the idea of control with the duty of backup, and it warns that applications which ask for the recovery code at unexpected moments may be fraudulent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 is only as secret as the randomness behind it. If a wallet chose its keys in a predictable way, for example from the time of day, an attacker could try the likely values and find them. Chapter 1 therefore insists that the recovery code consists of numbers, letters or words selected randomly by the software (Antonopoulos and Harding, 2023), and the standard behind the word lists says that the sentence must encode entropy in a multiple of 32 bits (Palatinus et al., 2013).
Entropy cannot be seen in the result, since a predictable secret may look as random as a good one. A recovery code that the user made up, or that came from a source of poor randomness, is far weaker than its length suggests, which is why the standard states that it is not a way to process user-created sentences into a wallet seed (Palatinus et al., 2013). A second caution is that entropy is used up by disclosure: a recovery code that was photographed or stored online is no longer secret, however many bits it carries.
---
People make mistakes when they copy a long secret by hand, and in Bitcoin a mistake can be costly because nobody can restore a lost or wrongly recorded key. A checksum turns many such mistakes into an error message instead of a silent failure. The standard for recovery codes uses one for exactly this reason, and it also states its limit: the checksum is short, so it only gives modest odds of catching random errors, and it cannot help to correct them (Palatinus et al., 2013).
A checksum detects accidental changes and does not defend against an attacker, who can recompute it after altering the data. It also does not tell where the error is. With 4 bits of checksum, one random error in 16 slips through unnoticed, and with 8 bits one in 256 does, which is the figure the standard gives (Palatinus et al., 2013). A checksum is therefore a convenience for honest users and not a form of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plain hash proves nothing about who computed it, because anybody can hash anything, as the section on the hash function warns. Mixing in a secret repairs exactly that gap: a value that could only be produced by a holder of the key is evidence about the author and not only about the data. The same property has a second use, which is the one this chapter needs. If the key is the secret from which a wallet derives its keys, then the keyed hash is a function that nobody without the secret can compute, which is what a key derivation needs at its core.
A keyed hash is not encryption, so the data it protects is not hidden, and it is not a digital signature, because the same key is needed to check the result as to produce it: a keyed hash convinces the two parties who share the key and nobody else, while a signature convinces everyone. The security also rests entirely on the key: a keyed hash computed with a guessable key is as weak as that key, which is why the next section's slow derivation exists.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Human-chosen or short secrets can be guessed by trying them one after another. If one guess costs a single fast computation, an attacker can try billions of them; if each guess costs thousands of repetitions, the attacker's work grows by the same factor while the honest user, who computes only once, hardly notices. The standard explains the reasoning: a modest number of iterations, say 1000, is not likely to be a burden for legitimate parties but will be a significant burden for opponents (Moriarty et al., 2017).
Stretching raises the cost of guessing but does not remove it; a weak secret remains weak, only slower to attack. The iteration count of 2048 in the recovery code standard is modest by present standards, and the strength of the code comes mainly from the random entropy behind it and not from the stretching. The same words with the same passphrase always give the same seed, which is the feature that makes recovery possible and also the reason that the words must be guarded.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payment system needs a single agreed record of what happened and in what order. In the system of a bank this record is a database that the bank keeps. In Bitcoin it is the blockchain, kept by thousands of nodes at once, with each block fixing the order of its transactions and tying itself to the past. Understanding the chain makes clear why changing an old payment is so hard.
The word blockchain is used in many different senses in popular writing, where it often means any shared database with some cryptography in it. In this course it keeps the narrower sense of the textbook's glossary: the particular list of validated blocks that the Bitcoin network agrees on, each one linked to its predecessor back to the first block (Antonopoulos and Harding, 2023). The word node is similarly narrowed, since the chapter uses it for a computer that takes part in this network and not for any point in any graph. Keeping the vocabulary this strict is what lets the later chapters make precise statements.
Concepts in this section: Block, Blockchain, Timestamp,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Blocks give the network a rhythm and an order. Transactions arrive continuously and in different orders at different nodes, so the network needs a periodic moment at which one set of transactions is fixed. The chapter explains that a transaction is confirmed when it is included in a block, which happens every 10 minutes on average and is called clearing in traditional financial terms (Antonopoulos and Harding, 2023). A block is also the unit in which the reward is paid and the unit that proof of work protects.
A block is not a file of money; it records transfers, and the coins themselves are implied by those transfers. A block is also not final the moment it is found, because a rival block at the same height may win, so the transactions inside it gain certainty only as further blocks are added. The number of transactions in a block is not fixed, and the figures in the example are only two data points.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Linking the blocks is what turns a pile of records into a history that is hard to rewrite. Each block contains the hash of the one before it, so changing an old block changes its hash, which no longer matches the link stored in the next block. The attacker would have to redo the proof of work for that block and for every block that follows. The whitepaper describes the rule that makes this decisive: nodes treat the longest chain, the one with the most work invested in it, as the correct one (Nakamoto, 2008).
The blockchain is not secret, not encrypted, and not a database that a company controls; its entire content is public. It is also not a guarantee that its content is true: it proves that a transaction was recorded, not that the sale behind the transaction was honest. A final caution concerns the word itself, which is used loosely for any shared ledger; this course reserves it for the chain that the Bitcoin network maintains.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continues. Linking the blocks is what turns a pile of records into a history that is hard to rewrite. Each block contains the hash of the one before it, so changing an old block changes its hash, which no longer matches the link stored in the next block. The attacker would have to redo the proof of work for that block and for every block that follows. The whitepaper describes the rule that makes this decisive: nodes treat the longest chain, the one with the most work invested in it, as the correct one (Nakamoto, 2008).
The blockchain is not secret, not encrypted, and not a database that a company controls; its entire content is public. It is also not a guarantee that its content is true: it proves that a transaction was recorded, not that the sale behind the transaction was honest. A final caution concerns the word itself, which is used loosely for any shared ledger; this course reserves it for the chain that the Bitcoin network maintains.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gives order, and order is the answer to the double-spend problem: when two transactions spend the same coin, the one that came first counts. The whitepaper builds its solution on this point and begins with a timestamp server, which takes a hash of a block of items to be timestamped and widely publishes the hash, proving that the data must have existed at that time (Nakamoto, 2008). Bitcoin replaces the trusted server by the network.
A timestamp does not prove that an event happened at that time, only that the data was marked then, and a miner can choose a time within the permitted limits. Block times are also averages: although the target is one block in 10 minutes, individual blocks can arrive seconds or hours apart, so a calendar prediction based on blocks, such as the date of a halving, is an estimate.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has no central server, so the nodes together do the work that a server would do. They receive transactions, check them, pass them on, and keep copies of the chain. Because anyone can run a node, the rules of Bitcoin are enforced by the participants and not by a company, and the more independent nodes there are, the harder it is for any party to change the rules by force.
A node is not a wallet and not a miner, although one program may play all three roles. A node is also not the same as a user: most users run lightweight wallets that depend on nodes. Finally, the number of nodes is not a measure of security by itself, since many nodes may be run by the same party; what matters is how independent they are.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is software, and software is built on top of other software. A student who understands the layers beneath a wallet can see which parts of the system belong to Bitcoin and which belong to the general technology of computing. This also explains the chapter's comparison between wallets and web browsers: both are applications that speak a protocol on top of the internet (Antonopoulos and Harding, 2023).
Each of these technologies is a large field of its own, and a few paragraphs cannot do any of them justice. The goal of this section is therefore deliberately modest: for each term, a working definition taken from a published glossary, the one fact about it that chapter 1 actually needs, a small example where one can be computed, and a warning about the misunderstanding that most often follows. A student who already knows these terms can read the section quickly; a student who does not should read it before the Wallet and Usage branches, which use the words without explanation.
Concepts in this section: Internet, Protocol, HTTP, Web browser, Server, API, URI, QR code, Database, Operating system, Distributed system, Bits and 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Internet is the medium that carries nearly all Bitcoin traffic. The chapter says that Bitcoin users communicate with each other using the Bitcoin protocol primarily via the internet, although other transport networks can also be used (Antonopoulos and Harding, 2023). Because the Internet already connects billions of devices without a central operator of its own, a payment system for the internet could be built without asking anyone's permission.
The Internet is not the Web. The Web is one service that runs on the Internet, built from pages, links and the HTTP protocol, while email, file transfer and the Bitcoin network are other services that use the same medium. The Internet is also not private: messages cross machines owned by many parties, which is why sensitive data must be protected by cryptography.
---
Computers made by different companies, running different programs, can cooperate only if they agree beforehand on the form of their messages. A protocol is that agreement. For Bitcoin, the protocol is what lets a wallet written by one team talk to a node written by another, and it is the reason that, as the chapter says, there are many implementations and brands of wallets, just as there are many brands of web browsers (Antonopoulos and Harding, 2023).
A protocol is a specification, not a program. Several programs can implement the same protocol, and they can differ in quality while still being compatible. In Bitcoin the written description of the protocol is incomplete, so the behaviour of the reference implementation has in practice served as the standard; this is why the idea of a reference implementation matters and why changes to the rules have to be coordinated.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 matters to this chapter because the textbook uses it as its model for the relationship between Bitcoin and its wallets: a Bitcoin wallet is the most common user interface to the Bitcoin system, just like a web browser is the most common user interface for the HTTP protocol (Antonopoulos and Harding, 2023). The analogy tells a student that the protocol is the stable standard and that applications on top of it compete on quality and convenience.
HTTP by itself provides no confidentiality: unless the https variant is used, anybody on the path can read the messages. Statelessness also means that a server does not remember a visitor between requests unless the application adds a mechanism for that. Finally, a page in a browser looks the same whether its data is stored on the user's device or on the provider's server, which is the confusion that makes web wallets risky.
---
The browser is the everyday case of an application that makes a protocol usable by people. The chapter draws the comparison explicitly: a Bitcoin wallet is the most common user interface to the Bitcoin system, just like a web browser is the most common user interface for the HTTP protocol, and just as we all have our favourite browsers, wallets vary in quality, performance, security, privacy and reliability (Antonopoulos and Harding, 2023).
Running in a browser makes a wallet easy to use and also exposes it to the risks of the web: a counterfeit page, a malicious extension, or a compromised provider. A student should therefore treat the address bar, and not the appearance of a page, as the evidence of where the page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 is the foundation of the usual internet service: one party runs the machine and everyone else depends on it. Chapter 1 contrasts this with Bitcoin, which it describes as a distributed, peer-to-peer system with no central server or point of control (Antonopoulos and Harding, 2023). The contrast explains the design of the system: with no central server there is no single point to attack, to corrupt or to switch off.
A server is a role, not a kind of machine, and a powerful computer can be a client while a small one is a server. The word does not imply wrongdoing either; the point of the chapter is that depending on a server means trusting it, so that the user must decide how much trust each server has earned.
---
A contract between programs lets each side change its inside without breaking the other, as long as the interface is kept. This is how large systems are built from parts made by different people. In the chapter, the idea appears in the third type of wallet: a third-party API client interacts with Bitcoin through a third-party system of APIs rather than by connecting to the Bitcoin network directly (Antonopoulos and Harding, 2023).
A program that relies on an API trusts the service behind it to answer truthfully and to protect the privacy of the questions, which is why the chapter describes the third-party API client as trusting the remote server to provide it with accurate information and protect its privacy (Antonopoulos and Harding, 2023). An API can also change or disappear without notice, leaving applications that depend on it unable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syntax lets different programs recognise the same kind of reference. Every web address is a URI, and so is the link on a payment request. The textbook's glossary defines BIP 21 as a proposal to improve the bitcoin uniform resource identifier scheme (Antonopoulos and Harding, 2023), and the W3C Decentralized Identifiers are URIs too: each DID is a URI that associates a DID subject with a DID document (World Wide Web Consortium, 2022).
A URI only names a resource; it does not prove who made it or whether the destination is honest. A payment link received from an untrusted source may contain an address that belongs to a thief, so the source of a URI matters as much as its content. BIP 21 has itself been superseded by a later proposal, which shows that even a convention that wallets follow can change (Schneider and Corallo, 2012).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addresses are long strings of letters and numbers, and a single mistaken character can make a payment go astray. The QR code removes the typing: the chapter shows Joe scanning Alice's code so that he does not have to type in her address, which is quite long (Antonopoulos and Harding, 2023). The code can also carry more than an address, because an invoice is a QR-encoded URI with an amount and a description.
A QR code is only a container, and what it contains can be anything. A code stuck over a legitimate one at a shop or printed in a fake invoice may point to a thief's address, and the eye cannot tell the difference. The wallet's screen, which shows the address and amount that were decoded, is the place to check before pressing Send. Also, the chapter warns that any funds sent to the addresses in the book will be lost (Antonopoulos and Harding, 2023).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has more to remember than keys: it must record the transactions it has sent or received and the notes that its user has added. The chapter says that a recovery code can be used to rebuild the wallet database of all the onchain transactions that Alice has ever sent or received, but that it will not restore the labels she entered, and so it advises frequent backups of the wallet database for wallets that use offchain payments (Antonopoulos and Harding, 2023).
A database is a copy of data and can be lost with the device that holds it. It can also be damaged or tampered with, and its contents may reveal who the user pays. A blockchain is a particular kind of shared record and should not be confused with a database that one party controls and can change.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operating system decides how well a wallet is protected, because everything the wallet stores and every key it uses passes through it. The chapter explains the consequence for desktop wallets: running on general-use operating systems such as Windows and macOS has certain security disadvantages, as these platforms are often insecure and poorly configured (Antonopoulos and Harding, 2023).
A wallet cannot be safer than the system under it: malicious software that gains control of the operating system can read what the wallet displays and what the user types. For the same reason a device that is rarely updated or that runs unknown programs is a poor place to keep a large amount of bitcoin.
---
Distribution brings advantages and a difficulty. Many machines can offer more capacity and survive the failure of some of them, but they must agree about what has happened even though messages arrive late, in different orders, or not at all. The chapter presents Satoshi Nakamoto's solution to this problem as a breakthrough in distributed computing (Antonopoulos and Harding, 2023), and its sidebar names the classical form of the problem, the Byzantine Generals' Problem.
A distributed system is not automatically a decentralized one. A bank may spread its database across several data centres and still remain a single organisation in control of the whole, whereas Bitcoin is distributed and decentralized at once because no single party controls the rules. The two words describe the location of the machines and the location of the control, and they should not be mixed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documents quote many sizes, such as a hash of 256 bits, a recovery code of 128 to 256 bits of entropy, or a block that holds a certain number of bytes. A student who confuses bits with bytes is out by a factor of eight. The textbook's chapter on keys is careful about the conversion, noting that 256 bits are shown as 64 hexadecimal digits, each of 4 bits (Antonopoulos and Harding, 2023).
A hexadecimal string is only a way of writing the data; it is not a different kind of number or a form of encryption. Care is needed with prefixes and cases, because the same bytes can be written with capital or small letters, and with units, because kilobyte can mean 1000 or 1024 bytes depending on the author.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shifts the responsibility for both attacks onto the user, which is why a chapter for beginners warns about them at all. A bank can reverse a fraudulent card payment and issue a new card, but nobody can reverse a Bitcoin transaction and nobody can restore a recovery code that a thief has copied, because the chapter's own rules make a payment irreversible and a key the only proof of ownership (Antonopoulos and Harding, 2023). The loss is therefore final, and it is final at the moment of the mistake rather than after an investigation. Recognising the two attacks is for that reason part of the basic knowledge of anyone who holds keys, in the same way that recognising a counterfeit note belongs to handling cash.
No technology removes these threats completely, because both of them end at a decision that a person makes. The best defences are therefore habits rather than products: obtaining a wallet only from its official source, checking the publisher of an application and not only its name, never entering a recovery code except during the first set-up and a genuine recovery, as the chapter's rule says, and reading the address of a page before typing anything into it (Antonopoulos and Harding, 2023). A second habit limits the damage when the first one fails, which is to keep only a small amount on a device that is used for everything else. The chapter's final piece of advice for an unexpected request is to consult an expert rather than to decide alone (Antonopoulos and Harding, 2023).
Concepts in this section: Malware, Phishing.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Malware matters for Bitcoin because the money is protected only by a secret on the user's device. A program that can read that secret, or that can trick the user into typing it, can empty the wallet in seconds, and the result cannot be undone. The chapter warns that desktop operating systems are often insecure and poorly configured, which makes them attractive targets (Antonopoulos and Harding, 2023).
Antivirus software lowers the risk but cannot remove it. A user should obtain wallets only from their official sources, keep the system up to date, and never keep a large amount of bitcoin on a device that is used for everything. Fake wallet applications often copy the name and the picture of a real one, so the publisher of an application should be checked as well as its name.
---
Phishing works because it attacks the person and not the machine. A perfect cryptographic system cannot help a user who gives the secret to someone who asks politely. The chapter makes the point with the recovery code: the application insists that you enter it, and the attacker then relays it to steal your funds, which it calls the equivalent of phishing websites that try to trick you into giving them your bank passphrase (Antonopoulos and Harding, 2023).
A message can look entirely genuine, with correct logos and language, so appearance is not a test. The test is the situation: a recovery code is never needed outside set-up and recovery, and a request for it at any other time should be refused. Because Bitcoin payments are irreversible, there is no second chance after the secret has been given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who knows only how to use a wallet knows what Bitcoin does and not why it is built as it is. The characteristics explain the goals, and the architecture explains how the goals are met. The sidebar on digital currencies before Bitcoin makes the link: earlier systems were centralized and easy to attack, so a decentralized digital currency was needed to be robust against intervention by antagonists, whether legitimate governments or criminal elements (Antonopoulos and Harding, 2023).
A list of attractive adjectives is not an argument. Each characteristic is a claim that can be examined, and each depends on conditions: a currency is borderless only where people can reach the network, decentralized only while control stays spread out, and robust only against the threats it was designed for. The branch should be read as an account of design goals, with the evidence supplied by the other branches.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properties distinguish Bitcoin from conventional money and from the earlier digital currencies that the chapter's sidebar describes. Conventional money exists in a physical and an electronic form at once and is controlled by central institutions; the earlier digital currencies were electronic but centralized, and the sidebar records that they were therefore easy to attack and that most were litigated out of existence or collapsed with the company behind them (Antonopoulos and Harding, 2023). Bitcoin combines a purely virtual existence with the absence of any central authority, and the chapter presents that combination, rather than either half of it, as the reason the currency suits the internet.
Concepts in this section: Virtual, Borderless, Decentralized, Robust.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statement removes a common picture. Many people imagine a bitcoin as a file or a token that moves from one wallet to another, but nothing moves; the record of transfers is all there is. This is why the central question of the system is who may create a valid transfer, which the chapter answers by the control of keys: users control keys that allow them to prove ownership, and with these keys they sign transactions to unlock the value and spend it by transferring it to a new owner (Antonopoulos and Harding, 2023).
Virtual does not mean unreal. The value is real because people accept it, in the same way that the value of a bank balance is real. It also does not mean that nothing can be lost, since a lost key makes the funds unspendable. Finally, the word does not describe the system as a whole: the network, the miners and the wallets are physical machines that use real electricity and real hardware.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Conventional payments between countries pass through banks and clearing systems that apply different rules and take time. The internet itself has no such borders, which is why a money that behaves like an internet service fits it so well. The chapter's list of what users can do is long: Bitcoin can be used to buy and sell goods, send money to people or organisations, or extend credit, just as with conventional currencies (Antonopoulos and Harding, 2023).
Borderless does not mean that law does not apply. The chapter states that national and international regulations often apply where bitcoin touches traditional systems, and that exchanging bitcoin for national currency will often require proof of identity and banking information (Antonopoulos and Harding, 2023). The word also says nothing about prices, which float and can differ from market to market.
---
Centralization is a weakness of the systems that came before. The sidebar explains that earlier digital currencies worked but were centralized and, as a result, were easy to attack by governments and hackers; they used a central clearinghouse to settle all transactions, and most were litigated out of existence or collapsed when their parent company liquidated abruptly (Antonopoulos and Harding, 2023). Decentralization removes the single party whose failure or coercion would end the system.
Decentralization is a matter of degree and it can erode. If most of the mining were done by a few pools, or most users relied on a few custodians, the practical control would be concentrated, even though the design allows otherwise. The word also does not mean absence of rules: Bitcoin has strict rules, enforced by software instead of by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history of digital money supplies the motive. The earlier projects were targeted by worried governments and were eventually litigated out of existence, or failed in spectacular crashes when the parent company liquidated abruptly (Antonopoulos and Harding, 2023). A currency intended to last must not depend on a company or an institution that can be pressured, sued or closed.
Robust is not the same as invulnerable. The guarantee depends on the honest majority assumption, on the correctness of the software, and on users protecting their keys; the chapter itself lists dangers such as malware and phishing. A robust network can contain fragile wallets, and the weakest link is often the user's own device.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combination, rather than any single part, is the invention. Digital signatures, hash functions and peer-to-peer networks existed before. What was new was the arrangement in which they support each other, so that a money system works without a central party. A student who can name the four parts and say what each contributes understands the structure of the whole subject.
Concepts in this section: Peer-to-peer protocol, Public journal, Consensus rule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peer-to-peer design removes the server. With no central machine to run, pay for, defend or shut down, the network has no single point of failure or control. The network chapter observes that peer-to-peer networks are inherently resilient, decentralized and open, and that decentralization of control is a core design principle of Bitcoin that can only be achieved and maintained by a flat and decentralized network (Antonopoulos and Harding, 2023).
Peer-to-peer does not mean that all participants are equal in practice. Many users run clients and not peers, as the chapter explains, and the network also contains gateway servers that extend it to other protocols (Antonopoulos and Harding, 2023). A message passed from peer to peer is also not instantly delivered everywhere: it takes a few seconds for a transaction to reach most well-connected nodes.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shared record is what lets strangers agree about who owns what without trusting one another. In a bank, only the bank sees the full ledger and the customers trust its statements. In Bitcoin the ledger is open, and every participant can check it, so trust is replaced by verification. The whitepaper makes the same argument: the only way to confirm the absence of a transaction is to be aware of all transactions, so the transactions must be publicly announced (Nakamoto, 2008).
Public does not mean that the entries carry names. They carry addresses and amounts, which is pseudonymous and not anonymous, as the privacy concept of the Usage branch explains, and the whitepaper describes the same arrangement as keeping the public keys anonymous so that an amount can be seen moving without anything linking it to a person (Nakamoto, 2008). Nor does public mean complete: the journal holds only what was recorded on the chain, so payments made by the offchain methods of the Transfer group do not appear in it at all. A student should therefore read the journal as a record of onchain transfers between addresses and not as a list of who paid whom.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Bitcoin has no referee, each participant must be able to decide for himself whether a transaction or a block is acceptable, and all of them must reach the same decision. The rules are the means of this. The chapter says that nobody can force you to accept any bitcoins that were created beyond the expected issuance rate (Antonopoulos and Harding, 2023); the rules make that statement true, because a block that breaks them is rejected.
The rules are valid only as long as the participants run them. Changing a rule means persuading nearly everyone to run new software, and a minority that runs different rules ends up on a chain of its own. A rule is also different from a policy that a single node applies for convenience, such as the fee below which it will not relay a transaction.
Source: Mastering Bitcoin, 3rd edition, chapter 1, Introduction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with the competency questions: ask the room to answer one of them out loud before you move to the questions. A recap is the moment to name what was NOT covered as well: every concept on these slides is explained in the chapter's interactive page in more depth than a lecture can give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page carries the same three prompts, so a student who prepared can lead. Give each prompt three minutes and take two answers; do not let the first answer settle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B - BTC is the abbreviation of the unit, so BTC/USD is the pair bitcoin against the US dollar.  (2) C - Integer arithmetic on satoshis loses the fractions, so the sum falls short by 0.0231 bitcoin.  (3) C - A floating rate is not fixed by anyone; it follows the trades in the markets.
Every option here is a statement the chapter can judge: there is no filler option, so a student who guesses has to choose between four claims about Bitcoin and defend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(4) B - Issuance diminishes by rule, so the growth of the supply tends to zero.  (5) D - The whitepaper notes the average work is exponential in the zero bits while one hash verifies.  (6) A - It grew out of Nakamoto's own software and serves as the model for the parts of the system.
Every option here is a statement the chapter can judge: there is no filler option, so a student who guesses has to choose between four claims about Bitcoin and defend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(7) B - The chapter warns that platforms such as Windows and macOS are often insecure and poorly configured.  (8) C - To avoid storing large amounts of data they ask remote servers, which learn what they ask for.  (9) D - Most web wallets take control of the keys from users in exchange for ease of use.
Every option here is a statement the chapter can judge: there is no filler option, so a student who guesses has to choose between four claims about Bitcoin and defend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record, with the saved copy and the checksum of every source, is 03-materials/ch01/rdodi/sen0401_ch01_research_v1_2_0.ttl. Every quotation in the chapter is re-read from that saved copy by a check the chapter build executes, so a misquotation stops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record, with the saved copy and the checksum of every source, is 03-materials/ch01/rdodi/sen0401_ch01_research_v1_2_0.ttl. Every quotation in the chapter is re-read from that saved copy by a check the chapter build executes, so a misquotation stops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record, with the saved copy and the checksum of every source, is 03-materials/ch01/rdodi/sen0401_ch01_research_v1_2_0.ttl. Every quotation in the chapter is re-read from that saved copy by a check the chapter build executes, so a misquotation stops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chapter page once more: it holds the same taxonomy, the same worked examples in a playground the student can edit, and the question bank these questions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3A4250"/>
          </a:solidFill>
          <a:ln w="19050">
            <a:solidFill>
              <a:srgbClr val="F7931A"/>
            </a:solidFill>
            <a:prstDash val="solid"/>
          </a:ln>
        </p:spPr>
      </p:sp>
      <p:sp>
        <p:nvSpPr>
          <p:cNvPr id="3" name="Shape 1"/>
          <p:cNvSpPr/>
          <p:nvPr/>
        </p:nvSpPr>
        <p:spPr>
          <a:xfrm>
            <a:off x="1280160" y="1325880"/>
            <a:ext cx="228600" cy="0"/>
          </a:xfrm>
          <a:prstGeom prst="line">
            <a:avLst/>
          </a:prstGeom>
          <a:noFill/>
          <a:ln w="19050">
            <a:solidFill>
              <a:srgbClr val="F7931A"/>
            </a:solidFill>
            <a:prstDash val="solid"/>
          </a:ln>
        </p:spPr>
      </p:sp>
      <p:sp>
        <p:nvSpPr>
          <p:cNvPr id="4" name="Shape 2"/>
          <p:cNvSpPr/>
          <p:nvPr/>
        </p:nvSpPr>
        <p:spPr>
          <a:xfrm>
            <a:off x="1508760" y="960120"/>
            <a:ext cx="731520" cy="731520"/>
          </a:xfrm>
          <a:prstGeom prst="roundRect">
            <a:avLst>
              <a:gd name="adj" fmla="val 12500"/>
            </a:avLst>
          </a:prstGeom>
          <a:solidFill>
            <a:srgbClr val="3A4250"/>
          </a:solidFill>
          <a:ln w="19050">
            <a:solidFill>
              <a:srgbClr val="F7931A"/>
            </a:solidFill>
            <a:prstDash val="solid"/>
          </a:ln>
        </p:spPr>
      </p:sp>
      <p:sp>
        <p:nvSpPr>
          <p:cNvPr id="5" name="Shape 3"/>
          <p:cNvSpPr/>
          <p:nvPr/>
        </p:nvSpPr>
        <p:spPr>
          <a:xfrm>
            <a:off x="2240280" y="1325880"/>
            <a:ext cx="228600" cy="0"/>
          </a:xfrm>
          <a:prstGeom prst="line">
            <a:avLst/>
          </a:prstGeom>
          <a:noFill/>
          <a:ln w="19050">
            <a:solidFill>
              <a:srgbClr val="F7931A"/>
            </a:solidFill>
            <a:prstDash val="solid"/>
          </a:ln>
        </p:spPr>
      </p:sp>
      <p:sp>
        <p:nvSpPr>
          <p:cNvPr id="6" name="Shape 4"/>
          <p:cNvSpPr/>
          <p:nvPr/>
        </p:nvSpPr>
        <p:spPr>
          <a:xfrm>
            <a:off x="2468880" y="960120"/>
            <a:ext cx="731520" cy="731520"/>
          </a:xfrm>
          <a:prstGeom prst="roundRect">
            <a:avLst>
              <a:gd name="adj" fmla="val 12500"/>
            </a:avLst>
          </a:prstGeom>
          <a:solidFill>
            <a:srgbClr val="F7931A"/>
          </a:solidFill>
          <a:ln w="19050">
            <a:solidFill>
              <a:srgbClr val="F7931A"/>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Chapter 1: Introduction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F7931A"/>
                </a:solidFill>
                <a:latin typeface="Calibri" pitchFamily="34" charset="0"/>
                <a:ea typeface="Calibri" pitchFamily="34" charset="-122"/>
                <a:cs typeface="Calibri" pitchFamily="34" charset="-120"/>
              </a:rPr>
              <a:t>What Bitcoin is, what it is made of, and why every part of it exists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C9D1DA"/>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What this chapter covers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90 concepts, in 6 branches</a:t>
            </a:r>
            <a:endParaRPr lang="en-US" sz="1300" dirty="0"/>
          </a:p>
        </p:txBody>
      </p:sp>
      <p:sp>
        <p:nvSpPr>
          <p:cNvPr id="6" name="Text 4"/>
          <p:cNvSpPr txBox="1"/>
          <p:nvPr/>
        </p:nvSpPr>
        <p:spPr>
          <a:xfrm>
            <a:off x="457200" y="1280160"/>
            <a:ext cx="8229600" cy="687324"/>
          </a:xfrm>
          <a:prstGeom prst="rect">
            <a:avLst/>
          </a:prstGeom>
          <a:noFill/>
          <a:ln/>
        </p:spPr>
        <p:txBody>
          <a:bodyPr wrap="square" lIns="0" tIns="0" rIns="0" bIns="0" rtlCol="0" anchor="t"/>
          <a:lstStyle/>
          <a:p>
            <a:pPr algn="l" indent="0" marL="0">
              <a:buNone/>
            </a:pPr>
            <a:r>
              <a:rPr lang="en-US" sz="1400" dirty="0">
                <a:solidFill>
                  <a:srgbClr val="1F2933"/>
                </a:solidFill>
                <a:latin typeface="Calibri" pitchFamily="34" charset="0"/>
                <a:ea typeface="Calibri" pitchFamily="34" charset="-122"/>
                <a:cs typeface="Calibri" pitchFamily="34" charset="-120"/>
              </a:rPr>
              <a:t>This document renews chapter 1 of the 3rd edition by explaining each of its concepts in continuous prose, by adding a concept for every technical term the chapter uses in passing, and by recomputing every number, date and hash it quotes from the sources that state them.</a:t>
            </a:r>
            <a:endParaRPr lang="en-US" sz="1400" dirty="0"/>
          </a:p>
        </p:txBody>
      </p:sp>
      <p:sp>
        <p:nvSpPr>
          <p:cNvPr id="7" name="Shape 5"/>
          <p:cNvSpPr/>
          <p:nvPr/>
        </p:nvSpPr>
        <p:spPr>
          <a:xfrm>
            <a:off x="457200" y="2077212"/>
            <a:ext cx="2645664" cy="1219962"/>
          </a:xfrm>
          <a:prstGeom prst="roundRect">
            <a:avLst>
              <a:gd name="adj" fmla="val 5996"/>
            </a:avLst>
          </a:prstGeom>
          <a:solidFill>
            <a:srgbClr val="F7931A"/>
          </a:solidFill>
          <a:ln w="12700">
            <a:solidFill>
              <a:srgbClr val="F7931A"/>
            </a:solidFill>
            <a:prstDash val="solid"/>
          </a:ln>
        </p:spPr>
      </p:sp>
      <p:sp>
        <p:nvSpPr>
          <p:cNvPr id="8" name="Text 6"/>
          <p:cNvSpPr txBox="1"/>
          <p:nvPr/>
        </p:nvSpPr>
        <p:spPr>
          <a:xfrm>
            <a:off x="548640" y="2132076"/>
            <a:ext cx="2462784" cy="111023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Money</a:t>
            </a:r>
            <a:endParaRPr lang="en-US" sz="1300" dirty="0"/>
          </a:p>
          <a:p>
            <a:pPr algn="ctr" indent="0" marL="0">
              <a:buNone/>
            </a:pPr>
            <a:r>
              <a:rPr lang="en-US" sz="950" dirty="0">
                <a:solidFill>
                  <a:srgbClr val="FFFFFF"/>
                </a:solidFill>
                <a:latin typeface="Calibri" pitchFamily="34" charset="0"/>
                <a:ea typeface="Calibri" pitchFamily="34" charset="-122"/>
                <a:cs typeface="Calibri" pitchFamily="34" charset="-120"/>
              </a:rPr>
              <a:t>Chapter 1 begins by saying that Bitcoin is a collection of concepts and technologies that form the basis of a digital money ecosystem, and that units of currency called bitcoin are used to store and transmit value among the…</a:t>
            </a:r>
            <a:endParaRPr lang="en-US" sz="1300" dirty="0"/>
          </a:p>
        </p:txBody>
      </p:sp>
      <p:sp>
        <p:nvSpPr>
          <p:cNvPr id="9" name="Shape 7"/>
          <p:cNvSpPr/>
          <p:nvPr/>
        </p:nvSpPr>
        <p:spPr>
          <a:xfrm>
            <a:off x="3249168" y="2077212"/>
            <a:ext cx="2645664" cy="1219962"/>
          </a:xfrm>
          <a:prstGeom prst="roundRect">
            <a:avLst>
              <a:gd name="adj" fmla="val 5996"/>
            </a:avLst>
          </a:prstGeom>
          <a:solidFill>
            <a:srgbClr val="F4F2EE"/>
          </a:solidFill>
          <a:ln w="12700">
            <a:solidFill>
              <a:srgbClr val="D9D4CC"/>
            </a:solidFill>
            <a:prstDash val="solid"/>
          </a:ln>
        </p:spPr>
      </p:sp>
      <p:sp>
        <p:nvSpPr>
          <p:cNvPr id="10" name="Text 8"/>
          <p:cNvSpPr txBox="1"/>
          <p:nvPr/>
        </p:nvSpPr>
        <p:spPr>
          <a:xfrm>
            <a:off x="3340608" y="2132076"/>
            <a:ext cx="2462784" cy="1110234"/>
          </a:xfrm>
          <a:prstGeom prst="rect">
            <a:avLst/>
          </a:prstGeom>
          <a:noFill/>
          <a:ln/>
        </p:spPr>
        <p:txBody>
          <a:bodyPr wrap="square" lIns="0" tIns="0" rIns="0" bIns="0" rtlCol="0" anchor="ctr"/>
          <a:lstStyle/>
          <a:p>
            <a:pPr algn="ctr" indent="0" marL="0">
              <a:buNone/>
            </a:pPr>
            <a:r>
              <a:rPr lang="en-US" sz="1300" b="1" dirty="0">
                <a:solidFill>
                  <a:srgbClr val="1B1F24"/>
                </a:solidFill>
                <a:latin typeface="Calibri" pitchFamily="34" charset="0"/>
                <a:ea typeface="Calibri" pitchFamily="34" charset="-122"/>
                <a:cs typeface="Calibri" pitchFamily="34" charset="-120"/>
              </a:rPr>
              <a:t>Network</a:t>
            </a:r>
            <a:endParaRPr lang="en-US" sz="1300" dirty="0"/>
          </a:p>
          <a:p>
            <a:pPr algn="ctr" indent="0" marL="0">
              <a:buNone/>
            </a:pPr>
            <a:r>
              <a:rPr lang="en-US" sz="950" dirty="0">
                <a:solidFill>
                  <a:srgbClr val="5B6B7B"/>
                </a:solidFill>
                <a:latin typeface="Calibri" pitchFamily="34" charset="0"/>
                <a:ea typeface="Calibri" pitchFamily="34" charset="-122"/>
                <a:cs typeface="Calibri" pitchFamily="34" charset="-120"/>
              </a:rPr>
              <a:t>The Network branch is about the community of computers that runs Bitcoin and the way it agrees on a single history without a leader.</a:t>
            </a:r>
            <a:endParaRPr lang="en-US" sz="1300" dirty="0"/>
          </a:p>
        </p:txBody>
      </p:sp>
      <p:sp>
        <p:nvSpPr>
          <p:cNvPr id="11" name="Shape 9"/>
          <p:cNvSpPr/>
          <p:nvPr/>
        </p:nvSpPr>
        <p:spPr>
          <a:xfrm>
            <a:off x="6041136" y="2077212"/>
            <a:ext cx="2645664" cy="1219962"/>
          </a:xfrm>
          <a:prstGeom prst="roundRect">
            <a:avLst>
              <a:gd name="adj" fmla="val 5996"/>
            </a:avLst>
          </a:prstGeom>
          <a:solidFill>
            <a:srgbClr val="F7931A"/>
          </a:solidFill>
          <a:ln w="12700">
            <a:solidFill>
              <a:srgbClr val="F7931A"/>
            </a:solidFill>
            <a:prstDash val="solid"/>
          </a:ln>
        </p:spPr>
      </p:sp>
      <p:sp>
        <p:nvSpPr>
          <p:cNvPr id="12" name="Text 10"/>
          <p:cNvSpPr txBox="1"/>
          <p:nvPr/>
        </p:nvSpPr>
        <p:spPr>
          <a:xfrm>
            <a:off x="6132576" y="2132076"/>
            <a:ext cx="2462784" cy="111023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Wallet</a:t>
            </a:r>
            <a:endParaRPr lang="en-US" sz="1300" dirty="0"/>
          </a:p>
          <a:p>
            <a:pPr algn="ctr" indent="0" marL="0">
              <a:buNone/>
            </a:pPr>
            <a:r>
              <a:rPr lang="en-US" sz="950" dirty="0">
                <a:solidFill>
                  <a:srgbClr val="FFFFFF"/>
                </a:solidFill>
                <a:latin typeface="Calibri" pitchFamily="34" charset="0"/>
                <a:ea typeface="Calibri" pitchFamily="34" charset="-122"/>
                <a:cs typeface="Calibri" pitchFamily="34" charset="-120"/>
              </a:rPr>
              <a:t>A wallet is the software through which a person uses Bitcoin.</a:t>
            </a:r>
            <a:endParaRPr lang="en-US" sz="1300" dirty="0"/>
          </a:p>
        </p:txBody>
      </p:sp>
      <p:sp>
        <p:nvSpPr>
          <p:cNvPr id="13" name="Shape 11"/>
          <p:cNvSpPr/>
          <p:nvPr/>
        </p:nvSpPr>
        <p:spPr>
          <a:xfrm>
            <a:off x="457200" y="3425190"/>
            <a:ext cx="2645664" cy="1219962"/>
          </a:xfrm>
          <a:prstGeom prst="roundRect">
            <a:avLst>
              <a:gd name="adj" fmla="val 5996"/>
            </a:avLst>
          </a:prstGeom>
          <a:solidFill>
            <a:srgbClr val="F4F2EE"/>
          </a:solidFill>
          <a:ln w="12700">
            <a:solidFill>
              <a:srgbClr val="D9D4CC"/>
            </a:solidFill>
            <a:prstDash val="solid"/>
          </a:ln>
        </p:spPr>
      </p:sp>
      <p:sp>
        <p:nvSpPr>
          <p:cNvPr id="14" name="Text 12"/>
          <p:cNvSpPr txBox="1"/>
          <p:nvPr/>
        </p:nvSpPr>
        <p:spPr>
          <a:xfrm>
            <a:off x="548640" y="3480054"/>
            <a:ext cx="2462784" cy="1110234"/>
          </a:xfrm>
          <a:prstGeom prst="rect">
            <a:avLst/>
          </a:prstGeom>
          <a:noFill/>
          <a:ln/>
        </p:spPr>
        <p:txBody>
          <a:bodyPr wrap="square" lIns="0" tIns="0" rIns="0" bIns="0" rtlCol="0" anchor="ctr"/>
          <a:lstStyle/>
          <a:p>
            <a:pPr algn="ctr" indent="0" marL="0">
              <a:buNone/>
            </a:pPr>
            <a:r>
              <a:rPr lang="en-US" sz="1300" b="1" dirty="0">
                <a:solidFill>
                  <a:srgbClr val="1B1F24"/>
                </a:solidFill>
                <a:latin typeface="Calibri" pitchFamily="34" charset="0"/>
                <a:ea typeface="Calibri" pitchFamily="34" charset="-122"/>
                <a:cs typeface="Calibri" pitchFamily="34" charset="-120"/>
              </a:rPr>
              <a:t>Usage</a:t>
            </a:r>
            <a:endParaRPr lang="en-US" sz="1300" dirty="0"/>
          </a:p>
          <a:p>
            <a:pPr algn="ctr" indent="0" marL="0">
              <a:buNone/>
            </a:pPr>
            <a:r>
              <a:rPr lang="en-US" sz="950" dirty="0">
                <a:solidFill>
                  <a:srgbClr val="5B6B7B"/>
                </a:solidFill>
                <a:latin typeface="Calibri" pitchFamily="34" charset="0"/>
                <a:ea typeface="Calibri" pitchFamily="34" charset="-122"/>
                <a:cs typeface="Calibri" pitchFamily="34" charset="-120"/>
              </a:rPr>
              <a:t>The Usage branch follows the chapter's story of Alice and Joe: how Alice receives her first address, how she acquires her first bitcoin, and how Joe sends it.</a:t>
            </a:r>
            <a:endParaRPr lang="en-US" sz="1300" dirty="0"/>
          </a:p>
        </p:txBody>
      </p:sp>
      <p:sp>
        <p:nvSpPr>
          <p:cNvPr id="15" name="Shape 13"/>
          <p:cNvSpPr/>
          <p:nvPr/>
        </p:nvSpPr>
        <p:spPr>
          <a:xfrm>
            <a:off x="3249168" y="3425190"/>
            <a:ext cx="2645664" cy="1219962"/>
          </a:xfrm>
          <a:prstGeom prst="roundRect">
            <a:avLst>
              <a:gd name="adj" fmla="val 5996"/>
            </a:avLst>
          </a:prstGeom>
          <a:solidFill>
            <a:srgbClr val="F7931A"/>
          </a:solidFill>
          <a:ln w="12700">
            <a:solidFill>
              <a:srgbClr val="F7931A"/>
            </a:solidFill>
            <a:prstDash val="solid"/>
          </a:ln>
        </p:spPr>
      </p:sp>
      <p:sp>
        <p:nvSpPr>
          <p:cNvPr id="16" name="Text 14"/>
          <p:cNvSpPr txBox="1"/>
          <p:nvPr/>
        </p:nvSpPr>
        <p:spPr>
          <a:xfrm>
            <a:off x="3340608" y="3480054"/>
            <a:ext cx="2462784" cy="111023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Foundations</a:t>
            </a:r>
            <a:endParaRPr lang="en-US" sz="1300" dirty="0"/>
          </a:p>
          <a:p>
            <a:pPr algn="ctr" indent="0" marL="0">
              <a:buNone/>
            </a:pPr>
            <a:r>
              <a:rPr lang="en-US" sz="950" dirty="0">
                <a:solidFill>
                  <a:srgbClr val="FFFFFF"/>
                </a:solidFill>
                <a:latin typeface="Calibri" pitchFamily="34" charset="0"/>
                <a:ea typeface="Calibri" pitchFamily="34" charset="-122"/>
                <a:cs typeface="Calibri" pitchFamily="34" charset="-120"/>
              </a:rPr>
              <a:t>The Foundations branch collects the general technical ideas that the rest of the chapter takes for granted. Chapter 1 of the textbook introduces Bitcoin through a story about Alice and Joe, and in doing so it uses words such as…</a:t>
            </a:r>
            <a:endParaRPr lang="en-US" sz="1300" dirty="0"/>
          </a:p>
        </p:txBody>
      </p:sp>
      <p:sp>
        <p:nvSpPr>
          <p:cNvPr id="17" name="Shape 15"/>
          <p:cNvSpPr/>
          <p:nvPr/>
        </p:nvSpPr>
        <p:spPr>
          <a:xfrm>
            <a:off x="6041136" y="3425190"/>
            <a:ext cx="2645664" cy="1219962"/>
          </a:xfrm>
          <a:prstGeom prst="roundRect">
            <a:avLst>
              <a:gd name="adj" fmla="val 5996"/>
            </a:avLst>
          </a:prstGeom>
          <a:solidFill>
            <a:srgbClr val="F4F2EE"/>
          </a:solidFill>
          <a:ln w="12700">
            <a:solidFill>
              <a:srgbClr val="D9D4CC"/>
            </a:solidFill>
            <a:prstDash val="solid"/>
          </a:ln>
        </p:spPr>
      </p:sp>
      <p:sp>
        <p:nvSpPr>
          <p:cNvPr id="18" name="Text 16"/>
          <p:cNvSpPr txBox="1"/>
          <p:nvPr/>
        </p:nvSpPr>
        <p:spPr>
          <a:xfrm>
            <a:off x="6132576" y="3480054"/>
            <a:ext cx="2462784" cy="1110234"/>
          </a:xfrm>
          <a:prstGeom prst="rect">
            <a:avLst/>
          </a:prstGeom>
          <a:noFill/>
          <a:ln/>
        </p:spPr>
        <p:txBody>
          <a:bodyPr wrap="square" lIns="0" tIns="0" rIns="0" bIns="0" rtlCol="0" anchor="ctr"/>
          <a:lstStyle/>
          <a:p>
            <a:pPr algn="ctr" indent="0" marL="0">
              <a:buNone/>
            </a:pPr>
            <a:r>
              <a:rPr lang="en-US" sz="1300" b="1" dirty="0">
                <a:solidFill>
                  <a:srgbClr val="1B1F24"/>
                </a:solidFill>
                <a:latin typeface="Calibri" pitchFamily="34" charset="0"/>
                <a:ea typeface="Calibri" pitchFamily="34" charset="-122"/>
                <a:cs typeface="Calibri" pitchFamily="34" charset="-120"/>
              </a:rPr>
              <a:t>Nature</a:t>
            </a:r>
            <a:endParaRPr lang="en-US" sz="1300" dirty="0"/>
          </a:p>
          <a:p>
            <a:pPr algn="ctr" indent="0" marL="0">
              <a:buNone/>
            </a:pPr>
            <a:r>
              <a:rPr lang="en-US" sz="950" dirty="0">
                <a:solidFill>
                  <a:srgbClr val="5B6B7B"/>
                </a:solidFill>
                <a:latin typeface="Calibri" pitchFamily="34" charset="0"/>
                <a:ea typeface="Calibri" pitchFamily="34" charset="-122"/>
                <a:cs typeface="Calibri" pitchFamily="34" charset="-120"/>
              </a:rPr>
              <a:t>The Nature branch answers a question that precedes all the others: what kind of thing is Bitcoin?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The outcomes this session serves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One course outcome, four chapter objectives</a:t>
            </a:r>
            <a:endParaRPr lang="en-US" sz="1300" dirty="0"/>
          </a:p>
        </p:txBody>
      </p:sp>
      <p:sp>
        <p:nvSpPr>
          <p:cNvPr id="6" name="Shape 4"/>
          <p:cNvSpPr/>
          <p:nvPr/>
        </p:nvSpPr>
        <p:spPr>
          <a:xfrm>
            <a:off x="457200" y="1280160"/>
            <a:ext cx="8229600" cy="1252728"/>
          </a:xfrm>
          <a:prstGeom prst="roundRect">
            <a:avLst>
              <a:gd name="adj" fmla="val 729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LO-1</a:t>
            </a:r>
            <a:endParaRPr lang="en-US" sz="1600" dirty="0"/>
          </a:p>
        </p:txBody>
      </p:sp>
      <p:sp>
        <p:nvSpPr>
          <p:cNvPr id="8" name="Text 6"/>
          <p:cNvSpPr txBox="1"/>
          <p:nvPr/>
        </p:nvSpPr>
        <p:spPr>
          <a:xfrm>
            <a:off x="640080" y="1783080"/>
            <a:ext cx="786384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Explain what Bitcoin is, as money and as a system: its history, its units and supply schedule, the parts it is built from - keys, addresses, transactions, blocks, nodes, mining - and the problems it was designed to solve.</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2679192"/>
          <a:ext cx="8229600" cy="914400"/>
        </p:xfrm>
        <a:graphic>
          <a:graphicData uri="http://schemas.openxmlformats.org/drawingml/2006/table">
            <a:tbl>
              <a:tblPr/>
              <a:tblGrid>
                <a:gridCol w="731520"/>
                <a:gridCol w="6035040"/>
                <a:gridCol w="1463040"/>
              </a:tblGrid>
              <a:tr h="34747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Code</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you should be able to do after this session</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Level</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34747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CO1</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Explain how proof of work lets a decentralized network agree on transactions without a central authority</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Understand</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4747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CO2</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Compute Bitcoin's supply schedule and explain why the total stays just below 21 million</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Apply</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4747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CO3</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Compare wallet types by platform, node type and key control, and choose one for a stated use</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Analyze</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4747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CO4</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Relate the chapter's principle of key-holder control to W3C Decentralized Identifiers</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Understand</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chapter's own competency questions</a:t>
            </a:r>
            <a:endParaRPr lang="en-US" sz="1300" dirty="0"/>
          </a:p>
        </p:txBody>
      </p:sp>
      <p:sp>
        <p:nvSpPr>
          <p:cNvPr id="6" name="Shape 4"/>
          <p:cNvSpPr/>
          <p:nvPr/>
        </p:nvSpPr>
        <p:spPr>
          <a:xfrm>
            <a:off x="457200" y="1316736"/>
            <a:ext cx="402336" cy="402336"/>
          </a:xfrm>
          <a:prstGeom prst="ellipse">
            <a:avLst/>
          </a:prstGeom>
          <a:solidFill>
            <a:srgbClr val="F7931A"/>
          </a:solidFill>
          <a:ln w="12700">
            <a:solidFill>
              <a:srgbClr val="F7931A"/>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58521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What is the unit of Bitcoin's currency, how far can it be divided, how much of it will ever exist, and which rule produces that total?</a:t>
            </a:r>
            <a:endParaRPr lang="en-US" sz="1400" dirty="0"/>
          </a:p>
        </p:txBody>
      </p:sp>
      <p:sp>
        <p:nvSpPr>
          <p:cNvPr id="9" name="Shape 7"/>
          <p:cNvSpPr/>
          <p:nvPr/>
        </p:nvSpPr>
        <p:spPr>
          <a:xfrm>
            <a:off x="457200" y="1938528"/>
            <a:ext cx="402336" cy="402336"/>
          </a:xfrm>
          <a:prstGeom prst="ellipse">
            <a:avLst/>
          </a:prstGeom>
          <a:solidFill>
            <a:srgbClr val="F7931A"/>
          </a:solidFill>
          <a:ln w="12700">
            <a:solidFill>
              <a:srgbClr val="F7931A"/>
            </a:solidFill>
            <a:prstDash val="solid"/>
          </a:ln>
        </p:spPr>
      </p:sp>
      <p:sp>
        <p:nvSpPr>
          <p:cNvPr id="10" name="Text 8"/>
          <p:cNvSpPr txBox="1"/>
          <p:nvPr/>
        </p:nvSpPr>
        <p:spPr>
          <a:xfrm>
            <a:off x="457200" y="19385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01952"/>
            <a:ext cx="7662672" cy="58521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Who creates new bitcoin, on what schedule, and in what sense does the arrangement replace the functions of a central bank?</a:t>
            </a:r>
            <a:endParaRPr lang="en-US" sz="1400" dirty="0"/>
          </a:p>
        </p:txBody>
      </p:sp>
      <p:sp>
        <p:nvSpPr>
          <p:cNvPr id="12" name="Shape 10"/>
          <p:cNvSpPr/>
          <p:nvPr/>
        </p:nvSpPr>
        <p:spPr>
          <a:xfrm>
            <a:off x="457200" y="2560320"/>
            <a:ext cx="402336" cy="402336"/>
          </a:xfrm>
          <a:prstGeom prst="ellipse">
            <a:avLst/>
          </a:prstGeom>
          <a:solidFill>
            <a:srgbClr val="F7931A"/>
          </a:solidFill>
          <a:ln w="12700">
            <a:solidFill>
              <a:srgbClr val="F7931A"/>
            </a:solidFill>
            <a:prstDash val="solid"/>
          </a:ln>
        </p:spPr>
      </p:sp>
      <p:sp>
        <p:nvSpPr>
          <p:cNvPr id="13" name="Text 11"/>
          <p:cNvSpPr txBox="1"/>
          <p:nvPr/>
        </p:nvSpPr>
        <p:spPr>
          <a:xfrm>
            <a:off x="457200" y="2560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23744"/>
            <a:ext cx="7662672" cy="58521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Which problem of earlier digital money does Bitcoin solve, and which of its four parts answers which part of that problem?</a:t>
            </a:r>
            <a:endParaRPr lang="en-US" sz="1400" dirty="0"/>
          </a:p>
        </p:txBody>
      </p:sp>
      <p:sp>
        <p:nvSpPr>
          <p:cNvPr id="15" name="Shape 13"/>
          <p:cNvSpPr/>
          <p:nvPr/>
        </p:nvSpPr>
        <p:spPr>
          <a:xfrm>
            <a:off x="457200" y="3182112"/>
            <a:ext cx="402336" cy="402336"/>
          </a:xfrm>
          <a:prstGeom prst="ellipse">
            <a:avLst/>
          </a:prstGeom>
          <a:solidFill>
            <a:srgbClr val="F7931A"/>
          </a:solidFill>
          <a:ln w="12700">
            <a:solidFill>
              <a:srgbClr val="F7931A"/>
            </a:solidFill>
            <a:prstDash val="solid"/>
          </a:ln>
        </p:spPr>
      </p:sp>
      <p:sp>
        <p:nvSpPr>
          <p:cNvPr id="16" name="Text 14"/>
          <p:cNvSpPr txBox="1"/>
          <p:nvPr/>
        </p:nvSpPr>
        <p:spPr>
          <a:xfrm>
            <a:off x="457200" y="31821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45536"/>
            <a:ext cx="7662672" cy="58521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How can a wallet be classified by platform, by autonomy and by the control of keys, and what does each choice cost its user?</a:t>
            </a:r>
            <a:endParaRPr lang="en-US" sz="1400" dirty="0"/>
          </a:p>
        </p:txBody>
      </p:sp>
      <p:sp>
        <p:nvSpPr>
          <p:cNvPr id="18" name="Shape 16"/>
          <p:cNvSpPr/>
          <p:nvPr/>
        </p:nvSpPr>
        <p:spPr>
          <a:xfrm>
            <a:off x="457200" y="3803904"/>
            <a:ext cx="402336" cy="402336"/>
          </a:xfrm>
          <a:prstGeom prst="ellipse">
            <a:avLst/>
          </a:prstGeom>
          <a:solidFill>
            <a:srgbClr val="F7931A"/>
          </a:solidFill>
          <a:ln w="12700">
            <a:solidFill>
              <a:srgbClr val="F7931A"/>
            </a:solidFill>
            <a:prstDash val="solid"/>
          </a:ln>
        </p:spPr>
      </p:sp>
      <p:sp>
        <p:nvSpPr>
          <p:cNvPr id="19" name="Text 17"/>
          <p:cNvSpPr txBox="1"/>
          <p:nvPr/>
        </p:nvSpPr>
        <p:spPr>
          <a:xfrm>
            <a:off x="457200" y="38039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67328"/>
            <a:ext cx="7662672" cy="58521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What happens, step by step and object by object, between the moment Joe presses Send and the moment Alice's payment is confirmed?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457200" y="960120"/>
            <a:ext cx="128016" cy="1417320"/>
          </a:xfrm>
          <a:prstGeom prst="rect">
            <a:avLst/>
          </a:prstGeom>
          <a:solidFill>
            <a:srgbClr val="F7931A"/>
          </a:solidFill>
          <a:ln w="12700">
            <a:solidFill>
              <a:srgbClr val="F7931A"/>
            </a:solidFill>
            <a:prstDash val="solid"/>
          </a:ln>
        </p:spPr>
      </p:sp>
      <p:sp>
        <p:nvSpPr>
          <p:cNvPr id="3" name="Text 1"/>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Money</a:t>
            </a:r>
            <a:endParaRPr lang="en-US" sz="3200" dirty="0"/>
          </a:p>
        </p:txBody>
      </p:sp>
      <p:sp>
        <p:nvSpPr>
          <p:cNvPr id="4" name="Text 2"/>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C9D1DA"/>
                </a:solidFill>
                <a:latin typeface="Calibri" pitchFamily="34" charset="0"/>
                <a:ea typeface="Calibri" pitchFamily="34" charset="-122"/>
                <a:cs typeface="Calibri" pitchFamily="34" charset="-120"/>
              </a:rPr>
              <a:t>Chapter 1 begins by saying that Bitcoin is a collection of concepts and technologies that form the basis of a digital money ecosystem, and that units of currency called bitcoin are used to store and transmit value among the…</a:t>
            </a:r>
            <a:endParaRPr lang="en-US" sz="1500" dirty="0"/>
          </a:p>
        </p:txBody>
      </p:sp>
      <p:sp>
        <p:nvSpPr>
          <p:cNvPr id="5" name="Shape 3"/>
          <p:cNvSpPr/>
          <p:nvPr/>
        </p:nvSpPr>
        <p:spPr>
          <a:xfrm>
            <a:off x="457200" y="2788920"/>
            <a:ext cx="1947672" cy="1371600"/>
          </a:xfrm>
          <a:prstGeom prst="roundRect">
            <a:avLst>
              <a:gd name="adj" fmla="val 5333"/>
            </a:avLst>
          </a:prstGeom>
          <a:solidFill>
            <a:srgbClr val="3A4250"/>
          </a:solidFill>
          <a:ln w="12700">
            <a:solidFill>
              <a:srgbClr val="F7931A"/>
            </a:solidFill>
            <a:prstDash val="solid"/>
          </a:ln>
        </p:spPr>
      </p:sp>
      <p:sp>
        <p:nvSpPr>
          <p:cNvPr id="6" name="Text 4"/>
          <p:cNvSpPr txBox="1"/>
          <p:nvPr/>
        </p:nvSpPr>
        <p:spPr>
          <a:xfrm>
            <a:off x="530352" y="2834640"/>
            <a:ext cx="1801368"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Unit</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2 concepts</a:t>
            </a:r>
            <a:endParaRPr lang="en-US" sz="1200" dirty="0"/>
          </a:p>
        </p:txBody>
      </p:sp>
      <p:sp>
        <p:nvSpPr>
          <p:cNvPr id="7" name="Shape 5"/>
          <p:cNvSpPr/>
          <p:nvPr/>
        </p:nvSpPr>
        <p:spPr>
          <a:xfrm>
            <a:off x="2551176" y="2788920"/>
            <a:ext cx="1947672" cy="1371600"/>
          </a:xfrm>
          <a:prstGeom prst="roundRect">
            <a:avLst>
              <a:gd name="adj" fmla="val 5333"/>
            </a:avLst>
          </a:prstGeom>
          <a:solidFill>
            <a:srgbClr val="3A4250"/>
          </a:solidFill>
          <a:ln w="12700">
            <a:solidFill>
              <a:srgbClr val="F7931A"/>
            </a:solidFill>
            <a:prstDash val="solid"/>
          </a:ln>
        </p:spPr>
      </p:sp>
      <p:sp>
        <p:nvSpPr>
          <p:cNvPr id="8" name="Text 6"/>
          <p:cNvSpPr txBox="1"/>
          <p:nvPr/>
        </p:nvSpPr>
        <p:spPr>
          <a:xfrm>
            <a:off x="2624328" y="2834640"/>
            <a:ext cx="1801368"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Supply</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3 concepts</a:t>
            </a:r>
            <a:endParaRPr lang="en-US" sz="1200" dirty="0"/>
          </a:p>
        </p:txBody>
      </p:sp>
      <p:sp>
        <p:nvSpPr>
          <p:cNvPr id="9" name="Shape 7"/>
          <p:cNvSpPr/>
          <p:nvPr/>
        </p:nvSpPr>
        <p:spPr>
          <a:xfrm>
            <a:off x="4645152" y="2788920"/>
            <a:ext cx="1947672" cy="1371600"/>
          </a:xfrm>
          <a:prstGeom prst="roundRect">
            <a:avLst>
              <a:gd name="adj" fmla="val 5333"/>
            </a:avLst>
          </a:prstGeom>
          <a:solidFill>
            <a:srgbClr val="3A4250"/>
          </a:solidFill>
          <a:ln w="12700">
            <a:solidFill>
              <a:srgbClr val="F7931A"/>
            </a:solidFill>
            <a:prstDash val="solid"/>
          </a:ln>
        </p:spPr>
      </p:sp>
      <p:sp>
        <p:nvSpPr>
          <p:cNvPr id="10" name="Text 8"/>
          <p:cNvSpPr txBox="1"/>
          <p:nvPr/>
        </p:nvSpPr>
        <p:spPr>
          <a:xfrm>
            <a:off x="4718304" y="2834640"/>
            <a:ext cx="1801368"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Price</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2 concepts</a:t>
            </a:r>
            <a:endParaRPr lang="en-US" sz="1200" dirty="0"/>
          </a:p>
        </p:txBody>
      </p:sp>
      <p:sp>
        <p:nvSpPr>
          <p:cNvPr id="11" name="Shape 9"/>
          <p:cNvSpPr/>
          <p:nvPr/>
        </p:nvSpPr>
        <p:spPr>
          <a:xfrm>
            <a:off x="6739128" y="2788920"/>
            <a:ext cx="1947672" cy="1371600"/>
          </a:xfrm>
          <a:prstGeom prst="roundRect">
            <a:avLst>
              <a:gd name="adj" fmla="val 5333"/>
            </a:avLst>
          </a:prstGeom>
          <a:solidFill>
            <a:srgbClr val="3A4250"/>
          </a:solidFill>
          <a:ln w="12700">
            <a:solidFill>
              <a:srgbClr val="F7931A"/>
            </a:solidFill>
            <a:prstDash val="solid"/>
          </a:ln>
        </p:spPr>
      </p:sp>
      <p:sp>
        <p:nvSpPr>
          <p:cNvPr id="12" name="Text 10"/>
          <p:cNvSpPr txBox="1"/>
          <p:nvPr/>
        </p:nvSpPr>
        <p:spPr>
          <a:xfrm>
            <a:off x="6812280" y="2834640"/>
            <a:ext cx="1801368"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Issuance</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4 concepts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Unit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Money - 2 concepts</a:t>
            </a:r>
            <a:endParaRPr lang="en-US" sz="1300" dirty="0"/>
          </a:p>
        </p:txBody>
      </p:sp>
      <p:sp>
        <p:nvSpPr>
          <p:cNvPr id="6" name="Shape 4"/>
          <p:cNvSpPr/>
          <p:nvPr/>
        </p:nvSpPr>
        <p:spPr>
          <a:xfrm>
            <a:off x="457200" y="1280160"/>
            <a:ext cx="8229600" cy="1702054"/>
          </a:xfrm>
          <a:prstGeom prst="roundRect">
            <a:avLst>
              <a:gd name="adj" fmla="val 5372"/>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06197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Unit section answers the first question that any money raises, namely what the money is called and in what pieces it is counted. It contains the name of the currency, with its distinction between the unit and the system, and the smallest subdivision that can be recorded, the satoshi. Together these give a student the exact vocabulary in which amounts are written in the rest of the course (Antonopoulos and Harding, 2023).</a:t>
            </a:r>
            <a:endParaRPr lang="en-US" sz="1300" dirty="0"/>
          </a:p>
        </p:txBody>
      </p:sp>
      <p:sp>
        <p:nvSpPr>
          <p:cNvPr id="9" name="Shape 7"/>
          <p:cNvSpPr/>
          <p:nvPr/>
        </p:nvSpPr>
        <p:spPr>
          <a:xfrm>
            <a:off x="457200" y="3128518"/>
            <a:ext cx="4041648" cy="1059434"/>
          </a:xfrm>
          <a:prstGeom prst="roundRect">
            <a:avLst>
              <a:gd name="adj" fmla="val 6905"/>
            </a:avLst>
          </a:prstGeom>
          <a:solidFill>
            <a:srgbClr val="F4F2EE"/>
          </a:solidFill>
          <a:ln w="12700">
            <a:solidFill>
              <a:srgbClr val="D9D4CC"/>
            </a:solidFill>
            <a:prstDash val="solid"/>
          </a:ln>
        </p:spPr>
      </p:sp>
      <p:sp>
        <p:nvSpPr>
          <p:cNvPr id="10" name="Text 8"/>
          <p:cNvSpPr txBox="1"/>
          <p:nvPr/>
        </p:nvSpPr>
        <p:spPr>
          <a:xfrm>
            <a:off x="548640" y="3183382"/>
            <a:ext cx="3858768"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Bitcoin Unit</a:t>
            </a:r>
            <a:endParaRPr lang="en-US" sz="1250" dirty="0"/>
          </a:p>
        </p:txBody>
      </p:sp>
      <p:sp>
        <p:nvSpPr>
          <p:cNvPr id="11" name="Shape 9"/>
          <p:cNvSpPr/>
          <p:nvPr/>
        </p:nvSpPr>
        <p:spPr>
          <a:xfrm>
            <a:off x="4645152" y="3128518"/>
            <a:ext cx="4041648" cy="1059434"/>
          </a:xfrm>
          <a:prstGeom prst="roundRect">
            <a:avLst>
              <a:gd name="adj" fmla="val 6905"/>
            </a:avLst>
          </a:prstGeom>
          <a:solidFill>
            <a:srgbClr val="F4F2EE"/>
          </a:solidFill>
          <a:ln w="12700">
            <a:solidFill>
              <a:srgbClr val="D9D4CC"/>
            </a:solidFill>
            <a:prstDash val="solid"/>
          </a:ln>
        </p:spPr>
      </p:sp>
      <p:sp>
        <p:nvSpPr>
          <p:cNvPr id="12" name="Text 10"/>
          <p:cNvSpPr txBox="1"/>
          <p:nvPr/>
        </p:nvSpPr>
        <p:spPr>
          <a:xfrm>
            <a:off x="4736592" y="3183382"/>
            <a:ext cx="3858768"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Satoshi (unit)</a:t>
            </a:r>
            <a:endParaRPr lang="en-US" sz="1250" dirty="0"/>
          </a:p>
        </p:txBody>
      </p:sp>
      <p:sp>
        <p:nvSpPr>
          <p:cNvPr id="13" name="Text 11"/>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two concepts of this section move from the name to the arithmetic.</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Bitcoin Unit and Satoshi (unit)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996440"/>
          </a:xfrm>
          <a:prstGeom prst="roundRect">
            <a:avLst>
              <a:gd name="adj" fmla="val 4580"/>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Bitcoin Unit</a:t>
            </a:r>
            <a:endParaRPr lang="en-US" sz="1600" dirty="0"/>
          </a:p>
        </p:txBody>
      </p:sp>
      <p:sp>
        <p:nvSpPr>
          <p:cNvPr id="8" name="Text 6"/>
          <p:cNvSpPr txBox="1"/>
          <p:nvPr/>
        </p:nvSpPr>
        <p:spPr>
          <a:xfrm>
            <a:off x="640080" y="1783080"/>
            <a:ext cx="3611880" cy="13563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Bitcoin is the name of the system, and bitcoin is the name of the unit of currency that the system transports. The book states the convention in a short note: the unit of currency is called bitcoin with a small b, and the system is called Bitcoin with a capital B (Antonopoulos and Harding, 2023).</a:t>
            </a:r>
            <a:endParaRPr lang="en-US" sz="1200" dirty="0"/>
          </a:p>
        </p:txBody>
      </p:sp>
      <p:sp>
        <p:nvSpPr>
          <p:cNvPr id="9" name="Text 7"/>
          <p:cNvSpPr txBox="1"/>
          <p:nvPr/>
        </p:nvSpPr>
        <p:spPr>
          <a:xfrm>
            <a:off x="457200" y="3422904"/>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unit is divisible. The chapter notes that some wallets show an amount in a different denomination, because 0.001 BTC is 1 millibitcoin (mBTC) or 100,000 satoshis (Antonopoulos and Harding, 2023).</a:t>
            </a:r>
            <a:endParaRPr lang="en-US" sz="1100" dirty="0"/>
          </a:p>
        </p:txBody>
      </p:sp>
      <p:sp>
        <p:nvSpPr>
          <p:cNvPr id="10" name="Shape 8"/>
          <p:cNvSpPr/>
          <p:nvPr/>
        </p:nvSpPr>
        <p:spPr>
          <a:xfrm>
            <a:off x="4709160" y="1280160"/>
            <a:ext cx="3977640" cy="1066800"/>
          </a:xfrm>
          <a:prstGeom prst="roundRect">
            <a:avLst>
              <a:gd name="adj" fmla="val 8571"/>
            </a:avLst>
          </a:prstGeom>
          <a:solidFill>
            <a:srgbClr val="F4F2EE"/>
          </a:solidFill>
          <a:ln w="12700">
            <a:solidFill>
              <a:srgbClr val="F4F2EE"/>
            </a:solidFill>
            <a:prstDash val="solid"/>
          </a:ln>
        </p:spPr>
      </p:sp>
      <p:sp>
        <p:nvSpPr>
          <p:cNvPr id="11" name="Text 9"/>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Satoshi (unit)</a:t>
            </a:r>
            <a:endParaRPr lang="en-US" sz="1600" dirty="0"/>
          </a:p>
        </p:txBody>
      </p:sp>
      <p:sp>
        <p:nvSpPr>
          <p:cNvPr id="12" name="Text 10"/>
          <p:cNvSpPr txBox="1"/>
          <p:nvPr/>
        </p:nvSpPr>
        <p:spPr>
          <a:xfrm>
            <a:off x="4892040" y="1783080"/>
            <a:ext cx="361188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satoshi is the smallest denomination of bitcoin that can be recorded on the blockchain.</a:t>
            </a:r>
            <a:endParaRPr lang="en-US" sz="1200" dirty="0"/>
          </a:p>
        </p:txBody>
      </p:sp>
      <p:sp>
        <p:nvSpPr>
          <p:cNvPr id="13" name="Shape 11"/>
          <p:cNvSpPr/>
          <p:nvPr/>
        </p:nvSpPr>
        <p:spPr>
          <a:xfrm>
            <a:off x="4709160" y="2456688"/>
            <a:ext cx="3977640" cy="563118"/>
          </a:xfrm>
          <a:prstGeom prst="roundRect">
            <a:avLst>
              <a:gd name="adj" fmla="val 16238"/>
            </a:avLst>
          </a:prstGeom>
          <a:solidFill>
            <a:srgbClr val="15191E"/>
          </a:solidFill>
          <a:ln w="12700">
            <a:solidFill>
              <a:srgbClr val="15191E"/>
            </a:solidFill>
            <a:prstDash val="solid"/>
          </a:ln>
        </p:spPr>
      </p:sp>
      <p:sp>
        <p:nvSpPr>
          <p:cNvPr id="14" name="Text 12"/>
          <p:cNvSpPr txBox="1"/>
          <p:nvPr/>
        </p:nvSpPr>
        <p:spPr>
          <a:xfrm>
            <a:off x="4892040" y="2575560"/>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int(decimal.Decimal('0.001') * 10**8)</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100000</a:t>
            </a:r>
            <a:endParaRPr lang="en-US" sz="1050" dirty="0"/>
          </a:p>
        </p:txBody>
      </p:sp>
      <p:sp>
        <p:nvSpPr>
          <p:cNvPr id="15" name="Text 13"/>
          <p:cNvSpPr txBox="1"/>
          <p:nvPr/>
        </p:nvSpPr>
        <p:spPr>
          <a:xfrm>
            <a:off x="4709160" y="3038094"/>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6" name="Text 14"/>
          <p:cNvSpPr txBox="1"/>
          <p:nvPr/>
        </p:nvSpPr>
        <p:spPr>
          <a:xfrm>
            <a:off x="4709160" y="3294126"/>
            <a:ext cx="397764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conversion is a multiplication by 10 to the power 8.</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Supply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Money - 3 concepts</a:t>
            </a:r>
            <a:endParaRPr lang="en-US" sz="1300" dirty="0"/>
          </a:p>
        </p:txBody>
      </p:sp>
      <p:sp>
        <p:nvSpPr>
          <p:cNvPr id="6" name="Shape 4"/>
          <p:cNvSpPr/>
          <p:nvPr/>
        </p:nvSpPr>
        <p:spPr>
          <a:xfrm>
            <a:off x="457200" y="1280160"/>
            <a:ext cx="8229600" cy="1903476"/>
          </a:xfrm>
          <a:prstGeom prst="roundRect">
            <a:avLst>
              <a:gd name="adj" fmla="val 480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26339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This section explains the three ideas behind that sentence: the cap on the total, the halving of the subsidy at fixed intervals, and the subsidy itself, which is the amount of new bitcoin paid to the miner of each block.</a:t>
            </a:r>
            <a:endParaRPr lang="en-US" sz="1300" dirty="0"/>
          </a:p>
        </p:txBody>
      </p:sp>
      <p:sp>
        <p:nvSpPr>
          <p:cNvPr id="9" name="Shape 7"/>
          <p:cNvSpPr/>
          <p:nvPr/>
        </p:nvSpPr>
        <p:spPr>
          <a:xfrm>
            <a:off x="457200" y="3329940"/>
            <a:ext cx="2645664" cy="858012"/>
          </a:xfrm>
          <a:prstGeom prst="roundRect">
            <a:avLst>
              <a:gd name="adj" fmla="val 8526"/>
            </a:avLst>
          </a:prstGeom>
          <a:solidFill>
            <a:srgbClr val="F4F2EE"/>
          </a:solidFill>
          <a:ln w="12700">
            <a:solidFill>
              <a:srgbClr val="D9D4CC"/>
            </a:solidFill>
            <a:prstDash val="solid"/>
          </a:ln>
        </p:spPr>
      </p:sp>
      <p:sp>
        <p:nvSpPr>
          <p:cNvPr id="10" name="Text 8"/>
          <p:cNvSpPr txBox="1"/>
          <p:nvPr/>
        </p:nvSpPr>
        <p:spPr>
          <a:xfrm>
            <a:off x="548640" y="3384804"/>
            <a:ext cx="2462784"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Supply cap</a:t>
            </a:r>
            <a:endParaRPr lang="en-US" sz="1250" dirty="0"/>
          </a:p>
        </p:txBody>
      </p:sp>
      <p:sp>
        <p:nvSpPr>
          <p:cNvPr id="11" name="Shape 9"/>
          <p:cNvSpPr/>
          <p:nvPr/>
        </p:nvSpPr>
        <p:spPr>
          <a:xfrm>
            <a:off x="3249168" y="3329940"/>
            <a:ext cx="2645664" cy="858012"/>
          </a:xfrm>
          <a:prstGeom prst="roundRect">
            <a:avLst>
              <a:gd name="adj" fmla="val 8526"/>
            </a:avLst>
          </a:prstGeom>
          <a:solidFill>
            <a:srgbClr val="F4F2EE"/>
          </a:solidFill>
          <a:ln w="12700">
            <a:solidFill>
              <a:srgbClr val="D9D4CC"/>
            </a:solidFill>
            <a:prstDash val="solid"/>
          </a:ln>
        </p:spPr>
      </p:sp>
      <p:sp>
        <p:nvSpPr>
          <p:cNvPr id="12" name="Text 10"/>
          <p:cNvSpPr txBox="1"/>
          <p:nvPr/>
        </p:nvSpPr>
        <p:spPr>
          <a:xfrm>
            <a:off x="3340608" y="3384804"/>
            <a:ext cx="2462784"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Halving</a:t>
            </a:r>
            <a:endParaRPr lang="en-US" sz="1250" dirty="0"/>
          </a:p>
        </p:txBody>
      </p:sp>
      <p:sp>
        <p:nvSpPr>
          <p:cNvPr id="13" name="Shape 11"/>
          <p:cNvSpPr/>
          <p:nvPr/>
        </p:nvSpPr>
        <p:spPr>
          <a:xfrm>
            <a:off x="6041136" y="3329940"/>
            <a:ext cx="2645664" cy="858012"/>
          </a:xfrm>
          <a:prstGeom prst="roundRect">
            <a:avLst>
              <a:gd name="adj" fmla="val 8526"/>
            </a:avLst>
          </a:prstGeom>
          <a:solidFill>
            <a:srgbClr val="F4F2EE"/>
          </a:solidFill>
          <a:ln w="12700">
            <a:solidFill>
              <a:srgbClr val="D9D4CC"/>
            </a:solidFill>
            <a:prstDash val="solid"/>
          </a:ln>
        </p:spPr>
      </p:sp>
      <p:sp>
        <p:nvSpPr>
          <p:cNvPr id="14" name="Text 12"/>
          <p:cNvSpPr txBox="1"/>
          <p:nvPr/>
        </p:nvSpPr>
        <p:spPr>
          <a:xfrm>
            <a:off x="6132576" y="3384804"/>
            <a:ext cx="2462784"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Block subsidy</a:t>
            </a:r>
            <a:endParaRPr lang="en-US" sz="1250" dirty="0"/>
          </a:p>
        </p:txBody>
      </p:sp>
      <p:sp>
        <p:nvSpPr>
          <p:cNvPr id="15" name="Text 13"/>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three concepts build on one another. The block subsidy is the quantity that is paid for each block. The halving is the rule that cuts the subsidy in half every 210,000 blocks.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Supply cap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sum of every block subsidy</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supply cap is the upper limit on the total amount of bitcoin that can ever exist. The chapter states it as a fixed total just below 21 million coins, and explains that the number in circulation follows an easily predictable curve in which half of the remaining coins are added to circulation every four years (Antonopoulos and Harding, 2023).</a:t>
            </a:r>
            <a:endParaRPr lang="en-US" sz="1300" dirty="0"/>
          </a:p>
        </p:txBody>
      </p:sp>
      <p:sp>
        <p:nvSpPr>
          <p:cNvPr id="9" name="Shape 7"/>
          <p:cNvSpPr/>
          <p:nvPr/>
        </p:nvSpPr>
        <p:spPr>
          <a:xfrm>
            <a:off x="457200" y="2927096"/>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3045968"/>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sum((50 * 10**8 &gt;&gt; era) * 210000 for era in range(33))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20999999.9769</a:t>
            </a:r>
            <a:endParaRPr lang="en-US" sz="1100" dirty="0"/>
          </a:p>
        </p:txBody>
      </p:sp>
      <p:sp>
        <p:nvSpPr>
          <p:cNvPr id="11" name="Text 9"/>
          <p:cNvSpPr txBox="1"/>
          <p:nvPr/>
        </p:nvSpPr>
        <p:spPr>
          <a:xfrm>
            <a:off x="457200" y="35239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743452"/>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862324"/>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246372"/>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subsidy begins at 50 bitcoin per block.</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Halving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subsidy at block 840000</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halving is the event at which the block subsidy is cut in half. The rule is part of the protocol: the chapter says that the protocol periodically decreases the number of new bitcoins that are created, and that half of the remaining coins are added to circulation every four years (Antonopoulos and Harding, 2023).</a:t>
            </a:r>
            <a:endParaRPr lang="en-US" sz="1300" dirty="0"/>
          </a:p>
        </p:txBody>
      </p:sp>
      <p:sp>
        <p:nvSpPr>
          <p:cNvPr id="9" name="Shape 7"/>
          <p:cNvSpPr/>
          <p:nvPr/>
        </p:nvSpPr>
        <p:spPr>
          <a:xfrm>
            <a:off x="457200" y="2927096"/>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3045968"/>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(50 * 10**8 &gt;&gt; 840000 // 210000)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3.125</a:t>
            </a:r>
            <a:endParaRPr lang="en-US" sz="1100" dirty="0"/>
          </a:p>
        </p:txBody>
      </p:sp>
      <p:sp>
        <p:nvSpPr>
          <p:cNvPr id="11" name="Text 9"/>
          <p:cNvSpPr txBox="1"/>
          <p:nvPr/>
        </p:nvSpPr>
        <p:spPr>
          <a:xfrm>
            <a:off x="457200" y="35239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80028"/>
            <a:ext cx="822960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program divides the block height by 210000 to find the number of halvings that have already happened, and it shifts the initial subsidy of 50 * 10**8 satoshis to the right by that many places.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Block subsidy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subsidy of five eras</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block subsidy is the amount of newly created bitcoin that the rules allow the miner of a block to claim. The chapter describes the payment in general terms: on average every 10 minutes one miner can add security to past transactions, and is rewarded with both brand new bitcoins and the fees paid by recent transactions (Antonopoulos and Harding, 2023).</a:t>
            </a:r>
            <a:endParaRPr lang="en-US" sz="1300" dirty="0"/>
          </a:p>
        </p:txBody>
      </p:sp>
      <p:sp>
        <p:nvSpPr>
          <p:cNvPr id="9" name="Shape 7"/>
          <p:cNvSpPr/>
          <p:nvPr/>
        </p:nvSpPr>
        <p:spPr>
          <a:xfrm>
            <a:off x="457200" y="2927096"/>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3045968"/>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[(50 * 10**8 &gt;&gt; h // 210000) / 10**8 for h in (0, 210000, 420000, 630000, 840000)]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[50.0, 25.0, 12.5, 6.25, 3.125]</a:t>
            </a:r>
            <a:endParaRPr lang="en-US" sz="1100" dirty="0"/>
          </a:p>
        </p:txBody>
      </p:sp>
      <p:sp>
        <p:nvSpPr>
          <p:cNvPr id="11" name="Text 9"/>
          <p:cNvSpPr txBox="1"/>
          <p:nvPr/>
        </p:nvSpPr>
        <p:spPr>
          <a:xfrm>
            <a:off x="457200" y="35239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743452"/>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862324"/>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246372"/>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subsidy depends only on the block height.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Price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Money - 2 concepts</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Price section addresses a question that every newcomer asks, namely who sets the price of bitcoin. The chapter's short answer is that the price is set by markets (Antonopoulos and Harding, 2023). The section contains the idea of a floating exchange rate and the way in which a single quotation is computed from the many trades that happen in different places.</a:t>
            </a:r>
            <a:endParaRPr lang="en-US" sz="1300" dirty="0"/>
          </a:p>
        </p:txBody>
      </p:sp>
      <p:sp>
        <p:nvSpPr>
          <p:cNvPr id="9" name="Shape 7"/>
          <p:cNvSpPr/>
          <p:nvPr/>
        </p:nvSpPr>
        <p:spPr>
          <a:xfrm>
            <a:off x="457200" y="2927096"/>
            <a:ext cx="4041648" cy="1260856"/>
          </a:xfrm>
          <a:prstGeom prst="roundRect">
            <a:avLst>
              <a:gd name="adj" fmla="val 5802"/>
            </a:avLst>
          </a:prstGeom>
          <a:solidFill>
            <a:srgbClr val="F4F2EE"/>
          </a:solidFill>
          <a:ln w="12700">
            <a:solidFill>
              <a:srgbClr val="D9D4CC"/>
            </a:solidFill>
            <a:prstDash val="solid"/>
          </a:ln>
        </p:spPr>
      </p:sp>
      <p:sp>
        <p:nvSpPr>
          <p:cNvPr id="10" name="Text 8"/>
          <p:cNvSpPr txBox="1"/>
          <p:nvPr/>
        </p:nvSpPr>
        <p:spPr>
          <a:xfrm>
            <a:off x="548640" y="2981960"/>
            <a:ext cx="3858768" cy="1151128"/>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Floating exchange rate</a:t>
            </a:r>
            <a:endParaRPr lang="en-US" sz="1250" dirty="0"/>
          </a:p>
        </p:txBody>
      </p:sp>
      <p:sp>
        <p:nvSpPr>
          <p:cNvPr id="11" name="Shape 9"/>
          <p:cNvSpPr/>
          <p:nvPr/>
        </p:nvSpPr>
        <p:spPr>
          <a:xfrm>
            <a:off x="4645152" y="2927096"/>
            <a:ext cx="4041648" cy="1260856"/>
          </a:xfrm>
          <a:prstGeom prst="roundRect">
            <a:avLst>
              <a:gd name="adj" fmla="val 5802"/>
            </a:avLst>
          </a:prstGeom>
          <a:solidFill>
            <a:srgbClr val="F4F2EE"/>
          </a:solidFill>
          <a:ln w="12700">
            <a:solidFill>
              <a:srgbClr val="D9D4CC"/>
            </a:solidFill>
            <a:prstDash val="solid"/>
          </a:ln>
        </p:spPr>
      </p:sp>
      <p:sp>
        <p:nvSpPr>
          <p:cNvPr id="12" name="Text 10"/>
          <p:cNvSpPr txBox="1"/>
          <p:nvPr/>
        </p:nvSpPr>
        <p:spPr>
          <a:xfrm>
            <a:off x="4736592" y="2981960"/>
            <a:ext cx="3858768" cy="1151128"/>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Volume-weighted average</a:t>
            </a:r>
            <a:endParaRPr lang="en-US" sz="1250" dirty="0"/>
          </a:p>
        </p:txBody>
      </p:sp>
      <p:sp>
        <p:nvSpPr>
          <p:cNvPr id="13" name="Text 11"/>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first concept in the section explains why the rate floats and how it is quoted as a currency pair.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Floating exchange rate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BTC/USD rate</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exchange rate is the price of one currency in terms of another, and a floating exchange rate is one that is not fixed by any authority but moves according to the demand for the currencies and the amount available.</a:t>
            </a:r>
            <a:endParaRPr lang="en-US" sz="1300" dirty="0"/>
          </a:p>
        </p:txBody>
      </p:sp>
      <p:sp>
        <p:nvSpPr>
          <p:cNvPr id="9" name="Shape 7"/>
          <p:cNvSpPr/>
          <p:nvPr/>
        </p:nvSpPr>
        <p:spPr>
          <a:xfrm>
            <a:off x="457200" y="2725674"/>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844546"/>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round(0.001 * 60000, 2)</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60.0</a:t>
            </a:r>
            <a:endParaRPr lang="en-US" sz="1100" dirty="0"/>
          </a:p>
        </p:txBody>
      </p:sp>
      <p:sp>
        <p:nvSpPr>
          <p:cNvPr id="11" name="Text 9"/>
          <p:cNvSpPr txBox="1"/>
          <p:nvPr/>
        </p:nvSpPr>
        <p:spPr>
          <a:xfrm>
            <a:off x="457200" y="332257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542030"/>
            <a:ext cx="8229600" cy="1066800"/>
          </a:xfrm>
          <a:prstGeom prst="roundRect">
            <a:avLst>
              <a:gd name="adj" fmla="val 8571"/>
            </a:avLst>
          </a:prstGeom>
          <a:solidFill>
            <a:srgbClr val="F4F2EE"/>
          </a:solidFill>
          <a:ln w="12700">
            <a:solidFill>
              <a:srgbClr val="F4F2EE"/>
            </a:solidFill>
            <a:prstDash val="solid"/>
          </a:ln>
        </p:spPr>
      </p:sp>
      <p:sp>
        <p:nvSpPr>
          <p:cNvPr id="13" name="Text 11"/>
          <p:cNvSpPr txBox="1"/>
          <p:nvPr/>
        </p:nvSpPr>
        <p:spPr>
          <a:xfrm>
            <a:off x="640080" y="366090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044950"/>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conversion itself is a multiplication. If the rate were 60,000 dollars per bitcoin, the amount of 0.001 bitcoin that Alice buys would be worth 0.001 * 60000, which evaluates to 60.0 dollars.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Volume-weighted average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trades, 3 units at 100 and 1 unit at 104</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volume-weighted average is an average of prices in which each price counts in proportion to the volume traded at that price. The chapter says that a pricing service will aggregate the prices from several markets and calculate a volume-weighted average representing the broad market exchange rate of a currency pair, for example BTC/USD (Antonopoulos and Harding, 2023).</a:t>
            </a:r>
            <a:endParaRPr lang="en-US" sz="1300" dirty="0"/>
          </a:p>
        </p:txBody>
      </p:sp>
      <p:sp>
        <p:nvSpPr>
          <p:cNvPr id="9" name="Shape 7"/>
          <p:cNvSpPr/>
          <p:nvPr/>
        </p:nvSpPr>
        <p:spPr>
          <a:xfrm>
            <a:off x="457200" y="2927096"/>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3045968"/>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sum(p * v for p, v in [(100, 3), (104, 1)]) / sum(v for p, v in [(100, 3), (104, 1)])</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101.0</a:t>
            </a:r>
            <a:endParaRPr lang="en-US" sz="1100" dirty="0"/>
          </a:p>
        </p:txBody>
      </p:sp>
      <p:sp>
        <p:nvSpPr>
          <p:cNvPr id="11" name="Text 9"/>
          <p:cNvSpPr txBox="1"/>
          <p:nvPr/>
        </p:nvSpPr>
        <p:spPr>
          <a:xfrm>
            <a:off x="457200" y="35239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80028"/>
            <a:ext cx="822960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computation multiplies each price by its volume, adds the products, and divides by the total volume.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Issuance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Money - 4 concepts</a:t>
            </a:r>
            <a:endParaRPr lang="en-US" sz="1300" dirty="0"/>
          </a:p>
        </p:txBody>
      </p:sp>
      <p:sp>
        <p:nvSpPr>
          <p:cNvPr id="6" name="Shape 4"/>
          <p:cNvSpPr/>
          <p:nvPr/>
        </p:nvSpPr>
        <p:spPr>
          <a:xfrm>
            <a:off x="457200" y="1280160"/>
            <a:ext cx="8229600" cy="1702054"/>
          </a:xfrm>
          <a:prstGeom prst="roundRect">
            <a:avLst>
              <a:gd name="adj" fmla="val 5372"/>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06197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Issuance section is about who creates money and by what rule. In a conventional economy a central bank controls the creation of money, and a clearing system settles payments between banks. The chapter argues that Bitcoin mining decentralizes the currency-issuance and clearing functions of a central bank and replaces the need for any central bank, and it describes the currency as deflationary over the long term (Antonopoulos and Harding, 2023).</a:t>
            </a:r>
            <a:endParaRPr lang="en-US" sz="1300" dirty="0"/>
          </a:p>
        </p:txBody>
      </p:sp>
      <p:sp>
        <p:nvSpPr>
          <p:cNvPr id="9" name="Shape 7"/>
          <p:cNvSpPr/>
          <p:nvPr/>
        </p:nvSpPr>
        <p:spPr>
          <a:xfrm>
            <a:off x="457200" y="3128518"/>
            <a:ext cx="1947672" cy="1059434"/>
          </a:xfrm>
          <a:prstGeom prst="roundRect">
            <a:avLst>
              <a:gd name="adj" fmla="val 6905"/>
            </a:avLst>
          </a:prstGeom>
          <a:solidFill>
            <a:srgbClr val="F4F2EE"/>
          </a:solidFill>
          <a:ln w="12700">
            <a:solidFill>
              <a:srgbClr val="D9D4CC"/>
            </a:solidFill>
            <a:prstDash val="solid"/>
          </a:ln>
        </p:spPr>
      </p:sp>
      <p:sp>
        <p:nvSpPr>
          <p:cNvPr id="10" name="Text 8"/>
          <p:cNvSpPr txBox="1"/>
          <p:nvPr/>
        </p:nvSpPr>
        <p:spPr>
          <a:xfrm>
            <a:off x="548640"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Central bank</a:t>
            </a:r>
            <a:endParaRPr lang="en-US" sz="1250" dirty="0"/>
          </a:p>
        </p:txBody>
      </p:sp>
      <p:sp>
        <p:nvSpPr>
          <p:cNvPr id="11" name="Shape 9"/>
          <p:cNvSpPr/>
          <p:nvPr/>
        </p:nvSpPr>
        <p:spPr>
          <a:xfrm>
            <a:off x="2551176" y="3128518"/>
            <a:ext cx="1947672" cy="1059434"/>
          </a:xfrm>
          <a:prstGeom prst="roundRect">
            <a:avLst>
              <a:gd name="adj" fmla="val 6905"/>
            </a:avLst>
          </a:prstGeom>
          <a:solidFill>
            <a:srgbClr val="F4F2EE"/>
          </a:solidFill>
          <a:ln w="12700">
            <a:solidFill>
              <a:srgbClr val="D9D4CC"/>
            </a:solidFill>
            <a:prstDash val="solid"/>
          </a:ln>
        </p:spPr>
      </p:sp>
      <p:sp>
        <p:nvSpPr>
          <p:cNvPr id="12" name="Text 10"/>
          <p:cNvSpPr txBox="1"/>
          <p:nvPr/>
        </p:nvSpPr>
        <p:spPr>
          <a:xfrm>
            <a:off x="2642616"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Clearing house</a:t>
            </a:r>
            <a:endParaRPr lang="en-US" sz="1250" dirty="0"/>
          </a:p>
        </p:txBody>
      </p:sp>
      <p:sp>
        <p:nvSpPr>
          <p:cNvPr id="13" name="Shape 11"/>
          <p:cNvSpPr/>
          <p:nvPr/>
        </p:nvSpPr>
        <p:spPr>
          <a:xfrm>
            <a:off x="4645152" y="3128518"/>
            <a:ext cx="1947672" cy="1059434"/>
          </a:xfrm>
          <a:prstGeom prst="roundRect">
            <a:avLst>
              <a:gd name="adj" fmla="val 6905"/>
            </a:avLst>
          </a:prstGeom>
          <a:solidFill>
            <a:srgbClr val="F4F2EE"/>
          </a:solidFill>
          <a:ln w="12700">
            <a:solidFill>
              <a:srgbClr val="D9D4CC"/>
            </a:solidFill>
            <a:prstDash val="solid"/>
          </a:ln>
        </p:spPr>
      </p:sp>
      <p:sp>
        <p:nvSpPr>
          <p:cNvPr id="14" name="Text 12"/>
          <p:cNvSpPr txBox="1"/>
          <p:nvPr/>
        </p:nvSpPr>
        <p:spPr>
          <a:xfrm>
            <a:off x="4736592"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Central bank replacement</a:t>
            </a:r>
            <a:endParaRPr lang="en-US" sz="1250" dirty="0"/>
          </a:p>
        </p:txBody>
      </p:sp>
      <p:sp>
        <p:nvSpPr>
          <p:cNvPr id="15" name="Shape 13"/>
          <p:cNvSpPr/>
          <p:nvPr/>
        </p:nvSpPr>
        <p:spPr>
          <a:xfrm>
            <a:off x="6739128" y="3128518"/>
            <a:ext cx="1947672" cy="1059434"/>
          </a:xfrm>
          <a:prstGeom prst="roundRect">
            <a:avLst>
              <a:gd name="adj" fmla="val 6905"/>
            </a:avLst>
          </a:prstGeom>
          <a:solidFill>
            <a:srgbClr val="F4F2EE"/>
          </a:solidFill>
          <a:ln w="12700">
            <a:solidFill>
              <a:srgbClr val="D9D4CC"/>
            </a:solidFill>
            <a:prstDash val="solid"/>
          </a:ln>
        </p:spPr>
      </p:sp>
      <p:sp>
        <p:nvSpPr>
          <p:cNvPr id="16" name="Text 14"/>
          <p:cNvSpPr txBox="1"/>
          <p:nvPr/>
        </p:nvSpPr>
        <p:spPr>
          <a:xfrm>
            <a:off x="6830568"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Deflation</a:t>
            </a:r>
            <a:endParaRPr lang="en-US" sz="1250" dirty="0"/>
          </a:p>
        </p:txBody>
      </p:sp>
      <p:sp>
        <p:nvSpPr>
          <p:cNvPr id="17" name="Text 15"/>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four concepts of the section pair the old with the new. The central bank and the clearing house are the institutions that the chapter says Bitcoin replaces.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Central bank and Clearing house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2554224"/>
          </a:xfrm>
          <a:prstGeom prst="roundRect">
            <a:avLst>
              <a:gd name="adj" fmla="val 3580"/>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Central bank</a:t>
            </a:r>
            <a:endParaRPr lang="en-US" sz="1600" dirty="0"/>
          </a:p>
        </p:txBody>
      </p:sp>
      <p:sp>
        <p:nvSpPr>
          <p:cNvPr id="8" name="Text 6"/>
          <p:cNvSpPr txBox="1"/>
          <p:nvPr/>
        </p:nvSpPr>
        <p:spPr>
          <a:xfrm>
            <a:off x="640080" y="1783080"/>
            <a:ext cx="3611880" cy="1914144"/>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central bank is an institution that issues a country's currency and controls how much of it is created. The Bitcoin Wiki describes the arrangement in a centralized economy: currency is issued by a central bank at a rate that is supposed to match the growth of the amount of goods that are exchanged, so that these goods can be traded with stable prices, and the monetary base is controlled by that bank (Bitcoin Wiki, 2026).</a:t>
            </a:r>
            <a:endParaRPr lang="en-US" sz="1200" dirty="0"/>
          </a:p>
        </p:txBody>
      </p:sp>
      <p:sp>
        <p:nvSpPr>
          <p:cNvPr id="9" name="Text 7"/>
          <p:cNvSpPr txBox="1"/>
          <p:nvPr/>
        </p:nvSpPr>
        <p:spPr>
          <a:xfrm>
            <a:off x="457200" y="3980688"/>
            <a:ext cx="397764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central bank works by discretion, whereas Bitcoin works by rule.</a:t>
            </a:r>
            <a:endParaRPr lang="en-US" sz="1100" dirty="0"/>
          </a:p>
        </p:txBody>
      </p:sp>
      <p:sp>
        <p:nvSpPr>
          <p:cNvPr id="10" name="Shape 8"/>
          <p:cNvSpPr/>
          <p:nvPr/>
        </p:nvSpPr>
        <p:spPr>
          <a:xfrm>
            <a:off x="4709160" y="1280160"/>
            <a:ext cx="3977640" cy="2368296"/>
          </a:xfrm>
          <a:prstGeom prst="roundRect">
            <a:avLst>
              <a:gd name="adj" fmla="val 3861"/>
            </a:avLst>
          </a:prstGeom>
          <a:solidFill>
            <a:srgbClr val="F4F2EE"/>
          </a:solidFill>
          <a:ln w="12700">
            <a:solidFill>
              <a:srgbClr val="F4F2EE"/>
            </a:solidFill>
            <a:prstDash val="solid"/>
          </a:ln>
        </p:spPr>
      </p:sp>
      <p:sp>
        <p:nvSpPr>
          <p:cNvPr id="11" name="Text 9"/>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Clearing house</a:t>
            </a:r>
            <a:endParaRPr lang="en-US" sz="1600" dirty="0"/>
          </a:p>
        </p:txBody>
      </p:sp>
      <p:sp>
        <p:nvSpPr>
          <p:cNvPr id="12" name="Text 10"/>
          <p:cNvSpPr txBox="1"/>
          <p:nvPr/>
        </p:nvSpPr>
        <p:spPr>
          <a:xfrm>
            <a:off x="4892040" y="1783080"/>
            <a:ext cx="3611880" cy="172821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clearing house is a central institution through which payments are recorded and settled. The chapter describes the role when it discusses the digital money that existed before Bitcoin: early digital currencies used a central clearinghouse to settle all transactions at regular intervals, just like a traditional banking system (Antonopoulos and Harding, 2023).</a:t>
            </a:r>
            <a:endParaRPr lang="en-US" sz="1200" dirty="0"/>
          </a:p>
        </p:txBody>
      </p:sp>
      <p:sp>
        <p:nvSpPr>
          <p:cNvPr id="13" name="Text 11"/>
          <p:cNvSpPr txBox="1"/>
          <p:nvPr/>
        </p:nvSpPr>
        <p:spPr>
          <a:xfrm>
            <a:off x="4709160" y="3794760"/>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clearing house keeps one authoritative list of who owns what and processes payments against it. Because it sees all payments in order, it can reject a payment that spends money which is already spent.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Central bank replacement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mining as minting and clearing</a:t>
            </a:r>
            <a:endParaRPr lang="en-US" sz="1300" dirty="0"/>
          </a:p>
        </p:txBody>
      </p:sp>
      <p:sp>
        <p:nvSpPr>
          <p:cNvPr id="6" name="Shape 4"/>
          <p:cNvSpPr/>
          <p:nvPr/>
        </p:nvSpPr>
        <p:spPr>
          <a:xfrm>
            <a:off x="457200" y="1280160"/>
            <a:ext cx="8229600" cy="1702054"/>
          </a:xfrm>
          <a:prstGeom prst="roundRect">
            <a:avLst>
              <a:gd name="adj" fmla="val 5372"/>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106197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replacement of the central bank is the chapter's claim about what mining achieves for the system as a whole. In the words of the chapter, Bitcoin mining decentralizes the currency-issuance and clearing functions of a central bank and replaces the need for any central bank (Antonopoulos and Harding, 2023). Two functions are named: issuing the currency and clearing transactions, and mining performs both at once.</a:t>
            </a:r>
            <a:endParaRPr lang="en-US" sz="1300" dirty="0"/>
          </a:p>
        </p:txBody>
      </p:sp>
      <p:sp>
        <p:nvSpPr>
          <p:cNvPr id="9" name="Shape 7"/>
          <p:cNvSpPr/>
          <p:nvPr/>
        </p:nvSpPr>
        <p:spPr>
          <a:xfrm>
            <a:off x="457200" y="3128518"/>
            <a:ext cx="8229600" cy="1066800"/>
          </a:xfrm>
          <a:prstGeom prst="roundRect">
            <a:avLst>
              <a:gd name="adj" fmla="val 8571"/>
            </a:avLst>
          </a:prstGeom>
          <a:solidFill>
            <a:srgbClr val="F4F2EE"/>
          </a:solidFill>
          <a:ln w="12700">
            <a:solidFill>
              <a:srgbClr val="F4F2EE"/>
            </a:solidFill>
            <a:prstDash val="solid"/>
          </a:ln>
        </p:spPr>
      </p:sp>
      <p:sp>
        <p:nvSpPr>
          <p:cNvPr id="10" name="Text 8"/>
          <p:cNvSpPr txBox="1"/>
          <p:nvPr/>
        </p:nvSpPr>
        <p:spPr>
          <a:xfrm>
            <a:off x="640080" y="3247390"/>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Where you meet it</a:t>
            </a:r>
            <a:endParaRPr lang="en-US" sz="1600" dirty="0"/>
          </a:p>
        </p:txBody>
      </p:sp>
      <p:sp>
        <p:nvSpPr>
          <p:cNvPr id="11" name="Text 9"/>
          <p:cNvSpPr txBox="1"/>
          <p:nvPr/>
        </p:nvSpPr>
        <p:spPr>
          <a:xfrm>
            <a:off x="640080" y="3631438"/>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idea is the thread that connects the early sections of the chapter, where mining is introduced, with the later ones on confirmations and clearing.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Deflation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date when the subsidy reaches zero</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Deflation is an increase in the real value of the monetary unit, reflected in a decrease in the general price level of goods and services (Wikipedia contributors, 2026).</a:t>
            </a:r>
            <a:endParaRPr lang="en-US" sz="1300" dirty="0"/>
          </a:p>
        </p:txBody>
      </p:sp>
      <p:sp>
        <p:nvSpPr>
          <p:cNvPr id="9" name="Shape 7"/>
          <p:cNvSpPr/>
          <p:nvPr/>
        </p:nvSpPr>
        <p:spPr>
          <a:xfrm>
            <a:off x="457200" y="2524252"/>
            <a:ext cx="8229600" cy="702564"/>
          </a:xfrm>
          <a:prstGeom prst="roundRect">
            <a:avLst>
              <a:gd name="adj" fmla="val 13015"/>
            </a:avLst>
          </a:prstGeom>
          <a:solidFill>
            <a:srgbClr val="15191E"/>
          </a:solidFill>
          <a:ln w="12700">
            <a:solidFill>
              <a:srgbClr val="15191E"/>
            </a:solidFill>
            <a:prstDash val="solid"/>
          </a:ln>
        </p:spPr>
      </p:sp>
      <p:sp>
        <p:nvSpPr>
          <p:cNvPr id="10" name="Text 8"/>
          <p:cNvSpPr txBox="1"/>
          <p:nvPr/>
        </p:nvSpPr>
        <p:spPr>
          <a:xfrm>
            <a:off x="640080" y="2643124"/>
            <a:ext cx="7863840" cy="46482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str((datetime.datetime(2009, 1, 3, 18, 15, 5) + datetime.timedelta(seconds=6_930_000 * 600)).date())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'2140-10-08'</a:t>
            </a:r>
            <a:endParaRPr lang="en-US" sz="1000" dirty="0"/>
          </a:p>
        </p:txBody>
      </p:sp>
      <p:sp>
        <p:nvSpPr>
          <p:cNvPr id="11" name="Text 9"/>
          <p:cNvSpPr txBox="1"/>
          <p:nvPr/>
        </p:nvSpPr>
        <p:spPr>
          <a:xfrm>
            <a:off x="457200" y="324510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464560"/>
            <a:ext cx="8229600" cy="1066800"/>
          </a:xfrm>
          <a:prstGeom prst="roundRect">
            <a:avLst>
              <a:gd name="adj" fmla="val 8571"/>
            </a:avLst>
          </a:prstGeom>
          <a:solidFill>
            <a:srgbClr val="F4F2EE"/>
          </a:solidFill>
          <a:ln w="12700">
            <a:solidFill>
              <a:srgbClr val="F4F2EE"/>
            </a:solidFill>
            <a:prstDash val="solid"/>
          </a:ln>
        </p:spPr>
      </p:sp>
      <p:sp>
        <p:nvSpPr>
          <p:cNvPr id="13" name="Text 11"/>
          <p:cNvSpPr txBox="1"/>
          <p:nvPr/>
        </p:nvSpPr>
        <p:spPr>
          <a:xfrm>
            <a:off x="640080" y="358343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967480"/>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first block of the network was created on 2009-01-03 at 18:15:05 UTC, according to the time stamp 1231006505 in the block data (Blockstream, 2026).</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457200" y="960120"/>
            <a:ext cx="128016" cy="1417320"/>
          </a:xfrm>
          <a:prstGeom prst="rect">
            <a:avLst/>
          </a:prstGeom>
          <a:solidFill>
            <a:srgbClr val="F7931A"/>
          </a:solidFill>
          <a:ln w="12700">
            <a:solidFill>
              <a:srgbClr val="F7931A"/>
            </a:solidFill>
            <a:prstDash val="solid"/>
          </a:ln>
        </p:spPr>
      </p:sp>
      <p:sp>
        <p:nvSpPr>
          <p:cNvPr id="3" name="Text 1"/>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Network</a:t>
            </a:r>
            <a:endParaRPr lang="en-US" sz="3200" dirty="0"/>
          </a:p>
        </p:txBody>
      </p:sp>
      <p:sp>
        <p:nvSpPr>
          <p:cNvPr id="4" name="Text 2"/>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C9D1DA"/>
                </a:solidFill>
                <a:latin typeface="Calibri" pitchFamily="34" charset="0"/>
                <a:ea typeface="Calibri" pitchFamily="34" charset="-122"/>
                <a:cs typeface="Calibri" pitchFamily="34" charset="-120"/>
              </a:rPr>
              <a:t>The Network branch is about the community of computers that runs Bitcoin and the way it agrees on a single history without a leader.</a:t>
            </a:r>
            <a:endParaRPr lang="en-US" sz="1500" dirty="0"/>
          </a:p>
        </p:txBody>
      </p:sp>
      <p:sp>
        <p:nvSpPr>
          <p:cNvPr id="5" name="Shape 3"/>
          <p:cNvSpPr/>
          <p:nvPr/>
        </p:nvSpPr>
        <p:spPr>
          <a:xfrm>
            <a:off x="457200" y="2788920"/>
            <a:ext cx="2645664" cy="1371600"/>
          </a:xfrm>
          <a:prstGeom prst="roundRect">
            <a:avLst>
              <a:gd name="adj" fmla="val 5333"/>
            </a:avLst>
          </a:prstGeom>
          <a:solidFill>
            <a:srgbClr val="3A4250"/>
          </a:solidFill>
          <a:ln w="12700">
            <a:solidFill>
              <a:srgbClr val="F7931A"/>
            </a:solidFill>
            <a:prstDash val="solid"/>
          </a:ln>
        </p:spPr>
      </p:sp>
      <p:sp>
        <p:nvSpPr>
          <p:cNvPr id="6" name="Text 4"/>
          <p:cNvSpPr txBox="1"/>
          <p:nvPr/>
        </p:nvSpPr>
        <p:spPr>
          <a:xfrm>
            <a:off x="530352" y="2834640"/>
            <a:ext cx="2499360"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Consensus</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5 concepts</a:t>
            </a:r>
            <a:endParaRPr lang="en-US" sz="1200" dirty="0"/>
          </a:p>
        </p:txBody>
      </p:sp>
      <p:sp>
        <p:nvSpPr>
          <p:cNvPr id="7" name="Shape 5"/>
          <p:cNvSpPr/>
          <p:nvPr/>
        </p:nvSpPr>
        <p:spPr>
          <a:xfrm>
            <a:off x="3249168" y="2788920"/>
            <a:ext cx="2645664" cy="1371600"/>
          </a:xfrm>
          <a:prstGeom prst="roundRect">
            <a:avLst>
              <a:gd name="adj" fmla="val 5333"/>
            </a:avLst>
          </a:prstGeom>
          <a:solidFill>
            <a:srgbClr val="3A4250"/>
          </a:solidFill>
          <a:ln w="12700">
            <a:solidFill>
              <a:srgbClr val="F7931A"/>
            </a:solidFill>
            <a:prstDash val="solid"/>
          </a:ln>
        </p:spPr>
      </p:sp>
      <p:sp>
        <p:nvSpPr>
          <p:cNvPr id="8" name="Text 6"/>
          <p:cNvSpPr txBox="1"/>
          <p:nvPr/>
        </p:nvSpPr>
        <p:spPr>
          <a:xfrm>
            <a:off x="3322320" y="2834640"/>
            <a:ext cx="2499360"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History</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5 concepts</a:t>
            </a:r>
            <a:endParaRPr lang="en-US" sz="1200" dirty="0"/>
          </a:p>
        </p:txBody>
      </p:sp>
      <p:sp>
        <p:nvSpPr>
          <p:cNvPr id="9" name="Shape 7"/>
          <p:cNvSpPr/>
          <p:nvPr/>
        </p:nvSpPr>
        <p:spPr>
          <a:xfrm>
            <a:off x="6041136" y="2788920"/>
            <a:ext cx="2645664" cy="1371600"/>
          </a:xfrm>
          <a:prstGeom prst="roundRect">
            <a:avLst>
              <a:gd name="adj" fmla="val 5333"/>
            </a:avLst>
          </a:prstGeom>
          <a:solidFill>
            <a:srgbClr val="3A4250"/>
          </a:solidFill>
          <a:ln w="12700">
            <a:solidFill>
              <a:srgbClr val="F7931A"/>
            </a:solidFill>
            <a:prstDash val="solid"/>
          </a:ln>
        </p:spPr>
      </p:sp>
      <p:sp>
        <p:nvSpPr>
          <p:cNvPr id="10" name="Text 8"/>
          <p:cNvSpPr txBox="1"/>
          <p:nvPr/>
        </p:nvSpPr>
        <p:spPr>
          <a:xfrm>
            <a:off x="6114288" y="2834640"/>
            <a:ext cx="2499360"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Standards and openness</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3 concepts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Consensus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Network - 5 concepts</a:t>
            </a:r>
            <a:endParaRPr lang="en-US" sz="1300" dirty="0"/>
          </a:p>
        </p:txBody>
      </p:sp>
      <p:sp>
        <p:nvSpPr>
          <p:cNvPr id="6" name="Shape 4"/>
          <p:cNvSpPr/>
          <p:nvPr/>
        </p:nvSpPr>
        <p:spPr>
          <a:xfrm>
            <a:off x="457200" y="1280160"/>
            <a:ext cx="8229600" cy="1903476"/>
          </a:xfrm>
          <a:prstGeom prst="roundRect">
            <a:avLst>
              <a:gd name="adj" fmla="val 480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26339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Consensus is the state in which the participants of the network agree on the same record of transactions. The chapter says that the proof-of-work algorithm is a mechanism for reaching global decentralized consensus on the valid blockchain, and that a key innovation was to use a distributed computation system to conduct a global lottery every 10 minutes on average, allowing the decentralized network to arrive at consensus about the state of transactions (Antonopoulos and Harding, 2023).</a:t>
            </a:r>
            <a:endParaRPr lang="en-US" sz="1300" dirty="0"/>
          </a:p>
        </p:txBody>
      </p:sp>
      <p:sp>
        <p:nvSpPr>
          <p:cNvPr id="9" name="Shape 7"/>
          <p:cNvSpPr/>
          <p:nvPr/>
        </p:nvSpPr>
        <p:spPr>
          <a:xfrm>
            <a:off x="457200" y="3329940"/>
            <a:ext cx="2645664" cy="364998"/>
          </a:xfrm>
          <a:prstGeom prst="roundRect">
            <a:avLst>
              <a:gd name="adj" fmla="val 20042"/>
            </a:avLst>
          </a:prstGeom>
          <a:solidFill>
            <a:srgbClr val="F4F2EE"/>
          </a:solidFill>
          <a:ln w="12700">
            <a:solidFill>
              <a:srgbClr val="D9D4CC"/>
            </a:solidFill>
            <a:prstDash val="solid"/>
          </a:ln>
        </p:spPr>
      </p:sp>
      <p:sp>
        <p:nvSpPr>
          <p:cNvPr id="10" name="Text 8"/>
          <p:cNvSpPr txBox="1"/>
          <p:nvPr/>
        </p:nvSpPr>
        <p:spPr>
          <a:xfrm>
            <a:off x="548640" y="3384804"/>
            <a:ext cx="2462784" cy="2552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Proof of work</a:t>
            </a:r>
            <a:endParaRPr lang="en-US" sz="1250" dirty="0"/>
          </a:p>
        </p:txBody>
      </p:sp>
      <p:sp>
        <p:nvSpPr>
          <p:cNvPr id="11" name="Shape 9"/>
          <p:cNvSpPr/>
          <p:nvPr/>
        </p:nvSpPr>
        <p:spPr>
          <a:xfrm>
            <a:off x="3249168" y="3329940"/>
            <a:ext cx="2645664" cy="364998"/>
          </a:xfrm>
          <a:prstGeom prst="roundRect">
            <a:avLst>
              <a:gd name="adj" fmla="val 20042"/>
            </a:avLst>
          </a:prstGeom>
          <a:solidFill>
            <a:srgbClr val="F4F2EE"/>
          </a:solidFill>
          <a:ln w="12700">
            <a:solidFill>
              <a:srgbClr val="D9D4CC"/>
            </a:solidFill>
            <a:prstDash val="solid"/>
          </a:ln>
        </p:spPr>
      </p:sp>
      <p:sp>
        <p:nvSpPr>
          <p:cNvPr id="12" name="Text 10"/>
          <p:cNvSpPr txBox="1"/>
          <p:nvPr/>
        </p:nvSpPr>
        <p:spPr>
          <a:xfrm>
            <a:off x="3340608" y="3384804"/>
            <a:ext cx="2462784" cy="2552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Double-spend</a:t>
            </a:r>
            <a:endParaRPr lang="en-US" sz="1250" dirty="0"/>
          </a:p>
        </p:txBody>
      </p:sp>
      <p:sp>
        <p:nvSpPr>
          <p:cNvPr id="13" name="Shape 11"/>
          <p:cNvSpPr/>
          <p:nvPr/>
        </p:nvSpPr>
        <p:spPr>
          <a:xfrm>
            <a:off x="6041136" y="3329940"/>
            <a:ext cx="2645664" cy="364998"/>
          </a:xfrm>
          <a:prstGeom prst="roundRect">
            <a:avLst>
              <a:gd name="adj" fmla="val 20042"/>
            </a:avLst>
          </a:prstGeom>
          <a:solidFill>
            <a:srgbClr val="F4F2EE"/>
          </a:solidFill>
          <a:ln w="12700">
            <a:solidFill>
              <a:srgbClr val="D9D4CC"/>
            </a:solidFill>
            <a:prstDash val="solid"/>
          </a:ln>
        </p:spPr>
      </p:sp>
      <p:sp>
        <p:nvSpPr>
          <p:cNvPr id="14" name="Text 12"/>
          <p:cNvSpPr txBox="1"/>
          <p:nvPr/>
        </p:nvSpPr>
        <p:spPr>
          <a:xfrm>
            <a:off x="6132576" y="3384804"/>
            <a:ext cx="2462784" cy="2552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Mining</a:t>
            </a:r>
            <a:endParaRPr lang="en-US" sz="1250" dirty="0"/>
          </a:p>
        </p:txBody>
      </p:sp>
      <p:sp>
        <p:nvSpPr>
          <p:cNvPr id="15" name="Shape 13"/>
          <p:cNvSpPr/>
          <p:nvPr/>
        </p:nvSpPr>
        <p:spPr>
          <a:xfrm>
            <a:off x="457200" y="3822954"/>
            <a:ext cx="2645664" cy="364998"/>
          </a:xfrm>
          <a:prstGeom prst="roundRect">
            <a:avLst>
              <a:gd name="adj" fmla="val 20042"/>
            </a:avLst>
          </a:prstGeom>
          <a:solidFill>
            <a:srgbClr val="F4F2EE"/>
          </a:solidFill>
          <a:ln w="12700">
            <a:solidFill>
              <a:srgbClr val="D9D4CC"/>
            </a:solidFill>
            <a:prstDash val="solid"/>
          </a:ln>
        </p:spPr>
      </p:sp>
      <p:sp>
        <p:nvSpPr>
          <p:cNvPr id="16" name="Text 14"/>
          <p:cNvSpPr txBox="1"/>
          <p:nvPr/>
        </p:nvSpPr>
        <p:spPr>
          <a:xfrm>
            <a:off x="548640" y="3877818"/>
            <a:ext cx="2462784" cy="2552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Difficulty adjustment</a:t>
            </a:r>
            <a:endParaRPr lang="en-US" sz="1250" dirty="0"/>
          </a:p>
        </p:txBody>
      </p:sp>
      <p:sp>
        <p:nvSpPr>
          <p:cNvPr id="17" name="Shape 15"/>
          <p:cNvSpPr/>
          <p:nvPr/>
        </p:nvSpPr>
        <p:spPr>
          <a:xfrm>
            <a:off x="3249168" y="3822954"/>
            <a:ext cx="2645664" cy="364998"/>
          </a:xfrm>
          <a:prstGeom prst="roundRect">
            <a:avLst>
              <a:gd name="adj" fmla="val 20042"/>
            </a:avLst>
          </a:prstGeom>
          <a:solidFill>
            <a:srgbClr val="F4F2EE"/>
          </a:solidFill>
          <a:ln w="12700">
            <a:solidFill>
              <a:srgbClr val="D9D4CC"/>
            </a:solidFill>
            <a:prstDash val="solid"/>
          </a:ln>
        </p:spPr>
      </p:sp>
      <p:sp>
        <p:nvSpPr>
          <p:cNvPr id="18" name="Text 16"/>
          <p:cNvSpPr txBox="1"/>
          <p:nvPr/>
        </p:nvSpPr>
        <p:spPr>
          <a:xfrm>
            <a:off x="3340608" y="3877818"/>
            <a:ext cx="2462784" cy="2552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Byzantine Generals' Problem</a:t>
            </a:r>
            <a:endParaRPr lang="en-US" sz="1250" dirty="0"/>
          </a:p>
        </p:txBody>
      </p:sp>
      <p:sp>
        <p:nvSpPr>
          <p:cNvPr id="19" name="Text 17"/>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section contains five concepts. Proof of work is the costly computation that makes a block hard to produce and easy to check.</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Proof of work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toy search for a hash starting with 0000</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Proof of work is a way of showing that a certain amount of computation has been spent, in a form that anyone can check cheaply. In Bitcoin it is the method by which the network decides which block comes next.</a:t>
            </a:r>
            <a:endParaRPr lang="en-US" sz="1300" dirty="0"/>
          </a:p>
        </p:txBody>
      </p:sp>
      <p:sp>
        <p:nvSpPr>
          <p:cNvPr id="9" name="Shape 7"/>
          <p:cNvSpPr/>
          <p:nvPr/>
        </p:nvSpPr>
        <p:spPr>
          <a:xfrm>
            <a:off x="457200" y="2725674"/>
            <a:ext cx="8229600" cy="702564"/>
          </a:xfrm>
          <a:prstGeom prst="roundRect">
            <a:avLst>
              <a:gd name="adj" fmla="val 13015"/>
            </a:avLst>
          </a:prstGeom>
          <a:solidFill>
            <a:srgbClr val="15191E"/>
          </a:solidFill>
          <a:ln w="12700">
            <a:solidFill>
              <a:srgbClr val="15191E"/>
            </a:solidFill>
            <a:prstDash val="solid"/>
          </a:ln>
        </p:spPr>
      </p:sp>
      <p:sp>
        <p:nvSpPr>
          <p:cNvPr id="10" name="Text 8"/>
          <p:cNvSpPr txBox="1"/>
          <p:nvPr/>
        </p:nvSpPr>
        <p:spPr>
          <a:xfrm>
            <a:off x="640080" y="2844546"/>
            <a:ext cx="7863840" cy="46482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next(n for n in range(10**6) if hashlib.sha256(f'SEN0401-{n}'.encode()).hexdigest().startswith('0000'))</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15083</a:t>
            </a:r>
            <a:endParaRPr lang="en-US" sz="1000" dirty="0"/>
          </a:p>
        </p:txBody>
      </p:sp>
      <p:sp>
        <p:nvSpPr>
          <p:cNvPr id="11" name="Text 9"/>
          <p:cNvSpPr txBox="1"/>
          <p:nvPr/>
        </p:nvSpPr>
        <p:spPr>
          <a:xfrm>
            <a:off x="457200" y="344652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665982"/>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784854"/>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168902"/>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example is a miniature of the real process.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Double-spend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spending the same coin twice</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double-spend is the act of spending the same unit of digital money more than once. The chapter lists it as the second of three basic questions for anyone accepting digital money: can I trust that the digital money can only be spent once (Antonopoulos and Harding, 2023).</a:t>
            </a:r>
            <a:endParaRPr lang="en-US" sz="1300" dirty="0"/>
          </a:p>
        </p:txBody>
      </p:sp>
      <p:sp>
        <p:nvSpPr>
          <p:cNvPr id="9" name="Shape 7"/>
          <p:cNvSpPr/>
          <p:nvPr/>
        </p:nvSpPr>
        <p:spPr>
          <a:xfrm>
            <a:off x="457200" y="2725674"/>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844546"/>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[(c not in s) and not s.add(c) for s in [set()] for c in ('coin7', 'coin7')]</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[True, False]</a:t>
            </a:r>
            <a:endParaRPr lang="en-US" sz="1100" dirty="0"/>
          </a:p>
        </p:txBody>
      </p:sp>
      <p:sp>
        <p:nvSpPr>
          <p:cNvPr id="11" name="Text 9"/>
          <p:cNvSpPr txBox="1"/>
          <p:nvPr/>
        </p:nvSpPr>
        <p:spPr>
          <a:xfrm>
            <a:off x="457200" y="332257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542030"/>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66090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044950"/>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defence is a public, ordered record.</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Mining and Difficulty adjustment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2368296"/>
          </a:xfrm>
          <a:prstGeom prst="roundRect">
            <a:avLst>
              <a:gd name="adj" fmla="val 3861"/>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Mining</a:t>
            </a:r>
            <a:endParaRPr lang="en-US" sz="1600" dirty="0"/>
          </a:p>
        </p:txBody>
      </p:sp>
      <p:sp>
        <p:nvSpPr>
          <p:cNvPr id="8" name="Text 6"/>
          <p:cNvSpPr txBox="1"/>
          <p:nvPr/>
        </p:nvSpPr>
        <p:spPr>
          <a:xfrm>
            <a:off x="640080" y="1783080"/>
            <a:ext cx="3611880" cy="172821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Mining is the process by which new blocks are produced and new bitcoins are created. The chapter describes it as repeatedly performing a computational task that references a list of recent Bitcoin transactions, and it says that any participant in the network may operate as a miner, using their computing devices to help secure transactions (Antonopoulos and Harding, 2023).</a:t>
            </a:r>
            <a:endParaRPr lang="en-US" sz="1200" dirty="0"/>
          </a:p>
        </p:txBody>
      </p:sp>
      <p:sp>
        <p:nvSpPr>
          <p:cNvPr id="9" name="Shape 7"/>
          <p:cNvSpPr/>
          <p:nvPr/>
        </p:nvSpPr>
        <p:spPr>
          <a:xfrm>
            <a:off x="457200" y="3758184"/>
            <a:ext cx="3977640" cy="563118"/>
          </a:xfrm>
          <a:prstGeom prst="roundRect">
            <a:avLst>
              <a:gd name="adj" fmla="val 16238"/>
            </a:avLst>
          </a:prstGeom>
          <a:solidFill>
            <a:srgbClr val="15191E"/>
          </a:solidFill>
          <a:ln w="12700">
            <a:solidFill>
              <a:srgbClr val="15191E"/>
            </a:solidFill>
            <a:prstDash val="solid"/>
          </a:ln>
        </p:spPr>
      </p:sp>
      <p:sp>
        <p:nvSpPr>
          <p:cNvPr id="10" name="Text 8"/>
          <p:cNvSpPr txBox="1"/>
          <p:nvPr/>
        </p:nvSpPr>
        <p:spPr>
          <a:xfrm>
            <a:off x="640080" y="3877056"/>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24 * 60 // 10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144</a:t>
            </a:r>
            <a:endParaRPr lang="en-US" sz="1050" dirty="0"/>
          </a:p>
        </p:txBody>
      </p:sp>
      <p:sp>
        <p:nvSpPr>
          <p:cNvPr id="11" name="Text 9"/>
          <p:cNvSpPr txBox="1"/>
          <p:nvPr/>
        </p:nvSpPr>
        <p:spPr>
          <a:xfrm>
            <a:off x="457200" y="4339590"/>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709160" y="1280160"/>
            <a:ext cx="3977640" cy="1066800"/>
          </a:xfrm>
          <a:prstGeom prst="roundRect">
            <a:avLst>
              <a:gd name="adj" fmla="val 8571"/>
            </a:avLst>
          </a:prstGeom>
          <a:solidFill>
            <a:srgbClr val="F4F2EE"/>
          </a:solidFill>
          <a:ln w="12700">
            <a:solidFill>
              <a:srgbClr val="F4F2EE"/>
            </a:solidFill>
            <a:prstDash val="solid"/>
          </a:ln>
        </p:spPr>
      </p:sp>
      <p:sp>
        <p:nvSpPr>
          <p:cNvPr id="13" name="Text 11"/>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Difficulty adjustment</a:t>
            </a:r>
            <a:endParaRPr lang="en-US" sz="1600" dirty="0"/>
          </a:p>
        </p:txBody>
      </p:sp>
      <p:sp>
        <p:nvSpPr>
          <p:cNvPr id="14" name="Text 12"/>
          <p:cNvSpPr txBox="1"/>
          <p:nvPr/>
        </p:nvSpPr>
        <p:spPr>
          <a:xfrm>
            <a:off x="4892040" y="1783080"/>
            <a:ext cx="361188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difficulty adjustment is the rule that keeps the pace of the network constant.</a:t>
            </a:r>
            <a:endParaRPr lang="en-US" sz="1200" dirty="0"/>
          </a:p>
        </p:txBody>
      </p:sp>
      <p:sp>
        <p:nvSpPr>
          <p:cNvPr id="15" name="Shape 13"/>
          <p:cNvSpPr/>
          <p:nvPr/>
        </p:nvSpPr>
        <p:spPr>
          <a:xfrm>
            <a:off x="4709160" y="2456688"/>
            <a:ext cx="3977640" cy="563118"/>
          </a:xfrm>
          <a:prstGeom prst="roundRect">
            <a:avLst>
              <a:gd name="adj" fmla="val 16238"/>
            </a:avLst>
          </a:prstGeom>
          <a:solidFill>
            <a:srgbClr val="15191E"/>
          </a:solidFill>
          <a:ln w="12700">
            <a:solidFill>
              <a:srgbClr val="15191E"/>
            </a:solidFill>
            <a:prstDash val="solid"/>
          </a:ln>
        </p:spPr>
      </p:sp>
      <p:sp>
        <p:nvSpPr>
          <p:cNvPr id="16" name="Text 14"/>
          <p:cNvSpPr txBox="1"/>
          <p:nvPr/>
        </p:nvSpPr>
        <p:spPr>
          <a:xfrm>
            <a:off x="4892040" y="2575560"/>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14 * 24 * 60 * 60 // (10 * 60)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2016</a:t>
            </a:r>
            <a:endParaRPr lang="en-US" sz="1050" dirty="0"/>
          </a:p>
        </p:txBody>
      </p:sp>
      <p:sp>
        <p:nvSpPr>
          <p:cNvPr id="17" name="Text 15"/>
          <p:cNvSpPr txBox="1"/>
          <p:nvPr/>
        </p:nvSpPr>
        <p:spPr>
          <a:xfrm>
            <a:off x="4709160" y="3038094"/>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8" name="Text 16"/>
          <p:cNvSpPr txBox="1"/>
          <p:nvPr/>
        </p:nvSpPr>
        <p:spPr>
          <a:xfrm>
            <a:off x="4709160" y="3294126"/>
            <a:ext cx="3977640" cy="852170"/>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At the end of every period of 2016 blocks, the nodes compare the time that the period actually took with the intended two weeks and scale the target accordingly: the new target is the old target multiplied by the actual timespan and divided by the intended timespan.</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Byzantine Generals' Problem</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generals agreeing to attack by messenger</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Byzantine Generals' Problem is a classical problem in distributed computing. The chapter describes it briefly as the problem of trying to get multiple participants without a leader to agree on a course of action by exchanging information over an unreliable and potentially compromised network (Antonopoulos and Harding, 2023).</a:t>
            </a:r>
            <a:endParaRPr lang="en-US" sz="1300" dirty="0"/>
          </a:p>
        </p:txBody>
      </p:sp>
      <p:sp>
        <p:nvSpPr>
          <p:cNvPr id="9" name="Shape 7"/>
          <p:cNvSpPr/>
          <p:nvPr/>
        </p:nvSpPr>
        <p:spPr>
          <a:xfrm>
            <a:off x="457200" y="2927096"/>
            <a:ext cx="8229600" cy="1252728"/>
          </a:xfrm>
          <a:prstGeom prst="roundRect">
            <a:avLst>
              <a:gd name="adj" fmla="val 7299"/>
            </a:avLst>
          </a:prstGeom>
          <a:solidFill>
            <a:srgbClr val="F4F2EE"/>
          </a:solidFill>
          <a:ln w="12700">
            <a:solidFill>
              <a:srgbClr val="F4F2EE"/>
            </a:solidFill>
            <a:prstDash val="solid"/>
          </a:ln>
        </p:spPr>
      </p:sp>
      <p:sp>
        <p:nvSpPr>
          <p:cNvPr id="10" name="Text 8"/>
          <p:cNvSpPr txBox="1"/>
          <p:nvPr/>
        </p:nvSpPr>
        <p:spPr>
          <a:xfrm>
            <a:off x="640080" y="3045968"/>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Where you meet it</a:t>
            </a:r>
            <a:endParaRPr lang="en-US" sz="1600" dirty="0"/>
          </a:p>
        </p:txBody>
      </p:sp>
      <p:sp>
        <p:nvSpPr>
          <p:cNvPr id="11" name="Text 9"/>
          <p:cNvSpPr txBox="1"/>
          <p:nvPr/>
        </p:nvSpPr>
        <p:spPr>
          <a:xfrm>
            <a:off x="640080" y="3430016"/>
            <a:ext cx="786384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problem was stated in 1982 by Lamport, Shostak and Pease, who wrote that reliable computer systems must handle malfunctioning components that give conflicting information to different parts of the system (Lamport et al., 1982).</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History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Network - 5 concepts</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History section tells where Bitcoin came from. The chapter describes the system as first described in 2008 with the publication of a paper under the alias Satoshi Nakamoto, as started in 2009 on a reference implementation, and as left in April 2011 to a group of volunteers when its inventor withdrew from the public (Antonopoulos and Harding, 2023).</a:t>
            </a:r>
            <a:endParaRPr lang="en-US" sz="1300" dirty="0"/>
          </a:p>
        </p:txBody>
      </p:sp>
      <p:sp>
        <p:nvSpPr>
          <p:cNvPr id="9" name="Shape 7"/>
          <p:cNvSpPr/>
          <p:nvPr/>
        </p:nvSpPr>
        <p:spPr>
          <a:xfrm>
            <a:off x="457200" y="2927096"/>
            <a:ext cx="2645664" cy="566420"/>
          </a:xfrm>
          <a:prstGeom prst="roundRect">
            <a:avLst>
              <a:gd name="adj" fmla="val 12915"/>
            </a:avLst>
          </a:prstGeom>
          <a:solidFill>
            <a:srgbClr val="F4F2EE"/>
          </a:solidFill>
          <a:ln w="12700">
            <a:solidFill>
              <a:srgbClr val="D9D4CC"/>
            </a:solidFill>
            <a:prstDash val="solid"/>
          </a:ln>
        </p:spPr>
      </p:sp>
      <p:sp>
        <p:nvSpPr>
          <p:cNvPr id="10" name="Text 8"/>
          <p:cNvSpPr txBox="1"/>
          <p:nvPr/>
        </p:nvSpPr>
        <p:spPr>
          <a:xfrm>
            <a:off x="548640" y="2981960"/>
            <a:ext cx="2462784" cy="45669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Whitepaper</a:t>
            </a:r>
            <a:endParaRPr lang="en-US" sz="1250" dirty="0"/>
          </a:p>
        </p:txBody>
      </p:sp>
      <p:sp>
        <p:nvSpPr>
          <p:cNvPr id="11" name="Shape 9"/>
          <p:cNvSpPr/>
          <p:nvPr/>
        </p:nvSpPr>
        <p:spPr>
          <a:xfrm>
            <a:off x="3249168" y="2927096"/>
            <a:ext cx="2645664" cy="566420"/>
          </a:xfrm>
          <a:prstGeom prst="roundRect">
            <a:avLst>
              <a:gd name="adj" fmla="val 12915"/>
            </a:avLst>
          </a:prstGeom>
          <a:solidFill>
            <a:srgbClr val="F4F2EE"/>
          </a:solidFill>
          <a:ln w="12700">
            <a:solidFill>
              <a:srgbClr val="D9D4CC"/>
            </a:solidFill>
            <a:prstDash val="solid"/>
          </a:ln>
        </p:spPr>
      </p:sp>
      <p:sp>
        <p:nvSpPr>
          <p:cNvPr id="12" name="Text 10"/>
          <p:cNvSpPr txBox="1"/>
          <p:nvPr/>
        </p:nvSpPr>
        <p:spPr>
          <a:xfrm>
            <a:off x="3340608" y="2981960"/>
            <a:ext cx="2462784" cy="45669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Reference implementation</a:t>
            </a:r>
            <a:endParaRPr lang="en-US" sz="1250" dirty="0"/>
          </a:p>
        </p:txBody>
      </p:sp>
      <p:sp>
        <p:nvSpPr>
          <p:cNvPr id="13" name="Shape 11"/>
          <p:cNvSpPr/>
          <p:nvPr/>
        </p:nvSpPr>
        <p:spPr>
          <a:xfrm>
            <a:off x="6041136" y="2927096"/>
            <a:ext cx="2645664" cy="566420"/>
          </a:xfrm>
          <a:prstGeom prst="roundRect">
            <a:avLst>
              <a:gd name="adj" fmla="val 12915"/>
            </a:avLst>
          </a:prstGeom>
          <a:solidFill>
            <a:srgbClr val="F4F2EE"/>
          </a:solidFill>
          <a:ln w="12700">
            <a:solidFill>
              <a:srgbClr val="D9D4CC"/>
            </a:solidFill>
            <a:prstDash val="solid"/>
          </a:ln>
        </p:spPr>
      </p:sp>
      <p:sp>
        <p:nvSpPr>
          <p:cNvPr id="14" name="Text 12"/>
          <p:cNvSpPr txBox="1"/>
          <p:nvPr/>
        </p:nvSpPr>
        <p:spPr>
          <a:xfrm>
            <a:off x="6132576" y="2981960"/>
            <a:ext cx="2462784" cy="45669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Satoshi Nakamoto</a:t>
            </a:r>
            <a:endParaRPr lang="en-US" sz="1250" dirty="0"/>
          </a:p>
        </p:txBody>
      </p:sp>
      <p:sp>
        <p:nvSpPr>
          <p:cNvPr id="15" name="Shape 13"/>
          <p:cNvSpPr/>
          <p:nvPr/>
        </p:nvSpPr>
        <p:spPr>
          <a:xfrm>
            <a:off x="457200" y="3621532"/>
            <a:ext cx="2645664" cy="566420"/>
          </a:xfrm>
          <a:prstGeom prst="roundRect">
            <a:avLst>
              <a:gd name="adj" fmla="val 12915"/>
            </a:avLst>
          </a:prstGeom>
          <a:solidFill>
            <a:srgbClr val="F4F2EE"/>
          </a:solidFill>
          <a:ln w="12700">
            <a:solidFill>
              <a:srgbClr val="D9D4CC"/>
            </a:solidFill>
            <a:prstDash val="solid"/>
          </a:ln>
        </p:spPr>
      </p:sp>
      <p:sp>
        <p:nvSpPr>
          <p:cNvPr id="16" name="Text 14"/>
          <p:cNvSpPr txBox="1"/>
          <p:nvPr/>
        </p:nvSpPr>
        <p:spPr>
          <a:xfrm>
            <a:off x="548640" y="3676396"/>
            <a:ext cx="2462784" cy="45669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Hashcash</a:t>
            </a:r>
            <a:endParaRPr lang="en-US" sz="1250" dirty="0"/>
          </a:p>
        </p:txBody>
      </p:sp>
      <p:sp>
        <p:nvSpPr>
          <p:cNvPr id="17" name="Shape 15"/>
          <p:cNvSpPr/>
          <p:nvPr/>
        </p:nvSpPr>
        <p:spPr>
          <a:xfrm>
            <a:off x="3249168" y="3621532"/>
            <a:ext cx="2645664" cy="566420"/>
          </a:xfrm>
          <a:prstGeom prst="roundRect">
            <a:avLst>
              <a:gd name="adj" fmla="val 12915"/>
            </a:avLst>
          </a:prstGeom>
          <a:solidFill>
            <a:srgbClr val="F4F2EE"/>
          </a:solidFill>
          <a:ln w="12700">
            <a:solidFill>
              <a:srgbClr val="D9D4CC"/>
            </a:solidFill>
            <a:prstDash val="solid"/>
          </a:ln>
        </p:spPr>
      </p:sp>
      <p:sp>
        <p:nvSpPr>
          <p:cNvPr id="18" name="Text 16"/>
          <p:cNvSpPr txBox="1"/>
          <p:nvPr/>
        </p:nvSpPr>
        <p:spPr>
          <a:xfrm>
            <a:off x="3340608" y="3676396"/>
            <a:ext cx="2462784" cy="45669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Digital currencies before Bitcoin</a:t>
            </a:r>
            <a:endParaRPr lang="en-US" sz="1250" dirty="0"/>
          </a:p>
        </p:txBody>
      </p:sp>
      <p:sp>
        <p:nvSpPr>
          <p:cNvPr id="19" name="Text 17"/>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five concepts of the section run from the past to the present. Prior digital currencies and Hashcash describe what existed before. The whitepaper and its author describe the proposal.</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Whitepaper and Reference implementation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996440"/>
          </a:xfrm>
          <a:prstGeom prst="roundRect">
            <a:avLst>
              <a:gd name="adj" fmla="val 4580"/>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Whitepaper</a:t>
            </a:r>
            <a:endParaRPr lang="en-US" sz="1600" dirty="0"/>
          </a:p>
        </p:txBody>
      </p:sp>
      <p:sp>
        <p:nvSpPr>
          <p:cNvPr id="8" name="Text 6"/>
          <p:cNvSpPr txBox="1"/>
          <p:nvPr/>
        </p:nvSpPr>
        <p:spPr>
          <a:xfrm>
            <a:off x="640080" y="1783080"/>
            <a:ext cx="3611880" cy="13563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whitepaper is the paper in which Bitcoin was first described. The chapter says that Bitcoin was first described in 2008 with the publication of a paper titled Bitcoin: A Peer-to-Peer Electronic Cash System, written under the alias of Satoshi Nakamoto (Antonopoulos and Harding, 2023).</a:t>
            </a:r>
            <a:endParaRPr lang="en-US" sz="1200" dirty="0"/>
          </a:p>
        </p:txBody>
      </p:sp>
      <p:sp>
        <p:nvSpPr>
          <p:cNvPr id="9" name="Text 7"/>
          <p:cNvSpPr txBox="1"/>
          <p:nvPr/>
        </p:nvSpPr>
        <p:spPr>
          <a:xfrm>
            <a:off x="457200" y="3422904"/>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title already states the proposal: a system for electronic cash in which the parties deal with each other directly, as peers. The paper's argument proceeds in order.</a:t>
            </a:r>
            <a:endParaRPr lang="en-US" sz="1100" dirty="0"/>
          </a:p>
        </p:txBody>
      </p:sp>
      <p:sp>
        <p:nvSpPr>
          <p:cNvPr id="10" name="Shape 8"/>
          <p:cNvSpPr/>
          <p:nvPr/>
        </p:nvSpPr>
        <p:spPr>
          <a:xfrm>
            <a:off x="4709160" y="1280160"/>
            <a:ext cx="3977640" cy="2182368"/>
          </a:xfrm>
          <a:prstGeom prst="roundRect">
            <a:avLst>
              <a:gd name="adj" fmla="val 4190"/>
            </a:avLst>
          </a:prstGeom>
          <a:solidFill>
            <a:srgbClr val="F4F2EE"/>
          </a:solidFill>
          <a:ln w="12700">
            <a:solidFill>
              <a:srgbClr val="F4F2EE"/>
            </a:solidFill>
            <a:prstDash val="solid"/>
          </a:ln>
        </p:spPr>
      </p:sp>
      <p:sp>
        <p:nvSpPr>
          <p:cNvPr id="11" name="Text 9"/>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Reference implementation</a:t>
            </a:r>
            <a:endParaRPr lang="en-US" sz="1600" dirty="0"/>
          </a:p>
        </p:txBody>
      </p:sp>
      <p:sp>
        <p:nvSpPr>
          <p:cNvPr id="12" name="Text 10"/>
          <p:cNvSpPr txBox="1"/>
          <p:nvPr/>
        </p:nvSpPr>
        <p:spPr>
          <a:xfrm>
            <a:off x="4892040" y="1783080"/>
            <a:ext cx="3611880" cy="154228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reference implementation is a program that serves as the standard against which other programs are compared. For Bitcoin it is the software that implements the protocol and that includes a wallet, known as Bitcoin Core, which the chapter says is derived from the original implementation written by Satoshi Nakamoto (Antonopoulos and Harding, 2023).</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Satoshi Nakamoto</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author of the whitepaper</a:t>
            </a:r>
            <a:endParaRPr lang="en-US" sz="1300" dirty="0"/>
          </a:p>
        </p:txBody>
      </p:sp>
      <p:sp>
        <p:nvSpPr>
          <p:cNvPr id="6" name="Shape 4"/>
          <p:cNvSpPr/>
          <p:nvPr/>
        </p:nvSpPr>
        <p:spPr>
          <a:xfrm>
            <a:off x="457200" y="1280160"/>
            <a:ext cx="8229600" cy="1702054"/>
          </a:xfrm>
          <a:prstGeom prst="roundRect">
            <a:avLst>
              <a:gd name="adj" fmla="val 5372"/>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106197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Satoshi Nakamoto is the name used by the person or people who designed Bitcoin and created its original reference implementation. The glossary of the book adds that they devised the first blockchain database, that they were the first to solve the double-spending problem for digital currency, and that their real identity remains unknown (Antonopoulos and Harding, 2023). The chapter states that the whitepaper was written under the alias of Satoshi Nakamoto.</a:t>
            </a:r>
            <a:endParaRPr lang="en-US" sz="1300" dirty="0"/>
          </a:p>
        </p:txBody>
      </p:sp>
      <p:sp>
        <p:nvSpPr>
          <p:cNvPr id="9" name="Shape 7"/>
          <p:cNvSpPr/>
          <p:nvPr/>
        </p:nvSpPr>
        <p:spPr>
          <a:xfrm>
            <a:off x="457200" y="3128518"/>
            <a:ext cx="8229600" cy="1438656"/>
          </a:xfrm>
          <a:prstGeom prst="roundRect">
            <a:avLst>
              <a:gd name="adj" fmla="val 6356"/>
            </a:avLst>
          </a:prstGeom>
          <a:solidFill>
            <a:srgbClr val="F4F2EE"/>
          </a:solidFill>
          <a:ln w="12700">
            <a:solidFill>
              <a:srgbClr val="F4F2EE"/>
            </a:solidFill>
            <a:prstDash val="solid"/>
          </a:ln>
        </p:spPr>
      </p:sp>
      <p:sp>
        <p:nvSpPr>
          <p:cNvPr id="10" name="Text 8"/>
          <p:cNvSpPr txBox="1"/>
          <p:nvPr/>
        </p:nvSpPr>
        <p:spPr>
          <a:xfrm>
            <a:off x="640080" y="3247390"/>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Where you meet it</a:t>
            </a:r>
            <a:endParaRPr lang="en-US" sz="1600" dirty="0"/>
          </a:p>
        </p:txBody>
      </p:sp>
      <p:sp>
        <p:nvSpPr>
          <p:cNvPr id="11" name="Text 9"/>
          <p:cNvSpPr txBox="1"/>
          <p:nvPr/>
        </p:nvSpPr>
        <p:spPr>
          <a:xfrm>
            <a:off x="640080" y="3631438"/>
            <a:ext cx="786384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name appears in the title page of the whitepaper, in the copyright line of old source files, and in the name of the satoshi unit. The author of the paper gave an email address in the paper, satoshin@gmx.com, and the site bitcoin.org (Nakamoto, 2008), but nothing in the text identifies a person.</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Hashcash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hash with leading zero bits</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Hashcash is a proof-of-work system proposed by Adam Back. His paper states that Hashcash was originally proposed as a mechanism to throttle systematic abuse of un-metered internet resources such as email and anonymous remailers in May 1997, and that its cost-function computes a token which can be used as a proof-of-work (Back, 2002).</a:t>
            </a:r>
            <a:endParaRPr lang="en-US" sz="1300" dirty="0"/>
          </a:p>
        </p:txBody>
      </p:sp>
      <p:sp>
        <p:nvSpPr>
          <p:cNvPr id="9" name="Shape 7"/>
          <p:cNvSpPr/>
          <p:nvPr/>
        </p:nvSpPr>
        <p:spPr>
          <a:xfrm>
            <a:off x="457200" y="2927096"/>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3045968"/>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format(int(hashlib.sha256(b'SEN0401-15083').hexdigest(), 16), '0256b').index('1')</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16</a:t>
            </a:r>
            <a:endParaRPr lang="en-US" sz="1100" dirty="0"/>
          </a:p>
        </p:txBody>
      </p:sp>
      <p:sp>
        <p:nvSpPr>
          <p:cNvPr id="11" name="Text 9"/>
          <p:cNvSpPr txBox="1"/>
          <p:nvPr/>
        </p:nvSpPr>
        <p:spPr>
          <a:xfrm>
            <a:off x="457200" y="35239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80028"/>
            <a:ext cx="822960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Back's paper defines the Hashcash cost-function as finding partial hash collisions on the all-zero bit string, and notes that the fastest algorithm for computing partial collisions is brute force; the client can safely choose its own random challenge, and anyone can efficiently verify a published token (Back, 2002).</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Digital currencies before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early digital currencies of the 1980s</a:t>
            </a:r>
            <a:endParaRPr lang="en-US" sz="1300" dirty="0"/>
          </a:p>
        </p:txBody>
      </p:sp>
      <p:sp>
        <p:nvSpPr>
          <p:cNvPr id="6" name="Shape 4"/>
          <p:cNvSpPr/>
          <p:nvPr/>
        </p:nvSpPr>
        <p:spPr>
          <a:xfrm>
            <a:off x="457200" y="1280160"/>
            <a:ext cx="8229600" cy="1903476"/>
          </a:xfrm>
          <a:prstGeom prst="roundRect">
            <a:avLst>
              <a:gd name="adj" fmla="val 480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126339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Digital currencies before Bitcoin were the early attempts, starting in the late 1980s, to use cryptography to build digital money. The chapter's sidebar says that when cryptography started becoming more broadly available and understood in the late 1980s, many researchers began trying to use it to build digital currencies, and that these early projects issued digital money, usually backed by a national currency or a precious metal such as gold (Antonopoulos and Harding, 2023).</a:t>
            </a:r>
            <a:endParaRPr lang="en-US" sz="1300" dirty="0"/>
          </a:p>
        </p:txBody>
      </p:sp>
      <p:sp>
        <p:nvSpPr>
          <p:cNvPr id="9" name="Shape 7"/>
          <p:cNvSpPr/>
          <p:nvPr/>
        </p:nvSpPr>
        <p:spPr>
          <a:xfrm>
            <a:off x="457200" y="3329940"/>
            <a:ext cx="8229600" cy="1252728"/>
          </a:xfrm>
          <a:prstGeom prst="roundRect">
            <a:avLst>
              <a:gd name="adj" fmla="val 7299"/>
            </a:avLst>
          </a:prstGeom>
          <a:solidFill>
            <a:srgbClr val="F4F2EE"/>
          </a:solidFill>
          <a:ln w="12700">
            <a:solidFill>
              <a:srgbClr val="F4F2EE"/>
            </a:solidFill>
            <a:prstDash val="solid"/>
          </a:ln>
        </p:spPr>
      </p:sp>
      <p:sp>
        <p:nvSpPr>
          <p:cNvPr id="10" name="Text 8"/>
          <p:cNvSpPr txBox="1"/>
          <p:nvPr/>
        </p:nvSpPr>
        <p:spPr>
          <a:xfrm>
            <a:off x="640080" y="344881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Where you meet it</a:t>
            </a:r>
            <a:endParaRPr lang="en-US" sz="1600" dirty="0"/>
          </a:p>
        </p:txBody>
      </p:sp>
      <p:sp>
        <p:nvSpPr>
          <p:cNvPr id="11" name="Text 9"/>
          <p:cNvSpPr txBox="1"/>
          <p:nvPr/>
        </p:nvSpPr>
        <p:spPr>
          <a:xfrm>
            <a:off x="640080" y="3832860"/>
            <a:ext cx="786384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sidebar frames three questions that anyone accepting digital money must answer: whether the money is authentic and not counterfeit, whether it can only be spent once, and whether no one else can claim that it belongs to them and not to the holder (Antonopoulos and Harding, 2023).</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Standards and openness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Network - 3 concepts</a:t>
            </a:r>
            <a:endParaRPr lang="en-US" sz="1300" dirty="0"/>
          </a:p>
        </p:txBody>
      </p:sp>
      <p:sp>
        <p:nvSpPr>
          <p:cNvPr id="6" name="Shape 4"/>
          <p:cNvSpPr/>
          <p:nvPr/>
        </p:nvSpPr>
        <p:spPr>
          <a:xfrm>
            <a:off x="457200" y="1280160"/>
            <a:ext cx="8229600" cy="1702054"/>
          </a:xfrm>
          <a:prstGeom prst="roundRect">
            <a:avLst>
              <a:gd name="adj" fmla="val 5372"/>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06197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Standards section collects the two social mechanisms through which Bitcoin is documented and developed: the numbered improvement proposals through which changes are discussed, and the open source licence under which the software is shared. Both appear in the chapter indirectly, in the references to the recovery code standard and to the open source software that runs the network (Antonopoulos and Harding, 2023).</a:t>
            </a:r>
            <a:endParaRPr lang="en-US" sz="1300" dirty="0"/>
          </a:p>
        </p:txBody>
      </p:sp>
      <p:sp>
        <p:nvSpPr>
          <p:cNvPr id="9" name="Shape 7"/>
          <p:cNvSpPr/>
          <p:nvPr/>
        </p:nvSpPr>
        <p:spPr>
          <a:xfrm>
            <a:off x="457200" y="3128518"/>
            <a:ext cx="2645664" cy="1059434"/>
          </a:xfrm>
          <a:prstGeom prst="roundRect">
            <a:avLst>
              <a:gd name="adj" fmla="val 6905"/>
            </a:avLst>
          </a:prstGeom>
          <a:solidFill>
            <a:srgbClr val="F4F2EE"/>
          </a:solidFill>
          <a:ln w="12700">
            <a:solidFill>
              <a:srgbClr val="D9D4CC"/>
            </a:solidFill>
            <a:prstDash val="solid"/>
          </a:ln>
        </p:spPr>
      </p:sp>
      <p:sp>
        <p:nvSpPr>
          <p:cNvPr id="10" name="Text 8"/>
          <p:cNvSpPr txBox="1"/>
          <p:nvPr/>
        </p:nvSpPr>
        <p:spPr>
          <a:xfrm>
            <a:off x="548640" y="3183382"/>
            <a:ext cx="2462784"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Bitcoin Improvement Proposal (BIP)</a:t>
            </a:r>
            <a:endParaRPr lang="en-US" sz="1250" dirty="0"/>
          </a:p>
        </p:txBody>
      </p:sp>
      <p:sp>
        <p:nvSpPr>
          <p:cNvPr id="11" name="Shape 9"/>
          <p:cNvSpPr/>
          <p:nvPr/>
        </p:nvSpPr>
        <p:spPr>
          <a:xfrm>
            <a:off x="3249168" y="3128518"/>
            <a:ext cx="2645664" cy="1059434"/>
          </a:xfrm>
          <a:prstGeom prst="roundRect">
            <a:avLst>
              <a:gd name="adj" fmla="val 6905"/>
            </a:avLst>
          </a:prstGeom>
          <a:solidFill>
            <a:srgbClr val="F4F2EE"/>
          </a:solidFill>
          <a:ln w="12700">
            <a:solidFill>
              <a:srgbClr val="D9D4CC"/>
            </a:solidFill>
            <a:prstDash val="solid"/>
          </a:ln>
        </p:spPr>
      </p:sp>
      <p:sp>
        <p:nvSpPr>
          <p:cNvPr id="12" name="Text 10"/>
          <p:cNvSpPr txBox="1"/>
          <p:nvPr/>
        </p:nvSpPr>
        <p:spPr>
          <a:xfrm>
            <a:off x="3340608" y="3183382"/>
            <a:ext cx="2462784"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Open source software</a:t>
            </a:r>
            <a:endParaRPr lang="en-US" sz="1250" dirty="0"/>
          </a:p>
        </p:txBody>
      </p:sp>
      <p:sp>
        <p:nvSpPr>
          <p:cNvPr id="13" name="Shape 11"/>
          <p:cNvSpPr/>
          <p:nvPr/>
        </p:nvSpPr>
        <p:spPr>
          <a:xfrm>
            <a:off x="6041136" y="3128518"/>
            <a:ext cx="2645664" cy="1059434"/>
          </a:xfrm>
          <a:prstGeom prst="roundRect">
            <a:avLst>
              <a:gd name="adj" fmla="val 6905"/>
            </a:avLst>
          </a:prstGeom>
          <a:solidFill>
            <a:srgbClr val="F4F2EE"/>
          </a:solidFill>
          <a:ln w="12700">
            <a:solidFill>
              <a:srgbClr val="D9D4CC"/>
            </a:solidFill>
            <a:prstDash val="solid"/>
          </a:ln>
        </p:spPr>
      </p:sp>
      <p:sp>
        <p:nvSpPr>
          <p:cNvPr id="14" name="Text 12"/>
          <p:cNvSpPr txBox="1"/>
          <p:nvPr/>
        </p:nvSpPr>
        <p:spPr>
          <a:xfrm>
            <a:off x="6132576" y="3183382"/>
            <a:ext cx="2462784"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W3C standard</a:t>
            </a:r>
            <a:endParaRPr lang="en-US" sz="1250" dirty="0"/>
          </a:p>
        </p:txBody>
      </p:sp>
      <p:sp>
        <p:nvSpPr>
          <p:cNvPr id="15" name="Text 13"/>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first concept of the section is the Bitcoin Improvement Proposal, the document in which a change or a convention is specified. The second one is open source software, the legal and practical form in which…</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Bitcoin Improvement Proposal (BIP)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BIP 39</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Bitcoin Improvement Proposal, abbreviated BIP, is a numbered document in which a member of the community proposes a change to Bitcoin or describes a convention that programs should follow.</a:t>
            </a:r>
            <a:endParaRPr lang="en-US" sz="1300" dirty="0"/>
          </a:p>
        </p:txBody>
      </p:sp>
      <p:sp>
        <p:nvSpPr>
          <p:cNvPr id="9" name="Shape 7"/>
          <p:cNvSpPr/>
          <p:nvPr/>
        </p:nvSpPr>
        <p:spPr>
          <a:xfrm>
            <a:off x="457200" y="2725674"/>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844546"/>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[(ent, ent // 32, (ent + ent // 32) // 11) for ent in (128, 256)]</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[(128, 4, 12), (256, 8, 24)]</a:t>
            </a:r>
            <a:endParaRPr lang="en-US" sz="1100" dirty="0"/>
          </a:p>
        </p:txBody>
      </p:sp>
      <p:sp>
        <p:nvSpPr>
          <p:cNvPr id="11" name="Text 9"/>
          <p:cNvSpPr txBox="1"/>
          <p:nvPr/>
        </p:nvSpPr>
        <p:spPr>
          <a:xfrm>
            <a:off x="457200" y="332257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542030"/>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66090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044950"/>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example takes numbers directly from BIP 39.</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Open source software and W3C standard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2740152"/>
          </a:xfrm>
          <a:prstGeom prst="roundRect">
            <a:avLst>
              <a:gd name="adj" fmla="val 3337"/>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Open source software</a:t>
            </a:r>
            <a:endParaRPr lang="en-US" sz="1600" dirty="0"/>
          </a:p>
        </p:txBody>
      </p:sp>
      <p:sp>
        <p:nvSpPr>
          <p:cNvPr id="8" name="Text 6"/>
          <p:cNvSpPr txBox="1"/>
          <p:nvPr/>
        </p:nvSpPr>
        <p:spPr>
          <a:xfrm>
            <a:off x="640080" y="1783080"/>
            <a:ext cx="3611880" cy="210007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Open source software is software whose source code is available to everyone and whose licence allows it to be used, studied, changed and redistributed. The Open Source Definition states that open source does not just mean access to the source code, and lists criteria that the distribution terms must meet, among them free redistribution, the inclusion of source code, and permission for modifications and derived works (Open Source Initiative, 2026).</a:t>
            </a:r>
            <a:endParaRPr lang="en-US" sz="1200" dirty="0"/>
          </a:p>
        </p:txBody>
      </p:sp>
      <p:sp>
        <p:nvSpPr>
          <p:cNvPr id="9" name="Shape 7"/>
          <p:cNvSpPr/>
          <p:nvPr/>
        </p:nvSpPr>
        <p:spPr>
          <a:xfrm>
            <a:off x="4709160" y="1280160"/>
            <a:ext cx="3977640" cy="2182368"/>
          </a:xfrm>
          <a:prstGeom prst="roundRect">
            <a:avLst>
              <a:gd name="adj" fmla="val 4190"/>
            </a:avLst>
          </a:prstGeom>
          <a:solidFill>
            <a:srgbClr val="F4F2EE"/>
          </a:solidFill>
          <a:ln w="12700">
            <a:solidFill>
              <a:srgbClr val="F4F2EE"/>
            </a:solidFill>
            <a:prstDash val="solid"/>
          </a:ln>
        </p:spPr>
      </p:sp>
      <p:sp>
        <p:nvSpPr>
          <p:cNvPr id="10" name="Text 8"/>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W3C standard</a:t>
            </a:r>
            <a:endParaRPr lang="en-US" sz="1600" dirty="0"/>
          </a:p>
        </p:txBody>
      </p:sp>
      <p:sp>
        <p:nvSpPr>
          <p:cNvPr id="11" name="Text 9"/>
          <p:cNvSpPr txBox="1"/>
          <p:nvPr/>
        </p:nvSpPr>
        <p:spPr>
          <a:xfrm>
            <a:off x="4892040" y="1783080"/>
            <a:ext cx="3611880" cy="154228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World Wide Web Consortium, abbreviated W3C, is an international public-interest non-profit organisation where member organisations, a full-time staff and the public work together to develop web standards (World Wide Web Consortium, 2026). It was founded by Tim Berners-Lee in 1994. A finished standard of the consortium is called a Recommendation.</a:t>
            </a:r>
            <a:endParaRPr lang="en-US" sz="1200" dirty="0"/>
          </a:p>
        </p:txBody>
      </p:sp>
      <p:sp>
        <p:nvSpPr>
          <p:cNvPr id="12" name="Text 10"/>
          <p:cNvSpPr txBox="1"/>
          <p:nvPr/>
        </p:nvSpPr>
        <p:spPr>
          <a:xfrm>
            <a:off x="4709160" y="3608832"/>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A standard moves through drafts and review by the member organisations and by the public before it becomes a Recommendation, and the finished document is the one that implementers are expected to follow.</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457200" y="960120"/>
            <a:ext cx="128016" cy="1417320"/>
          </a:xfrm>
          <a:prstGeom prst="rect">
            <a:avLst/>
          </a:prstGeom>
          <a:solidFill>
            <a:srgbClr val="F7931A"/>
          </a:solidFill>
          <a:ln w="12700">
            <a:solidFill>
              <a:srgbClr val="F7931A"/>
            </a:solidFill>
            <a:prstDash val="solid"/>
          </a:ln>
        </p:spPr>
      </p:sp>
      <p:sp>
        <p:nvSpPr>
          <p:cNvPr id="3" name="Text 1"/>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Wallet</a:t>
            </a:r>
            <a:endParaRPr lang="en-US" sz="3200" dirty="0"/>
          </a:p>
        </p:txBody>
      </p:sp>
      <p:sp>
        <p:nvSpPr>
          <p:cNvPr id="4" name="Text 2"/>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C9D1DA"/>
                </a:solidFill>
                <a:latin typeface="Calibri" pitchFamily="34" charset="0"/>
                <a:ea typeface="Calibri" pitchFamily="34" charset="-122"/>
                <a:cs typeface="Calibri" pitchFamily="34" charset="-120"/>
              </a:rPr>
              <a:t>A wallet is the software through which a person uses Bitcoin.</a:t>
            </a:r>
            <a:endParaRPr lang="en-US" sz="1500" dirty="0"/>
          </a:p>
        </p:txBody>
      </p:sp>
      <p:sp>
        <p:nvSpPr>
          <p:cNvPr id="5" name="Shape 3"/>
          <p:cNvSpPr/>
          <p:nvPr/>
        </p:nvSpPr>
        <p:spPr>
          <a:xfrm>
            <a:off x="457200" y="2788920"/>
            <a:ext cx="1947672" cy="1371600"/>
          </a:xfrm>
          <a:prstGeom prst="roundRect">
            <a:avLst>
              <a:gd name="adj" fmla="val 5333"/>
            </a:avLst>
          </a:prstGeom>
          <a:solidFill>
            <a:srgbClr val="3A4250"/>
          </a:solidFill>
          <a:ln w="12700">
            <a:solidFill>
              <a:srgbClr val="F7931A"/>
            </a:solidFill>
            <a:prstDash val="solid"/>
          </a:ln>
        </p:spPr>
      </p:sp>
      <p:sp>
        <p:nvSpPr>
          <p:cNvPr id="6" name="Text 4"/>
          <p:cNvSpPr txBox="1"/>
          <p:nvPr/>
        </p:nvSpPr>
        <p:spPr>
          <a:xfrm>
            <a:off x="530352" y="2834640"/>
            <a:ext cx="1801368"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Wallet platform</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4 concepts</a:t>
            </a:r>
            <a:endParaRPr lang="en-US" sz="1200" dirty="0"/>
          </a:p>
        </p:txBody>
      </p:sp>
      <p:sp>
        <p:nvSpPr>
          <p:cNvPr id="7" name="Shape 5"/>
          <p:cNvSpPr/>
          <p:nvPr/>
        </p:nvSpPr>
        <p:spPr>
          <a:xfrm>
            <a:off x="2551176" y="2788920"/>
            <a:ext cx="1947672" cy="1371600"/>
          </a:xfrm>
          <a:prstGeom prst="roundRect">
            <a:avLst>
              <a:gd name="adj" fmla="val 5333"/>
            </a:avLst>
          </a:prstGeom>
          <a:solidFill>
            <a:srgbClr val="3A4250"/>
          </a:solidFill>
          <a:ln w="12700">
            <a:solidFill>
              <a:srgbClr val="F7931A"/>
            </a:solidFill>
            <a:prstDash val="solid"/>
          </a:ln>
        </p:spPr>
      </p:sp>
      <p:sp>
        <p:nvSpPr>
          <p:cNvPr id="8" name="Text 6"/>
          <p:cNvSpPr txBox="1"/>
          <p:nvPr/>
        </p:nvSpPr>
        <p:spPr>
          <a:xfrm>
            <a:off x="2624328" y="2834640"/>
            <a:ext cx="1801368"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Node type</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4 concepts</a:t>
            </a:r>
            <a:endParaRPr lang="en-US" sz="1200" dirty="0"/>
          </a:p>
        </p:txBody>
      </p:sp>
      <p:sp>
        <p:nvSpPr>
          <p:cNvPr id="9" name="Shape 7"/>
          <p:cNvSpPr/>
          <p:nvPr/>
        </p:nvSpPr>
        <p:spPr>
          <a:xfrm>
            <a:off x="4645152" y="2788920"/>
            <a:ext cx="1947672" cy="1371600"/>
          </a:xfrm>
          <a:prstGeom prst="roundRect">
            <a:avLst>
              <a:gd name="adj" fmla="val 5333"/>
            </a:avLst>
          </a:prstGeom>
          <a:solidFill>
            <a:srgbClr val="3A4250"/>
          </a:solidFill>
          <a:ln w="12700">
            <a:solidFill>
              <a:srgbClr val="F7931A"/>
            </a:solidFill>
            <a:prstDash val="solid"/>
          </a:ln>
        </p:spPr>
      </p:sp>
      <p:sp>
        <p:nvSpPr>
          <p:cNvPr id="10" name="Text 8"/>
          <p:cNvSpPr txBox="1"/>
          <p:nvPr/>
        </p:nvSpPr>
        <p:spPr>
          <a:xfrm>
            <a:off x="4718304" y="2834640"/>
            <a:ext cx="1801368"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Key control</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2 concepts</a:t>
            </a:r>
            <a:endParaRPr lang="en-US" sz="1200" dirty="0"/>
          </a:p>
        </p:txBody>
      </p:sp>
      <p:sp>
        <p:nvSpPr>
          <p:cNvPr id="11" name="Shape 9"/>
          <p:cNvSpPr/>
          <p:nvPr/>
        </p:nvSpPr>
        <p:spPr>
          <a:xfrm>
            <a:off x="6739128" y="2788920"/>
            <a:ext cx="1947672" cy="1371600"/>
          </a:xfrm>
          <a:prstGeom prst="roundRect">
            <a:avLst>
              <a:gd name="adj" fmla="val 5333"/>
            </a:avLst>
          </a:prstGeom>
          <a:solidFill>
            <a:srgbClr val="3A4250"/>
          </a:solidFill>
          <a:ln w="12700">
            <a:solidFill>
              <a:srgbClr val="F7931A"/>
            </a:solidFill>
            <a:prstDash val="solid"/>
          </a:ln>
        </p:spPr>
      </p:sp>
      <p:sp>
        <p:nvSpPr>
          <p:cNvPr id="12" name="Text 10"/>
          <p:cNvSpPr txBox="1"/>
          <p:nvPr/>
        </p:nvSpPr>
        <p:spPr>
          <a:xfrm>
            <a:off x="6812280" y="2834640"/>
            <a:ext cx="1801368"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Backup</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2 concepts</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Wallet platform</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Wallet - 4 concepts</a:t>
            </a:r>
            <a:endParaRPr lang="en-US" sz="1300" dirty="0"/>
          </a:p>
        </p:txBody>
      </p:sp>
      <p:sp>
        <p:nvSpPr>
          <p:cNvPr id="6" name="Shape 4"/>
          <p:cNvSpPr/>
          <p:nvPr/>
        </p:nvSpPr>
        <p:spPr>
          <a:xfrm>
            <a:off x="457200" y="1280160"/>
            <a:ext cx="8229600" cy="1702054"/>
          </a:xfrm>
          <a:prstGeom prst="roundRect">
            <a:avLst>
              <a:gd name="adj" fmla="val 5372"/>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06197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platform of a wallet is the kind of device and software environment on which it runs. The chapter's section on the types of Bitcoin wallets categorises wallets first by platform and lists the desktop wallet, the mobile wallet, the web wallet and the hardware signing device (Antonopoulos and Harding, 2023). The platform determines how convenient the wallet is, how exposed it is to attack, and how much of the user's data is revealed to others.</a:t>
            </a:r>
            <a:endParaRPr lang="en-US" sz="1300" dirty="0"/>
          </a:p>
        </p:txBody>
      </p:sp>
      <p:sp>
        <p:nvSpPr>
          <p:cNvPr id="9" name="Shape 7"/>
          <p:cNvSpPr/>
          <p:nvPr/>
        </p:nvSpPr>
        <p:spPr>
          <a:xfrm>
            <a:off x="457200" y="3128518"/>
            <a:ext cx="1947672" cy="1059434"/>
          </a:xfrm>
          <a:prstGeom prst="roundRect">
            <a:avLst>
              <a:gd name="adj" fmla="val 6905"/>
            </a:avLst>
          </a:prstGeom>
          <a:solidFill>
            <a:srgbClr val="F4F2EE"/>
          </a:solidFill>
          <a:ln w="12700">
            <a:solidFill>
              <a:srgbClr val="D9D4CC"/>
            </a:solidFill>
            <a:prstDash val="solid"/>
          </a:ln>
        </p:spPr>
      </p:sp>
      <p:sp>
        <p:nvSpPr>
          <p:cNvPr id="10" name="Text 8"/>
          <p:cNvSpPr txBox="1"/>
          <p:nvPr/>
        </p:nvSpPr>
        <p:spPr>
          <a:xfrm>
            <a:off x="548640"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Desktop wallet</a:t>
            </a:r>
            <a:endParaRPr lang="en-US" sz="1250" dirty="0"/>
          </a:p>
        </p:txBody>
      </p:sp>
      <p:sp>
        <p:nvSpPr>
          <p:cNvPr id="11" name="Shape 9"/>
          <p:cNvSpPr/>
          <p:nvPr/>
        </p:nvSpPr>
        <p:spPr>
          <a:xfrm>
            <a:off x="2551176" y="3128518"/>
            <a:ext cx="1947672" cy="1059434"/>
          </a:xfrm>
          <a:prstGeom prst="roundRect">
            <a:avLst>
              <a:gd name="adj" fmla="val 6905"/>
            </a:avLst>
          </a:prstGeom>
          <a:solidFill>
            <a:srgbClr val="F4F2EE"/>
          </a:solidFill>
          <a:ln w="12700">
            <a:solidFill>
              <a:srgbClr val="D9D4CC"/>
            </a:solidFill>
            <a:prstDash val="solid"/>
          </a:ln>
        </p:spPr>
      </p:sp>
      <p:sp>
        <p:nvSpPr>
          <p:cNvPr id="12" name="Text 10"/>
          <p:cNvSpPr txBox="1"/>
          <p:nvPr/>
        </p:nvSpPr>
        <p:spPr>
          <a:xfrm>
            <a:off x="2642616"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Mobile wallet</a:t>
            </a:r>
            <a:endParaRPr lang="en-US" sz="1250" dirty="0"/>
          </a:p>
        </p:txBody>
      </p:sp>
      <p:sp>
        <p:nvSpPr>
          <p:cNvPr id="13" name="Shape 11"/>
          <p:cNvSpPr/>
          <p:nvPr/>
        </p:nvSpPr>
        <p:spPr>
          <a:xfrm>
            <a:off x="4645152" y="3128518"/>
            <a:ext cx="1947672" cy="1059434"/>
          </a:xfrm>
          <a:prstGeom prst="roundRect">
            <a:avLst>
              <a:gd name="adj" fmla="val 6905"/>
            </a:avLst>
          </a:prstGeom>
          <a:solidFill>
            <a:srgbClr val="F4F2EE"/>
          </a:solidFill>
          <a:ln w="12700">
            <a:solidFill>
              <a:srgbClr val="D9D4CC"/>
            </a:solidFill>
            <a:prstDash val="solid"/>
          </a:ln>
        </p:spPr>
      </p:sp>
      <p:sp>
        <p:nvSpPr>
          <p:cNvPr id="14" name="Text 12"/>
          <p:cNvSpPr txBox="1"/>
          <p:nvPr/>
        </p:nvSpPr>
        <p:spPr>
          <a:xfrm>
            <a:off x="4736592"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Web wallet</a:t>
            </a:r>
            <a:endParaRPr lang="en-US" sz="1250" dirty="0"/>
          </a:p>
        </p:txBody>
      </p:sp>
      <p:sp>
        <p:nvSpPr>
          <p:cNvPr id="15" name="Shape 13"/>
          <p:cNvSpPr/>
          <p:nvPr/>
        </p:nvSpPr>
        <p:spPr>
          <a:xfrm>
            <a:off x="6739128" y="3128518"/>
            <a:ext cx="1947672" cy="1059434"/>
          </a:xfrm>
          <a:prstGeom prst="roundRect">
            <a:avLst>
              <a:gd name="adj" fmla="val 6905"/>
            </a:avLst>
          </a:prstGeom>
          <a:solidFill>
            <a:srgbClr val="F4F2EE"/>
          </a:solidFill>
          <a:ln w="12700">
            <a:solidFill>
              <a:srgbClr val="D9D4CC"/>
            </a:solidFill>
            <a:prstDash val="solid"/>
          </a:ln>
        </p:spPr>
      </p:sp>
      <p:sp>
        <p:nvSpPr>
          <p:cNvPr id="16" name="Text 14"/>
          <p:cNvSpPr txBox="1"/>
          <p:nvPr/>
        </p:nvSpPr>
        <p:spPr>
          <a:xfrm>
            <a:off x="6830568"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Hardware signing device</a:t>
            </a:r>
            <a:endParaRPr lang="en-US" sz="1250" dirty="0"/>
          </a:p>
        </p:txBody>
      </p:sp>
      <p:sp>
        <p:nvSpPr>
          <p:cNvPr id="17" name="Text 15"/>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four concepts of this section follow the order of the chapter. Each is described by what it runs on, what it protects, and what the user must trust.</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Desktop wallet and Mobile wallet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2368296"/>
          </a:xfrm>
          <a:prstGeom prst="roundRect">
            <a:avLst>
              <a:gd name="adj" fmla="val 3861"/>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Desktop wallet</a:t>
            </a:r>
            <a:endParaRPr lang="en-US" sz="1600" dirty="0"/>
          </a:p>
        </p:txBody>
      </p:sp>
      <p:sp>
        <p:nvSpPr>
          <p:cNvPr id="8" name="Text 6"/>
          <p:cNvSpPr txBox="1"/>
          <p:nvPr/>
        </p:nvSpPr>
        <p:spPr>
          <a:xfrm>
            <a:off x="640080" y="1783080"/>
            <a:ext cx="3611880" cy="172821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desktop wallet is a wallet program that runs on a personal computer. The chapter says that it was the first type of Bitcoin wallet created as a reference implementation, and that many users run desktop wallets for the features, autonomy and control they offer (Antonopoulos and Harding, 2023). The operating systems it runs on are general-use ones such as Windows and macOS.</a:t>
            </a:r>
            <a:endParaRPr lang="en-US" sz="1200" dirty="0"/>
          </a:p>
        </p:txBody>
      </p:sp>
      <p:sp>
        <p:nvSpPr>
          <p:cNvPr id="9" name="Text 7"/>
          <p:cNvSpPr txBox="1"/>
          <p:nvPr/>
        </p:nvSpPr>
        <p:spPr>
          <a:xfrm>
            <a:off x="457200" y="3794760"/>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wallet runs as an ordinary application of the operating system. It stores its keys and its database on the computer's disk, and it connects to the network either as a full node or through another program.</a:t>
            </a:r>
            <a:endParaRPr lang="en-US" sz="1100" dirty="0"/>
          </a:p>
        </p:txBody>
      </p:sp>
      <p:sp>
        <p:nvSpPr>
          <p:cNvPr id="10" name="Shape 8"/>
          <p:cNvSpPr/>
          <p:nvPr/>
        </p:nvSpPr>
        <p:spPr>
          <a:xfrm>
            <a:off x="4709160" y="1280160"/>
            <a:ext cx="3977640" cy="2368296"/>
          </a:xfrm>
          <a:prstGeom prst="roundRect">
            <a:avLst>
              <a:gd name="adj" fmla="val 3861"/>
            </a:avLst>
          </a:prstGeom>
          <a:solidFill>
            <a:srgbClr val="F4F2EE"/>
          </a:solidFill>
          <a:ln w="12700">
            <a:solidFill>
              <a:srgbClr val="F4F2EE"/>
            </a:solidFill>
            <a:prstDash val="solid"/>
          </a:ln>
        </p:spPr>
      </p:sp>
      <p:sp>
        <p:nvSpPr>
          <p:cNvPr id="11" name="Text 9"/>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Mobile wallet</a:t>
            </a:r>
            <a:endParaRPr lang="en-US" sz="1600" dirty="0"/>
          </a:p>
        </p:txBody>
      </p:sp>
      <p:sp>
        <p:nvSpPr>
          <p:cNvPr id="12" name="Text 10"/>
          <p:cNvSpPr txBox="1"/>
          <p:nvPr/>
        </p:nvSpPr>
        <p:spPr>
          <a:xfrm>
            <a:off x="4892040" y="1783080"/>
            <a:ext cx="3611880" cy="172821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mobile wallet is a wallet application on a smartphone. The chapter calls it the most common type of Bitcoin wallet and says that it runs on smartphone operating systems such as Apple iOS and Android (Antonopoulos and Harding, 2023). Alice's first wallet in the chapter's story is of this type: she downloads one of Joe's recommendations and installs it on her phone.</a:t>
            </a:r>
            <a:endParaRPr lang="en-US" sz="1200" dirty="0"/>
          </a:p>
        </p:txBody>
      </p:sp>
      <p:sp>
        <p:nvSpPr>
          <p:cNvPr id="13" name="Text 11"/>
          <p:cNvSpPr txBox="1"/>
          <p:nvPr/>
        </p:nvSpPr>
        <p:spPr>
          <a:xfrm>
            <a:off x="4709160" y="3794760"/>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To avoid downloading and storing large amounts of data, the chapter explains, most mobile wallets retrieve information from remote servers (Antonopoulos and Harding, 2023).</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Web wallet and Hardware signing device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2182368"/>
          </a:xfrm>
          <a:prstGeom prst="roundRect">
            <a:avLst>
              <a:gd name="adj" fmla="val 4190"/>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Web wallet</a:t>
            </a:r>
            <a:endParaRPr lang="en-US" sz="1600" dirty="0"/>
          </a:p>
        </p:txBody>
      </p:sp>
      <p:sp>
        <p:nvSpPr>
          <p:cNvPr id="8" name="Text 6"/>
          <p:cNvSpPr txBox="1"/>
          <p:nvPr/>
        </p:nvSpPr>
        <p:spPr>
          <a:xfrm>
            <a:off x="640080" y="1783080"/>
            <a:ext cx="3611880" cy="154228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web wallet is a wallet that is accessed through a web browser and stores the user's wallet on a server owned by a third party. The chapter compares it to webmail, because it relies entirely on a third-party server (Antonopoulos and Harding, 2023). The user types into a page what a desktop or mobile user would do in an application.</a:t>
            </a:r>
            <a:endParaRPr lang="en-US" sz="1200" dirty="0"/>
          </a:p>
        </p:txBody>
      </p:sp>
      <p:sp>
        <p:nvSpPr>
          <p:cNvPr id="9" name="Text 7"/>
          <p:cNvSpPr txBox="1"/>
          <p:nvPr/>
        </p:nvSpPr>
        <p:spPr>
          <a:xfrm>
            <a:off x="457200" y="3608832"/>
            <a:ext cx="397764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wallet's data lives on a server that the provider runs.</a:t>
            </a:r>
            <a:endParaRPr lang="en-US" sz="1100" dirty="0"/>
          </a:p>
        </p:txBody>
      </p:sp>
      <p:sp>
        <p:nvSpPr>
          <p:cNvPr id="10" name="Shape 8"/>
          <p:cNvSpPr/>
          <p:nvPr/>
        </p:nvSpPr>
        <p:spPr>
          <a:xfrm>
            <a:off x="4709160" y="1280160"/>
            <a:ext cx="3977640" cy="2182368"/>
          </a:xfrm>
          <a:prstGeom prst="roundRect">
            <a:avLst>
              <a:gd name="adj" fmla="val 4190"/>
            </a:avLst>
          </a:prstGeom>
          <a:solidFill>
            <a:srgbClr val="F4F2EE"/>
          </a:solidFill>
          <a:ln w="12700">
            <a:solidFill>
              <a:srgbClr val="F4F2EE"/>
            </a:solidFill>
            <a:prstDash val="solid"/>
          </a:ln>
        </p:spPr>
      </p:sp>
      <p:sp>
        <p:nvSpPr>
          <p:cNvPr id="11" name="Text 9"/>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Hardware signing device</a:t>
            </a:r>
            <a:endParaRPr lang="en-US" sz="1600" dirty="0"/>
          </a:p>
        </p:txBody>
      </p:sp>
      <p:sp>
        <p:nvSpPr>
          <p:cNvPr id="12" name="Text 10"/>
          <p:cNvSpPr txBox="1"/>
          <p:nvPr/>
        </p:nvSpPr>
        <p:spPr>
          <a:xfrm>
            <a:off x="4892040" y="1783080"/>
            <a:ext cx="3611880" cy="154228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hardware signing device is a small device that stores keys and signs transactions using special-purpose hardware and software built into the device. The chapter says that such devices usually connect to a desktop, mobile or web wallet by a cable, by a short-range wireless link, or by a camera that reads QR codes (Antonopoulos and Harding, 2023).</a:t>
            </a:r>
            <a:endParaRPr lang="en-US" sz="1200" dirty="0"/>
          </a:p>
        </p:txBody>
      </p:sp>
      <p:sp>
        <p:nvSpPr>
          <p:cNvPr id="13" name="Text 11"/>
          <p:cNvSpPr txBox="1"/>
          <p:nvPr/>
        </p:nvSpPr>
        <p:spPr>
          <a:xfrm>
            <a:off x="4709160" y="3608832"/>
            <a:ext cx="397764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flow follows from the idea of the digital signature.</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Node type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Wallet - 4 concepts</a:t>
            </a:r>
            <a:endParaRPr lang="en-US" sz="1300" dirty="0"/>
          </a:p>
        </p:txBody>
      </p:sp>
      <p:sp>
        <p:nvSpPr>
          <p:cNvPr id="6" name="Shape 4"/>
          <p:cNvSpPr/>
          <p:nvPr/>
        </p:nvSpPr>
        <p:spPr>
          <a:xfrm>
            <a:off x="457200" y="1280160"/>
            <a:ext cx="8229600" cy="1903476"/>
          </a:xfrm>
          <a:prstGeom prst="roundRect">
            <a:avLst>
              <a:gd name="adj" fmla="val 480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26339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node type of a wallet describes how much of the network's work the wallet does for itself. The chapter's section Full node versus Lightweight classifies wallets by their degree of autonomy and by how they interact with the Bitcoin network, and distinguishes the full node, the lightweight client and the third-party API client (Antonopoulos and Harding, 2023). A fourth concept of the section explains the words peer and client that the chapter uses to describe the arrangement.</a:t>
            </a:r>
            <a:endParaRPr lang="en-US" sz="1300" dirty="0"/>
          </a:p>
        </p:txBody>
      </p:sp>
      <p:sp>
        <p:nvSpPr>
          <p:cNvPr id="9" name="Shape 7"/>
          <p:cNvSpPr/>
          <p:nvPr/>
        </p:nvSpPr>
        <p:spPr>
          <a:xfrm>
            <a:off x="457200" y="3329940"/>
            <a:ext cx="1947672" cy="858012"/>
          </a:xfrm>
          <a:prstGeom prst="roundRect">
            <a:avLst>
              <a:gd name="adj" fmla="val 8526"/>
            </a:avLst>
          </a:prstGeom>
          <a:solidFill>
            <a:srgbClr val="F4F2EE"/>
          </a:solidFill>
          <a:ln w="12700">
            <a:solidFill>
              <a:srgbClr val="D9D4CC"/>
            </a:solidFill>
            <a:prstDash val="solid"/>
          </a:ln>
        </p:spPr>
      </p:sp>
      <p:sp>
        <p:nvSpPr>
          <p:cNvPr id="10" name="Text 8"/>
          <p:cNvSpPr txBox="1"/>
          <p:nvPr/>
        </p:nvSpPr>
        <p:spPr>
          <a:xfrm>
            <a:off x="548640" y="3384804"/>
            <a:ext cx="1764792"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Full node</a:t>
            </a:r>
            <a:endParaRPr lang="en-US" sz="1250" dirty="0"/>
          </a:p>
        </p:txBody>
      </p:sp>
      <p:sp>
        <p:nvSpPr>
          <p:cNvPr id="11" name="Shape 9"/>
          <p:cNvSpPr/>
          <p:nvPr/>
        </p:nvSpPr>
        <p:spPr>
          <a:xfrm>
            <a:off x="2551176" y="3329940"/>
            <a:ext cx="1947672" cy="858012"/>
          </a:xfrm>
          <a:prstGeom prst="roundRect">
            <a:avLst>
              <a:gd name="adj" fmla="val 8526"/>
            </a:avLst>
          </a:prstGeom>
          <a:solidFill>
            <a:srgbClr val="F4F2EE"/>
          </a:solidFill>
          <a:ln w="12700">
            <a:solidFill>
              <a:srgbClr val="D9D4CC"/>
            </a:solidFill>
            <a:prstDash val="solid"/>
          </a:ln>
        </p:spPr>
      </p:sp>
      <p:sp>
        <p:nvSpPr>
          <p:cNvPr id="12" name="Text 10"/>
          <p:cNvSpPr txBox="1"/>
          <p:nvPr/>
        </p:nvSpPr>
        <p:spPr>
          <a:xfrm>
            <a:off x="2642616" y="3384804"/>
            <a:ext cx="1764792"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Lightweight client</a:t>
            </a:r>
            <a:endParaRPr lang="en-US" sz="1250" dirty="0"/>
          </a:p>
        </p:txBody>
      </p:sp>
      <p:sp>
        <p:nvSpPr>
          <p:cNvPr id="13" name="Shape 11"/>
          <p:cNvSpPr/>
          <p:nvPr/>
        </p:nvSpPr>
        <p:spPr>
          <a:xfrm>
            <a:off x="4645152" y="3329940"/>
            <a:ext cx="1947672" cy="858012"/>
          </a:xfrm>
          <a:prstGeom prst="roundRect">
            <a:avLst>
              <a:gd name="adj" fmla="val 8526"/>
            </a:avLst>
          </a:prstGeom>
          <a:solidFill>
            <a:srgbClr val="F4F2EE"/>
          </a:solidFill>
          <a:ln w="12700">
            <a:solidFill>
              <a:srgbClr val="D9D4CC"/>
            </a:solidFill>
            <a:prstDash val="solid"/>
          </a:ln>
        </p:spPr>
      </p:sp>
      <p:sp>
        <p:nvSpPr>
          <p:cNvPr id="14" name="Text 12"/>
          <p:cNvSpPr txBox="1"/>
          <p:nvPr/>
        </p:nvSpPr>
        <p:spPr>
          <a:xfrm>
            <a:off x="4736592" y="3384804"/>
            <a:ext cx="1764792"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Third-party API client</a:t>
            </a:r>
            <a:endParaRPr lang="en-US" sz="1250" dirty="0"/>
          </a:p>
        </p:txBody>
      </p:sp>
      <p:sp>
        <p:nvSpPr>
          <p:cNvPr id="15" name="Shape 13"/>
          <p:cNvSpPr/>
          <p:nvPr/>
        </p:nvSpPr>
        <p:spPr>
          <a:xfrm>
            <a:off x="6739128" y="3329940"/>
            <a:ext cx="1947672" cy="858012"/>
          </a:xfrm>
          <a:prstGeom prst="roundRect">
            <a:avLst>
              <a:gd name="adj" fmla="val 8526"/>
            </a:avLst>
          </a:prstGeom>
          <a:solidFill>
            <a:srgbClr val="F4F2EE"/>
          </a:solidFill>
          <a:ln w="12700">
            <a:solidFill>
              <a:srgbClr val="D9D4CC"/>
            </a:solidFill>
            <a:prstDash val="solid"/>
          </a:ln>
        </p:spPr>
      </p:sp>
      <p:sp>
        <p:nvSpPr>
          <p:cNvPr id="16" name="Text 14"/>
          <p:cNvSpPr txBox="1"/>
          <p:nvPr/>
        </p:nvSpPr>
        <p:spPr>
          <a:xfrm>
            <a:off x="6830568" y="3384804"/>
            <a:ext cx="1764792"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Peer and client</a:t>
            </a:r>
            <a:endParaRPr lang="en-US" sz="1250" dirty="0"/>
          </a:p>
        </p:txBody>
      </p:sp>
      <p:sp>
        <p:nvSpPr>
          <p:cNvPr id="17" name="Text 15"/>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section orders the node types from the most autonomous to the least. The full node validates the entire history. The lightweight client keeps the wallet locally and validates partially.</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Full node and Lightweight client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2554224"/>
          </a:xfrm>
          <a:prstGeom prst="roundRect">
            <a:avLst>
              <a:gd name="adj" fmla="val 3580"/>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Full node</a:t>
            </a:r>
            <a:endParaRPr lang="en-US" sz="1600" dirty="0"/>
          </a:p>
        </p:txBody>
      </p:sp>
      <p:sp>
        <p:nvSpPr>
          <p:cNvPr id="8" name="Text 6"/>
          <p:cNvSpPr txBox="1"/>
          <p:nvPr/>
        </p:nvSpPr>
        <p:spPr>
          <a:xfrm>
            <a:off x="640080" y="1783080"/>
            <a:ext cx="3611880" cy="1914144"/>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full node is a program that validates the entire history of Bitcoin transactions, every transaction by every user, ever. The chapter adds that, optionally, full nodes can also store previously validated transactions and serve data to other Bitcoin programs, either on the same computer or over the internet (Antonopoulos and Harding, 2023). A full node therefore does not take anyone's word for what has happened.</a:t>
            </a:r>
            <a:endParaRPr lang="en-US" sz="1200" dirty="0"/>
          </a:p>
        </p:txBody>
      </p:sp>
      <p:sp>
        <p:nvSpPr>
          <p:cNvPr id="9" name="Text 7"/>
          <p:cNvSpPr txBox="1"/>
          <p:nvPr/>
        </p:nvSpPr>
        <p:spPr>
          <a:xfrm>
            <a:off x="457200" y="3980688"/>
            <a:ext cx="397764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A full node starts by obtaining the blocks of the chain from other nodes and checks each one against the rules of the protocol; it keeps only those that pass.</a:t>
            </a:r>
            <a:endParaRPr lang="en-US" sz="1100" dirty="0"/>
          </a:p>
        </p:txBody>
      </p:sp>
      <p:sp>
        <p:nvSpPr>
          <p:cNvPr id="10" name="Shape 8"/>
          <p:cNvSpPr/>
          <p:nvPr/>
        </p:nvSpPr>
        <p:spPr>
          <a:xfrm>
            <a:off x="4709160" y="1280160"/>
            <a:ext cx="3977640" cy="2182368"/>
          </a:xfrm>
          <a:prstGeom prst="roundRect">
            <a:avLst>
              <a:gd name="adj" fmla="val 4190"/>
            </a:avLst>
          </a:prstGeom>
          <a:solidFill>
            <a:srgbClr val="F4F2EE"/>
          </a:solidFill>
          <a:ln w="12700">
            <a:solidFill>
              <a:srgbClr val="F4F2EE"/>
            </a:solidFill>
            <a:prstDash val="solid"/>
          </a:ln>
        </p:spPr>
      </p:sp>
      <p:sp>
        <p:nvSpPr>
          <p:cNvPr id="11" name="Text 9"/>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Lightweight client</a:t>
            </a:r>
            <a:endParaRPr lang="en-US" sz="1600" dirty="0"/>
          </a:p>
        </p:txBody>
      </p:sp>
      <p:sp>
        <p:nvSpPr>
          <p:cNvPr id="12" name="Text 10"/>
          <p:cNvSpPr txBox="1"/>
          <p:nvPr/>
        </p:nvSpPr>
        <p:spPr>
          <a:xfrm>
            <a:off x="4892040" y="1783080"/>
            <a:ext cx="3611880" cy="154228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lightweight client, also known as a simplified-payment-verification (SPV) client, connects to a full node or other remote server for receiving and sending Bitcoin transaction information, but stores the user wallet locally, partially validates the transactions it receives, and independently creates outgoing transactions (Antonopoulos and Harding, 2023).</a:t>
            </a:r>
            <a:endParaRPr lang="en-US" sz="1200" dirty="0"/>
          </a:p>
        </p:txBody>
      </p:sp>
      <p:sp>
        <p:nvSpPr>
          <p:cNvPr id="13" name="Text 11"/>
          <p:cNvSpPr txBox="1"/>
          <p:nvPr/>
        </p:nvSpPr>
        <p:spPr>
          <a:xfrm>
            <a:off x="4709160" y="3608832"/>
            <a:ext cx="3977640" cy="852170"/>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client cannot check the transaction for itself; by linking it to a place in the chain, the whitepaper says, the client sees that a network node has accepted it, and blocks added after it further confirm that the network has accepted it (Nakamoto, 2008).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Third-party API client and Peer and client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2368296"/>
          </a:xfrm>
          <a:prstGeom prst="roundRect">
            <a:avLst>
              <a:gd name="adj" fmla="val 3861"/>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Third-party API client</a:t>
            </a:r>
            <a:endParaRPr lang="en-US" sz="1600" dirty="0"/>
          </a:p>
        </p:txBody>
      </p:sp>
      <p:sp>
        <p:nvSpPr>
          <p:cNvPr id="8" name="Text 6"/>
          <p:cNvSpPr txBox="1"/>
          <p:nvPr/>
        </p:nvSpPr>
        <p:spPr>
          <a:xfrm>
            <a:off x="640080" y="1783080"/>
            <a:ext cx="3611880" cy="172821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third-party API client is a wallet that interacts with Bitcoin through the interfaces of a third-party system, instead of connecting to the Bitcoin network directly. The chapter adds that the wallet may be stored by the user or by third-party servers, but that the client trusts the remote server to provide it with accurate information and to protect its privacy (Antonopoulos and Harding, 2023).</a:t>
            </a:r>
            <a:endParaRPr lang="en-US" sz="1200" dirty="0"/>
          </a:p>
        </p:txBody>
      </p:sp>
      <p:sp>
        <p:nvSpPr>
          <p:cNvPr id="9" name="Text 7"/>
          <p:cNvSpPr txBox="1"/>
          <p:nvPr/>
        </p:nvSpPr>
        <p:spPr>
          <a:xfrm>
            <a:off x="457200" y="3794760"/>
            <a:ext cx="397764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client sends requests to the remote service, such as the balance of an address or the data of a transaction, and receives answers that it displays.</a:t>
            </a:r>
            <a:endParaRPr lang="en-US" sz="1100" dirty="0"/>
          </a:p>
        </p:txBody>
      </p:sp>
      <p:sp>
        <p:nvSpPr>
          <p:cNvPr id="10" name="Shape 8"/>
          <p:cNvSpPr/>
          <p:nvPr/>
        </p:nvSpPr>
        <p:spPr>
          <a:xfrm>
            <a:off x="4709160" y="1280160"/>
            <a:ext cx="3977640" cy="1996440"/>
          </a:xfrm>
          <a:prstGeom prst="roundRect">
            <a:avLst>
              <a:gd name="adj" fmla="val 4580"/>
            </a:avLst>
          </a:prstGeom>
          <a:solidFill>
            <a:srgbClr val="F4F2EE"/>
          </a:solidFill>
          <a:ln w="12700">
            <a:solidFill>
              <a:srgbClr val="F4F2EE"/>
            </a:solidFill>
            <a:prstDash val="solid"/>
          </a:ln>
        </p:spPr>
      </p:sp>
      <p:sp>
        <p:nvSpPr>
          <p:cNvPr id="11" name="Text 9"/>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Peer and client</a:t>
            </a:r>
            <a:endParaRPr lang="en-US" sz="1600" dirty="0"/>
          </a:p>
        </p:txBody>
      </p:sp>
      <p:sp>
        <p:nvSpPr>
          <p:cNvPr id="12" name="Text 10"/>
          <p:cNvSpPr txBox="1"/>
          <p:nvPr/>
        </p:nvSpPr>
        <p:spPr>
          <a:xfrm>
            <a:off x="4892040" y="1783080"/>
            <a:ext cx="3611880" cy="13563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Peer and client are the two roles in the Bitcoin network, in the chapter's words. Bitcoin is a peer-to-peer network, and the full nodes are the peers: each peer individually validates every confirmed transaction and can provide data to its user with complete authority.</a:t>
            </a:r>
            <a:endParaRPr lang="en-US" sz="1200" dirty="0"/>
          </a:p>
        </p:txBody>
      </p:sp>
      <p:sp>
        <p:nvSpPr>
          <p:cNvPr id="13" name="Text 11"/>
          <p:cNvSpPr txBox="1"/>
          <p:nvPr/>
        </p:nvSpPr>
        <p:spPr>
          <a:xfrm>
            <a:off x="4709160" y="3422904"/>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A peer-to-peer network has no server at its centre: each node can ask for data and give data. A client such as a phone wallet connects to one or more peers and asks them what it needs.</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Key control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Wallet - 2 concepts</a:t>
            </a:r>
            <a:endParaRPr lang="en-US" sz="1300" dirty="0"/>
          </a:p>
        </p:txBody>
      </p:sp>
      <p:sp>
        <p:nvSpPr>
          <p:cNvPr id="6" name="Shape 4"/>
          <p:cNvSpPr/>
          <p:nvPr/>
        </p:nvSpPr>
        <p:spPr>
          <a:xfrm>
            <a:off x="457200" y="1280160"/>
            <a:ext cx="8229600" cy="1903476"/>
          </a:xfrm>
          <a:prstGeom prst="roundRect">
            <a:avLst>
              <a:gd name="adj" fmla="val 480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26339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Key control is the question of who holds the private keys that unlock a wallet's funds. The chapter calls this a very important additional consideration and says that access to bitcoins is controlled by private keys, which are like very long PINs. If you are the only one with control over the keys, you are in control of your bitcoins; if you do not have control, your bitcoins are managed by a third party who ultimately controls your funds on your behalf (Antonopoulos and Harding, 2023).</a:t>
            </a:r>
            <a:endParaRPr lang="en-US" sz="1300" dirty="0"/>
          </a:p>
        </p:txBody>
      </p:sp>
      <p:sp>
        <p:nvSpPr>
          <p:cNvPr id="9" name="Shape 7"/>
          <p:cNvSpPr/>
          <p:nvPr/>
        </p:nvSpPr>
        <p:spPr>
          <a:xfrm>
            <a:off x="457200" y="3329940"/>
            <a:ext cx="4041648" cy="858012"/>
          </a:xfrm>
          <a:prstGeom prst="roundRect">
            <a:avLst>
              <a:gd name="adj" fmla="val 8526"/>
            </a:avLst>
          </a:prstGeom>
          <a:solidFill>
            <a:srgbClr val="F4F2EE"/>
          </a:solidFill>
          <a:ln w="12700">
            <a:solidFill>
              <a:srgbClr val="D9D4CC"/>
            </a:solidFill>
            <a:prstDash val="solid"/>
          </a:ln>
        </p:spPr>
      </p:sp>
      <p:sp>
        <p:nvSpPr>
          <p:cNvPr id="10" name="Text 8"/>
          <p:cNvSpPr txBox="1"/>
          <p:nvPr/>
        </p:nvSpPr>
        <p:spPr>
          <a:xfrm>
            <a:off x="548640" y="3384804"/>
            <a:ext cx="3858768"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Noncustodial wallet</a:t>
            </a:r>
            <a:endParaRPr lang="en-US" sz="1250" dirty="0"/>
          </a:p>
        </p:txBody>
      </p:sp>
      <p:sp>
        <p:nvSpPr>
          <p:cNvPr id="11" name="Shape 9"/>
          <p:cNvSpPr/>
          <p:nvPr/>
        </p:nvSpPr>
        <p:spPr>
          <a:xfrm>
            <a:off x="4645152" y="3329940"/>
            <a:ext cx="4041648" cy="858012"/>
          </a:xfrm>
          <a:prstGeom prst="roundRect">
            <a:avLst>
              <a:gd name="adj" fmla="val 8526"/>
            </a:avLst>
          </a:prstGeom>
          <a:solidFill>
            <a:srgbClr val="F4F2EE"/>
          </a:solidFill>
          <a:ln w="12700">
            <a:solidFill>
              <a:srgbClr val="D9D4CC"/>
            </a:solidFill>
            <a:prstDash val="solid"/>
          </a:ln>
        </p:spPr>
      </p:sp>
      <p:sp>
        <p:nvSpPr>
          <p:cNvPr id="12" name="Text 10"/>
          <p:cNvSpPr txBox="1"/>
          <p:nvPr/>
        </p:nvSpPr>
        <p:spPr>
          <a:xfrm>
            <a:off x="4736592" y="3384804"/>
            <a:ext cx="3858768"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Custodial wallet</a:t>
            </a:r>
            <a:endParaRPr lang="en-US" sz="1250" dirty="0"/>
          </a:p>
        </p:txBody>
      </p:sp>
      <p:sp>
        <p:nvSpPr>
          <p:cNvPr id="13" name="Text 11"/>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Two concepts divide the section. The noncustodial wallet is the arrangement in which the user alone controls the keys and bears the responsibility for backing them up.</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Noncustodial wallet and Custodial wallet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2368296"/>
          </a:xfrm>
          <a:prstGeom prst="roundRect">
            <a:avLst>
              <a:gd name="adj" fmla="val 3861"/>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Noncustodial wallet</a:t>
            </a:r>
            <a:endParaRPr lang="en-US" sz="1600" dirty="0"/>
          </a:p>
        </p:txBody>
      </p:sp>
      <p:sp>
        <p:nvSpPr>
          <p:cNvPr id="8" name="Text 6"/>
          <p:cNvSpPr txBox="1"/>
          <p:nvPr/>
        </p:nvSpPr>
        <p:spPr>
          <a:xfrm>
            <a:off x="640080" y="1783080"/>
            <a:ext cx="3611880" cy="172821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noncustodial wallet is a wallet in which the user, and only the user, controls the keys. In the story of the chapter, the wallet that Alice has chosen is a noncustodial wallet, so Alice (and only Alice) will be in control of her keys (Antonopoulos and Harding, 2023). The word custodial refers to a custodian, a third party who holds something on behalf of its owner; the prefix non- means that there is none.</a:t>
            </a:r>
            <a:endParaRPr lang="en-US" sz="1200" dirty="0"/>
          </a:p>
        </p:txBody>
      </p:sp>
      <p:sp>
        <p:nvSpPr>
          <p:cNvPr id="9" name="Text 7"/>
          <p:cNvSpPr txBox="1"/>
          <p:nvPr/>
        </p:nvSpPr>
        <p:spPr>
          <a:xfrm>
            <a:off x="457200" y="3794760"/>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wallet creates the private keys on the user's device, keeps them there, and signs transactions on request. No server needs to approve a payment, and none can block one.</a:t>
            </a:r>
            <a:endParaRPr lang="en-US" sz="1100" dirty="0"/>
          </a:p>
        </p:txBody>
      </p:sp>
      <p:sp>
        <p:nvSpPr>
          <p:cNvPr id="10" name="Shape 8"/>
          <p:cNvSpPr/>
          <p:nvPr/>
        </p:nvSpPr>
        <p:spPr>
          <a:xfrm>
            <a:off x="4709160" y="1280160"/>
            <a:ext cx="3977640" cy="2368296"/>
          </a:xfrm>
          <a:prstGeom prst="roundRect">
            <a:avLst>
              <a:gd name="adj" fmla="val 3861"/>
            </a:avLst>
          </a:prstGeom>
          <a:solidFill>
            <a:srgbClr val="F4F2EE"/>
          </a:solidFill>
          <a:ln w="12700">
            <a:solidFill>
              <a:srgbClr val="F4F2EE"/>
            </a:solidFill>
            <a:prstDash val="solid"/>
          </a:ln>
        </p:spPr>
      </p:sp>
      <p:sp>
        <p:nvSpPr>
          <p:cNvPr id="11" name="Text 9"/>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Custodial wallet</a:t>
            </a:r>
            <a:endParaRPr lang="en-US" sz="1600" dirty="0"/>
          </a:p>
        </p:txBody>
      </p:sp>
      <p:sp>
        <p:nvSpPr>
          <p:cNvPr id="12" name="Text 10"/>
          <p:cNvSpPr txBox="1"/>
          <p:nvPr/>
        </p:nvSpPr>
        <p:spPr>
          <a:xfrm>
            <a:off x="4892040" y="1783080"/>
            <a:ext cx="3611880" cy="172821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custodial wallet, or account with a custodian, is the opposite of the noncustodial wallet: a third party controls the keys. The chapter divides key management software into two important categories based on control, wallets, where you control the keys, and the funds and accounts with custodians, where some third party controls the keys (Antonopoulos and Harding, 2023).</a:t>
            </a:r>
            <a:endParaRPr lang="en-US" sz="1200" dirty="0"/>
          </a:p>
        </p:txBody>
      </p:sp>
      <p:sp>
        <p:nvSpPr>
          <p:cNvPr id="13" name="Text 11"/>
          <p:cNvSpPr txBox="1"/>
          <p:nvPr/>
        </p:nvSpPr>
        <p:spPr>
          <a:xfrm>
            <a:off x="4709160" y="3794760"/>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custodian keeps the keys in its own systems and maintains an account for each customer in its own records. A payment between two customers of the same custodian may not touch the Bitcoin network at all.</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Backup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Wallet - 2 concepts</a:t>
            </a:r>
            <a:endParaRPr lang="en-US" sz="1300" dirty="0"/>
          </a:p>
        </p:txBody>
      </p:sp>
      <p:sp>
        <p:nvSpPr>
          <p:cNvPr id="6" name="Shape 4"/>
          <p:cNvSpPr/>
          <p:nvPr/>
        </p:nvSpPr>
        <p:spPr>
          <a:xfrm>
            <a:off x="457200" y="1280160"/>
            <a:ext cx="8229600" cy="1702054"/>
          </a:xfrm>
          <a:prstGeom prst="roundRect">
            <a:avLst>
              <a:gd name="adj" fmla="val 5372"/>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06197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Backup section is about getting a wallet back after something goes wrong. It begins with the chapter's account of Alice's first start-up, when her noncustodial wallet produces a recovery code that can be used to restore it, and it goes on to the additional data that a recovery code does not contain, and to the payments that some technologies keep outside the public blockchain (Antonopoulos and Harding, 2023).</a:t>
            </a:r>
            <a:endParaRPr lang="en-US" sz="1300" dirty="0"/>
          </a:p>
        </p:txBody>
      </p:sp>
      <p:sp>
        <p:nvSpPr>
          <p:cNvPr id="9" name="Shape 7"/>
          <p:cNvSpPr/>
          <p:nvPr/>
        </p:nvSpPr>
        <p:spPr>
          <a:xfrm>
            <a:off x="457200" y="3128518"/>
            <a:ext cx="4041648" cy="1059434"/>
          </a:xfrm>
          <a:prstGeom prst="roundRect">
            <a:avLst>
              <a:gd name="adj" fmla="val 6905"/>
            </a:avLst>
          </a:prstGeom>
          <a:solidFill>
            <a:srgbClr val="F4F2EE"/>
          </a:solidFill>
          <a:ln w="12700">
            <a:solidFill>
              <a:srgbClr val="D9D4CC"/>
            </a:solidFill>
            <a:prstDash val="solid"/>
          </a:ln>
        </p:spPr>
      </p:sp>
      <p:sp>
        <p:nvSpPr>
          <p:cNvPr id="10" name="Text 8"/>
          <p:cNvSpPr txBox="1"/>
          <p:nvPr/>
        </p:nvSpPr>
        <p:spPr>
          <a:xfrm>
            <a:off x="548640" y="3183382"/>
            <a:ext cx="3858768"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Recovery code</a:t>
            </a:r>
            <a:endParaRPr lang="en-US" sz="1250" dirty="0"/>
          </a:p>
        </p:txBody>
      </p:sp>
      <p:sp>
        <p:nvSpPr>
          <p:cNvPr id="11" name="Shape 9"/>
          <p:cNvSpPr/>
          <p:nvPr/>
        </p:nvSpPr>
        <p:spPr>
          <a:xfrm>
            <a:off x="4645152" y="3128518"/>
            <a:ext cx="4041648" cy="1059434"/>
          </a:xfrm>
          <a:prstGeom prst="roundRect">
            <a:avLst>
              <a:gd name="adj" fmla="val 6905"/>
            </a:avLst>
          </a:prstGeom>
          <a:solidFill>
            <a:srgbClr val="F4F2EE"/>
          </a:solidFill>
          <a:ln w="12700">
            <a:solidFill>
              <a:srgbClr val="D9D4CC"/>
            </a:solidFill>
            <a:prstDash val="solid"/>
          </a:ln>
        </p:spPr>
      </p:sp>
      <p:sp>
        <p:nvSpPr>
          <p:cNvPr id="12" name="Text 10"/>
          <p:cNvSpPr txBox="1"/>
          <p:nvPr/>
        </p:nvSpPr>
        <p:spPr>
          <a:xfrm>
            <a:off x="4736592" y="3183382"/>
            <a:ext cx="3858768"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Wallet metadata</a:t>
            </a:r>
            <a:endParaRPr lang="en-US" sz="1250" dirty="0"/>
          </a:p>
        </p:txBody>
      </p:sp>
      <p:sp>
        <p:nvSpPr>
          <p:cNvPr id="13" name="Text 11"/>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recovery code is the central concept, and the section also covers wallet metadata, the labels and notes of the user.</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Recovery code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list of twelve words</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recovery code is a short secret, created by the wallet, from which all of the wallet's keys can be rebuilt.</a:t>
            </a:r>
            <a:endParaRPr lang="en-US" sz="1300" dirty="0"/>
          </a:p>
        </p:txBody>
      </p:sp>
      <p:sp>
        <p:nvSpPr>
          <p:cNvPr id="9" name="Shape 7"/>
          <p:cNvSpPr/>
          <p:nvPr/>
        </p:nvSpPr>
        <p:spPr>
          <a:xfrm>
            <a:off x="457200" y="2524252"/>
            <a:ext cx="8229600" cy="547624"/>
          </a:xfrm>
          <a:prstGeom prst="roundRect">
            <a:avLst>
              <a:gd name="adj" fmla="val 16698"/>
            </a:avLst>
          </a:prstGeom>
          <a:solidFill>
            <a:srgbClr val="15191E"/>
          </a:solidFill>
          <a:ln w="12700">
            <a:solidFill>
              <a:srgbClr val="15191E"/>
            </a:solidFill>
            <a:prstDash val="solid"/>
          </a:ln>
        </p:spPr>
      </p:sp>
      <p:sp>
        <p:nvSpPr>
          <p:cNvPr id="10" name="Text 8"/>
          <p:cNvSpPr txBox="1"/>
          <p:nvPr/>
        </p:nvSpPr>
        <p:spPr>
          <a:xfrm>
            <a:off x="640080" y="2643124"/>
            <a:ext cx="7863840" cy="30988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len('nephew dog crane clever quantum crazy purse traffic repeat fruit old clutch'.split())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12</a:t>
            </a:r>
            <a:endParaRPr lang="en-US" sz="1000" dirty="0"/>
          </a:p>
        </p:txBody>
      </p:sp>
      <p:sp>
        <p:nvSpPr>
          <p:cNvPr id="11" name="Text 9"/>
          <p:cNvSpPr txBox="1"/>
          <p:nvPr/>
        </p:nvSpPr>
        <p:spPr>
          <a:xfrm>
            <a:off x="457200" y="309016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309620"/>
            <a:ext cx="8229600" cy="1066800"/>
          </a:xfrm>
          <a:prstGeom prst="roundRect">
            <a:avLst>
              <a:gd name="adj" fmla="val 8571"/>
            </a:avLst>
          </a:prstGeom>
          <a:solidFill>
            <a:srgbClr val="F4F2EE"/>
          </a:solidFill>
          <a:ln w="12700">
            <a:solidFill>
              <a:srgbClr val="F4F2EE"/>
            </a:solidFill>
            <a:prstDash val="solid"/>
          </a:ln>
        </p:spPr>
      </p:sp>
      <p:sp>
        <p:nvSpPr>
          <p:cNvPr id="13" name="Text 11"/>
          <p:cNvSpPr txBox="1"/>
          <p:nvPr/>
        </p:nvSpPr>
        <p:spPr>
          <a:xfrm>
            <a:off x="640080" y="342849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812540"/>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In the BIP 39 convention, the wallet first generates random bits called the initial entropy, between 128 and 256 bits.</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Wallet metadata</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labels attached to addresses and transactions</a:t>
            </a:r>
            <a:endParaRPr lang="en-US" sz="1300" dirty="0"/>
          </a:p>
        </p:txBody>
      </p:sp>
      <p:sp>
        <p:nvSpPr>
          <p:cNvPr id="6" name="Shape 4"/>
          <p:cNvSpPr/>
          <p:nvPr/>
        </p:nvSpPr>
        <p:spPr>
          <a:xfrm>
            <a:off x="457200" y="1280160"/>
            <a:ext cx="8229600" cy="1702054"/>
          </a:xfrm>
          <a:prstGeom prst="roundRect">
            <a:avLst>
              <a:gd name="adj" fmla="val 5372"/>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106197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Wallet metadata is the information that a user adds to a wallet about his own transactions, such as the labels that he associates with particular addresses or transactions. The chapter points out that recovering from the recovery code will not by itself restore any additional data Alice entered into her wallet (Antonopoulos and Harding, 2023). The data is stored in the wallet's database, and not in the blockchain.</a:t>
            </a:r>
            <a:endParaRPr lang="en-US" sz="1300" dirty="0"/>
          </a:p>
        </p:txBody>
      </p:sp>
      <p:sp>
        <p:nvSpPr>
          <p:cNvPr id="9" name="Shape 7"/>
          <p:cNvSpPr/>
          <p:nvPr/>
        </p:nvSpPr>
        <p:spPr>
          <a:xfrm>
            <a:off x="457200" y="3128518"/>
            <a:ext cx="8229600" cy="1438656"/>
          </a:xfrm>
          <a:prstGeom prst="roundRect">
            <a:avLst>
              <a:gd name="adj" fmla="val 6356"/>
            </a:avLst>
          </a:prstGeom>
          <a:solidFill>
            <a:srgbClr val="F4F2EE"/>
          </a:solidFill>
          <a:ln w="12700">
            <a:solidFill>
              <a:srgbClr val="F4F2EE"/>
            </a:solidFill>
            <a:prstDash val="solid"/>
          </a:ln>
        </p:spPr>
      </p:sp>
      <p:sp>
        <p:nvSpPr>
          <p:cNvPr id="10" name="Text 8"/>
          <p:cNvSpPr txBox="1"/>
          <p:nvPr/>
        </p:nvSpPr>
        <p:spPr>
          <a:xfrm>
            <a:off x="640080" y="3247390"/>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Where you meet it</a:t>
            </a:r>
            <a:endParaRPr lang="en-US" sz="1600" dirty="0"/>
          </a:p>
        </p:txBody>
      </p:sp>
      <p:sp>
        <p:nvSpPr>
          <p:cNvPr id="11" name="Text 9"/>
          <p:cNvSpPr txBox="1"/>
          <p:nvPr/>
        </p:nvSpPr>
        <p:spPr>
          <a:xfrm>
            <a:off x="640080" y="3631438"/>
            <a:ext cx="786384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Joe meets metadata when his wallet suggests that he enter a label for the transaction, and he enters Alice, so that weeks or months later he will remember why he sent 0.001 bitcoin (Antonopoulos and Harding, 2023). Many wallets provide an additional backup feature beyond recovery codes, so that this data can be saved separately.</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457200" y="960120"/>
            <a:ext cx="128016" cy="1417320"/>
          </a:xfrm>
          <a:prstGeom prst="rect">
            <a:avLst/>
          </a:prstGeom>
          <a:solidFill>
            <a:srgbClr val="F7931A"/>
          </a:solidFill>
          <a:ln w="12700">
            <a:solidFill>
              <a:srgbClr val="F7931A"/>
            </a:solidFill>
            <a:prstDash val="solid"/>
          </a:ln>
        </p:spPr>
      </p:sp>
      <p:sp>
        <p:nvSpPr>
          <p:cNvPr id="3" name="Text 1"/>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Usage</a:t>
            </a:r>
            <a:endParaRPr lang="en-US" sz="3200" dirty="0"/>
          </a:p>
        </p:txBody>
      </p:sp>
      <p:sp>
        <p:nvSpPr>
          <p:cNvPr id="4" name="Text 2"/>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C9D1DA"/>
                </a:solidFill>
                <a:latin typeface="Calibri" pitchFamily="34" charset="0"/>
                <a:ea typeface="Calibri" pitchFamily="34" charset="-122"/>
                <a:cs typeface="Calibri" pitchFamily="34" charset="-120"/>
              </a:rPr>
              <a:t>The Usage branch follows the chapter's story of Alice and Joe: how Alice receives her first address, how she acquires her first bitcoin, and how Joe sends it.</a:t>
            </a:r>
            <a:endParaRPr lang="en-US" sz="1500" dirty="0"/>
          </a:p>
        </p:txBody>
      </p:sp>
      <p:sp>
        <p:nvSpPr>
          <p:cNvPr id="5" name="Shape 3"/>
          <p:cNvSpPr/>
          <p:nvPr/>
        </p:nvSpPr>
        <p:spPr>
          <a:xfrm>
            <a:off x="457200" y="2788920"/>
            <a:ext cx="1947672" cy="1371600"/>
          </a:xfrm>
          <a:prstGeom prst="roundRect">
            <a:avLst>
              <a:gd name="adj" fmla="val 5333"/>
            </a:avLst>
          </a:prstGeom>
          <a:solidFill>
            <a:srgbClr val="3A4250"/>
          </a:solidFill>
          <a:ln w="12700">
            <a:solidFill>
              <a:srgbClr val="F7931A"/>
            </a:solidFill>
            <a:prstDash val="solid"/>
          </a:ln>
        </p:spPr>
      </p:sp>
      <p:sp>
        <p:nvSpPr>
          <p:cNvPr id="6" name="Text 4"/>
          <p:cNvSpPr txBox="1"/>
          <p:nvPr/>
        </p:nvSpPr>
        <p:spPr>
          <a:xfrm>
            <a:off x="530352" y="2834640"/>
            <a:ext cx="1801368"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Address</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4 concepts</a:t>
            </a:r>
            <a:endParaRPr lang="en-US" sz="1200" dirty="0"/>
          </a:p>
        </p:txBody>
      </p:sp>
      <p:sp>
        <p:nvSpPr>
          <p:cNvPr id="7" name="Shape 5"/>
          <p:cNvSpPr/>
          <p:nvPr/>
        </p:nvSpPr>
        <p:spPr>
          <a:xfrm>
            <a:off x="2551176" y="2788920"/>
            <a:ext cx="1947672" cy="1371600"/>
          </a:xfrm>
          <a:prstGeom prst="roundRect">
            <a:avLst>
              <a:gd name="adj" fmla="val 5333"/>
            </a:avLst>
          </a:prstGeom>
          <a:solidFill>
            <a:srgbClr val="3A4250"/>
          </a:solidFill>
          <a:ln w="12700">
            <a:solidFill>
              <a:srgbClr val="F7931A"/>
            </a:solidFill>
            <a:prstDash val="solid"/>
          </a:ln>
        </p:spPr>
      </p:sp>
      <p:sp>
        <p:nvSpPr>
          <p:cNvPr id="8" name="Text 6"/>
          <p:cNvSpPr txBox="1"/>
          <p:nvPr/>
        </p:nvSpPr>
        <p:spPr>
          <a:xfrm>
            <a:off x="2624328" y="2834640"/>
            <a:ext cx="1801368"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Transfer</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10 concepts</a:t>
            </a:r>
            <a:endParaRPr lang="en-US" sz="1200" dirty="0"/>
          </a:p>
        </p:txBody>
      </p:sp>
      <p:sp>
        <p:nvSpPr>
          <p:cNvPr id="9" name="Shape 7"/>
          <p:cNvSpPr/>
          <p:nvPr/>
        </p:nvSpPr>
        <p:spPr>
          <a:xfrm>
            <a:off x="4645152" y="2788920"/>
            <a:ext cx="1947672" cy="1371600"/>
          </a:xfrm>
          <a:prstGeom prst="roundRect">
            <a:avLst>
              <a:gd name="adj" fmla="val 5333"/>
            </a:avLst>
          </a:prstGeom>
          <a:solidFill>
            <a:srgbClr val="3A4250"/>
          </a:solidFill>
          <a:ln w="12700">
            <a:solidFill>
              <a:srgbClr val="F7931A"/>
            </a:solidFill>
            <a:prstDash val="solid"/>
          </a:ln>
        </p:spPr>
      </p:sp>
      <p:sp>
        <p:nvSpPr>
          <p:cNvPr id="10" name="Text 8"/>
          <p:cNvSpPr txBox="1"/>
          <p:nvPr/>
        </p:nvSpPr>
        <p:spPr>
          <a:xfrm>
            <a:off x="4718304" y="2834640"/>
            <a:ext cx="1801368"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Semantic bridge</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2 concepts</a:t>
            </a:r>
            <a:endParaRPr lang="en-US" sz="1200" dirty="0"/>
          </a:p>
        </p:txBody>
      </p:sp>
      <p:sp>
        <p:nvSpPr>
          <p:cNvPr id="11" name="Shape 9"/>
          <p:cNvSpPr/>
          <p:nvPr/>
        </p:nvSpPr>
        <p:spPr>
          <a:xfrm>
            <a:off x="6739128" y="2788920"/>
            <a:ext cx="1947672" cy="1371600"/>
          </a:xfrm>
          <a:prstGeom prst="roundRect">
            <a:avLst>
              <a:gd name="adj" fmla="val 5333"/>
            </a:avLst>
          </a:prstGeom>
          <a:solidFill>
            <a:srgbClr val="3A4250"/>
          </a:solidFill>
          <a:ln w="12700">
            <a:solidFill>
              <a:srgbClr val="F7931A"/>
            </a:solidFill>
            <a:prstDash val="solid"/>
          </a:ln>
        </p:spPr>
      </p:sp>
      <p:sp>
        <p:nvSpPr>
          <p:cNvPr id="12" name="Text 10"/>
          <p:cNvSpPr txBox="1"/>
          <p:nvPr/>
        </p:nvSpPr>
        <p:spPr>
          <a:xfrm>
            <a:off x="6812280" y="2834640"/>
            <a:ext cx="1801368"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Acquisition</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5 concepts</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Address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Usage - 4 concepts</a:t>
            </a:r>
            <a:endParaRPr lang="en-US" sz="1300" dirty="0"/>
          </a:p>
        </p:txBody>
      </p:sp>
      <p:sp>
        <p:nvSpPr>
          <p:cNvPr id="6" name="Shape 4"/>
          <p:cNvSpPr/>
          <p:nvPr/>
        </p:nvSpPr>
        <p:spPr>
          <a:xfrm>
            <a:off x="457200" y="1280160"/>
            <a:ext cx="8229600" cy="1702054"/>
          </a:xfrm>
          <a:prstGeom prst="roundRect">
            <a:avLst>
              <a:gd name="adj" fmla="val 5372"/>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06197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Address section explains the destination of a payment. An address is what a person shares so that others can send bitcoin to his wallet, and it is the first thing Alice's new wallet produces when she presses Receive. The chapter's tip adds that there are a variety of Bitcoin addresses and invoice formats, and that both may be shared with other users who can then send bitcoin directly to the wallet (Antonopoulos and Harding, 2023).</a:t>
            </a:r>
            <a:endParaRPr lang="en-US" sz="1300" dirty="0"/>
          </a:p>
        </p:txBody>
      </p:sp>
      <p:sp>
        <p:nvSpPr>
          <p:cNvPr id="9" name="Shape 7"/>
          <p:cNvSpPr/>
          <p:nvPr/>
        </p:nvSpPr>
        <p:spPr>
          <a:xfrm>
            <a:off x="457200" y="3128518"/>
            <a:ext cx="1947672" cy="1059434"/>
          </a:xfrm>
          <a:prstGeom prst="roundRect">
            <a:avLst>
              <a:gd name="adj" fmla="val 6905"/>
            </a:avLst>
          </a:prstGeom>
          <a:solidFill>
            <a:srgbClr val="F4F2EE"/>
          </a:solidFill>
          <a:ln w="12700">
            <a:solidFill>
              <a:srgbClr val="D9D4CC"/>
            </a:solidFill>
            <a:prstDash val="solid"/>
          </a:ln>
        </p:spPr>
      </p:sp>
      <p:sp>
        <p:nvSpPr>
          <p:cNvPr id="10" name="Text 8"/>
          <p:cNvSpPr txBox="1"/>
          <p:nvPr/>
        </p:nvSpPr>
        <p:spPr>
          <a:xfrm>
            <a:off x="548640"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Bitcoin address</a:t>
            </a:r>
            <a:endParaRPr lang="en-US" sz="1250" dirty="0"/>
          </a:p>
        </p:txBody>
      </p:sp>
      <p:sp>
        <p:nvSpPr>
          <p:cNvPr id="11" name="Shape 9"/>
          <p:cNvSpPr/>
          <p:nvPr/>
        </p:nvSpPr>
        <p:spPr>
          <a:xfrm>
            <a:off x="2551176" y="3128518"/>
            <a:ext cx="1947672" cy="1059434"/>
          </a:xfrm>
          <a:prstGeom prst="roundRect">
            <a:avLst>
              <a:gd name="adj" fmla="val 6905"/>
            </a:avLst>
          </a:prstGeom>
          <a:solidFill>
            <a:srgbClr val="F4F2EE"/>
          </a:solidFill>
          <a:ln w="12700">
            <a:solidFill>
              <a:srgbClr val="D9D4CC"/>
            </a:solidFill>
            <a:prstDash val="solid"/>
          </a:ln>
        </p:spPr>
      </p:sp>
      <p:sp>
        <p:nvSpPr>
          <p:cNvPr id="12" name="Text 10"/>
          <p:cNvSpPr txBox="1"/>
          <p:nvPr/>
        </p:nvSpPr>
        <p:spPr>
          <a:xfrm>
            <a:off x="2642616"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Invoice</a:t>
            </a:r>
            <a:endParaRPr lang="en-US" sz="1250" dirty="0"/>
          </a:p>
        </p:txBody>
      </p:sp>
      <p:sp>
        <p:nvSpPr>
          <p:cNvPr id="13" name="Shape 11"/>
          <p:cNvSpPr/>
          <p:nvPr/>
        </p:nvSpPr>
        <p:spPr>
          <a:xfrm>
            <a:off x="4645152" y="3128518"/>
            <a:ext cx="1947672" cy="1059434"/>
          </a:xfrm>
          <a:prstGeom prst="roundRect">
            <a:avLst>
              <a:gd name="adj" fmla="val 6905"/>
            </a:avLst>
          </a:prstGeom>
          <a:solidFill>
            <a:srgbClr val="F4F2EE"/>
          </a:solidFill>
          <a:ln w="12700">
            <a:solidFill>
              <a:srgbClr val="D9D4CC"/>
            </a:solidFill>
            <a:prstDash val="solid"/>
          </a:ln>
        </p:spPr>
      </p:sp>
      <p:sp>
        <p:nvSpPr>
          <p:cNvPr id="14" name="Text 12"/>
          <p:cNvSpPr txBox="1"/>
          <p:nvPr/>
        </p:nvSpPr>
        <p:spPr>
          <a:xfrm>
            <a:off x="4736592"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Address reuse and privacy</a:t>
            </a:r>
            <a:endParaRPr lang="en-US" sz="1250" dirty="0"/>
          </a:p>
        </p:txBody>
      </p:sp>
      <p:sp>
        <p:nvSpPr>
          <p:cNvPr id="15" name="Shape 13"/>
          <p:cNvSpPr/>
          <p:nvPr/>
        </p:nvSpPr>
        <p:spPr>
          <a:xfrm>
            <a:off x="6739128" y="3128518"/>
            <a:ext cx="1947672" cy="1059434"/>
          </a:xfrm>
          <a:prstGeom prst="roundRect">
            <a:avLst>
              <a:gd name="adj" fmla="val 6905"/>
            </a:avLst>
          </a:prstGeom>
          <a:solidFill>
            <a:srgbClr val="F4F2EE"/>
          </a:solidFill>
          <a:ln w="12700">
            <a:solidFill>
              <a:srgbClr val="D9D4CC"/>
            </a:solidFill>
            <a:prstDash val="solid"/>
          </a:ln>
        </p:spPr>
      </p:sp>
      <p:sp>
        <p:nvSpPr>
          <p:cNvPr id="16" name="Text 14"/>
          <p:cNvSpPr txBox="1"/>
          <p:nvPr/>
        </p:nvSpPr>
        <p:spPr>
          <a:xfrm>
            <a:off x="6830568"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Privacy</a:t>
            </a:r>
            <a:endParaRPr lang="en-US" sz="1250" dirty="0"/>
          </a:p>
        </p:txBody>
      </p:sp>
      <p:sp>
        <p:nvSpPr>
          <p:cNvPr id="17" name="Text 15"/>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three concepts of the section move from the object to its use.</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Bitcoin address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 address shown as a QR code</a:t>
            </a:r>
            <a:endParaRPr lang="en-US" sz="1300" dirty="0"/>
          </a:p>
        </p:txBody>
      </p:sp>
      <p:sp>
        <p:nvSpPr>
          <p:cNvPr id="6" name="Shape 4"/>
          <p:cNvSpPr/>
          <p:nvPr/>
        </p:nvSpPr>
        <p:spPr>
          <a:xfrm>
            <a:off x="457200" y="1280160"/>
            <a:ext cx="8229600" cy="1903476"/>
          </a:xfrm>
          <a:prstGeom prst="roundRect">
            <a:avLst>
              <a:gd name="adj" fmla="val 480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126339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Bitcoin address is the string of characters that identifies where a payment is to be sent. The chapter explains that Alice's wallet randomly generated a private key, which will be used to derive Bitcoin addresses that direct to her wallet, and that her addresses are simply numbers that correspond to her private key and that she can use to control access to the funds (Antonopoulos and Harding, 2023). The glossary adds that an address looks like a string of letters and numbers.</a:t>
            </a:r>
            <a:endParaRPr lang="en-US" sz="1300" dirty="0"/>
          </a:p>
        </p:txBody>
      </p:sp>
      <p:sp>
        <p:nvSpPr>
          <p:cNvPr id="9" name="Shape 7"/>
          <p:cNvSpPr/>
          <p:nvPr/>
        </p:nvSpPr>
        <p:spPr>
          <a:xfrm>
            <a:off x="457200" y="3329940"/>
            <a:ext cx="8229600" cy="1252728"/>
          </a:xfrm>
          <a:prstGeom prst="roundRect">
            <a:avLst>
              <a:gd name="adj" fmla="val 7299"/>
            </a:avLst>
          </a:prstGeom>
          <a:solidFill>
            <a:srgbClr val="F4F2EE"/>
          </a:solidFill>
          <a:ln w="12700">
            <a:solidFill>
              <a:srgbClr val="F4F2EE"/>
            </a:solidFill>
            <a:prstDash val="solid"/>
          </a:ln>
        </p:spPr>
      </p:sp>
      <p:sp>
        <p:nvSpPr>
          <p:cNvPr id="10" name="Text 8"/>
          <p:cNvSpPr txBox="1"/>
          <p:nvPr/>
        </p:nvSpPr>
        <p:spPr>
          <a:xfrm>
            <a:off x="640080" y="344881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Where you meet it</a:t>
            </a:r>
            <a:endParaRPr lang="en-US" sz="1600" dirty="0"/>
          </a:p>
        </p:txBody>
      </p:sp>
      <p:sp>
        <p:nvSpPr>
          <p:cNvPr id="11" name="Text 9"/>
          <p:cNvSpPr txBox="1"/>
          <p:nvPr/>
        </p:nvSpPr>
        <p:spPr>
          <a:xfrm>
            <a:off x="640080" y="3832860"/>
            <a:ext cx="786384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address is the part of the payment that the sender sees. In the story, Alice presses the Receive button and the wallet shows her first Bitcoin address as a QR code, which Joe scans instead of typing the quite long address by hand (Antonopoulos and Harding, 2023).</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Invoice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QR code with an address and an amount</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invoice is a request for payment that a wallet can understand. The chapter says that there is a variety of Bitcoin addresses and invoice formats, and that addresses and invoices can be shared with other Bitcoin users who can use them to send bitcoins directly to your wallet (Antonopoulos and Harding, 2023).</a:t>
            </a:r>
            <a:endParaRPr lang="en-US" sz="1300" dirty="0"/>
          </a:p>
        </p:txBody>
      </p:sp>
      <p:sp>
        <p:nvSpPr>
          <p:cNvPr id="9" name="Shape 7"/>
          <p:cNvSpPr/>
          <p:nvPr/>
        </p:nvSpPr>
        <p:spPr>
          <a:xfrm>
            <a:off x="457200" y="2927096"/>
            <a:ext cx="8229600" cy="516636"/>
          </a:xfrm>
          <a:prstGeom prst="roundRect">
            <a:avLst>
              <a:gd name="adj" fmla="val 17699"/>
            </a:avLst>
          </a:prstGeom>
          <a:solidFill>
            <a:srgbClr val="15191E"/>
          </a:solidFill>
          <a:ln w="12700">
            <a:solidFill>
              <a:srgbClr val="15191E"/>
            </a:solidFill>
            <a:prstDash val="solid"/>
          </a:ln>
        </p:spPr>
      </p:sp>
      <p:sp>
        <p:nvSpPr>
          <p:cNvPr id="10" name="Text 8"/>
          <p:cNvSpPr txBox="1"/>
          <p:nvPr/>
        </p:nvSpPr>
        <p:spPr>
          <a:xfrm>
            <a:off x="640080" y="3045968"/>
            <a:ext cx="7863840" cy="278892"/>
          </a:xfrm>
          <a:prstGeom prst="rect">
            <a:avLst/>
          </a:prstGeom>
          <a:noFill/>
          <a:ln/>
        </p:spPr>
        <p:txBody>
          <a:bodyPr wrap="square" lIns="0" tIns="0" rIns="0" bIns="0" rtlCol="0" anchor="t"/>
          <a:lstStyle/>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int(decimal.Decimal(urllib.parse.parse_qs('amount=0.01577764&amp;label=Bob%27s%20Store')['amount'][0]) * 10**8)</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1577764</a:t>
            </a:r>
            <a:endParaRPr lang="en-US" sz="900" dirty="0"/>
          </a:p>
        </p:txBody>
      </p:sp>
      <p:sp>
        <p:nvSpPr>
          <p:cNvPr id="11" name="Text 9"/>
          <p:cNvSpPr txBox="1"/>
          <p:nvPr/>
        </p:nvSpPr>
        <p:spPr>
          <a:xfrm>
            <a:off x="457200" y="3462020"/>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681476"/>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800348"/>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184396"/>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An invoice is text in the form of a web address, a URI, whose parts can be read by a program.</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Address reuse and privacy and Privacy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2368296"/>
          </a:xfrm>
          <a:prstGeom prst="roundRect">
            <a:avLst>
              <a:gd name="adj" fmla="val 3861"/>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Address reuse and privacy</a:t>
            </a:r>
            <a:endParaRPr lang="en-US" sz="1600" dirty="0"/>
          </a:p>
        </p:txBody>
      </p:sp>
      <p:sp>
        <p:nvSpPr>
          <p:cNvPr id="8" name="Text 6"/>
          <p:cNvSpPr txBox="1"/>
          <p:nvPr/>
        </p:nvSpPr>
        <p:spPr>
          <a:xfrm>
            <a:off x="640080" y="1783080"/>
            <a:ext cx="3611880" cy="172821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Address reuse is the practice of using the same address for more than one payment. The chapter explains its consequence for privacy: if you give two people the same address, they will be able to see how many bitcoins the other person sent you, and if you post your address publicly, everyone will be able to see how much bitcoin other people sent to that address (Antonopoulos and Harding, 2023).</a:t>
            </a:r>
            <a:endParaRPr lang="en-US" sz="1200" dirty="0"/>
          </a:p>
        </p:txBody>
      </p:sp>
      <p:sp>
        <p:nvSpPr>
          <p:cNvPr id="9" name="Text 7"/>
          <p:cNvSpPr txBox="1"/>
          <p:nvPr/>
        </p:nvSpPr>
        <p:spPr>
          <a:xfrm>
            <a:off x="457200" y="3794760"/>
            <a:ext cx="397764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record of all payments is public, so any address that is used twice joins the two payments into one history.</a:t>
            </a:r>
            <a:endParaRPr lang="en-US" sz="1100" dirty="0"/>
          </a:p>
        </p:txBody>
      </p:sp>
      <p:sp>
        <p:nvSpPr>
          <p:cNvPr id="10" name="Shape 8"/>
          <p:cNvSpPr/>
          <p:nvPr/>
        </p:nvSpPr>
        <p:spPr>
          <a:xfrm>
            <a:off x="4709160" y="1280160"/>
            <a:ext cx="3977640" cy="2554224"/>
          </a:xfrm>
          <a:prstGeom prst="roundRect">
            <a:avLst>
              <a:gd name="adj" fmla="val 3580"/>
            </a:avLst>
          </a:prstGeom>
          <a:solidFill>
            <a:srgbClr val="F4F2EE"/>
          </a:solidFill>
          <a:ln w="12700">
            <a:solidFill>
              <a:srgbClr val="F4F2EE"/>
            </a:solidFill>
            <a:prstDash val="solid"/>
          </a:ln>
        </p:spPr>
      </p:sp>
      <p:sp>
        <p:nvSpPr>
          <p:cNvPr id="11" name="Text 9"/>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Privacy</a:t>
            </a:r>
            <a:endParaRPr lang="en-US" sz="1600" dirty="0"/>
          </a:p>
        </p:txBody>
      </p:sp>
      <p:sp>
        <p:nvSpPr>
          <p:cNvPr id="12" name="Text 10"/>
          <p:cNvSpPr txBox="1"/>
          <p:nvPr/>
        </p:nvSpPr>
        <p:spPr>
          <a:xfrm>
            <a:off x="4892040" y="1783080"/>
            <a:ext cx="3611880" cy="1914144"/>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Privacy is the ability to keep information about oneself from being known by others. In Bitcoin the chapter describes it as an advantage over other payment systems: when used correctly, Bitcoin affords users much more privacy, since acquiring, holding and spending bitcoin does not require them to divulge sensitive and personally identifiable information to third parties (Antonopoulos and Harding, 2023).</a:t>
            </a:r>
            <a:endParaRPr lang="en-US" sz="1200" dirty="0"/>
          </a:p>
        </p:txBody>
      </p:sp>
      <p:sp>
        <p:nvSpPr>
          <p:cNvPr id="13" name="Text 11"/>
          <p:cNvSpPr txBox="1"/>
          <p:nvPr/>
        </p:nvSpPr>
        <p:spPr>
          <a:xfrm>
            <a:off x="4709160" y="3980688"/>
            <a:ext cx="397764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Bitcoin offers pseudonymity, not anonymity.</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Transfer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Usage - 10 concepts</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Transfer section explains what happens when Joe sends bitcoin to Alice.</a:t>
            </a:r>
            <a:endParaRPr lang="en-US" sz="1300" dirty="0"/>
          </a:p>
        </p:txBody>
      </p:sp>
      <p:sp>
        <p:nvSpPr>
          <p:cNvPr id="9" name="Shape 7"/>
          <p:cNvSpPr/>
          <p:nvPr/>
        </p:nvSpPr>
        <p:spPr>
          <a:xfrm>
            <a:off x="457200" y="2322830"/>
            <a:ext cx="1947672" cy="536363"/>
          </a:xfrm>
          <a:prstGeom prst="roundRect">
            <a:avLst>
              <a:gd name="adj" fmla="val 13639"/>
            </a:avLst>
          </a:prstGeom>
          <a:solidFill>
            <a:srgbClr val="F4F2EE"/>
          </a:solidFill>
          <a:ln w="12700">
            <a:solidFill>
              <a:srgbClr val="D9D4CC"/>
            </a:solidFill>
            <a:prstDash val="solid"/>
          </a:ln>
        </p:spPr>
      </p:sp>
      <p:sp>
        <p:nvSpPr>
          <p:cNvPr id="10" name="Text 8"/>
          <p:cNvSpPr txBox="1"/>
          <p:nvPr/>
        </p:nvSpPr>
        <p:spPr>
          <a:xfrm>
            <a:off x="548640" y="2377694"/>
            <a:ext cx="1764792" cy="426635"/>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Sending and receiving</a:t>
            </a:r>
            <a:endParaRPr lang="en-US" sz="1150" dirty="0"/>
          </a:p>
        </p:txBody>
      </p:sp>
      <p:sp>
        <p:nvSpPr>
          <p:cNvPr id="11" name="Shape 9"/>
          <p:cNvSpPr/>
          <p:nvPr/>
        </p:nvSpPr>
        <p:spPr>
          <a:xfrm>
            <a:off x="2551176" y="2322830"/>
            <a:ext cx="1947672" cy="536363"/>
          </a:xfrm>
          <a:prstGeom prst="roundRect">
            <a:avLst>
              <a:gd name="adj" fmla="val 13639"/>
            </a:avLst>
          </a:prstGeom>
          <a:solidFill>
            <a:srgbClr val="F4F2EE"/>
          </a:solidFill>
          <a:ln w="12700">
            <a:solidFill>
              <a:srgbClr val="D9D4CC"/>
            </a:solidFill>
            <a:prstDash val="solid"/>
          </a:ln>
        </p:spPr>
      </p:sp>
      <p:sp>
        <p:nvSpPr>
          <p:cNvPr id="12" name="Text 10"/>
          <p:cNvSpPr txBox="1"/>
          <p:nvPr/>
        </p:nvSpPr>
        <p:spPr>
          <a:xfrm>
            <a:off x="2642616" y="2377694"/>
            <a:ext cx="1764792" cy="426635"/>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Transaction</a:t>
            </a:r>
            <a:endParaRPr lang="en-US" sz="1150" dirty="0"/>
          </a:p>
        </p:txBody>
      </p:sp>
      <p:sp>
        <p:nvSpPr>
          <p:cNvPr id="13" name="Shape 11"/>
          <p:cNvSpPr/>
          <p:nvPr/>
        </p:nvSpPr>
        <p:spPr>
          <a:xfrm>
            <a:off x="4645152" y="2322830"/>
            <a:ext cx="1947672" cy="536363"/>
          </a:xfrm>
          <a:prstGeom prst="roundRect">
            <a:avLst>
              <a:gd name="adj" fmla="val 13639"/>
            </a:avLst>
          </a:prstGeom>
          <a:solidFill>
            <a:srgbClr val="F4F2EE"/>
          </a:solidFill>
          <a:ln w="12700">
            <a:solidFill>
              <a:srgbClr val="D9D4CC"/>
            </a:solidFill>
            <a:prstDash val="solid"/>
          </a:ln>
        </p:spPr>
      </p:sp>
      <p:sp>
        <p:nvSpPr>
          <p:cNvPr id="14" name="Text 12"/>
          <p:cNvSpPr txBox="1"/>
          <p:nvPr/>
        </p:nvSpPr>
        <p:spPr>
          <a:xfrm>
            <a:off x="4736592" y="2377694"/>
            <a:ext cx="1764792" cy="426635"/>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Inputs and outputs</a:t>
            </a:r>
            <a:endParaRPr lang="en-US" sz="1150" dirty="0"/>
          </a:p>
        </p:txBody>
      </p:sp>
      <p:sp>
        <p:nvSpPr>
          <p:cNvPr id="15" name="Shape 13"/>
          <p:cNvSpPr/>
          <p:nvPr/>
        </p:nvSpPr>
        <p:spPr>
          <a:xfrm>
            <a:off x="6739128" y="2322830"/>
            <a:ext cx="1947672" cy="536363"/>
          </a:xfrm>
          <a:prstGeom prst="roundRect">
            <a:avLst>
              <a:gd name="adj" fmla="val 13639"/>
            </a:avLst>
          </a:prstGeom>
          <a:solidFill>
            <a:srgbClr val="F4F2EE"/>
          </a:solidFill>
          <a:ln w="12700">
            <a:solidFill>
              <a:srgbClr val="D9D4CC"/>
            </a:solidFill>
            <a:prstDash val="solid"/>
          </a:ln>
        </p:spPr>
      </p:sp>
      <p:sp>
        <p:nvSpPr>
          <p:cNvPr id="16" name="Text 14"/>
          <p:cNvSpPr txBox="1"/>
          <p:nvPr/>
        </p:nvSpPr>
        <p:spPr>
          <a:xfrm>
            <a:off x="6830568" y="2377694"/>
            <a:ext cx="1764792" cy="426635"/>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Transaction fee</a:t>
            </a:r>
            <a:endParaRPr lang="en-US" sz="1150" dirty="0"/>
          </a:p>
        </p:txBody>
      </p:sp>
      <p:sp>
        <p:nvSpPr>
          <p:cNvPr id="17" name="Shape 15"/>
          <p:cNvSpPr/>
          <p:nvPr/>
        </p:nvSpPr>
        <p:spPr>
          <a:xfrm>
            <a:off x="457200" y="2987209"/>
            <a:ext cx="1947672" cy="536363"/>
          </a:xfrm>
          <a:prstGeom prst="roundRect">
            <a:avLst>
              <a:gd name="adj" fmla="val 13639"/>
            </a:avLst>
          </a:prstGeom>
          <a:solidFill>
            <a:srgbClr val="F4F2EE"/>
          </a:solidFill>
          <a:ln w="12700">
            <a:solidFill>
              <a:srgbClr val="D9D4CC"/>
            </a:solidFill>
            <a:prstDash val="solid"/>
          </a:ln>
        </p:spPr>
      </p:sp>
      <p:sp>
        <p:nvSpPr>
          <p:cNvPr id="18" name="Text 16"/>
          <p:cNvSpPr txBox="1"/>
          <p:nvPr/>
        </p:nvSpPr>
        <p:spPr>
          <a:xfrm>
            <a:off x="548640" y="3042073"/>
            <a:ext cx="1764792" cy="426635"/>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Confirmation</a:t>
            </a:r>
            <a:endParaRPr lang="en-US" sz="1150" dirty="0"/>
          </a:p>
        </p:txBody>
      </p:sp>
      <p:sp>
        <p:nvSpPr>
          <p:cNvPr id="19" name="Shape 17"/>
          <p:cNvSpPr/>
          <p:nvPr/>
        </p:nvSpPr>
        <p:spPr>
          <a:xfrm>
            <a:off x="2551176" y="2987209"/>
            <a:ext cx="1947672" cy="536363"/>
          </a:xfrm>
          <a:prstGeom prst="roundRect">
            <a:avLst>
              <a:gd name="adj" fmla="val 13639"/>
            </a:avLst>
          </a:prstGeom>
          <a:solidFill>
            <a:srgbClr val="F4F2EE"/>
          </a:solidFill>
          <a:ln w="12700">
            <a:solidFill>
              <a:srgbClr val="D9D4CC"/>
            </a:solidFill>
            <a:prstDash val="solid"/>
          </a:ln>
        </p:spPr>
      </p:sp>
      <p:sp>
        <p:nvSpPr>
          <p:cNvPr id="20" name="Text 18"/>
          <p:cNvSpPr txBox="1"/>
          <p:nvPr/>
        </p:nvSpPr>
        <p:spPr>
          <a:xfrm>
            <a:off x="2642616" y="3042073"/>
            <a:ext cx="1764792" cy="426635"/>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Irreversibility</a:t>
            </a:r>
            <a:endParaRPr lang="en-US" sz="1150" dirty="0"/>
          </a:p>
        </p:txBody>
      </p:sp>
      <p:sp>
        <p:nvSpPr>
          <p:cNvPr id="21" name="Shape 19"/>
          <p:cNvSpPr/>
          <p:nvPr/>
        </p:nvSpPr>
        <p:spPr>
          <a:xfrm>
            <a:off x="4645152" y="2987209"/>
            <a:ext cx="1947672" cy="536363"/>
          </a:xfrm>
          <a:prstGeom prst="roundRect">
            <a:avLst>
              <a:gd name="adj" fmla="val 13639"/>
            </a:avLst>
          </a:prstGeom>
          <a:solidFill>
            <a:srgbClr val="F4F2EE"/>
          </a:solidFill>
          <a:ln w="12700">
            <a:solidFill>
              <a:srgbClr val="D9D4CC"/>
            </a:solidFill>
            <a:prstDash val="solid"/>
          </a:ln>
        </p:spPr>
      </p:sp>
      <p:sp>
        <p:nvSpPr>
          <p:cNvPr id="22" name="Text 20"/>
          <p:cNvSpPr txBox="1"/>
          <p:nvPr/>
        </p:nvSpPr>
        <p:spPr>
          <a:xfrm>
            <a:off x="4736592" y="3042073"/>
            <a:ext cx="1764792" cy="426635"/>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Offchain payment</a:t>
            </a:r>
            <a:endParaRPr lang="en-US" sz="1150" dirty="0"/>
          </a:p>
        </p:txBody>
      </p:sp>
      <p:sp>
        <p:nvSpPr>
          <p:cNvPr id="23" name="Shape 21"/>
          <p:cNvSpPr/>
          <p:nvPr/>
        </p:nvSpPr>
        <p:spPr>
          <a:xfrm>
            <a:off x="6739128" y="2987209"/>
            <a:ext cx="1947672" cy="536363"/>
          </a:xfrm>
          <a:prstGeom prst="roundRect">
            <a:avLst>
              <a:gd name="adj" fmla="val 13639"/>
            </a:avLst>
          </a:prstGeom>
          <a:solidFill>
            <a:srgbClr val="F4F2EE"/>
          </a:solidFill>
          <a:ln w="12700">
            <a:solidFill>
              <a:srgbClr val="D9D4CC"/>
            </a:solidFill>
            <a:prstDash val="solid"/>
          </a:ln>
        </p:spPr>
      </p:sp>
      <p:sp>
        <p:nvSpPr>
          <p:cNvPr id="24" name="Text 22"/>
          <p:cNvSpPr txBox="1"/>
          <p:nvPr/>
        </p:nvSpPr>
        <p:spPr>
          <a:xfrm>
            <a:off x="6830568" y="3042073"/>
            <a:ext cx="1764792" cy="426635"/>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Payment channel</a:t>
            </a:r>
            <a:endParaRPr lang="en-US" sz="1150" dirty="0"/>
          </a:p>
        </p:txBody>
      </p:sp>
      <p:sp>
        <p:nvSpPr>
          <p:cNvPr id="25" name="Shape 23"/>
          <p:cNvSpPr/>
          <p:nvPr/>
        </p:nvSpPr>
        <p:spPr>
          <a:xfrm>
            <a:off x="457200" y="3651589"/>
            <a:ext cx="1947672" cy="536363"/>
          </a:xfrm>
          <a:prstGeom prst="roundRect">
            <a:avLst>
              <a:gd name="adj" fmla="val 13639"/>
            </a:avLst>
          </a:prstGeom>
          <a:solidFill>
            <a:srgbClr val="F4F2EE"/>
          </a:solidFill>
          <a:ln w="12700">
            <a:solidFill>
              <a:srgbClr val="D9D4CC"/>
            </a:solidFill>
            <a:prstDash val="solid"/>
          </a:ln>
        </p:spPr>
      </p:sp>
      <p:sp>
        <p:nvSpPr>
          <p:cNvPr id="26" name="Text 24"/>
          <p:cNvSpPr txBox="1"/>
          <p:nvPr/>
        </p:nvSpPr>
        <p:spPr>
          <a:xfrm>
            <a:off x="548640" y="3706453"/>
            <a:ext cx="1764792" cy="426635"/>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Lightning Network</a:t>
            </a:r>
            <a:endParaRPr lang="en-US" sz="1150" dirty="0"/>
          </a:p>
        </p:txBody>
      </p:sp>
      <p:sp>
        <p:nvSpPr>
          <p:cNvPr id="27" name="Shape 25"/>
          <p:cNvSpPr/>
          <p:nvPr/>
        </p:nvSpPr>
        <p:spPr>
          <a:xfrm>
            <a:off x="2551176" y="3651589"/>
            <a:ext cx="1947672" cy="536363"/>
          </a:xfrm>
          <a:prstGeom prst="roundRect">
            <a:avLst>
              <a:gd name="adj" fmla="val 13639"/>
            </a:avLst>
          </a:prstGeom>
          <a:solidFill>
            <a:srgbClr val="F4F2EE"/>
          </a:solidFill>
          <a:ln w="12700">
            <a:solidFill>
              <a:srgbClr val="D9D4CC"/>
            </a:solidFill>
            <a:prstDash val="solid"/>
          </a:ln>
        </p:spPr>
      </p:sp>
      <p:sp>
        <p:nvSpPr>
          <p:cNvPr id="28" name="Text 26"/>
          <p:cNvSpPr txBox="1"/>
          <p:nvPr/>
        </p:nvSpPr>
        <p:spPr>
          <a:xfrm>
            <a:off x="2642616" y="3706453"/>
            <a:ext cx="1764792" cy="426635"/>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Electronic payment</a:t>
            </a:r>
            <a:endParaRPr lang="en-US" sz="1150" dirty="0"/>
          </a:p>
        </p:txBody>
      </p:sp>
      <p:sp>
        <p:nvSpPr>
          <p:cNvPr id="29" name="Text 27"/>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concepts proceed in the order of events. Sending and receiving gives the story.</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Sending and receiving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Alice paying Joe</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Sending and receiving are the two halves of a payment, and the chapter walks through them with an example. Alice decides to buy 0.001 bitcoins; she gives Joe cash, opens her mobile wallet and selects Receive, which displays a QR code with her first Bitcoin address.</a:t>
            </a:r>
            <a:endParaRPr lang="en-US" sz="1300" dirty="0"/>
          </a:p>
        </p:txBody>
      </p:sp>
      <p:sp>
        <p:nvSpPr>
          <p:cNvPr id="9" name="Shape 7"/>
          <p:cNvSpPr/>
          <p:nvPr/>
        </p:nvSpPr>
        <p:spPr>
          <a:xfrm>
            <a:off x="457200" y="2725674"/>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844546"/>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(0.001 * 10**3, round(0.001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(1.0, 100000)</a:t>
            </a:r>
            <a:endParaRPr lang="en-US" sz="1100" dirty="0"/>
          </a:p>
        </p:txBody>
      </p:sp>
      <p:sp>
        <p:nvSpPr>
          <p:cNvPr id="11" name="Text 9"/>
          <p:cNvSpPr txBox="1"/>
          <p:nvPr/>
        </p:nvSpPr>
        <p:spPr>
          <a:xfrm>
            <a:off x="457200" y="332257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578606"/>
            <a:ext cx="822960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Joe's mobile wallet constructs a transaction that assigns 0.001 BTC to the address provided by Alice, sources the funds from Joe's wallet, and signs the transaction with Joe's private keys, which tells the network that Joe has authorised a transfer of value to Alice's new address.</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Transaction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Joe's signed payment to Alice</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transaction is a signed message that transfers value from one party to another.</a:t>
            </a:r>
            <a:endParaRPr lang="en-US" sz="1300" dirty="0"/>
          </a:p>
        </p:txBody>
      </p:sp>
      <p:sp>
        <p:nvSpPr>
          <p:cNvPr id="9" name="Shape 7"/>
          <p:cNvSpPr/>
          <p:nvPr/>
        </p:nvSpPr>
        <p:spPr>
          <a:xfrm>
            <a:off x="457200" y="2322830"/>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441702"/>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{'to': 'Alice', 'amount_sat': 100000}['amount_sat']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0.001</a:t>
            </a:r>
            <a:endParaRPr lang="en-US" sz="1100" dirty="0"/>
          </a:p>
        </p:txBody>
      </p:sp>
      <p:sp>
        <p:nvSpPr>
          <p:cNvPr id="11" name="Text 9"/>
          <p:cNvSpPr txBox="1"/>
          <p:nvPr/>
        </p:nvSpPr>
        <p:spPr>
          <a:xfrm>
            <a:off x="457200" y="2919730"/>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139186"/>
            <a:ext cx="8229600" cy="1252728"/>
          </a:xfrm>
          <a:prstGeom prst="roundRect">
            <a:avLst>
              <a:gd name="adj" fmla="val 7299"/>
            </a:avLst>
          </a:prstGeom>
          <a:solidFill>
            <a:srgbClr val="F4F2EE"/>
          </a:solidFill>
          <a:ln w="12700">
            <a:solidFill>
              <a:srgbClr val="F4F2EE"/>
            </a:solidFill>
            <a:prstDash val="solid"/>
          </a:ln>
        </p:spPr>
      </p:sp>
      <p:sp>
        <p:nvSpPr>
          <p:cNvPr id="13" name="Text 11"/>
          <p:cNvSpPr txBox="1"/>
          <p:nvPr/>
        </p:nvSpPr>
        <p:spPr>
          <a:xfrm>
            <a:off x="640080" y="3258058"/>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642106"/>
            <a:ext cx="786384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transaction names the funds it spends, gives amounts to addresses, and carries the signature of the owner of those funds. Because the signature covers the content, any change to the amount or to the receiving address after signing makes it invalid, and anyone can check it with the public key.</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Inputs and outputs and Transaction fee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252728"/>
          </a:xfrm>
          <a:prstGeom prst="roundRect">
            <a:avLst>
              <a:gd name="adj" fmla="val 7299"/>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Inputs and outputs</a:t>
            </a:r>
            <a:endParaRPr lang="en-US" sz="1600" dirty="0"/>
          </a:p>
        </p:txBody>
      </p:sp>
      <p:sp>
        <p:nvSpPr>
          <p:cNvPr id="8" name="Text 6"/>
          <p:cNvSpPr txBox="1"/>
          <p:nvPr/>
        </p:nvSpPr>
        <p:spPr>
          <a:xfrm>
            <a:off x="640080" y="1783080"/>
            <a:ext cx="361188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inputs of a transaction are the funds that it spends, and its outputs are the amounts that it assigns to receivers.</a:t>
            </a:r>
            <a:endParaRPr lang="en-US" sz="1200" dirty="0"/>
          </a:p>
        </p:txBody>
      </p:sp>
      <p:sp>
        <p:nvSpPr>
          <p:cNvPr id="9" name="Shape 7"/>
          <p:cNvSpPr/>
          <p:nvPr/>
        </p:nvSpPr>
        <p:spPr>
          <a:xfrm>
            <a:off x="457200" y="2642616"/>
            <a:ext cx="3977640" cy="563118"/>
          </a:xfrm>
          <a:prstGeom prst="roundRect">
            <a:avLst>
              <a:gd name="adj" fmla="val 16238"/>
            </a:avLst>
          </a:prstGeom>
          <a:solidFill>
            <a:srgbClr val="15191E"/>
          </a:solidFill>
          <a:ln w="12700">
            <a:solidFill>
              <a:srgbClr val="15191E"/>
            </a:solidFill>
            <a:prstDash val="solid"/>
          </a:ln>
        </p:spPr>
      </p:sp>
      <p:sp>
        <p:nvSpPr>
          <p:cNvPr id="10" name="Text 8"/>
          <p:cNvSpPr txBox="1"/>
          <p:nvPr/>
        </p:nvSpPr>
        <p:spPr>
          <a:xfrm>
            <a:off x="640080" y="2761488"/>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(sum([110000]), sum([100000, 5000]))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(110000, 105000)</a:t>
            </a:r>
            <a:endParaRPr lang="en-US" sz="1050" dirty="0"/>
          </a:p>
        </p:txBody>
      </p:sp>
      <p:sp>
        <p:nvSpPr>
          <p:cNvPr id="11" name="Text 9"/>
          <p:cNvSpPr txBox="1"/>
          <p:nvPr/>
        </p:nvSpPr>
        <p:spPr>
          <a:xfrm>
            <a:off x="457200" y="3224022"/>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480054"/>
            <a:ext cx="397764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total of the outputs must not exceed the total of the inputs.</a:t>
            </a:r>
            <a:endParaRPr lang="en-US" sz="1100" dirty="0"/>
          </a:p>
        </p:txBody>
      </p:sp>
      <p:sp>
        <p:nvSpPr>
          <p:cNvPr id="13" name="Shape 11"/>
          <p:cNvSpPr/>
          <p:nvPr/>
        </p:nvSpPr>
        <p:spPr>
          <a:xfrm>
            <a:off x="4709160" y="1280160"/>
            <a:ext cx="3977640" cy="1252728"/>
          </a:xfrm>
          <a:prstGeom prst="roundRect">
            <a:avLst>
              <a:gd name="adj" fmla="val 7299"/>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Transaction fee</a:t>
            </a:r>
            <a:endParaRPr lang="en-US" sz="1600" dirty="0"/>
          </a:p>
        </p:txBody>
      </p:sp>
      <p:sp>
        <p:nvSpPr>
          <p:cNvPr id="15" name="Text 13"/>
          <p:cNvSpPr txBox="1"/>
          <p:nvPr/>
        </p:nvSpPr>
        <p:spPr>
          <a:xfrm>
            <a:off x="4892040" y="1783080"/>
            <a:ext cx="361188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transaction fee is a payment that a sender attaches to a transaction to reward the miner who includes it in a block.</a:t>
            </a:r>
            <a:endParaRPr lang="en-US" sz="1200" dirty="0"/>
          </a:p>
        </p:txBody>
      </p:sp>
      <p:sp>
        <p:nvSpPr>
          <p:cNvPr id="16" name="Shape 14"/>
          <p:cNvSpPr/>
          <p:nvPr/>
        </p:nvSpPr>
        <p:spPr>
          <a:xfrm>
            <a:off x="4709160" y="2642616"/>
            <a:ext cx="3977640" cy="563118"/>
          </a:xfrm>
          <a:prstGeom prst="roundRect">
            <a:avLst>
              <a:gd name="adj" fmla="val 16238"/>
            </a:avLst>
          </a:prstGeom>
          <a:solidFill>
            <a:srgbClr val="15191E"/>
          </a:solidFill>
          <a:ln w="12700">
            <a:solidFill>
              <a:srgbClr val="15191E"/>
            </a:solidFill>
            <a:prstDash val="solid"/>
          </a:ln>
        </p:spPr>
      </p:sp>
      <p:sp>
        <p:nvSpPr>
          <p:cNvPr id="17" name="Text 15"/>
          <p:cNvSpPr txBox="1"/>
          <p:nvPr/>
        </p:nvSpPr>
        <p:spPr>
          <a:xfrm>
            <a:off x="4892040" y="2761488"/>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110_000 - 100_000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10000</a:t>
            </a:r>
            <a:endParaRPr lang="en-US" sz="1050" dirty="0"/>
          </a:p>
        </p:txBody>
      </p:sp>
      <p:sp>
        <p:nvSpPr>
          <p:cNvPr id="18" name="Text 16"/>
          <p:cNvSpPr txBox="1"/>
          <p:nvPr/>
        </p:nvSpPr>
        <p:spPr>
          <a:xfrm>
            <a:off x="4709160" y="3224022"/>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709160" y="3480054"/>
            <a:ext cx="397764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fee is not entered as a separate field.</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Confirmation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transaction that has six confirmations</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confirmation is the sign that a transaction has been recorded in a block of the chain.</a:t>
            </a:r>
            <a:endParaRPr lang="en-US" sz="1300" dirty="0"/>
          </a:p>
        </p:txBody>
      </p:sp>
      <p:sp>
        <p:nvSpPr>
          <p:cNvPr id="9" name="Shape 7"/>
          <p:cNvSpPr/>
          <p:nvPr/>
        </p:nvSpPr>
        <p:spPr>
          <a:xfrm>
            <a:off x="457200" y="2322830"/>
            <a:ext cx="8229600" cy="1012444"/>
          </a:xfrm>
          <a:prstGeom prst="roundRect">
            <a:avLst>
              <a:gd name="adj" fmla="val 9032"/>
            </a:avLst>
          </a:prstGeom>
          <a:solidFill>
            <a:srgbClr val="15191E"/>
          </a:solidFill>
          <a:ln w="12700">
            <a:solidFill>
              <a:srgbClr val="15191E"/>
            </a:solidFill>
            <a:prstDash val="solid"/>
          </a:ln>
        </p:spPr>
      </p:sp>
      <p:sp>
        <p:nvSpPr>
          <p:cNvPr id="10" name="Text 8"/>
          <p:cNvSpPr txBox="1"/>
          <p:nvPr/>
        </p:nvSpPr>
        <p:spPr>
          <a:xfrm>
            <a:off x="640080" y="2441702"/>
            <a:ext cx="7863840" cy="77470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m, q, z = math, 0.1, 6</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p = 1 - q</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l = z * q / p</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round(1 - sum(m.exp(-l) * l**k / m.factorial(k) * (1 - (q / p)**(z - k)) for k in range(z + 1)), 7)</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0.0002428</a:t>
            </a:r>
            <a:endParaRPr lang="en-US" sz="1000" dirty="0"/>
          </a:p>
        </p:txBody>
      </p:sp>
      <p:sp>
        <p:nvSpPr>
          <p:cNvPr id="11" name="Text 9"/>
          <p:cNvSpPr txBox="1"/>
          <p:nvPr/>
        </p:nvSpPr>
        <p:spPr>
          <a:xfrm>
            <a:off x="457200" y="335356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573018"/>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691890"/>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075938"/>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whitepaper quantifies the certainty.</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Irreversibility and Offchain payment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2182368"/>
          </a:xfrm>
          <a:prstGeom prst="roundRect">
            <a:avLst>
              <a:gd name="adj" fmla="val 4190"/>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Irreversibility</a:t>
            </a:r>
            <a:endParaRPr lang="en-US" sz="1600" dirty="0"/>
          </a:p>
        </p:txBody>
      </p:sp>
      <p:sp>
        <p:nvSpPr>
          <p:cNvPr id="8" name="Text 6"/>
          <p:cNvSpPr txBox="1"/>
          <p:nvPr/>
        </p:nvSpPr>
        <p:spPr>
          <a:xfrm>
            <a:off x="640080" y="1783080"/>
            <a:ext cx="3611880" cy="154228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Irreversibility means that a completed payment cannot be undone by anyone. The chapter states bluntly that Bitcoin transactions are irreversible, and contrasts this with most electronic payment networks, such as credit cards, debit cards, PayPal and bank account transfers, which are reversible (Antonopoulos and Harding, 2023).</a:t>
            </a:r>
            <a:endParaRPr lang="en-US" sz="1200" dirty="0"/>
          </a:p>
        </p:txBody>
      </p:sp>
      <p:sp>
        <p:nvSpPr>
          <p:cNvPr id="9" name="Text 7"/>
          <p:cNvSpPr txBox="1"/>
          <p:nvPr/>
        </p:nvSpPr>
        <p:spPr>
          <a:xfrm>
            <a:off x="457200" y="3608832"/>
            <a:ext cx="3977640" cy="852170"/>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Irreversibility follows from the way payments are confirmed. Once a transaction is in a block and further blocks follow, undoing it would require redoing the proof of work of the block and of all the blocks after it.</a:t>
            </a:r>
            <a:endParaRPr lang="en-US" sz="1100" dirty="0"/>
          </a:p>
        </p:txBody>
      </p:sp>
      <p:sp>
        <p:nvSpPr>
          <p:cNvPr id="10" name="Shape 8"/>
          <p:cNvSpPr/>
          <p:nvPr/>
        </p:nvSpPr>
        <p:spPr>
          <a:xfrm>
            <a:off x="4709160" y="1280160"/>
            <a:ext cx="3977640" cy="1066800"/>
          </a:xfrm>
          <a:prstGeom prst="roundRect">
            <a:avLst>
              <a:gd name="adj" fmla="val 8571"/>
            </a:avLst>
          </a:prstGeom>
          <a:solidFill>
            <a:srgbClr val="F4F2EE"/>
          </a:solidFill>
          <a:ln w="12700">
            <a:solidFill>
              <a:srgbClr val="F4F2EE"/>
            </a:solidFill>
            <a:prstDash val="solid"/>
          </a:ln>
        </p:spPr>
      </p:sp>
      <p:sp>
        <p:nvSpPr>
          <p:cNvPr id="11" name="Text 9"/>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Offchain payment</a:t>
            </a:r>
            <a:endParaRPr lang="en-US" sz="1600" dirty="0"/>
          </a:p>
        </p:txBody>
      </p:sp>
      <p:sp>
        <p:nvSpPr>
          <p:cNvPr id="12" name="Text 10"/>
          <p:cNvSpPr txBox="1"/>
          <p:nvPr/>
        </p:nvSpPr>
        <p:spPr>
          <a:xfrm>
            <a:off x="4892040" y="1783080"/>
            <a:ext cx="361188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An offchain payment is a payment that is made without being stored in the public blockchain.</a:t>
            </a:r>
            <a:endParaRPr lang="en-US" sz="1200" dirty="0"/>
          </a:p>
        </p:txBody>
      </p:sp>
      <p:sp>
        <p:nvSpPr>
          <p:cNvPr id="13" name="Text 11"/>
          <p:cNvSpPr txBox="1"/>
          <p:nvPr/>
        </p:nvSpPr>
        <p:spPr>
          <a:xfrm>
            <a:off x="4709160" y="2493264"/>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A payment channel is opened and closed by transactions on the chain, and the payments in between are exchanged directly between the two parties. The chain records the opening and closing, and not the individual payments.</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Payment channel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many payments with two transactions on the chain</a:t>
            </a:r>
            <a:endParaRPr lang="en-US" sz="1300" dirty="0"/>
          </a:p>
        </p:txBody>
      </p:sp>
      <p:sp>
        <p:nvSpPr>
          <p:cNvPr id="6" name="Shape 4"/>
          <p:cNvSpPr/>
          <p:nvPr/>
        </p:nvSpPr>
        <p:spPr>
          <a:xfrm>
            <a:off x="457200" y="1280160"/>
            <a:ext cx="8229600" cy="1066800"/>
          </a:xfrm>
          <a:prstGeom prst="roundRect">
            <a:avLst>
              <a:gd name="adj" fmla="val 857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payment channel is a technique that lets two parties make many payments between themselves while recording only a few transactions on the blockchain.</a:t>
            </a:r>
            <a:endParaRPr lang="en-US" sz="1200" dirty="0"/>
          </a:p>
        </p:txBody>
      </p:sp>
      <p:sp>
        <p:nvSpPr>
          <p:cNvPr id="9" name="Shape 7"/>
          <p:cNvSpPr/>
          <p:nvPr/>
        </p:nvSpPr>
        <p:spPr>
          <a:xfrm>
            <a:off x="457200" y="2493264"/>
            <a:ext cx="8229600" cy="857504"/>
          </a:xfrm>
          <a:prstGeom prst="roundRect">
            <a:avLst>
              <a:gd name="adj" fmla="val 10664"/>
            </a:avLst>
          </a:prstGeom>
          <a:solidFill>
            <a:srgbClr val="15191E"/>
          </a:solidFill>
          <a:ln w="12700">
            <a:solidFill>
              <a:srgbClr val="15191E"/>
            </a:solidFill>
            <a:prstDash val="solid"/>
          </a:ln>
        </p:spPr>
      </p:sp>
      <p:sp>
        <p:nvSpPr>
          <p:cNvPr id="10" name="Text 8"/>
          <p:cNvSpPr txBox="1"/>
          <p:nvPr/>
        </p:nvSpPr>
        <p:spPr>
          <a:xfrm>
            <a:off x="640080" y="2612136"/>
            <a:ext cx="7863840" cy="61976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onchain, a, b = 2, 60_000, 40_000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for _ in range(100):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a, b = a - 10, b + 10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(a, b, a + b, onchain)</a:t>
            </a:r>
            <a:endParaRPr lang="en-US" sz="1000" dirty="0"/>
          </a:p>
        </p:txBody>
      </p:sp>
      <p:sp>
        <p:nvSpPr>
          <p:cNvPr id="11" name="Text 9"/>
          <p:cNvSpPr txBox="1"/>
          <p:nvPr/>
        </p:nvSpPr>
        <p:spPr>
          <a:xfrm>
            <a:off x="457200" y="3369056"/>
            <a:ext cx="8229600" cy="256032"/>
          </a:xfrm>
          <a:prstGeom prst="rect">
            <a:avLst/>
          </a:prstGeom>
          <a:noFill/>
          <a:ln/>
        </p:spPr>
        <p:txBody>
          <a:bodyPr wrap="square" lIns="0" tIns="0" rIns="0" bIns="0" rtlCol="0" anchor="ctr"/>
          <a:lstStyle/>
          <a:p>
            <a:pPr indent="0" marL="0">
              <a:buNone/>
            </a:pPr>
            <a:r>
              <a:rPr lang="en-US" sz="1000" b="1" dirty="0">
                <a:solidFill>
                  <a:srgbClr val="F7931A"/>
                </a:solidFill>
                <a:latin typeface="Courier New" pitchFamily="34" charset="0"/>
                <a:ea typeface="Courier New" pitchFamily="34" charset="-122"/>
                <a:cs typeface="Courier New" pitchFamily="34" charset="-120"/>
              </a:rPr>
              <a:t>result  </a:t>
            </a:r>
            <a:pPr indent="0" marL="0">
              <a:buNone/>
            </a:pPr>
            <a:r>
              <a:rPr lang="en-US" sz="1000" dirty="0">
                <a:solidFill>
                  <a:srgbClr val="1B1F24"/>
                </a:solidFill>
                <a:latin typeface="Courier New" pitchFamily="34" charset="0"/>
                <a:ea typeface="Courier New" pitchFamily="34" charset="-122"/>
                <a:cs typeface="Courier New" pitchFamily="34" charset="-120"/>
              </a:rPr>
              <a:t>(59000, 41000, 100000, 2)</a:t>
            </a:r>
            <a:endParaRPr lang="en-US" sz="1000" dirty="0"/>
          </a:p>
        </p:txBody>
      </p:sp>
      <p:sp>
        <p:nvSpPr>
          <p:cNvPr id="12" name="Text 10"/>
          <p:cNvSpPr txBox="1"/>
          <p:nvPr/>
        </p:nvSpPr>
        <p:spPr>
          <a:xfrm>
            <a:off x="457200" y="3625088"/>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PaymentChannel, lines 1 to 4 of 4, run under Python 3.14.4</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Lightning Network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route through several channels</a:t>
            </a:r>
            <a:endParaRPr lang="en-US" sz="1300" dirty="0"/>
          </a:p>
        </p:txBody>
      </p:sp>
      <p:sp>
        <p:nvSpPr>
          <p:cNvPr id="6" name="Shape 4"/>
          <p:cNvSpPr/>
          <p:nvPr/>
        </p:nvSpPr>
        <p:spPr>
          <a:xfrm>
            <a:off x="457200" y="1280160"/>
            <a:ext cx="8229600" cy="880872"/>
          </a:xfrm>
          <a:prstGeom prst="roundRect">
            <a:avLst>
              <a:gd name="adj" fmla="val 1038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Lightning Network is a network of payment channels.</a:t>
            </a:r>
            <a:endParaRPr lang="en-US" sz="1200" dirty="0"/>
          </a:p>
        </p:txBody>
      </p:sp>
      <p:sp>
        <p:nvSpPr>
          <p:cNvPr id="9" name="Shape 7"/>
          <p:cNvSpPr/>
          <p:nvPr/>
        </p:nvSpPr>
        <p:spPr>
          <a:xfrm>
            <a:off x="457200" y="2307336"/>
            <a:ext cx="8229600" cy="1942084"/>
          </a:xfrm>
          <a:prstGeom prst="roundRect">
            <a:avLst>
              <a:gd name="adj" fmla="val 4708"/>
            </a:avLst>
          </a:prstGeom>
          <a:solidFill>
            <a:srgbClr val="15191E"/>
          </a:solidFill>
          <a:ln w="12700">
            <a:solidFill>
              <a:srgbClr val="15191E"/>
            </a:solidFill>
            <a:prstDash val="solid"/>
          </a:ln>
        </p:spPr>
      </p:sp>
      <p:sp>
        <p:nvSpPr>
          <p:cNvPr id="10" name="Text 8"/>
          <p:cNvSpPr txBox="1"/>
          <p:nvPr/>
        </p:nvSpPr>
        <p:spPr>
          <a:xfrm>
            <a:off x="640080" y="2426208"/>
            <a:ext cx="7863840" cy="170434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channels = {('Alice', 'Bob'), ('Bob', 'Carol'), ('Carol', 'Dave')}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nbr = {}</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for x, y in channels: nbr.setdefault(x, []).append(y); nbr.setdefault(y, []).append(x)</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path, frontier = {'Alice': ['Alice']}, ['Alice']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while 'Dave' not in path:</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nxt = []</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for x in frontier:</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for y in nbr[x]:</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if y not in path: path[y] = path[x] + [y]; nxt.append(y)</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frontier = nxt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(path['Dave'], len(path['Dave']) - 1, ('Alice', 'Dave') in channels)</a:t>
            </a:r>
            <a:endParaRPr lang="en-US" sz="1000" dirty="0"/>
          </a:p>
        </p:txBody>
      </p:sp>
      <p:sp>
        <p:nvSpPr>
          <p:cNvPr id="11" name="Text 9"/>
          <p:cNvSpPr txBox="1"/>
          <p:nvPr/>
        </p:nvSpPr>
        <p:spPr>
          <a:xfrm>
            <a:off x="457200" y="4267708"/>
            <a:ext cx="8229600" cy="256032"/>
          </a:xfrm>
          <a:prstGeom prst="rect">
            <a:avLst/>
          </a:prstGeom>
          <a:noFill/>
          <a:ln/>
        </p:spPr>
        <p:txBody>
          <a:bodyPr wrap="square" lIns="0" tIns="0" rIns="0" bIns="0" rtlCol="0" anchor="ctr"/>
          <a:lstStyle/>
          <a:p>
            <a:pPr indent="0" marL="0">
              <a:buNone/>
            </a:pPr>
            <a:r>
              <a:rPr lang="en-US" sz="1000" b="1" dirty="0">
                <a:solidFill>
                  <a:srgbClr val="F7931A"/>
                </a:solidFill>
                <a:latin typeface="Courier New" pitchFamily="34" charset="0"/>
                <a:ea typeface="Courier New" pitchFamily="34" charset="-122"/>
                <a:cs typeface="Courier New" pitchFamily="34" charset="-120"/>
              </a:rPr>
              <a:t>result  </a:t>
            </a:r>
            <a:pPr indent="0" marL="0">
              <a:buNone/>
            </a:pPr>
            <a:r>
              <a:rPr lang="en-US" sz="1000" dirty="0">
                <a:solidFill>
                  <a:srgbClr val="1B1F24"/>
                </a:solidFill>
                <a:latin typeface="Courier New" pitchFamily="34" charset="0"/>
                <a:ea typeface="Courier New" pitchFamily="34" charset="-122"/>
                <a:cs typeface="Courier New" pitchFamily="34" charset="-120"/>
              </a:rPr>
              <a:t>(['Alice', 'Bob', 'Carol', 'Dave'], 3, False)</a:t>
            </a:r>
            <a:endParaRPr lang="en-US" sz="1000" dirty="0"/>
          </a:p>
        </p:txBody>
      </p:sp>
      <p:sp>
        <p:nvSpPr>
          <p:cNvPr id="12" name="Text 10"/>
          <p:cNvSpPr txBox="1"/>
          <p:nvPr/>
        </p:nvSpPr>
        <p:spPr>
          <a:xfrm>
            <a:off x="457200" y="452374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LightningNetwork, lines 1 to 11 of 11, run under Python 3.14.4</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Electronic payment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cards, PayPal and bank transfers</a:t>
            </a:r>
            <a:endParaRPr lang="en-US" sz="1300" dirty="0"/>
          </a:p>
        </p:txBody>
      </p:sp>
      <p:sp>
        <p:nvSpPr>
          <p:cNvPr id="6" name="Shape 4"/>
          <p:cNvSpPr/>
          <p:nvPr/>
        </p:nvSpPr>
        <p:spPr>
          <a:xfrm>
            <a:off x="457200" y="1280160"/>
            <a:ext cx="8229600" cy="1903476"/>
          </a:xfrm>
          <a:prstGeom prst="roundRect">
            <a:avLst>
              <a:gd name="adj" fmla="val 480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126339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electronic payment is a payment made through an electronic network instead of with cash. The chapter names the common forms: most electronic payment networks, such as credit cards, debit cards, PayPal and bank account transfers, are reversible (Antonopoulos and Harding, 2023). Conventional money is also often stored and transmitted digitally, and in those cases the counterfeiting and double-spend issues are handled by clearing all electronic transactions through central authorities that have a global view of the currency in circulation.</a:t>
            </a:r>
            <a:endParaRPr lang="en-US" sz="1300" dirty="0"/>
          </a:p>
        </p:txBody>
      </p:sp>
      <p:sp>
        <p:nvSpPr>
          <p:cNvPr id="9" name="Shape 7"/>
          <p:cNvSpPr/>
          <p:nvPr/>
        </p:nvSpPr>
        <p:spPr>
          <a:xfrm>
            <a:off x="457200" y="3329940"/>
            <a:ext cx="8229600" cy="1066800"/>
          </a:xfrm>
          <a:prstGeom prst="roundRect">
            <a:avLst>
              <a:gd name="adj" fmla="val 8571"/>
            </a:avLst>
          </a:prstGeom>
          <a:solidFill>
            <a:srgbClr val="F4F2EE"/>
          </a:solidFill>
          <a:ln w="12700">
            <a:solidFill>
              <a:srgbClr val="F4F2EE"/>
            </a:solidFill>
            <a:prstDash val="solid"/>
          </a:ln>
        </p:spPr>
      </p:sp>
      <p:sp>
        <p:nvSpPr>
          <p:cNvPr id="10" name="Text 8"/>
          <p:cNvSpPr txBox="1"/>
          <p:nvPr/>
        </p:nvSpPr>
        <p:spPr>
          <a:xfrm>
            <a:off x="640080" y="344881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Where you meet it</a:t>
            </a:r>
            <a:endParaRPr lang="en-US" sz="1600" dirty="0"/>
          </a:p>
        </p:txBody>
      </p:sp>
      <p:sp>
        <p:nvSpPr>
          <p:cNvPr id="11" name="Text 9"/>
          <p:cNvSpPr txBox="1"/>
          <p:nvPr/>
        </p:nvSpPr>
        <p:spPr>
          <a:xfrm>
            <a:off x="640080" y="3832860"/>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Electronic payments are what a new user uses to acquire a first bitcoin, at an exchange or through another company.</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Semantic bridge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Usage - 2 concepts</a:t>
            </a:r>
            <a:endParaRPr lang="en-US" sz="1300" dirty="0"/>
          </a:p>
        </p:txBody>
      </p:sp>
      <p:sp>
        <p:nvSpPr>
          <p:cNvPr id="6" name="Shape 4"/>
          <p:cNvSpPr/>
          <p:nvPr/>
        </p:nvSpPr>
        <p:spPr>
          <a:xfrm>
            <a:off x="457200" y="1280160"/>
            <a:ext cx="8229600" cy="1702054"/>
          </a:xfrm>
          <a:prstGeom prst="roundRect">
            <a:avLst>
              <a:gd name="adj" fmla="val 5372"/>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06197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semantic bridge connects the chapter's central idea with the theme of this course, semantic technologies. The idea is that control belongs to whoever holds the keys, with no central registry that grants or removes it. The World Wide Web Consortium has turned the same idea into standards for digital identity, the Decentralized Identifiers and the Verifiable Credentials (World Wide Web Consortium, 2022).</a:t>
            </a:r>
            <a:endParaRPr lang="en-US" sz="1300" dirty="0"/>
          </a:p>
        </p:txBody>
      </p:sp>
      <p:sp>
        <p:nvSpPr>
          <p:cNvPr id="9" name="Shape 7"/>
          <p:cNvSpPr/>
          <p:nvPr/>
        </p:nvSpPr>
        <p:spPr>
          <a:xfrm>
            <a:off x="457200" y="3128518"/>
            <a:ext cx="4041648" cy="1059434"/>
          </a:xfrm>
          <a:prstGeom prst="roundRect">
            <a:avLst>
              <a:gd name="adj" fmla="val 6905"/>
            </a:avLst>
          </a:prstGeom>
          <a:solidFill>
            <a:srgbClr val="F4F2EE"/>
          </a:solidFill>
          <a:ln w="12700">
            <a:solidFill>
              <a:srgbClr val="D9D4CC"/>
            </a:solidFill>
            <a:prstDash val="solid"/>
          </a:ln>
        </p:spPr>
      </p:sp>
      <p:sp>
        <p:nvSpPr>
          <p:cNvPr id="10" name="Text 8"/>
          <p:cNvSpPr txBox="1"/>
          <p:nvPr/>
        </p:nvSpPr>
        <p:spPr>
          <a:xfrm>
            <a:off x="548640" y="3183382"/>
            <a:ext cx="3858768"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Decentralized identifier</a:t>
            </a:r>
            <a:endParaRPr lang="en-US" sz="1250" dirty="0"/>
          </a:p>
        </p:txBody>
      </p:sp>
      <p:sp>
        <p:nvSpPr>
          <p:cNvPr id="11" name="Shape 9"/>
          <p:cNvSpPr/>
          <p:nvPr/>
        </p:nvSpPr>
        <p:spPr>
          <a:xfrm>
            <a:off x="4645152" y="3128518"/>
            <a:ext cx="4041648" cy="1059434"/>
          </a:xfrm>
          <a:prstGeom prst="roundRect">
            <a:avLst>
              <a:gd name="adj" fmla="val 6905"/>
            </a:avLst>
          </a:prstGeom>
          <a:solidFill>
            <a:srgbClr val="F4F2EE"/>
          </a:solidFill>
          <a:ln w="12700">
            <a:solidFill>
              <a:srgbClr val="D9D4CC"/>
            </a:solidFill>
            <a:prstDash val="solid"/>
          </a:ln>
        </p:spPr>
      </p:sp>
      <p:sp>
        <p:nvSpPr>
          <p:cNvPr id="12" name="Text 10"/>
          <p:cNvSpPr txBox="1"/>
          <p:nvPr/>
        </p:nvSpPr>
        <p:spPr>
          <a:xfrm>
            <a:off x="4736592" y="3183382"/>
            <a:ext cx="3858768"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Verifiable credential</a:t>
            </a:r>
            <a:endParaRPr lang="en-US" sz="1250" dirty="0"/>
          </a:p>
        </p:txBody>
      </p:sp>
      <p:sp>
        <p:nvSpPr>
          <p:cNvPr id="13" name="Text 11"/>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Two concepts form the bridge. A decentralized identifier is an identifier that its holder controls without a central registry.</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1B1F24"/>
                </a:solidFill>
                <a:latin typeface="Cambria" pitchFamily="34" charset="0"/>
                <a:ea typeface="Cambria" pitchFamily="34" charset="-122"/>
                <a:cs typeface="Cambria" pitchFamily="34" charset="-120"/>
              </a:rPr>
              <a:t>Decentralized identifier and Verifiable credential</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2182368"/>
          </a:xfrm>
          <a:prstGeom prst="roundRect">
            <a:avLst>
              <a:gd name="adj" fmla="val 4190"/>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Decentralized identifier</a:t>
            </a:r>
            <a:endParaRPr lang="en-US" sz="1600" dirty="0"/>
          </a:p>
        </p:txBody>
      </p:sp>
      <p:sp>
        <p:nvSpPr>
          <p:cNvPr id="8" name="Text 6"/>
          <p:cNvSpPr txBox="1"/>
          <p:nvPr/>
        </p:nvSpPr>
        <p:spPr>
          <a:xfrm>
            <a:off x="640080" y="1783080"/>
            <a:ext cx="3611880" cy="154228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decentralized identifier, abbreviated DID, is a new type of identifier that enables verifiable, decentralized digital identity. The W3C Recommendation of 19 July 2022 says that a DID refers to any subject, such as a person, an organisation or a thing, as determined by the controller of the DID (World Wide Web Consortium, 2022).</a:t>
            </a:r>
            <a:endParaRPr lang="en-US" sz="1200" dirty="0"/>
          </a:p>
        </p:txBody>
      </p:sp>
      <p:sp>
        <p:nvSpPr>
          <p:cNvPr id="9" name="Text 7"/>
          <p:cNvSpPr txBox="1"/>
          <p:nvPr/>
        </p:nvSpPr>
        <p:spPr>
          <a:xfrm>
            <a:off x="457200" y="3608832"/>
            <a:ext cx="397764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A DID is resolved to a DID document that lists, among other things, public keys.</a:t>
            </a:r>
            <a:endParaRPr lang="en-US" sz="1100" dirty="0"/>
          </a:p>
        </p:txBody>
      </p:sp>
      <p:sp>
        <p:nvSpPr>
          <p:cNvPr id="10" name="Shape 8"/>
          <p:cNvSpPr/>
          <p:nvPr/>
        </p:nvSpPr>
        <p:spPr>
          <a:xfrm>
            <a:off x="4709160" y="1280160"/>
            <a:ext cx="3977640" cy="2368296"/>
          </a:xfrm>
          <a:prstGeom prst="roundRect">
            <a:avLst>
              <a:gd name="adj" fmla="val 3861"/>
            </a:avLst>
          </a:prstGeom>
          <a:solidFill>
            <a:srgbClr val="F4F2EE"/>
          </a:solidFill>
          <a:ln w="12700">
            <a:solidFill>
              <a:srgbClr val="F4F2EE"/>
            </a:solidFill>
            <a:prstDash val="solid"/>
          </a:ln>
        </p:spPr>
      </p:sp>
      <p:sp>
        <p:nvSpPr>
          <p:cNvPr id="11" name="Text 9"/>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Verifiable credential</a:t>
            </a:r>
            <a:endParaRPr lang="en-US" sz="1600" dirty="0"/>
          </a:p>
        </p:txBody>
      </p:sp>
      <p:sp>
        <p:nvSpPr>
          <p:cNvPr id="12" name="Text 10"/>
          <p:cNvSpPr txBox="1"/>
          <p:nvPr/>
        </p:nvSpPr>
        <p:spPr>
          <a:xfrm>
            <a:off x="4892040" y="1783080"/>
            <a:ext cx="3611880" cy="172821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verifiable credential is a specific way to express a set of claims made by an issuer, such as a driver's license or an education certificate. The W3C Recommendation of 15 May 2025 describes an extensible data model for such credentials, ways to secure them from tampering, and a three-party ecosystem composed of issuers, holders and verifiers (World Wide Web Consortium, 2025).</a:t>
            </a:r>
            <a:endParaRPr lang="en-US" sz="1200" dirty="0"/>
          </a:p>
        </p:txBody>
      </p:sp>
      <p:sp>
        <p:nvSpPr>
          <p:cNvPr id="13" name="Text 11"/>
          <p:cNvSpPr txBox="1"/>
          <p:nvPr/>
        </p:nvSpPr>
        <p:spPr>
          <a:xfrm>
            <a:off x="4709160" y="3794760"/>
            <a:ext cx="397764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flow follows the signature mechanism that the Foundations branch explains.</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Acquisition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Usage - 5 concepts</a:t>
            </a:r>
            <a:endParaRPr lang="en-US" sz="1300" dirty="0"/>
          </a:p>
        </p:txBody>
      </p:sp>
      <p:sp>
        <p:nvSpPr>
          <p:cNvPr id="6" name="Shape 4"/>
          <p:cNvSpPr/>
          <p:nvPr/>
        </p:nvSpPr>
        <p:spPr>
          <a:xfrm>
            <a:off x="457200" y="1280160"/>
            <a:ext cx="8229600" cy="1903476"/>
          </a:xfrm>
          <a:prstGeom prst="roundRect">
            <a:avLst>
              <a:gd name="adj" fmla="val 480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26339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Acquisition section lists the ways in which a newcomer obtains a first bitcoin, which is the practical problem a reader faces as soon as the wallet is installed. The chapter says that the first task for new users is to acquire some bitcoin, and it names four methods: finding a friend who has some and buying directly, earning bitcoin by selling a product or a service, using a Bitcoin ATM in one's city, and using a currency exchange linked to a bank account (Antonopoulos and Harding, 2023).</a:t>
            </a:r>
            <a:endParaRPr lang="en-US" sz="1300" dirty="0"/>
          </a:p>
        </p:txBody>
      </p:sp>
      <p:sp>
        <p:nvSpPr>
          <p:cNvPr id="9" name="Shape 7"/>
          <p:cNvSpPr/>
          <p:nvPr/>
        </p:nvSpPr>
        <p:spPr>
          <a:xfrm>
            <a:off x="457200" y="3329940"/>
            <a:ext cx="2645664" cy="364998"/>
          </a:xfrm>
          <a:prstGeom prst="roundRect">
            <a:avLst>
              <a:gd name="adj" fmla="val 20042"/>
            </a:avLst>
          </a:prstGeom>
          <a:solidFill>
            <a:srgbClr val="F4F2EE"/>
          </a:solidFill>
          <a:ln w="12700">
            <a:solidFill>
              <a:srgbClr val="D9D4CC"/>
            </a:solidFill>
            <a:prstDash val="solid"/>
          </a:ln>
        </p:spPr>
      </p:sp>
      <p:sp>
        <p:nvSpPr>
          <p:cNvPr id="10" name="Text 8"/>
          <p:cNvSpPr txBox="1"/>
          <p:nvPr/>
        </p:nvSpPr>
        <p:spPr>
          <a:xfrm>
            <a:off x="548640" y="3384804"/>
            <a:ext cx="2462784" cy="2552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Buy from friend</a:t>
            </a:r>
            <a:endParaRPr lang="en-US" sz="1250" dirty="0"/>
          </a:p>
        </p:txBody>
      </p:sp>
      <p:sp>
        <p:nvSpPr>
          <p:cNvPr id="11" name="Shape 9"/>
          <p:cNvSpPr/>
          <p:nvPr/>
        </p:nvSpPr>
        <p:spPr>
          <a:xfrm>
            <a:off x="3249168" y="3329940"/>
            <a:ext cx="2645664" cy="364998"/>
          </a:xfrm>
          <a:prstGeom prst="roundRect">
            <a:avLst>
              <a:gd name="adj" fmla="val 20042"/>
            </a:avLst>
          </a:prstGeom>
          <a:solidFill>
            <a:srgbClr val="F4F2EE"/>
          </a:solidFill>
          <a:ln w="12700">
            <a:solidFill>
              <a:srgbClr val="D9D4CC"/>
            </a:solidFill>
            <a:prstDash val="solid"/>
          </a:ln>
        </p:spPr>
      </p:sp>
      <p:sp>
        <p:nvSpPr>
          <p:cNvPr id="12" name="Text 10"/>
          <p:cNvSpPr txBox="1"/>
          <p:nvPr/>
        </p:nvSpPr>
        <p:spPr>
          <a:xfrm>
            <a:off x="3340608" y="3384804"/>
            <a:ext cx="2462784" cy="2552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Earn bitcoin</a:t>
            </a:r>
            <a:endParaRPr lang="en-US" sz="1250" dirty="0"/>
          </a:p>
        </p:txBody>
      </p:sp>
      <p:sp>
        <p:nvSpPr>
          <p:cNvPr id="13" name="Shape 11"/>
          <p:cNvSpPr/>
          <p:nvPr/>
        </p:nvSpPr>
        <p:spPr>
          <a:xfrm>
            <a:off x="6041136" y="3329940"/>
            <a:ext cx="2645664" cy="364998"/>
          </a:xfrm>
          <a:prstGeom prst="roundRect">
            <a:avLst>
              <a:gd name="adj" fmla="val 20042"/>
            </a:avLst>
          </a:prstGeom>
          <a:solidFill>
            <a:srgbClr val="F4F2EE"/>
          </a:solidFill>
          <a:ln w="12700">
            <a:solidFill>
              <a:srgbClr val="D9D4CC"/>
            </a:solidFill>
            <a:prstDash val="solid"/>
          </a:ln>
        </p:spPr>
      </p:sp>
      <p:sp>
        <p:nvSpPr>
          <p:cNvPr id="14" name="Text 12"/>
          <p:cNvSpPr txBox="1"/>
          <p:nvPr/>
        </p:nvSpPr>
        <p:spPr>
          <a:xfrm>
            <a:off x="6132576" y="3384804"/>
            <a:ext cx="2462784" cy="2552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Bitcoin ATM</a:t>
            </a:r>
            <a:endParaRPr lang="en-US" sz="1250" dirty="0"/>
          </a:p>
        </p:txBody>
      </p:sp>
      <p:sp>
        <p:nvSpPr>
          <p:cNvPr id="15" name="Shape 13"/>
          <p:cNvSpPr/>
          <p:nvPr/>
        </p:nvSpPr>
        <p:spPr>
          <a:xfrm>
            <a:off x="457200" y="3822954"/>
            <a:ext cx="2645664" cy="364998"/>
          </a:xfrm>
          <a:prstGeom prst="roundRect">
            <a:avLst>
              <a:gd name="adj" fmla="val 20042"/>
            </a:avLst>
          </a:prstGeom>
          <a:solidFill>
            <a:srgbClr val="F4F2EE"/>
          </a:solidFill>
          <a:ln w="12700">
            <a:solidFill>
              <a:srgbClr val="D9D4CC"/>
            </a:solidFill>
            <a:prstDash val="solid"/>
          </a:ln>
        </p:spPr>
      </p:sp>
      <p:sp>
        <p:nvSpPr>
          <p:cNvPr id="16" name="Text 14"/>
          <p:cNvSpPr txBox="1"/>
          <p:nvPr/>
        </p:nvSpPr>
        <p:spPr>
          <a:xfrm>
            <a:off x="548640" y="3877818"/>
            <a:ext cx="2462784" cy="2552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Currency exchange</a:t>
            </a:r>
            <a:endParaRPr lang="en-US" sz="1250" dirty="0"/>
          </a:p>
        </p:txBody>
      </p:sp>
      <p:sp>
        <p:nvSpPr>
          <p:cNvPr id="17" name="Shape 15"/>
          <p:cNvSpPr/>
          <p:nvPr/>
        </p:nvSpPr>
        <p:spPr>
          <a:xfrm>
            <a:off x="3249168" y="3822954"/>
            <a:ext cx="2645664" cy="364998"/>
          </a:xfrm>
          <a:prstGeom prst="roundRect">
            <a:avLst>
              <a:gd name="adj" fmla="val 20042"/>
            </a:avLst>
          </a:prstGeom>
          <a:solidFill>
            <a:srgbClr val="F4F2EE"/>
          </a:solidFill>
          <a:ln w="12700">
            <a:solidFill>
              <a:srgbClr val="D9D4CC"/>
            </a:solidFill>
            <a:prstDash val="solid"/>
          </a:ln>
        </p:spPr>
      </p:sp>
      <p:sp>
        <p:nvSpPr>
          <p:cNvPr id="18" name="Text 16"/>
          <p:cNvSpPr txBox="1"/>
          <p:nvPr/>
        </p:nvSpPr>
        <p:spPr>
          <a:xfrm>
            <a:off x="3340608" y="3877818"/>
            <a:ext cx="2462784" cy="2552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Identity verification</a:t>
            </a:r>
            <a:endParaRPr lang="en-US" sz="1250" dirty="0"/>
          </a:p>
        </p:txBody>
      </p:sp>
      <p:sp>
        <p:nvSpPr>
          <p:cNvPr id="19" name="Text 17"/>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four methods can be read as a scale from the least to the most formal.</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Buy from friend and Earn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2182368"/>
          </a:xfrm>
          <a:prstGeom prst="roundRect">
            <a:avLst>
              <a:gd name="adj" fmla="val 4190"/>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Buy from friend</a:t>
            </a:r>
            <a:endParaRPr lang="en-US" sz="1600" dirty="0"/>
          </a:p>
        </p:txBody>
      </p:sp>
      <p:sp>
        <p:nvSpPr>
          <p:cNvPr id="8" name="Text 6"/>
          <p:cNvSpPr txBox="1"/>
          <p:nvPr/>
        </p:nvSpPr>
        <p:spPr>
          <a:xfrm>
            <a:off x="640080" y="1783080"/>
            <a:ext cx="3611880" cy="154228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Buying from a friend means obtaining bitcoin directly from a person who already has some. The chapter describes the method in a single instruction: find a friend who has bitcoins and buy some from him or her directly, adding that many Bitcoin users start this way and that this method is the least complicated (Antonopoulos and Harding, 2023).</a:t>
            </a:r>
            <a:endParaRPr lang="en-US" sz="1200" dirty="0"/>
          </a:p>
        </p:txBody>
      </p:sp>
      <p:sp>
        <p:nvSpPr>
          <p:cNvPr id="9" name="Text 7"/>
          <p:cNvSpPr txBox="1"/>
          <p:nvPr/>
        </p:nvSpPr>
        <p:spPr>
          <a:xfrm>
            <a:off x="457200" y="3608832"/>
            <a:ext cx="3977640" cy="852170"/>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two sides first settle the price, using a current market rate as explained in the Price section, then settle the payment in cash or another way they trust, and finally the seller sends the bitcoin from his wallet to the address that the buyer displays.</a:t>
            </a:r>
            <a:endParaRPr lang="en-US" sz="1100" dirty="0"/>
          </a:p>
        </p:txBody>
      </p:sp>
      <p:sp>
        <p:nvSpPr>
          <p:cNvPr id="10" name="Shape 8"/>
          <p:cNvSpPr/>
          <p:nvPr/>
        </p:nvSpPr>
        <p:spPr>
          <a:xfrm>
            <a:off x="4709160" y="1280160"/>
            <a:ext cx="3977640" cy="2182368"/>
          </a:xfrm>
          <a:prstGeom prst="roundRect">
            <a:avLst>
              <a:gd name="adj" fmla="val 4190"/>
            </a:avLst>
          </a:prstGeom>
          <a:solidFill>
            <a:srgbClr val="F4F2EE"/>
          </a:solidFill>
          <a:ln w="12700">
            <a:solidFill>
              <a:srgbClr val="F4F2EE"/>
            </a:solidFill>
            <a:prstDash val="solid"/>
          </a:ln>
        </p:spPr>
      </p:sp>
      <p:sp>
        <p:nvSpPr>
          <p:cNvPr id="11" name="Text 9"/>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Earn bitcoin</a:t>
            </a:r>
            <a:endParaRPr lang="en-US" sz="1600" dirty="0"/>
          </a:p>
        </p:txBody>
      </p:sp>
      <p:sp>
        <p:nvSpPr>
          <p:cNvPr id="12" name="Text 10"/>
          <p:cNvSpPr txBox="1"/>
          <p:nvPr/>
        </p:nvSpPr>
        <p:spPr>
          <a:xfrm>
            <a:off x="4892040" y="1783080"/>
            <a:ext cx="3611880" cy="154228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Earning bitcoin means being paid in bitcoin for work or goods. The chapter gives the method in two examples: earn bitcoin by selling a product or service for bitcoin; if you are a programmer, sell your programming skills; if you are a hairdresser, cut hair for bitcoins (Antonopoulos and Harding, 2023). The method obtains bitcoin without buying it.</a:t>
            </a:r>
            <a:endParaRPr lang="en-US" sz="1200" dirty="0"/>
          </a:p>
        </p:txBody>
      </p:sp>
      <p:sp>
        <p:nvSpPr>
          <p:cNvPr id="13" name="Text 11"/>
          <p:cNvSpPr txBox="1"/>
          <p:nvPr/>
        </p:nvSpPr>
        <p:spPr>
          <a:xfrm>
            <a:off x="4709160" y="3608832"/>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seller creates an invoice, which includes the address, the amount and a description, the customer pays, and the seller waits for the confirmations that he considers sufficient for the value of the goods.</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Bitcoin ATM and Currency exchange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2182368"/>
          </a:xfrm>
          <a:prstGeom prst="roundRect">
            <a:avLst>
              <a:gd name="adj" fmla="val 4190"/>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Bitcoin ATM</a:t>
            </a:r>
            <a:endParaRPr lang="en-US" sz="1600" dirty="0"/>
          </a:p>
        </p:txBody>
      </p:sp>
      <p:sp>
        <p:nvSpPr>
          <p:cNvPr id="8" name="Text 6"/>
          <p:cNvSpPr txBox="1"/>
          <p:nvPr/>
        </p:nvSpPr>
        <p:spPr>
          <a:xfrm>
            <a:off x="640080" y="1783080"/>
            <a:ext cx="3611880" cy="154228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Bitcoin ATM is a machine that accepts cash and sends bitcoins to your smartphone Bitcoin wallet, as the chapter defines it (Antonopoulos and Harding, 2023). The abbreviation ATM stands for automated teller machine, the cash machines of banks, and the Bitcoin version works in the other direction: it takes cash and pays out bitcoin.</a:t>
            </a:r>
            <a:endParaRPr lang="en-US" sz="1200" dirty="0"/>
          </a:p>
        </p:txBody>
      </p:sp>
      <p:sp>
        <p:nvSpPr>
          <p:cNvPr id="9" name="Text 7"/>
          <p:cNvSpPr txBox="1"/>
          <p:nvPr/>
        </p:nvSpPr>
        <p:spPr>
          <a:xfrm>
            <a:off x="457200" y="3608832"/>
            <a:ext cx="397764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machine needs an address to send to, so the wallet must be installed first; this is the same procedure as Alice's Receive screen with a QR code.</a:t>
            </a:r>
            <a:endParaRPr lang="en-US" sz="1100" dirty="0"/>
          </a:p>
        </p:txBody>
      </p:sp>
      <p:sp>
        <p:nvSpPr>
          <p:cNvPr id="10" name="Shape 8"/>
          <p:cNvSpPr/>
          <p:nvPr/>
        </p:nvSpPr>
        <p:spPr>
          <a:xfrm>
            <a:off x="4709160" y="1280160"/>
            <a:ext cx="3977640" cy="1624584"/>
          </a:xfrm>
          <a:prstGeom prst="roundRect">
            <a:avLst>
              <a:gd name="adj" fmla="val 5629"/>
            </a:avLst>
          </a:prstGeom>
          <a:solidFill>
            <a:srgbClr val="F4F2EE"/>
          </a:solidFill>
          <a:ln w="12700">
            <a:solidFill>
              <a:srgbClr val="F4F2EE"/>
            </a:solidFill>
            <a:prstDash val="solid"/>
          </a:ln>
        </p:spPr>
      </p:sp>
      <p:sp>
        <p:nvSpPr>
          <p:cNvPr id="11" name="Text 9"/>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Currency exchange</a:t>
            </a:r>
            <a:endParaRPr lang="en-US" sz="1600" dirty="0"/>
          </a:p>
        </p:txBody>
      </p:sp>
      <p:sp>
        <p:nvSpPr>
          <p:cNvPr id="12" name="Text 10"/>
          <p:cNvSpPr txBox="1"/>
          <p:nvPr/>
        </p:nvSpPr>
        <p:spPr>
          <a:xfrm>
            <a:off x="4892040" y="1783080"/>
            <a:ext cx="3611880" cy="984504"/>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currency exchange is a business that offers a market for buyers and sellers to swap bitcoins with local currency. The chapter lists it as the fourth method of acquisition: use a Bitcoin currency exchange linked to your bank account.</a:t>
            </a:r>
            <a:endParaRPr lang="en-US" sz="1200" dirty="0"/>
          </a:p>
        </p:txBody>
      </p:sp>
      <p:sp>
        <p:nvSpPr>
          <p:cNvPr id="13" name="Text 11"/>
          <p:cNvSpPr txBox="1"/>
          <p:nvPr/>
        </p:nvSpPr>
        <p:spPr>
          <a:xfrm>
            <a:off x="4709160" y="3051048"/>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user opens an account, passes the identity checks, links a bank account, deposits national currency, and buys bitcoin at the market price, which the exchange takes from its own market of offers.</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Identity verification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proof of identity at an exchange</a:t>
            </a:r>
            <a:endParaRPr lang="en-US" sz="1300" dirty="0"/>
          </a:p>
        </p:txBody>
      </p:sp>
      <p:sp>
        <p:nvSpPr>
          <p:cNvPr id="6" name="Shape 4"/>
          <p:cNvSpPr/>
          <p:nvPr/>
        </p:nvSpPr>
        <p:spPr>
          <a:xfrm>
            <a:off x="457200" y="1280160"/>
            <a:ext cx="8229600" cy="1702054"/>
          </a:xfrm>
          <a:prstGeom prst="roundRect">
            <a:avLst>
              <a:gd name="adj" fmla="val 5372"/>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106197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Identity verification is the process by which a company checks who a customer is before it sells him bitcoin for a reversible payment. The chapter says that companies accepting traditional electronic payments in return for bitcoin usually require buyers to undergo identity verification and credit-worthiness checks, which may take several days or weeks (Antonopoulos and Harding, 2023).</a:t>
            </a:r>
            <a:endParaRPr lang="en-US" sz="1300" dirty="0"/>
          </a:p>
        </p:txBody>
      </p:sp>
      <p:sp>
        <p:nvSpPr>
          <p:cNvPr id="9" name="Shape 7"/>
          <p:cNvSpPr/>
          <p:nvPr/>
        </p:nvSpPr>
        <p:spPr>
          <a:xfrm>
            <a:off x="457200" y="3128518"/>
            <a:ext cx="8229600" cy="1438656"/>
          </a:xfrm>
          <a:prstGeom prst="roundRect">
            <a:avLst>
              <a:gd name="adj" fmla="val 6356"/>
            </a:avLst>
          </a:prstGeom>
          <a:solidFill>
            <a:srgbClr val="F4F2EE"/>
          </a:solidFill>
          <a:ln w="12700">
            <a:solidFill>
              <a:srgbClr val="F4F2EE"/>
            </a:solidFill>
            <a:prstDash val="solid"/>
          </a:ln>
        </p:spPr>
      </p:sp>
      <p:sp>
        <p:nvSpPr>
          <p:cNvPr id="10" name="Text 8"/>
          <p:cNvSpPr txBox="1"/>
          <p:nvPr/>
        </p:nvSpPr>
        <p:spPr>
          <a:xfrm>
            <a:off x="640080" y="3247390"/>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Where you meet it</a:t>
            </a:r>
            <a:endParaRPr lang="en-US" sz="1600" dirty="0"/>
          </a:p>
        </p:txBody>
      </p:sp>
      <p:sp>
        <p:nvSpPr>
          <p:cNvPr id="11" name="Text 9"/>
          <p:cNvSpPr txBox="1"/>
          <p:nvPr/>
        </p:nvSpPr>
        <p:spPr>
          <a:xfrm>
            <a:off x="640080" y="3631438"/>
            <a:ext cx="786384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checks are met at exchanges and at some Bitcoin ATMs. The chapter notes that national and international regulations often apply where bitcoin touches traditional systems, and that to exchange bitcoin for your national currency you will often be required to provide proof of identity and banking information (Antonopoulos and Harding, 2023).</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457200" y="960120"/>
            <a:ext cx="128016" cy="1417320"/>
          </a:xfrm>
          <a:prstGeom prst="rect">
            <a:avLst/>
          </a:prstGeom>
          <a:solidFill>
            <a:srgbClr val="F7931A"/>
          </a:solidFill>
          <a:ln w="12700">
            <a:solidFill>
              <a:srgbClr val="F7931A"/>
            </a:solidFill>
            <a:prstDash val="solid"/>
          </a:ln>
        </p:spPr>
      </p:sp>
      <p:sp>
        <p:nvSpPr>
          <p:cNvPr id="3" name="Text 1"/>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Foundations</a:t>
            </a:r>
            <a:endParaRPr lang="en-US" sz="3200" dirty="0"/>
          </a:p>
        </p:txBody>
      </p:sp>
      <p:sp>
        <p:nvSpPr>
          <p:cNvPr id="4" name="Text 2"/>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C9D1DA"/>
                </a:solidFill>
                <a:latin typeface="Calibri" pitchFamily="34" charset="0"/>
                <a:ea typeface="Calibri" pitchFamily="34" charset="-122"/>
                <a:cs typeface="Calibri" pitchFamily="34" charset="-120"/>
              </a:rPr>
              <a:t>The Foundations branch collects the general technical ideas that the rest of the chapter takes for granted. Chapter 1 of the textbook introduces Bitcoin through a story about Alice and Joe, and in doing so it uses words such as digital signature</a:t>
            </a:r>
            <a:endParaRPr lang="en-US" sz="1500" dirty="0"/>
          </a:p>
        </p:txBody>
      </p:sp>
      <p:sp>
        <p:nvSpPr>
          <p:cNvPr id="5" name="Shape 3"/>
          <p:cNvSpPr/>
          <p:nvPr/>
        </p:nvSpPr>
        <p:spPr>
          <a:xfrm>
            <a:off x="457200" y="2788920"/>
            <a:ext cx="1947672" cy="1371600"/>
          </a:xfrm>
          <a:prstGeom prst="roundRect">
            <a:avLst>
              <a:gd name="adj" fmla="val 5333"/>
            </a:avLst>
          </a:prstGeom>
          <a:solidFill>
            <a:srgbClr val="3A4250"/>
          </a:solidFill>
          <a:ln w="12700">
            <a:solidFill>
              <a:srgbClr val="F7931A"/>
            </a:solidFill>
            <a:prstDash val="solid"/>
          </a:ln>
        </p:spPr>
      </p:sp>
      <p:sp>
        <p:nvSpPr>
          <p:cNvPr id="6" name="Text 4"/>
          <p:cNvSpPr txBox="1"/>
          <p:nvPr/>
        </p:nvSpPr>
        <p:spPr>
          <a:xfrm>
            <a:off x="530352" y="2834640"/>
            <a:ext cx="1801368"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Cryptography</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8 concepts</a:t>
            </a:r>
            <a:endParaRPr lang="en-US" sz="1200" dirty="0"/>
          </a:p>
        </p:txBody>
      </p:sp>
      <p:sp>
        <p:nvSpPr>
          <p:cNvPr id="7" name="Shape 5"/>
          <p:cNvSpPr/>
          <p:nvPr/>
        </p:nvSpPr>
        <p:spPr>
          <a:xfrm>
            <a:off x="2551176" y="2788920"/>
            <a:ext cx="1947672" cy="1371600"/>
          </a:xfrm>
          <a:prstGeom prst="roundRect">
            <a:avLst>
              <a:gd name="adj" fmla="val 5333"/>
            </a:avLst>
          </a:prstGeom>
          <a:solidFill>
            <a:srgbClr val="3A4250"/>
          </a:solidFill>
          <a:ln w="12700">
            <a:solidFill>
              <a:srgbClr val="F7931A"/>
            </a:solidFill>
            <a:prstDash val="solid"/>
          </a:ln>
        </p:spPr>
      </p:sp>
      <p:sp>
        <p:nvSpPr>
          <p:cNvPr id="8" name="Text 6"/>
          <p:cNvSpPr txBox="1"/>
          <p:nvPr/>
        </p:nvSpPr>
        <p:spPr>
          <a:xfrm>
            <a:off x="2624328" y="2834640"/>
            <a:ext cx="1801368"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Chain</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4 concepts</a:t>
            </a:r>
            <a:endParaRPr lang="en-US" sz="1200" dirty="0"/>
          </a:p>
        </p:txBody>
      </p:sp>
      <p:sp>
        <p:nvSpPr>
          <p:cNvPr id="9" name="Shape 7"/>
          <p:cNvSpPr/>
          <p:nvPr/>
        </p:nvSpPr>
        <p:spPr>
          <a:xfrm>
            <a:off x="4645152" y="2788920"/>
            <a:ext cx="1947672" cy="1371600"/>
          </a:xfrm>
          <a:prstGeom prst="roundRect">
            <a:avLst>
              <a:gd name="adj" fmla="val 5333"/>
            </a:avLst>
          </a:prstGeom>
          <a:solidFill>
            <a:srgbClr val="3A4250"/>
          </a:solidFill>
          <a:ln w="12700">
            <a:solidFill>
              <a:srgbClr val="F7931A"/>
            </a:solidFill>
            <a:prstDash val="solid"/>
          </a:ln>
        </p:spPr>
      </p:sp>
      <p:sp>
        <p:nvSpPr>
          <p:cNvPr id="10" name="Text 8"/>
          <p:cNvSpPr txBox="1"/>
          <p:nvPr/>
        </p:nvSpPr>
        <p:spPr>
          <a:xfrm>
            <a:off x="4718304" y="2834640"/>
            <a:ext cx="1801368"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Computing</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12 concepts</a:t>
            </a:r>
            <a:endParaRPr lang="en-US" sz="1200" dirty="0"/>
          </a:p>
        </p:txBody>
      </p:sp>
      <p:sp>
        <p:nvSpPr>
          <p:cNvPr id="11" name="Shape 9"/>
          <p:cNvSpPr/>
          <p:nvPr/>
        </p:nvSpPr>
        <p:spPr>
          <a:xfrm>
            <a:off x="6739128" y="2788920"/>
            <a:ext cx="1947672" cy="1371600"/>
          </a:xfrm>
          <a:prstGeom prst="roundRect">
            <a:avLst>
              <a:gd name="adj" fmla="val 5333"/>
            </a:avLst>
          </a:prstGeom>
          <a:solidFill>
            <a:srgbClr val="3A4250"/>
          </a:solidFill>
          <a:ln w="12700">
            <a:solidFill>
              <a:srgbClr val="F7931A"/>
            </a:solidFill>
            <a:prstDash val="solid"/>
          </a:ln>
        </p:spPr>
      </p:sp>
      <p:sp>
        <p:nvSpPr>
          <p:cNvPr id="12" name="Text 10"/>
          <p:cNvSpPr txBox="1"/>
          <p:nvPr/>
        </p:nvSpPr>
        <p:spPr>
          <a:xfrm>
            <a:off x="6812280" y="2834640"/>
            <a:ext cx="1801368"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Threats</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2 concepts</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Cryptography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Foundations - 8 concepts</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Cryptography is the science of transforming data so that its meaning is hidden, so that undetected alteration is prevented, or so that unauthorised use is prevented. The Internet Security Glossary describes it in these terms and adds that if the transformation is reversible, cryptography also deals with restoring the data (Shirey, 2007).</a:t>
            </a:r>
            <a:endParaRPr lang="en-US" sz="1300" dirty="0"/>
          </a:p>
        </p:txBody>
      </p:sp>
      <p:sp>
        <p:nvSpPr>
          <p:cNvPr id="9" name="Shape 7"/>
          <p:cNvSpPr/>
          <p:nvPr/>
        </p:nvSpPr>
        <p:spPr>
          <a:xfrm>
            <a:off x="457200" y="2927096"/>
            <a:ext cx="2645664" cy="334941"/>
          </a:xfrm>
          <a:prstGeom prst="roundRect">
            <a:avLst>
              <a:gd name="adj" fmla="val 21840"/>
            </a:avLst>
          </a:prstGeom>
          <a:solidFill>
            <a:srgbClr val="F4F2EE"/>
          </a:solidFill>
          <a:ln w="12700">
            <a:solidFill>
              <a:srgbClr val="D9D4CC"/>
            </a:solidFill>
            <a:prstDash val="solid"/>
          </a:ln>
        </p:spPr>
      </p:sp>
      <p:sp>
        <p:nvSpPr>
          <p:cNvPr id="10" name="Text 8"/>
          <p:cNvSpPr txBox="1"/>
          <p:nvPr/>
        </p:nvSpPr>
        <p:spPr>
          <a:xfrm>
            <a:off x="548640" y="2981960"/>
            <a:ext cx="2462784"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Hash function</a:t>
            </a:r>
            <a:endParaRPr lang="en-US" sz="1150" dirty="0"/>
          </a:p>
        </p:txBody>
      </p:sp>
      <p:sp>
        <p:nvSpPr>
          <p:cNvPr id="11" name="Shape 9"/>
          <p:cNvSpPr/>
          <p:nvPr/>
        </p:nvSpPr>
        <p:spPr>
          <a:xfrm>
            <a:off x="3249168" y="2927096"/>
            <a:ext cx="2645664" cy="334941"/>
          </a:xfrm>
          <a:prstGeom prst="roundRect">
            <a:avLst>
              <a:gd name="adj" fmla="val 21840"/>
            </a:avLst>
          </a:prstGeom>
          <a:solidFill>
            <a:srgbClr val="F4F2EE"/>
          </a:solidFill>
          <a:ln w="12700">
            <a:solidFill>
              <a:srgbClr val="D9D4CC"/>
            </a:solidFill>
            <a:prstDash val="solid"/>
          </a:ln>
        </p:spPr>
      </p:sp>
      <p:sp>
        <p:nvSpPr>
          <p:cNvPr id="12" name="Text 10"/>
          <p:cNvSpPr txBox="1"/>
          <p:nvPr/>
        </p:nvSpPr>
        <p:spPr>
          <a:xfrm>
            <a:off x="3340608" y="2981960"/>
            <a:ext cx="2462784"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Digital signature</a:t>
            </a:r>
            <a:endParaRPr lang="en-US" sz="1150" dirty="0"/>
          </a:p>
        </p:txBody>
      </p:sp>
      <p:sp>
        <p:nvSpPr>
          <p:cNvPr id="13" name="Shape 11"/>
          <p:cNvSpPr/>
          <p:nvPr/>
        </p:nvSpPr>
        <p:spPr>
          <a:xfrm>
            <a:off x="6041136" y="2927096"/>
            <a:ext cx="2645664" cy="334941"/>
          </a:xfrm>
          <a:prstGeom prst="roundRect">
            <a:avLst>
              <a:gd name="adj" fmla="val 21840"/>
            </a:avLst>
          </a:prstGeom>
          <a:solidFill>
            <a:srgbClr val="F4F2EE"/>
          </a:solidFill>
          <a:ln w="12700">
            <a:solidFill>
              <a:srgbClr val="D9D4CC"/>
            </a:solidFill>
            <a:prstDash val="solid"/>
          </a:ln>
        </p:spPr>
      </p:sp>
      <p:sp>
        <p:nvSpPr>
          <p:cNvPr id="14" name="Text 12"/>
          <p:cNvSpPr txBox="1"/>
          <p:nvPr/>
        </p:nvSpPr>
        <p:spPr>
          <a:xfrm>
            <a:off x="6132576" y="2981960"/>
            <a:ext cx="2462784"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Public-key cryptography</a:t>
            </a:r>
            <a:endParaRPr lang="en-US" sz="1150" dirty="0"/>
          </a:p>
        </p:txBody>
      </p:sp>
      <p:sp>
        <p:nvSpPr>
          <p:cNvPr id="15" name="Shape 13"/>
          <p:cNvSpPr/>
          <p:nvPr/>
        </p:nvSpPr>
        <p:spPr>
          <a:xfrm>
            <a:off x="457200" y="3390053"/>
            <a:ext cx="2645664" cy="334941"/>
          </a:xfrm>
          <a:prstGeom prst="roundRect">
            <a:avLst>
              <a:gd name="adj" fmla="val 21840"/>
            </a:avLst>
          </a:prstGeom>
          <a:solidFill>
            <a:srgbClr val="F4F2EE"/>
          </a:solidFill>
          <a:ln w="12700">
            <a:solidFill>
              <a:srgbClr val="D9D4CC"/>
            </a:solidFill>
            <a:prstDash val="solid"/>
          </a:ln>
        </p:spPr>
      </p:sp>
      <p:sp>
        <p:nvSpPr>
          <p:cNvPr id="16" name="Text 14"/>
          <p:cNvSpPr txBox="1"/>
          <p:nvPr/>
        </p:nvSpPr>
        <p:spPr>
          <a:xfrm>
            <a:off x="548640" y="3444917"/>
            <a:ext cx="2462784"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Private key</a:t>
            </a:r>
            <a:endParaRPr lang="en-US" sz="1150" dirty="0"/>
          </a:p>
        </p:txBody>
      </p:sp>
      <p:sp>
        <p:nvSpPr>
          <p:cNvPr id="17" name="Shape 15"/>
          <p:cNvSpPr/>
          <p:nvPr/>
        </p:nvSpPr>
        <p:spPr>
          <a:xfrm>
            <a:off x="3249168" y="3390053"/>
            <a:ext cx="2645664" cy="334941"/>
          </a:xfrm>
          <a:prstGeom prst="roundRect">
            <a:avLst>
              <a:gd name="adj" fmla="val 21840"/>
            </a:avLst>
          </a:prstGeom>
          <a:solidFill>
            <a:srgbClr val="F4F2EE"/>
          </a:solidFill>
          <a:ln w="12700">
            <a:solidFill>
              <a:srgbClr val="D9D4CC"/>
            </a:solidFill>
            <a:prstDash val="solid"/>
          </a:ln>
        </p:spPr>
      </p:sp>
      <p:sp>
        <p:nvSpPr>
          <p:cNvPr id="18" name="Text 16"/>
          <p:cNvSpPr txBox="1"/>
          <p:nvPr/>
        </p:nvSpPr>
        <p:spPr>
          <a:xfrm>
            <a:off x="3340608" y="3444917"/>
            <a:ext cx="2462784"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Entropy</a:t>
            </a:r>
            <a:endParaRPr lang="en-US" sz="1150" dirty="0"/>
          </a:p>
        </p:txBody>
      </p:sp>
      <p:sp>
        <p:nvSpPr>
          <p:cNvPr id="19" name="Shape 17"/>
          <p:cNvSpPr/>
          <p:nvPr/>
        </p:nvSpPr>
        <p:spPr>
          <a:xfrm>
            <a:off x="6041136" y="3390053"/>
            <a:ext cx="2645664" cy="334941"/>
          </a:xfrm>
          <a:prstGeom prst="roundRect">
            <a:avLst>
              <a:gd name="adj" fmla="val 21840"/>
            </a:avLst>
          </a:prstGeom>
          <a:solidFill>
            <a:srgbClr val="F4F2EE"/>
          </a:solidFill>
          <a:ln w="12700">
            <a:solidFill>
              <a:srgbClr val="D9D4CC"/>
            </a:solidFill>
            <a:prstDash val="solid"/>
          </a:ln>
        </p:spPr>
      </p:sp>
      <p:sp>
        <p:nvSpPr>
          <p:cNvPr id="20" name="Text 18"/>
          <p:cNvSpPr txBox="1"/>
          <p:nvPr/>
        </p:nvSpPr>
        <p:spPr>
          <a:xfrm>
            <a:off x="6132576" y="3444917"/>
            <a:ext cx="2462784"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Checksum</a:t>
            </a:r>
            <a:endParaRPr lang="en-US" sz="1150" dirty="0"/>
          </a:p>
        </p:txBody>
      </p:sp>
      <p:sp>
        <p:nvSpPr>
          <p:cNvPr id="21" name="Shape 19"/>
          <p:cNvSpPr/>
          <p:nvPr/>
        </p:nvSpPr>
        <p:spPr>
          <a:xfrm>
            <a:off x="457200" y="3853011"/>
            <a:ext cx="2645664" cy="334941"/>
          </a:xfrm>
          <a:prstGeom prst="roundRect">
            <a:avLst>
              <a:gd name="adj" fmla="val 21840"/>
            </a:avLst>
          </a:prstGeom>
          <a:solidFill>
            <a:srgbClr val="F4F2EE"/>
          </a:solidFill>
          <a:ln w="12700">
            <a:solidFill>
              <a:srgbClr val="D9D4CC"/>
            </a:solidFill>
            <a:prstDash val="solid"/>
          </a:ln>
        </p:spPr>
      </p:sp>
      <p:sp>
        <p:nvSpPr>
          <p:cNvPr id="22" name="Text 20"/>
          <p:cNvSpPr txBox="1"/>
          <p:nvPr/>
        </p:nvSpPr>
        <p:spPr>
          <a:xfrm>
            <a:off x="548640" y="3907875"/>
            <a:ext cx="2462784"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Keyed hash</a:t>
            </a:r>
            <a:endParaRPr lang="en-US" sz="1150" dirty="0"/>
          </a:p>
        </p:txBody>
      </p:sp>
      <p:sp>
        <p:nvSpPr>
          <p:cNvPr id="23" name="Shape 21"/>
          <p:cNvSpPr/>
          <p:nvPr/>
        </p:nvSpPr>
        <p:spPr>
          <a:xfrm>
            <a:off x="3249168" y="3853011"/>
            <a:ext cx="2645664" cy="334941"/>
          </a:xfrm>
          <a:prstGeom prst="roundRect">
            <a:avLst>
              <a:gd name="adj" fmla="val 21840"/>
            </a:avLst>
          </a:prstGeom>
          <a:solidFill>
            <a:srgbClr val="F4F2EE"/>
          </a:solidFill>
          <a:ln w="12700">
            <a:solidFill>
              <a:srgbClr val="D9D4CC"/>
            </a:solidFill>
            <a:prstDash val="solid"/>
          </a:ln>
        </p:spPr>
      </p:sp>
      <p:sp>
        <p:nvSpPr>
          <p:cNvPr id="24" name="Text 22"/>
          <p:cNvSpPr txBox="1"/>
          <p:nvPr/>
        </p:nvSpPr>
        <p:spPr>
          <a:xfrm>
            <a:off x="3340608" y="3907875"/>
            <a:ext cx="2462784"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Key stretching</a:t>
            </a:r>
            <a:endParaRPr lang="en-US" sz="1150" dirty="0"/>
          </a:p>
        </p:txBody>
      </p:sp>
      <p:sp>
        <p:nvSpPr>
          <p:cNvPr id="25" name="Text 23"/>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eight concepts form a chain. A wallet begins with entropy, which is randomness that an attacker cannot predict.</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Hash function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SHA-256 hash of abc</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hash function is a function that maps data of any length to a result of fixed length, called the hash or digest.</a:t>
            </a:r>
            <a:endParaRPr lang="en-US" sz="1300" dirty="0"/>
          </a:p>
        </p:txBody>
      </p:sp>
      <p:sp>
        <p:nvSpPr>
          <p:cNvPr id="9" name="Shape 7"/>
          <p:cNvSpPr/>
          <p:nvPr/>
        </p:nvSpPr>
        <p:spPr>
          <a:xfrm>
            <a:off x="457200" y="2524252"/>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643124"/>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hashlib.sha256(b'abc').hexdigest()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'ba7816bf8f01cfea414140de5dae2223b00361a396177a9cb410ff61f20015ad'</a:t>
            </a:r>
            <a:endParaRPr lang="en-US" sz="1100" dirty="0"/>
          </a:p>
        </p:txBody>
      </p:sp>
      <p:sp>
        <p:nvSpPr>
          <p:cNvPr id="11" name="Text 9"/>
          <p:cNvSpPr txBox="1"/>
          <p:nvPr/>
        </p:nvSpPr>
        <p:spPr>
          <a:xfrm>
            <a:off x="457200" y="312115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340608"/>
            <a:ext cx="8229600" cy="1066800"/>
          </a:xfrm>
          <a:prstGeom prst="roundRect">
            <a:avLst>
              <a:gd name="adj" fmla="val 8571"/>
            </a:avLst>
          </a:prstGeom>
          <a:solidFill>
            <a:srgbClr val="F4F2EE"/>
          </a:solidFill>
          <a:ln w="12700">
            <a:solidFill>
              <a:srgbClr val="F4F2EE"/>
            </a:solidFill>
            <a:prstDash val="solid"/>
          </a:ln>
        </p:spPr>
      </p:sp>
      <p:sp>
        <p:nvSpPr>
          <p:cNvPr id="13" name="Text 11"/>
          <p:cNvSpPr txBox="1"/>
          <p:nvPr/>
        </p:nvSpPr>
        <p:spPr>
          <a:xfrm>
            <a:off x="640080" y="3459480"/>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843528"/>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SHA-256, the function used by Bitcoin, takes a message of any practical length and returns 256 bits, which are normally written as 64 hexadecimal digits.</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Digital signature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toy signature with tiny numbers</a:t>
            </a:r>
            <a:endParaRPr lang="en-US" sz="1300" dirty="0"/>
          </a:p>
        </p:txBody>
      </p:sp>
      <p:sp>
        <p:nvSpPr>
          <p:cNvPr id="6" name="Shape 4"/>
          <p:cNvSpPr/>
          <p:nvPr/>
        </p:nvSpPr>
        <p:spPr>
          <a:xfrm>
            <a:off x="457200" y="1280160"/>
            <a:ext cx="8229600" cy="1702054"/>
          </a:xfrm>
          <a:prstGeom prst="roundRect">
            <a:avLst>
              <a:gd name="adj" fmla="val 5372"/>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106197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digital signature is a value computed from a data object and a secret key, which lets any recipient verify where the data came from and that it has not been changed. The Internet Security Glossary defines it as a value computed with a cryptographic algorithm and associated with a data object in such a way that any recipient of the data can use the signature to verify the data's origin and integrity (Shirey, 2007).</a:t>
            </a:r>
            <a:endParaRPr lang="en-US" sz="1300" dirty="0"/>
          </a:p>
        </p:txBody>
      </p:sp>
      <p:sp>
        <p:nvSpPr>
          <p:cNvPr id="9" name="Shape 7"/>
          <p:cNvSpPr/>
          <p:nvPr/>
        </p:nvSpPr>
        <p:spPr>
          <a:xfrm>
            <a:off x="457200" y="3128518"/>
            <a:ext cx="8229600" cy="749046"/>
          </a:xfrm>
          <a:prstGeom prst="roundRect">
            <a:avLst>
              <a:gd name="adj" fmla="val 12208"/>
            </a:avLst>
          </a:prstGeom>
          <a:solidFill>
            <a:srgbClr val="15191E"/>
          </a:solidFill>
          <a:ln w="12700">
            <a:solidFill>
              <a:srgbClr val="15191E"/>
            </a:solidFill>
            <a:prstDash val="solid"/>
          </a:ln>
        </p:spPr>
      </p:sp>
      <p:sp>
        <p:nvSpPr>
          <p:cNvPr id="10" name="Text 8"/>
          <p:cNvSpPr txBox="1"/>
          <p:nvPr/>
        </p:nvSpPr>
        <p:spPr>
          <a:xfrm>
            <a:off x="640080" y="3247390"/>
            <a:ext cx="7863840" cy="511302"/>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n, e, d, m = 3233, 17, 2753, 65</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(pow(m, d, n), pow(pow(m, d, n), e, n) == m, pow(pow(m, d, n), e, n) == 66)</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(588, True, False)</a:t>
            </a:r>
            <a:endParaRPr lang="en-US" sz="1100" dirty="0"/>
          </a:p>
        </p:txBody>
      </p:sp>
      <p:sp>
        <p:nvSpPr>
          <p:cNvPr id="11" name="Text 9"/>
          <p:cNvSpPr txBox="1"/>
          <p:nvPr/>
        </p:nvSpPr>
        <p:spPr>
          <a:xfrm>
            <a:off x="457200" y="389585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4151884"/>
            <a:ext cx="822960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Signing uses a pair of related keys. The signer computes the signature from the data and the private key, and a verifier checks it with the public key, which anyone may know.</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Public-key cryptography and Private key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252728"/>
          </a:xfrm>
          <a:prstGeom prst="roundRect">
            <a:avLst>
              <a:gd name="adj" fmla="val 7299"/>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Public-key cryptography</a:t>
            </a:r>
            <a:endParaRPr lang="en-US" sz="1600" dirty="0"/>
          </a:p>
        </p:txBody>
      </p:sp>
      <p:sp>
        <p:nvSpPr>
          <p:cNvPr id="8" name="Text 6"/>
          <p:cNvSpPr txBox="1"/>
          <p:nvPr/>
        </p:nvSpPr>
        <p:spPr>
          <a:xfrm>
            <a:off x="640080" y="1783080"/>
            <a:ext cx="361188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Public-key cryptography, also called asymmetric cryptography, is cryptography in which each user has a pair of mathematically related keys.</a:t>
            </a:r>
            <a:endParaRPr lang="en-US" sz="1200" dirty="0"/>
          </a:p>
        </p:txBody>
      </p:sp>
      <p:sp>
        <p:nvSpPr>
          <p:cNvPr id="9" name="Shape 7"/>
          <p:cNvSpPr/>
          <p:nvPr/>
        </p:nvSpPr>
        <p:spPr>
          <a:xfrm>
            <a:off x="457200" y="2642616"/>
            <a:ext cx="3977640" cy="563118"/>
          </a:xfrm>
          <a:prstGeom prst="roundRect">
            <a:avLst>
              <a:gd name="adj" fmla="val 16238"/>
            </a:avLst>
          </a:prstGeom>
          <a:solidFill>
            <a:srgbClr val="15191E"/>
          </a:solidFill>
          <a:ln w="12700">
            <a:solidFill>
              <a:srgbClr val="15191E"/>
            </a:solidFill>
            <a:prstDash val="solid"/>
          </a:ln>
        </p:spPr>
      </p:sp>
      <p:sp>
        <p:nvSpPr>
          <p:cNvPr id="10" name="Text 8"/>
          <p:cNvSpPr txBox="1"/>
          <p:nvPr/>
        </p:nvSpPr>
        <p:spPr>
          <a:xfrm>
            <a:off x="640080" y="2761488"/>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pow(pow(65, 17, 3233), 2753, 3233)</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65</a:t>
            </a:r>
            <a:endParaRPr lang="en-US" sz="1050" dirty="0"/>
          </a:p>
        </p:txBody>
      </p:sp>
      <p:sp>
        <p:nvSpPr>
          <p:cNvPr id="11" name="Text 9"/>
          <p:cNvSpPr txBox="1"/>
          <p:nvPr/>
        </p:nvSpPr>
        <p:spPr>
          <a:xfrm>
            <a:off x="457200" y="3224022"/>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480054"/>
            <a:ext cx="397764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example uses a classic textbook construction with tiny numbers.</a:t>
            </a:r>
            <a:endParaRPr lang="en-US" sz="1100" dirty="0"/>
          </a:p>
        </p:txBody>
      </p:sp>
      <p:sp>
        <p:nvSpPr>
          <p:cNvPr id="13" name="Shape 11"/>
          <p:cNvSpPr/>
          <p:nvPr/>
        </p:nvSpPr>
        <p:spPr>
          <a:xfrm>
            <a:off x="4709160" y="1280160"/>
            <a:ext cx="3977640" cy="1624584"/>
          </a:xfrm>
          <a:prstGeom prst="roundRect">
            <a:avLst>
              <a:gd name="adj" fmla="val 5629"/>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Private key</a:t>
            </a:r>
            <a:endParaRPr lang="en-US" sz="1600" dirty="0"/>
          </a:p>
        </p:txBody>
      </p:sp>
      <p:sp>
        <p:nvSpPr>
          <p:cNvPr id="15" name="Text 13"/>
          <p:cNvSpPr txBox="1"/>
          <p:nvPr/>
        </p:nvSpPr>
        <p:spPr>
          <a:xfrm>
            <a:off x="4892040" y="1783080"/>
            <a:ext cx="3611880" cy="984504"/>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private key is the secret component of a pair of cryptographic keys. The Internet Security Glossary describes it as the key that is known only by its user and used for asymmetric cryptography (Shirey, 2007).</a:t>
            </a:r>
            <a:endParaRPr lang="en-US" sz="1200" dirty="0"/>
          </a:p>
        </p:txBody>
      </p:sp>
      <p:sp>
        <p:nvSpPr>
          <p:cNvPr id="16" name="Shape 14"/>
          <p:cNvSpPr/>
          <p:nvPr/>
        </p:nvSpPr>
        <p:spPr>
          <a:xfrm>
            <a:off x="4709160" y="3014472"/>
            <a:ext cx="3977640" cy="563118"/>
          </a:xfrm>
          <a:prstGeom prst="roundRect">
            <a:avLst>
              <a:gd name="adj" fmla="val 16238"/>
            </a:avLst>
          </a:prstGeom>
          <a:solidFill>
            <a:srgbClr val="15191E"/>
          </a:solidFill>
          <a:ln w="12700">
            <a:solidFill>
              <a:srgbClr val="15191E"/>
            </a:solidFill>
            <a:prstDash val="solid"/>
          </a:ln>
        </p:spPr>
      </p:sp>
      <p:sp>
        <p:nvSpPr>
          <p:cNvPr id="17" name="Text 15"/>
          <p:cNvSpPr txBox="1"/>
          <p:nvPr/>
        </p:nvSpPr>
        <p:spPr>
          <a:xfrm>
            <a:off x="4892040" y="3133344"/>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len(str(2**256))</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78</a:t>
            </a:r>
            <a:endParaRPr lang="en-US" sz="1050" dirty="0"/>
          </a:p>
        </p:txBody>
      </p:sp>
      <p:sp>
        <p:nvSpPr>
          <p:cNvPr id="18" name="Text 16"/>
          <p:cNvSpPr txBox="1"/>
          <p:nvPr/>
        </p:nvSpPr>
        <p:spPr>
          <a:xfrm>
            <a:off x="4709160" y="3595878"/>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709160" y="3851910"/>
            <a:ext cx="397764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A private key is a number chosen at random from an enormous range.</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Entropy and Checksum</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066800"/>
          </a:xfrm>
          <a:prstGeom prst="roundRect">
            <a:avLst>
              <a:gd name="adj" fmla="val 8571"/>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Entropy</a:t>
            </a:r>
            <a:endParaRPr lang="en-US" sz="1600" dirty="0"/>
          </a:p>
        </p:txBody>
      </p:sp>
      <p:sp>
        <p:nvSpPr>
          <p:cNvPr id="8" name="Text 6"/>
          <p:cNvSpPr txBox="1"/>
          <p:nvPr/>
        </p:nvSpPr>
        <p:spPr>
          <a:xfrm>
            <a:off x="640080" y="1783080"/>
            <a:ext cx="361188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In cryptography, entropy is a measure of how unpredictable a secret is.</a:t>
            </a:r>
            <a:endParaRPr lang="en-US" sz="1200" dirty="0"/>
          </a:p>
        </p:txBody>
      </p:sp>
      <p:sp>
        <p:nvSpPr>
          <p:cNvPr id="9" name="Shape 7"/>
          <p:cNvSpPr/>
          <p:nvPr/>
        </p:nvSpPr>
        <p:spPr>
          <a:xfrm>
            <a:off x="457200" y="2456688"/>
            <a:ext cx="3977640" cy="725805"/>
          </a:xfrm>
          <a:prstGeom prst="roundRect">
            <a:avLst>
              <a:gd name="adj" fmla="val 12598"/>
            </a:avLst>
          </a:prstGeom>
          <a:solidFill>
            <a:srgbClr val="15191E"/>
          </a:solidFill>
          <a:ln w="12700">
            <a:solidFill>
              <a:srgbClr val="15191E"/>
            </a:solidFill>
            <a:prstDash val="solid"/>
          </a:ln>
        </p:spPr>
      </p:sp>
      <p:sp>
        <p:nvSpPr>
          <p:cNvPr id="10" name="Text 8"/>
          <p:cNvSpPr txBox="1"/>
          <p:nvPr/>
        </p:nvSpPr>
        <p:spPr>
          <a:xfrm>
            <a:off x="640080" y="2575560"/>
            <a:ext cx="3611880" cy="488061"/>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(2048 .bit_length() - 1, 12 * 11, 128 + 128 // 32)</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(11, 132, 132)</a:t>
            </a:r>
            <a:endParaRPr lang="en-US" sz="1050" dirty="0"/>
          </a:p>
        </p:txBody>
      </p:sp>
      <p:sp>
        <p:nvSpPr>
          <p:cNvPr id="11" name="Text 9"/>
          <p:cNvSpPr txBox="1"/>
          <p:nvPr/>
        </p:nvSpPr>
        <p:spPr>
          <a:xfrm>
            <a:off x="457200" y="3200781"/>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456813"/>
            <a:ext cx="397764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BIP 39 recovery code turns entropy into words. Each word is chosen from a list of 2048 words, so each word carries 11 bits, because 2 to the power 11 is 2048.</a:t>
            </a:r>
            <a:endParaRPr lang="en-US" sz="1100" dirty="0"/>
          </a:p>
        </p:txBody>
      </p:sp>
      <p:sp>
        <p:nvSpPr>
          <p:cNvPr id="13" name="Shape 11"/>
          <p:cNvSpPr/>
          <p:nvPr/>
        </p:nvSpPr>
        <p:spPr>
          <a:xfrm>
            <a:off x="4709160" y="1280160"/>
            <a:ext cx="3977640" cy="1810512"/>
          </a:xfrm>
          <a:prstGeom prst="roundRect">
            <a:avLst>
              <a:gd name="adj" fmla="val 5051"/>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Checksum</a:t>
            </a:r>
            <a:endParaRPr lang="en-US" sz="1600" dirty="0"/>
          </a:p>
        </p:txBody>
      </p:sp>
      <p:sp>
        <p:nvSpPr>
          <p:cNvPr id="15" name="Text 13"/>
          <p:cNvSpPr txBox="1"/>
          <p:nvPr/>
        </p:nvSpPr>
        <p:spPr>
          <a:xfrm>
            <a:off x="4892040" y="1783080"/>
            <a:ext cx="3611880" cy="117043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checksum is a value that is computed from the contents of a data object and is stored or transmitted together with the object, so that changes in the data can be detected. This is the definition of the Internet Security Glossary (Shirey, 2007).</a:t>
            </a:r>
            <a:endParaRPr lang="en-US" sz="1200" dirty="0"/>
          </a:p>
        </p:txBody>
      </p:sp>
      <p:sp>
        <p:nvSpPr>
          <p:cNvPr id="16" name="Shape 14"/>
          <p:cNvSpPr/>
          <p:nvPr/>
        </p:nvSpPr>
        <p:spPr>
          <a:xfrm>
            <a:off x="4709160" y="3200400"/>
            <a:ext cx="3977640" cy="725805"/>
          </a:xfrm>
          <a:prstGeom prst="roundRect">
            <a:avLst>
              <a:gd name="adj" fmla="val 12598"/>
            </a:avLst>
          </a:prstGeom>
          <a:solidFill>
            <a:srgbClr val="15191E"/>
          </a:solidFill>
          <a:ln w="12700">
            <a:solidFill>
              <a:srgbClr val="15191E"/>
            </a:solidFill>
            <a:prstDash val="solid"/>
          </a:ln>
        </p:spPr>
      </p:sp>
      <p:sp>
        <p:nvSpPr>
          <p:cNvPr id="17" name="Text 15"/>
          <p:cNvSpPr txBox="1"/>
          <p:nvPr/>
        </p:nvSpPr>
        <p:spPr>
          <a:xfrm>
            <a:off x="4892040" y="3319272"/>
            <a:ext cx="3611880" cy="488061"/>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hashlib.sha256(bytes(16)).digest()[0] &gt;&gt; 4</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3</a:t>
            </a:r>
            <a:endParaRPr lang="en-US" sz="1050" dirty="0"/>
          </a:p>
        </p:txBody>
      </p:sp>
      <p:sp>
        <p:nvSpPr>
          <p:cNvPr id="18" name="Text 16"/>
          <p:cNvSpPr txBox="1"/>
          <p:nvPr/>
        </p:nvSpPr>
        <p:spPr>
          <a:xfrm>
            <a:off x="4709160" y="3944493"/>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709160" y="4200525"/>
            <a:ext cx="397764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method is simple. The wallet computes the hash of the random bytes and keeps the first few bits.</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Keyed hash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HMAC-SHA512 of a short message</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keyed hash is a hash that is computed from two things rather than one: the data and a secret key. The result is usually called a message authentication code, because it lets a receiver who knows the same key confirm both that the data is unaltered and that it came from someone holding the key.</a:t>
            </a:r>
            <a:endParaRPr lang="en-US" sz="1300" dirty="0"/>
          </a:p>
        </p:txBody>
      </p:sp>
      <p:sp>
        <p:nvSpPr>
          <p:cNvPr id="9" name="Shape 7"/>
          <p:cNvSpPr/>
          <p:nvPr/>
        </p:nvSpPr>
        <p:spPr>
          <a:xfrm>
            <a:off x="457200" y="2927096"/>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3045968"/>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len(hmac.new(b'key', b'message', 'sha512').digest())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64</a:t>
            </a:r>
            <a:endParaRPr lang="en-US" sz="1100" dirty="0"/>
          </a:p>
        </p:txBody>
      </p:sp>
      <p:sp>
        <p:nvSpPr>
          <p:cNvPr id="11" name="Text 9"/>
          <p:cNvSpPr txBox="1"/>
          <p:nvPr/>
        </p:nvSpPr>
        <p:spPr>
          <a:xfrm>
            <a:off x="457200" y="35239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80028"/>
            <a:ext cx="822960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construction pads the key to the block length of the hash function, combines it with two fixed byte patterns, and hashes twice: once over the first pattern and the message, and once over the second pattern and that intermediate result.</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Key stretching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64-byte seed from PBKDF2</a:t>
            </a:r>
            <a:endParaRPr lang="en-US" sz="1300" dirty="0"/>
          </a:p>
        </p:txBody>
      </p:sp>
      <p:sp>
        <p:nvSpPr>
          <p:cNvPr id="6" name="Shape 4"/>
          <p:cNvSpPr/>
          <p:nvPr/>
        </p:nvSpPr>
        <p:spPr>
          <a:xfrm>
            <a:off x="457200" y="1280160"/>
            <a:ext cx="8229600" cy="880872"/>
          </a:xfrm>
          <a:prstGeom prst="roundRect">
            <a:avLst>
              <a:gd name="adj" fmla="val 1038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Key stretching is the use of a deliberately slow, repeated computation to derive a key from a secret.</a:t>
            </a:r>
            <a:endParaRPr lang="en-US" sz="1200" dirty="0"/>
          </a:p>
        </p:txBody>
      </p:sp>
      <p:sp>
        <p:nvSpPr>
          <p:cNvPr id="9" name="Shape 7"/>
          <p:cNvSpPr/>
          <p:nvPr/>
        </p:nvSpPr>
        <p:spPr>
          <a:xfrm>
            <a:off x="457200" y="2307336"/>
            <a:ext cx="8229600" cy="1477264"/>
          </a:xfrm>
          <a:prstGeom prst="roundRect">
            <a:avLst>
              <a:gd name="adj" fmla="val 6190"/>
            </a:avLst>
          </a:prstGeom>
          <a:solidFill>
            <a:srgbClr val="15191E"/>
          </a:solidFill>
          <a:ln w="12700">
            <a:solidFill>
              <a:srgbClr val="15191E"/>
            </a:solidFill>
            <a:prstDash val="solid"/>
          </a:ln>
        </p:spPr>
      </p:sp>
      <p:sp>
        <p:nvSpPr>
          <p:cNvPr id="10" name="Text 8"/>
          <p:cNvSpPr txBox="1"/>
          <p:nvPr/>
        </p:nvSpPr>
        <p:spPr>
          <a:xfrm>
            <a:off x="640080" y="2426208"/>
            <a:ext cx="7863840" cy="123952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import hmac</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password, salt, iters = b'abandon', b'mnemonic', 2048</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u = hmac.new(password, salt + bytes([0, 0, 0, 1]), 'sha512').digest()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seed = u</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for _ in range(iters - 1):</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u = hmac.new(password, u, 'sha512').digest()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seed = bytes(a ^ b for a, b in zip(seed, u))</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(len(seed), seed.hex()[:8])</a:t>
            </a:r>
            <a:endParaRPr lang="en-US" sz="1000" dirty="0"/>
          </a:p>
        </p:txBody>
      </p:sp>
      <p:sp>
        <p:nvSpPr>
          <p:cNvPr id="11" name="Text 9"/>
          <p:cNvSpPr txBox="1"/>
          <p:nvPr/>
        </p:nvSpPr>
        <p:spPr>
          <a:xfrm>
            <a:off x="457200" y="3802888"/>
            <a:ext cx="8229600" cy="256032"/>
          </a:xfrm>
          <a:prstGeom prst="rect">
            <a:avLst/>
          </a:prstGeom>
          <a:noFill/>
          <a:ln/>
        </p:spPr>
        <p:txBody>
          <a:bodyPr wrap="square" lIns="0" tIns="0" rIns="0" bIns="0" rtlCol="0" anchor="ctr"/>
          <a:lstStyle/>
          <a:p>
            <a:pPr indent="0" marL="0">
              <a:buNone/>
            </a:pPr>
            <a:r>
              <a:rPr lang="en-US" sz="1000" b="1" dirty="0">
                <a:solidFill>
                  <a:srgbClr val="F7931A"/>
                </a:solidFill>
                <a:latin typeface="Courier New" pitchFamily="34" charset="0"/>
                <a:ea typeface="Courier New" pitchFamily="34" charset="-122"/>
                <a:cs typeface="Courier New" pitchFamily="34" charset="-120"/>
              </a:rPr>
              <a:t>result  </a:t>
            </a:r>
            <a:pPr indent="0" marL="0">
              <a:buNone/>
            </a:pPr>
            <a:r>
              <a:rPr lang="en-US" sz="1000" dirty="0">
                <a:solidFill>
                  <a:srgbClr val="1B1F24"/>
                </a:solidFill>
                <a:latin typeface="Courier New" pitchFamily="34" charset="0"/>
                <a:ea typeface="Courier New" pitchFamily="34" charset="-122"/>
                <a:cs typeface="Courier New" pitchFamily="34" charset="-120"/>
              </a:rPr>
              <a:t>(64, 'd96147bf')</a:t>
            </a:r>
            <a:endParaRPr lang="en-US" sz="1000" dirty="0"/>
          </a:p>
        </p:txBody>
      </p:sp>
      <p:sp>
        <p:nvSpPr>
          <p:cNvPr id="12" name="Text 10"/>
          <p:cNvSpPr txBox="1"/>
          <p:nvPr/>
        </p:nvSpPr>
        <p:spPr>
          <a:xfrm>
            <a:off x="457200" y="405892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KeyStretching, lines 1 to 8 of 8, run under Python 3.14.4</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Foundations - 4 concepts</a:t>
            </a:r>
            <a:endParaRPr lang="en-US" sz="1300" dirty="0"/>
          </a:p>
        </p:txBody>
      </p:sp>
      <p:sp>
        <p:nvSpPr>
          <p:cNvPr id="6" name="Shape 4"/>
          <p:cNvSpPr/>
          <p:nvPr/>
        </p:nvSpPr>
        <p:spPr>
          <a:xfrm>
            <a:off x="457200" y="1280160"/>
            <a:ext cx="8229600" cy="1702054"/>
          </a:xfrm>
          <a:prstGeom prst="roundRect">
            <a:avLst>
              <a:gd name="adj" fmla="val 5372"/>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06197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The chapter uses all four words in its first pages (Antonopoulos and Harding, 2023).</a:t>
            </a:r>
            <a:endParaRPr lang="en-US" sz="1300" dirty="0"/>
          </a:p>
        </p:txBody>
      </p:sp>
      <p:sp>
        <p:nvSpPr>
          <p:cNvPr id="9" name="Shape 7"/>
          <p:cNvSpPr/>
          <p:nvPr/>
        </p:nvSpPr>
        <p:spPr>
          <a:xfrm>
            <a:off x="457200" y="3128518"/>
            <a:ext cx="1947672" cy="1059434"/>
          </a:xfrm>
          <a:prstGeom prst="roundRect">
            <a:avLst>
              <a:gd name="adj" fmla="val 6905"/>
            </a:avLst>
          </a:prstGeom>
          <a:solidFill>
            <a:srgbClr val="F4F2EE"/>
          </a:solidFill>
          <a:ln w="12700">
            <a:solidFill>
              <a:srgbClr val="D9D4CC"/>
            </a:solidFill>
            <a:prstDash val="solid"/>
          </a:ln>
        </p:spPr>
      </p:sp>
      <p:sp>
        <p:nvSpPr>
          <p:cNvPr id="10" name="Text 8"/>
          <p:cNvSpPr txBox="1"/>
          <p:nvPr/>
        </p:nvSpPr>
        <p:spPr>
          <a:xfrm>
            <a:off x="548640"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Block</a:t>
            </a:r>
            <a:endParaRPr lang="en-US" sz="1250" dirty="0"/>
          </a:p>
        </p:txBody>
      </p:sp>
      <p:sp>
        <p:nvSpPr>
          <p:cNvPr id="11" name="Shape 9"/>
          <p:cNvSpPr/>
          <p:nvPr/>
        </p:nvSpPr>
        <p:spPr>
          <a:xfrm>
            <a:off x="2551176" y="3128518"/>
            <a:ext cx="1947672" cy="1059434"/>
          </a:xfrm>
          <a:prstGeom prst="roundRect">
            <a:avLst>
              <a:gd name="adj" fmla="val 6905"/>
            </a:avLst>
          </a:prstGeom>
          <a:solidFill>
            <a:srgbClr val="F4F2EE"/>
          </a:solidFill>
          <a:ln w="12700">
            <a:solidFill>
              <a:srgbClr val="D9D4CC"/>
            </a:solidFill>
            <a:prstDash val="solid"/>
          </a:ln>
        </p:spPr>
      </p:sp>
      <p:sp>
        <p:nvSpPr>
          <p:cNvPr id="12" name="Text 10"/>
          <p:cNvSpPr txBox="1"/>
          <p:nvPr/>
        </p:nvSpPr>
        <p:spPr>
          <a:xfrm>
            <a:off x="2642616"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Blockchain</a:t>
            </a:r>
            <a:endParaRPr lang="en-US" sz="1250" dirty="0"/>
          </a:p>
        </p:txBody>
      </p:sp>
      <p:sp>
        <p:nvSpPr>
          <p:cNvPr id="13" name="Shape 11"/>
          <p:cNvSpPr/>
          <p:nvPr/>
        </p:nvSpPr>
        <p:spPr>
          <a:xfrm>
            <a:off x="4645152" y="3128518"/>
            <a:ext cx="1947672" cy="1059434"/>
          </a:xfrm>
          <a:prstGeom prst="roundRect">
            <a:avLst>
              <a:gd name="adj" fmla="val 6905"/>
            </a:avLst>
          </a:prstGeom>
          <a:solidFill>
            <a:srgbClr val="F4F2EE"/>
          </a:solidFill>
          <a:ln w="12700">
            <a:solidFill>
              <a:srgbClr val="D9D4CC"/>
            </a:solidFill>
            <a:prstDash val="solid"/>
          </a:ln>
        </p:spPr>
      </p:sp>
      <p:sp>
        <p:nvSpPr>
          <p:cNvPr id="14" name="Text 12"/>
          <p:cNvSpPr txBox="1"/>
          <p:nvPr/>
        </p:nvSpPr>
        <p:spPr>
          <a:xfrm>
            <a:off x="4736592"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Timestamp</a:t>
            </a:r>
            <a:endParaRPr lang="en-US" sz="1250" dirty="0"/>
          </a:p>
        </p:txBody>
      </p:sp>
      <p:sp>
        <p:nvSpPr>
          <p:cNvPr id="15" name="Shape 13"/>
          <p:cNvSpPr/>
          <p:nvPr/>
        </p:nvSpPr>
        <p:spPr>
          <a:xfrm>
            <a:off x="6739128" y="3128518"/>
            <a:ext cx="1947672" cy="1059434"/>
          </a:xfrm>
          <a:prstGeom prst="roundRect">
            <a:avLst>
              <a:gd name="adj" fmla="val 6905"/>
            </a:avLst>
          </a:prstGeom>
          <a:solidFill>
            <a:srgbClr val="F4F2EE"/>
          </a:solidFill>
          <a:ln w="12700">
            <a:solidFill>
              <a:srgbClr val="D9D4CC"/>
            </a:solidFill>
            <a:prstDash val="solid"/>
          </a:ln>
        </p:spPr>
      </p:sp>
      <p:sp>
        <p:nvSpPr>
          <p:cNvPr id="16" name="Text 14"/>
          <p:cNvSpPr txBox="1"/>
          <p:nvPr/>
        </p:nvSpPr>
        <p:spPr>
          <a:xfrm>
            <a:off x="6830568"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Node</a:t>
            </a:r>
            <a:endParaRPr lang="en-US" sz="1250" dirty="0"/>
          </a:p>
        </p:txBody>
      </p:sp>
      <p:sp>
        <p:nvSpPr>
          <p:cNvPr id="17" name="Text 15"/>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four concepts are explained from the inside out. The block is the unit. The blockchain is the chain of units, tied together by hashes.</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Block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transactions of block 840000</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block is a group of transactions that the network accepts as one unit.</a:t>
            </a:r>
            <a:endParaRPr lang="en-US" sz="1300" dirty="0"/>
          </a:p>
        </p:txBody>
      </p:sp>
      <p:sp>
        <p:nvSpPr>
          <p:cNvPr id="9" name="Shape 7"/>
          <p:cNvSpPr/>
          <p:nvPr/>
        </p:nvSpPr>
        <p:spPr>
          <a:xfrm>
            <a:off x="457200" y="2322830"/>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441702"/>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(json.loads(BLOCK_D1)['tx_count'], json.loads(BLOCK_D2)['tx_count'])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(3050, 1)</a:t>
            </a:r>
            <a:endParaRPr lang="en-US" sz="1100" dirty="0"/>
          </a:p>
        </p:txBody>
      </p:sp>
      <p:sp>
        <p:nvSpPr>
          <p:cNvPr id="11" name="Text 9"/>
          <p:cNvSpPr txBox="1"/>
          <p:nvPr/>
        </p:nvSpPr>
        <p:spPr>
          <a:xfrm>
            <a:off x="457200" y="2919730"/>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139186"/>
            <a:ext cx="8229600" cy="1438656"/>
          </a:xfrm>
          <a:prstGeom prst="roundRect">
            <a:avLst>
              <a:gd name="adj" fmla="val 6356"/>
            </a:avLst>
          </a:prstGeom>
          <a:solidFill>
            <a:srgbClr val="F4F2EE"/>
          </a:solidFill>
          <a:ln w="12700">
            <a:solidFill>
              <a:srgbClr val="F4F2EE"/>
            </a:solidFill>
            <a:prstDash val="solid"/>
          </a:ln>
        </p:spPr>
      </p:sp>
      <p:sp>
        <p:nvSpPr>
          <p:cNvPr id="13" name="Text 11"/>
          <p:cNvSpPr txBox="1"/>
          <p:nvPr/>
        </p:nvSpPr>
        <p:spPr>
          <a:xfrm>
            <a:off x="640080" y="3258058"/>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642106"/>
            <a:ext cx="786384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miner collects waiting transactions, places a special reward transaction first, and builds a block header that contains, among other data, the hash of the previous block, a summary of the transactions and the time. The miner then searches for a header whose hash is small enough, which is the proof of work.</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Blockchain (1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chain of three linked blocks</a:t>
            </a:r>
            <a:endParaRPr lang="en-US" sz="1300" dirty="0"/>
          </a:p>
        </p:txBody>
      </p:sp>
      <p:sp>
        <p:nvSpPr>
          <p:cNvPr id="6" name="Shape 4"/>
          <p:cNvSpPr/>
          <p:nvPr/>
        </p:nvSpPr>
        <p:spPr>
          <a:xfrm>
            <a:off x="457200" y="1280160"/>
            <a:ext cx="8229600" cy="1252728"/>
          </a:xfrm>
          <a:prstGeom prst="roundRect">
            <a:avLst>
              <a:gd name="adj" fmla="val 729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blockchain is the list of validated blocks in which each block links to its predecessor all the way back to the first block, which the glossary of the textbook calls the genesis block (Antonopoulos and Harding, 2023).</a:t>
            </a:r>
            <a:endParaRPr lang="en-US" sz="1200" dirty="0"/>
          </a:p>
        </p:txBody>
      </p:sp>
      <p:sp>
        <p:nvSpPr>
          <p:cNvPr id="9" name="Shape 7"/>
          <p:cNvSpPr/>
          <p:nvPr/>
        </p:nvSpPr>
        <p:spPr>
          <a:xfrm>
            <a:off x="457200" y="2679192"/>
            <a:ext cx="8229600" cy="1632204"/>
          </a:xfrm>
          <a:prstGeom prst="roundRect">
            <a:avLst>
              <a:gd name="adj" fmla="val 5602"/>
            </a:avLst>
          </a:prstGeom>
          <a:solidFill>
            <a:srgbClr val="15191E"/>
          </a:solidFill>
          <a:ln w="12700">
            <a:solidFill>
              <a:srgbClr val="15191E"/>
            </a:solidFill>
            <a:prstDash val="solid"/>
          </a:ln>
        </p:spPr>
      </p:sp>
      <p:sp>
        <p:nvSpPr>
          <p:cNvPr id="10" name="Text 8"/>
          <p:cNvSpPr txBox="1"/>
          <p:nvPr/>
        </p:nvSpPr>
        <p:spPr>
          <a:xfrm>
            <a:off x="640080" y="2798064"/>
            <a:ext cx="7863840" cy="139446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import hashlib</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def link(prev, data): return hashlib.sha256((prev + data).encode()).hexdigest()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data = ['Joe pays Alice 1', 'Alice pays Eve 2', 'Eve pays Joe 3']</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def build(items):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hs, prev = [], 'genesis'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for d in items: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prev = link(prev, d); hs.append(prev)</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return hs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stored = build(data)</a:t>
            </a:r>
            <a:endParaRPr lang="en-US" sz="1000" dirty="0"/>
          </a:p>
        </p:txBody>
      </p:sp>
      <p:sp>
        <p:nvSpPr>
          <p:cNvPr id="11" name="Text 9"/>
          <p:cNvSpPr txBox="1"/>
          <p:nvPr/>
        </p:nvSpPr>
        <p:spPr>
          <a:xfrm>
            <a:off x="457200" y="4329684"/>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Blockchain, lines 1 to 9 of 11, run under Python 3.14.4</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Blockchain (2 of 6)</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continued</a:t>
            </a:r>
            <a:endParaRPr lang="en-US" sz="1300" dirty="0"/>
          </a:p>
        </p:txBody>
      </p:sp>
      <p:sp>
        <p:nvSpPr>
          <p:cNvPr id="6" name="Shape 4"/>
          <p:cNvSpPr/>
          <p:nvPr/>
        </p:nvSpPr>
        <p:spPr>
          <a:xfrm>
            <a:off x="457200" y="1280160"/>
            <a:ext cx="8229600" cy="547624"/>
          </a:xfrm>
          <a:prstGeom prst="roundRect">
            <a:avLst>
              <a:gd name="adj" fmla="val 16698"/>
            </a:avLst>
          </a:prstGeom>
          <a:solidFill>
            <a:srgbClr val="15191E"/>
          </a:solidFill>
          <a:ln w="12700">
            <a:solidFill>
              <a:srgbClr val="15191E"/>
            </a:solidFill>
            <a:prstDash val="solid"/>
          </a:ln>
        </p:spPr>
      </p:sp>
      <p:sp>
        <p:nvSpPr>
          <p:cNvPr id="7" name="Text 5"/>
          <p:cNvSpPr txBox="1"/>
          <p:nvPr/>
        </p:nvSpPr>
        <p:spPr>
          <a:xfrm>
            <a:off x="640080" y="1399032"/>
            <a:ext cx="7863840" cy="30988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tampered = ['Joe pays Alice 100'] + data[1:]</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(build(data) == stored, build(tampered) == stored)</a:t>
            </a:r>
            <a:endParaRPr lang="en-US" sz="1000" dirty="0"/>
          </a:p>
        </p:txBody>
      </p:sp>
      <p:sp>
        <p:nvSpPr>
          <p:cNvPr id="8" name="Text 6"/>
          <p:cNvSpPr txBox="1"/>
          <p:nvPr/>
        </p:nvSpPr>
        <p:spPr>
          <a:xfrm>
            <a:off x="457200" y="1846072"/>
            <a:ext cx="8229600" cy="256032"/>
          </a:xfrm>
          <a:prstGeom prst="rect">
            <a:avLst/>
          </a:prstGeom>
          <a:noFill/>
          <a:ln/>
        </p:spPr>
        <p:txBody>
          <a:bodyPr wrap="square" lIns="0" tIns="0" rIns="0" bIns="0" rtlCol="0" anchor="ctr"/>
          <a:lstStyle/>
          <a:p>
            <a:pPr indent="0" marL="0">
              <a:buNone/>
            </a:pPr>
            <a:r>
              <a:rPr lang="en-US" sz="1000" b="1" dirty="0">
                <a:solidFill>
                  <a:srgbClr val="F7931A"/>
                </a:solidFill>
                <a:latin typeface="Courier New" pitchFamily="34" charset="0"/>
                <a:ea typeface="Courier New" pitchFamily="34" charset="-122"/>
                <a:cs typeface="Courier New" pitchFamily="34" charset="-120"/>
              </a:rPr>
              <a:t>result  </a:t>
            </a:r>
            <a:pPr indent="0" marL="0">
              <a:buNone/>
            </a:pPr>
            <a:r>
              <a:rPr lang="en-US" sz="1000" dirty="0">
                <a:solidFill>
                  <a:srgbClr val="1B1F24"/>
                </a:solidFill>
                <a:latin typeface="Courier New" pitchFamily="34" charset="0"/>
                <a:ea typeface="Courier New" pitchFamily="34" charset="-122"/>
                <a:cs typeface="Courier New" pitchFamily="34" charset="-120"/>
              </a:rPr>
              <a:t>(True, False)</a:t>
            </a:r>
            <a:endParaRPr lang="en-US" sz="1000" dirty="0"/>
          </a:p>
        </p:txBody>
      </p:sp>
      <p:sp>
        <p:nvSpPr>
          <p:cNvPr id="9" name="Text 7"/>
          <p:cNvSpPr txBox="1"/>
          <p:nvPr/>
        </p:nvSpPr>
        <p:spPr>
          <a:xfrm>
            <a:off x="457200" y="2102104"/>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Blockchain, lines 10 to 11 of 11, run under Python 3.14.4</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Timestamp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time of the first block</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timestamp is a label that records the time at which a data object was marked. The Internet Security Glossary defines it as a label or marking in which is recorded the time, of day or other instant of elapsed time, at which the label or marking was affixed to the data object (Shirey, 2007).</a:t>
            </a:r>
            <a:endParaRPr lang="en-US" sz="1300" dirty="0"/>
          </a:p>
        </p:txBody>
      </p:sp>
      <p:sp>
        <p:nvSpPr>
          <p:cNvPr id="9" name="Shape 7"/>
          <p:cNvSpPr/>
          <p:nvPr/>
        </p:nvSpPr>
        <p:spPr>
          <a:xfrm>
            <a:off x="457200" y="2927096"/>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3045968"/>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str(datetime.datetime.fromtimestamp(1231006505, datetime.timezone.utc))</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'2009-01-03 18:15:05+00:00'</a:t>
            </a:r>
            <a:endParaRPr lang="en-US" sz="1100" dirty="0"/>
          </a:p>
        </p:txBody>
      </p:sp>
      <p:sp>
        <p:nvSpPr>
          <p:cNvPr id="11" name="Text 9"/>
          <p:cNvSpPr txBox="1"/>
          <p:nvPr/>
        </p:nvSpPr>
        <p:spPr>
          <a:xfrm>
            <a:off x="457200" y="35239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80028"/>
            <a:ext cx="822960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number is a count of seconds, and the example converts it: 1231006505 seconds after the origin of the count is 2009-01-03 18:15:05 in universal time, the moment that the first block's header claims.</a:t>
            </a:r>
            <a:endParaRPr lang="en-US" sz="11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Node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computer on the network</a:t>
            </a:r>
            <a:endParaRPr lang="en-US" sz="1300" dirty="0"/>
          </a:p>
        </p:txBody>
      </p:sp>
      <p:sp>
        <p:nvSpPr>
          <p:cNvPr id="6" name="Shape 4"/>
          <p:cNvSpPr/>
          <p:nvPr/>
        </p:nvSpPr>
        <p:spPr>
          <a:xfrm>
            <a:off x="457200" y="1280160"/>
            <a:ext cx="8229600" cy="1903476"/>
          </a:xfrm>
          <a:prstGeom prst="roundRect">
            <a:avLst>
              <a:gd name="adj" fmla="val 480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126339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node is a computer that takes part in the Bitcoin network by running software that speaks its protocol. The textbook's chapter on the network defines the term Bitcoin network as the collection of nodes running the Bitcoin peer-to-peer protocol, and says that a Bitcoin full node validates blocks and may contain other functions, such as routing, mining and wallet services (Antonopoulos and Harding, 2023). In everyday use the word means a full node unless something else is said.</a:t>
            </a:r>
            <a:endParaRPr lang="en-US" sz="1300" dirty="0"/>
          </a:p>
        </p:txBody>
      </p:sp>
      <p:sp>
        <p:nvSpPr>
          <p:cNvPr id="9" name="Shape 7"/>
          <p:cNvSpPr/>
          <p:nvPr/>
        </p:nvSpPr>
        <p:spPr>
          <a:xfrm>
            <a:off x="457200" y="3329940"/>
            <a:ext cx="8229600" cy="1252728"/>
          </a:xfrm>
          <a:prstGeom prst="roundRect">
            <a:avLst>
              <a:gd name="adj" fmla="val 7299"/>
            </a:avLst>
          </a:prstGeom>
          <a:solidFill>
            <a:srgbClr val="F4F2EE"/>
          </a:solidFill>
          <a:ln w="12700">
            <a:solidFill>
              <a:srgbClr val="F4F2EE"/>
            </a:solidFill>
            <a:prstDash val="solid"/>
          </a:ln>
        </p:spPr>
      </p:sp>
      <p:sp>
        <p:nvSpPr>
          <p:cNvPr id="10" name="Text 8"/>
          <p:cNvSpPr txBox="1"/>
          <p:nvPr/>
        </p:nvSpPr>
        <p:spPr>
          <a:xfrm>
            <a:off x="640080" y="344881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Where you meet it</a:t>
            </a:r>
            <a:endParaRPr lang="en-US" sz="1600" dirty="0"/>
          </a:p>
        </p:txBody>
      </p:sp>
      <p:sp>
        <p:nvSpPr>
          <p:cNvPr id="11" name="Text 9"/>
          <p:cNvSpPr txBox="1"/>
          <p:nvPr/>
        </p:nvSpPr>
        <p:spPr>
          <a:xfrm>
            <a:off x="640080" y="3832860"/>
            <a:ext cx="786384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In the chapter's story, the transaction that Joe's wallet sends spreads from node to node, and after just a few seconds most of the well-connected nodes in the network receive it and see Alice's address for the first time (Antonopoulos and Harding, 2023).</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Computing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Foundations - 12 concepts</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Computing section explains the ordinary technology on which Bitcoin software runs and by which people reach it. It covers the internet and the rules that computers follow on it, the way programs talk to each other through interfaces, the way data is named and stored, the operating systems and browsers in which wallets live, and the units in which computers count.</a:t>
            </a:r>
            <a:endParaRPr lang="en-US" sz="1300" dirty="0"/>
          </a:p>
        </p:txBody>
      </p:sp>
      <p:sp>
        <p:nvSpPr>
          <p:cNvPr id="9" name="Shape 7"/>
          <p:cNvSpPr/>
          <p:nvPr/>
        </p:nvSpPr>
        <p:spPr>
          <a:xfrm>
            <a:off x="457200" y="2927096"/>
            <a:ext cx="1947672" cy="334941"/>
          </a:xfrm>
          <a:prstGeom prst="roundRect">
            <a:avLst>
              <a:gd name="adj" fmla="val 21840"/>
            </a:avLst>
          </a:prstGeom>
          <a:solidFill>
            <a:srgbClr val="F4F2EE"/>
          </a:solidFill>
          <a:ln w="12700">
            <a:solidFill>
              <a:srgbClr val="D9D4CC"/>
            </a:solidFill>
            <a:prstDash val="solid"/>
          </a:ln>
        </p:spPr>
      </p:sp>
      <p:sp>
        <p:nvSpPr>
          <p:cNvPr id="10" name="Text 8"/>
          <p:cNvSpPr txBox="1"/>
          <p:nvPr/>
        </p:nvSpPr>
        <p:spPr>
          <a:xfrm>
            <a:off x="548640" y="2981960"/>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Internet</a:t>
            </a:r>
            <a:endParaRPr lang="en-US" sz="1150" dirty="0"/>
          </a:p>
        </p:txBody>
      </p:sp>
      <p:sp>
        <p:nvSpPr>
          <p:cNvPr id="11" name="Shape 9"/>
          <p:cNvSpPr/>
          <p:nvPr/>
        </p:nvSpPr>
        <p:spPr>
          <a:xfrm>
            <a:off x="2551176" y="2927096"/>
            <a:ext cx="1947672" cy="334941"/>
          </a:xfrm>
          <a:prstGeom prst="roundRect">
            <a:avLst>
              <a:gd name="adj" fmla="val 21840"/>
            </a:avLst>
          </a:prstGeom>
          <a:solidFill>
            <a:srgbClr val="F4F2EE"/>
          </a:solidFill>
          <a:ln w="12700">
            <a:solidFill>
              <a:srgbClr val="D9D4CC"/>
            </a:solidFill>
            <a:prstDash val="solid"/>
          </a:ln>
        </p:spPr>
      </p:sp>
      <p:sp>
        <p:nvSpPr>
          <p:cNvPr id="12" name="Text 10"/>
          <p:cNvSpPr txBox="1"/>
          <p:nvPr/>
        </p:nvSpPr>
        <p:spPr>
          <a:xfrm>
            <a:off x="2642616" y="2981960"/>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Protocol</a:t>
            </a:r>
            <a:endParaRPr lang="en-US" sz="1150" dirty="0"/>
          </a:p>
        </p:txBody>
      </p:sp>
      <p:sp>
        <p:nvSpPr>
          <p:cNvPr id="13" name="Shape 11"/>
          <p:cNvSpPr/>
          <p:nvPr/>
        </p:nvSpPr>
        <p:spPr>
          <a:xfrm>
            <a:off x="4645152" y="2927096"/>
            <a:ext cx="1947672" cy="334941"/>
          </a:xfrm>
          <a:prstGeom prst="roundRect">
            <a:avLst>
              <a:gd name="adj" fmla="val 21840"/>
            </a:avLst>
          </a:prstGeom>
          <a:solidFill>
            <a:srgbClr val="F4F2EE"/>
          </a:solidFill>
          <a:ln w="12700">
            <a:solidFill>
              <a:srgbClr val="D9D4CC"/>
            </a:solidFill>
            <a:prstDash val="solid"/>
          </a:ln>
        </p:spPr>
      </p:sp>
      <p:sp>
        <p:nvSpPr>
          <p:cNvPr id="14" name="Text 12"/>
          <p:cNvSpPr txBox="1"/>
          <p:nvPr/>
        </p:nvSpPr>
        <p:spPr>
          <a:xfrm>
            <a:off x="4736592" y="2981960"/>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HTTP</a:t>
            </a:r>
            <a:endParaRPr lang="en-US" sz="1150" dirty="0"/>
          </a:p>
        </p:txBody>
      </p:sp>
      <p:sp>
        <p:nvSpPr>
          <p:cNvPr id="15" name="Shape 13"/>
          <p:cNvSpPr/>
          <p:nvPr/>
        </p:nvSpPr>
        <p:spPr>
          <a:xfrm>
            <a:off x="6739128" y="2927096"/>
            <a:ext cx="1947672" cy="334941"/>
          </a:xfrm>
          <a:prstGeom prst="roundRect">
            <a:avLst>
              <a:gd name="adj" fmla="val 21840"/>
            </a:avLst>
          </a:prstGeom>
          <a:solidFill>
            <a:srgbClr val="F4F2EE"/>
          </a:solidFill>
          <a:ln w="12700">
            <a:solidFill>
              <a:srgbClr val="D9D4CC"/>
            </a:solidFill>
            <a:prstDash val="solid"/>
          </a:ln>
        </p:spPr>
      </p:sp>
      <p:sp>
        <p:nvSpPr>
          <p:cNvPr id="16" name="Text 14"/>
          <p:cNvSpPr txBox="1"/>
          <p:nvPr/>
        </p:nvSpPr>
        <p:spPr>
          <a:xfrm>
            <a:off x="6830568" y="2981960"/>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Web browser</a:t>
            </a:r>
            <a:endParaRPr lang="en-US" sz="1150" dirty="0"/>
          </a:p>
        </p:txBody>
      </p:sp>
      <p:sp>
        <p:nvSpPr>
          <p:cNvPr id="17" name="Shape 15"/>
          <p:cNvSpPr/>
          <p:nvPr/>
        </p:nvSpPr>
        <p:spPr>
          <a:xfrm>
            <a:off x="457200" y="3390053"/>
            <a:ext cx="1947672" cy="334941"/>
          </a:xfrm>
          <a:prstGeom prst="roundRect">
            <a:avLst>
              <a:gd name="adj" fmla="val 21840"/>
            </a:avLst>
          </a:prstGeom>
          <a:solidFill>
            <a:srgbClr val="F4F2EE"/>
          </a:solidFill>
          <a:ln w="12700">
            <a:solidFill>
              <a:srgbClr val="D9D4CC"/>
            </a:solidFill>
            <a:prstDash val="solid"/>
          </a:ln>
        </p:spPr>
      </p:sp>
      <p:sp>
        <p:nvSpPr>
          <p:cNvPr id="18" name="Text 16"/>
          <p:cNvSpPr txBox="1"/>
          <p:nvPr/>
        </p:nvSpPr>
        <p:spPr>
          <a:xfrm>
            <a:off x="548640" y="3444917"/>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Server</a:t>
            </a:r>
            <a:endParaRPr lang="en-US" sz="1150" dirty="0"/>
          </a:p>
        </p:txBody>
      </p:sp>
      <p:sp>
        <p:nvSpPr>
          <p:cNvPr id="19" name="Shape 17"/>
          <p:cNvSpPr/>
          <p:nvPr/>
        </p:nvSpPr>
        <p:spPr>
          <a:xfrm>
            <a:off x="2551176" y="3390053"/>
            <a:ext cx="1947672" cy="334941"/>
          </a:xfrm>
          <a:prstGeom prst="roundRect">
            <a:avLst>
              <a:gd name="adj" fmla="val 21840"/>
            </a:avLst>
          </a:prstGeom>
          <a:solidFill>
            <a:srgbClr val="F4F2EE"/>
          </a:solidFill>
          <a:ln w="12700">
            <a:solidFill>
              <a:srgbClr val="D9D4CC"/>
            </a:solidFill>
            <a:prstDash val="solid"/>
          </a:ln>
        </p:spPr>
      </p:sp>
      <p:sp>
        <p:nvSpPr>
          <p:cNvPr id="20" name="Text 18"/>
          <p:cNvSpPr txBox="1"/>
          <p:nvPr/>
        </p:nvSpPr>
        <p:spPr>
          <a:xfrm>
            <a:off x="2642616" y="3444917"/>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API</a:t>
            </a:r>
            <a:endParaRPr lang="en-US" sz="1150" dirty="0"/>
          </a:p>
        </p:txBody>
      </p:sp>
      <p:sp>
        <p:nvSpPr>
          <p:cNvPr id="21" name="Shape 19"/>
          <p:cNvSpPr/>
          <p:nvPr/>
        </p:nvSpPr>
        <p:spPr>
          <a:xfrm>
            <a:off x="4645152" y="3390053"/>
            <a:ext cx="1947672" cy="334941"/>
          </a:xfrm>
          <a:prstGeom prst="roundRect">
            <a:avLst>
              <a:gd name="adj" fmla="val 21840"/>
            </a:avLst>
          </a:prstGeom>
          <a:solidFill>
            <a:srgbClr val="F4F2EE"/>
          </a:solidFill>
          <a:ln w="12700">
            <a:solidFill>
              <a:srgbClr val="D9D4CC"/>
            </a:solidFill>
            <a:prstDash val="solid"/>
          </a:ln>
        </p:spPr>
      </p:sp>
      <p:sp>
        <p:nvSpPr>
          <p:cNvPr id="22" name="Text 20"/>
          <p:cNvSpPr txBox="1"/>
          <p:nvPr/>
        </p:nvSpPr>
        <p:spPr>
          <a:xfrm>
            <a:off x="4736592" y="3444917"/>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URI</a:t>
            </a:r>
            <a:endParaRPr lang="en-US" sz="1150" dirty="0"/>
          </a:p>
        </p:txBody>
      </p:sp>
      <p:sp>
        <p:nvSpPr>
          <p:cNvPr id="23" name="Shape 21"/>
          <p:cNvSpPr/>
          <p:nvPr/>
        </p:nvSpPr>
        <p:spPr>
          <a:xfrm>
            <a:off x="6739128" y="3390053"/>
            <a:ext cx="1947672" cy="334941"/>
          </a:xfrm>
          <a:prstGeom prst="roundRect">
            <a:avLst>
              <a:gd name="adj" fmla="val 21840"/>
            </a:avLst>
          </a:prstGeom>
          <a:solidFill>
            <a:srgbClr val="F4F2EE"/>
          </a:solidFill>
          <a:ln w="12700">
            <a:solidFill>
              <a:srgbClr val="D9D4CC"/>
            </a:solidFill>
            <a:prstDash val="solid"/>
          </a:ln>
        </p:spPr>
      </p:sp>
      <p:sp>
        <p:nvSpPr>
          <p:cNvPr id="24" name="Text 22"/>
          <p:cNvSpPr txBox="1"/>
          <p:nvPr/>
        </p:nvSpPr>
        <p:spPr>
          <a:xfrm>
            <a:off x="6830568" y="3444917"/>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QR code</a:t>
            </a:r>
            <a:endParaRPr lang="en-US" sz="1150" dirty="0"/>
          </a:p>
        </p:txBody>
      </p:sp>
      <p:sp>
        <p:nvSpPr>
          <p:cNvPr id="25" name="Shape 23"/>
          <p:cNvSpPr/>
          <p:nvPr/>
        </p:nvSpPr>
        <p:spPr>
          <a:xfrm>
            <a:off x="457200" y="3853011"/>
            <a:ext cx="1947672" cy="334941"/>
          </a:xfrm>
          <a:prstGeom prst="roundRect">
            <a:avLst>
              <a:gd name="adj" fmla="val 21840"/>
            </a:avLst>
          </a:prstGeom>
          <a:solidFill>
            <a:srgbClr val="F4F2EE"/>
          </a:solidFill>
          <a:ln w="12700">
            <a:solidFill>
              <a:srgbClr val="D9D4CC"/>
            </a:solidFill>
            <a:prstDash val="solid"/>
          </a:ln>
        </p:spPr>
      </p:sp>
      <p:sp>
        <p:nvSpPr>
          <p:cNvPr id="26" name="Text 24"/>
          <p:cNvSpPr txBox="1"/>
          <p:nvPr/>
        </p:nvSpPr>
        <p:spPr>
          <a:xfrm>
            <a:off x="548640" y="3907875"/>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Database</a:t>
            </a:r>
            <a:endParaRPr lang="en-US" sz="1150" dirty="0"/>
          </a:p>
        </p:txBody>
      </p:sp>
      <p:sp>
        <p:nvSpPr>
          <p:cNvPr id="27" name="Shape 25"/>
          <p:cNvSpPr/>
          <p:nvPr/>
        </p:nvSpPr>
        <p:spPr>
          <a:xfrm>
            <a:off x="2551176" y="3853011"/>
            <a:ext cx="1947672" cy="334941"/>
          </a:xfrm>
          <a:prstGeom prst="roundRect">
            <a:avLst>
              <a:gd name="adj" fmla="val 21840"/>
            </a:avLst>
          </a:prstGeom>
          <a:solidFill>
            <a:srgbClr val="F4F2EE"/>
          </a:solidFill>
          <a:ln w="12700">
            <a:solidFill>
              <a:srgbClr val="D9D4CC"/>
            </a:solidFill>
            <a:prstDash val="solid"/>
          </a:ln>
        </p:spPr>
      </p:sp>
      <p:sp>
        <p:nvSpPr>
          <p:cNvPr id="28" name="Text 26"/>
          <p:cNvSpPr txBox="1"/>
          <p:nvPr/>
        </p:nvSpPr>
        <p:spPr>
          <a:xfrm>
            <a:off x="2642616" y="3907875"/>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Operating system</a:t>
            </a:r>
            <a:endParaRPr lang="en-US" sz="1150" dirty="0"/>
          </a:p>
        </p:txBody>
      </p:sp>
      <p:sp>
        <p:nvSpPr>
          <p:cNvPr id="29" name="Shape 27"/>
          <p:cNvSpPr/>
          <p:nvPr/>
        </p:nvSpPr>
        <p:spPr>
          <a:xfrm>
            <a:off x="4645152" y="3853011"/>
            <a:ext cx="1947672" cy="334941"/>
          </a:xfrm>
          <a:prstGeom prst="roundRect">
            <a:avLst>
              <a:gd name="adj" fmla="val 21840"/>
            </a:avLst>
          </a:prstGeom>
          <a:solidFill>
            <a:srgbClr val="F4F2EE"/>
          </a:solidFill>
          <a:ln w="12700">
            <a:solidFill>
              <a:srgbClr val="D9D4CC"/>
            </a:solidFill>
            <a:prstDash val="solid"/>
          </a:ln>
        </p:spPr>
      </p:sp>
      <p:sp>
        <p:nvSpPr>
          <p:cNvPr id="30" name="Text 28"/>
          <p:cNvSpPr txBox="1"/>
          <p:nvPr/>
        </p:nvSpPr>
        <p:spPr>
          <a:xfrm>
            <a:off x="4736592" y="3907875"/>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Distributed system</a:t>
            </a:r>
            <a:endParaRPr lang="en-US" sz="1150" dirty="0"/>
          </a:p>
        </p:txBody>
      </p:sp>
      <p:sp>
        <p:nvSpPr>
          <p:cNvPr id="31" name="Shape 29"/>
          <p:cNvSpPr/>
          <p:nvPr/>
        </p:nvSpPr>
        <p:spPr>
          <a:xfrm>
            <a:off x="6739128" y="3853011"/>
            <a:ext cx="1947672" cy="334941"/>
          </a:xfrm>
          <a:prstGeom prst="roundRect">
            <a:avLst>
              <a:gd name="adj" fmla="val 21840"/>
            </a:avLst>
          </a:prstGeom>
          <a:solidFill>
            <a:srgbClr val="F4F2EE"/>
          </a:solidFill>
          <a:ln w="12700">
            <a:solidFill>
              <a:srgbClr val="D9D4CC"/>
            </a:solidFill>
            <a:prstDash val="solid"/>
          </a:ln>
        </p:spPr>
      </p:sp>
      <p:sp>
        <p:nvSpPr>
          <p:cNvPr id="32" name="Text 30"/>
          <p:cNvSpPr txBox="1"/>
          <p:nvPr/>
        </p:nvSpPr>
        <p:spPr>
          <a:xfrm>
            <a:off x="6830568" y="3907875"/>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Bits and bytes</a:t>
            </a:r>
            <a:endParaRPr lang="en-US" sz="1150" dirty="0"/>
          </a:p>
        </p:txBody>
      </p:sp>
      <p:sp>
        <p:nvSpPr>
          <p:cNvPr id="33" name="Text 31"/>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twelve concepts of the section move from the network to the machine. The internet, the protocol, HTTP, the server and the distributed system describe how computers cooperate.</a:t>
            </a:r>
            <a:endParaRPr lang="en-US" sz="1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Internet and Protocol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438656"/>
          </a:xfrm>
          <a:prstGeom prst="roundRect">
            <a:avLst>
              <a:gd name="adj" fmla="val 6356"/>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Internet</a:t>
            </a:r>
            <a:endParaRPr lang="en-US" sz="1600" dirty="0"/>
          </a:p>
        </p:txBody>
      </p:sp>
      <p:sp>
        <p:nvSpPr>
          <p:cNvPr id="8" name="Text 6"/>
          <p:cNvSpPr txBox="1"/>
          <p:nvPr/>
        </p:nvSpPr>
        <p:spPr>
          <a:xfrm>
            <a:off x="640080" y="1783080"/>
            <a:ext cx="361188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Internet is a worldwide network of networks that uses the Internet protocol suite, named TCP/IP after its two most important protocols (Mozilla Developer Network, 2026).</a:t>
            </a:r>
            <a:endParaRPr lang="en-US" sz="1200" dirty="0"/>
          </a:p>
        </p:txBody>
      </p:sp>
      <p:sp>
        <p:nvSpPr>
          <p:cNvPr id="9" name="Text 7"/>
          <p:cNvSpPr txBox="1"/>
          <p:nvPr/>
        </p:nvSpPr>
        <p:spPr>
          <a:xfrm>
            <a:off x="457200" y="2865120"/>
            <a:ext cx="397764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Internet works by dividing every message into small packets that are forwarded from network to network until they arrive. No single machine controls the path.</a:t>
            </a:r>
            <a:endParaRPr lang="en-US" sz="1100" dirty="0"/>
          </a:p>
        </p:txBody>
      </p:sp>
      <p:sp>
        <p:nvSpPr>
          <p:cNvPr id="10" name="Shape 8"/>
          <p:cNvSpPr/>
          <p:nvPr/>
        </p:nvSpPr>
        <p:spPr>
          <a:xfrm>
            <a:off x="4709160" y="1280160"/>
            <a:ext cx="3977640" cy="2182368"/>
          </a:xfrm>
          <a:prstGeom prst="roundRect">
            <a:avLst>
              <a:gd name="adj" fmla="val 4190"/>
            </a:avLst>
          </a:prstGeom>
          <a:solidFill>
            <a:srgbClr val="F4F2EE"/>
          </a:solidFill>
          <a:ln w="12700">
            <a:solidFill>
              <a:srgbClr val="F4F2EE"/>
            </a:solidFill>
            <a:prstDash val="solid"/>
          </a:ln>
        </p:spPr>
      </p:sp>
      <p:sp>
        <p:nvSpPr>
          <p:cNvPr id="11" name="Text 9"/>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Protocol</a:t>
            </a:r>
            <a:endParaRPr lang="en-US" sz="1600" dirty="0"/>
          </a:p>
        </p:txBody>
      </p:sp>
      <p:sp>
        <p:nvSpPr>
          <p:cNvPr id="12" name="Text 10"/>
          <p:cNvSpPr txBox="1"/>
          <p:nvPr/>
        </p:nvSpPr>
        <p:spPr>
          <a:xfrm>
            <a:off x="4892040" y="1783080"/>
            <a:ext cx="3611880" cy="154228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protocol is a system of rules that defines how data is exchanged within or between computers. The Mozilla glossary adds that communications between devices require that the devices agree on the format of the data, and that the set of rules that defines a format is called a protocol (Mozilla Developer Network, 2026).</a:t>
            </a:r>
            <a:endParaRPr lang="en-US" sz="1200" dirty="0"/>
          </a:p>
        </p:txBody>
      </p:sp>
      <p:sp>
        <p:nvSpPr>
          <p:cNvPr id="13" name="Text 11"/>
          <p:cNvSpPr txBox="1"/>
          <p:nvPr/>
        </p:nvSpPr>
        <p:spPr>
          <a:xfrm>
            <a:off x="4709160" y="3608832"/>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A protocol defines who speaks first, what messages exist, how each message is laid out in bytes, and what each side must do when it receives one. A program that follows the rules is a correct implementation.</a:t>
            </a:r>
            <a:endParaRPr lang="en-US" sz="11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HTTP and Web browser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810512"/>
          </a:xfrm>
          <a:prstGeom prst="roundRect">
            <a:avLst>
              <a:gd name="adj" fmla="val 5051"/>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HTTP</a:t>
            </a:r>
            <a:endParaRPr lang="en-US" sz="1600" dirty="0"/>
          </a:p>
        </p:txBody>
      </p:sp>
      <p:sp>
        <p:nvSpPr>
          <p:cNvPr id="8" name="Text 6"/>
          <p:cNvSpPr txBox="1"/>
          <p:nvPr/>
        </p:nvSpPr>
        <p:spPr>
          <a:xfrm>
            <a:off x="640080" y="1783080"/>
            <a:ext cx="3611880" cy="117043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HTTP, the HyperText Transfer Protocol, is the underlying network protocol that enables the transfer of hypermedia documents on the Web, typically between a browser and a server so that humans can read them (Mozilla Developer Network, 2026).</a:t>
            </a:r>
            <a:endParaRPr lang="en-US" sz="1200" dirty="0"/>
          </a:p>
        </p:txBody>
      </p:sp>
      <p:sp>
        <p:nvSpPr>
          <p:cNvPr id="9" name="Shape 7"/>
          <p:cNvSpPr/>
          <p:nvPr/>
        </p:nvSpPr>
        <p:spPr>
          <a:xfrm>
            <a:off x="457200" y="3200400"/>
            <a:ext cx="3977640" cy="563118"/>
          </a:xfrm>
          <a:prstGeom prst="roundRect">
            <a:avLst>
              <a:gd name="adj" fmla="val 16238"/>
            </a:avLst>
          </a:prstGeom>
          <a:solidFill>
            <a:srgbClr val="15191E"/>
          </a:solidFill>
          <a:ln w="12700">
            <a:solidFill>
              <a:srgbClr val="15191E"/>
            </a:solidFill>
            <a:prstDash val="solid"/>
          </a:ln>
        </p:spPr>
      </p:sp>
      <p:sp>
        <p:nvSpPr>
          <p:cNvPr id="10" name="Text 8"/>
          <p:cNvSpPr txBox="1"/>
          <p:nvPr/>
        </p:nvSpPr>
        <p:spPr>
          <a:xfrm>
            <a:off x="640080" y="3319272"/>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'GET /index.html HTTP/1.1'.split(' ')</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['GET', '/index.html', 'HTTP/1.1']</a:t>
            </a:r>
            <a:endParaRPr lang="en-US" sz="1050" dirty="0"/>
          </a:p>
        </p:txBody>
      </p:sp>
      <p:sp>
        <p:nvSpPr>
          <p:cNvPr id="11" name="Text 9"/>
          <p:cNvSpPr txBox="1"/>
          <p:nvPr/>
        </p:nvSpPr>
        <p:spPr>
          <a:xfrm>
            <a:off x="457200" y="3781806"/>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4037838"/>
            <a:ext cx="397764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A client opens a connection to a server and sends a request.</a:t>
            </a:r>
            <a:endParaRPr lang="en-US" sz="1100" dirty="0"/>
          </a:p>
        </p:txBody>
      </p:sp>
      <p:sp>
        <p:nvSpPr>
          <p:cNvPr id="13" name="Shape 11"/>
          <p:cNvSpPr/>
          <p:nvPr/>
        </p:nvSpPr>
        <p:spPr>
          <a:xfrm>
            <a:off x="4709160" y="1280160"/>
            <a:ext cx="3977640" cy="1438656"/>
          </a:xfrm>
          <a:prstGeom prst="roundRect">
            <a:avLst>
              <a:gd name="adj" fmla="val 6356"/>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Web browser</a:t>
            </a:r>
            <a:endParaRPr lang="en-US" sz="1600" dirty="0"/>
          </a:p>
        </p:txBody>
      </p:sp>
      <p:sp>
        <p:nvSpPr>
          <p:cNvPr id="15" name="Text 13"/>
          <p:cNvSpPr txBox="1"/>
          <p:nvPr/>
        </p:nvSpPr>
        <p:spPr>
          <a:xfrm>
            <a:off x="4892040" y="1783080"/>
            <a:ext cx="361188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web browser, or browser, is a program that retrieves and displays pages from the web and lets users reach further pages through hyperlinks (Mozilla Developer Network, 2026).</a:t>
            </a:r>
            <a:endParaRPr lang="en-US" sz="1200" dirty="0"/>
          </a:p>
        </p:txBody>
      </p:sp>
      <p:sp>
        <p:nvSpPr>
          <p:cNvPr id="16" name="Text 14"/>
          <p:cNvSpPr txBox="1"/>
          <p:nvPr/>
        </p:nvSpPr>
        <p:spPr>
          <a:xfrm>
            <a:off x="4709160" y="2865120"/>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browser sends requests by HTTP to a server, receives the page, and shows it. Code that arrives with the page can run inside the browser, in the user's own machine, and this is what the chapter means by client-side code.</a:t>
            </a:r>
            <a:endParaRPr lang="en-US" sz="11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Server and API</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2368296"/>
          </a:xfrm>
          <a:prstGeom prst="roundRect">
            <a:avLst>
              <a:gd name="adj" fmla="val 3861"/>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Server</a:t>
            </a:r>
            <a:endParaRPr lang="en-US" sz="1600" dirty="0"/>
          </a:p>
        </p:txBody>
      </p:sp>
      <p:sp>
        <p:nvSpPr>
          <p:cNvPr id="8" name="Text 6"/>
          <p:cNvSpPr txBox="1"/>
          <p:nvPr/>
        </p:nvSpPr>
        <p:spPr>
          <a:xfrm>
            <a:off x="640080" y="1783080"/>
            <a:ext cx="3611880" cy="172821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server is a software or hardware system that offers a service to a user, usually called a client (Mozilla Developer Network, 2026). The Internet Security Glossary defines a client as a system entity that requests and uses a service provided by another system entity, called a server, and a server as an entity that provides a service in response to requests from clients (Shirey, 2007).</a:t>
            </a:r>
            <a:endParaRPr lang="en-US" sz="1200" dirty="0"/>
          </a:p>
        </p:txBody>
      </p:sp>
      <p:sp>
        <p:nvSpPr>
          <p:cNvPr id="9" name="Text 7"/>
          <p:cNvSpPr txBox="1"/>
          <p:nvPr/>
        </p:nvSpPr>
        <p:spPr>
          <a:xfrm>
            <a:off x="457200" y="3794760"/>
            <a:ext cx="397764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A client program connects to a server by a protocol, sends a request and receives a reply.</a:t>
            </a:r>
            <a:endParaRPr lang="en-US" sz="1100" dirty="0"/>
          </a:p>
        </p:txBody>
      </p:sp>
      <p:sp>
        <p:nvSpPr>
          <p:cNvPr id="10" name="Shape 8"/>
          <p:cNvSpPr/>
          <p:nvPr/>
        </p:nvSpPr>
        <p:spPr>
          <a:xfrm>
            <a:off x="4709160" y="1280160"/>
            <a:ext cx="3977640" cy="1624584"/>
          </a:xfrm>
          <a:prstGeom prst="roundRect">
            <a:avLst>
              <a:gd name="adj" fmla="val 5629"/>
            </a:avLst>
          </a:prstGeom>
          <a:solidFill>
            <a:srgbClr val="F4F2EE"/>
          </a:solidFill>
          <a:ln w="12700">
            <a:solidFill>
              <a:srgbClr val="F4F2EE"/>
            </a:solidFill>
            <a:prstDash val="solid"/>
          </a:ln>
        </p:spPr>
      </p:sp>
      <p:sp>
        <p:nvSpPr>
          <p:cNvPr id="11" name="Text 9"/>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API</a:t>
            </a:r>
            <a:endParaRPr lang="en-US" sz="1600" dirty="0"/>
          </a:p>
        </p:txBody>
      </p:sp>
      <p:sp>
        <p:nvSpPr>
          <p:cNvPr id="12" name="Text 10"/>
          <p:cNvSpPr txBox="1"/>
          <p:nvPr/>
        </p:nvSpPr>
        <p:spPr>
          <a:xfrm>
            <a:off x="4892040" y="1783080"/>
            <a:ext cx="3611880" cy="984504"/>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An API, an application programming interface, is a set of features and rules that exist inside a software program and enable interaction with it through software, as opposed to a human user interface.</a:t>
            </a:r>
            <a:endParaRPr lang="en-US" sz="1200" dirty="0"/>
          </a:p>
        </p:txBody>
      </p:sp>
      <p:sp>
        <p:nvSpPr>
          <p:cNvPr id="13" name="Shape 11"/>
          <p:cNvSpPr/>
          <p:nvPr/>
        </p:nvSpPr>
        <p:spPr>
          <a:xfrm>
            <a:off x="4709160" y="3014472"/>
            <a:ext cx="3977640" cy="563118"/>
          </a:xfrm>
          <a:prstGeom prst="roundRect">
            <a:avLst>
              <a:gd name="adj" fmla="val 16238"/>
            </a:avLst>
          </a:prstGeom>
          <a:solidFill>
            <a:srgbClr val="15191E"/>
          </a:solidFill>
          <a:ln w="12700">
            <a:solidFill>
              <a:srgbClr val="15191E"/>
            </a:solidFill>
            <a:prstDash val="solid"/>
          </a:ln>
        </p:spPr>
      </p:sp>
      <p:sp>
        <p:nvSpPr>
          <p:cNvPr id="14" name="Text 12"/>
          <p:cNvSpPr txBox="1"/>
          <p:nvPr/>
        </p:nvSpPr>
        <p:spPr>
          <a:xfrm>
            <a:off x="4892040" y="3133344"/>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'sha256' in hashlib.algorithms_guaranteed</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p:txBody>
      </p:sp>
      <p:sp>
        <p:nvSpPr>
          <p:cNvPr id="15" name="Text 13"/>
          <p:cNvSpPr txBox="1"/>
          <p:nvPr/>
        </p:nvSpPr>
        <p:spPr>
          <a:xfrm>
            <a:off x="4709160" y="3595878"/>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6" name="Text 14"/>
          <p:cNvSpPr txBox="1"/>
          <p:nvPr/>
        </p:nvSpPr>
        <p:spPr>
          <a:xfrm>
            <a:off x="4709160" y="3851910"/>
            <a:ext cx="397764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An API names the operations that may be requested, such as asking for the balance of an address, the form of each request and the form of each answer.</a:t>
            </a:r>
            <a:endParaRPr lang="en-US" sz="11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URI</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bitcoin: payment link</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URI, a Uniform Resource Identifier, is a string that refers to a resource.</a:t>
            </a:r>
            <a:endParaRPr lang="en-US" sz="1300" dirty="0"/>
          </a:p>
        </p:txBody>
      </p:sp>
      <p:sp>
        <p:nvSpPr>
          <p:cNvPr id="9" name="Shape 7"/>
          <p:cNvSpPr/>
          <p:nvPr/>
        </p:nvSpPr>
        <p:spPr>
          <a:xfrm>
            <a:off x="457200" y="2322830"/>
            <a:ext cx="8229600" cy="702564"/>
          </a:xfrm>
          <a:prstGeom prst="roundRect">
            <a:avLst>
              <a:gd name="adj" fmla="val 13015"/>
            </a:avLst>
          </a:prstGeom>
          <a:solidFill>
            <a:srgbClr val="15191E"/>
          </a:solidFill>
          <a:ln w="12700">
            <a:solidFill>
              <a:srgbClr val="15191E"/>
            </a:solidFill>
            <a:prstDash val="solid"/>
          </a:ln>
        </p:spPr>
      </p:sp>
      <p:sp>
        <p:nvSpPr>
          <p:cNvPr id="10" name="Text 8"/>
          <p:cNvSpPr txBox="1"/>
          <p:nvPr/>
        </p:nvSpPr>
        <p:spPr>
          <a:xfrm>
            <a:off x="640080" y="2441702"/>
            <a:ext cx="7863840" cy="46482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u = urllib.parse.urlsplit('bitcoin:175tWpb8K1S7NmH4Zx6rewF9WQrcZv245W?amount=20.3&amp;label=Luke-Jr')</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(u.scheme, u.path, u.query)</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('bitcoin', '175tWpb8K1S7NmH4Zx6rewF9WQrcZv245W', 'amount=20.3&amp;label=Luke-Jr')</a:t>
            </a:r>
            <a:endParaRPr lang="en-US" sz="1000" dirty="0"/>
          </a:p>
        </p:txBody>
      </p:sp>
      <p:sp>
        <p:nvSpPr>
          <p:cNvPr id="11" name="Text 9"/>
          <p:cNvSpPr txBox="1"/>
          <p:nvPr/>
        </p:nvSpPr>
        <p:spPr>
          <a:xfrm>
            <a:off x="457200" y="304368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263138"/>
            <a:ext cx="8229600" cy="1252728"/>
          </a:xfrm>
          <a:prstGeom prst="roundRect">
            <a:avLst>
              <a:gd name="adj" fmla="val 7299"/>
            </a:avLst>
          </a:prstGeom>
          <a:solidFill>
            <a:srgbClr val="F4F2EE"/>
          </a:solidFill>
          <a:ln w="12700">
            <a:solidFill>
              <a:srgbClr val="F4F2EE"/>
            </a:solidFill>
            <a:prstDash val="solid"/>
          </a:ln>
        </p:spPr>
      </p:sp>
      <p:sp>
        <p:nvSpPr>
          <p:cNvPr id="13" name="Text 11"/>
          <p:cNvSpPr txBox="1"/>
          <p:nvPr/>
        </p:nvSpPr>
        <p:spPr>
          <a:xfrm>
            <a:off x="640080" y="3382010"/>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766058"/>
            <a:ext cx="786384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generic syntax is a scheme, a colon, and then the rest: URI = scheme : hier-part [ ? query ] [ # fragment ] (Berners-Lee et al., 2005). In the bitcoin example, the scheme is bitcoin, the path is the address, and the query holds the parameters amount and label.</a:t>
            </a:r>
            <a:endParaRPr lang="en-US" sz="12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QR code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square of black and white dots</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QR code, short for quick-response code, is a type of two-dimensional matrix barcode, invented in 1994 (Wikipedia contributors, 2026).</a:t>
            </a:r>
            <a:endParaRPr lang="en-US" sz="1300" dirty="0"/>
          </a:p>
        </p:txBody>
      </p:sp>
      <p:sp>
        <p:nvSpPr>
          <p:cNvPr id="9" name="Shape 7"/>
          <p:cNvSpPr/>
          <p:nvPr/>
        </p:nvSpPr>
        <p:spPr>
          <a:xfrm>
            <a:off x="457200" y="2524252"/>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643124"/>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[21 + 4 * (v - 1) for v in (1, 40)]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[21, 177]</a:t>
            </a:r>
            <a:endParaRPr lang="en-US" sz="1100" dirty="0"/>
          </a:p>
        </p:txBody>
      </p:sp>
      <p:sp>
        <p:nvSpPr>
          <p:cNvPr id="11" name="Text 9"/>
          <p:cNvSpPr txBox="1"/>
          <p:nvPr/>
        </p:nvSpPr>
        <p:spPr>
          <a:xfrm>
            <a:off x="457200" y="312115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340608"/>
            <a:ext cx="8229600" cy="1252728"/>
          </a:xfrm>
          <a:prstGeom prst="roundRect">
            <a:avLst>
              <a:gd name="adj" fmla="val 7299"/>
            </a:avLst>
          </a:prstGeom>
          <a:solidFill>
            <a:srgbClr val="F4F2EE"/>
          </a:solidFill>
          <a:ln w="12700">
            <a:solidFill>
              <a:srgbClr val="F4F2EE"/>
            </a:solidFill>
            <a:prstDash val="solid"/>
          </a:ln>
        </p:spPr>
      </p:sp>
      <p:sp>
        <p:nvSpPr>
          <p:cNvPr id="13" name="Text 11"/>
          <p:cNvSpPr txBox="1"/>
          <p:nvPr/>
        </p:nvSpPr>
        <p:spPr>
          <a:xfrm>
            <a:off x="640080" y="3459480"/>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843528"/>
            <a:ext cx="786384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QR code is a square grid of dark and light modules. Its size is described by a version number: version 1 is 21 by 21 modules and each further version adds four modules to each side, so that version 40 is 177 by 177 (Wikipedia contributors, 2026).</a:t>
            </a:r>
            <a:endParaRPr lang="en-US" sz="12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Database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wallet's own store of labels</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database is a storage system that collects organised data, making it easier to search, structure and extend (Mozilla Developer Network, 2026).</a:t>
            </a:r>
            <a:endParaRPr lang="en-US" sz="1300" dirty="0"/>
          </a:p>
        </p:txBody>
      </p:sp>
      <p:sp>
        <p:nvSpPr>
          <p:cNvPr id="9" name="Shape 7"/>
          <p:cNvSpPr/>
          <p:nvPr/>
        </p:nvSpPr>
        <p:spPr>
          <a:xfrm>
            <a:off x="457200" y="2524252"/>
            <a:ext cx="8229600" cy="857504"/>
          </a:xfrm>
          <a:prstGeom prst="roundRect">
            <a:avLst>
              <a:gd name="adj" fmla="val 10664"/>
            </a:avLst>
          </a:prstGeom>
          <a:solidFill>
            <a:srgbClr val="15191E"/>
          </a:solidFill>
          <a:ln w="12700">
            <a:solidFill>
              <a:srgbClr val="15191E"/>
            </a:solidFill>
            <a:prstDash val="solid"/>
          </a:ln>
        </p:spPr>
      </p:sp>
      <p:sp>
        <p:nvSpPr>
          <p:cNvPr id="10" name="Text 8"/>
          <p:cNvSpPr txBox="1"/>
          <p:nvPr/>
        </p:nvSpPr>
        <p:spPr>
          <a:xfrm>
            <a:off x="640080" y="2643124"/>
            <a:ext cx="7863840" cy="61976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rows = [{'address': 'addr1', 'label': 'Alice'}, {'address': 'addr2', 'label': 'Joe'}]</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index = {r['address']: r for r in rows}</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(index['addr1']['label'], [r['label'] for r in rows if r['address'] == 'addr2'], 'addr3' in index)</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('Alice', ['Joe'], False)</a:t>
            </a:r>
            <a:endParaRPr lang="en-US" sz="1000" dirty="0"/>
          </a:p>
        </p:txBody>
      </p:sp>
      <p:sp>
        <p:nvSpPr>
          <p:cNvPr id="11" name="Text 9"/>
          <p:cNvSpPr txBox="1"/>
          <p:nvPr/>
        </p:nvSpPr>
        <p:spPr>
          <a:xfrm>
            <a:off x="457200" y="340004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656076"/>
            <a:ext cx="822960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A relational database stores its data in tables of rows and columns and answers questions written in a query language, usually SQL, while other designs store documents or key-value pairs instead.</a:t>
            </a:r>
            <a:endParaRPr lang="en-US" sz="11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Operating system and Distributed system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624584"/>
          </a:xfrm>
          <a:prstGeom prst="roundRect">
            <a:avLst>
              <a:gd name="adj" fmla="val 5629"/>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Operating system</a:t>
            </a:r>
            <a:endParaRPr lang="en-US" sz="1600" dirty="0"/>
          </a:p>
        </p:txBody>
      </p:sp>
      <p:sp>
        <p:nvSpPr>
          <p:cNvPr id="8" name="Text 6"/>
          <p:cNvSpPr txBox="1"/>
          <p:nvPr/>
        </p:nvSpPr>
        <p:spPr>
          <a:xfrm>
            <a:off x="640080" y="1783080"/>
            <a:ext cx="3611880" cy="984504"/>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An operating system is system software that manages the hardware and software resources of a computer and provides common services for the programs that run on it (Wikipedia contributors, 2026).</a:t>
            </a:r>
            <a:endParaRPr lang="en-US" sz="1200" dirty="0"/>
          </a:p>
        </p:txBody>
      </p:sp>
      <p:sp>
        <p:nvSpPr>
          <p:cNvPr id="9" name="Text 7"/>
          <p:cNvSpPr txBox="1"/>
          <p:nvPr/>
        </p:nvSpPr>
        <p:spPr>
          <a:xfrm>
            <a:off x="457200" y="3051048"/>
            <a:ext cx="397764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operating system starts programs, gives each one memory and a share of the processor, keeps files on disk, and controls access to the network.</a:t>
            </a:r>
            <a:endParaRPr lang="en-US" sz="1100" dirty="0"/>
          </a:p>
        </p:txBody>
      </p:sp>
      <p:sp>
        <p:nvSpPr>
          <p:cNvPr id="10" name="Shape 8"/>
          <p:cNvSpPr/>
          <p:nvPr/>
        </p:nvSpPr>
        <p:spPr>
          <a:xfrm>
            <a:off x="4709160" y="1280160"/>
            <a:ext cx="3977640" cy="2368296"/>
          </a:xfrm>
          <a:prstGeom prst="roundRect">
            <a:avLst>
              <a:gd name="adj" fmla="val 3861"/>
            </a:avLst>
          </a:prstGeom>
          <a:solidFill>
            <a:srgbClr val="F4F2EE"/>
          </a:solidFill>
          <a:ln w="12700">
            <a:solidFill>
              <a:srgbClr val="F4F2EE"/>
            </a:solidFill>
            <a:prstDash val="solid"/>
          </a:ln>
        </p:spPr>
      </p:sp>
      <p:sp>
        <p:nvSpPr>
          <p:cNvPr id="11" name="Text 9"/>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Distributed system</a:t>
            </a:r>
            <a:endParaRPr lang="en-US" sz="1600" dirty="0"/>
          </a:p>
        </p:txBody>
      </p:sp>
      <p:sp>
        <p:nvSpPr>
          <p:cNvPr id="12" name="Text 10"/>
          <p:cNvSpPr txBox="1"/>
          <p:nvPr/>
        </p:nvSpPr>
        <p:spPr>
          <a:xfrm>
            <a:off x="4892040" y="1783080"/>
            <a:ext cx="3611880" cy="172821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distributed system is a computer system whose inter-communicating components are located on different networked computers (Wikipedia contributors, 2026). The components coordinate their actions by passing messages and appear to the user as a single system. Chapter 1 calls Bitcoin a distributed, peer-to-peer system, and also a distributed computing innovation (Antonopoulos and Harding, 2023).</a:t>
            </a:r>
            <a:endParaRPr lang="en-US" sz="1200" dirty="0"/>
          </a:p>
        </p:txBody>
      </p:sp>
      <p:sp>
        <p:nvSpPr>
          <p:cNvPr id="13" name="Text 11"/>
          <p:cNvSpPr txBox="1"/>
          <p:nvPr/>
        </p:nvSpPr>
        <p:spPr>
          <a:xfrm>
            <a:off x="4709160" y="3794760"/>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computers of a distributed system exchange messages according to a protocol and keep their own copies of the data. When one computer receives a change, it checks it and forwards it to the others.</a:t>
            </a:r>
            <a:endParaRPr lang="en-US" sz="11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Bits and bytes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32 bytes written as 64 hexadecimal digits</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bit, a contraction of binary digit, is the smallest unit of information storage and has two possible values, usually written 0 and 1 (Shirey, 2007). A byte is a group of bits that is normally eight, and the Internet Security Glossary uses the word octet for a unit of exactly eight bits (Shirey, 2007).</a:t>
            </a:r>
            <a:endParaRPr lang="en-US" sz="1300" dirty="0"/>
          </a:p>
        </p:txBody>
      </p:sp>
      <p:sp>
        <p:nvSpPr>
          <p:cNvPr id="9" name="Shape 7"/>
          <p:cNvSpPr/>
          <p:nvPr/>
        </p:nvSpPr>
        <p:spPr>
          <a:xfrm>
            <a:off x="457200" y="2927096"/>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3045968"/>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(len(hashlib.sha256(b'').digest()), len(hashlib.sha256(b'').hexdigest()))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(32, 64)</a:t>
            </a:r>
            <a:endParaRPr lang="en-US" sz="1100" dirty="0"/>
          </a:p>
        </p:txBody>
      </p:sp>
      <p:sp>
        <p:nvSpPr>
          <p:cNvPr id="11" name="Text 9"/>
          <p:cNvSpPr txBox="1"/>
          <p:nvPr/>
        </p:nvSpPr>
        <p:spPr>
          <a:xfrm>
            <a:off x="457200" y="35239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743452"/>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862324"/>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246372"/>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Because each hexadecimal digit stands for four bits, two digits stand for one byte.</a:t>
            </a:r>
            <a:endParaRPr lang="en-US" sz="12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Threats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Foundations - 2 concepts</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Threats section explains two attacks that chapter 1 warns about by name or by description: malicious software that steals or destroys, and phishing, which tricks a person into handing over a secret. Both aim at the weakest part of the system, which is often not the cryptography but the person or the device (Antonopoulos and Harding, 2023).</a:t>
            </a:r>
            <a:endParaRPr lang="en-US" sz="1300" dirty="0"/>
          </a:p>
        </p:txBody>
      </p:sp>
      <p:sp>
        <p:nvSpPr>
          <p:cNvPr id="9" name="Shape 7"/>
          <p:cNvSpPr/>
          <p:nvPr/>
        </p:nvSpPr>
        <p:spPr>
          <a:xfrm>
            <a:off x="457200" y="2927096"/>
            <a:ext cx="4041648" cy="1260856"/>
          </a:xfrm>
          <a:prstGeom prst="roundRect">
            <a:avLst>
              <a:gd name="adj" fmla="val 5802"/>
            </a:avLst>
          </a:prstGeom>
          <a:solidFill>
            <a:srgbClr val="F4F2EE"/>
          </a:solidFill>
          <a:ln w="12700">
            <a:solidFill>
              <a:srgbClr val="D9D4CC"/>
            </a:solidFill>
            <a:prstDash val="solid"/>
          </a:ln>
        </p:spPr>
      </p:sp>
      <p:sp>
        <p:nvSpPr>
          <p:cNvPr id="10" name="Text 8"/>
          <p:cNvSpPr txBox="1"/>
          <p:nvPr/>
        </p:nvSpPr>
        <p:spPr>
          <a:xfrm>
            <a:off x="548640" y="2981960"/>
            <a:ext cx="3858768" cy="1151128"/>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Malware</a:t>
            </a:r>
            <a:endParaRPr lang="en-US" sz="1250" dirty="0"/>
          </a:p>
        </p:txBody>
      </p:sp>
      <p:sp>
        <p:nvSpPr>
          <p:cNvPr id="11" name="Shape 9"/>
          <p:cNvSpPr/>
          <p:nvPr/>
        </p:nvSpPr>
        <p:spPr>
          <a:xfrm>
            <a:off x="4645152" y="2927096"/>
            <a:ext cx="4041648" cy="1260856"/>
          </a:xfrm>
          <a:prstGeom prst="roundRect">
            <a:avLst>
              <a:gd name="adj" fmla="val 5802"/>
            </a:avLst>
          </a:prstGeom>
          <a:solidFill>
            <a:srgbClr val="F4F2EE"/>
          </a:solidFill>
          <a:ln w="12700">
            <a:solidFill>
              <a:srgbClr val="D9D4CC"/>
            </a:solidFill>
            <a:prstDash val="solid"/>
          </a:ln>
        </p:spPr>
      </p:sp>
      <p:sp>
        <p:nvSpPr>
          <p:cNvPr id="12" name="Text 10"/>
          <p:cNvSpPr txBox="1"/>
          <p:nvPr/>
        </p:nvSpPr>
        <p:spPr>
          <a:xfrm>
            <a:off x="4736592" y="2981960"/>
            <a:ext cx="3858768" cy="1151128"/>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Phishing</a:t>
            </a:r>
            <a:endParaRPr lang="en-US" sz="1250" dirty="0"/>
          </a:p>
        </p:txBody>
      </p:sp>
      <p:sp>
        <p:nvSpPr>
          <p:cNvPr id="13" name="Text 11"/>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two concepts of the section describe the means and the method, and they usually appear together.</a:t>
            </a:r>
            <a:endParaRPr lang="en-US" sz="12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Malware and Phishing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996440"/>
          </a:xfrm>
          <a:prstGeom prst="roundRect">
            <a:avLst>
              <a:gd name="adj" fmla="val 4580"/>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Malware</a:t>
            </a:r>
            <a:endParaRPr lang="en-US" sz="1600" dirty="0"/>
          </a:p>
        </p:txBody>
      </p:sp>
      <p:sp>
        <p:nvSpPr>
          <p:cNvPr id="8" name="Text 6"/>
          <p:cNvSpPr txBox="1"/>
          <p:nvPr/>
        </p:nvSpPr>
        <p:spPr>
          <a:xfrm>
            <a:off x="640080" y="1783080"/>
            <a:ext cx="3611880" cy="13563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Malware, a contraction of malicious software, is any software intentionally designed to cause disruption or destruction to a computer, server, client or computer network, to leak private information, or to gain unauthorised access to information or systems (Wikipedia contributors, 2026).</a:t>
            </a:r>
            <a:endParaRPr lang="en-US" sz="1200" dirty="0"/>
          </a:p>
        </p:txBody>
      </p:sp>
      <p:sp>
        <p:nvSpPr>
          <p:cNvPr id="9" name="Text 7"/>
          <p:cNvSpPr txBox="1"/>
          <p:nvPr/>
        </p:nvSpPr>
        <p:spPr>
          <a:xfrm>
            <a:off x="457200" y="3422904"/>
            <a:ext cx="397764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Malware reaches a device through a downloaded file, an application that looks legitimate, a malicious attachment or a weakness in the system.</a:t>
            </a:r>
            <a:endParaRPr lang="en-US" sz="1100" dirty="0"/>
          </a:p>
        </p:txBody>
      </p:sp>
      <p:sp>
        <p:nvSpPr>
          <p:cNvPr id="10" name="Shape 8"/>
          <p:cNvSpPr/>
          <p:nvPr/>
        </p:nvSpPr>
        <p:spPr>
          <a:xfrm>
            <a:off x="4709160" y="1280160"/>
            <a:ext cx="3977640" cy="1438656"/>
          </a:xfrm>
          <a:prstGeom prst="roundRect">
            <a:avLst>
              <a:gd name="adj" fmla="val 6356"/>
            </a:avLst>
          </a:prstGeom>
          <a:solidFill>
            <a:srgbClr val="F4F2EE"/>
          </a:solidFill>
          <a:ln w="12700">
            <a:solidFill>
              <a:srgbClr val="F4F2EE"/>
            </a:solidFill>
            <a:prstDash val="solid"/>
          </a:ln>
        </p:spPr>
      </p:sp>
      <p:sp>
        <p:nvSpPr>
          <p:cNvPr id="11" name="Text 9"/>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Phishing</a:t>
            </a:r>
            <a:endParaRPr lang="en-US" sz="1600" dirty="0"/>
          </a:p>
        </p:txBody>
      </p:sp>
      <p:sp>
        <p:nvSpPr>
          <p:cNvPr id="12" name="Text 10"/>
          <p:cNvSpPr txBox="1"/>
          <p:nvPr/>
        </p:nvSpPr>
        <p:spPr>
          <a:xfrm>
            <a:off x="4892040" y="1783080"/>
            <a:ext cx="361188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Phishing is a form of social engineering and a scam in which attackers deceive people into revealing sensitive information or installing malware (Wikipedia contributors, 2026).</a:t>
            </a:r>
            <a:endParaRPr lang="en-US" sz="1200" dirty="0"/>
          </a:p>
        </p:txBody>
      </p:sp>
      <p:sp>
        <p:nvSpPr>
          <p:cNvPr id="13" name="Text 11"/>
          <p:cNvSpPr txBox="1"/>
          <p:nvPr/>
        </p:nvSpPr>
        <p:spPr>
          <a:xfrm>
            <a:off x="4709160" y="2865120"/>
            <a:ext cx="397764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attacker builds something that looks trustworthy and invents a reason for urgency, such as a locked account or a problem with the wallet.</a:t>
            </a:r>
            <a:endParaRPr lang="en-US" sz="11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457200" y="960120"/>
            <a:ext cx="128016" cy="1417320"/>
          </a:xfrm>
          <a:prstGeom prst="rect">
            <a:avLst/>
          </a:prstGeom>
          <a:solidFill>
            <a:srgbClr val="F7931A"/>
          </a:solidFill>
          <a:ln w="12700">
            <a:solidFill>
              <a:srgbClr val="F7931A"/>
            </a:solidFill>
            <a:prstDash val="solid"/>
          </a:ln>
        </p:spPr>
      </p:sp>
      <p:sp>
        <p:nvSpPr>
          <p:cNvPr id="3" name="Text 1"/>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Nature</a:t>
            </a:r>
            <a:endParaRPr lang="en-US" sz="3200" dirty="0"/>
          </a:p>
        </p:txBody>
      </p:sp>
      <p:sp>
        <p:nvSpPr>
          <p:cNvPr id="4" name="Text 2"/>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C9D1DA"/>
                </a:solidFill>
                <a:latin typeface="Calibri" pitchFamily="34" charset="0"/>
                <a:ea typeface="Calibri" pitchFamily="34" charset="-122"/>
                <a:cs typeface="Calibri" pitchFamily="34" charset="-120"/>
              </a:rPr>
              <a:t>The Nature branch answers a question that precedes all the others: what kind of thing is Bitcoin? Chapter 1 gives two complementary answers.</a:t>
            </a:r>
            <a:endParaRPr lang="en-US" sz="1500" dirty="0"/>
          </a:p>
        </p:txBody>
      </p:sp>
      <p:sp>
        <p:nvSpPr>
          <p:cNvPr id="5" name="Shape 3"/>
          <p:cNvSpPr/>
          <p:nvPr/>
        </p:nvSpPr>
        <p:spPr>
          <a:xfrm>
            <a:off x="457200" y="2788920"/>
            <a:ext cx="4041648" cy="1371600"/>
          </a:xfrm>
          <a:prstGeom prst="roundRect">
            <a:avLst>
              <a:gd name="adj" fmla="val 5333"/>
            </a:avLst>
          </a:prstGeom>
          <a:solidFill>
            <a:srgbClr val="3A4250"/>
          </a:solidFill>
          <a:ln w="12700">
            <a:solidFill>
              <a:srgbClr val="F7931A"/>
            </a:solidFill>
            <a:prstDash val="solid"/>
          </a:ln>
        </p:spPr>
      </p:sp>
      <p:sp>
        <p:nvSpPr>
          <p:cNvPr id="6" name="Text 4"/>
          <p:cNvSpPr txBox="1"/>
          <p:nvPr/>
        </p:nvSpPr>
        <p:spPr>
          <a:xfrm>
            <a:off x="530352" y="2834640"/>
            <a:ext cx="3895344"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Characteristic</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4 concepts</a:t>
            </a:r>
            <a:endParaRPr lang="en-US" sz="1200" dirty="0"/>
          </a:p>
        </p:txBody>
      </p:sp>
      <p:sp>
        <p:nvSpPr>
          <p:cNvPr id="7" name="Shape 5"/>
          <p:cNvSpPr/>
          <p:nvPr/>
        </p:nvSpPr>
        <p:spPr>
          <a:xfrm>
            <a:off x="4645152" y="2788920"/>
            <a:ext cx="4041648" cy="1371600"/>
          </a:xfrm>
          <a:prstGeom prst="roundRect">
            <a:avLst>
              <a:gd name="adj" fmla="val 5333"/>
            </a:avLst>
          </a:prstGeom>
          <a:solidFill>
            <a:srgbClr val="3A4250"/>
          </a:solidFill>
          <a:ln w="12700">
            <a:solidFill>
              <a:srgbClr val="F7931A"/>
            </a:solidFill>
            <a:prstDash val="solid"/>
          </a:ln>
        </p:spPr>
      </p:sp>
      <p:sp>
        <p:nvSpPr>
          <p:cNvPr id="8" name="Text 6"/>
          <p:cNvSpPr txBox="1"/>
          <p:nvPr/>
        </p:nvSpPr>
        <p:spPr>
          <a:xfrm>
            <a:off x="4718304" y="2834640"/>
            <a:ext cx="3895344"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Architecture</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3 concepts</a:t>
            </a:r>
            <a:endParaRPr lang="en-US" sz="12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Characteristic</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Nature - 4 concepts</a:t>
            </a:r>
            <a:endParaRPr lang="en-US" sz="1300" dirty="0"/>
          </a:p>
        </p:txBody>
      </p:sp>
      <p:sp>
        <p:nvSpPr>
          <p:cNvPr id="6" name="Shape 4"/>
          <p:cNvSpPr/>
          <p:nvPr/>
        </p:nvSpPr>
        <p:spPr>
          <a:xfrm>
            <a:off x="457200" y="1280160"/>
            <a:ext cx="8229600" cy="1903476"/>
          </a:xfrm>
          <a:prstGeom prst="roundRect">
            <a:avLst>
              <a:gd name="adj" fmla="val 480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26339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Characteristic section collects four properties that the chapter attributes to the bitcoin currency: it is virtual, it is borderless, it is decentralized, and it is robust. The first two come from the opening description of the currency, where Bitcoin is called arguably the perfect form of money for the internet because it is fast, secure and borderless, and the last two from the sidebar that explains why a decentralized digital currency was needed at all (Antonopoulos and Harding, 2023).</a:t>
            </a:r>
            <a:endParaRPr lang="en-US" sz="1300" dirty="0"/>
          </a:p>
        </p:txBody>
      </p:sp>
      <p:sp>
        <p:nvSpPr>
          <p:cNvPr id="9" name="Shape 7"/>
          <p:cNvSpPr/>
          <p:nvPr/>
        </p:nvSpPr>
        <p:spPr>
          <a:xfrm>
            <a:off x="457200" y="3329940"/>
            <a:ext cx="1947672" cy="858012"/>
          </a:xfrm>
          <a:prstGeom prst="roundRect">
            <a:avLst>
              <a:gd name="adj" fmla="val 8526"/>
            </a:avLst>
          </a:prstGeom>
          <a:solidFill>
            <a:srgbClr val="F4F2EE"/>
          </a:solidFill>
          <a:ln w="12700">
            <a:solidFill>
              <a:srgbClr val="D9D4CC"/>
            </a:solidFill>
            <a:prstDash val="solid"/>
          </a:ln>
        </p:spPr>
      </p:sp>
      <p:sp>
        <p:nvSpPr>
          <p:cNvPr id="10" name="Text 8"/>
          <p:cNvSpPr txBox="1"/>
          <p:nvPr/>
        </p:nvSpPr>
        <p:spPr>
          <a:xfrm>
            <a:off x="548640" y="3384804"/>
            <a:ext cx="1764792"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Virtual</a:t>
            </a:r>
            <a:endParaRPr lang="en-US" sz="1250" dirty="0"/>
          </a:p>
        </p:txBody>
      </p:sp>
      <p:sp>
        <p:nvSpPr>
          <p:cNvPr id="11" name="Shape 9"/>
          <p:cNvSpPr/>
          <p:nvPr/>
        </p:nvSpPr>
        <p:spPr>
          <a:xfrm>
            <a:off x="2551176" y="3329940"/>
            <a:ext cx="1947672" cy="858012"/>
          </a:xfrm>
          <a:prstGeom prst="roundRect">
            <a:avLst>
              <a:gd name="adj" fmla="val 8526"/>
            </a:avLst>
          </a:prstGeom>
          <a:solidFill>
            <a:srgbClr val="F4F2EE"/>
          </a:solidFill>
          <a:ln w="12700">
            <a:solidFill>
              <a:srgbClr val="D9D4CC"/>
            </a:solidFill>
            <a:prstDash val="solid"/>
          </a:ln>
        </p:spPr>
      </p:sp>
      <p:sp>
        <p:nvSpPr>
          <p:cNvPr id="12" name="Text 10"/>
          <p:cNvSpPr txBox="1"/>
          <p:nvPr/>
        </p:nvSpPr>
        <p:spPr>
          <a:xfrm>
            <a:off x="2642616" y="3384804"/>
            <a:ext cx="1764792"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Borderless</a:t>
            </a:r>
            <a:endParaRPr lang="en-US" sz="1250" dirty="0"/>
          </a:p>
        </p:txBody>
      </p:sp>
      <p:sp>
        <p:nvSpPr>
          <p:cNvPr id="13" name="Shape 11"/>
          <p:cNvSpPr/>
          <p:nvPr/>
        </p:nvSpPr>
        <p:spPr>
          <a:xfrm>
            <a:off x="4645152" y="3329940"/>
            <a:ext cx="1947672" cy="858012"/>
          </a:xfrm>
          <a:prstGeom prst="roundRect">
            <a:avLst>
              <a:gd name="adj" fmla="val 8526"/>
            </a:avLst>
          </a:prstGeom>
          <a:solidFill>
            <a:srgbClr val="F4F2EE"/>
          </a:solidFill>
          <a:ln w="12700">
            <a:solidFill>
              <a:srgbClr val="D9D4CC"/>
            </a:solidFill>
            <a:prstDash val="solid"/>
          </a:ln>
        </p:spPr>
      </p:sp>
      <p:sp>
        <p:nvSpPr>
          <p:cNvPr id="14" name="Text 12"/>
          <p:cNvSpPr txBox="1"/>
          <p:nvPr/>
        </p:nvSpPr>
        <p:spPr>
          <a:xfrm>
            <a:off x="4736592" y="3384804"/>
            <a:ext cx="1764792"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Decentralized</a:t>
            </a:r>
            <a:endParaRPr lang="en-US" sz="1250" dirty="0"/>
          </a:p>
        </p:txBody>
      </p:sp>
      <p:sp>
        <p:nvSpPr>
          <p:cNvPr id="15" name="Shape 13"/>
          <p:cNvSpPr/>
          <p:nvPr/>
        </p:nvSpPr>
        <p:spPr>
          <a:xfrm>
            <a:off x="6739128" y="3329940"/>
            <a:ext cx="1947672" cy="858012"/>
          </a:xfrm>
          <a:prstGeom prst="roundRect">
            <a:avLst>
              <a:gd name="adj" fmla="val 8526"/>
            </a:avLst>
          </a:prstGeom>
          <a:solidFill>
            <a:srgbClr val="F4F2EE"/>
          </a:solidFill>
          <a:ln w="12700">
            <a:solidFill>
              <a:srgbClr val="D9D4CC"/>
            </a:solidFill>
            <a:prstDash val="solid"/>
          </a:ln>
        </p:spPr>
      </p:sp>
      <p:sp>
        <p:nvSpPr>
          <p:cNvPr id="16" name="Text 14"/>
          <p:cNvSpPr txBox="1"/>
          <p:nvPr/>
        </p:nvSpPr>
        <p:spPr>
          <a:xfrm>
            <a:off x="6830568" y="3384804"/>
            <a:ext cx="1764792"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Robust</a:t>
            </a:r>
            <a:endParaRPr lang="en-US" sz="1250" dirty="0"/>
          </a:p>
        </p:txBody>
      </p:sp>
      <p:sp>
        <p:nvSpPr>
          <p:cNvPr id="17" name="Text 15"/>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Each concept in the section is defined by the sentence of the chapter that introduces it and is then connected to the mechanism that makes it true, because a property without a mechanism is only a slogan.</a:t>
            </a:r>
            <a:endParaRPr lang="en-US" sz="12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Virtual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balances computed from transactions</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To say that the bitcoin currency is virtual is to say that it has no physical or object form.</a:t>
            </a:r>
            <a:endParaRPr lang="en-US" sz="1300" dirty="0"/>
          </a:p>
        </p:txBody>
      </p:sp>
      <p:sp>
        <p:nvSpPr>
          <p:cNvPr id="9" name="Shape 7"/>
          <p:cNvSpPr/>
          <p:nvPr/>
        </p:nvSpPr>
        <p:spPr>
          <a:xfrm>
            <a:off x="457200" y="2322830"/>
            <a:ext cx="8229600" cy="1012444"/>
          </a:xfrm>
          <a:prstGeom prst="roundRect">
            <a:avLst>
              <a:gd name="adj" fmla="val 9032"/>
            </a:avLst>
          </a:prstGeom>
          <a:solidFill>
            <a:srgbClr val="15191E"/>
          </a:solidFill>
          <a:ln w="12700">
            <a:solidFill>
              <a:srgbClr val="15191E"/>
            </a:solidFill>
            <a:prstDash val="solid"/>
          </a:ln>
        </p:spPr>
      </p:sp>
      <p:sp>
        <p:nvSpPr>
          <p:cNvPr id="10" name="Text 8"/>
          <p:cNvSpPr txBox="1"/>
          <p:nvPr/>
        </p:nvSpPr>
        <p:spPr>
          <a:xfrm>
            <a:off x="640080" y="2441702"/>
            <a:ext cx="7863840" cy="77470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txs = [('Joe', 'Alice', 100_000), ('Alice', 'Eve', 30_000), ('Joe', 'Eve', 5_000)]</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def balance(who): return sum(a for f, t, a in txs if t == who) - sum(a for f, t, a in txs if f == who)</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(balance('Alice'), balance('Eve'))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(70000, 35000)</a:t>
            </a:r>
            <a:endParaRPr lang="en-US" sz="1000" dirty="0"/>
          </a:p>
        </p:txBody>
      </p:sp>
      <p:sp>
        <p:nvSpPr>
          <p:cNvPr id="11" name="Text 9"/>
          <p:cNvSpPr txBox="1"/>
          <p:nvPr/>
        </p:nvSpPr>
        <p:spPr>
          <a:xfrm>
            <a:off x="457200" y="335356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573018"/>
            <a:ext cx="8229600" cy="1066800"/>
          </a:xfrm>
          <a:prstGeom prst="roundRect">
            <a:avLst>
              <a:gd name="adj" fmla="val 8571"/>
            </a:avLst>
          </a:prstGeom>
          <a:solidFill>
            <a:srgbClr val="F4F2EE"/>
          </a:solidFill>
          <a:ln w="12700">
            <a:solidFill>
              <a:srgbClr val="F4F2EE"/>
            </a:solidFill>
            <a:prstDash val="solid"/>
          </a:ln>
        </p:spPr>
      </p:sp>
      <p:sp>
        <p:nvSpPr>
          <p:cNvPr id="13" name="Text 11"/>
          <p:cNvSpPr txBox="1"/>
          <p:nvPr/>
        </p:nvSpPr>
        <p:spPr>
          <a:xfrm>
            <a:off x="640080" y="3691890"/>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075938"/>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example represents a tiny history as a list of transfers, Joe pays Alice 100000 satoshis, Alice pays Eve 30000, and Joe pays Eve 5000.</a:t>
            </a:r>
            <a:endParaRPr lang="en-US" sz="12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Borderless and Decentralized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2182368"/>
          </a:xfrm>
          <a:prstGeom prst="roundRect">
            <a:avLst>
              <a:gd name="adj" fmla="val 4190"/>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Borderless</a:t>
            </a:r>
            <a:endParaRPr lang="en-US" sz="1600" dirty="0"/>
          </a:p>
        </p:txBody>
      </p:sp>
      <p:sp>
        <p:nvSpPr>
          <p:cNvPr id="8" name="Text 6"/>
          <p:cNvSpPr txBox="1"/>
          <p:nvPr/>
        </p:nvSpPr>
        <p:spPr>
          <a:xfrm>
            <a:off x="640080" y="1783080"/>
            <a:ext cx="3611880" cy="154228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Borderless means that the currency is not tied to any country or to its financial institutions. The chapter says that Bitcoin is arguably the perfect form of money for the internet because it is fast, secure and borderless (Antonopoulos and Harding, 2023). A payment is sent to an address and does not depend on the nationality of the recipient.</a:t>
            </a:r>
            <a:endParaRPr lang="en-US" sz="1200" dirty="0"/>
          </a:p>
        </p:txBody>
      </p:sp>
      <p:sp>
        <p:nvSpPr>
          <p:cNvPr id="9" name="Text 7"/>
          <p:cNvSpPr txBox="1"/>
          <p:nvPr/>
        </p:nvSpPr>
        <p:spPr>
          <a:xfrm>
            <a:off x="457200" y="3608832"/>
            <a:ext cx="397764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Bitcoin is borderless because the network is a peer-to-peer system on top of the internet and the rules are the same everywhere.</a:t>
            </a:r>
            <a:endParaRPr lang="en-US" sz="1100" dirty="0"/>
          </a:p>
        </p:txBody>
      </p:sp>
      <p:sp>
        <p:nvSpPr>
          <p:cNvPr id="10" name="Shape 8"/>
          <p:cNvSpPr/>
          <p:nvPr/>
        </p:nvSpPr>
        <p:spPr>
          <a:xfrm>
            <a:off x="4709160" y="1280160"/>
            <a:ext cx="3977640" cy="2368296"/>
          </a:xfrm>
          <a:prstGeom prst="roundRect">
            <a:avLst>
              <a:gd name="adj" fmla="val 3861"/>
            </a:avLst>
          </a:prstGeom>
          <a:solidFill>
            <a:srgbClr val="F4F2EE"/>
          </a:solidFill>
          <a:ln w="12700">
            <a:solidFill>
              <a:srgbClr val="F4F2EE"/>
            </a:solidFill>
            <a:prstDash val="solid"/>
          </a:ln>
        </p:spPr>
      </p:sp>
      <p:sp>
        <p:nvSpPr>
          <p:cNvPr id="11" name="Text 9"/>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Decentralized</a:t>
            </a:r>
            <a:endParaRPr lang="en-US" sz="1600" dirty="0"/>
          </a:p>
        </p:txBody>
      </p:sp>
      <p:sp>
        <p:nvSpPr>
          <p:cNvPr id="12" name="Text 10"/>
          <p:cNvSpPr txBox="1"/>
          <p:nvPr/>
        </p:nvSpPr>
        <p:spPr>
          <a:xfrm>
            <a:off x="4892040" y="1783080"/>
            <a:ext cx="3611880" cy="172821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decentralized system is one that has no central authority or point of control. The chapter says that Bitcoin is decentralized by design, and free of any central authority or point of control that can be attacked or corrupted (Antonopoulos and Harding, 2023). Its ordinary statement of the same idea is that there is no central server or point of control in the system.</a:t>
            </a:r>
            <a:endParaRPr lang="en-US" sz="1200" dirty="0"/>
          </a:p>
        </p:txBody>
      </p:sp>
      <p:sp>
        <p:nvSpPr>
          <p:cNvPr id="13" name="Text 11"/>
          <p:cNvSpPr txBox="1"/>
          <p:nvPr/>
        </p:nvSpPr>
        <p:spPr>
          <a:xfrm>
            <a:off x="4709160" y="3794760"/>
            <a:ext cx="397764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Decentralization is achieved by spreading each function across many participants.</a:t>
            </a:r>
            <a:endParaRPr lang="en-US" sz="11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Robust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resisting intervention</a:t>
            </a:r>
            <a:endParaRPr lang="en-US" sz="1300" dirty="0"/>
          </a:p>
        </p:txBody>
      </p:sp>
      <p:sp>
        <p:nvSpPr>
          <p:cNvPr id="6" name="Shape 4"/>
          <p:cNvSpPr/>
          <p:nvPr/>
        </p:nvSpPr>
        <p:spPr>
          <a:xfrm>
            <a:off x="457200" y="1280160"/>
            <a:ext cx="8229600" cy="2104898"/>
          </a:xfrm>
          <a:prstGeom prst="roundRect">
            <a:avLst>
              <a:gd name="adj" fmla="val 434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146481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Robust means able to withstand attack and interference and to keep working while under them. The chapter's sidebar states the requirement in one sentence: to be robust against intervention by antagonists, whether legitimate governments or criminal elements, a decentralized digital currency was needed to avoid a single point of attack (Antonopoulos and Harding, 2023). The two words of that sentence that a student should notice are antagonists, which covers both lawful and unlawful opponents, and single point of attack, which names what the design removes rather than what it adds.</a:t>
            </a:r>
            <a:endParaRPr lang="en-US" sz="1300" dirty="0"/>
          </a:p>
        </p:txBody>
      </p:sp>
      <p:sp>
        <p:nvSpPr>
          <p:cNvPr id="9" name="Shape 7"/>
          <p:cNvSpPr/>
          <p:nvPr/>
        </p:nvSpPr>
        <p:spPr>
          <a:xfrm>
            <a:off x="457200" y="3531362"/>
            <a:ext cx="8229600" cy="880872"/>
          </a:xfrm>
          <a:prstGeom prst="roundRect">
            <a:avLst>
              <a:gd name="adj" fmla="val 10381"/>
            </a:avLst>
          </a:prstGeom>
          <a:solidFill>
            <a:srgbClr val="F4F2EE"/>
          </a:solidFill>
          <a:ln w="12700">
            <a:solidFill>
              <a:srgbClr val="F4F2EE"/>
            </a:solidFill>
            <a:prstDash val="solid"/>
          </a:ln>
        </p:spPr>
      </p:sp>
      <p:sp>
        <p:nvSpPr>
          <p:cNvPr id="10" name="Text 8"/>
          <p:cNvSpPr txBox="1"/>
          <p:nvPr/>
        </p:nvSpPr>
        <p:spPr>
          <a:xfrm>
            <a:off x="640080" y="3650234"/>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Where you meet it</a:t>
            </a:r>
            <a:endParaRPr lang="en-US" sz="1600" dirty="0"/>
          </a:p>
        </p:txBody>
      </p:sp>
      <p:sp>
        <p:nvSpPr>
          <p:cNvPr id="11" name="Text 9"/>
          <p:cNvSpPr txBox="1"/>
          <p:nvPr/>
        </p:nvSpPr>
        <p:spPr>
          <a:xfrm>
            <a:off x="640080" y="4034282"/>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Robustness is a property of the whole design.</a:t>
            </a:r>
            <a:endParaRPr lang="en-US" sz="12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Architecture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Nature - 3 concepts</a:t>
            </a:r>
            <a:endParaRPr lang="en-US" sz="1300" dirty="0"/>
          </a:p>
        </p:txBody>
      </p:sp>
      <p:sp>
        <p:nvSpPr>
          <p:cNvPr id="6" name="Shape 4"/>
          <p:cNvSpPr/>
          <p:nvPr/>
        </p:nvSpPr>
        <p:spPr>
          <a:xfrm>
            <a:off x="457200" y="1280160"/>
            <a:ext cx="8229600" cy="2104898"/>
          </a:xfrm>
          <a:prstGeom prst="roundRect">
            <a:avLst>
              <a:gd name="adj" fmla="val 434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46481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Architecture section describes how the Bitcoin system is put together. After the opening pages, the chapter lists what Bitcoin consists of: a decentralized peer-to-peer network, a public transaction journal, a set of rules for independent transaction validation and currency issuance, and a mechanism for reaching global decentralized consensus on the valid blockchain (Antonopoulos and Harding, 2023). It adds that Bitcoin builds on decades of research in cryptography and distributed systems and includes at least four key innovations brought together in a unique and powerful combination.</a:t>
            </a:r>
            <a:endParaRPr lang="en-US" sz="1300" dirty="0"/>
          </a:p>
        </p:txBody>
      </p:sp>
      <p:sp>
        <p:nvSpPr>
          <p:cNvPr id="9" name="Shape 7"/>
          <p:cNvSpPr/>
          <p:nvPr/>
        </p:nvSpPr>
        <p:spPr>
          <a:xfrm>
            <a:off x="457200" y="3531362"/>
            <a:ext cx="2645664" cy="656590"/>
          </a:xfrm>
          <a:prstGeom prst="roundRect">
            <a:avLst>
              <a:gd name="adj" fmla="val 11141"/>
            </a:avLst>
          </a:prstGeom>
          <a:solidFill>
            <a:srgbClr val="F4F2EE"/>
          </a:solidFill>
          <a:ln w="12700">
            <a:solidFill>
              <a:srgbClr val="D9D4CC"/>
            </a:solidFill>
            <a:prstDash val="solid"/>
          </a:ln>
        </p:spPr>
      </p:sp>
      <p:sp>
        <p:nvSpPr>
          <p:cNvPr id="10" name="Text 8"/>
          <p:cNvSpPr txBox="1"/>
          <p:nvPr/>
        </p:nvSpPr>
        <p:spPr>
          <a:xfrm>
            <a:off x="548640" y="3586226"/>
            <a:ext cx="2462784" cy="54686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Peer-to-peer protocol</a:t>
            </a:r>
            <a:endParaRPr lang="en-US" sz="1250" dirty="0"/>
          </a:p>
        </p:txBody>
      </p:sp>
      <p:sp>
        <p:nvSpPr>
          <p:cNvPr id="11" name="Shape 9"/>
          <p:cNvSpPr/>
          <p:nvPr/>
        </p:nvSpPr>
        <p:spPr>
          <a:xfrm>
            <a:off x="3249168" y="3531362"/>
            <a:ext cx="2645664" cy="656590"/>
          </a:xfrm>
          <a:prstGeom prst="roundRect">
            <a:avLst>
              <a:gd name="adj" fmla="val 11141"/>
            </a:avLst>
          </a:prstGeom>
          <a:solidFill>
            <a:srgbClr val="F4F2EE"/>
          </a:solidFill>
          <a:ln w="12700">
            <a:solidFill>
              <a:srgbClr val="D9D4CC"/>
            </a:solidFill>
            <a:prstDash val="solid"/>
          </a:ln>
        </p:spPr>
      </p:sp>
      <p:sp>
        <p:nvSpPr>
          <p:cNvPr id="12" name="Text 10"/>
          <p:cNvSpPr txBox="1"/>
          <p:nvPr/>
        </p:nvSpPr>
        <p:spPr>
          <a:xfrm>
            <a:off x="3340608" y="3586226"/>
            <a:ext cx="2462784" cy="54686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Public journal</a:t>
            </a:r>
            <a:endParaRPr lang="en-US" sz="1250" dirty="0"/>
          </a:p>
        </p:txBody>
      </p:sp>
      <p:sp>
        <p:nvSpPr>
          <p:cNvPr id="13" name="Shape 11"/>
          <p:cNvSpPr/>
          <p:nvPr/>
        </p:nvSpPr>
        <p:spPr>
          <a:xfrm>
            <a:off x="6041136" y="3531362"/>
            <a:ext cx="2645664" cy="656590"/>
          </a:xfrm>
          <a:prstGeom prst="roundRect">
            <a:avLst>
              <a:gd name="adj" fmla="val 11141"/>
            </a:avLst>
          </a:prstGeom>
          <a:solidFill>
            <a:srgbClr val="F4F2EE"/>
          </a:solidFill>
          <a:ln w="12700">
            <a:solidFill>
              <a:srgbClr val="D9D4CC"/>
            </a:solidFill>
            <a:prstDash val="solid"/>
          </a:ln>
        </p:spPr>
      </p:sp>
      <p:sp>
        <p:nvSpPr>
          <p:cNvPr id="14" name="Text 12"/>
          <p:cNvSpPr txBox="1"/>
          <p:nvPr/>
        </p:nvSpPr>
        <p:spPr>
          <a:xfrm>
            <a:off x="6132576" y="3586226"/>
            <a:ext cx="2462784" cy="54686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Consensus rule set</a:t>
            </a:r>
            <a:endParaRPr lang="en-US" sz="1250" dirty="0"/>
          </a:p>
        </p:txBody>
      </p:sp>
      <p:sp>
        <p:nvSpPr>
          <p:cNvPr id="15" name="Text 13"/>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Three of the four parts are concepts of this section. The peer-to-peer protocol describes the network. The public journal describes the record.</a:t>
            </a:r>
            <a:endParaRPr lang="en-US" sz="12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Peer-to-peer protocol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decentralized peer-to-peer network</a:t>
            </a:r>
            <a:endParaRPr lang="en-US" sz="1300" dirty="0"/>
          </a:p>
        </p:txBody>
      </p:sp>
      <p:sp>
        <p:nvSpPr>
          <p:cNvPr id="6" name="Shape 4"/>
          <p:cNvSpPr/>
          <p:nvPr/>
        </p:nvSpPr>
        <p:spPr>
          <a:xfrm>
            <a:off x="457200" y="1280160"/>
            <a:ext cx="8229600" cy="1252728"/>
          </a:xfrm>
          <a:prstGeom prst="roundRect">
            <a:avLst>
              <a:gd name="adj" fmla="val 729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peer-to-peer protocol is the first of the four parts of Bitcoin that the chapter lists: a decentralized peer-to-peer network, which it identifies as the Bitcoin protocol (Antonopoulos and Harding, 2023).</a:t>
            </a:r>
            <a:endParaRPr lang="en-US" sz="1200" dirty="0"/>
          </a:p>
        </p:txBody>
      </p:sp>
      <p:sp>
        <p:nvSpPr>
          <p:cNvPr id="9" name="Shape 7"/>
          <p:cNvSpPr/>
          <p:nvPr/>
        </p:nvSpPr>
        <p:spPr>
          <a:xfrm>
            <a:off x="457200" y="2679192"/>
            <a:ext cx="8229600" cy="1213866"/>
          </a:xfrm>
          <a:prstGeom prst="roundRect">
            <a:avLst>
              <a:gd name="adj" fmla="val 7533"/>
            </a:avLst>
          </a:prstGeom>
          <a:solidFill>
            <a:srgbClr val="15191E"/>
          </a:solidFill>
          <a:ln w="12700">
            <a:solidFill>
              <a:srgbClr val="15191E"/>
            </a:solidFill>
            <a:prstDash val="solid"/>
          </a:ln>
        </p:spPr>
      </p:sp>
      <p:sp>
        <p:nvSpPr>
          <p:cNvPr id="10" name="Text 8"/>
          <p:cNvSpPr txBox="1"/>
          <p:nvPr/>
        </p:nvSpPr>
        <p:spPr>
          <a:xfrm>
            <a:off x="640080" y="2798064"/>
            <a:ext cx="7863840" cy="976122"/>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links = {'A': ['B', 'C'], 'B': ['A', 'D'], 'C': ['A', 'E'], 'D': ['B', 'F'], 'E': ['C', 'F'], 'F': ['D', 'E', 'G'], 'G': ['F']}</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seen, frontier, rounds = {'A'}, {'A'}, 0</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while len(seen) &lt; len(links):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frontier = {n for f in frontier for n in links[f]} - seen</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seen |= frontier; rounds += 1</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result = rounds</a:t>
            </a:r>
            <a:endParaRPr lang="en-US" sz="900" dirty="0"/>
          </a:p>
        </p:txBody>
      </p:sp>
      <p:sp>
        <p:nvSpPr>
          <p:cNvPr id="11" name="Text 9"/>
          <p:cNvSpPr txBox="1"/>
          <p:nvPr/>
        </p:nvSpPr>
        <p:spPr>
          <a:xfrm>
            <a:off x="457200" y="3911346"/>
            <a:ext cx="8229600" cy="256032"/>
          </a:xfrm>
          <a:prstGeom prst="rect">
            <a:avLst/>
          </a:prstGeom>
          <a:noFill/>
          <a:ln/>
        </p:spPr>
        <p:txBody>
          <a:bodyPr wrap="square" lIns="0" tIns="0" rIns="0" bIns="0" rtlCol="0" anchor="ctr"/>
          <a:lstStyle/>
          <a:p>
            <a:pPr indent="0" marL="0">
              <a:buNone/>
            </a:pPr>
            <a:r>
              <a:rPr lang="en-US" sz="900" b="1" dirty="0">
                <a:solidFill>
                  <a:srgbClr val="F7931A"/>
                </a:solidFill>
                <a:latin typeface="Courier New" pitchFamily="34" charset="0"/>
                <a:ea typeface="Courier New" pitchFamily="34" charset="-122"/>
                <a:cs typeface="Courier New" pitchFamily="34" charset="-120"/>
              </a:rPr>
              <a:t>result  </a:t>
            </a:r>
            <a:pPr indent="0" marL="0">
              <a:buNone/>
            </a:pPr>
            <a:r>
              <a:rPr lang="en-US" sz="900" dirty="0">
                <a:solidFill>
                  <a:srgbClr val="1B1F24"/>
                </a:solidFill>
                <a:latin typeface="Courier New" pitchFamily="34" charset="0"/>
                <a:ea typeface="Courier New" pitchFamily="34" charset="-122"/>
                <a:cs typeface="Courier New" pitchFamily="34" charset="-120"/>
              </a:rPr>
              <a:t>4</a:t>
            </a:r>
            <a:endParaRPr lang="en-US" sz="900" dirty="0"/>
          </a:p>
        </p:txBody>
      </p:sp>
      <p:sp>
        <p:nvSpPr>
          <p:cNvPr id="12" name="Text 10"/>
          <p:cNvSpPr txBox="1"/>
          <p:nvPr/>
        </p:nvSpPr>
        <p:spPr>
          <a:xfrm>
            <a:off x="457200" y="4167378"/>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PeerToPeerProtocol, lines 1 to 6 of 6, run under Python 3.14.4</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Public journal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blockchain as a public transaction journal</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public journal is the second part of Bitcoin in the chapter's list: a public transaction journal, the blockchain (Antonopoulos and Harding, 2023). A journal is a chronological record, and public means that anyone can read it. The chapter uses the same phrase when it explains confirmation, as the Bitcoin transaction journal known as the blockchain.</a:t>
            </a:r>
            <a:endParaRPr lang="en-US" sz="1300" dirty="0"/>
          </a:p>
        </p:txBody>
      </p:sp>
      <p:sp>
        <p:nvSpPr>
          <p:cNvPr id="9" name="Shape 7"/>
          <p:cNvSpPr/>
          <p:nvPr/>
        </p:nvSpPr>
        <p:spPr>
          <a:xfrm>
            <a:off x="457200" y="2927096"/>
            <a:ext cx="8229600" cy="1624584"/>
          </a:xfrm>
          <a:prstGeom prst="roundRect">
            <a:avLst>
              <a:gd name="adj" fmla="val 5629"/>
            </a:avLst>
          </a:prstGeom>
          <a:solidFill>
            <a:srgbClr val="F4F2EE"/>
          </a:solidFill>
          <a:ln w="12700">
            <a:solidFill>
              <a:srgbClr val="F4F2EE"/>
            </a:solidFill>
            <a:prstDash val="solid"/>
          </a:ln>
        </p:spPr>
      </p:sp>
      <p:sp>
        <p:nvSpPr>
          <p:cNvPr id="10" name="Text 8"/>
          <p:cNvSpPr txBox="1"/>
          <p:nvPr/>
        </p:nvSpPr>
        <p:spPr>
          <a:xfrm>
            <a:off x="640080" y="3045968"/>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Where you meet it</a:t>
            </a:r>
            <a:endParaRPr lang="en-US" sz="1600" dirty="0"/>
          </a:p>
        </p:txBody>
      </p:sp>
      <p:sp>
        <p:nvSpPr>
          <p:cNvPr id="11" name="Text 9"/>
          <p:cNvSpPr txBox="1"/>
          <p:nvPr/>
        </p:nvSpPr>
        <p:spPr>
          <a:xfrm>
            <a:off x="640080" y="3430016"/>
            <a:ext cx="7863840" cy="984504"/>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journal is met in block explorers, in the data that nodes download, and in the way wallets compute balances. The chapter tells us that Alice's address first shows Joe's payment as unconfirmed and that it is confirmed when it is recorded in the journal (Antonopoulos and Harding, 2023). The privacy consequence is also public: the chapter notes that once a Bitcoin address is attached to an identity, associated transactions may become easy to identify and track.</a:t>
            </a:r>
            <a:endParaRPr lang="en-US" sz="12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Consensus rule set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rules every node applies</a:t>
            </a:r>
            <a:endParaRPr lang="en-US" sz="1300" dirty="0"/>
          </a:p>
        </p:txBody>
      </p:sp>
      <p:sp>
        <p:nvSpPr>
          <p:cNvPr id="6" name="Shape 4"/>
          <p:cNvSpPr/>
          <p:nvPr/>
        </p:nvSpPr>
        <p:spPr>
          <a:xfrm>
            <a:off x="457200" y="1280160"/>
            <a:ext cx="8229600" cy="1252728"/>
          </a:xfrm>
          <a:prstGeom prst="roundRect">
            <a:avLst>
              <a:gd name="adj" fmla="val 729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consensus rule set is the third part of Bitcoin in the chapter's list: a set of rules for independent transaction validation and currency issuance, which the chapter calls consensus rules (Antonopoulos and Harding, 2023).</a:t>
            </a:r>
            <a:endParaRPr lang="en-US" sz="1200" dirty="0"/>
          </a:p>
        </p:txBody>
      </p:sp>
      <p:sp>
        <p:nvSpPr>
          <p:cNvPr id="9" name="Shape 7"/>
          <p:cNvSpPr/>
          <p:nvPr/>
        </p:nvSpPr>
        <p:spPr>
          <a:xfrm>
            <a:off x="457200" y="2679192"/>
            <a:ext cx="8229600" cy="795528"/>
          </a:xfrm>
          <a:prstGeom prst="roundRect">
            <a:avLst>
              <a:gd name="adj" fmla="val 11494"/>
            </a:avLst>
          </a:prstGeom>
          <a:solidFill>
            <a:srgbClr val="15191E"/>
          </a:solidFill>
          <a:ln w="12700">
            <a:solidFill>
              <a:srgbClr val="15191E"/>
            </a:solidFill>
            <a:prstDash val="solid"/>
          </a:ln>
        </p:spPr>
      </p:sp>
      <p:sp>
        <p:nvSpPr>
          <p:cNvPr id="10" name="Text 8"/>
          <p:cNvSpPr txBox="1"/>
          <p:nvPr/>
        </p:nvSpPr>
        <p:spPr>
          <a:xfrm>
            <a:off x="640080" y="2798064"/>
            <a:ext cx="7863840" cy="557784"/>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def accept(claim, height, fees):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subsidy = (50 * 10**8) &gt;&gt; (height // 210000)</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return claim &lt;= subsidy + fees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result = [accept(312_500_000, 840000, 0), accept(312_500_001, 840000, 0), accept(325_000_000, 840000, 12_500_000)]</a:t>
            </a:r>
            <a:endParaRPr lang="en-US" sz="900" dirty="0"/>
          </a:p>
        </p:txBody>
      </p:sp>
      <p:sp>
        <p:nvSpPr>
          <p:cNvPr id="11" name="Text 9"/>
          <p:cNvSpPr txBox="1"/>
          <p:nvPr/>
        </p:nvSpPr>
        <p:spPr>
          <a:xfrm>
            <a:off x="457200" y="3493008"/>
            <a:ext cx="8229600" cy="256032"/>
          </a:xfrm>
          <a:prstGeom prst="rect">
            <a:avLst/>
          </a:prstGeom>
          <a:noFill/>
          <a:ln/>
        </p:spPr>
        <p:txBody>
          <a:bodyPr wrap="square" lIns="0" tIns="0" rIns="0" bIns="0" rtlCol="0" anchor="ctr"/>
          <a:lstStyle/>
          <a:p>
            <a:pPr indent="0" marL="0">
              <a:buNone/>
            </a:pPr>
            <a:r>
              <a:rPr lang="en-US" sz="900" b="1" dirty="0">
                <a:solidFill>
                  <a:srgbClr val="F7931A"/>
                </a:solidFill>
                <a:latin typeface="Courier New" pitchFamily="34" charset="0"/>
                <a:ea typeface="Courier New" pitchFamily="34" charset="-122"/>
                <a:cs typeface="Courier New" pitchFamily="34" charset="-120"/>
              </a:rPr>
              <a:t>result  </a:t>
            </a:r>
            <a:pPr indent="0" marL="0">
              <a:buNone/>
            </a:pPr>
            <a:r>
              <a:rPr lang="en-US" sz="900" dirty="0">
                <a:solidFill>
                  <a:srgbClr val="1B1F24"/>
                </a:solidFill>
                <a:latin typeface="Courier New" pitchFamily="34" charset="0"/>
                <a:ea typeface="Courier New" pitchFamily="34" charset="-122"/>
                <a:cs typeface="Courier New" pitchFamily="34" charset="-120"/>
              </a:rPr>
              <a:t>[True, False, True]</a:t>
            </a:r>
            <a:endParaRPr lang="en-US" sz="900" dirty="0"/>
          </a:p>
        </p:txBody>
      </p:sp>
      <p:sp>
        <p:nvSpPr>
          <p:cNvPr id="12" name="Text 10"/>
          <p:cNvSpPr txBox="1"/>
          <p:nvPr/>
        </p:nvSpPr>
        <p:spPr>
          <a:xfrm>
            <a:off x="457200" y="374904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ConsensusRuleSet, lines 1 to 4 of 4, run under Python 3.14.4</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Recap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One sentence for each branch of the chapter</a:t>
            </a:r>
            <a:endParaRPr lang="en-US" sz="1300" dirty="0"/>
          </a:p>
        </p:txBody>
      </p:sp>
      <p:graphicFrame>
        <p:nvGraphicFramePr>
          <p:cNvPr id="10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737360"/>
                <a:gridCol w="649224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Branch</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to take away</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Money</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 currency is only as useful as the rules that govern it.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Network</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 money system that is held together by many independent computers must solve a hard problem: those computers have to agree on which payments happened, even though they receive messages in different orders and some of them may be dishonest.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Wallet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 wallet is where the abstract rules of the network meet a human being.</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Usage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Usage is where a learner first sees the system work.</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Foundations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 technical text is only as clear as its vocabulary.</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Nature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 student who knows only how to use a wallet knows what Bitcoin does and not why it is built as it is.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Discussion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Assess what you have so far</a:t>
            </a:r>
            <a:endParaRPr lang="en-US" sz="1300" dirty="0"/>
          </a:p>
        </p:txBody>
      </p:sp>
      <p:sp>
        <p:nvSpPr>
          <p:cNvPr id="6" name="Shape 4"/>
          <p:cNvSpPr/>
          <p:nvPr/>
        </p:nvSpPr>
        <p:spPr>
          <a:xfrm>
            <a:off x="457200" y="1280160"/>
            <a:ext cx="2645664" cy="2834640"/>
          </a:xfrm>
          <a:prstGeom prst="roundRect">
            <a:avLst>
              <a:gd name="adj" fmla="val 2765"/>
            </a:avLst>
          </a:prstGeom>
          <a:solidFill>
            <a:srgbClr val="F4F2EE"/>
          </a:solidFill>
          <a:ln w="12700">
            <a:solidFill>
              <a:srgbClr val="D9D4CC"/>
            </a:solidFill>
            <a:prstDash val="solid"/>
          </a:ln>
        </p:spPr>
      </p:sp>
      <p:sp>
        <p:nvSpPr>
          <p:cNvPr id="7" name="Text 5"/>
          <p:cNvSpPr txBox="1"/>
          <p:nvPr/>
        </p:nvSpPr>
        <p:spPr>
          <a:xfrm>
            <a:off x="548640" y="1335024"/>
            <a:ext cx="2462784" cy="2724912"/>
          </a:xfrm>
          <a:prstGeom prst="rect">
            <a:avLst/>
          </a:prstGeom>
          <a:noFill/>
          <a:ln/>
        </p:spPr>
        <p:txBody>
          <a:bodyPr wrap="square" lIns="0" tIns="0" rIns="0" bIns="0" rtlCol="0" anchor="ctr"/>
          <a:lstStyle/>
          <a:p>
            <a:pPr algn="ctr" indent="0" marL="0">
              <a:buNone/>
            </a:pPr>
            <a:r>
              <a:rPr lang="en-US" sz="1500" b="1" dirty="0">
                <a:solidFill>
                  <a:srgbClr val="1B1F24"/>
                </a:solidFill>
                <a:latin typeface="Calibri" pitchFamily="34" charset="0"/>
                <a:ea typeface="Calibri" pitchFamily="34" charset="-122"/>
                <a:cs typeface="Calibri" pitchFamily="34" charset="-120"/>
              </a:rPr>
              <a:t>Noticeable issues</a:t>
            </a:r>
            <a:endParaRPr lang="en-US" sz="1500" dirty="0"/>
          </a:p>
          <a:p>
            <a:pPr algn="ctr" indent="0" marL="0">
              <a:buNone/>
            </a:pPr>
            <a:r>
              <a:rPr lang="en-US" sz="1200" dirty="0">
                <a:solidFill>
                  <a:srgbClr val="5B6B7B"/>
                </a:solidFill>
                <a:latin typeface="Calibri" pitchFamily="34" charset="0"/>
                <a:ea typeface="Calibri" pitchFamily="34" charset="-122"/>
                <a:cs typeface="Calibri" pitchFamily="34" charset="-120"/>
              </a:rPr>
              <a:t>What stood out in this chapter, and what surprised you?</a:t>
            </a:r>
            <a:endParaRPr lang="en-US" sz="1500" dirty="0"/>
          </a:p>
        </p:txBody>
      </p:sp>
      <p:sp>
        <p:nvSpPr>
          <p:cNvPr id="8" name="Shape 6"/>
          <p:cNvSpPr/>
          <p:nvPr/>
        </p:nvSpPr>
        <p:spPr>
          <a:xfrm>
            <a:off x="3249168" y="1280160"/>
            <a:ext cx="2645664" cy="2834640"/>
          </a:xfrm>
          <a:prstGeom prst="roundRect">
            <a:avLst>
              <a:gd name="adj" fmla="val 2765"/>
            </a:avLst>
          </a:prstGeom>
          <a:solidFill>
            <a:srgbClr val="F7931A"/>
          </a:solidFill>
          <a:ln w="12700">
            <a:solidFill>
              <a:srgbClr val="F7931A"/>
            </a:solidFill>
            <a:prstDash val="solid"/>
          </a:ln>
        </p:spPr>
      </p:sp>
      <p:sp>
        <p:nvSpPr>
          <p:cNvPr id="9" name="Text 7"/>
          <p:cNvSpPr txBox="1"/>
          <p:nvPr/>
        </p:nvSpPr>
        <p:spPr>
          <a:xfrm>
            <a:off x="3340608" y="1335024"/>
            <a:ext cx="2462784" cy="2724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Interesting details</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What is the most interesting point? Do you find Bitcoin inspiring, and why?</a:t>
            </a:r>
            <a:endParaRPr lang="en-US" sz="1500" dirty="0"/>
          </a:p>
        </p:txBody>
      </p:sp>
      <p:sp>
        <p:nvSpPr>
          <p:cNvPr id="10" name="Shape 8"/>
          <p:cNvSpPr/>
          <p:nvPr/>
        </p:nvSpPr>
        <p:spPr>
          <a:xfrm>
            <a:off x="6041136" y="1280160"/>
            <a:ext cx="2645664" cy="2834640"/>
          </a:xfrm>
          <a:prstGeom prst="roundRect">
            <a:avLst>
              <a:gd name="adj" fmla="val 2765"/>
            </a:avLst>
          </a:prstGeom>
          <a:solidFill>
            <a:srgbClr val="F4F2EE"/>
          </a:solidFill>
          <a:ln w="12700">
            <a:solidFill>
              <a:srgbClr val="D9D4CC"/>
            </a:solidFill>
            <a:prstDash val="solid"/>
          </a:ln>
        </p:spPr>
      </p:sp>
      <p:sp>
        <p:nvSpPr>
          <p:cNvPr id="11" name="Text 9"/>
          <p:cNvSpPr txBox="1"/>
          <p:nvPr/>
        </p:nvSpPr>
        <p:spPr>
          <a:xfrm>
            <a:off x="6132576" y="1335024"/>
            <a:ext cx="2462784" cy="2724912"/>
          </a:xfrm>
          <a:prstGeom prst="rect">
            <a:avLst/>
          </a:prstGeom>
          <a:noFill/>
          <a:ln/>
        </p:spPr>
        <p:txBody>
          <a:bodyPr wrap="square" lIns="0" tIns="0" rIns="0" bIns="0" rtlCol="0" anchor="ctr"/>
          <a:lstStyle/>
          <a:p>
            <a:pPr algn="ctr" indent="0" marL="0">
              <a:buNone/>
            </a:pPr>
            <a:r>
              <a:rPr lang="en-US" sz="1500" b="1" dirty="0">
                <a:solidFill>
                  <a:srgbClr val="1B1F24"/>
                </a:solidFill>
                <a:latin typeface="Calibri" pitchFamily="34" charset="0"/>
                <a:ea typeface="Calibri" pitchFamily="34" charset="-122"/>
                <a:cs typeface="Calibri" pitchFamily="34" charset="-120"/>
              </a:rPr>
              <a:t>Unclarified issues</a:t>
            </a:r>
            <a:endParaRPr lang="en-US" sz="1500" dirty="0"/>
          </a:p>
          <a:p>
            <a:pPr algn="ctr" indent="0" marL="0">
              <a:buNone/>
            </a:pPr>
            <a:r>
              <a:rPr lang="en-US" sz="1200" dirty="0">
                <a:solidFill>
                  <a:srgbClr val="5B6B7B"/>
                </a:solidFill>
                <a:latin typeface="Calibri" pitchFamily="34" charset="0"/>
                <a:ea typeface="Calibri" pitchFamily="34" charset="-122"/>
                <a:cs typeface="Calibri" pitchFamily="34" charset="-120"/>
              </a:rPr>
              <a:t>Which points need further explanation? Select one critical issue from the chapter and explain it.</a:t>
            </a:r>
            <a:endParaRPr lang="en-US" sz="15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Check yourself</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From the chapter's own question bank</a:t>
            </a:r>
            <a:endParaRPr lang="en-US" sz="1300" dirty="0"/>
          </a:p>
        </p:txBody>
      </p:sp>
      <p:sp>
        <p:nvSpPr>
          <p:cNvPr id="6" name="Shape 4"/>
          <p:cNvSpPr/>
          <p:nvPr/>
        </p:nvSpPr>
        <p:spPr>
          <a:xfrm>
            <a:off x="457200" y="1280160"/>
            <a:ext cx="8229600" cy="1024128"/>
          </a:xfrm>
          <a:prstGeom prst="roundRect">
            <a:avLst>
              <a:gd name="adj" fmla="val 7143"/>
            </a:avLst>
          </a:prstGeom>
          <a:solidFill>
            <a:srgbClr val="F4F2EE"/>
          </a:solidFill>
          <a:ln w="12700">
            <a:solidFill>
              <a:srgbClr val="D9D4CC"/>
            </a:solidFill>
            <a:prstDash val="solid"/>
          </a:ln>
        </p:spPr>
      </p:sp>
      <p:sp>
        <p:nvSpPr>
          <p:cNvPr id="7" name="Text 5"/>
          <p:cNvSpPr txBox="1"/>
          <p:nvPr/>
        </p:nvSpPr>
        <p:spPr>
          <a:xfrm>
            <a:off x="621792" y="134416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What does the pair BTC/USD in a price quotation name?</a:t>
            </a:r>
            <a:endParaRPr lang="en-US" sz="1250" dirty="0"/>
          </a:p>
        </p:txBody>
      </p:sp>
      <p:sp>
        <p:nvSpPr>
          <p:cNvPr id="8" name="Text 6"/>
          <p:cNvSpPr txBox="1"/>
          <p:nvPr/>
        </p:nvSpPr>
        <p:spPr>
          <a:xfrm>
            <a:off x="621792" y="164592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A wallet format for United States users</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The currency pair whose exchange rate is being quoted</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The fee rate charged by an exchange</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A standard of the Bitcoin Improvement Proposals that fixes how finely a bitcoin may be divided</a:t>
            </a:r>
            <a:endParaRPr lang="en-US" sz="1100" dirty="0"/>
          </a:p>
        </p:txBody>
      </p:sp>
      <p:sp>
        <p:nvSpPr>
          <p:cNvPr id="9" name="Shape 7"/>
          <p:cNvSpPr/>
          <p:nvPr/>
        </p:nvSpPr>
        <p:spPr>
          <a:xfrm>
            <a:off x="457200" y="2377440"/>
            <a:ext cx="8229600" cy="1024128"/>
          </a:xfrm>
          <a:prstGeom prst="roundRect">
            <a:avLst>
              <a:gd name="adj" fmla="val 7143"/>
            </a:avLst>
          </a:prstGeom>
          <a:solidFill>
            <a:srgbClr val="F4F2EE"/>
          </a:solidFill>
          <a:ln w="12700">
            <a:solidFill>
              <a:srgbClr val="D9D4CC"/>
            </a:solidFill>
            <a:prstDash val="solid"/>
          </a:ln>
        </p:spPr>
      </p:sp>
      <p:sp>
        <p:nvSpPr>
          <p:cNvPr id="10" name="Text 8"/>
          <p:cNvSpPr txBox="1"/>
          <p:nvPr/>
        </p:nvSpPr>
        <p:spPr>
          <a:xfrm>
            <a:off x="621792" y="244144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Why is the total supply described as just below 21 million rather than exactly 21 million?</a:t>
            </a:r>
            <a:endParaRPr lang="en-US" sz="1250" dirty="0"/>
          </a:p>
        </p:txBody>
      </p:sp>
      <p:sp>
        <p:nvSpPr>
          <p:cNvPr id="11" name="Text 9"/>
          <p:cNvSpPr txBox="1"/>
          <p:nvPr/>
        </p:nvSpPr>
        <p:spPr>
          <a:xfrm>
            <a:off x="621792" y="274320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Because some bitcoin has been lost by its owners</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Because the first block created no bitcoin at all</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Because each era's subsidy is rounded down to whole satoshis</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Because the cap written into the software is lowered a little at each of the halvings of the subsidy</a:t>
            </a:r>
            <a:endParaRPr lang="en-US" sz="1100" dirty="0"/>
          </a:p>
        </p:txBody>
      </p:sp>
      <p:sp>
        <p:nvSpPr>
          <p:cNvPr id="12" name="Shape 10"/>
          <p:cNvSpPr/>
          <p:nvPr/>
        </p:nvSpPr>
        <p:spPr>
          <a:xfrm>
            <a:off x="457200" y="3474720"/>
            <a:ext cx="8229600" cy="1024128"/>
          </a:xfrm>
          <a:prstGeom prst="roundRect">
            <a:avLst>
              <a:gd name="adj" fmla="val 7143"/>
            </a:avLst>
          </a:prstGeom>
          <a:solidFill>
            <a:srgbClr val="F4F2EE"/>
          </a:solidFill>
          <a:ln w="12700">
            <a:solidFill>
              <a:srgbClr val="D9D4CC"/>
            </a:solidFill>
            <a:prstDash val="solid"/>
          </a:ln>
        </p:spPr>
      </p:sp>
      <p:sp>
        <p:nvSpPr>
          <p:cNvPr id="13" name="Text 11"/>
          <p:cNvSpPr txBox="1"/>
          <p:nvPr/>
        </p:nvSpPr>
        <p:spPr>
          <a:xfrm>
            <a:off x="621792" y="353872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What does it mean that bitcoin has a floating exchange rate?</a:t>
            </a:r>
            <a:endParaRPr lang="en-US" sz="1250" dirty="0"/>
          </a:p>
        </p:txBody>
      </p:sp>
      <p:sp>
        <p:nvSpPr>
          <p:cNvPr id="14" name="Text 12"/>
          <p:cNvSpPr txBox="1"/>
          <p:nvPr/>
        </p:nvSpPr>
        <p:spPr>
          <a:xfrm>
            <a:off x="621792" y="384048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Its value is pegged to a fixed amount of gold</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Its value is recalculated once a day by a pricing service and published for all markets</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Its value against another currency moves with supply and demand in each market</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Its value is the same in every market by protocol rule</a:t>
            </a:r>
            <a:endParaRPr lang="en-US" sz="11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Check yourself, continued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From the chapter's own question bank</a:t>
            </a:r>
            <a:endParaRPr lang="en-US" sz="1300" dirty="0"/>
          </a:p>
        </p:txBody>
      </p:sp>
      <p:sp>
        <p:nvSpPr>
          <p:cNvPr id="6" name="Shape 4"/>
          <p:cNvSpPr/>
          <p:nvPr/>
        </p:nvSpPr>
        <p:spPr>
          <a:xfrm>
            <a:off x="457200" y="1280160"/>
            <a:ext cx="8229600" cy="1024128"/>
          </a:xfrm>
          <a:prstGeom prst="roundRect">
            <a:avLst>
              <a:gd name="adj" fmla="val 7143"/>
            </a:avLst>
          </a:prstGeom>
          <a:solidFill>
            <a:srgbClr val="F4F2EE"/>
          </a:solidFill>
          <a:ln w="12700">
            <a:solidFill>
              <a:srgbClr val="D9D4CC"/>
            </a:solidFill>
            <a:prstDash val="solid"/>
          </a:ln>
        </p:spPr>
      </p:sp>
      <p:sp>
        <p:nvSpPr>
          <p:cNvPr id="7" name="Text 5"/>
          <p:cNvSpPr txBox="1"/>
          <p:nvPr/>
        </p:nvSpPr>
        <p:spPr>
          <a:xfrm>
            <a:off x="621792" y="134416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Why does the chapter call the bitcoin currency deflationary over the long term?</a:t>
            </a:r>
            <a:endParaRPr lang="en-US" sz="1250" dirty="0"/>
          </a:p>
        </p:txBody>
      </p:sp>
      <p:sp>
        <p:nvSpPr>
          <p:cNvPr id="8" name="Text 6"/>
          <p:cNvSpPr txBox="1"/>
          <p:nvPr/>
        </p:nvSpPr>
        <p:spPr>
          <a:xfrm>
            <a:off x="621792" y="164592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Because every halving destroys half of the existing bitcoin</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Because the rate at which new bitcoin is issued keeps falling and finally stops</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Because the price of bitcoin must fall as more is mined</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Because the transaction fees of each block are burned rather than paid out to its miner</a:t>
            </a:r>
            <a:endParaRPr lang="en-US" sz="1100" dirty="0"/>
          </a:p>
        </p:txBody>
      </p:sp>
      <p:sp>
        <p:nvSpPr>
          <p:cNvPr id="9" name="Shape 7"/>
          <p:cNvSpPr/>
          <p:nvPr/>
        </p:nvSpPr>
        <p:spPr>
          <a:xfrm>
            <a:off x="457200" y="2377440"/>
            <a:ext cx="8229600" cy="1024128"/>
          </a:xfrm>
          <a:prstGeom prst="roundRect">
            <a:avLst>
              <a:gd name="adj" fmla="val 7143"/>
            </a:avLst>
          </a:prstGeom>
          <a:solidFill>
            <a:srgbClr val="F4F2EE"/>
          </a:solidFill>
          <a:ln w="12700">
            <a:solidFill>
              <a:srgbClr val="D9D4CC"/>
            </a:solidFill>
            <a:prstDash val="solid"/>
          </a:ln>
        </p:spPr>
      </p:sp>
      <p:sp>
        <p:nvSpPr>
          <p:cNvPr id="10" name="Text 8"/>
          <p:cNvSpPr txBox="1"/>
          <p:nvPr/>
        </p:nvSpPr>
        <p:spPr>
          <a:xfrm>
            <a:off x="621792" y="244144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Why is proof of work hard to produce but easy to check?</a:t>
            </a:r>
            <a:endParaRPr lang="en-US" sz="1250" dirty="0"/>
          </a:p>
        </p:txBody>
      </p:sp>
      <p:sp>
        <p:nvSpPr>
          <p:cNvPr id="11" name="Text 9"/>
          <p:cNvSpPr txBox="1"/>
          <p:nvPr/>
        </p:nvSpPr>
        <p:spPr>
          <a:xfrm>
            <a:off x="621792" y="274320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The hash function is secret, so only miners can compute it</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Verification is carried out by a central server that keeps a list of all the answers found so far</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The work is encrypted and only nodes hold the key</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Finding an input whose hash has the required form needs many tries, but one hash verifies it</a:t>
            </a:r>
            <a:endParaRPr lang="en-US" sz="1100" dirty="0"/>
          </a:p>
        </p:txBody>
      </p:sp>
      <p:sp>
        <p:nvSpPr>
          <p:cNvPr id="12" name="Shape 10"/>
          <p:cNvSpPr/>
          <p:nvPr/>
        </p:nvSpPr>
        <p:spPr>
          <a:xfrm>
            <a:off x="457200" y="3474720"/>
            <a:ext cx="8229600" cy="1024128"/>
          </a:xfrm>
          <a:prstGeom prst="roundRect">
            <a:avLst>
              <a:gd name="adj" fmla="val 7143"/>
            </a:avLst>
          </a:prstGeom>
          <a:solidFill>
            <a:srgbClr val="F4F2EE"/>
          </a:solidFill>
          <a:ln w="12700">
            <a:solidFill>
              <a:srgbClr val="D9D4CC"/>
            </a:solidFill>
            <a:prstDash val="solid"/>
          </a:ln>
        </p:spPr>
      </p:sp>
      <p:sp>
        <p:nvSpPr>
          <p:cNvPr id="13" name="Text 11"/>
          <p:cNvSpPr txBox="1"/>
          <p:nvPr/>
        </p:nvSpPr>
        <p:spPr>
          <a:xfrm>
            <a:off x="621792" y="353872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Why is Bitcoin Core called the reference implementation?</a:t>
            </a:r>
            <a:endParaRPr lang="en-US" sz="1250" dirty="0"/>
          </a:p>
        </p:txBody>
      </p:sp>
      <p:sp>
        <p:nvSpPr>
          <p:cNvPr id="14" name="Text 12"/>
          <p:cNvSpPr txBox="1"/>
          <p:nvPr/>
        </p:nvSpPr>
        <p:spPr>
          <a:xfrm>
            <a:off x="621792" y="384048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It descends from the first implementation and shows how each part should be built</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It is the only program that the consensus rules allow to connect to the network</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It is maintained by the person who invented Bitcoin</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It defines the exchange rate that wallets display</a:t>
            </a:r>
            <a:endParaRPr lang="en-US" sz="11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Check yourself, continued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From the chapter's own question bank</a:t>
            </a:r>
            <a:endParaRPr lang="en-US" sz="1300" dirty="0"/>
          </a:p>
        </p:txBody>
      </p:sp>
      <p:sp>
        <p:nvSpPr>
          <p:cNvPr id="6" name="Shape 4"/>
          <p:cNvSpPr/>
          <p:nvPr/>
        </p:nvSpPr>
        <p:spPr>
          <a:xfrm>
            <a:off x="457200" y="1280160"/>
            <a:ext cx="8229600" cy="1024128"/>
          </a:xfrm>
          <a:prstGeom prst="roundRect">
            <a:avLst>
              <a:gd name="adj" fmla="val 7143"/>
            </a:avLst>
          </a:prstGeom>
          <a:solidFill>
            <a:srgbClr val="F4F2EE"/>
          </a:solidFill>
          <a:ln w="12700">
            <a:solidFill>
              <a:srgbClr val="D9D4CC"/>
            </a:solidFill>
            <a:prstDash val="solid"/>
          </a:ln>
        </p:spPr>
      </p:sp>
      <p:sp>
        <p:nvSpPr>
          <p:cNvPr id="7" name="Text 5"/>
          <p:cNvSpPr txBox="1"/>
          <p:nvPr/>
        </p:nvSpPr>
        <p:spPr>
          <a:xfrm>
            <a:off x="621792" y="134416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What security disadvantage does the chapter name for desktop wallets?</a:t>
            </a:r>
            <a:endParaRPr lang="en-US" sz="1250" dirty="0"/>
          </a:p>
        </p:txBody>
      </p:sp>
      <p:sp>
        <p:nvSpPr>
          <p:cNvPr id="8" name="Text 6"/>
          <p:cNvSpPr txBox="1"/>
          <p:nvPr/>
        </p:nvSpPr>
        <p:spPr>
          <a:xfrm>
            <a:off x="621792" y="164592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Desktop computers cannot store private keys at all</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General-purpose operating systems are often insecure and poorly configured</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Desktop wallets are obliged to hand their keys over to a third-party service</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Desktop wallets cannot validate transactions</a:t>
            </a:r>
            <a:endParaRPr lang="en-US" sz="1100" dirty="0"/>
          </a:p>
        </p:txBody>
      </p:sp>
      <p:sp>
        <p:nvSpPr>
          <p:cNvPr id="9" name="Shape 7"/>
          <p:cNvSpPr/>
          <p:nvPr/>
        </p:nvSpPr>
        <p:spPr>
          <a:xfrm>
            <a:off x="457200" y="2377440"/>
            <a:ext cx="8229600" cy="1024128"/>
          </a:xfrm>
          <a:prstGeom prst="roundRect">
            <a:avLst>
              <a:gd name="adj" fmla="val 7143"/>
            </a:avLst>
          </a:prstGeom>
          <a:solidFill>
            <a:srgbClr val="F4F2EE"/>
          </a:solidFill>
          <a:ln w="12700">
            <a:solidFill>
              <a:srgbClr val="D9D4CC"/>
            </a:solidFill>
            <a:prstDash val="solid"/>
          </a:ln>
        </p:spPr>
      </p:sp>
      <p:sp>
        <p:nvSpPr>
          <p:cNvPr id="10" name="Text 8"/>
          <p:cNvSpPr txBox="1"/>
          <p:nvPr/>
        </p:nvSpPr>
        <p:spPr>
          <a:xfrm>
            <a:off x="621792" y="244144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Why do most mobile wallets reduce their user's privacy?</a:t>
            </a:r>
            <a:endParaRPr lang="en-US" sz="1250" dirty="0"/>
          </a:p>
        </p:txBody>
      </p:sp>
      <p:sp>
        <p:nvSpPr>
          <p:cNvPr id="11" name="Text 9"/>
          <p:cNvSpPr txBox="1"/>
          <p:nvPr/>
        </p:nvSpPr>
        <p:spPr>
          <a:xfrm>
            <a:off x="621792" y="274320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They publish the user's name together with each payment</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They store a copy of the recovery code on the server of the phone's manufacturer</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They fetch information from remote servers, disclosing addresses and balances</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They sign transactions with a key shared by all users</a:t>
            </a:r>
            <a:endParaRPr lang="en-US" sz="1100" dirty="0"/>
          </a:p>
        </p:txBody>
      </p:sp>
      <p:sp>
        <p:nvSpPr>
          <p:cNvPr id="12" name="Shape 10"/>
          <p:cNvSpPr/>
          <p:nvPr/>
        </p:nvSpPr>
        <p:spPr>
          <a:xfrm>
            <a:off x="457200" y="3474720"/>
            <a:ext cx="8229600" cy="1024128"/>
          </a:xfrm>
          <a:prstGeom prst="roundRect">
            <a:avLst>
              <a:gd name="adj" fmla="val 7143"/>
            </a:avLst>
          </a:prstGeom>
          <a:solidFill>
            <a:srgbClr val="F4F2EE"/>
          </a:solidFill>
          <a:ln w="12700">
            <a:solidFill>
              <a:srgbClr val="D9D4CC"/>
            </a:solidFill>
            <a:prstDash val="solid"/>
          </a:ln>
        </p:spPr>
      </p:sp>
      <p:sp>
        <p:nvSpPr>
          <p:cNvPr id="13" name="Text 11"/>
          <p:cNvSpPr txBox="1"/>
          <p:nvPr/>
        </p:nvSpPr>
        <p:spPr>
          <a:xfrm>
            <a:off x="621792" y="353872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What does a web wallet usually give up in exchange for ease of use?</a:t>
            </a:r>
            <a:endParaRPr lang="en-US" sz="1250" dirty="0"/>
          </a:p>
        </p:txBody>
      </p:sp>
      <p:sp>
        <p:nvSpPr>
          <p:cNvPr id="14" name="Text 12"/>
          <p:cNvSpPr txBox="1"/>
          <p:nvPr/>
        </p:nvSpPr>
        <p:spPr>
          <a:xfrm>
            <a:off x="621792" y="384048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The ability to receive payments at all</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The ability to show a balance converted into the user's national currency</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Any connection to the Bitcoin network</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Control of the keys, which the third-party server holds</a:t>
            </a:r>
            <a:endParaRPr lang="en-US" sz="11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Sources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citation on these slides, as the chapter's research record defines it</a:t>
            </a:r>
            <a:endParaRPr lang="en-US" sz="1300" dirty="0"/>
          </a:p>
        </p:txBody>
      </p:sp>
      <p:sp>
        <p:nvSpPr>
          <p:cNvPr id="6" name="Text 4"/>
          <p:cNvSpPr txBox="1"/>
          <p:nvPr/>
        </p:nvSpPr>
        <p:spPr>
          <a:xfrm>
            <a:off x="457200" y="1280160"/>
            <a:ext cx="8229600" cy="301752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Antonopoulos and Harding, 2023 — Mastering Bitcoin, 3rd edition - Chapter 12, Mining and Consensus</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Bitcoin Core, 2026 — Bitcoin Core source tree at commit 05bc2f53ce0cb239c17dbdd6b261bd2db7d2a940, committed 2026-09-28 : src/consensus/amount.h, src/validation.cpp, src/kernel/chainparams.cpp, src/pow.cpp, src/consensus/params.h</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Bitcoin Wiki, 2026 — Controlled supply - Bitcoin Wiki, revision 71037</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Blockstream, 2026 — Public block data of block 0 and block 840000, saved from the Blockstream Esplora API</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Nakamoto, 2008 — Bitcoin: A Peer-to-Peer Electronic Cash System</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Wikipedia contributors, 2026 — Wikipedia: QR code, Operating system, Distributed computing, Malware, Phishing, Pseudonym and Deflation</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Back, 2002 — Hashcash - A Denial of Service Counter-Measure</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Lamport et al., 1982 — The Byzantine Generals Problem, by Lamport, Shostak and Pease, ACM Transactions on Programming Languages and Systems</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Palatinus et al., 2013 — BIP 39 - Mnemonic code for generating deterministic keys, by Palatinus, Rusnak, Voisine and Bowe</a:t>
            </a:r>
            <a:endParaRPr lang="en-US" sz="1100" dirty="0"/>
          </a:p>
        </p:txBody>
      </p:sp>
      <p:sp>
        <p:nvSpPr>
          <p:cNvPr id="7" name="Text 5"/>
          <p:cNvSpPr txBox="1"/>
          <p:nvPr/>
        </p:nvSpPr>
        <p:spPr>
          <a:xfrm>
            <a:off x="457200" y="4498848"/>
            <a:ext cx="8229600" cy="274320"/>
          </a:xfrm>
          <a:prstGeom prst="rect">
            <a:avLst/>
          </a:prstGeom>
          <a:noFill/>
          <a:ln/>
        </p:spPr>
        <p:txBody>
          <a:bodyPr wrap="square" lIns="0" tIns="0" rIns="0" bIns="0" rtlCol="0" anchor="t"/>
          <a:lstStyle/>
          <a:p>
            <a:pPr algn="l" indent="0" marL="0">
              <a:buNone/>
            </a:pPr>
            <a:r>
              <a:rPr lang="en-US" sz="1000" i="1" dirty="0">
                <a:solidFill>
                  <a:srgbClr val="5B6B7B"/>
                </a:solidFill>
                <a:latin typeface="Calibri" pitchFamily="34" charset="0"/>
                <a:ea typeface="Calibri" pitchFamily="34" charset="-122"/>
                <a:cs typeface="Calibri" pitchFamily="34" charset="-120"/>
              </a:rPr>
              <a:t>Slides adapt Mastering Bitcoin, 3rd edition, under CC BY-SA 4.0; this deck is shared under the same licence.</a:t>
            </a:r>
            <a:endParaRPr lang="en-US" sz="10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Sources, continued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citation on these slides, as the chapter's research record defines it</a:t>
            </a:r>
            <a:endParaRPr lang="en-US" sz="1300" dirty="0"/>
          </a:p>
        </p:txBody>
      </p:sp>
      <p:sp>
        <p:nvSpPr>
          <p:cNvPr id="6" name="Text 4"/>
          <p:cNvSpPr txBox="1"/>
          <p:nvPr/>
        </p:nvSpPr>
        <p:spPr>
          <a:xfrm>
            <a:off x="457200" y="1280160"/>
            <a:ext cx="8229600" cy="301752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Open Source Initiative, 2026 — The Open Source Definition</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Mozilla Developer Network, 2026 — MDN Web Docs glossary: Internet, Protocol, HTTP, Browser, Server, API, URI, Database and Cryptography</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Shirey, 2007 — RFC 4949 - Internet Security Glossary, Version 2</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World Wide Web Consortium, 2022 — Decentralized Identifiers (DIDs) v1.0, W3C Recommendation, 19 July 2022 - the date of version 1.1.0 of this record, 9 July 2022, is corrected here from the specification's own header</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World Wide Web Consortium, 2025 — Verifiable Credentials Data Model v2.0, W3C Recommendation, 15 May 2025 - the date of version 1.1.0 of this record, 5 May 2025, is corrected here from the specification's own header</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Eastlake and Hansen, 2011 — RFC 6234 - US Secure Hash Algorithms (SHA and SHA-based HMAC and HKDF)</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Moriarty et al., 2017 — RFC 8018 - PKCS #5: Password-Based Cryptography Specification Version 2.1, by Moriarty, Kaliski and Rusch</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Fielding et al., 2022 — RFC 9112 - HTTP/1.1, by Fielding, Nottingham and Reschke</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Berners-Lee et al., 2005 — RFC 3986 - Uniform Resource Identifier (URI): Generic Syntax, by Berners-Lee, Fielding and Masinter</a:t>
            </a:r>
            <a:endParaRPr lang="en-US" sz="1100" dirty="0"/>
          </a:p>
        </p:txBody>
      </p:sp>
      <p:sp>
        <p:nvSpPr>
          <p:cNvPr id="7" name="Text 5"/>
          <p:cNvSpPr txBox="1"/>
          <p:nvPr/>
        </p:nvSpPr>
        <p:spPr>
          <a:xfrm>
            <a:off x="457200" y="4498848"/>
            <a:ext cx="8229600" cy="274320"/>
          </a:xfrm>
          <a:prstGeom prst="rect">
            <a:avLst/>
          </a:prstGeom>
          <a:noFill/>
          <a:ln/>
        </p:spPr>
        <p:txBody>
          <a:bodyPr wrap="square" lIns="0" tIns="0" rIns="0" bIns="0" rtlCol="0" anchor="t"/>
          <a:lstStyle/>
          <a:p>
            <a:pPr algn="l" indent="0" marL="0">
              <a:buNone/>
            </a:pPr>
            <a:r>
              <a:rPr lang="en-US" sz="1000" i="1" dirty="0">
                <a:solidFill>
                  <a:srgbClr val="5B6B7B"/>
                </a:solidFill>
                <a:latin typeface="Calibri" pitchFamily="34" charset="0"/>
                <a:ea typeface="Calibri" pitchFamily="34" charset="-122"/>
                <a:cs typeface="Calibri" pitchFamily="34" charset="-120"/>
              </a:rPr>
              <a:t>Slides adapt Mastering Bitcoin, 3rd edition, under CC BY-SA 4.0; this deck is shared under the same licence.</a:t>
            </a:r>
            <a:endParaRPr lang="en-US" sz="10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Sources, continued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citation on these slides, as the chapter's research record defines it</a:t>
            </a:r>
            <a:endParaRPr lang="en-US" sz="1300" dirty="0"/>
          </a:p>
        </p:txBody>
      </p:sp>
      <p:sp>
        <p:nvSpPr>
          <p:cNvPr id="6" name="Text 4"/>
          <p:cNvSpPr txBox="1"/>
          <p:nvPr/>
        </p:nvSpPr>
        <p:spPr>
          <a:xfrm>
            <a:off x="457200" y="1280160"/>
            <a:ext cx="8229600" cy="301752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Schneider and Corallo, 2012 — BIP 21 - URI Scheme, status Closed, proposed replacement BIP 321</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Josefsson, 2006 — RFC 4648 - The Base16, Base32, and Base64 Data Encodings</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Poon and Dryja, 2016 — The Bitcoin Lightning Network: Scalable Off-Chain Instant Payments, draft version 0.5.9.2</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World Wide Web Consortium, 2026 — About W3C - the World Wide Web Consortium</a:t>
            </a:r>
            <a:endParaRPr lang="en-US" sz="1100" dirty="0"/>
          </a:p>
        </p:txBody>
      </p:sp>
      <p:sp>
        <p:nvSpPr>
          <p:cNvPr id="7" name="Text 5"/>
          <p:cNvSpPr txBox="1"/>
          <p:nvPr/>
        </p:nvSpPr>
        <p:spPr>
          <a:xfrm>
            <a:off x="457200" y="4498848"/>
            <a:ext cx="8229600" cy="274320"/>
          </a:xfrm>
          <a:prstGeom prst="rect">
            <a:avLst/>
          </a:prstGeom>
          <a:noFill/>
          <a:ln/>
        </p:spPr>
        <p:txBody>
          <a:bodyPr wrap="square" lIns="0" tIns="0" rIns="0" bIns="0" rtlCol="0" anchor="t"/>
          <a:lstStyle/>
          <a:p>
            <a:pPr algn="l" indent="0" marL="0">
              <a:buNone/>
            </a:pPr>
            <a:r>
              <a:rPr lang="en-US" sz="1000" i="1" dirty="0">
                <a:solidFill>
                  <a:srgbClr val="5B6B7B"/>
                </a:solidFill>
                <a:latin typeface="Calibri" pitchFamily="34" charset="0"/>
                <a:ea typeface="Calibri" pitchFamily="34" charset="-122"/>
                <a:cs typeface="Calibri" pitchFamily="34" charset="-120"/>
              </a:rPr>
              <a:t>Slides adapt Mastering Bitcoin, 3rd edition, under CC BY-SA 4.0; this deck is shared under the same licence.</a:t>
            </a:r>
            <a:endParaRPr lang="en-US" sz="10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1B1F24"/>
        </a:solidFill>
      </p:bgPr>
    </p:bg>
    <p:spTree>
      <p:nvGrpSpPr>
        <p:cNvPr id="1" name=""/>
        <p:cNvGrpSpPr/>
        <p:nvPr/>
      </p:nvGrpSpPr>
      <p:grpSpPr>
        <a:xfrm>
          <a:off x="0" y="0"/>
          <a:ext cx="0" cy="0"/>
          <a:chOff x="0" y="0"/>
          <a:chExt cx="0" cy="0"/>
        </a:xfrm>
      </p:grpSpPr>
      <p:sp>
        <p:nvSpPr>
          <p:cNvPr id="2" name="Text 0"/>
          <p:cNvSpPr txBox="1"/>
          <p:nvPr/>
        </p:nvSpPr>
        <p:spPr>
          <a:xfrm>
            <a:off x="548640" y="1508760"/>
            <a:ext cx="8046720" cy="8686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Next week: Chapter 2 - How Bitcoin Works</a:t>
            </a:r>
            <a:endParaRPr lang="en-US" sz="2800" dirty="0"/>
          </a:p>
        </p:txBody>
      </p:sp>
      <p:sp>
        <p:nvSpPr>
          <p:cNvPr id="3" name="Text 1"/>
          <p:cNvSpPr txBox="1"/>
          <p:nvPr/>
        </p:nvSpPr>
        <p:spPr>
          <a:xfrm>
            <a:off x="548640" y="2468880"/>
            <a:ext cx="8046720" cy="731520"/>
          </a:xfrm>
          <a:prstGeom prst="rect">
            <a:avLst/>
          </a:prstGeom>
          <a:noFill/>
          <a:ln/>
        </p:spPr>
        <p:txBody>
          <a:bodyPr wrap="square" lIns="0" tIns="0" rIns="0" bIns="0" rtlCol="0" anchor="t"/>
          <a:lstStyle/>
          <a:p>
            <a:pPr indent="0" marL="0">
              <a:buNone/>
            </a:pPr>
            <a:r>
              <a:rPr lang="en-US" sz="1600" dirty="0">
                <a:solidFill>
                  <a:srgbClr val="F7931A"/>
                </a:solidFill>
                <a:latin typeface="Calibri" pitchFamily="34" charset="0"/>
                <a:ea typeface="Calibri" pitchFamily="34" charset="-122"/>
                <a:cs typeface="Calibri" pitchFamily="34" charset="-120"/>
              </a:rPr>
              <a:t>Before then: work through the chapter 1 page, and run its examples in the playground.</a:t>
            </a:r>
            <a:endParaRPr lang="en-US" sz="1600" dirty="0"/>
          </a:p>
        </p:txBody>
      </p:sp>
      <p:sp>
        <p:nvSpPr>
          <p:cNvPr id="4" name="Text 2"/>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1DA"/>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107</Slides>
  <Notes>107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107</vt:i4>
      </vt:variant>
    </vt:vector>
  </HeadingPairs>
  <TitlesOfParts>
    <vt:vector size="11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 Introduction</dc:title>
  <dc:subject>PptxGenJS Presentation</dc:subject>
  <dc:creator>Yusuf Altunel</dc:creator>
  <cp:lastModifiedBy>Yusuf Altunel</cp:lastModifiedBy>
  <cp:revision>1</cp:revision>
  <dcterms:created xsi:type="dcterms:W3CDTF">2026-10-04T18:40:37Z</dcterms:created>
  <dcterms:modified xsi:type="dcterms:W3CDTF">2026-10-04T18:40:37Z</dcterms:modified>
  <cp:version>1.2.0</cp:version>
</cp:coreProperties>
</file>