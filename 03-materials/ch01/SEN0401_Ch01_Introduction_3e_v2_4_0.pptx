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Block subsidy per era of 210,000 blocks (BTC)</a:t>
            </a:r>
          </a:p>
        </c:rich>
      </c:tx>
      <c:layout/>
      <c:overlay val="0"/>
    </c:title>
    <c:autoTitleDeleted val="0"/>
    <c:plotArea>
      <c:layout/>
      <c:lineChart>
        <c:varyColors val="0"/>
        <c:ser>
          <c:idx val="0"/>
          <c:order val="0"/>
          <c:tx>
            <c:strRef>
              <c:f>Sheet1!$B$1</c:f>
              <c:strCache>
                <c:ptCount val="1"/>
                <c:pt idx="0">
                  <c:v>subsidy</c:v>
                </c:pt>
              </c:strCache>
            </c:strRef>
          </c:tx>
          <c:spPr>
            <a:solidFill>
              <a:srgbClr val="D97A14"/>
            </a:solidFill>
            <a:ln w="31750" cap="flat">
              <a:solidFill>
                <a:srgbClr val="D97A1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Sheet1!$A$2:$A$10</c:f>
              <c:multiLvlStrCache>
                <c:ptCount val="9"/>
                <c:lvl>
                  <c:pt idx="0">
                    <c:v>era 0</c:v>
                  </c:pt>
                  <c:pt idx="1">
                    <c:v>era 1</c:v>
                  </c:pt>
                  <c:pt idx="2">
                    <c:v>era 2</c:v>
                  </c:pt>
                  <c:pt idx="3">
                    <c:v>era 3</c:v>
                  </c:pt>
                  <c:pt idx="4">
                    <c:v>era 4</c:v>
                  </c:pt>
                  <c:pt idx="5">
                    <c:v>era 5</c:v>
                  </c:pt>
                  <c:pt idx="6">
                    <c:v>era 6</c:v>
                  </c:pt>
                  <c:pt idx="7">
                    <c:v>era 7</c:v>
                  </c:pt>
                  <c:pt idx="8">
                    <c:v>era 8</c:v>
                  </c:pt>
                </c:lvl>
              </c:multiLvlStrCache>
            </c:multiLvlStrRef>
          </c:cat>
          <c:val>
            <c:numRef>
              <c:f>Sheet1!$B$2:$B$10</c:f>
              <c:numCache>
                <c:formatCode>General</c:formatCode>
                <c:ptCount val="9"/>
                <c:pt idx="0">
                  <c:v>50</c:v>
                </c:pt>
                <c:pt idx="1">
                  <c:v>25</c:v>
                </c:pt>
                <c:pt idx="2">
                  <c:v>12.5</c:v>
                </c:pt>
                <c:pt idx="3">
                  <c:v>6.25</c:v>
                </c:pt>
                <c:pt idx="4">
                  <c:v>3.125</c:v>
                </c:pt>
                <c:pt idx="5">
                  <c:v>1.5625</c:v>
                </c:pt>
                <c:pt idx="6">
                  <c:v>0.78125</c:v>
                </c:pt>
                <c:pt idx="7">
                  <c:v>0.390625</c:v>
                </c:pt>
                <c:pt idx="8">
                  <c:v>0.1953125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Introduction (Antonopoulos and Harding, 2023), free under CC BY-SA 4.0. This deck follows the chapter's own concept taxonomy: 90 concepts in 6 branches, of which 42 carry a worked example. Every number, hash, address and output on these slides was executed under Python 3.14.4 by the chapter's own examples and checked against the figure the chapter corpus records; the deck is refused by its checker if any of them stops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branches are the chapter's own: Money, Network, Wallet, Usage, Foundations, Nature. Say at the start that the order of the lecture is the order of the taxonomy, so that a student who opens the interactive page afterwards finds the same tree. Concepts are corpus-derived from the 3rd edition's chapter 1 through the Stage 1 research record; the explanations were rewritten for version 1.2.0 from the documents and files listed at the head of this module, each read for this version, with every quotation re-read from its saved copy and every number recomputed by a claim that the builder executes; the supporting concepts (the cryptographic primitives, the parts of the chain, the everyday computing terms, the two threats, the objects of a payment and the standards bodies) were added because an audit of the terms used in the explanations fo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course outcome aloud and say which part of it this chapter reaches. The chapter's objectives are the page's own and are what the question bank and the mock exam are written against. Course outcome LO-1 is recorded as a draft that the course owner has not yet approved, so present it as the direction of the course rather than as a settled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FULL TEXT: course page, chapter 1 - Money, Network, Wallet, Usage, Foundations,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(3 January 2009): The first Bitcoin block ever mined carries a piece of that morning's newspaper: 'The Times 03/Jan/2009 Chancellor on brink of second bailout for banks'. It proves the block could not have been made earlier than that headline, and at the same time records why the system was built - in the middle of a banking crisis, by someone who wanted money that needs no bailout and no bank.
SOURCE: Bitcoin genesis block coinbase text, block 0, 2009-01-03; The Times front page of 3 January 2009; https://en.wikipedia.org/wiki/Bitcoin (genesis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(3 January 2009): The first Bitcoin block ever mined carries a piece of that morning's newspaper: 'The Times 03/Jan/2009 Chancellor on brink of second bailout for banks'. It proves the block could not have been made earlier than that headline, and at the same time records why the system was built - in the middle of a banking crisis, by someone who wanted money that needs no bailout and no bank.
SOURCE: Bitcoin genesis block coinbase text, block 0, 2009-01-03; The Times front page of 3 January 2009; https://en.wikipedia.org/wiki/Bitcoin (genesis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(January 2009): Nine days after the genesis block, Satoshi Nakamoto sent 10 bitcoin to Hal Finney, a veteran cryptographer who had answered the whitepaper with curiosity instead of dismissal and famously tweeted 'Running bitcoin'. Finney had worked on PGP and had built the first reusable proof-of-work system years before Bitcoin existed - the first payment went to someone who had spent a career preparing for it.
SOURCE: Bitcoin block 170, 2009-01-12, the first bitcoin transaction (Satoshi Nakamoto to Hal Finney, 10 BTC); Hal Finney, 'Running bitcoin', twitter.com/halfin, 2009-01-10.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(1982 - 2008): Bitcoin was not a first attempt. David Chaum designed blind-signature ecash in the 1980s and his company DigiCash went bankrupt; Adam Back built Hashcash's proof-of-work in 1997 to price email spam; Wei Dai sketched b-money and Nick Szabo bit gold in 1998, both unbuilt for want of a way to agree without a leader. Satoshi's 2008 whitepaper cites them and adds the missing piece - proof-of-work as the voting weight of an open network - turning four decades of near-misses into a running system.
SOURCE: S. Nakamoto, 'Bitcoin: A Peer-to-Peer Electronic Cash System' (2008), references; A. Back, Hashcash (1997); W. Dai, b-money (1998); N. Szabo, bit gold; D. Chaum, 'Blind signatures for untraceable payments' (1982).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FULL TEXT: course page, chapter 1 -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(Yap, documented 1903): On the island of Yap, wealth was held in rai - limestone discs up to four metres wide, far too heavy to move. When a stone changed owners, the stone stayed where it lay; what changed was the community's shared memory of who owned it. One famous stone sank to the sea floor in transit, and the islanders kept trading it anyway, because everyone agreed it existed and whose it was.
SOURCE: W. H. Furness III, The Island of Stone Money (1910); Milton Friedman, 'The Island of Stone Money', Hoover Institution Working Paper E-91-3 (1991).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(c. 3000 BCE - 2009): Money keeps changing form: grain-ledger entries in Mesopotamia, the first struck coins in Lydia around 600 BCE, paper notes in Song-dynasty China, goldsmiths' receipts becoming bank money, and in 1971 the dollar's last tie to gold cut, leaving pure fiat. Cards and online banking then made most money digital - but always as entries in some institution's private ledger. Cryptocurrency is the next step on the same road: money that is only a ledger, but a public one no single institution keeps.
SOURCE: Standard monetary history: Lydian electrum coinage (c. 7th-6th century BCE); Song-dynasty jiaozi paper money; the 1971 Nixon gold-convertibility suspension; Mastering Bitcoin 3e, ch. 1, on bitcoin as digital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(c. 3000 BCE - 2009): Money keeps changing form: grain-ledger entries in Mesopotamia, the first struck coins in Lydia around 600 BCE, paper notes in Song-dynasty China, goldsmiths' receipts becoming bank money, and in 1971 the dollar's last tie to gold cut, leaving pure fiat. Cards and online banking then made most money digital - but always as entries in some institution's private ledger. Cryptocurrency is the next step on the same road: money that is only a ledger, but a public one no single institution keeps.
SOURCE: Standard monetary history: Lydian electrum coinage (c. 7th-6th century BCE); Song-dynasty jiaozi paper money; the 1971 Nixon gold-convertibility suspension; Mastering Bitcoin 3e, ch. 1, on bitcoin as digital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Unit section answers the first question that any money raises, namely what the money is called and in what pieces it is counted. It contains the name of the currency, with its distinction between the unit and the system, and the smallest subdivision that can be recorded, the satoshi.
ASK: How many satoshis buy a coffee at today's price?
FULL TEXT: course page, chapter 1 -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ASK: Why does the sum stop just short of 21 million?
FULL TEXT: course page, chapter 1 - Supply, Issuance.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FULL TEXT: course page, chapter 1 - Supply, Issuance.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Price section addresses a question that every newcomer asks, namely who sets the price of bitcoin. The chapter's short answer is that the price is set by markets (Antonopoulos and Harding, 2023).
FULL TEXT: course page, chapter 1 -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(22 May 2010): For Bitcoin's first year and a half, nobody knew what a bitcoin was worth, because nobody had ever bought anything with one. Then Laszlo Hanyecz, a Florida programmer, offered 10,000 BTC on a forum to anyone who would bring him two pizzas - and someone did. That order, the first known commercial purchase paid in bitcoin, is why 22 May is still celebrated as Bitcoin Pizza Day: it is the day a floating price began to exist.
SOURCE: Guinness World Records, 'First commercial Bitcoin transaction' (Laszlo Hanyecz, 2010-05-22, 10,000 BTC for two pizzas); bitcointalk.org thread 'Pizza for bitcoins?', May 2010.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point is a documented milestone - dollar parity in 2011, the first thousand in 2013, the 2017 and 2021 peaks - and the last one was fetched live from mempool.space and CoinGecko while this deck was built, agreeing within 0.1 percent.
ASK: Why does this chart need a log scale - what would it look like linear?
FULL TEXT: course page, chapter 1 - Price; story companion, PIZZA_VALUE.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FULL TEXT: course page, chapter 1 -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ASK: What breaks first in each picture if one machine lies?
FULL TEXT: course page, chapter 1 - Network,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FULL TEXT: course page, chapter 1 -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Consensus is the state in which the participants of the network agree on the same record of transactions.
FULL TEXT: course page, chapter 1 -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Consensus is the state in which the participants of the network agree on the same record of transactions.
FULL TEXT: course page, chapter 1 - Consensus,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FULL TEXT: course page, chapter 1 - Wallet,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FULL TEXT: course page, chapter 1 -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Key control is the question of who holds the private keys that unlock a wallet's funds. The chapter calls this a very important additional consideration and says that access to bitcoins is controlled by private keys, which are like very long PINs.
ASK: Which side was the exchange that lost its customers' coins on?
FULL TEXT: course page, chapter 1 - KeyControl, WalletPlatform,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(February 2014): Mt. Gox of Tokyo was once the world's largest bitcoin exchange, handling the large majority of all trades. In February 2014 it halted withdrawals, filed for bankruptcy and admitted that around 850,000 bitcoins held on customers' behalf were gone - the customers had balances on a website, but the keys, and therefore the coins, had been in someone else's hands all along. Creditors were still being repaid more than a decade later.
SOURCE: Mt. Gox bankruptcy filing, Tokyo District Court, 2014-02-28, reporting approximately 850,000 BTC missing (about 750,000 of them customers'); widely reported, e.g. en.wikipedia.org/wiki/Mt._Gox.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Backup section is about getting a wallet back after something goes wrong. It begins with the chapter's account of Alice's first start-up, when her noncustodial wallet produces a recovery code that can be used to restore it, and it goes on to the additional data that a recovery code does not contain, and to the payments that some technologies keep outside the public blockchain (Antonopoulos and Harding, 2023).
FULL TEXT: course page, chapter 1 - Backup, KeyControl.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Acquisition section lists the ways in which a newcomer obtains a first bitcoin, which is the practical problem a reader faces as soon as the wallet is installed.
FULL TEXT: course page, chapter 1 - Acquisition, Address,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FULL TEXT: course page, chapter 1 - Foundations.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FULL TEXT: course page, chapter 1 - Foundations,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FULL TEXT: course page, chapter 1 - Chain,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FULL TEXT: course page, chapter 1 -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Computing section explains the ordinary technology on which Bitcoin software runs and by which people reach it. It covers the internet and the rules that computers follow on it, the way programs talk to each other through interfaces, the way data is named and stored, the operating systems and browsers in which wallets live, and the units in which computers count.
FULL TEXT: course page, chapter 1 - Computing, Threats.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Nature branch answers a question that precedes all the others: what kind of thing is Bitcoin? Chapter 1 gives two complementary answers.
FULL TEXT: course page, chapter 1 - Nature, Characteristic,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Transfer section explains what happens when Joe sends bitcoin to Alice. It follows the payment from the moment he presses Send to the moment it is confirmed in a block, and it introduces the objects and ideas involved: the transaction, its inputs and outputs, the fee, the confirmation, the irreversibility, and the newer payments that never reach the public chain (Antonopoulos and Harding, 2023).
FULL TEXT: course page, chapter 1 - Transfer, SemanticBridge.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Everything on this slide is free. The whitepaper is nine pages - read it this week; the textbook is the one this course follows, free under CC BY-SA in the same repository our materials pin.
ASK: Who can find today's newest block on mempool.space before the break ends?
FULL TEXT: course page, chapter 1 - Standards,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Introduction (Antonopoulos and Harding, 2023), free under CC BY-SA 4.0. This deck follows the chapter's own concept taxonomy: 90 concepts in 6 branches, of which 42 carry a worked example. Every number, hash, address and output on these slides was executed under Python 3.14.4 by the chapter's own examples and checked against the figure the chapter corpus records; the deck is refused by its checker if any of them stops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github.com/bitcoinbook/bitcoinbook" TargetMode="External"/><Relationship Id="rId3" Type="http://schemas.openxmlformats.org/officeDocument/2006/relationships/hyperlink" Target="https://developer.bitcoin.org" TargetMode="External"/><Relationship Id="rId4" Type="http://schemas.openxmlformats.org/officeDocument/2006/relationships/hyperlink" Target="https://bitcoincore.org" TargetMode="External"/><Relationship Id="rId5" Type="http://schemas.openxmlformats.org/officeDocument/2006/relationships/hyperlink" Target="https://mempool.space" TargetMode="External"/><Relationship Id="rId6" Type="http://schemas.openxmlformats.org/officeDocument/2006/relationships/hyperlink" Target="https://blockstream.info" TargetMode="External"/><Relationship Id="rId7" Type="http://schemas.openxmlformats.org/officeDocument/2006/relationships/hyperlink" Target="https://www.coingecko.com" TargetMode="External"/><Relationship Id="rId8" Type="http://schemas.openxmlformats.org/officeDocument/2006/relationships/hyperlink" Target="https://bitcoin.stackexchange.com" TargetMode="External"/><Relationship Id="rId9" Type="http://schemas.openxmlformats.org/officeDocument/2006/relationships/hyperlink" Target="https://bitcointalk.org" TargetMode="External"/><Relationship Id="rId10" Type="http://schemas.openxmlformats.org/officeDocument/2006/relationships/hyperlink" Target="http://www.hashcash.org" TargetMode="External"/><Relationship Id="rId11" Type="http://schemas.openxmlformats.org/officeDocument/2006/relationships/hyperlink" Target="http://www.weidai.com/bmoney.txt" TargetMode="External"/><Relationship Id="rId12" Type="http://schemas.openxmlformats.org/officeDocument/2006/relationships/hyperlink" Target="https://www.youtube.com/watch?v=bBC-nXj3Ng4" TargetMode="External"/><Relationship Id="rId13" Type="http://schemas.openxmlformats.org/officeDocument/2006/relationships/slideLayout" Target="../slideLayouts/slideLayout1.xml"/><Relationship Id="rId1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 Introduction</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Bitcoin is, what it is made of, and why every part of it exists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1/assets/c1s24_protocol.png">    </p:cNvPr>
          <p:cNvPicPr>
            <a:picLocks noChangeAspect="1"/>
          </p:cNvPicPr>
          <p:nvPr/>
        </p:nvPicPr>
        <p:blipFill>
          <a:blip r:embed="rId1"/>
          <a:srcRect l="0" r="0" t="0" b="0"/>
          <a:stretch/>
        </p:blipFill>
        <p:spPr>
          <a:xfrm>
            <a:off x="5760720" y="1051560"/>
            <a:ext cx="3017520" cy="2377440"/>
          </a:xfrm>
          <a:prstGeom prst="rect">
            <a:avLst/>
          </a:prstGeom>
        </p:spPr>
      </p:pic>
      <p:sp>
        <p:nvSpPr>
          <p:cNvPr id="12" name="Text 9"/>
          <p:cNvSpPr txBox="1"/>
          <p:nvPr/>
        </p:nvSpPr>
        <p:spPr>
          <a:xfrm>
            <a:off x="5760720" y="344728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outcomes this session serves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course outcome, in the chapter's own parts</a:t>
            </a:r>
            <a:endParaRPr lang="en-US" sz="1300" dirty="0"/>
          </a:p>
        </p:txBody>
      </p:sp>
      <p:sp>
        <p:nvSpPr>
          <p:cNvPr id="6" name="Shape 4"/>
          <p:cNvSpPr/>
          <p:nvPr/>
        </p:nvSpPr>
        <p:spPr>
          <a:xfrm>
            <a:off x="457200" y="1371600"/>
            <a:ext cx="2590800" cy="1371600"/>
          </a:xfrm>
          <a:prstGeom prst="roundRect">
            <a:avLst>
              <a:gd name="adj" fmla="val 5333"/>
            </a:avLst>
          </a:prstGeom>
          <a:solidFill>
            <a:srgbClr val="F2ECE1"/>
          </a:solidFill>
          <a:ln w="12700">
            <a:solidFill>
              <a:srgbClr val="DFD6C7"/>
            </a:solidFill>
            <a:prstDash val="solid"/>
          </a:ln>
        </p:spPr>
      </p:sp>
      <p:sp>
        <p:nvSpPr>
          <p:cNvPr id="7" name="Text 5"/>
          <p:cNvSpPr txBox="1"/>
          <p:nvPr/>
        </p:nvSpPr>
        <p:spPr>
          <a:xfrm>
            <a:off x="5669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LO-1</a:t>
            </a:r>
            <a:endParaRPr lang="en-US" sz="2800" dirty="0"/>
          </a:p>
        </p:txBody>
      </p:sp>
      <p:sp>
        <p:nvSpPr>
          <p:cNvPr id="8" name="Text 6"/>
          <p:cNvSpPr txBox="1"/>
          <p:nvPr/>
        </p:nvSpPr>
        <p:spPr>
          <a:xfrm>
            <a:off x="5669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explain Bitcoin as money and as a system</a:t>
            </a:r>
            <a:endParaRPr lang="en-US" sz="1150" dirty="0"/>
          </a:p>
        </p:txBody>
      </p:sp>
      <p:sp>
        <p:nvSpPr>
          <p:cNvPr id="9" name="Shape 7"/>
          <p:cNvSpPr/>
          <p:nvPr/>
        </p:nvSpPr>
        <p:spPr>
          <a:xfrm>
            <a:off x="3276600" y="1371600"/>
            <a:ext cx="2590800" cy="1371600"/>
          </a:xfrm>
          <a:prstGeom prst="roundRect">
            <a:avLst>
              <a:gd name="adj" fmla="val 5333"/>
            </a:avLst>
          </a:prstGeom>
          <a:solidFill>
            <a:srgbClr val="F2ECE1"/>
          </a:solidFill>
          <a:ln w="12700">
            <a:solidFill>
              <a:srgbClr val="DFD6C7"/>
            </a:solidFill>
            <a:prstDash val="solid"/>
          </a:ln>
        </p:spPr>
      </p:sp>
      <p:sp>
        <p:nvSpPr>
          <p:cNvPr id="10" name="Text 8"/>
          <p:cNvSpPr txBox="1"/>
          <p:nvPr/>
        </p:nvSpPr>
        <p:spPr>
          <a:xfrm>
            <a:off x="33863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6</a:t>
            </a:r>
            <a:endParaRPr lang="en-US" sz="2800" dirty="0"/>
          </a:p>
        </p:txBody>
      </p:sp>
      <p:sp>
        <p:nvSpPr>
          <p:cNvPr id="11" name="Text 9"/>
          <p:cNvSpPr txBox="1"/>
          <p:nvPr/>
        </p:nvSpPr>
        <p:spPr>
          <a:xfrm>
            <a:off x="33863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subject branches in this chapter</a:t>
            </a:r>
            <a:endParaRPr lang="en-US" sz="1150" dirty="0"/>
          </a:p>
        </p:txBody>
      </p:sp>
      <p:sp>
        <p:nvSpPr>
          <p:cNvPr id="12" name="Shape 10"/>
          <p:cNvSpPr/>
          <p:nvPr/>
        </p:nvSpPr>
        <p:spPr>
          <a:xfrm>
            <a:off x="6096000" y="1371600"/>
            <a:ext cx="2590800" cy="1371600"/>
          </a:xfrm>
          <a:prstGeom prst="roundRect">
            <a:avLst>
              <a:gd name="adj" fmla="val 5333"/>
            </a:avLst>
          </a:prstGeom>
          <a:solidFill>
            <a:srgbClr val="F2ECE1"/>
          </a:solidFill>
          <a:ln w="12700">
            <a:solidFill>
              <a:srgbClr val="DFD6C7"/>
            </a:solidFill>
            <a:prstDash val="solid"/>
          </a:ln>
        </p:spPr>
      </p:sp>
      <p:sp>
        <p:nvSpPr>
          <p:cNvPr id="13" name="Text 11"/>
          <p:cNvSpPr txBox="1"/>
          <p:nvPr/>
        </p:nvSpPr>
        <p:spPr>
          <a:xfrm>
            <a:off x="62057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117</a:t>
            </a:r>
            <a:endParaRPr lang="en-US" sz="2800" dirty="0"/>
          </a:p>
        </p:txBody>
      </p:sp>
      <p:sp>
        <p:nvSpPr>
          <p:cNvPr id="14" name="Text 12"/>
          <p:cNvSpPr txBox="1"/>
          <p:nvPr/>
        </p:nvSpPr>
        <p:spPr>
          <a:xfrm>
            <a:off x="62057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concepts, every one on the course page</a:t>
            </a:r>
            <a:endParaRPr lang="en-US" sz="1150" dirty="0"/>
          </a:p>
        </p:txBody>
      </p:sp>
      <p:sp>
        <p:nvSpPr>
          <p:cNvPr id="15" name="Text 13"/>
          <p:cNvSpPr txBox="1"/>
          <p:nvPr/>
        </p:nvSpPr>
        <p:spPr>
          <a:xfrm>
            <a:off x="457200" y="2971800"/>
            <a:ext cx="8229600" cy="15544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History, units and the supply schedule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parts: keys, addresses, transactions, blocks, nodes, mining</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problems each part was designed to solve</a:t>
            </a:r>
            <a:endParaRPr lang="en-US" sz="15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outcome, one chapter, every concept on the page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38</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2710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71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34440"/>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is the unit of Bitcoin's currency?</a:t>
            </a:r>
            <a:endParaRPr lang="en-US" sz="1250" dirty="0"/>
          </a:p>
        </p:txBody>
      </p:sp>
      <p:sp>
        <p:nvSpPr>
          <p:cNvPr id="9" name="Shape 7"/>
          <p:cNvSpPr/>
          <p:nvPr/>
        </p:nvSpPr>
        <p:spPr>
          <a:xfrm>
            <a:off x="457200" y="1754342"/>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5434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17766"/>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Who creates new bitcoin?</a:t>
            </a:r>
            <a:endParaRPr lang="en-US" sz="1250" dirty="0"/>
          </a:p>
        </p:txBody>
      </p:sp>
      <p:sp>
        <p:nvSpPr>
          <p:cNvPr id="12" name="Shape 10"/>
          <p:cNvSpPr/>
          <p:nvPr/>
        </p:nvSpPr>
        <p:spPr>
          <a:xfrm>
            <a:off x="457200" y="2237667"/>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766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01091"/>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problem of earlier digital money does Bitcoin solve?</a:t>
            </a:r>
            <a:endParaRPr lang="en-US" sz="1250" dirty="0"/>
          </a:p>
        </p:txBody>
      </p:sp>
      <p:sp>
        <p:nvSpPr>
          <p:cNvPr id="15" name="Shape 13"/>
          <p:cNvSpPr/>
          <p:nvPr/>
        </p:nvSpPr>
        <p:spPr>
          <a:xfrm>
            <a:off x="457200" y="2720993"/>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72099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84417"/>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can a wallet be classified by platform?</a:t>
            </a:r>
            <a:endParaRPr lang="en-US" sz="1250" dirty="0"/>
          </a:p>
        </p:txBody>
      </p:sp>
      <p:sp>
        <p:nvSpPr>
          <p:cNvPr id="18" name="Shape 16"/>
          <p:cNvSpPr/>
          <p:nvPr/>
        </p:nvSpPr>
        <p:spPr>
          <a:xfrm>
            <a:off x="457200" y="3204319"/>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2043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67743"/>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happens?</a:t>
            </a:r>
            <a:endParaRPr lang="en-US" sz="1250" dirty="0"/>
          </a:p>
        </p:txBody>
      </p:sp>
      <p:sp>
        <p:nvSpPr>
          <p:cNvPr id="21" name="Shape 19"/>
          <p:cNvSpPr/>
          <p:nvPr/>
        </p:nvSpPr>
        <p:spPr>
          <a:xfrm>
            <a:off x="457200" y="3687645"/>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8764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651069"/>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technical terms does the chapter use without defining them?</a:t>
            </a:r>
            <a:endParaRPr lang="en-US" sz="1250" dirty="0"/>
          </a:p>
        </p:txBody>
      </p:sp>
      <p:sp>
        <p:nvSpPr>
          <p:cNvPr id="24" name="Shape 22"/>
          <p:cNvSpPr/>
          <p:nvPr/>
        </p:nvSpPr>
        <p:spPr>
          <a:xfrm>
            <a:off x="457200" y="4170970"/>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17097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134394"/>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figures of the chapter are rules of the protocol and which are values at a date?</a:t>
            </a:r>
            <a:endParaRPr lang="en-US" sz="125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1 is yours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38</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Each branch is a question the chapter answers; the grey lists are the concepts that answer it, every one explained on the course page.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1</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Money</a:t>
            </a:r>
            <a:endParaRPr lang="en-US" sz="13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Unit  ·  Supply  ·  Price  ·  Issuance</a:t>
            </a:r>
            <a:endParaRPr lang="en-US" sz="1200" dirty="0"/>
          </a:p>
        </p:txBody>
      </p:sp>
      <p:sp>
        <p:nvSpPr>
          <p:cNvPr id="15" name="Shape 13"/>
          <p:cNvSpPr/>
          <p:nvPr/>
        </p:nvSpPr>
        <p:spPr>
          <a:xfrm flipV="1">
            <a:off x="1783080" y="2227478"/>
            <a:ext cx="502920" cy="762610"/>
          </a:xfrm>
          <a:prstGeom prst="line">
            <a:avLst/>
          </a:prstGeom>
          <a:noFill/>
          <a:ln w="13970">
            <a:solidFill>
              <a:srgbClr val="C9BFAE"/>
            </a:solidFill>
            <a:prstDash val="solid"/>
          </a:ln>
        </p:spPr>
      </p:sp>
      <p:sp>
        <p:nvSpPr>
          <p:cNvPr id="16" name="Shape 14"/>
          <p:cNvSpPr/>
          <p:nvPr/>
        </p:nvSpPr>
        <p:spPr>
          <a:xfrm>
            <a:off x="2331720" y="1989734"/>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198973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8" name="Shape 16"/>
          <p:cNvSpPr/>
          <p:nvPr/>
        </p:nvSpPr>
        <p:spPr>
          <a:xfrm>
            <a:off x="4023360" y="2227478"/>
            <a:ext cx="274320" cy="0"/>
          </a:xfrm>
          <a:prstGeom prst="line">
            <a:avLst/>
          </a:prstGeom>
          <a:noFill/>
          <a:ln w="13970">
            <a:solidFill>
              <a:srgbClr val="C9BFAE"/>
            </a:solidFill>
            <a:prstDash val="solid"/>
          </a:ln>
        </p:spPr>
      </p:sp>
      <p:sp>
        <p:nvSpPr>
          <p:cNvPr id="19" name="Shape 17"/>
          <p:cNvSpPr/>
          <p:nvPr/>
        </p:nvSpPr>
        <p:spPr>
          <a:xfrm>
            <a:off x="4297680" y="2008022"/>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00802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Consensus  ·  History  ·  Standards</a:t>
            </a:r>
            <a:endParaRPr lang="en-US" sz="1200" dirty="0"/>
          </a:p>
        </p:txBody>
      </p:sp>
      <p:sp>
        <p:nvSpPr>
          <p:cNvPr id="21" name="Shape 19"/>
          <p:cNvSpPr/>
          <p:nvPr/>
        </p:nvSpPr>
        <p:spPr>
          <a:xfrm flipV="1">
            <a:off x="1783080" y="2735885"/>
            <a:ext cx="502920" cy="254203"/>
          </a:xfrm>
          <a:prstGeom prst="line">
            <a:avLst/>
          </a:prstGeom>
          <a:noFill/>
          <a:ln w="13970">
            <a:solidFill>
              <a:srgbClr val="C9BFAE"/>
            </a:solidFill>
            <a:prstDash val="solid"/>
          </a:ln>
        </p:spPr>
      </p:sp>
      <p:sp>
        <p:nvSpPr>
          <p:cNvPr id="22" name="Shape 20"/>
          <p:cNvSpPr/>
          <p:nvPr/>
        </p:nvSpPr>
        <p:spPr>
          <a:xfrm>
            <a:off x="2331720" y="2498141"/>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2498141"/>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Wallet</a:t>
            </a:r>
            <a:endParaRPr lang="en-US" sz="1300" dirty="0"/>
          </a:p>
        </p:txBody>
      </p:sp>
      <p:sp>
        <p:nvSpPr>
          <p:cNvPr id="24" name="Shape 22"/>
          <p:cNvSpPr/>
          <p:nvPr/>
        </p:nvSpPr>
        <p:spPr>
          <a:xfrm>
            <a:off x="4023360" y="2735885"/>
            <a:ext cx="274320" cy="0"/>
          </a:xfrm>
          <a:prstGeom prst="line">
            <a:avLst/>
          </a:prstGeom>
          <a:noFill/>
          <a:ln w="13970">
            <a:solidFill>
              <a:srgbClr val="C9BFAE"/>
            </a:solidFill>
            <a:prstDash val="solid"/>
          </a:ln>
        </p:spPr>
      </p:sp>
      <p:sp>
        <p:nvSpPr>
          <p:cNvPr id="25" name="Shape 23"/>
          <p:cNvSpPr/>
          <p:nvPr/>
        </p:nvSpPr>
        <p:spPr>
          <a:xfrm>
            <a:off x="4297680" y="2516429"/>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2516429"/>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Wallet Platform  ·  Node Type  ·  Key Control  ·  Backup</a:t>
            </a:r>
            <a:endParaRPr lang="en-US" sz="1200" dirty="0"/>
          </a:p>
        </p:txBody>
      </p:sp>
      <p:sp>
        <p:nvSpPr>
          <p:cNvPr id="27" name="Shape 25"/>
          <p:cNvSpPr/>
          <p:nvPr/>
        </p:nvSpPr>
        <p:spPr>
          <a:xfrm>
            <a:off x="1783080" y="2990088"/>
            <a:ext cx="502920" cy="254203"/>
          </a:xfrm>
          <a:prstGeom prst="line">
            <a:avLst/>
          </a:prstGeom>
          <a:noFill/>
          <a:ln w="13970">
            <a:solidFill>
              <a:srgbClr val="C9BFAE"/>
            </a:solidFill>
            <a:prstDash val="solid"/>
          </a:ln>
        </p:spPr>
      </p:sp>
      <p:sp>
        <p:nvSpPr>
          <p:cNvPr id="28" name="Shape 26"/>
          <p:cNvSpPr/>
          <p:nvPr/>
        </p:nvSpPr>
        <p:spPr>
          <a:xfrm>
            <a:off x="2331720" y="3006547"/>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3006547"/>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Usage</a:t>
            </a:r>
            <a:endParaRPr lang="en-US" sz="1300" dirty="0"/>
          </a:p>
        </p:txBody>
      </p:sp>
      <p:sp>
        <p:nvSpPr>
          <p:cNvPr id="30" name="Shape 28"/>
          <p:cNvSpPr/>
          <p:nvPr/>
        </p:nvSpPr>
        <p:spPr>
          <a:xfrm>
            <a:off x="4023360" y="3244291"/>
            <a:ext cx="274320" cy="0"/>
          </a:xfrm>
          <a:prstGeom prst="line">
            <a:avLst/>
          </a:prstGeom>
          <a:noFill/>
          <a:ln w="13970">
            <a:solidFill>
              <a:srgbClr val="C9BFAE"/>
            </a:solidFill>
            <a:prstDash val="solid"/>
          </a:ln>
        </p:spPr>
      </p:sp>
      <p:sp>
        <p:nvSpPr>
          <p:cNvPr id="31" name="Shape 29"/>
          <p:cNvSpPr/>
          <p:nvPr/>
        </p:nvSpPr>
        <p:spPr>
          <a:xfrm>
            <a:off x="4297680" y="3024835"/>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3024835"/>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Address  ·  Transfer  ·  Semantic Bridge  ·  Acquisition</a:t>
            </a:r>
            <a:endParaRPr lang="en-US" sz="1200" dirty="0"/>
          </a:p>
        </p:txBody>
      </p:sp>
      <p:sp>
        <p:nvSpPr>
          <p:cNvPr id="33" name="Shape 31"/>
          <p:cNvSpPr/>
          <p:nvPr/>
        </p:nvSpPr>
        <p:spPr>
          <a:xfrm>
            <a:off x="1783080" y="2990088"/>
            <a:ext cx="502920" cy="762610"/>
          </a:xfrm>
          <a:prstGeom prst="line">
            <a:avLst/>
          </a:prstGeom>
          <a:noFill/>
          <a:ln w="13970">
            <a:solidFill>
              <a:srgbClr val="C9BFAE"/>
            </a:solidFill>
            <a:prstDash val="solid"/>
          </a:ln>
        </p:spPr>
      </p:sp>
      <p:sp>
        <p:nvSpPr>
          <p:cNvPr id="34" name="Shape 32"/>
          <p:cNvSpPr/>
          <p:nvPr/>
        </p:nvSpPr>
        <p:spPr>
          <a:xfrm>
            <a:off x="2331720" y="3514954"/>
            <a:ext cx="1691640" cy="475488"/>
          </a:xfrm>
          <a:prstGeom prst="roundRect">
            <a:avLst>
              <a:gd name="adj" fmla="val 15385"/>
            </a:avLst>
          </a:prstGeom>
          <a:solidFill>
            <a:srgbClr val="2F6D62"/>
          </a:solidFill>
          <a:ln w="9525">
            <a:solidFill>
              <a:srgbClr val="2F6D62"/>
            </a:solidFill>
            <a:prstDash val="solid"/>
          </a:ln>
        </p:spPr>
      </p:sp>
      <p:sp>
        <p:nvSpPr>
          <p:cNvPr id="35" name="Text 33"/>
          <p:cNvSpPr txBox="1"/>
          <p:nvPr/>
        </p:nvSpPr>
        <p:spPr>
          <a:xfrm>
            <a:off x="2386584" y="351495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Foundations</a:t>
            </a:r>
            <a:endParaRPr lang="en-US" sz="1300" dirty="0"/>
          </a:p>
        </p:txBody>
      </p:sp>
      <p:sp>
        <p:nvSpPr>
          <p:cNvPr id="36" name="Shape 34"/>
          <p:cNvSpPr/>
          <p:nvPr/>
        </p:nvSpPr>
        <p:spPr>
          <a:xfrm>
            <a:off x="4023360" y="3752698"/>
            <a:ext cx="274320" cy="0"/>
          </a:xfrm>
          <a:prstGeom prst="line">
            <a:avLst/>
          </a:prstGeom>
          <a:noFill/>
          <a:ln w="13970">
            <a:solidFill>
              <a:srgbClr val="C9BFAE"/>
            </a:solidFill>
            <a:prstDash val="solid"/>
          </a:ln>
        </p:spPr>
      </p:sp>
      <p:sp>
        <p:nvSpPr>
          <p:cNvPr id="37" name="Shape 35"/>
          <p:cNvSpPr/>
          <p:nvPr/>
        </p:nvSpPr>
        <p:spPr>
          <a:xfrm>
            <a:off x="4297680" y="3533242"/>
            <a:ext cx="4480560" cy="438912"/>
          </a:xfrm>
          <a:prstGeom prst="roundRect">
            <a:avLst>
              <a:gd name="adj" fmla="val 12500"/>
            </a:avLst>
          </a:prstGeom>
          <a:solidFill>
            <a:srgbClr val="F2ECE1"/>
          </a:solidFill>
          <a:ln w="6350">
            <a:solidFill>
              <a:srgbClr val="DFD6C7"/>
            </a:solidFill>
            <a:prstDash val="solid"/>
          </a:ln>
        </p:spPr>
      </p:sp>
      <p:sp>
        <p:nvSpPr>
          <p:cNvPr id="38" name="Text 36"/>
          <p:cNvSpPr txBox="1"/>
          <p:nvPr/>
        </p:nvSpPr>
        <p:spPr>
          <a:xfrm>
            <a:off x="4407408" y="353324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Cryptography  ·  Chain  ·  Computing  ·  Threats</a:t>
            </a:r>
            <a:endParaRPr lang="en-US" sz="1200" dirty="0"/>
          </a:p>
        </p:txBody>
      </p:sp>
      <p:sp>
        <p:nvSpPr>
          <p:cNvPr id="39" name="Shape 37"/>
          <p:cNvSpPr/>
          <p:nvPr/>
        </p:nvSpPr>
        <p:spPr>
          <a:xfrm>
            <a:off x="1783080" y="2990088"/>
            <a:ext cx="502920" cy="1271016"/>
          </a:xfrm>
          <a:prstGeom prst="line">
            <a:avLst/>
          </a:prstGeom>
          <a:noFill/>
          <a:ln w="13970">
            <a:solidFill>
              <a:srgbClr val="C9BFAE"/>
            </a:solidFill>
            <a:prstDash val="solid"/>
          </a:ln>
        </p:spPr>
      </p:sp>
      <p:sp>
        <p:nvSpPr>
          <p:cNvPr id="40" name="Shape 38"/>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41" name="Text 39"/>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Nature</a:t>
            </a:r>
            <a:endParaRPr lang="en-US" sz="1300" dirty="0"/>
          </a:p>
        </p:txBody>
      </p:sp>
      <p:sp>
        <p:nvSpPr>
          <p:cNvPr id="42" name="Shape 40"/>
          <p:cNvSpPr/>
          <p:nvPr/>
        </p:nvSpPr>
        <p:spPr>
          <a:xfrm>
            <a:off x="4023360" y="4261104"/>
            <a:ext cx="274320" cy="0"/>
          </a:xfrm>
          <a:prstGeom prst="line">
            <a:avLst/>
          </a:prstGeom>
          <a:noFill/>
          <a:ln w="13970">
            <a:solidFill>
              <a:srgbClr val="C9BFAE"/>
            </a:solidFill>
            <a:prstDash val="solid"/>
          </a:ln>
        </p:spPr>
      </p:sp>
      <p:sp>
        <p:nvSpPr>
          <p:cNvPr id="43" name="Shape 41"/>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44" name="Text 42"/>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Characteristic  ·  Architecture</a:t>
            </a:r>
            <a:endParaRPr lang="en-US" sz="1200" dirty="0"/>
          </a:p>
        </p:txBody>
      </p:sp>
      <p:sp>
        <p:nvSpPr>
          <p:cNvPr id="45" name="Shape 43"/>
          <p:cNvSpPr/>
          <p:nvPr/>
        </p:nvSpPr>
        <p:spPr>
          <a:xfrm>
            <a:off x="457200" y="4636008"/>
            <a:ext cx="91440" cy="310896"/>
          </a:xfrm>
          <a:prstGeom prst="rect">
            <a:avLst/>
          </a:prstGeom>
          <a:solidFill>
            <a:srgbClr val="D97A14"/>
          </a:solidFill>
          <a:ln w="12700">
            <a:solidFill>
              <a:srgbClr val="D97A14"/>
            </a:solidFill>
            <a:prstDash val="solid"/>
          </a:ln>
        </p:spPr>
      </p:sp>
      <p:sp>
        <p:nvSpPr>
          <p:cNvPr id="46" name="Text 4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branches - every slide today lives on this map</a:t>
            </a:r>
            <a:endParaRPr lang="en-US" sz="1350" dirty="0"/>
          </a:p>
        </p:txBody>
      </p:sp>
      <p:sp>
        <p:nvSpPr>
          <p:cNvPr id="47" name="Text 4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38</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Origins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Three stories that explain why Bitcoin looks the way it does</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headline in block 0</a:t>
            </a:r>
            <a:pPr algn="ctr" indent="0" marL="0">
              <a:buNone/>
            </a:pP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first payment</a:t>
            </a:r>
            <a:pPr algn="ctr" indent="0" marL="0">
              <a:buNone/>
            </a:pP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Forty years of attempts</a:t>
            </a:r>
            <a:pPr algn="ctr" indent="0" marL="0">
              <a:buNone/>
            </a:pP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38</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newspaper headline carved into block zero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3 January 2009</a:t>
            </a:r>
            <a:endParaRPr lang="en-US" sz="1300" dirty="0"/>
          </a:p>
        </p:txBody>
      </p:sp>
      <p:pic>
        <p:nvPicPr>
          <p:cNvPr id="6" name="Image 0" descr="../../03-materials/ch01/assets/genesis_hexdump.png">    </p:cNvPr>
          <p:cNvPicPr>
            <a:picLocks noChangeAspect="1"/>
          </p:cNvPicPr>
          <p:nvPr/>
        </p:nvPicPr>
        <p:blipFill>
          <a:blip r:embed="rId1"/>
          <a:srcRect l="0" r="0" t="0" b="0"/>
          <a:stretch/>
        </p:blipFill>
        <p:spPr>
          <a:xfrm>
            <a:off x="457200" y="1298448"/>
            <a:ext cx="5394960" cy="2743200"/>
          </a:xfrm>
          <a:prstGeom prst="rect">
            <a:avLst/>
          </a:prstGeom>
        </p:spPr>
      </p:pic>
      <p:sp>
        <p:nvSpPr>
          <p:cNvPr id="7" name="Text 4"/>
          <p:cNvSpPr txBox="1"/>
          <p:nvPr/>
        </p:nvSpPr>
        <p:spPr>
          <a:xfrm>
            <a:off x="457200" y="4059936"/>
            <a:ext cx="5394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block 0's real 285 bytes, fetched from the live chain for this deck; its hash re-verified in the build</a:t>
            </a:r>
            <a:endParaRPr lang="en-US" sz="900" dirty="0"/>
          </a:p>
        </p:txBody>
      </p:sp>
      <p:sp>
        <p:nvSpPr>
          <p:cNvPr id="8" name="Shape 5"/>
          <p:cNvSpPr/>
          <p:nvPr/>
        </p:nvSpPr>
        <p:spPr>
          <a:xfrm>
            <a:off x="6080760" y="1298448"/>
            <a:ext cx="2606040" cy="1920240"/>
          </a:xfrm>
          <a:prstGeom prst="rect">
            <a:avLst/>
          </a:prstGeom>
          <a:solidFill>
            <a:srgbClr val="FFFDF7"/>
          </a:solidFill>
          <a:ln w="15875">
            <a:solidFill>
              <a:srgbClr val="B9AE9C"/>
            </a:solidFill>
            <a:prstDash val="solid"/>
          </a:ln>
          <a:effectLst>
            <a:outerShdw sx="100000" sy="100000" kx="0" ky="0" algn="bl" rotWithShape="0" blurRad="76200" dist="25400" dir="2700000">
              <a:srgbClr val="000000">
                <a:alpha val="25000"/>
              </a:srgbClr>
            </a:outerShdw>
          </a:effectLst>
        </p:spPr>
      </p:sp>
      <p:sp>
        <p:nvSpPr>
          <p:cNvPr id="9" name="Text 6"/>
          <p:cNvSpPr txBox="1"/>
          <p:nvPr/>
        </p:nvSpPr>
        <p:spPr>
          <a:xfrm>
            <a:off x="6080760" y="1408176"/>
            <a:ext cx="2606040" cy="457200"/>
          </a:xfrm>
          <a:prstGeom prst="rect">
            <a:avLst/>
          </a:prstGeom>
          <a:noFill/>
          <a:ln/>
        </p:spPr>
        <p:txBody>
          <a:bodyPr wrap="square" lIns="0" tIns="0" rIns="0" bIns="0" rtlCol="0" anchor="ctr"/>
          <a:lstStyle/>
          <a:p>
            <a:pPr algn="ctr" indent="0" marL="0">
              <a:buNone/>
            </a:pPr>
            <a:r>
              <a:rPr lang="en-US" sz="1400" b="1" dirty="0">
                <a:solidFill>
                  <a:srgbClr val="1A1A1A"/>
                </a:solidFill>
                <a:latin typeface="Times New Roman" pitchFamily="34" charset="0"/>
                <a:ea typeface="Times New Roman" pitchFamily="34" charset="-122"/>
                <a:cs typeface="Times New Roman" pitchFamily="34" charset="-120"/>
              </a:rPr>
              <a:t>The Times</a:t>
            </a:r>
            <a:endParaRPr lang="en-US" sz="1400" dirty="0"/>
          </a:p>
        </p:txBody>
      </p:sp>
      <p:sp>
        <p:nvSpPr>
          <p:cNvPr id="10" name="Shape 7"/>
          <p:cNvSpPr/>
          <p:nvPr/>
        </p:nvSpPr>
        <p:spPr>
          <a:xfrm>
            <a:off x="6309360" y="1920240"/>
            <a:ext cx="2148840" cy="0"/>
          </a:xfrm>
          <a:prstGeom prst="line">
            <a:avLst/>
          </a:prstGeom>
          <a:noFill/>
          <a:ln w="12700">
            <a:solidFill>
              <a:srgbClr val="1A1A1A"/>
            </a:solidFill>
            <a:prstDash val="solid"/>
          </a:ln>
        </p:spPr>
      </p:sp>
      <p:sp>
        <p:nvSpPr>
          <p:cNvPr id="11" name="Text 8"/>
          <p:cNvSpPr txBox="1"/>
          <p:nvPr/>
        </p:nvSpPr>
        <p:spPr>
          <a:xfrm>
            <a:off x="6080760" y="1956816"/>
            <a:ext cx="2606040" cy="274320"/>
          </a:xfrm>
          <a:prstGeom prst="rect">
            <a:avLst/>
          </a:prstGeom>
          <a:noFill/>
          <a:ln/>
        </p:spPr>
        <p:txBody>
          <a:bodyPr wrap="square" lIns="0" tIns="0" rIns="0" bIns="0" rtlCol="0" anchor="ctr"/>
          <a:lstStyle/>
          <a:p>
            <a:pPr algn="ctr" indent="0" marL="0">
              <a:buNone/>
            </a:pPr>
            <a:r>
              <a:rPr lang="en-US" sz="1050" i="1" dirty="0">
                <a:solidFill>
                  <a:srgbClr val="444444"/>
                </a:solidFill>
                <a:latin typeface="Times New Roman" pitchFamily="34" charset="0"/>
                <a:ea typeface="Times New Roman" pitchFamily="34" charset="-122"/>
                <a:cs typeface="Times New Roman" pitchFamily="34" charset="-120"/>
              </a:rPr>
              <a:t>Saturday January 3 2009</a:t>
            </a:r>
            <a:endParaRPr lang="en-US" sz="1050" dirty="0"/>
          </a:p>
        </p:txBody>
      </p:sp>
      <p:sp>
        <p:nvSpPr>
          <p:cNvPr id="12" name="Text 9"/>
          <p:cNvSpPr txBox="1"/>
          <p:nvPr/>
        </p:nvSpPr>
        <p:spPr>
          <a:xfrm>
            <a:off x="6245352" y="2194560"/>
            <a:ext cx="2276856" cy="868680"/>
          </a:xfrm>
          <a:prstGeom prst="rect">
            <a:avLst/>
          </a:prstGeom>
          <a:noFill/>
          <a:ln/>
        </p:spPr>
        <p:txBody>
          <a:bodyPr wrap="square" lIns="0" tIns="0" rIns="0" bIns="0" rtlCol="0" anchor="ctr"/>
          <a:lstStyle/>
          <a:p>
            <a:pPr algn="ctr" indent="0" marL="0">
              <a:buNone/>
            </a:pPr>
            <a:r>
              <a:rPr lang="en-US" sz="1150" b="1" dirty="0">
                <a:solidFill>
                  <a:srgbClr val="1A1A1A"/>
                </a:solidFill>
                <a:latin typeface="Times New Roman" pitchFamily="34" charset="0"/>
                <a:ea typeface="Times New Roman" pitchFamily="34" charset="-122"/>
                <a:cs typeface="Times New Roman" pitchFamily="34" charset="-120"/>
              </a:rPr>
              <a:t>Chancellor on brink of second bailout for banks</a:t>
            </a:r>
            <a:endParaRPr lang="en-US" sz="1150" dirty="0"/>
          </a:p>
        </p:txBody>
      </p:sp>
      <p:sp>
        <p:nvSpPr>
          <p:cNvPr id="13" name="Shape 10"/>
          <p:cNvSpPr/>
          <p:nvPr/>
        </p:nvSpPr>
        <p:spPr>
          <a:xfrm>
            <a:off x="6332220" y="2816352"/>
            <a:ext cx="2103120" cy="310896"/>
          </a:xfrm>
          <a:prstGeom prst="roundRect">
            <a:avLst>
              <a:gd name="adj" fmla="val 52941"/>
            </a:avLst>
          </a:prstGeom>
          <a:solidFill>
            <a:srgbClr val="D97A14"/>
          </a:solidFill>
          <a:ln w="12700">
            <a:solidFill>
              <a:srgbClr val="D97A14"/>
            </a:solidFill>
            <a:prstDash val="solid"/>
          </a:ln>
        </p:spPr>
      </p:sp>
      <p:sp>
        <p:nvSpPr>
          <p:cNvPr id="14" name="Text 11"/>
          <p:cNvSpPr txBox="1"/>
          <p:nvPr/>
        </p:nvSpPr>
        <p:spPr>
          <a:xfrm>
            <a:off x="6332220" y="2816352"/>
            <a:ext cx="2103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embedded in block 0</a:t>
            </a:r>
            <a:endParaRPr lang="en-US" sz="1000" dirty="0"/>
          </a:p>
        </p:txBody>
      </p:sp>
      <p:sp>
        <p:nvSpPr>
          <p:cNvPr id="15" name="Shape 12"/>
          <p:cNvSpPr/>
          <p:nvPr/>
        </p:nvSpPr>
        <p:spPr>
          <a:xfrm>
            <a:off x="6080760" y="3593592"/>
            <a:ext cx="128016" cy="128016"/>
          </a:xfrm>
          <a:prstGeom prst="diamond">
            <a:avLst/>
          </a:prstGeom>
          <a:solidFill>
            <a:srgbClr val="D97A14"/>
          </a:solidFill>
          <a:ln w="12700">
            <a:solidFill>
              <a:srgbClr val="D97A14"/>
            </a:solidFill>
            <a:prstDash val="solid"/>
          </a:ln>
        </p:spPr>
      </p:sp>
      <p:sp>
        <p:nvSpPr>
          <p:cNvPr id="16" name="Text 13"/>
          <p:cNvSpPr txBox="1"/>
          <p:nvPr/>
        </p:nvSpPr>
        <p:spPr>
          <a:xfrm>
            <a:off x="6355080" y="3383280"/>
            <a:ext cx="2331720" cy="54864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orange bytes ARE the headline</a:t>
            </a:r>
            <a:endParaRPr lang="en-US" sz="1150" dirty="0"/>
          </a:p>
        </p:txBody>
      </p:sp>
      <p:sp>
        <p:nvSpPr>
          <p:cNvPr id="17" name="Shape 14"/>
          <p:cNvSpPr/>
          <p:nvPr/>
        </p:nvSpPr>
        <p:spPr>
          <a:xfrm>
            <a:off x="6080760" y="4142232"/>
            <a:ext cx="128016" cy="128016"/>
          </a:xfrm>
          <a:prstGeom prst="diamond">
            <a:avLst/>
          </a:prstGeom>
          <a:solidFill>
            <a:srgbClr val="D97A14"/>
          </a:solidFill>
          <a:ln w="12700">
            <a:solidFill>
              <a:srgbClr val="D97A14"/>
            </a:solidFill>
            <a:prstDash val="solid"/>
          </a:ln>
        </p:spPr>
      </p:sp>
      <p:sp>
        <p:nvSpPr>
          <p:cNvPr id="18" name="Text 15"/>
          <p:cNvSpPr txBox="1"/>
          <p:nvPr/>
        </p:nvSpPr>
        <p:spPr>
          <a:xfrm>
            <a:off x="6355080" y="3931920"/>
            <a:ext cx="2331720" cy="54864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A timestamp and a manifesto at once</a:t>
            </a:r>
            <a:endParaRPr lang="en-US" sz="115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is written into the chain itself</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38</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first person ever paid in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Satoshi Nakamoto, and the cryptographer who ran the code</a:t>
            </a:r>
            <a:endParaRPr lang="en-US" sz="1300" dirty="0"/>
          </a:p>
        </p:txBody>
      </p:sp>
      <p:pic>
        <p:nvPicPr>
          <p:cNvPr id="6" name="Image 0" descr="../../03-materials/ch01/assets/c1s32_nakamoto.jpg">    </p:cNvPr>
          <p:cNvPicPr>
            <a:picLocks noChangeAspect="1"/>
          </p:cNvPicPr>
          <p:nvPr/>
        </p:nvPicPr>
        <p:blipFill>
          <a:blip r:embed="rId1"/>
          <a:srcRect l="0" r="0" t="0" b="0"/>
          <a:stretch/>
        </p:blipFill>
        <p:spPr>
          <a:xfrm>
            <a:off x="457200" y="1325880"/>
            <a:ext cx="2651760" cy="3108960"/>
          </a:xfrm>
          <a:prstGeom prst="rect">
            <a:avLst/>
          </a:prstGeom>
        </p:spPr>
      </p:pic>
      <p:sp>
        <p:nvSpPr>
          <p:cNvPr id="7" name="Text 4"/>
          <p:cNvSpPr txBox="1"/>
          <p:nvPr/>
        </p:nvSpPr>
        <p:spPr>
          <a:xfrm>
            <a:off x="457200" y="44531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anonymity, from the owner's 2025 deck</a:t>
            </a:r>
            <a:endParaRPr lang="en-US" sz="900" dirty="0"/>
          </a:p>
        </p:txBody>
      </p:sp>
      <p:sp>
        <p:nvSpPr>
          <p:cNvPr id="8" name="Shape 5"/>
          <p:cNvSpPr/>
          <p:nvPr/>
        </p:nvSpPr>
        <p:spPr>
          <a:xfrm>
            <a:off x="3383280" y="17038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657600" y="141732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Satoshi Nakamoto: still unidentified, by design</a:t>
            </a:r>
            <a:endParaRPr lang="en-US" sz="1350" dirty="0"/>
          </a:p>
        </p:txBody>
      </p:sp>
      <p:sp>
        <p:nvSpPr>
          <p:cNvPr id="10" name="Shape 7"/>
          <p:cNvSpPr/>
          <p:nvPr/>
        </p:nvSpPr>
        <p:spPr>
          <a:xfrm>
            <a:off x="3383280" y="240487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657600" y="211836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Hal Finney answered the whitepaper - and 'Running bitcoin'</a:t>
            </a:r>
            <a:endParaRPr lang="en-US" sz="1350" dirty="0"/>
          </a:p>
        </p:txBody>
      </p:sp>
      <p:sp>
        <p:nvSpPr>
          <p:cNvPr id="12" name="Shape 9"/>
          <p:cNvSpPr/>
          <p:nvPr/>
        </p:nvSpPr>
        <p:spPr>
          <a:xfrm>
            <a:off x="3383280" y="310591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657600" y="281940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Block 170, January 2009: Satoshi pays Finney 10 BTC</a:t>
            </a:r>
            <a:endParaRPr lang="en-US" sz="1350" dirty="0"/>
          </a:p>
        </p:txBody>
      </p:sp>
      <p:sp>
        <p:nvSpPr>
          <p:cNvPr id="14" name="Shape 11"/>
          <p:cNvSpPr/>
          <p:nvPr/>
        </p:nvSpPr>
        <p:spPr>
          <a:xfrm>
            <a:off x="3383280" y="3703320"/>
            <a:ext cx="2743200" cy="402336"/>
          </a:xfrm>
          <a:prstGeom prst="roundRect">
            <a:avLst>
              <a:gd name="adj" fmla="val 50000"/>
            </a:avLst>
          </a:prstGeom>
          <a:solidFill>
            <a:srgbClr val="2F6D62"/>
          </a:solidFill>
          <a:ln w="12700">
            <a:solidFill>
              <a:srgbClr val="2F6D62"/>
            </a:solidFill>
            <a:prstDash val="solid"/>
          </a:ln>
        </p:spPr>
      </p:sp>
      <p:sp>
        <p:nvSpPr>
          <p:cNvPr id="15" name="Text 12"/>
          <p:cNvSpPr txBox="1"/>
          <p:nvPr/>
        </p:nvSpPr>
        <p:spPr>
          <a:xfrm>
            <a:off x="3383280" y="3703320"/>
            <a:ext cx="274320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January 2009</a:t>
            </a:r>
            <a:endParaRPr lang="en-US" sz="13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Peer to peer meant person to person from day one</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38</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Forty years of failed digital money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part existed before Bitcoin combined them</a:t>
            </a:r>
            <a:endParaRPr lang="en-US" sz="1300" dirty="0"/>
          </a:p>
        </p:txBody>
      </p:sp>
      <p:sp>
        <p:nvSpPr>
          <p:cNvPr id="6" name="Shape 4"/>
          <p:cNvSpPr/>
          <p:nvPr/>
        </p:nvSpPr>
        <p:spPr>
          <a:xfrm>
            <a:off x="457200" y="2307946"/>
            <a:ext cx="8229600" cy="0"/>
          </a:xfrm>
          <a:prstGeom prst="line">
            <a:avLst/>
          </a:prstGeom>
          <a:noFill/>
          <a:ln w="25400">
            <a:solidFill>
              <a:srgbClr val="C9BFAE"/>
            </a:solidFill>
            <a:prstDash val="solid"/>
          </a:ln>
        </p:spPr>
      </p:sp>
      <p:sp>
        <p:nvSpPr>
          <p:cNvPr id="7" name="Shape 5"/>
          <p:cNvSpPr/>
          <p:nvPr/>
        </p:nvSpPr>
        <p:spPr>
          <a:xfrm>
            <a:off x="557784" y="2225650"/>
            <a:ext cx="164592" cy="164592"/>
          </a:xfrm>
          <a:prstGeom prst="ellipse">
            <a:avLst/>
          </a:prstGeom>
          <a:solidFill>
            <a:srgbClr val="2F6D62"/>
          </a:solidFill>
          <a:ln w="12700">
            <a:solidFill>
              <a:srgbClr val="FFFFFF"/>
            </a:solidFill>
            <a:prstDash val="solid"/>
          </a:ln>
        </p:spPr>
      </p:sp>
      <p:sp>
        <p:nvSpPr>
          <p:cNvPr id="8" name="Text 6"/>
          <p:cNvSpPr txBox="1"/>
          <p:nvPr/>
        </p:nvSpPr>
        <p:spPr>
          <a:xfrm>
            <a:off x="36576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1982</a:t>
            </a:r>
            <a:endParaRPr lang="en-US" sz="1200" dirty="0"/>
          </a:p>
        </p:txBody>
      </p:sp>
      <p:sp>
        <p:nvSpPr>
          <p:cNvPr id="9" name="Text 7"/>
          <p:cNvSpPr txBox="1"/>
          <p:nvPr/>
        </p:nvSpPr>
        <p:spPr>
          <a:xfrm>
            <a:off x="365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Chaum: blind signatures, ecash</a:t>
            </a:r>
            <a:endParaRPr lang="en-US" sz="1000" dirty="0"/>
          </a:p>
        </p:txBody>
      </p:sp>
      <p:sp>
        <p:nvSpPr>
          <p:cNvPr id="10" name="Shape 8"/>
          <p:cNvSpPr/>
          <p:nvPr/>
        </p:nvSpPr>
        <p:spPr>
          <a:xfrm>
            <a:off x="2523744" y="2225650"/>
            <a:ext cx="164592" cy="164592"/>
          </a:xfrm>
          <a:prstGeom prst="ellipse">
            <a:avLst/>
          </a:prstGeom>
          <a:solidFill>
            <a:srgbClr val="2F6D62"/>
          </a:solidFill>
          <a:ln w="12700">
            <a:solidFill>
              <a:srgbClr val="FFFFFF"/>
            </a:solidFill>
            <a:prstDash val="solid"/>
          </a:ln>
        </p:spPr>
      </p:sp>
      <p:sp>
        <p:nvSpPr>
          <p:cNvPr id="11" name="Text 9"/>
          <p:cNvSpPr txBox="1"/>
          <p:nvPr/>
        </p:nvSpPr>
        <p:spPr>
          <a:xfrm>
            <a:off x="205740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1997</a:t>
            </a:r>
            <a:endParaRPr lang="en-US" sz="1200" dirty="0"/>
          </a:p>
        </p:txBody>
      </p:sp>
      <p:sp>
        <p:nvSpPr>
          <p:cNvPr id="12" name="Text 10"/>
          <p:cNvSpPr txBox="1"/>
          <p:nvPr/>
        </p:nvSpPr>
        <p:spPr>
          <a:xfrm>
            <a:off x="182880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Back: Hashcash proof-of-work</a:t>
            </a:r>
            <a:endParaRPr lang="en-US" sz="1000" dirty="0"/>
          </a:p>
        </p:txBody>
      </p:sp>
      <p:sp>
        <p:nvSpPr>
          <p:cNvPr id="13" name="Shape 11"/>
          <p:cNvSpPr/>
          <p:nvPr/>
        </p:nvSpPr>
        <p:spPr>
          <a:xfrm>
            <a:off x="4489704" y="2225650"/>
            <a:ext cx="164592" cy="164592"/>
          </a:xfrm>
          <a:prstGeom prst="ellipse">
            <a:avLst/>
          </a:prstGeom>
          <a:solidFill>
            <a:srgbClr val="2F6D62"/>
          </a:solidFill>
          <a:ln w="12700">
            <a:solidFill>
              <a:srgbClr val="FFFFFF"/>
            </a:solidFill>
            <a:prstDash val="solid"/>
          </a:ln>
        </p:spPr>
      </p:sp>
      <p:sp>
        <p:nvSpPr>
          <p:cNvPr id="14" name="Text 12"/>
          <p:cNvSpPr txBox="1"/>
          <p:nvPr/>
        </p:nvSpPr>
        <p:spPr>
          <a:xfrm>
            <a:off x="402336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1998</a:t>
            </a:r>
            <a:endParaRPr lang="en-US" sz="1200" dirty="0"/>
          </a:p>
        </p:txBody>
      </p:sp>
      <p:sp>
        <p:nvSpPr>
          <p:cNvPr id="15" name="Text 13"/>
          <p:cNvSpPr txBox="1"/>
          <p:nvPr/>
        </p:nvSpPr>
        <p:spPr>
          <a:xfrm>
            <a:off x="3794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Dai: b-money; Szabo: bit gold</a:t>
            </a:r>
            <a:endParaRPr lang="en-US" sz="1000" dirty="0"/>
          </a:p>
        </p:txBody>
      </p:sp>
      <p:sp>
        <p:nvSpPr>
          <p:cNvPr id="16" name="Shape 14"/>
          <p:cNvSpPr/>
          <p:nvPr/>
        </p:nvSpPr>
        <p:spPr>
          <a:xfrm>
            <a:off x="6455664" y="2225650"/>
            <a:ext cx="164592" cy="164592"/>
          </a:xfrm>
          <a:prstGeom prst="ellipse">
            <a:avLst/>
          </a:prstGeom>
          <a:solidFill>
            <a:srgbClr val="D97A14"/>
          </a:solidFill>
          <a:ln w="12700">
            <a:solidFill>
              <a:srgbClr val="FFFFFF"/>
            </a:solidFill>
            <a:prstDash val="solid"/>
          </a:ln>
        </p:spPr>
      </p:sp>
      <p:sp>
        <p:nvSpPr>
          <p:cNvPr id="17" name="Text 15"/>
          <p:cNvSpPr txBox="1"/>
          <p:nvPr/>
        </p:nvSpPr>
        <p:spPr>
          <a:xfrm>
            <a:off x="5989320" y="1832458"/>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2008</a:t>
            </a:r>
            <a:endParaRPr lang="en-US" sz="1200" dirty="0"/>
          </a:p>
        </p:txBody>
      </p:sp>
      <p:sp>
        <p:nvSpPr>
          <p:cNvPr id="18" name="Text 16"/>
          <p:cNvSpPr txBox="1"/>
          <p:nvPr/>
        </p:nvSpPr>
        <p:spPr>
          <a:xfrm>
            <a:off x="576072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Nakamoto: the whitepaper</a:t>
            </a:r>
            <a:endParaRPr lang="en-US" sz="1000" dirty="0"/>
          </a:p>
        </p:txBody>
      </p:sp>
      <p:sp>
        <p:nvSpPr>
          <p:cNvPr id="19" name="Shape 17"/>
          <p:cNvSpPr/>
          <p:nvPr/>
        </p:nvSpPr>
        <p:spPr>
          <a:xfrm>
            <a:off x="8421624" y="2225650"/>
            <a:ext cx="164592" cy="164592"/>
          </a:xfrm>
          <a:prstGeom prst="ellipse">
            <a:avLst/>
          </a:prstGeom>
          <a:solidFill>
            <a:srgbClr val="D97A14"/>
          </a:solidFill>
          <a:ln w="12700">
            <a:solidFill>
              <a:srgbClr val="FFFFFF"/>
            </a:solidFill>
            <a:prstDash val="solid"/>
          </a:ln>
        </p:spPr>
      </p:sp>
      <p:sp>
        <p:nvSpPr>
          <p:cNvPr id="20" name="Text 18"/>
          <p:cNvSpPr txBox="1"/>
          <p:nvPr/>
        </p:nvSpPr>
        <p:spPr>
          <a:xfrm>
            <a:off x="7680960" y="1832458"/>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21" name="Text 19"/>
          <p:cNvSpPr txBox="1"/>
          <p:nvPr/>
        </p:nvSpPr>
        <p:spPr>
          <a:xfrm>
            <a:off x="7223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The genesis block runs</a:t>
            </a:r>
            <a:endParaRPr lang="en-US" sz="1000" dirty="0"/>
          </a:p>
        </p:txBody>
      </p:sp>
      <p:sp>
        <p:nvSpPr>
          <p:cNvPr id="22" name="Text 20"/>
          <p:cNvSpPr txBox="1"/>
          <p:nvPr/>
        </p:nvSpPr>
        <p:spPr>
          <a:xfrm>
            <a:off x="457200" y="3611880"/>
            <a:ext cx="8229600" cy="8686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DigiCash went bankrupt; b-money and bit gold were never built</a:t>
            </a:r>
            <a:endParaRPr lang="en-US" sz="1400" dirty="0"/>
          </a:p>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The missing piece: agreement without a leader</a:t>
            </a:r>
            <a:endParaRPr lang="en-US" sz="14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pieces were old; the combination was new</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38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Money</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the currency is, who issues it, and on what schedule</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Unit</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Supply</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Issuance</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Price</a:t>
            </a:r>
            <a:pPr algn="ctr" indent="0" marL="0">
              <a:buNone/>
            </a:pPr>
            <a:endParaRPr lang="en-US" sz="1400" dirty="0"/>
          </a:p>
        </p:txBody>
      </p:sp>
      <p:pic>
        <p:nvPicPr>
          <p:cNvPr id="14" name="Image 0" descr="../../03-materials/ch01/assets/photo_lydian_coins.jpg">    </p:cNvPr>
          <p:cNvPicPr>
            <a:picLocks noChangeAspect="1"/>
          </p:cNvPicPr>
          <p:nvPr/>
        </p:nvPicPr>
        <p:blipFill>
          <a:blip r:embed="rId1"/>
          <a:srcRect l="0" r="0" t="0" b="0"/>
          <a:stretch/>
        </p:blipFill>
        <p:spPr>
          <a:xfrm>
            <a:off x="5943600" y="1554480"/>
            <a:ext cx="2834640" cy="2651760"/>
          </a:xfrm>
          <a:prstGeom prst="rect">
            <a:avLst/>
          </a:prstGeom>
        </p:spPr>
      </p:pic>
      <p:sp>
        <p:nvSpPr>
          <p:cNvPr id="15" name="Text 12"/>
          <p:cNvSpPr txBox="1"/>
          <p:nvPr/>
        </p:nvSpPr>
        <p:spPr>
          <a:xfrm>
            <a:off x="5943600" y="422452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Lydian electrum, the first coins - photo: brewbooks, CC BY-SA 2.0</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38</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island where money never moved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Yap, documented 1903</a:t>
            </a:r>
            <a:endParaRPr lang="en-US" sz="1300" dirty="0"/>
          </a:p>
        </p:txBody>
      </p:sp>
      <p:pic>
        <p:nvPicPr>
          <p:cNvPr id="6" name="Image 0" descr="../../03-materials/ch01/assets/photo_rai_stone.jpg">    </p:cNvPr>
          <p:cNvPicPr>
            <a:picLocks noChangeAspect="1"/>
          </p:cNvPicPr>
          <p:nvPr/>
        </p:nvPicPr>
        <p:blipFill>
          <a:blip r:embed="rId1"/>
          <a:srcRect l="0" r="0" t="0" b="0"/>
          <a:stretch/>
        </p:blipFill>
        <p:spPr>
          <a:xfrm>
            <a:off x="457200" y="1371600"/>
            <a:ext cx="2834640" cy="2834640"/>
          </a:xfrm>
          <a:prstGeom prst="rect">
            <a:avLst/>
          </a:prstGeom>
        </p:spPr>
      </p:pic>
      <p:sp>
        <p:nvSpPr>
          <p:cNvPr id="7" name="Text 4"/>
          <p:cNvSpPr txBox="1"/>
          <p:nvPr/>
        </p:nvSpPr>
        <p:spPr>
          <a:xfrm>
            <a:off x="457200" y="422452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rai stone on Yap - photo: Eric Guinther, CC BY-SA 3.0, Wikimedia Commons</a:t>
            </a:r>
            <a:endParaRPr lang="en-US" sz="900" dirty="0"/>
          </a:p>
        </p:txBody>
      </p:sp>
      <p:sp>
        <p:nvSpPr>
          <p:cNvPr id="8" name="Shape 5"/>
          <p:cNvSpPr/>
          <p:nvPr/>
        </p:nvSpPr>
        <p:spPr>
          <a:xfrm>
            <a:off x="3611880" y="1574292"/>
            <a:ext cx="128016" cy="128016"/>
          </a:xfrm>
          <a:prstGeom prst="diamond">
            <a:avLst/>
          </a:prstGeom>
          <a:solidFill>
            <a:srgbClr val="D97A14"/>
          </a:solidFill>
          <a:ln w="12700">
            <a:solidFill>
              <a:srgbClr val="D97A14"/>
            </a:solidFill>
            <a:prstDash val="solid"/>
          </a:ln>
        </p:spPr>
      </p:sp>
      <p:sp>
        <p:nvSpPr>
          <p:cNvPr id="9" name="Text 6"/>
          <p:cNvSpPr txBox="1"/>
          <p:nvPr/>
        </p:nvSpPr>
        <p:spPr>
          <a:xfrm>
            <a:off x="3886200" y="1371600"/>
            <a:ext cx="4800600" cy="5334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Rai stones were money too heavy to move, so they never moved</a:t>
            </a:r>
            <a:endParaRPr lang="en-US" sz="1300" dirty="0"/>
          </a:p>
        </p:txBody>
      </p:sp>
      <p:sp>
        <p:nvSpPr>
          <p:cNvPr id="10" name="Shape 7"/>
          <p:cNvSpPr/>
          <p:nvPr/>
        </p:nvSpPr>
        <p:spPr>
          <a:xfrm>
            <a:off x="3611880" y="21076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886200" y="1905000"/>
            <a:ext cx="4800600" cy="5334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A payment was the village agreeing the owner had changed</a:t>
            </a:r>
            <a:endParaRPr lang="en-US" sz="1300" dirty="0"/>
          </a:p>
        </p:txBody>
      </p:sp>
      <p:sp>
        <p:nvSpPr>
          <p:cNvPr id="12" name="Shape 9"/>
          <p:cNvSpPr/>
          <p:nvPr/>
        </p:nvSpPr>
        <p:spPr>
          <a:xfrm>
            <a:off x="3611880" y="264109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886200" y="2438400"/>
            <a:ext cx="4800600" cy="5334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One stone sank at sea - and kept changing owners anyway</a:t>
            </a:r>
            <a:endParaRPr lang="en-US" sz="1300" dirty="0"/>
          </a:p>
        </p:txBody>
      </p:sp>
      <p:sp>
        <p:nvSpPr>
          <p:cNvPr id="14" name="Shape 11"/>
          <p:cNvSpPr/>
          <p:nvPr/>
        </p:nvSpPr>
        <p:spPr>
          <a:xfrm>
            <a:off x="4005072" y="3154680"/>
            <a:ext cx="950976" cy="950976"/>
          </a:xfrm>
          <a:prstGeom prst="ellipse">
            <a:avLst/>
          </a:prstGeom>
          <a:solidFill>
            <a:srgbClr val="D8D0C2"/>
          </a:solidFill>
          <a:ln w="25400">
            <a:solidFill>
              <a:srgbClr val="9A9183"/>
            </a:solidFill>
            <a:prstDash val="solid"/>
          </a:ln>
        </p:spPr>
      </p:sp>
      <p:sp>
        <p:nvSpPr>
          <p:cNvPr id="15" name="Shape 12"/>
          <p:cNvSpPr/>
          <p:nvPr/>
        </p:nvSpPr>
        <p:spPr>
          <a:xfrm>
            <a:off x="4352544" y="3520440"/>
            <a:ext cx="256032" cy="256032"/>
          </a:xfrm>
          <a:prstGeom prst="ellipse">
            <a:avLst/>
          </a:prstGeom>
          <a:solidFill>
            <a:srgbClr val="FAF6EF"/>
          </a:solidFill>
          <a:ln w="19050">
            <a:solidFill>
              <a:srgbClr val="9A9183"/>
            </a:solidFill>
            <a:prstDash val="solid"/>
          </a:ln>
        </p:spPr>
      </p:sp>
      <p:sp>
        <p:nvSpPr>
          <p:cNvPr id="16" name="Text 13"/>
          <p:cNvSpPr txBox="1"/>
          <p:nvPr/>
        </p:nvSpPr>
        <p:spPr>
          <a:xfrm>
            <a:off x="3703320" y="4187952"/>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Fatu</a:t>
            </a:r>
            <a:endParaRPr lang="en-US" sz="1100" dirty="0"/>
          </a:p>
        </p:txBody>
      </p:sp>
      <p:sp>
        <p:nvSpPr>
          <p:cNvPr id="17" name="Shape 14"/>
          <p:cNvSpPr/>
          <p:nvPr/>
        </p:nvSpPr>
        <p:spPr>
          <a:xfrm>
            <a:off x="5029200" y="3630168"/>
            <a:ext cx="548640" cy="0"/>
          </a:xfrm>
          <a:prstGeom prst="line">
            <a:avLst/>
          </a:prstGeom>
          <a:noFill/>
          <a:ln w="25400">
            <a:solidFill>
              <a:srgbClr val="D97A14"/>
            </a:solidFill>
            <a:prstDash val="solid"/>
            <a:tailEnd type="triangle"/>
          </a:ln>
        </p:spPr>
      </p:sp>
      <p:sp>
        <p:nvSpPr>
          <p:cNvPr id="18" name="Shape 15"/>
          <p:cNvSpPr/>
          <p:nvPr/>
        </p:nvSpPr>
        <p:spPr>
          <a:xfrm>
            <a:off x="5650992" y="3154680"/>
            <a:ext cx="950976" cy="950976"/>
          </a:xfrm>
          <a:prstGeom prst="ellipse">
            <a:avLst/>
          </a:prstGeom>
          <a:solidFill>
            <a:srgbClr val="D8D0C2"/>
          </a:solidFill>
          <a:ln w="25400">
            <a:solidFill>
              <a:srgbClr val="9A9183"/>
            </a:solidFill>
            <a:prstDash val="solid"/>
          </a:ln>
        </p:spPr>
      </p:sp>
      <p:sp>
        <p:nvSpPr>
          <p:cNvPr id="19" name="Shape 16"/>
          <p:cNvSpPr/>
          <p:nvPr/>
        </p:nvSpPr>
        <p:spPr>
          <a:xfrm>
            <a:off x="5998464" y="3520440"/>
            <a:ext cx="256032" cy="256032"/>
          </a:xfrm>
          <a:prstGeom prst="ellipse">
            <a:avLst/>
          </a:prstGeom>
          <a:solidFill>
            <a:srgbClr val="FAF6EF"/>
          </a:solidFill>
          <a:ln w="19050">
            <a:solidFill>
              <a:srgbClr val="9A9183"/>
            </a:solidFill>
            <a:prstDash val="solid"/>
          </a:ln>
        </p:spPr>
      </p:sp>
      <p:sp>
        <p:nvSpPr>
          <p:cNvPr id="20" name="Text 17"/>
          <p:cNvSpPr txBox="1"/>
          <p:nvPr/>
        </p:nvSpPr>
        <p:spPr>
          <a:xfrm>
            <a:off x="5349240" y="4187952"/>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Ngirmang</a:t>
            </a:r>
            <a:endParaRPr lang="en-US" sz="1100" dirty="0"/>
          </a:p>
        </p:txBody>
      </p:sp>
      <p:sp>
        <p:nvSpPr>
          <p:cNvPr id="21" name="Shape 18"/>
          <p:cNvSpPr/>
          <p:nvPr/>
        </p:nvSpPr>
        <p:spPr>
          <a:xfrm>
            <a:off x="6675120" y="3630168"/>
            <a:ext cx="548640" cy="0"/>
          </a:xfrm>
          <a:prstGeom prst="line">
            <a:avLst/>
          </a:prstGeom>
          <a:noFill/>
          <a:ln w="25400">
            <a:solidFill>
              <a:srgbClr val="D97A14"/>
            </a:solidFill>
            <a:prstDash val="solid"/>
            <a:tailEnd type="triangle"/>
          </a:ln>
        </p:spPr>
      </p:sp>
      <p:sp>
        <p:nvSpPr>
          <p:cNvPr id="22" name="Shape 19"/>
          <p:cNvSpPr/>
          <p:nvPr/>
        </p:nvSpPr>
        <p:spPr>
          <a:xfrm>
            <a:off x="7296912" y="3154680"/>
            <a:ext cx="950976" cy="950976"/>
          </a:xfrm>
          <a:prstGeom prst="ellipse">
            <a:avLst/>
          </a:prstGeom>
          <a:solidFill>
            <a:srgbClr val="D8D0C2"/>
          </a:solidFill>
          <a:ln w="25400">
            <a:solidFill>
              <a:srgbClr val="9A9183"/>
            </a:solidFill>
            <a:prstDash val="solid"/>
          </a:ln>
        </p:spPr>
      </p:sp>
      <p:sp>
        <p:nvSpPr>
          <p:cNvPr id="23" name="Shape 20"/>
          <p:cNvSpPr/>
          <p:nvPr/>
        </p:nvSpPr>
        <p:spPr>
          <a:xfrm>
            <a:off x="7644384" y="3520440"/>
            <a:ext cx="256032" cy="256032"/>
          </a:xfrm>
          <a:prstGeom prst="ellipse">
            <a:avLst/>
          </a:prstGeom>
          <a:solidFill>
            <a:srgbClr val="FAF6EF"/>
          </a:solidFill>
          <a:ln w="19050">
            <a:solidFill>
              <a:srgbClr val="9A9183"/>
            </a:solidFill>
            <a:prstDash val="solid"/>
          </a:ln>
        </p:spPr>
      </p:sp>
      <p:sp>
        <p:nvSpPr>
          <p:cNvPr id="24" name="Text 21"/>
          <p:cNvSpPr txBox="1"/>
          <p:nvPr/>
        </p:nvSpPr>
        <p:spPr>
          <a:xfrm>
            <a:off x="6995160" y="4187952"/>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Teru</a:t>
            </a:r>
            <a:endParaRPr lang="en-US" sz="1100" dirty="0"/>
          </a:p>
        </p:txBody>
      </p:sp>
      <p:sp>
        <p:nvSpPr>
          <p:cNvPr id="25" name="Text 22"/>
          <p:cNvSpPr txBox="1"/>
          <p:nvPr/>
        </p:nvSpPr>
        <p:spPr>
          <a:xfrm>
            <a:off x="3657600" y="4498848"/>
            <a:ext cx="4937760" cy="292608"/>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the stone stays; only the shared record moves</a:t>
            </a:r>
            <a:endParaRPr lang="en-US" sz="1100" dirty="0"/>
          </a:p>
        </p:txBody>
      </p:sp>
      <p:sp>
        <p:nvSpPr>
          <p:cNvPr id="26"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is a ledger; Bitcoin makes it digital</a:t>
            </a:r>
            <a:endParaRPr lang="en-US" sz="1350" dirty="0"/>
          </a:p>
        </p:txBody>
      </p:sp>
      <p:sp>
        <p:nvSpPr>
          <p:cNvPr id="28"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38</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thousand years to digital cash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 3000 BCE - 2009</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Those Lydian coins were money once; so is your app balance - the difference is always the ledger.</a:t>
            </a:r>
            <a:endParaRPr lang="en-US" sz="1250" dirty="0"/>
          </a:p>
        </p:txBody>
      </p:sp>
      <p:sp>
        <p:nvSpPr>
          <p:cNvPr id="7" name="Shape 5"/>
          <p:cNvSpPr/>
          <p:nvPr/>
        </p:nvSpPr>
        <p:spPr>
          <a:xfrm>
            <a:off x="457200" y="2353666"/>
            <a:ext cx="8229600" cy="0"/>
          </a:xfrm>
          <a:prstGeom prst="line">
            <a:avLst/>
          </a:prstGeom>
          <a:noFill/>
          <a:ln w="25400">
            <a:solidFill>
              <a:srgbClr val="C9BFAE"/>
            </a:solidFill>
            <a:prstDash val="solid"/>
          </a:ln>
        </p:spPr>
      </p:sp>
      <p:sp>
        <p:nvSpPr>
          <p:cNvPr id="8" name="Shape 6"/>
          <p:cNvSpPr/>
          <p:nvPr/>
        </p:nvSpPr>
        <p:spPr>
          <a:xfrm>
            <a:off x="557784" y="2271370"/>
            <a:ext cx="164592" cy="164592"/>
          </a:xfrm>
          <a:prstGeom prst="ellipse">
            <a:avLst/>
          </a:prstGeom>
          <a:solidFill>
            <a:srgbClr val="2F6D62"/>
          </a:solidFill>
          <a:ln w="12700">
            <a:solidFill>
              <a:srgbClr val="FFFFFF"/>
            </a:solidFill>
            <a:prstDash val="solid"/>
          </a:ln>
        </p:spPr>
      </p:sp>
      <p:sp>
        <p:nvSpPr>
          <p:cNvPr id="9" name="Text 7"/>
          <p:cNvSpPr txBox="1"/>
          <p:nvPr/>
        </p:nvSpPr>
        <p:spPr>
          <a:xfrm>
            <a:off x="365760" y="187817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~3000 BCE</a:t>
            </a:r>
            <a:endParaRPr lang="en-US" sz="1200" dirty="0"/>
          </a:p>
        </p:txBody>
      </p:sp>
      <p:sp>
        <p:nvSpPr>
          <p:cNvPr id="10" name="Text 8"/>
          <p:cNvSpPr txBox="1"/>
          <p:nvPr/>
        </p:nvSpPr>
        <p:spPr>
          <a:xfrm>
            <a:off x="365760" y="248168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grain ledgers, Mesopotamia</a:t>
            </a:r>
            <a:endParaRPr lang="en-US" sz="1000" dirty="0"/>
          </a:p>
        </p:txBody>
      </p:sp>
      <p:sp>
        <p:nvSpPr>
          <p:cNvPr id="11" name="Shape 9"/>
          <p:cNvSpPr/>
          <p:nvPr/>
        </p:nvSpPr>
        <p:spPr>
          <a:xfrm>
            <a:off x="2130552" y="2271370"/>
            <a:ext cx="164592" cy="164592"/>
          </a:xfrm>
          <a:prstGeom prst="ellipse">
            <a:avLst/>
          </a:prstGeom>
          <a:solidFill>
            <a:srgbClr val="2F6D62"/>
          </a:solidFill>
          <a:ln w="12700">
            <a:solidFill>
              <a:srgbClr val="FFFFFF"/>
            </a:solidFill>
            <a:prstDash val="solid"/>
          </a:ln>
        </p:spPr>
      </p:sp>
      <p:sp>
        <p:nvSpPr>
          <p:cNvPr id="12" name="Text 10"/>
          <p:cNvSpPr txBox="1"/>
          <p:nvPr/>
        </p:nvSpPr>
        <p:spPr>
          <a:xfrm>
            <a:off x="1664208" y="187817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~600 BCE</a:t>
            </a:r>
            <a:endParaRPr lang="en-US" sz="1200" dirty="0"/>
          </a:p>
        </p:txBody>
      </p:sp>
      <p:sp>
        <p:nvSpPr>
          <p:cNvPr id="13" name="Text 11"/>
          <p:cNvSpPr txBox="1"/>
          <p:nvPr/>
        </p:nvSpPr>
        <p:spPr>
          <a:xfrm>
            <a:off x="1435608" y="248168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first coins, Lydia</a:t>
            </a:r>
            <a:endParaRPr lang="en-US" sz="1000" dirty="0"/>
          </a:p>
        </p:txBody>
      </p:sp>
      <p:sp>
        <p:nvSpPr>
          <p:cNvPr id="14" name="Shape 12"/>
          <p:cNvSpPr/>
          <p:nvPr/>
        </p:nvSpPr>
        <p:spPr>
          <a:xfrm>
            <a:off x="3703320" y="2271370"/>
            <a:ext cx="164592" cy="164592"/>
          </a:xfrm>
          <a:prstGeom prst="ellipse">
            <a:avLst/>
          </a:prstGeom>
          <a:solidFill>
            <a:srgbClr val="2F6D62"/>
          </a:solidFill>
          <a:ln w="12700">
            <a:solidFill>
              <a:srgbClr val="FFFFFF"/>
            </a:solidFill>
            <a:prstDash val="solid"/>
          </a:ln>
        </p:spPr>
      </p:sp>
      <p:sp>
        <p:nvSpPr>
          <p:cNvPr id="15" name="Text 13"/>
          <p:cNvSpPr txBox="1"/>
          <p:nvPr/>
        </p:nvSpPr>
        <p:spPr>
          <a:xfrm>
            <a:off x="3236976" y="187817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~1000</a:t>
            </a:r>
            <a:endParaRPr lang="en-US" sz="1200" dirty="0"/>
          </a:p>
        </p:txBody>
      </p:sp>
      <p:sp>
        <p:nvSpPr>
          <p:cNvPr id="16" name="Text 14"/>
          <p:cNvSpPr txBox="1"/>
          <p:nvPr/>
        </p:nvSpPr>
        <p:spPr>
          <a:xfrm>
            <a:off x="3008376" y="248168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paper money, Song China</a:t>
            </a:r>
            <a:endParaRPr lang="en-US" sz="1000" dirty="0"/>
          </a:p>
        </p:txBody>
      </p:sp>
      <p:sp>
        <p:nvSpPr>
          <p:cNvPr id="17" name="Shape 15"/>
          <p:cNvSpPr/>
          <p:nvPr/>
        </p:nvSpPr>
        <p:spPr>
          <a:xfrm>
            <a:off x="5276088" y="2271370"/>
            <a:ext cx="164592" cy="164592"/>
          </a:xfrm>
          <a:prstGeom prst="ellipse">
            <a:avLst/>
          </a:prstGeom>
          <a:solidFill>
            <a:srgbClr val="2F6D62"/>
          </a:solidFill>
          <a:ln w="12700">
            <a:solidFill>
              <a:srgbClr val="FFFFFF"/>
            </a:solidFill>
            <a:prstDash val="solid"/>
          </a:ln>
        </p:spPr>
      </p:sp>
      <p:sp>
        <p:nvSpPr>
          <p:cNvPr id="18" name="Text 16"/>
          <p:cNvSpPr txBox="1"/>
          <p:nvPr/>
        </p:nvSpPr>
        <p:spPr>
          <a:xfrm>
            <a:off x="4809744" y="187817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1600s</a:t>
            </a:r>
            <a:endParaRPr lang="en-US" sz="1200" dirty="0"/>
          </a:p>
        </p:txBody>
      </p:sp>
      <p:sp>
        <p:nvSpPr>
          <p:cNvPr id="19" name="Text 17"/>
          <p:cNvSpPr txBox="1"/>
          <p:nvPr/>
        </p:nvSpPr>
        <p:spPr>
          <a:xfrm>
            <a:off x="4581144" y="248168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goldsmiths' receipts, bank money</a:t>
            </a:r>
            <a:endParaRPr lang="en-US" sz="1000" dirty="0"/>
          </a:p>
        </p:txBody>
      </p:sp>
      <p:sp>
        <p:nvSpPr>
          <p:cNvPr id="20" name="Shape 18"/>
          <p:cNvSpPr/>
          <p:nvPr/>
        </p:nvSpPr>
        <p:spPr>
          <a:xfrm>
            <a:off x="6848856" y="2271370"/>
            <a:ext cx="164592" cy="164592"/>
          </a:xfrm>
          <a:prstGeom prst="ellipse">
            <a:avLst/>
          </a:prstGeom>
          <a:solidFill>
            <a:srgbClr val="2F6D62"/>
          </a:solidFill>
          <a:ln w="12700">
            <a:solidFill>
              <a:srgbClr val="FFFFFF"/>
            </a:solidFill>
            <a:prstDash val="solid"/>
          </a:ln>
        </p:spPr>
      </p:sp>
      <p:sp>
        <p:nvSpPr>
          <p:cNvPr id="21" name="Text 19"/>
          <p:cNvSpPr txBox="1"/>
          <p:nvPr/>
        </p:nvSpPr>
        <p:spPr>
          <a:xfrm>
            <a:off x="6382512" y="187817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1971</a:t>
            </a:r>
            <a:endParaRPr lang="en-US" sz="1200" dirty="0"/>
          </a:p>
        </p:txBody>
      </p:sp>
      <p:sp>
        <p:nvSpPr>
          <p:cNvPr id="22" name="Text 20"/>
          <p:cNvSpPr txBox="1"/>
          <p:nvPr/>
        </p:nvSpPr>
        <p:spPr>
          <a:xfrm>
            <a:off x="6153912" y="248168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gold tie cut - pure fiat</a:t>
            </a:r>
            <a:endParaRPr lang="en-US" sz="1000" dirty="0"/>
          </a:p>
        </p:txBody>
      </p:sp>
      <p:sp>
        <p:nvSpPr>
          <p:cNvPr id="23" name="Shape 21"/>
          <p:cNvSpPr/>
          <p:nvPr/>
        </p:nvSpPr>
        <p:spPr>
          <a:xfrm>
            <a:off x="8421624" y="2271370"/>
            <a:ext cx="164592" cy="164592"/>
          </a:xfrm>
          <a:prstGeom prst="ellipse">
            <a:avLst/>
          </a:prstGeom>
          <a:solidFill>
            <a:srgbClr val="D97A14"/>
          </a:solidFill>
          <a:ln w="12700">
            <a:solidFill>
              <a:srgbClr val="FFFFFF"/>
            </a:solidFill>
            <a:prstDash val="solid"/>
          </a:ln>
        </p:spPr>
      </p:sp>
      <p:sp>
        <p:nvSpPr>
          <p:cNvPr id="24" name="Text 22"/>
          <p:cNvSpPr txBox="1"/>
          <p:nvPr/>
        </p:nvSpPr>
        <p:spPr>
          <a:xfrm>
            <a:off x="7680960" y="1878178"/>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25" name="Text 23"/>
          <p:cNvSpPr txBox="1"/>
          <p:nvPr/>
        </p:nvSpPr>
        <p:spPr>
          <a:xfrm>
            <a:off x="7223760" y="248168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cryptocurrency</a:t>
            </a:r>
            <a:endParaRPr lang="en-US" sz="1000" dirty="0"/>
          </a:p>
        </p:txBody>
      </p:sp>
      <p:sp>
        <p:nvSpPr>
          <p:cNvPr id="26" name="Text 24"/>
          <p:cNvSpPr txBox="1"/>
          <p:nvPr/>
        </p:nvSpPr>
        <p:spPr>
          <a:xfrm>
            <a:off x="457200" y="3657600"/>
            <a:ext cx="8229600" cy="8229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Each step changed who keeps the ledger, not what money does</a:t>
            </a:r>
            <a:endParaRPr lang="en-US" sz="1400" dirty="0"/>
          </a:p>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Bitcoin's step: a ledger that is public and kept by everyone</a:t>
            </a:r>
            <a:endParaRPr lang="en-US" sz="14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era changed the ledger-keeper; Bitcoin removed the position</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38</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Traditional, digital, crypto - side by side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one-table comparison</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463040"/>
          <a:ext cx="8412480" cy="914400"/>
        </p:xfrm>
        <a:graphic>
          <a:graphicData uri="http://schemas.openxmlformats.org/drawingml/2006/table">
            <a:tbl>
              <a:tblPr/>
              <a:tblGrid>
                <a:gridCol w="1554480"/>
                <a:gridCol w="2194560"/>
                <a:gridCol w="2331720"/>
                <a:gridCol w="2331720"/>
              </a:tblGrid>
              <a:tr h="566928">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Traditional (cash)</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Digital money (bank, card, e-money)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Cryptocurrency (bitcoin)</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Issued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A central bank</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Commercial banks on a central bank base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one - issuance is in the protocol</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Exists as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Paper and coin in hand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banks' private ledgers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one public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Who keeps the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ledger - possession is the record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Banks and processors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Every node, together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Supply is set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 and credit</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Fixed rules anyone can verify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Settles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Hand to hand, instantly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Through intermediaries, in days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Peer to peer, in about an hour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57200" y="4636008"/>
            <a:ext cx="91440" cy="310896"/>
          </a:xfrm>
          <a:prstGeom prst="rect">
            <a:avLst/>
          </a:prstGeom>
          <a:solidFill>
            <a:srgbClr val="D97A14"/>
          </a:solidFill>
          <a:ln w="12700">
            <a:solidFill>
              <a:srgbClr val="D97A14"/>
            </a:solidFill>
            <a:prstDash val="solid"/>
          </a:ln>
        </p:spPr>
      </p:sp>
      <p:sp>
        <p:nvSpPr>
          <p:cNvPr id="8" name="Text 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Same uses, different ledgers - and that difference is this course</a:t>
            </a:r>
            <a:endParaRPr lang="en-US" sz="1350" dirty="0"/>
          </a:p>
        </p:txBody>
      </p:sp>
      <p:sp>
        <p:nvSpPr>
          <p:cNvPr id="9" name="Text 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38</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One bitcoin divides into 100 million satoshis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unit and its divisions - run, not quoted</a:t>
            </a:r>
            <a:endParaRPr lang="en-US" sz="1300" dirty="0"/>
          </a:p>
        </p:txBody>
      </p:sp>
      <p:sp>
        <p:nvSpPr>
          <p:cNvPr id="6" name="Shape 4"/>
          <p:cNvSpPr/>
          <p:nvPr/>
        </p:nvSpPr>
        <p:spPr>
          <a:xfrm>
            <a:off x="457200" y="1371600"/>
            <a:ext cx="2426208"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 BTC</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the currency unit</a:t>
            </a:r>
            <a:endParaRPr lang="en-US" sz="1300" dirty="0"/>
          </a:p>
        </p:txBody>
      </p:sp>
      <p:sp>
        <p:nvSpPr>
          <p:cNvPr id="8" name="Shape 6"/>
          <p:cNvSpPr/>
          <p:nvPr/>
        </p:nvSpPr>
        <p:spPr>
          <a:xfrm>
            <a:off x="2938272" y="1897380"/>
            <a:ext cx="365760" cy="0"/>
          </a:xfrm>
          <a:prstGeom prst="line">
            <a:avLst/>
          </a:prstGeom>
          <a:noFill/>
          <a:ln w="25400">
            <a:solidFill>
              <a:srgbClr val="D97A14"/>
            </a:solidFill>
            <a:prstDash val="solid"/>
            <a:tailEnd type="triangle"/>
          </a:ln>
        </p:spPr>
      </p:sp>
      <p:sp>
        <p:nvSpPr>
          <p:cNvPr id="9" name="Shape 7"/>
          <p:cNvSpPr/>
          <p:nvPr/>
        </p:nvSpPr>
        <p:spPr>
          <a:xfrm>
            <a:off x="3358896" y="1371600"/>
            <a:ext cx="2426208"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3432048"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 mBTC</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millibitcoin</a:t>
            </a:r>
            <a:endParaRPr lang="en-US" sz="1300" dirty="0"/>
          </a:p>
        </p:txBody>
      </p:sp>
      <p:sp>
        <p:nvSpPr>
          <p:cNvPr id="11" name="Shape 9"/>
          <p:cNvSpPr/>
          <p:nvPr/>
        </p:nvSpPr>
        <p:spPr>
          <a:xfrm>
            <a:off x="5839968" y="1897380"/>
            <a:ext cx="365760" cy="0"/>
          </a:xfrm>
          <a:prstGeom prst="line">
            <a:avLst/>
          </a:prstGeom>
          <a:noFill/>
          <a:ln w="25400">
            <a:solidFill>
              <a:srgbClr val="D97A14"/>
            </a:solidFill>
            <a:prstDash val="solid"/>
            <a:tailEnd type="triangle"/>
          </a:ln>
        </p:spPr>
      </p:sp>
      <p:sp>
        <p:nvSpPr>
          <p:cNvPr id="12" name="Shape 10"/>
          <p:cNvSpPr/>
          <p:nvPr/>
        </p:nvSpPr>
        <p:spPr>
          <a:xfrm>
            <a:off x="6260592" y="1371600"/>
            <a:ext cx="2426208"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6333744"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100,000,000 sat</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the smallest unit</a:t>
            </a:r>
            <a:endParaRPr lang="en-US" sz="1300" dirty="0"/>
          </a:p>
        </p:txBody>
      </p:sp>
      <p:sp>
        <p:nvSpPr>
          <p:cNvPr id="14" name="Text 12"/>
          <p:cNvSpPr txBox="1"/>
          <p:nvPr/>
        </p:nvSpPr>
        <p:spPr>
          <a:xfrm>
            <a:off x="457200" y="24688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0.001 BTC, counted in satoshis</a:t>
            </a:r>
            <a:endParaRPr lang="en-US" sz="1150" dirty="0"/>
          </a:p>
        </p:txBody>
      </p:sp>
      <p:sp>
        <p:nvSpPr>
          <p:cNvPr id="15" name="Shape 13"/>
          <p:cNvSpPr/>
          <p:nvPr/>
        </p:nvSpPr>
        <p:spPr>
          <a:xfrm>
            <a:off x="457200" y="2743200"/>
            <a:ext cx="5120640" cy="1005840"/>
          </a:xfrm>
          <a:prstGeom prst="roundRect">
            <a:avLst>
              <a:gd name="adj" fmla="val 9091"/>
            </a:avLst>
          </a:prstGeom>
          <a:solidFill>
            <a:srgbClr val="23272E"/>
          </a:solidFill>
          <a:ln w="12700">
            <a:solidFill>
              <a:srgbClr val="23272E"/>
            </a:solidFill>
            <a:prstDash val="solid"/>
          </a:ln>
        </p:spPr>
      </p:sp>
      <p:sp>
        <p:nvSpPr>
          <p:cNvPr id="16" name="Text 14"/>
          <p:cNvSpPr txBox="1"/>
          <p:nvPr/>
        </p:nvSpPr>
        <p:spPr>
          <a:xfrm>
            <a:off x="640080" y="2862072"/>
            <a:ext cx="4754880" cy="76809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int(decimal.Decimal('0.001')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100000</a:t>
            </a:r>
            <a:endParaRPr lang="en-US" sz="1100" dirty="0"/>
          </a:p>
        </p:txBody>
      </p:sp>
      <p:sp>
        <p:nvSpPr>
          <p:cNvPr id="17" name="Text 15"/>
          <p:cNvSpPr txBox="1"/>
          <p:nvPr/>
        </p:nvSpPr>
        <p:spPr>
          <a:xfrm>
            <a:off x="457200" y="3767328"/>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pic>
        <p:nvPicPr>
          <p:cNvPr id="18" name="Image 0" descr="../../03-materials/ch01/assets/c2s07_fractions.jpg">    </p:cNvPr>
          <p:cNvPicPr>
            <a:picLocks noChangeAspect="1"/>
          </p:cNvPicPr>
          <p:nvPr/>
        </p:nvPicPr>
        <p:blipFill>
          <a:blip r:embed="rId1"/>
          <a:srcRect l="0" r="0" t="0" b="0"/>
          <a:stretch/>
        </p:blipFill>
        <p:spPr>
          <a:xfrm>
            <a:off x="5806440" y="2697480"/>
            <a:ext cx="2880360" cy="1600200"/>
          </a:xfrm>
          <a:prstGeom prst="rect">
            <a:avLst/>
          </a:prstGeom>
        </p:spPr>
      </p:pic>
      <p:sp>
        <p:nvSpPr>
          <p:cNvPr id="19" name="Text 16"/>
          <p:cNvSpPr txBox="1"/>
          <p:nvPr/>
        </p:nvSpPr>
        <p:spPr>
          <a:xfrm>
            <a:off x="5806440" y="4315968"/>
            <a:ext cx="28803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fraction table, 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here is counting, and the units are exact</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38</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21 million, by rule - not by promise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Issuance halves every 210,000 blocks; the cap is the sum</a:t>
            </a:r>
            <a:endParaRPr lang="en-US" sz="1300" dirty="0"/>
          </a:p>
        </p:txBody>
      </p:sp>
      <p:graphicFrame>
        <p:nvGraphicFramePr>
          <p:cNvPr id="6" name="Chart 0" descr=""/>
          <p:cNvGraphicFramePr/>
          <p:nvPr/>
        </p:nvGraphicFramePr>
        <p:xfrm>
          <a:off x="457200" y="1325880"/>
          <a:ext cx="5120640" cy="32461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760720" y="1325880"/>
            <a:ext cx="2926080" cy="996696"/>
          </a:xfrm>
          <a:prstGeom prst="roundRect">
            <a:avLst>
              <a:gd name="adj" fmla="val 7339"/>
            </a:avLst>
          </a:prstGeom>
          <a:solidFill>
            <a:srgbClr val="F2ECE1"/>
          </a:solidFill>
          <a:ln w="12700">
            <a:solidFill>
              <a:srgbClr val="DFD6C7"/>
            </a:solidFill>
            <a:prstDash val="solid"/>
          </a:ln>
        </p:spPr>
      </p:sp>
      <p:sp>
        <p:nvSpPr>
          <p:cNvPr id="8" name="Text 5"/>
          <p:cNvSpPr txBox="1"/>
          <p:nvPr/>
        </p:nvSpPr>
        <p:spPr>
          <a:xfrm>
            <a:off x="5870448" y="1362456"/>
            <a:ext cx="2706624" cy="51828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210,000</a:t>
            </a:r>
            <a:endParaRPr lang="en-US" sz="2600" dirty="0"/>
          </a:p>
        </p:txBody>
      </p:sp>
      <p:sp>
        <p:nvSpPr>
          <p:cNvPr id="9" name="Text 6"/>
          <p:cNvSpPr txBox="1"/>
          <p:nvPr/>
        </p:nvSpPr>
        <p:spPr>
          <a:xfrm>
            <a:off x="5870448" y="1844162"/>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blocks between halvings</a:t>
            </a:r>
            <a:endParaRPr lang="en-US" sz="1100" dirty="0"/>
          </a:p>
        </p:txBody>
      </p:sp>
      <p:sp>
        <p:nvSpPr>
          <p:cNvPr id="10" name="Shape 7"/>
          <p:cNvSpPr/>
          <p:nvPr/>
        </p:nvSpPr>
        <p:spPr>
          <a:xfrm>
            <a:off x="5760720" y="2450592"/>
            <a:ext cx="2926080" cy="996696"/>
          </a:xfrm>
          <a:prstGeom prst="roundRect">
            <a:avLst>
              <a:gd name="adj" fmla="val 7339"/>
            </a:avLst>
          </a:prstGeom>
          <a:solidFill>
            <a:srgbClr val="F2ECE1"/>
          </a:solidFill>
          <a:ln w="12700">
            <a:solidFill>
              <a:srgbClr val="DFD6C7"/>
            </a:solidFill>
            <a:prstDash val="solid"/>
          </a:ln>
        </p:spPr>
      </p:sp>
      <p:sp>
        <p:nvSpPr>
          <p:cNvPr id="11" name="Text 8"/>
          <p:cNvSpPr txBox="1"/>
          <p:nvPr/>
        </p:nvSpPr>
        <p:spPr>
          <a:xfrm>
            <a:off x="5870448" y="2487168"/>
            <a:ext cx="2706624" cy="518282"/>
          </a:xfrm>
          <a:prstGeom prst="rect">
            <a:avLst/>
          </a:prstGeom>
          <a:noFill/>
          <a:ln/>
        </p:spPr>
        <p:txBody>
          <a:bodyPr wrap="square" lIns="0" tIns="0" rIns="0" bIns="0" rtlCol="0" anchor="ctr"/>
          <a:lstStyle/>
          <a:p>
            <a:pPr indent="0" marL="0">
              <a:buNone/>
            </a:pPr>
            <a:r>
              <a:rPr lang="en-US" sz="2000" b="1" dirty="0">
                <a:solidFill>
                  <a:srgbClr val="D97A14"/>
                </a:solidFill>
                <a:latin typeface="Cambria" pitchFamily="34" charset="0"/>
                <a:ea typeface="Cambria" pitchFamily="34" charset="-122"/>
                <a:cs typeface="Cambria" pitchFamily="34" charset="-120"/>
              </a:rPr>
              <a:t>20999999.9769</a:t>
            </a:r>
            <a:endParaRPr lang="en-US" sz="2000" dirty="0"/>
          </a:p>
        </p:txBody>
      </p:sp>
      <p:sp>
        <p:nvSpPr>
          <p:cNvPr id="12" name="Text 9"/>
          <p:cNvSpPr txBox="1"/>
          <p:nvPr/>
        </p:nvSpPr>
        <p:spPr>
          <a:xfrm>
            <a:off x="5870448" y="2968874"/>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sum of every era's issuance</a:t>
            </a:r>
            <a:endParaRPr lang="en-US" sz="1100" dirty="0"/>
          </a:p>
        </p:txBody>
      </p:sp>
      <p:sp>
        <p:nvSpPr>
          <p:cNvPr id="13" name="Shape 10"/>
          <p:cNvSpPr/>
          <p:nvPr/>
        </p:nvSpPr>
        <p:spPr>
          <a:xfrm>
            <a:off x="5760720" y="3575304"/>
            <a:ext cx="2926080" cy="996696"/>
          </a:xfrm>
          <a:prstGeom prst="roundRect">
            <a:avLst>
              <a:gd name="adj" fmla="val 7339"/>
            </a:avLst>
          </a:prstGeom>
          <a:solidFill>
            <a:srgbClr val="F2ECE1"/>
          </a:solidFill>
          <a:ln w="12700">
            <a:solidFill>
              <a:srgbClr val="DFD6C7"/>
            </a:solidFill>
            <a:prstDash val="solid"/>
          </a:ln>
        </p:spPr>
      </p:sp>
      <p:sp>
        <p:nvSpPr>
          <p:cNvPr id="14" name="Text 11"/>
          <p:cNvSpPr txBox="1"/>
          <p:nvPr/>
        </p:nvSpPr>
        <p:spPr>
          <a:xfrm>
            <a:off x="5870448" y="3611880"/>
            <a:ext cx="2706624" cy="51828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~2140</a:t>
            </a:r>
            <a:endParaRPr lang="en-US" sz="2600" dirty="0"/>
          </a:p>
        </p:txBody>
      </p:sp>
      <p:sp>
        <p:nvSpPr>
          <p:cNvPr id="15" name="Text 12"/>
          <p:cNvSpPr txBox="1"/>
          <p:nvPr/>
        </p:nvSpPr>
        <p:spPr>
          <a:xfrm>
            <a:off x="5870448" y="4093586"/>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year issuance ends</a:t>
            </a:r>
            <a:endParaRPr lang="en-US" sz="11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Scarcity is enforced by arithmetic every node checks</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38</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schedule, executed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cap is an arithmetic fact - the slide computes it</a:t>
            </a:r>
            <a:endParaRPr lang="en-US" sz="1300" dirty="0"/>
          </a:p>
        </p:txBody>
      </p:sp>
      <p:sp>
        <p:nvSpPr>
          <p:cNvPr id="6" name="Text 4"/>
          <p:cNvSpPr txBox="1"/>
          <p:nvPr/>
        </p:nvSpPr>
        <p:spPr>
          <a:xfrm>
            <a:off x="457200" y="1371600"/>
            <a:ext cx="3200400" cy="301752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Sum every era and the cap appears</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A halving is one shift right</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Any height tells you its subsidy</a:t>
            </a:r>
            <a:endParaRPr lang="en-US" sz="1450" dirty="0"/>
          </a:p>
        </p:txBody>
      </p:sp>
      <p:sp>
        <p:nvSpPr>
          <p:cNvPr id="7" name="Text 5"/>
          <p:cNvSpPr txBox="1"/>
          <p:nvPr/>
        </p:nvSpPr>
        <p:spPr>
          <a:xfrm>
            <a:off x="3840480" y="1024128"/>
            <a:ext cx="48463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cap, summed over 33 eras</a:t>
            </a:r>
            <a:endParaRPr lang="en-US" sz="1150" dirty="0"/>
          </a:p>
        </p:txBody>
      </p:sp>
      <p:sp>
        <p:nvSpPr>
          <p:cNvPr id="8" name="Shape 6"/>
          <p:cNvSpPr/>
          <p:nvPr/>
        </p:nvSpPr>
        <p:spPr>
          <a:xfrm>
            <a:off x="3840480" y="1298448"/>
            <a:ext cx="4846320" cy="914400"/>
          </a:xfrm>
          <a:prstGeom prst="roundRect">
            <a:avLst>
              <a:gd name="adj" fmla="val 10000"/>
            </a:avLst>
          </a:prstGeom>
          <a:solidFill>
            <a:srgbClr val="23272E"/>
          </a:solidFill>
          <a:ln w="12700">
            <a:solidFill>
              <a:srgbClr val="23272E"/>
            </a:solidFill>
            <a:prstDash val="solid"/>
          </a:ln>
        </p:spPr>
      </p:sp>
      <p:sp>
        <p:nvSpPr>
          <p:cNvPr id="9" name="Text 7"/>
          <p:cNvSpPr txBox="1"/>
          <p:nvPr/>
        </p:nvSpPr>
        <p:spPr>
          <a:xfrm>
            <a:off x="4023360" y="1417320"/>
            <a:ext cx="4480560" cy="67665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sum((50 * 10**8 &gt;&gt; era) * 210000 for era in range(33))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20999999.9769</a:t>
            </a:r>
            <a:endParaRPr lang="en-US" sz="1100" dirty="0"/>
          </a:p>
        </p:txBody>
      </p:sp>
      <p:sp>
        <p:nvSpPr>
          <p:cNvPr id="10" name="Text 8"/>
          <p:cNvSpPr txBox="1"/>
          <p:nvPr/>
        </p:nvSpPr>
        <p:spPr>
          <a:xfrm>
            <a:off x="3840480" y="2231136"/>
            <a:ext cx="48463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1" name="Text 9"/>
          <p:cNvSpPr txBox="1"/>
          <p:nvPr/>
        </p:nvSpPr>
        <p:spPr>
          <a:xfrm>
            <a:off x="3840480" y="2121408"/>
            <a:ext cx="48463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halving = divide by two</a:t>
            </a:r>
            <a:endParaRPr lang="en-US" sz="1150" dirty="0"/>
          </a:p>
        </p:txBody>
      </p:sp>
      <p:sp>
        <p:nvSpPr>
          <p:cNvPr id="12" name="Shape 10"/>
          <p:cNvSpPr/>
          <p:nvPr/>
        </p:nvSpPr>
        <p:spPr>
          <a:xfrm>
            <a:off x="3840480" y="2395728"/>
            <a:ext cx="4846320" cy="914400"/>
          </a:xfrm>
          <a:prstGeom prst="roundRect">
            <a:avLst>
              <a:gd name="adj" fmla="val 10000"/>
            </a:avLst>
          </a:prstGeom>
          <a:solidFill>
            <a:srgbClr val="23272E"/>
          </a:solidFill>
          <a:ln w="12700">
            <a:solidFill>
              <a:srgbClr val="23272E"/>
            </a:solidFill>
            <a:prstDash val="solid"/>
          </a:ln>
        </p:spPr>
      </p:sp>
      <p:sp>
        <p:nvSpPr>
          <p:cNvPr id="13" name="Text 11"/>
          <p:cNvSpPr txBox="1"/>
          <p:nvPr/>
        </p:nvSpPr>
        <p:spPr>
          <a:xfrm>
            <a:off x="4023360" y="2514600"/>
            <a:ext cx="4480560" cy="67665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(50 * 10**8 &gt;&gt; 840000 // 210000)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3.125</a:t>
            </a:r>
            <a:endParaRPr lang="en-US" sz="1100" dirty="0"/>
          </a:p>
        </p:txBody>
      </p:sp>
      <p:sp>
        <p:nvSpPr>
          <p:cNvPr id="14" name="Text 12"/>
          <p:cNvSpPr txBox="1"/>
          <p:nvPr/>
        </p:nvSpPr>
        <p:spPr>
          <a:xfrm>
            <a:off x="3840480" y="3328416"/>
            <a:ext cx="48463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5" name="Text 13"/>
          <p:cNvSpPr txBox="1"/>
          <p:nvPr/>
        </p:nvSpPr>
        <p:spPr>
          <a:xfrm>
            <a:off x="3840480" y="3218688"/>
            <a:ext cx="48463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subsidy at any block height</a:t>
            </a:r>
            <a:endParaRPr lang="en-US" sz="1150" dirty="0"/>
          </a:p>
        </p:txBody>
      </p:sp>
      <p:sp>
        <p:nvSpPr>
          <p:cNvPr id="16" name="Shape 14"/>
          <p:cNvSpPr/>
          <p:nvPr/>
        </p:nvSpPr>
        <p:spPr>
          <a:xfrm>
            <a:off x="3840480" y="3493008"/>
            <a:ext cx="4846320" cy="914400"/>
          </a:xfrm>
          <a:prstGeom prst="roundRect">
            <a:avLst>
              <a:gd name="adj" fmla="val 10000"/>
            </a:avLst>
          </a:prstGeom>
          <a:solidFill>
            <a:srgbClr val="23272E"/>
          </a:solidFill>
          <a:ln w="12700">
            <a:solidFill>
              <a:srgbClr val="23272E"/>
            </a:solidFill>
            <a:prstDash val="solid"/>
          </a:ln>
        </p:spPr>
      </p:sp>
      <p:sp>
        <p:nvSpPr>
          <p:cNvPr id="17" name="Text 15"/>
          <p:cNvSpPr txBox="1"/>
          <p:nvPr/>
        </p:nvSpPr>
        <p:spPr>
          <a:xfrm>
            <a:off x="4023360" y="3611880"/>
            <a:ext cx="4480560" cy="67665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[(50 * 10**8 &gt;&gt; h // 210000) / 10**8 for h in (0, 210000, 420000, 630000, 840000)]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[50.0, 25.0, 12.5, 6.25, 3.125]</a:t>
            </a:r>
            <a:endParaRPr lang="en-US" sz="1100" dirty="0"/>
          </a:p>
        </p:txBody>
      </p:sp>
      <p:sp>
        <p:nvSpPr>
          <p:cNvPr id="18" name="Text 16"/>
          <p:cNvSpPr txBox="1"/>
          <p:nvPr/>
        </p:nvSpPr>
        <p:spPr>
          <a:xfrm>
            <a:off x="3840480" y="4425696"/>
            <a:ext cx="48463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one-liners reproduce the whole monetary policy</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38</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Price is discovered, not declared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 authority sets an exchange rate</a:t>
            </a:r>
            <a:endParaRPr lang="en-US" sz="1300" dirty="0"/>
          </a:p>
        </p:txBody>
      </p:sp>
      <p:sp>
        <p:nvSpPr>
          <p:cNvPr id="6" name="Text 4"/>
          <p:cNvSpPr txBox="1"/>
          <p:nvPr/>
        </p:nvSpPr>
        <p:spPr>
          <a:xfrm>
            <a:off x="457200" y="1371600"/>
            <a:ext cx="4023360" cy="31089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Bitcoin floats against every other currency</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Markets discover the price trade by trade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 volume-weighted average summarises a day</a:t>
            </a:r>
            <a:endParaRPr lang="en-US" sz="1500" dirty="0"/>
          </a:p>
        </p:txBody>
      </p:sp>
      <p:sp>
        <p:nvSpPr>
          <p:cNvPr id="7" name="Text 5"/>
          <p:cNvSpPr txBox="1"/>
          <p:nvPr/>
        </p:nvSpPr>
        <p:spPr>
          <a:xfrm>
            <a:off x="4663440" y="109728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price is a ratio of two quotes</a:t>
            </a:r>
            <a:endParaRPr lang="en-US" sz="1150" dirty="0"/>
          </a:p>
        </p:txBody>
      </p:sp>
      <p:sp>
        <p:nvSpPr>
          <p:cNvPr id="8" name="Shape 6"/>
          <p:cNvSpPr/>
          <p:nvPr/>
        </p:nvSpPr>
        <p:spPr>
          <a:xfrm>
            <a:off x="4663440" y="1371600"/>
            <a:ext cx="4023360" cy="1188720"/>
          </a:xfrm>
          <a:prstGeom prst="roundRect">
            <a:avLst>
              <a:gd name="adj" fmla="val 7692"/>
            </a:avLst>
          </a:prstGeom>
          <a:solidFill>
            <a:srgbClr val="23272E"/>
          </a:solidFill>
          <a:ln w="12700">
            <a:solidFill>
              <a:srgbClr val="23272E"/>
            </a:solidFill>
            <a:prstDash val="solid"/>
          </a:ln>
        </p:spPr>
      </p:sp>
      <p:sp>
        <p:nvSpPr>
          <p:cNvPr id="9" name="Text 7"/>
          <p:cNvSpPr txBox="1"/>
          <p:nvPr/>
        </p:nvSpPr>
        <p:spPr>
          <a:xfrm>
            <a:off x="4846320" y="1490472"/>
            <a:ext cx="3657600" cy="95097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round(0.001 * 60000, 2)</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60.0</a:t>
            </a:r>
            <a:endParaRPr lang="en-US" sz="1100" dirty="0"/>
          </a:p>
        </p:txBody>
      </p:sp>
      <p:sp>
        <p:nvSpPr>
          <p:cNvPr id="10" name="Text 8"/>
          <p:cNvSpPr txBox="1"/>
          <p:nvPr/>
        </p:nvSpPr>
        <p:spPr>
          <a:xfrm>
            <a:off x="4663440" y="257860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1" name="Text 9"/>
          <p:cNvSpPr txBox="1"/>
          <p:nvPr/>
        </p:nvSpPr>
        <p:spPr>
          <a:xfrm>
            <a:off x="4663440" y="25603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day summarised fairly, by volume</a:t>
            </a:r>
            <a:endParaRPr lang="en-US" sz="1150" dirty="0"/>
          </a:p>
        </p:txBody>
      </p:sp>
      <p:sp>
        <p:nvSpPr>
          <p:cNvPr id="12" name="Shape 10"/>
          <p:cNvSpPr/>
          <p:nvPr/>
        </p:nvSpPr>
        <p:spPr>
          <a:xfrm>
            <a:off x="4663440" y="2834640"/>
            <a:ext cx="4023360" cy="1188720"/>
          </a:xfrm>
          <a:prstGeom prst="roundRect">
            <a:avLst>
              <a:gd name="adj" fmla="val 7692"/>
            </a:avLst>
          </a:prstGeom>
          <a:solidFill>
            <a:srgbClr val="23272E"/>
          </a:solidFill>
          <a:ln w="12700">
            <a:solidFill>
              <a:srgbClr val="23272E"/>
            </a:solidFill>
            <a:prstDash val="solid"/>
          </a:ln>
        </p:spPr>
      </p:sp>
      <p:sp>
        <p:nvSpPr>
          <p:cNvPr id="13" name="Text 11"/>
          <p:cNvSpPr txBox="1"/>
          <p:nvPr/>
        </p:nvSpPr>
        <p:spPr>
          <a:xfrm>
            <a:off x="4846320" y="2953512"/>
            <a:ext cx="3657600" cy="95097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sum(p * v for p, v in [(100, 3), (104, 1)]) / sum(v for p, v in [(100, 3), (104, 1)])</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101.0</a:t>
            </a:r>
            <a:endParaRPr lang="en-US" sz="1100" dirty="0"/>
          </a:p>
        </p:txBody>
      </p:sp>
      <p:sp>
        <p:nvSpPr>
          <p:cNvPr id="14" name="Text 12"/>
          <p:cNvSpPr txBox="1"/>
          <p:nvPr/>
        </p:nvSpPr>
        <p:spPr>
          <a:xfrm>
            <a:off x="4663440" y="404164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 one sets the price; everyone does</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38</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pizzas for ten thousand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22 May 2010</a:t>
            </a:r>
            <a:endParaRPr lang="en-US" sz="1300" dirty="0"/>
          </a:p>
        </p:txBody>
      </p:sp>
      <p:sp>
        <p:nvSpPr>
          <p:cNvPr id="6" name="Shape 4"/>
          <p:cNvSpPr/>
          <p:nvPr/>
        </p:nvSpPr>
        <p:spPr>
          <a:xfrm>
            <a:off x="457200" y="1417320"/>
            <a:ext cx="2743200" cy="1463040"/>
          </a:xfrm>
          <a:prstGeom prst="roundRect">
            <a:avLst>
              <a:gd name="adj" fmla="val 5000"/>
            </a:avLst>
          </a:prstGeom>
          <a:solidFill>
            <a:srgbClr val="F2ECE1"/>
          </a:solidFill>
          <a:ln w="12700">
            <a:solidFill>
              <a:srgbClr val="DFD6C7"/>
            </a:solidFill>
            <a:prstDash val="solid"/>
          </a:ln>
        </p:spPr>
      </p:sp>
      <p:sp>
        <p:nvSpPr>
          <p:cNvPr id="7" name="Text 5"/>
          <p:cNvSpPr txBox="1"/>
          <p:nvPr/>
        </p:nvSpPr>
        <p:spPr>
          <a:xfrm>
            <a:off x="566928" y="1490472"/>
            <a:ext cx="2523744" cy="73152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10,000 BTC</a:t>
            </a:r>
            <a:endParaRPr lang="en-US" sz="2200" dirty="0"/>
          </a:p>
        </p:txBody>
      </p:sp>
      <p:sp>
        <p:nvSpPr>
          <p:cNvPr id="8" name="Text 6"/>
          <p:cNvSpPr txBox="1"/>
          <p:nvPr/>
        </p:nvSpPr>
        <p:spPr>
          <a:xfrm>
            <a:off x="566928" y="2178101"/>
            <a:ext cx="25237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offered on the bitcointalk forum by Laszlo Hanyecz</a:t>
            </a:r>
            <a:endParaRPr lang="en-US" sz="1150" dirty="0"/>
          </a:p>
        </p:txBody>
      </p:sp>
      <p:pic>
        <p:nvPicPr>
          <p:cNvPr id="9" name="Image 0" descr="../../03-materials/ch01/assets/photo_pizza_margherita.jpg">    </p:cNvPr>
          <p:cNvPicPr>
            <a:picLocks noChangeAspect="1"/>
          </p:cNvPicPr>
          <p:nvPr/>
        </p:nvPicPr>
        <p:blipFill>
          <a:blip r:embed="rId1"/>
          <a:srcRect l="0" r="0" t="0" b="0"/>
          <a:stretch/>
        </p:blipFill>
        <p:spPr>
          <a:xfrm>
            <a:off x="502920" y="3017520"/>
            <a:ext cx="2697480" cy="1417320"/>
          </a:xfrm>
          <a:prstGeom prst="rect">
            <a:avLst/>
          </a:prstGeom>
        </p:spPr>
      </p:pic>
      <p:sp>
        <p:nvSpPr>
          <p:cNvPr id="10" name="Text 7"/>
          <p:cNvSpPr txBox="1"/>
          <p:nvPr/>
        </p:nvSpPr>
        <p:spPr>
          <a:xfrm>
            <a:off x="502920" y="4453128"/>
            <a:ext cx="2697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photo: Valerio Capello, CC BY-SA 3.0, Wikimedia Commons</a:t>
            </a:r>
            <a:endParaRPr lang="en-US" sz="900" dirty="0"/>
          </a:p>
        </p:txBody>
      </p:sp>
      <p:sp>
        <p:nvSpPr>
          <p:cNvPr id="11" name="Shape 8"/>
          <p:cNvSpPr/>
          <p:nvPr/>
        </p:nvSpPr>
        <p:spPr>
          <a:xfrm>
            <a:off x="3611880" y="1650492"/>
            <a:ext cx="128016" cy="128016"/>
          </a:xfrm>
          <a:prstGeom prst="diamond">
            <a:avLst/>
          </a:prstGeom>
          <a:solidFill>
            <a:srgbClr val="D97A14"/>
          </a:solidFill>
          <a:ln w="12700">
            <a:solidFill>
              <a:srgbClr val="D97A14"/>
            </a:solidFill>
            <a:prstDash val="solid"/>
          </a:ln>
        </p:spPr>
      </p:sp>
      <p:sp>
        <p:nvSpPr>
          <p:cNvPr id="12" name="Text 9"/>
          <p:cNvSpPr txBox="1"/>
          <p:nvPr/>
        </p:nvSpPr>
        <p:spPr>
          <a:xfrm>
            <a:off x="3886200" y="141732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For 18 months bitcoin ran with no known price at all</a:t>
            </a:r>
            <a:endParaRPr lang="en-US" sz="1300" dirty="0"/>
          </a:p>
        </p:txBody>
      </p:sp>
      <p:sp>
        <p:nvSpPr>
          <p:cNvPr id="13" name="Shape 10"/>
          <p:cNvSpPr/>
          <p:nvPr/>
        </p:nvSpPr>
        <p:spPr>
          <a:xfrm>
            <a:off x="3611880" y="2244852"/>
            <a:ext cx="128016" cy="128016"/>
          </a:xfrm>
          <a:prstGeom prst="diamond">
            <a:avLst/>
          </a:prstGeom>
          <a:solidFill>
            <a:srgbClr val="D97A14"/>
          </a:solidFill>
          <a:ln w="12700">
            <a:solidFill>
              <a:srgbClr val="D97A14"/>
            </a:solidFill>
            <a:prstDash val="solid"/>
          </a:ln>
        </p:spPr>
      </p:sp>
      <p:sp>
        <p:nvSpPr>
          <p:cNvPr id="14" name="Text 11"/>
          <p:cNvSpPr txBox="1"/>
          <p:nvPr/>
        </p:nvSpPr>
        <p:spPr>
          <a:xfrm>
            <a:off x="3886200" y="201168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Someone took the offer and ordered him two pizzas</a:t>
            </a:r>
            <a:endParaRPr lang="en-US" sz="1300" dirty="0"/>
          </a:p>
        </p:txBody>
      </p:sp>
      <p:sp>
        <p:nvSpPr>
          <p:cNvPr id="15" name="Shape 12"/>
          <p:cNvSpPr/>
          <p:nvPr/>
        </p:nvSpPr>
        <p:spPr>
          <a:xfrm>
            <a:off x="3611880" y="2839212"/>
            <a:ext cx="128016" cy="128016"/>
          </a:xfrm>
          <a:prstGeom prst="diamond">
            <a:avLst/>
          </a:prstGeom>
          <a:solidFill>
            <a:srgbClr val="D97A14"/>
          </a:solidFill>
          <a:ln w="12700">
            <a:solidFill>
              <a:srgbClr val="D97A14"/>
            </a:solidFill>
            <a:prstDash val="solid"/>
          </a:ln>
        </p:spPr>
      </p:sp>
      <p:sp>
        <p:nvSpPr>
          <p:cNvPr id="16" name="Text 13"/>
          <p:cNvSpPr txBox="1"/>
          <p:nvPr/>
        </p:nvSpPr>
        <p:spPr>
          <a:xfrm>
            <a:off x="3886200" y="260604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first commercial purchase gave bitcoin its first real price</a:t>
            </a:r>
            <a:endParaRPr lang="en-US" sz="1300" dirty="0"/>
          </a:p>
        </p:txBody>
      </p:sp>
      <p:sp>
        <p:nvSpPr>
          <p:cNvPr id="17" name="Shape 14"/>
          <p:cNvSpPr/>
          <p:nvPr/>
        </p:nvSpPr>
        <p:spPr>
          <a:xfrm>
            <a:off x="3611880" y="3433572"/>
            <a:ext cx="128016" cy="128016"/>
          </a:xfrm>
          <a:prstGeom prst="diamond">
            <a:avLst/>
          </a:prstGeom>
          <a:solidFill>
            <a:srgbClr val="D97A14"/>
          </a:solidFill>
          <a:ln w="12700">
            <a:solidFill>
              <a:srgbClr val="D97A14"/>
            </a:solidFill>
            <a:prstDash val="solid"/>
          </a:ln>
        </p:spPr>
      </p:sp>
      <p:sp>
        <p:nvSpPr>
          <p:cNvPr id="18" name="Text 15"/>
          <p:cNvSpPr txBox="1"/>
          <p:nvPr/>
        </p:nvSpPr>
        <p:spPr>
          <a:xfrm>
            <a:off x="3886200" y="320040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22 May is still celebrated as Bitcoin Pizza Day</a:t>
            </a:r>
            <a:endParaRPr lang="en-US" sz="1300" dirty="0"/>
          </a:p>
        </p:txBody>
      </p:sp>
      <p:sp>
        <p:nvSpPr>
          <p:cNvPr id="19" name="Shape 16"/>
          <p:cNvSpPr/>
          <p:nvPr/>
        </p:nvSpPr>
        <p:spPr>
          <a:xfrm>
            <a:off x="3611880" y="3977640"/>
            <a:ext cx="2743200" cy="402336"/>
          </a:xfrm>
          <a:prstGeom prst="roundRect">
            <a:avLst>
              <a:gd name="adj" fmla="val 50000"/>
            </a:avLst>
          </a:prstGeom>
          <a:solidFill>
            <a:srgbClr val="2F6D62"/>
          </a:solidFill>
          <a:ln w="12700">
            <a:solidFill>
              <a:srgbClr val="2F6D62"/>
            </a:solidFill>
            <a:prstDash val="solid"/>
          </a:ln>
        </p:spPr>
      </p:sp>
      <p:sp>
        <p:nvSpPr>
          <p:cNvPr id="20" name="Text 17"/>
          <p:cNvSpPr txBox="1"/>
          <p:nvPr/>
        </p:nvSpPr>
        <p:spPr>
          <a:xfrm>
            <a:off x="3611880" y="3977640"/>
            <a:ext cx="274320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22 May 2010</a:t>
            </a:r>
            <a:endParaRPr lang="en-US" sz="1300" dirty="0"/>
          </a:p>
        </p:txBody>
      </p:sp>
      <p:sp>
        <p:nvSpPr>
          <p:cNvPr id="21"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Price is discovered the first time someone pays</a:t>
            </a:r>
            <a:endParaRPr lang="en-US" sz="1350" dirty="0"/>
          </a:p>
        </p:txBody>
      </p:sp>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38</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pizza, repriced every few years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Documented milestones; the last point fetched live for this deck</a:t>
            </a:r>
            <a:endParaRPr lang="en-US" sz="1300" dirty="0"/>
          </a:p>
        </p:txBody>
      </p:sp>
      <p:pic>
        <p:nvPicPr>
          <p:cNvPr id="6" name="Image 0" descr="../../03-materials/ch01/assets/pizza_value_chart.png">    </p:cNvPr>
          <p:cNvPicPr>
            <a:picLocks noChangeAspect="1"/>
          </p:cNvPicPr>
          <p:nvPr/>
        </p:nvPicPr>
        <p:blipFill>
          <a:blip r:embed="rId1"/>
          <a:srcRect l="0" r="0" t="0" b="0"/>
          <a:stretch/>
        </p:blipFill>
        <p:spPr>
          <a:xfrm>
            <a:off x="457200" y="1325880"/>
            <a:ext cx="5852160" cy="3154680"/>
          </a:xfrm>
          <a:prstGeom prst="rect">
            <a:avLst/>
          </a:prstGeom>
        </p:spPr>
      </p:pic>
      <p:sp>
        <p:nvSpPr>
          <p:cNvPr id="7" name="Shape 4"/>
          <p:cNvSpPr/>
          <p:nvPr/>
        </p:nvSpPr>
        <p:spPr>
          <a:xfrm>
            <a:off x="6537960" y="1417320"/>
            <a:ext cx="2148840" cy="1078992"/>
          </a:xfrm>
          <a:prstGeom prst="roundRect">
            <a:avLst>
              <a:gd name="adj" fmla="val 6780"/>
            </a:avLst>
          </a:prstGeom>
          <a:solidFill>
            <a:srgbClr val="F2ECE1"/>
          </a:solidFill>
          <a:ln w="12700">
            <a:solidFill>
              <a:srgbClr val="DFD6C7"/>
            </a:solidFill>
            <a:prstDash val="solid"/>
          </a:ln>
        </p:spPr>
      </p:sp>
      <p:sp>
        <p:nvSpPr>
          <p:cNvPr id="8" name="Text 5"/>
          <p:cNvSpPr txBox="1"/>
          <p:nvPr/>
        </p:nvSpPr>
        <p:spPr>
          <a:xfrm>
            <a:off x="6647688" y="1453896"/>
            <a:ext cx="1929384" cy="561076"/>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$41</a:t>
            </a:r>
            <a:endParaRPr lang="en-US" sz="2600" dirty="0"/>
          </a:p>
        </p:txBody>
      </p:sp>
      <p:sp>
        <p:nvSpPr>
          <p:cNvPr id="9" name="Text 6"/>
          <p:cNvSpPr txBox="1"/>
          <p:nvPr/>
        </p:nvSpPr>
        <p:spPr>
          <a:xfrm>
            <a:off x="6647688" y="1978396"/>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pizzas' value in May 2010</a:t>
            </a:r>
            <a:endParaRPr lang="en-US" sz="1100" dirty="0"/>
          </a:p>
        </p:txBody>
      </p:sp>
      <p:sp>
        <p:nvSpPr>
          <p:cNvPr id="10" name="Shape 7"/>
          <p:cNvSpPr/>
          <p:nvPr/>
        </p:nvSpPr>
        <p:spPr>
          <a:xfrm>
            <a:off x="6537960" y="2624328"/>
            <a:ext cx="2148840" cy="1078992"/>
          </a:xfrm>
          <a:prstGeom prst="roundRect">
            <a:avLst>
              <a:gd name="adj" fmla="val 6780"/>
            </a:avLst>
          </a:prstGeom>
          <a:solidFill>
            <a:srgbClr val="F2ECE1"/>
          </a:solidFill>
          <a:ln w="12700">
            <a:solidFill>
              <a:srgbClr val="DFD6C7"/>
            </a:solidFill>
            <a:prstDash val="solid"/>
          </a:ln>
        </p:spPr>
      </p:sp>
      <p:sp>
        <p:nvSpPr>
          <p:cNvPr id="11" name="Text 8"/>
          <p:cNvSpPr txBox="1"/>
          <p:nvPr/>
        </p:nvSpPr>
        <p:spPr>
          <a:xfrm>
            <a:off x="6647688" y="2660904"/>
            <a:ext cx="1929384" cy="561076"/>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$854M</a:t>
            </a:r>
            <a:endParaRPr lang="en-US" sz="2600" dirty="0"/>
          </a:p>
        </p:txBody>
      </p:sp>
      <p:sp>
        <p:nvSpPr>
          <p:cNvPr id="12" name="Text 9"/>
          <p:cNvSpPr txBox="1"/>
          <p:nvPr/>
        </p:nvSpPr>
        <p:spPr>
          <a:xfrm>
            <a:off x="6647688" y="3185404"/>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same 10,000 BTC on 2026-10-06, two APIs agreeing</a:t>
            </a:r>
            <a:endParaRPr lang="en-US" sz="1100" dirty="0"/>
          </a:p>
        </p:txBody>
      </p:sp>
      <p:sp>
        <p:nvSpPr>
          <p:cNvPr id="13" name="Shape 10"/>
          <p:cNvSpPr/>
          <p:nvPr/>
        </p:nvSpPr>
        <p:spPr>
          <a:xfrm>
            <a:off x="6537960" y="3931920"/>
            <a:ext cx="2103120" cy="402336"/>
          </a:xfrm>
          <a:prstGeom prst="roundRect">
            <a:avLst>
              <a:gd name="adj" fmla="val 50000"/>
            </a:avLst>
          </a:prstGeom>
          <a:solidFill>
            <a:srgbClr val="2F6D62"/>
          </a:solidFill>
          <a:ln w="12700">
            <a:solidFill>
              <a:srgbClr val="2F6D62"/>
            </a:solidFill>
            <a:prstDash val="solid"/>
          </a:ln>
        </p:spPr>
      </p:sp>
      <p:sp>
        <p:nvSpPr>
          <p:cNvPr id="14" name="Text 11"/>
          <p:cNvSpPr txBox="1"/>
          <p:nvPr/>
        </p:nvSpPr>
        <p:spPr>
          <a:xfrm>
            <a:off x="6537960" y="3931920"/>
            <a:ext cx="2103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log scale</a:t>
            </a:r>
            <a:endParaRPr lang="en-US" sz="130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From 41 dollars to 854 million - price discovery never stopped</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38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Network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bank in the middle - and what replaces it</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Peer-to-peer</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Consensus</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Mining</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History</a:t>
            </a:r>
            <a:pPr algn="ctr" indent="0" marL="0">
              <a:buNone/>
            </a:pPr>
            <a:endParaRPr lang="en-US" sz="1400" dirty="0"/>
          </a:p>
        </p:txBody>
      </p:sp>
      <p:pic>
        <p:nvPicPr>
          <p:cNvPr id="14" name="Image 0" descr="../../03-materials/ch01/assets/c1s18_circulation.png">    </p:cNvPr>
          <p:cNvPicPr>
            <a:picLocks noChangeAspect="1"/>
          </p:cNvPicPr>
          <p:nvPr/>
        </p:nvPicPr>
        <p:blipFill>
          <a:blip r:embed="rId1"/>
          <a:srcRect l="0" r="0" t="0" b="0"/>
          <a:stretch/>
        </p:blipFill>
        <p:spPr>
          <a:xfrm>
            <a:off x="5943600" y="1828800"/>
            <a:ext cx="2834640" cy="2560320"/>
          </a:xfrm>
          <a:prstGeom prst="rect">
            <a:avLst/>
          </a:prstGeom>
        </p:spPr>
      </p:pic>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38</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bank in the middle vs. peers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Decentralisation is an architecture, not a slogan</a:t>
            </a:r>
            <a:endParaRPr lang="en-US" sz="1300" dirty="0"/>
          </a:p>
        </p:txBody>
      </p:sp>
      <p:sp>
        <p:nvSpPr>
          <p:cNvPr id="6" name="Shape 4"/>
          <p:cNvSpPr/>
          <p:nvPr/>
        </p:nvSpPr>
        <p:spPr>
          <a:xfrm>
            <a:off x="457200" y="1325880"/>
            <a:ext cx="3931920" cy="3017520"/>
          </a:xfrm>
          <a:prstGeom prst="roundRect">
            <a:avLst>
              <a:gd name="adj" fmla="val 3030"/>
            </a:avLst>
          </a:prstGeom>
          <a:solidFill>
            <a:srgbClr val="F2ECE1"/>
          </a:solidFill>
          <a:ln w="12700">
            <a:solidFill>
              <a:srgbClr val="DFD6C7"/>
            </a:solidFill>
            <a:prstDash val="solid"/>
          </a:ln>
        </p:spPr>
      </p:sp>
      <p:sp>
        <p:nvSpPr>
          <p:cNvPr id="7" name="Text 5"/>
          <p:cNvSpPr txBox="1"/>
          <p:nvPr/>
        </p:nvSpPr>
        <p:spPr>
          <a:xfrm>
            <a:off x="594360" y="1399032"/>
            <a:ext cx="3657600" cy="365760"/>
          </a:xfrm>
          <a:prstGeom prst="rect">
            <a:avLst/>
          </a:prstGeom>
          <a:noFill/>
          <a:ln/>
        </p:spPr>
        <p:txBody>
          <a:bodyPr wrap="square" lIns="0" tIns="0" rIns="0" bIns="0" rtlCol="0" anchor="ctr"/>
          <a:lstStyle/>
          <a:p>
            <a:pPr indent="0" marL="0">
              <a:buNone/>
            </a:pPr>
            <a:r>
              <a:rPr lang="en-US" sz="1350" b="1" dirty="0">
                <a:solidFill>
                  <a:srgbClr val="54504A"/>
                </a:solidFill>
                <a:latin typeface="Cambria" pitchFamily="34" charset="0"/>
                <a:ea typeface="Cambria" pitchFamily="34" charset="-122"/>
                <a:cs typeface="Cambria" pitchFamily="34" charset="-120"/>
              </a:rPr>
              <a:t>Centralised: one ledger-keeper</a:t>
            </a:r>
            <a:endParaRPr lang="en-US" sz="1350" dirty="0"/>
          </a:p>
        </p:txBody>
      </p:sp>
      <p:sp>
        <p:nvSpPr>
          <p:cNvPr id="8" name="Shape 6"/>
          <p:cNvSpPr/>
          <p:nvPr/>
        </p:nvSpPr>
        <p:spPr>
          <a:xfrm>
            <a:off x="2423160" y="2098548"/>
            <a:ext cx="0" cy="896112"/>
          </a:xfrm>
          <a:prstGeom prst="line">
            <a:avLst/>
          </a:prstGeom>
          <a:noFill/>
          <a:ln w="13970">
            <a:solidFill>
              <a:srgbClr val="BBB1A2"/>
            </a:solidFill>
            <a:prstDash val="solid"/>
          </a:ln>
        </p:spPr>
      </p:sp>
      <p:sp>
        <p:nvSpPr>
          <p:cNvPr id="9" name="Shape 7"/>
          <p:cNvSpPr/>
          <p:nvPr/>
        </p:nvSpPr>
        <p:spPr>
          <a:xfrm>
            <a:off x="2231136" y="1906524"/>
            <a:ext cx="384048" cy="384048"/>
          </a:xfrm>
          <a:prstGeom prst="ellipse">
            <a:avLst/>
          </a:prstGeom>
          <a:solidFill>
            <a:srgbClr val="54504A"/>
          </a:solidFill>
          <a:ln w="9525">
            <a:solidFill>
              <a:srgbClr val="54504A"/>
            </a:solidFill>
            <a:prstDash val="solid"/>
          </a:ln>
        </p:spPr>
      </p:sp>
      <p:sp>
        <p:nvSpPr>
          <p:cNvPr id="10" name="Shape 8"/>
          <p:cNvSpPr/>
          <p:nvPr/>
        </p:nvSpPr>
        <p:spPr>
          <a:xfrm flipV="1">
            <a:off x="2423160" y="2546604"/>
            <a:ext cx="776056" cy="448056"/>
          </a:xfrm>
          <a:prstGeom prst="line">
            <a:avLst/>
          </a:prstGeom>
          <a:noFill/>
          <a:ln w="13970">
            <a:solidFill>
              <a:srgbClr val="BBB1A2"/>
            </a:solidFill>
            <a:prstDash val="solid"/>
          </a:ln>
        </p:spPr>
      </p:sp>
      <p:sp>
        <p:nvSpPr>
          <p:cNvPr id="11" name="Shape 9"/>
          <p:cNvSpPr/>
          <p:nvPr/>
        </p:nvSpPr>
        <p:spPr>
          <a:xfrm>
            <a:off x="3007192" y="2354580"/>
            <a:ext cx="384048" cy="384048"/>
          </a:xfrm>
          <a:prstGeom prst="ellipse">
            <a:avLst/>
          </a:prstGeom>
          <a:solidFill>
            <a:srgbClr val="54504A"/>
          </a:solidFill>
          <a:ln w="9525">
            <a:solidFill>
              <a:srgbClr val="54504A"/>
            </a:solidFill>
            <a:prstDash val="solid"/>
          </a:ln>
        </p:spPr>
      </p:sp>
      <p:sp>
        <p:nvSpPr>
          <p:cNvPr id="12" name="Shape 10"/>
          <p:cNvSpPr/>
          <p:nvPr/>
        </p:nvSpPr>
        <p:spPr>
          <a:xfrm>
            <a:off x="2423160" y="2994660"/>
            <a:ext cx="776056" cy="448056"/>
          </a:xfrm>
          <a:prstGeom prst="line">
            <a:avLst/>
          </a:prstGeom>
          <a:noFill/>
          <a:ln w="13970">
            <a:solidFill>
              <a:srgbClr val="BBB1A2"/>
            </a:solidFill>
            <a:prstDash val="solid"/>
          </a:ln>
        </p:spPr>
      </p:sp>
      <p:sp>
        <p:nvSpPr>
          <p:cNvPr id="13" name="Shape 11"/>
          <p:cNvSpPr/>
          <p:nvPr/>
        </p:nvSpPr>
        <p:spPr>
          <a:xfrm>
            <a:off x="3007192" y="3250692"/>
            <a:ext cx="384048" cy="384048"/>
          </a:xfrm>
          <a:prstGeom prst="ellipse">
            <a:avLst/>
          </a:prstGeom>
          <a:solidFill>
            <a:srgbClr val="54504A"/>
          </a:solidFill>
          <a:ln w="9525">
            <a:solidFill>
              <a:srgbClr val="54504A"/>
            </a:solidFill>
            <a:prstDash val="solid"/>
          </a:ln>
        </p:spPr>
      </p:sp>
      <p:sp>
        <p:nvSpPr>
          <p:cNvPr id="14" name="Shape 12"/>
          <p:cNvSpPr/>
          <p:nvPr/>
        </p:nvSpPr>
        <p:spPr>
          <a:xfrm flipV="1">
            <a:off x="2423160" y="2994660"/>
            <a:ext cx="0" cy="896112"/>
          </a:xfrm>
          <a:prstGeom prst="line">
            <a:avLst/>
          </a:prstGeom>
          <a:noFill/>
          <a:ln w="13970">
            <a:solidFill>
              <a:srgbClr val="BBB1A2"/>
            </a:solidFill>
            <a:prstDash val="solid"/>
          </a:ln>
        </p:spPr>
      </p:sp>
      <p:sp>
        <p:nvSpPr>
          <p:cNvPr id="15" name="Shape 13"/>
          <p:cNvSpPr/>
          <p:nvPr/>
        </p:nvSpPr>
        <p:spPr>
          <a:xfrm>
            <a:off x="2231136" y="3698748"/>
            <a:ext cx="384048" cy="384048"/>
          </a:xfrm>
          <a:prstGeom prst="ellipse">
            <a:avLst/>
          </a:prstGeom>
          <a:solidFill>
            <a:srgbClr val="54504A"/>
          </a:solidFill>
          <a:ln w="9525">
            <a:solidFill>
              <a:srgbClr val="54504A"/>
            </a:solidFill>
            <a:prstDash val="solid"/>
          </a:ln>
        </p:spPr>
      </p:sp>
      <p:sp>
        <p:nvSpPr>
          <p:cNvPr id="16" name="Shape 14"/>
          <p:cNvSpPr/>
          <p:nvPr/>
        </p:nvSpPr>
        <p:spPr>
          <a:xfrm flipH="1">
            <a:off x="1647104" y="2994660"/>
            <a:ext cx="776056" cy="448056"/>
          </a:xfrm>
          <a:prstGeom prst="line">
            <a:avLst/>
          </a:prstGeom>
          <a:noFill/>
          <a:ln w="13970">
            <a:solidFill>
              <a:srgbClr val="BBB1A2"/>
            </a:solidFill>
            <a:prstDash val="solid"/>
          </a:ln>
        </p:spPr>
      </p:sp>
      <p:sp>
        <p:nvSpPr>
          <p:cNvPr id="17" name="Shape 15"/>
          <p:cNvSpPr/>
          <p:nvPr/>
        </p:nvSpPr>
        <p:spPr>
          <a:xfrm>
            <a:off x="1455080" y="3250692"/>
            <a:ext cx="384048" cy="384048"/>
          </a:xfrm>
          <a:prstGeom prst="ellipse">
            <a:avLst/>
          </a:prstGeom>
          <a:solidFill>
            <a:srgbClr val="54504A"/>
          </a:solidFill>
          <a:ln w="9525">
            <a:solidFill>
              <a:srgbClr val="54504A"/>
            </a:solidFill>
            <a:prstDash val="solid"/>
          </a:ln>
        </p:spPr>
      </p:sp>
      <p:sp>
        <p:nvSpPr>
          <p:cNvPr id="18" name="Shape 16"/>
          <p:cNvSpPr/>
          <p:nvPr/>
        </p:nvSpPr>
        <p:spPr>
          <a:xfrm flipH="1" flipV="1">
            <a:off x="1647104" y="2546604"/>
            <a:ext cx="776056" cy="448056"/>
          </a:xfrm>
          <a:prstGeom prst="line">
            <a:avLst/>
          </a:prstGeom>
          <a:noFill/>
          <a:ln w="13970">
            <a:solidFill>
              <a:srgbClr val="BBB1A2"/>
            </a:solidFill>
            <a:prstDash val="solid"/>
          </a:ln>
        </p:spPr>
      </p:sp>
      <p:sp>
        <p:nvSpPr>
          <p:cNvPr id="19" name="Shape 17"/>
          <p:cNvSpPr/>
          <p:nvPr/>
        </p:nvSpPr>
        <p:spPr>
          <a:xfrm>
            <a:off x="1455080" y="2354580"/>
            <a:ext cx="384048" cy="384048"/>
          </a:xfrm>
          <a:prstGeom prst="ellipse">
            <a:avLst/>
          </a:prstGeom>
          <a:solidFill>
            <a:srgbClr val="54504A"/>
          </a:solidFill>
          <a:ln w="9525">
            <a:solidFill>
              <a:srgbClr val="54504A"/>
            </a:solidFill>
            <a:prstDash val="solid"/>
          </a:ln>
        </p:spPr>
      </p:sp>
      <p:sp>
        <p:nvSpPr>
          <p:cNvPr id="20" name="Shape 18"/>
          <p:cNvSpPr/>
          <p:nvPr/>
        </p:nvSpPr>
        <p:spPr>
          <a:xfrm>
            <a:off x="2121408" y="2692908"/>
            <a:ext cx="603504" cy="603504"/>
          </a:xfrm>
          <a:prstGeom prst="ellipse">
            <a:avLst/>
          </a:prstGeom>
          <a:solidFill>
            <a:srgbClr val="2B2622"/>
          </a:solidFill>
          <a:ln w="19050">
            <a:solidFill>
              <a:srgbClr val="D97A14"/>
            </a:solidFill>
            <a:prstDash val="solid"/>
          </a:ln>
        </p:spPr>
      </p:sp>
      <p:sp>
        <p:nvSpPr>
          <p:cNvPr id="21" name="Text 19"/>
          <p:cNvSpPr txBox="1"/>
          <p:nvPr/>
        </p:nvSpPr>
        <p:spPr>
          <a:xfrm>
            <a:off x="1965960" y="2692908"/>
            <a:ext cx="914400" cy="6035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Bank</a:t>
            </a:r>
            <a:endParaRPr lang="en-US" sz="1100" dirty="0"/>
          </a:p>
        </p:txBody>
      </p:sp>
      <p:sp>
        <p:nvSpPr>
          <p:cNvPr id="22" name="Shape 20"/>
          <p:cNvSpPr/>
          <p:nvPr/>
        </p:nvSpPr>
        <p:spPr>
          <a:xfrm>
            <a:off x="4754880" y="1325880"/>
            <a:ext cx="3931920" cy="3017520"/>
          </a:xfrm>
          <a:prstGeom prst="roundRect">
            <a:avLst>
              <a:gd name="adj" fmla="val 3030"/>
            </a:avLst>
          </a:prstGeom>
          <a:solidFill>
            <a:srgbClr val="F2ECE1"/>
          </a:solidFill>
          <a:ln w="12700">
            <a:solidFill>
              <a:srgbClr val="DFD6C7"/>
            </a:solidFill>
            <a:prstDash val="solid"/>
          </a:ln>
        </p:spPr>
      </p:sp>
      <p:sp>
        <p:nvSpPr>
          <p:cNvPr id="23" name="Text 21"/>
          <p:cNvSpPr txBox="1"/>
          <p:nvPr/>
        </p:nvSpPr>
        <p:spPr>
          <a:xfrm>
            <a:off x="4892040" y="1399032"/>
            <a:ext cx="3657600" cy="365760"/>
          </a:xfrm>
          <a:prstGeom prst="rect">
            <a:avLst/>
          </a:prstGeom>
          <a:noFill/>
          <a:ln/>
        </p:spPr>
        <p:txBody>
          <a:bodyPr wrap="square" lIns="0" tIns="0" rIns="0" bIns="0" rtlCol="0" anchor="ctr"/>
          <a:lstStyle/>
          <a:p>
            <a:pPr indent="0" marL="0">
              <a:buNone/>
            </a:pPr>
            <a:r>
              <a:rPr lang="en-US" sz="1350" b="1" dirty="0">
                <a:solidFill>
                  <a:srgbClr val="D97A14"/>
                </a:solidFill>
                <a:latin typeface="Cambria" pitchFamily="34" charset="0"/>
                <a:ea typeface="Cambria" pitchFamily="34" charset="-122"/>
                <a:cs typeface="Cambria" pitchFamily="34" charset="-120"/>
              </a:rPr>
              <a:t>Bitcoin: every node checks every rule</a:t>
            </a:r>
            <a:endParaRPr lang="en-US" sz="1350" dirty="0"/>
          </a:p>
        </p:txBody>
      </p:sp>
      <p:sp>
        <p:nvSpPr>
          <p:cNvPr id="24" name="Shape 22"/>
          <p:cNvSpPr/>
          <p:nvPr/>
        </p:nvSpPr>
        <p:spPr>
          <a:xfrm>
            <a:off x="6720840" y="2098548"/>
            <a:ext cx="633647" cy="262465"/>
          </a:xfrm>
          <a:prstGeom prst="line">
            <a:avLst/>
          </a:prstGeom>
          <a:noFill/>
          <a:ln w="12700">
            <a:solidFill>
              <a:srgbClr val="BBB1A2"/>
            </a:solidFill>
            <a:prstDash val="solid"/>
          </a:ln>
        </p:spPr>
      </p:sp>
      <p:sp>
        <p:nvSpPr>
          <p:cNvPr id="25" name="Shape 23"/>
          <p:cNvSpPr/>
          <p:nvPr/>
        </p:nvSpPr>
        <p:spPr>
          <a:xfrm>
            <a:off x="6720840" y="2098548"/>
            <a:ext cx="896112" cy="896112"/>
          </a:xfrm>
          <a:prstGeom prst="line">
            <a:avLst/>
          </a:prstGeom>
          <a:noFill/>
          <a:ln w="10160">
            <a:solidFill>
              <a:srgbClr val="BBB1A2"/>
            </a:solidFill>
            <a:prstDash val="solid"/>
          </a:ln>
        </p:spPr>
      </p:sp>
      <p:sp>
        <p:nvSpPr>
          <p:cNvPr id="26" name="Shape 24"/>
          <p:cNvSpPr/>
          <p:nvPr/>
        </p:nvSpPr>
        <p:spPr>
          <a:xfrm>
            <a:off x="6720840" y="2098548"/>
            <a:ext cx="633647" cy="1529759"/>
          </a:xfrm>
          <a:prstGeom prst="line">
            <a:avLst/>
          </a:prstGeom>
          <a:noFill/>
          <a:ln w="6985">
            <a:solidFill>
              <a:srgbClr val="BBB1A2"/>
            </a:solidFill>
            <a:prstDash val="solid"/>
          </a:ln>
        </p:spPr>
      </p:sp>
      <p:sp>
        <p:nvSpPr>
          <p:cNvPr id="27" name="Shape 25"/>
          <p:cNvSpPr/>
          <p:nvPr/>
        </p:nvSpPr>
        <p:spPr>
          <a:xfrm>
            <a:off x="7354487" y="2361013"/>
            <a:ext cx="262465" cy="633647"/>
          </a:xfrm>
          <a:prstGeom prst="line">
            <a:avLst/>
          </a:prstGeom>
          <a:noFill/>
          <a:ln w="12700">
            <a:solidFill>
              <a:srgbClr val="BBB1A2"/>
            </a:solidFill>
            <a:prstDash val="solid"/>
          </a:ln>
        </p:spPr>
      </p:sp>
      <p:sp>
        <p:nvSpPr>
          <p:cNvPr id="28" name="Shape 26"/>
          <p:cNvSpPr/>
          <p:nvPr/>
        </p:nvSpPr>
        <p:spPr>
          <a:xfrm flipV="1">
            <a:off x="7354487" y="2361013"/>
            <a:ext cx="0" cy="1267294"/>
          </a:xfrm>
          <a:prstGeom prst="line">
            <a:avLst/>
          </a:prstGeom>
          <a:noFill/>
          <a:ln w="10160">
            <a:solidFill>
              <a:srgbClr val="BBB1A2"/>
            </a:solidFill>
            <a:prstDash val="solid"/>
          </a:ln>
        </p:spPr>
      </p:sp>
      <p:sp>
        <p:nvSpPr>
          <p:cNvPr id="29" name="Shape 27"/>
          <p:cNvSpPr/>
          <p:nvPr/>
        </p:nvSpPr>
        <p:spPr>
          <a:xfrm flipH="1">
            <a:off x="6720840" y="2361013"/>
            <a:ext cx="633647" cy="1529759"/>
          </a:xfrm>
          <a:prstGeom prst="line">
            <a:avLst/>
          </a:prstGeom>
          <a:noFill/>
          <a:ln w="6985">
            <a:solidFill>
              <a:srgbClr val="BBB1A2"/>
            </a:solidFill>
            <a:prstDash val="solid"/>
          </a:ln>
        </p:spPr>
      </p:sp>
      <p:sp>
        <p:nvSpPr>
          <p:cNvPr id="30" name="Shape 28"/>
          <p:cNvSpPr/>
          <p:nvPr/>
        </p:nvSpPr>
        <p:spPr>
          <a:xfrm flipH="1">
            <a:off x="7354487" y="2994660"/>
            <a:ext cx="262465" cy="633647"/>
          </a:xfrm>
          <a:prstGeom prst="line">
            <a:avLst/>
          </a:prstGeom>
          <a:noFill/>
          <a:ln w="12700">
            <a:solidFill>
              <a:srgbClr val="BBB1A2"/>
            </a:solidFill>
            <a:prstDash val="solid"/>
          </a:ln>
        </p:spPr>
      </p:sp>
      <p:sp>
        <p:nvSpPr>
          <p:cNvPr id="31" name="Shape 29"/>
          <p:cNvSpPr/>
          <p:nvPr/>
        </p:nvSpPr>
        <p:spPr>
          <a:xfrm flipH="1">
            <a:off x="6720840" y="2994660"/>
            <a:ext cx="896112" cy="896112"/>
          </a:xfrm>
          <a:prstGeom prst="line">
            <a:avLst/>
          </a:prstGeom>
          <a:noFill/>
          <a:ln w="10160">
            <a:solidFill>
              <a:srgbClr val="BBB1A2"/>
            </a:solidFill>
            <a:prstDash val="solid"/>
          </a:ln>
        </p:spPr>
      </p:sp>
      <p:sp>
        <p:nvSpPr>
          <p:cNvPr id="32" name="Shape 30"/>
          <p:cNvSpPr/>
          <p:nvPr/>
        </p:nvSpPr>
        <p:spPr>
          <a:xfrm flipH="1">
            <a:off x="6087193" y="2994660"/>
            <a:ext cx="1529759" cy="633647"/>
          </a:xfrm>
          <a:prstGeom prst="line">
            <a:avLst/>
          </a:prstGeom>
          <a:noFill/>
          <a:ln w="6985">
            <a:solidFill>
              <a:srgbClr val="BBB1A2"/>
            </a:solidFill>
            <a:prstDash val="solid"/>
          </a:ln>
        </p:spPr>
      </p:sp>
      <p:sp>
        <p:nvSpPr>
          <p:cNvPr id="33" name="Shape 31"/>
          <p:cNvSpPr/>
          <p:nvPr/>
        </p:nvSpPr>
        <p:spPr>
          <a:xfrm flipH="1">
            <a:off x="6720840" y="3628307"/>
            <a:ext cx="633647" cy="262465"/>
          </a:xfrm>
          <a:prstGeom prst="line">
            <a:avLst/>
          </a:prstGeom>
          <a:noFill/>
          <a:ln w="12700">
            <a:solidFill>
              <a:srgbClr val="BBB1A2"/>
            </a:solidFill>
            <a:prstDash val="solid"/>
          </a:ln>
        </p:spPr>
      </p:sp>
      <p:sp>
        <p:nvSpPr>
          <p:cNvPr id="34" name="Shape 32"/>
          <p:cNvSpPr/>
          <p:nvPr/>
        </p:nvSpPr>
        <p:spPr>
          <a:xfrm flipH="1">
            <a:off x="6087193" y="3628307"/>
            <a:ext cx="1267294" cy="0"/>
          </a:xfrm>
          <a:prstGeom prst="line">
            <a:avLst/>
          </a:prstGeom>
          <a:noFill/>
          <a:ln w="10160">
            <a:solidFill>
              <a:srgbClr val="BBB1A2"/>
            </a:solidFill>
            <a:prstDash val="solid"/>
          </a:ln>
        </p:spPr>
      </p:sp>
      <p:sp>
        <p:nvSpPr>
          <p:cNvPr id="35" name="Shape 33"/>
          <p:cNvSpPr/>
          <p:nvPr/>
        </p:nvSpPr>
        <p:spPr>
          <a:xfrm flipH="1" flipV="1">
            <a:off x="5824728" y="2994660"/>
            <a:ext cx="1529759" cy="633647"/>
          </a:xfrm>
          <a:prstGeom prst="line">
            <a:avLst/>
          </a:prstGeom>
          <a:noFill/>
          <a:ln w="6985">
            <a:solidFill>
              <a:srgbClr val="BBB1A2"/>
            </a:solidFill>
            <a:prstDash val="solid"/>
          </a:ln>
        </p:spPr>
      </p:sp>
      <p:sp>
        <p:nvSpPr>
          <p:cNvPr id="36" name="Shape 34"/>
          <p:cNvSpPr/>
          <p:nvPr/>
        </p:nvSpPr>
        <p:spPr>
          <a:xfrm flipH="1" flipV="1">
            <a:off x="6087193" y="3628307"/>
            <a:ext cx="633647" cy="262465"/>
          </a:xfrm>
          <a:prstGeom prst="line">
            <a:avLst/>
          </a:prstGeom>
          <a:noFill/>
          <a:ln w="12700">
            <a:solidFill>
              <a:srgbClr val="BBB1A2"/>
            </a:solidFill>
            <a:prstDash val="solid"/>
          </a:ln>
        </p:spPr>
      </p:sp>
      <p:sp>
        <p:nvSpPr>
          <p:cNvPr id="37" name="Shape 35"/>
          <p:cNvSpPr/>
          <p:nvPr/>
        </p:nvSpPr>
        <p:spPr>
          <a:xfrm flipH="1" flipV="1">
            <a:off x="5824728" y="2994660"/>
            <a:ext cx="896112" cy="896112"/>
          </a:xfrm>
          <a:prstGeom prst="line">
            <a:avLst/>
          </a:prstGeom>
          <a:noFill/>
          <a:ln w="10160">
            <a:solidFill>
              <a:srgbClr val="BBB1A2"/>
            </a:solidFill>
            <a:prstDash val="solid"/>
          </a:ln>
        </p:spPr>
      </p:sp>
      <p:sp>
        <p:nvSpPr>
          <p:cNvPr id="38" name="Shape 36"/>
          <p:cNvSpPr/>
          <p:nvPr/>
        </p:nvSpPr>
        <p:spPr>
          <a:xfrm flipH="1" flipV="1">
            <a:off x="6087193" y="2361013"/>
            <a:ext cx="633647" cy="1529759"/>
          </a:xfrm>
          <a:prstGeom prst="line">
            <a:avLst/>
          </a:prstGeom>
          <a:noFill/>
          <a:ln w="6985">
            <a:solidFill>
              <a:srgbClr val="BBB1A2"/>
            </a:solidFill>
            <a:prstDash val="solid"/>
          </a:ln>
        </p:spPr>
      </p:sp>
      <p:sp>
        <p:nvSpPr>
          <p:cNvPr id="39" name="Shape 37"/>
          <p:cNvSpPr/>
          <p:nvPr/>
        </p:nvSpPr>
        <p:spPr>
          <a:xfrm flipH="1" flipV="1">
            <a:off x="5824728" y="2994660"/>
            <a:ext cx="262465" cy="633647"/>
          </a:xfrm>
          <a:prstGeom prst="line">
            <a:avLst/>
          </a:prstGeom>
          <a:noFill/>
          <a:ln w="12700">
            <a:solidFill>
              <a:srgbClr val="BBB1A2"/>
            </a:solidFill>
            <a:prstDash val="solid"/>
          </a:ln>
        </p:spPr>
      </p:sp>
      <p:sp>
        <p:nvSpPr>
          <p:cNvPr id="40" name="Shape 38"/>
          <p:cNvSpPr/>
          <p:nvPr/>
        </p:nvSpPr>
        <p:spPr>
          <a:xfrm>
            <a:off x="6087193" y="2361013"/>
            <a:ext cx="0" cy="1267294"/>
          </a:xfrm>
          <a:prstGeom prst="line">
            <a:avLst/>
          </a:prstGeom>
          <a:noFill/>
          <a:ln w="10160">
            <a:solidFill>
              <a:srgbClr val="BBB1A2"/>
            </a:solidFill>
            <a:prstDash val="solid"/>
          </a:ln>
        </p:spPr>
      </p:sp>
      <p:sp>
        <p:nvSpPr>
          <p:cNvPr id="41" name="Shape 39"/>
          <p:cNvSpPr/>
          <p:nvPr/>
        </p:nvSpPr>
        <p:spPr>
          <a:xfrm flipV="1">
            <a:off x="5824728" y="2361013"/>
            <a:ext cx="262465" cy="633647"/>
          </a:xfrm>
          <a:prstGeom prst="line">
            <a:avLst/>
          </a:prstGeom>
          <a:noFill/>
          <a:ln w="12700">
            <a:solidFill>
              <a:srgbClr val="BBB1A2"/>
            </a:solidFill>
            <a:prstDash val="solid"/>
          </a:ln>
        </p:spPr>
      </p:sp>
      <p:sp>
        <p:nvSpPr>
          <p:cNvPr id="42" name="Shape 40"/>
          <p:cNvSpPr/>
          <p:nvPr/>
        </p:nvSpPr>
        <p:spPr>
          <a:xfrm>
            <a:off x="6528816" y="1906524"/>
            <a:ext cx="384048" cy="384048"/>
          </a:xfrm>
          <a:prstGeom prst="ellipse">
            <a:avLst/>
          </a:prstGeom>
          <a:solidFill>
            <a:srgbClr val="D97A14"/>
          </a:solidFill>
          <a:ln w="9525">
            <a:solidFill>
              <a:srgbClr val="FFFFFF"/>
            </a:solidFill>
            <a:prstDash val="solid"/>
          </a:ln>
        </p:spPr>
      </p:sp>
      <p:sp>
        <p:nvSpPr>
          <p:cNvPr id="43" name="Shape 41"/>
          <p:cNvSpPr/>
          <p:nvPr/>
        </p:nvSpPr>
        <p:spPr>
          <a:xfrm>
            <a:off x="7162463" y="2168989"/>
            <a:ext cx="384048" cy="384048"/>
          </a:xfrm>
          <a:prstGeom prst="ellipse">
            <a:avLst/>
          </a:prstGeom>
          <a:solidFill>
            <a:srgbClr val="D97A14"/>
          </a:solidFill>
          <a:ln w="9525">
            <a:solidFill>
              <a:srgbClr val="FFFFFF"/>
            </a:solidFill>
            <a:prstDash val="solid"/>
          </a:ln>
        </p:spPr>
      </p:sp>
      <p:sp>
        <p:nvSpPr>
          <p:cNvPr id="44" name="Shape 42"/>
          <p:cNvSpPr/>
          <p:nvPr/>
        </p:nvSpPr>
        <p:spPr>
          <a:xfrm>
            <a:off x="7424928" y="2802636"/>
            <a:ext cx="384048" cy="384048"/>
          </a:xfrm>
          <a:prstGeom prst="ellipse">
            <a:avLst/>
          </a:prstGeom>
          <a:solidFill>
            <a:srgbClr val="D97A14"/>
          </a:solidFill>
          <a:ln w="9525">
            <a:solidFill>
              <a:srgbClr val="FFFFFF"/>
            </a:solidFill>
            <a:prstDash val="solid"/>
          </a:ln>
        </p:spPr>
      </p:sp>
      <p:sp>
        <p:nvSpPr>
          <p:cNvPr id="45" name="Shape 43"/>
          <p:cNvSpPr/>
          <p:nvPr/>
        </p:nvSpPr>
        <p:spPr>
          <a:xfrm>
            <a:off x="7162463" y="3436283"/>
            <a:ext cx="384048" cy="384048"/>
          </a:xfrm>
          <a:prstGeom prst="ellipse">
            <a:avLst/>
          </a:prstGeom>
          <a:solidFill>
            <a:srgbClr val="D97A14"/>
          </a:solidFill>
          <a:ln w="9525">
            <a:solidFill>
              <a:srgbClr val="FFFFFF"/>
            </a:solidFill>
            <a:prstDash val="solid"/>
          </a:ln>
        </p:spPr>
      </p:sp>
      <p:sp>
        <p:nvSpPr>
          <p:cNvPr id="46" name="Shape 44"/>
          <p:cNvSpPr/>
          <p:nvPr/>
        </p:nvSpPr>
        <p:spPr>
          <a:xfrm>
            <a:off x="6528816" y="3698748"/>
            <a:ext cx="384048" cy="384048"/>
          </a:xfrm>
          <a:prstGeom prst="ellipse">
            <a:avLst/>
          </a:prstGeom>
          <a:solidFill>
            <a:srgbClr val="D97A14"/>
          </a:solidFill>
          <a:ln w="9525">
            <a:solidFill>
              <a:srgbClr val="FFFFFF"/>
            </a:solidFill>
            <a:prstDash val="solid"/>
          </a:ln>
        </p:spPr>
      </p:sp>
      <p:sp>
        <p:nvSpPr>
          <p:cNvPr id="47" name="Shape 45"/>
          <p:cNvSpPr/>
          <p:nvPr/>
        </p:nvSpPr>
        <p:spPr>
          <a:xfrm>
            <a:off x="5895169" y="3436283"/>
            <a:ext cx="384048" cy="384048"/>
          </a:xfrm>
          <a:prstGeom prst="ellipse">
            <a:avLst/>
          </a:prstGeom>
          <a:solidFill>
            <a:srgbClr val="D97A14"/>
          </a:solidFill>
          <a:ln w="9525">
            <a:solidFill>
              <a:srgbClr val="FFFFFF"/>
            </a:solidFill>
            <a:prstDash val="solid"/>
          </a:ln>
        </p:spPr>
      </p:sp>
      <p:sp>
        <p:nvSpPr>
          <p:cNvPr id="48" name="Shape 46"/>
          <p:cNvSpPr/>
          <p:nvPr/>
        </p:nvSpPr>
        <p:spPr>
          <a:xfrm>
            <a:off x="5632704" y="2802636"/>
            <a:ext cx="384048" cy="384048"/>
          </a:xfrm>
          <a:prstGeom prst="ellipse">
            <a:avLst/>
          </a:prstGeom>
          <a:solidFill>
            <a:srgbClr val="D97A14"/>
          </a:solidFill>
          <a:ln w="9525">
            <a:solidFill>
              <a:srgbClr val="FFFFFF"/>
            </a:solidFill>
            <a:prstDash val="solid"/>
          </a:ln>
        </p:spPr>
      </p:sp>
      <p:sp>
        <p:nvSpPr>
          <p:cNvPr id="49" name="Shape 47"/>
          <p:cNvSpPr/>
          <p:nvPr/>
        </p:nvSpPr>
        <p:spPr>
          <a:xfrm>
            <a:off x="5895169" y="2168989"/>
            <a:ext cx="384048" cy="384048"/>
          </a:xfrm>
          <a:prstGeom prst="ellipse">
            <a:avLst/>
          </a:prstGeom>
          <a:solidFill>
            <a:srgbClr val="D97A14"/>
          </a:solidFill>
          <a:ln w="9525">
            <a:solidFill>
              <a:srgbClr val="FFFFFF"/>
            </a:solidFill>
            <a:prstDash val="solid"/>
          </a:ln>
        </p:spPr>
      </p:sp>
      <p:sp>
        <p:nvSpPr>
          <p:cNvPr id="50" name="Shape 48"/>
          <p:cNvSpPr/>
          <p:nvPr/>
        </p:nvSpPr>
        <p:spPr>
          <a:xfrm>
            <a:off x="457200" y="4636008"/>
            <a:ext cx="91440" cy="310896"/>
          </a:xfrm>
          <a:prstGeom prst="rect">
            <a:avLst/>
          </a:prstGeom>
          <a:solidFill>
            <a:srgbClr val="D97A14"/>
          </a:solidFill>
          <a:ln w="12700">
            <a:solidFill>
              <a:srgbClr val="D97A14"/>
            </a:solidFill>
            <a:prstDash val="solid"/>
          </a:ln>
        </p:spPr>
      </p:sp>
      <p:sp>
        <p:nvSpPr>
          <p:cNvPr id="51" name="Text 4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Remove the hub and the rules must move to every node</a:t>
            </a:r>
            <a:endParaRPr lang="en-US" sz="1350" dirty="0"/>
          </a:p>
        </p:txBody>
      </p:sp>
      <p:sp>
        <p:nvSpPr>
          <p:cNvPr id="52" name="Text 5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38</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Peers find each other without a directory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protocol sketch - run, not quoted</a:t>
            </a:r>
            <a:endParaRPr lang="en-US" sz="1300" dirty="0"/>
          </a:p>
        </p:txBody>
      </p:sp>
      <p:sp>
        <p:nvSpPr>
          <p:cNvPr id="6" name="Text 4"/>
          <p:cNvSpPr txBox="1"/>
          <p:nvPr/>
        </p:nvSpPr>
        <p:spPr>
          <a:xfrm>
            <a:off x="457200" y="1325880"/>
            <a:ext cx="3291840" cy="137160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Every node speaks the same protocol</a:t>
            </a:r>
            <a:endParaRPr lang="en-US" sz="1350" dirty="0"/>
          </a:p>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Any peer can join or leave freely</a:t>
            </a:r>
            <a:endParaRPr lang="en-US" sz="1350" dirty="0"/>
          </a:p>
        </p:txBody>
      </p:sp>
      <p:pic>
        <p:nvPicPr>
          <p:cNvPr id="7" name="Image 0" descr="../../03-materials/ch01/assets/c8s06_mesh.png">    </p:cNvPr>
          <p:cNvPicPr>
            <a:picLocks noChangeAspect="1"/>
          </p:cNvPicPr>
          <p:nvPr/>
        </p:nvPicPr>
        <p:blipFill>
          <a:blip r:embed="rId1"/>
          <a:srcRect l="0" r="0" t="0" b="0"/>
          <a:stretch/>
        </p:blipFill>
        <p:spPr>
          <a:xfrm>
            <a:off x="457200" y="2743200"/>
            <a:ext cx="3200400" cy="1691640"/>
          </a:xfrm>
          <a:prstGeom prst="rect">
            <a:avLst/>
          </a:prstGeom>
        </p:spPr>
      </p:pic>
      <p:sp>
        <p:nvSpPr>
          <p:cNvPr id="8" name="Text 5"/>
          <p:cNvSpPr txBox="1"/>
          <p:nvPr/>
        </p:nvSpPr>
        <p:spPr>
          <a:xfrm>
            <a:off x="457200" y="445312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flat topology, from the owner's 2025 deck</a:t>
            </a:r>
            <a:endParaRPr lang="en-US" sz="900" dirty="0"/>
          </a:p>
        </p:txBody>
      </p:sp>
      <p:sp>
        <p:nvSpPr>
          <p:cNvPr id="9" name="Text 6"/>
          <p:cNvSpPr txBox="1"/>
          <p:nvPr/>
        </p:nvSpPr>
        <p:spPr>
          <a:xfrm>
            <a:off x="3931920" y="10972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Four peers, one shared protocol - counted</a:t>
            </a:r>
            <a:endParaRPr lang="en-US" sz="1150" dirty="0"/>
          </a:p>
        </p:txBody>
      </p:sp>
      <p:sp>
        <p:nvSpPr>
          <p:cNvPr id="10" name="Shape 7"/>
          <p:cNvSpPr/>
          <p:nvPr/>
        </p:nvSpPr>
        <p:spPr>
          <a:xfrm>
            <a:off x="3931920" y="1371600"/>
            <a:ext cx="4754880" cy="2926080"/>
          </a:xfrm>
          <a:prstGeom prst="roundRect">
            <a:avLst>
              <a:gd name="adj" fmla="val 3125"/>
            </a:avLst>
          </a:prstGeom>
          <a:solidFill>
            <a:srgbClr val="23272E"/>
          </a:solidFill>
          <a:ln w="12700">
            <a:solidFill>
              <a:srgbClr val="23272E"/>
            </a:solidFill>
            <a:prstDash val="solid"/>
          </a:ln>
        </p:spPr>
      </p:sp>
      <p:sp>
        <p:nvSpPr>
          <p:cNvPr id="11" name="Text 8"/>
          <p:cNvSpPr txBox="1"/>
          <p:nvPr/>
        </p:nvSpPr>
        <p:spPr>
          <a:xfrm>
            <a:off x="4114800" y="1490472"/>
            <a:ext cx="4389120" cy="2688336"/>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links = {'A': ['B', 'C'], 'B': ['A', 'D'], 'C': ['A', 'E'], 'D': ['B', 'F'], 'E': ['C', 'F'], 'F': ['D', 'E', 'G'], 'G': ['F']}</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seen, frontier, rounds = {'A'}, {'A'}, 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while len(seen) &lt; len(links):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frontier = {n for f in frontier for n in links[f]} - seen</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seen |= frontier; rounds += 1</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rounds</a:t>
            </a:r>
            <a:endParaRPr lang="en-US" sz="1000" dirty="0"/>
          </a:p>
        </p:txBody>
      </p:sp>
      <p:sp>
        <p:nvSpPr>
          <p:cNvPr id="12" name="Text 9"/>
          <p:cNvSpPr txBox="1"/>
          <p:nvPr/>
        </p:nvSpPr>
        <p:spPr>
          <a:xfrm>
            <a:off x="3931920" y="4315968"/>
            <a:ext cx="4754880" cy="256032"/>
          </a:xfrm>
          <a:prstGeom prst="rect">
            <a:avLst/>
          </a:prstGeom>
          <a:noFill/>
          <a:ln/>
        </p:spPr>
        <p:txBody>
          <a:bodyPr wrap="square" lIns="0" tIns="0" rIns="0" bIns="0" rtlCol="0" anchor="ctr"/>
          <a:lstStyle/>
          <a:p>
            <a:pPr indent="0" marL="0">
              <a:buNone/>
            </a:pPr>
            <a:r>
              <a:rPr lang="en-US" sz="1000" b="1" dirty="0">
                <a:solidFill>
                  <a:srgbClr val="D97A14"/>
                </a:solidFill>
                <a:latin typeface="Courier New" pitchFamily="34" charset="0"/>
                <a:ea typeface="Courier New" pitchFamily="34" charset="-122"/>
                <a:cs typeface="Courier New" pitchFamily="34" charset="-120"/>
              </a:rPr>
              <a:t>result  </a:t>
            </a:r>
            <a:pPr indent="0" marL="0">
              <a:buNone/>
            </a:pPr>
            <a:r>
              <a:rPr lang="en-US" sz="1000" dirty="0">
                <a:solidFill>
                  <a:srgbClr val="2B2622"/>
                </a:solidFill>
                <a:latin typeface="Courier New" pitchFamily="34" charset="0"/>
                <a:ea typeface="Courier New" pitchFamily="34" charset="-122"/>
                <a:cs typeface="Courier New" pitchFamily="34" charset="-120"/>
              </a:rPr>
              <a:t>4</a:t>
            </a:r>
            <a:endParaRPr lang="en-US" sz="1000" dirty="0"/>
          </a:p>
        </p:txBody>
      </p:sp>
      <p:sp>
        <p:nvSpPr>
          <p:cNvPr id="13" name="Text 10"/>
          <p:cNvSpPr txBox="1"/>
          <p:nvPr/>
        </p:nvSpPr>
        <p:spPr>
          <a:xfrm>
            <a:off x="3931920" y="45720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PeerToPeerProtocol, lines 1 to 6 of 6, run under Python 3.14.4</a:t>
            </a:r>
            <a:endParaRPr lang="en-US" sz="900" dirty="0"/>
          </a:p>
        </p:txBody>
      </p:sp>
      <p:sp>
        <p:nvSpPr>
          <p:cNvPr id="14"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network is just nodes agreeing to speak alike</a:t>
            </a:r>
            <a:endParaRPr lang="en-US" sz="135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38</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Rules, not rulers, decide validity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node applies the same consensus rules</a:t>
            </a:r>
            <a:endParaRPr lang="en-US" sz="1300" dirty="0"/>
          </a:p>
        </p:txBody>
      </p:sp>
      <p:sp>
        <p:nvSpPr>
          <p:cNvPr id="6" name="Text 4"/>
          <p:cNvSpPr txBox="1"/>
          <p:nvPr/>
        </p:nvSpPr>
        <p:spPr>
          <a:xfrm>
            <a:off x="457200" y="1325880"/>
            <a:ext cx="3291840" cy="100584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A rule set is code every node runs</a:t>
            </a:r>
            <a:endParaRPr lang="en-US" sz="1350" dirty="0"/>
          </a:p>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No vote, no committee, no appeal</a:t>
            </a:r>
            <a:endParaRPr lang="en-US" sz="1350" dirty="0"/>
          </a:p>
        </p:txBody>
      </p:sp>
      <p:sp>
        <p:nvSpPr>
          <p:cNvPr id="7" name="Shape 5"/>
          <p:cNvSpPr/>
          <p:nvPr/>
        </p:nvSpPr>
        <p:spPr>
          <a:xfrm>
            <a:off x="457200" y="2423160"/>
            <a:ext cx="3291840" cy="576072"/>
          </a:xfrm>
          <a:prstGeom prst="roundRect">
            <a:avLst>
              <a:gd name="adj" fmla="val 12698"/>
            </a:avLst>
          </a:prstGeom>
          <a:solidFill>
            <a:srgbClr val="F2ECE1"/>
          </a:solidFill>
          <a:ln w="19050">
            <a:solidFill>
              <a:srgbClr val="5B8C5A"/>
            </a:solidFill>
            <a:prstDash val="solid"/>
          </a:ln>
        </p:spPr>
      </p:sp>
      <p:sp>
        <p:nvSpPr>
          <p:cNvPr id="8" name="Shape 6"/>
          <p:cNvSpPr/>
          <p:nvPr/>
        </p:nvSpPr>
        <p:spPr>
          <a:xfrm>
            <a:off x="548640" y="2564892"/>
            <a:ext cx="292608" cy="292608"/>
          </a:xfrm>
          <a:prstGeom prst="ellipse">
            <a:avLst/>
          </a:prstGeom>
          <a:solidFill>
            <a:srgbClr val="5B8C5A"/>
          </a:solidFill>
          <a:ln w="12700">
            <a:solidFill>
              <a:srgbClr val="5B8C5A"/>
            </a:solidFill>
            <a:prstDash val="solid"/>
          </a:ln>
        </p:spPr>
      </p:sp>
      <p:sp>
        <p:nvSpPr>
          <p:cNvPr id="9" name="Text 7"/>
          <p:cNvSpPr txBox="1"/>
          <p:nvPr/>
        </p:nvSpPr>
        <p:spPr>
          <a:xfrm>
            <a:off x="548640" y="25648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932688" y="2423160"/>
            <a:ext cx="2743200" cy="57607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312,500,000 sat at height 840,000</a:t>
            </a:r>
            <a:endParaRPr lang="en-US" sz="1050" dirty="0"/>
          </a:p>
        </p:txBody>
      </p:sp>
      <p:sp>
        <p:nvSpPr>
          <p:cNvPr id="11" name="Shape 9"/>
          <p:cNvSpPr/>
          <p:nvPr/>
        </p:nvSpPr>
        <p:spPr>
          <a:xfrm>
            <a:off x="457200" y="3108960"/>
            <a:ext cx="3291840" cy="576072"/>
          </a:xfrm>
          <a:prstGeom prst="roundRect">
            <a:avLst>
              <a:gd name="adj" fmla="val 12698"/>
            </a:avLst>
          </a:prstGeom>
          <a:solidFill>
            <a:srgbClr val="F2ECE1"/>
          </a:solidFill>
          <a:ln w="19050">
            <a:solidFill>
              <a:srgbClr val="B6533C"/>
            </a:solidFill>
            <a:prstDash val="solid"/>
          </a:ln>
        </p:spPr>
      </p:sp>
      <p:sp>
        <p:nvSpPr>
          <p:cNvPr id="12" name="Shape 10"/>
          <p:cNvSpPr/>
          <p:nvPr/>
        </p:nvSpPr>
        <p:spPr>
          <a:xfrm>
            <a:off x="548640" y="3250692"/>
            <a:ext cx="292608" cy="292608"/>
          </a:xfrm>
          <a:prstGeom prst="ellipse">
            <a:avLst/>
          </a:prstGeom>
          <a:solidFill>
            <a:srgbClr val="B6533C"/>
          </a:solidFill>
          <a:ln w="12700">
            <a:solidFill>
              <a:srgbClr val="B6533C"/>
            </a:solidFill>
            <a:prstDash val="solid"/>
          </a:ln>
        </p:spPr>
      </p:sp>
      <p:sp>
        <p:nvSpPr>
          <p:cNvPr id="13" name="Text 11"/>
          <p:cNvSpPr txBox="1"/>
          <p:nvPr/>
        </p:nvSpPr>
        <p:spPr>
          <a:xfrm>
            <a:off x="548640" y="32506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4" name="Text 12"/>
          <p:cNvSpPr txBox="1"/>
          <p:nvPr/>
        </p:nvSpPr>
        <p:spPr>
          <a:xfrm>
            <a:off x="932688" y="3108960"/>
            <a:ext cx="2743200" cy="57607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312,500,001 sat - one too many</a:t>
            </a:r>
            <a:endParaRPr lang="en-US" sz="1050" dirty="0"/>
          </a:p>
        </p:txBody>
      </p:sp>
      <p:sp>
        <p:nvSpPr>
          <p:cNvPr id="15" name="Shape 13"/>
          <p:cNvSpPr/>
          <p:nvPr/>
        </p:nvSpPr>
        <p:spPr>
          <a:xfrm>
            <a:off x="457200" y="3794760"/>
            <a:ext cx="3291840" cy="576072"/>
          </a:xfrm>
          <a:prstGeom prst="roundRect">
            <a:avLst>
              <a:gd name="adj" fmla="val 12698"/>
            </a:avLst>
          </a:prstGeom>
          <a:solidFill>
            <a:srgbClr val="F2ECE1"/>
          </a:solidFill>
          <a:ln w="19050">
            <a:solidFill>
              <a:srgbClr val="5B8C5A"/>
            </a:solidFill>
            <a:prstDash val="solid"/>
          </a:ln>
        </p:spPr>
      </p:sp>
      <p:sp>
        <p:nvSpPr>
          <p:cNvPr id="16" name="Shape 14"/>
          <p:cNvSpPr/>
          <p:nvPr/>
        </p:nvSpPr>
        <p:spPr>
          <a:xfrm>
            <a:off x="548640" y="3936492"/>
            <a:ext cx="292608" cy="292608"/>
          </a:xfrm>
          <a:prstGeom prst="ellipse">
            <a:avLst/>
          </a:prstGeom>
          <a:solidFill>
            <a:srgbClr val="5B8C5A"/>
          </a:solidFill>
          <a:ln w="12700">
            <a:solidFill>
              <a:srgbClr val="5B8C5A"/>
            </a:solidFill>
            <a:prstDash val="solid"/>
          </a:ln>
        </p:spPr>
      </p:sp>
      <p:sp>
        <p:nvSpPr>
          <p:cNvPr id="17" name="Text 15"/>
          <p:cNvSpPr txBox="1"/>
          <p:nvPr/>
        </p:nvSpPr>
        <p:spPr>
          <a:xfrm>
            <a:off x="548640" y="39364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932688" y="3794760"/>
            <a:ext cx="2743200" cy="57607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325,000,000 sat incl. 12,500,000 fees</a:t>
            </a:r>
            <a:endParaRPr lang="en-US" sz="1050" dirty="0"/>
          </a:p>
        </p:txBody>
      </p:sp>
      <p:sp>
        <p:nvSpPr>
          <p:cNvPr id="19" name="Text 17"/>
          <p:cNvSpPr txBox="1"/>
          <p:nvPr/>
        </p:nvSpPr>
        <p:spPr>
          <a:xfrm>
            <a:off x="3931920" y="10972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Three claims against one rule set</a:t>
            </a:r>
            <a:endParaRPr lang="en-US" sz="1150" dirty="0"/>
          </a:p>
        </p:txBody>
      </p:sp>
      <p:sp>
        <p:nvSpPr>
          <p:cNvPr id="20" name="Shape 18"/>
          <p:cNvSpPr/>
          <p:nvPr/>
        </p:nvSpPr>
        <p:spPr>
          <a:xfrm>
            <a:off x="3931920" y="1371600"/>
            <a:ext cx="4754880" cy="2926080"/>
          </a:xfrm>
          <a:prstGeom prst="roundRect">
            <a:avLst>
              <a:gd name="adj" fmla="val 3125"/>
            </a:avLst>
          </a:prstGeom>
          <a:solidFill>
            <a:srgbClr val="23272E"/>
          </a:solidFill>
          <a:ln w="12700">
            <a:solidFill>
              <a:srgbClr val="23272E"/>
            </a:solidFill>
            <a:prstDash val="solid"/>
          </a:ln>
        </p:spPr>
      </p:sp>
      <p:sp>
        <p:nvSpPr>
          <p:cNvPr id="21" name="Text 19"/>
          <p:cNvSpPr txBox="1"/>
          <p:nvPr/>
        </p:nvSpPr>
        <p:spPr>
          <a:xfrm>
            <a:off x="4114800" y="1490472"/>
            <a:ext cx="4389120" cy="2688336"/>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def accept(claim, height, fees):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subsidy = (50 * 10**8) &gt;&gt; (height // 210000)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return claim &lt;= subsidy + fees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[accept(312_500_000, 840000, 0), accept(312_500_001, 840000, 0), accept(325_000_000, 840000, 12_500_000)]</a:t>
            </a:r>
            <a:endParaRPr lang="en-US" sz="1000" dirty="0"/>
          </a:p>
        </p:txBody>
      </p:sp>
      <p:sp>
        <p:nvSpPr>
          <p:cNvPr id="22" name="Text 20"/>
          <p:cNvSpPr txBox="1"/>
          <p:nvPr/>
        </p:nvSpPr>
        <p:spPr>
          <a:xfrm>
            <a:off x="3931920" y="4315968"/>
            <a:ext cx="4754880" cy="256032"/>
          </a:xfrm>
          <a:prstGeom prst="rect">
            <a:avLst/>
          </a:prstGeom>
          <a:noFill/>
          <a:ln/>
        </p:spPr>
        <p:txBody>
          <a:bodyPr wrap="square" lIns="0" tIns="0" rIns="0" bIns="0" rtlCol="0" anchor="ctr"/>
          <a:lstStyle/>
          <a:p>
            <a:pPr indent="0" marL="0">
              <a:buNone/>
            </a:pPr>
            <a:r>
              <a:rPr lang="en-US" sz="1000" b="1" dirty="0">
                <a:solidFill>
                  <a:srgbClr val="D97A14"/>
                </a:solidFill>
                <a:latin typeface="Courier New" pitchFamily="34" charset="0"/>
                <a:ea typeface="Courier New" pitchFamily="34" charset="-122"/>
                <a:cs typeface="Courier New" pitchFamily="34" charset="-120"/>
              </a:rPr>
              <a:t>result  </a:t>
            </a:r>
            <a:pPr indent="0" marL="0">
              <a:buNone/>
            </a:pPr>
            <a:r>
              <a:rPr lang="en-US" sz="1000" dirty="0">
                <a:solidFill>
                  <a:srgbClr val="2B2622"/>
                </a:solidFill>
                <a:latin typeface="Courier New" pitchFamily="34" charset="0"/>
                <a:ea typeface="Courier New" pitchFamily="34" charset="-122"/>
                <a:cs typeface="Courier New" pitchFamily="34" charset="-120"/>
              </a:rPr>
              <a:t>[True, False, True]</a:t>
            </a:r>
            <a:endParaRPr lang="en-US" sz="1000" dirty="0"/>
          </a:p>
        </p:txBody>
      </p:sp>
      <p:sp>
        <p:nvSpPr>
          <p:cNvPr id="23" name="Text 21"/>
          <p:cNvSpPr txBox="1"/>
          <p:nvPr/>
        </p:nvSpPr>
        <p:spPr>
          <a:xfrm>
            <a:off x="3931920" y="45720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ConsensusRuleSet, lines 1 to 4 of 4, run under Python 3.14.4</a:t>
            </a:r>
            <a:endParaRPr lang="en-US" sz="9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Validity is computed, never decreed</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38</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Mining pays for honesty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coin and fees reward the work that secures the chain</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wait in the mempool</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Miners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spend energy on proof-of-work</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 found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~every 10 minutes</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Reward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subsidy + fees</a:t>
            </a:r>
            <a:endParaRPr lang="en-US" sz="1250" dirty="0"/>
          </a:p>
        </p:txBody>
      </p:sp>
      <p:sp>
        <p:nvSpPr>
          <p:cNvPr id="17" name="Text 15"/>
          <p:cNvSpPr txBox="1"/>
          <p:nvPr/>
        </p:nvSpPr>
        <p:spPr>
          <a:xfrm>
            <a:off x="457200" y="2926080"/>
            <a:ext cx="5120640" cy="155448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The subsidy follows the halving chart</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Cheating costs more than it could win</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Chapter 12 opens the mechanism</a:t>
            </a:r>
            <a:endParaRPr lang="en-US" sz="1450" dirty="0"/>
          </a:p>
        </p:txBody>
      </p:sp>
      <p:pic>
        <p:nvPicPr>
          <p:cNvPr id="18" name="Image 0" descr="../../03-materials/ch01/assets/c8s32_miningnodes.png">    </p:cNvPr>
          <p:cNvPicPr>
            <a:picLocks noChangeAspect="1"/>
          </p:cNvPicPr>
          <p:nvPr/>
        </p:nvPicPr>
        <p:blipFill>
          <a:blip r:embed="rId1"/>
          <a:srcRect l="0" r="0" t="0" b="0"/>
          <a:stretch/>
        </p:blipFill>
        <p:spPr>
          <a:xfrm>
            <a:off x="5760720" y="2788920"/>
            <a:ext cx="2926080" cy="1691640"/>
          </a:xfrm>
          <a:prstGeom prst="rect">
            <a:avLst/>
          </a:prstGeom>
        </p:spPr>
      </p:pic>
      <p:sp>
        <p:nvSpPr>
          <p:cNvPr id="19" name="Text 16"/>
          <p:cNvSpPr txBox="1"/>
          <p:nvPr/>
        </p:nvSpPr>
        <p:spPr>
          <a:xfrm>
            <a:off x="5760720" y="4498848"/>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Security is bought with energy and paid in bitcoin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38</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Wallets and first use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Choosing software, holding keys, and the first payment</a:t>
            </a:r>
            <a:endParaRPr lang="en-US" sz="1500" dirty="0"/>
          </a:p>
        </p:txBody>
      </p:sp>
      <p:sp>
        <p:nvSpPr>
          <p:cNvPr id="6" name="Shape 4"/>
          <p:cNvSpPr/>
          <p:nvPr/>
        </p:nvSpPr>
        <p:spPr>
          <a:xfrm>
            <a:off x="777240" y="2697480"/>
            <a:ext cx="221284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Wallet platforms</a:t>
            </a:r>
            <a:pPr algn="ctr" indent="0" marL="0">
              <a:buNone/>
            </a:pPr>
            <a:endParaRPr lang="en-US" sz="1400" dirty="0"/>
          </a:p>
        </p:txBody>
      </p:sp>
      <p:sp>
        <p:nvSpPr>
          <p:cNvPr id="8" name="Shape 6"/>
          <p:cNvSpPr/>
          <p:nvPr/>
        </p:nvSpPr>
        <p:spPr>
          <a:xfrm>
            <a:off x="3136392" y="2697480"/>
            <a:ext cx="221284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209544" y="2743200"/>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 control</a:t>
            </a:r>
            <a:pPr algn="ctr" indent="0" marL="0">
              <a:buNone/>
            </a:pPr>
            <a:endParaRPr lang="en-US" sz="1400" dirty="0"/>
          </a:p>
        </p:txBody>
      </p:sp>
      <p:sp>
        <p:nvSpPr>
          <p:cNvPr id="10" name="Shape 8"/>
          <p:cNvSpPr/>
          <p:nvPr/>
        </p:nvSpPr>
        <p:spPr>
          <a:xfrm>
            <a:off x="777240" y="3630168"/>
            <a:ext cx="221284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Backup</a:t>
            </a:r>
            <a:pPr algn="ctr" indent="0" marL="0">
              <a:buNone/>
            </a:pPr>
            <a:endParaRPr lang="en-US" sz="1400" dirty="0"/>
          </a:p>
        </p:txBody>
      </p:sp>
      <p:sp>
        <p:nvSpPr>
          <p:cNvPr id="12" name="Shape 10"/>
          <p:cNvSpPr/>
          <p:nvPr/>
        </p:nvSpPr>
        <p:spPr>
          <a:xfrm>
            <a:off x="3136392" y="3630168"/>
            <a:ext cx="221284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209544" y="3675888"/>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First payment</a:t>
            </a:r>
            <a:pPr algn="ctr" indent="0" marL="0">
              <a:buNone/>
            </a:pPr>
            <a:endParaRPr lang="en-US" sz="1400" dirty="0"/>
          </a:p>
        </p:txBody>
      </p:sp>
      <p:pic>
        <p:nvPicPr>
          <p:cNvPr id="14" name="Image 0" descr="../../03-materials/ch01/assets/mbc3_0101.png">    </p:cNvPr>
          <p:cNvPicPr>
            <a:picLocks noChangeAspect="1"/>
          </p:cNvPicPr>
          <p:nvPr/>
        </p:nvPicPr>
        <p:blipFill>
          <a:blip r:embed="rId1"/>
          <a:srcRect l="0" r="0" t="0" b="0"/>
          <a:stretch/>
        </p:blipFill>
        <p:spPr>
          <a:xfrm>
            <a:off x="5715000" y="1234440"/>
            <a:ext cx="1463040" cy="2606040"/>
          </a:xfrm>
          <a:prstGeom prst="rect">
            <a:avLst/>
          </a:prstGeom>
        </p:spPr>
      </p:pic>
      <p:pic>
        <p:nvPicPr>
          <p:cNvPr id="15" name="Image 1" descr="../../03-materials/ch01/assets/mbc3_0102.png">    </p:cNvPr>
          <p:cNvPicPr>
            <a:picLocks noChangeAspect="1"/>
          </p:cNvPicPr>
          <p:nvPr/>
        </p:nvPicPr>
        <p:blipFill>
          <a:blip r:embed="rId2"/>
          <a:srcRect l="0" r="0" t="0" b="0"/>
          <a:stretch/>
        </p:blipFill>
        <p:spPr>
          <a:xfrm>
            <a:off x="7315200" y="1234440"/>
            <a:ext cx="1463040" cy="2606040"/>
          </a:xfrm>
          <a:prstGeom prst="rect">
            <a:avLst/>
          </a:prstGeom>
        </p:spPr>
      </p:pic>
      <p:sp>
        <p:nvSpPr>
          <p:cNvPr id="16" name="Text 12"/>
          <p:cNvSpPr txBox="1"/>
          <p:nvPr/>
        </p:nvSpPr>
        <p:spPr>
          <a:xfrm>
            <a:off x="7315200" y="3858768"/>
            <a:ext cx="14630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Mastering Bitcoin 3e, CC BY-SA</a:t>
            </a:r>
            <a:endParaRPr lang="en-US" sz="900" dirty="0"/>
          </a:p>
        </p:txBody>
      </p:sp>
      <p:sp>
        <p:nvSpPr>
          <p:cNvPr id="17"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38</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wallet branch, mapped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leaf is explained on the course page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wallet is the software that keeps keys and signs payments; these eight decisions - platform, node, custody, backup - define every wallet you will meet.</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Wallet</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Wallet Platform</a:t>
            </a:r>
            <a:endParaRPr lang="en-US" sz="125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Desktop Wallet  ·  Mobile Wallet  ·  Web Wallet  ·  Hardware Signing Device</a:t>
            </a:r>
            <a:endParaRPr lang="en-US" sz="1150" dirty="0"/>
          </a:p>
        </p:txBody>
      </p:sp>
      <p:sp>
        <p:nvSpPr>
          <p:cNvPr id="15" name="Shape 13"/>
          <p:cNvSpPr/>
          <p:nvPr/>
        </p:nvSpPr>
        <p:spPr>
          <a:xfrm flipV="1">
            <a:off x="1783080" y="2566416"/>
            <a:ext cx="502920" cy="423672"/>
          </a:xfrm>
          <a:prstGeom prst="line">
            <a:avLst/>
          </a:prstGeom>
          <a:noFill/>
          <a:ln w="13970">
            <a:solidFill>
              <a:srgbClr val="C9BFAE"/>
            </a:solidFill>
            <a:prstDash val="solid"/>
          </a:ln>
        </p:spPr>
      </p:sp>
      <p:sp>
        <p:nvSpPr>
          <p:cNvPr id="16" name="Shape 14"/>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Node Type</a:t>
            </a:r>
            <a:endParaRPr lang="en-US" sz="1250" dirty="0"/>
          </a:p>
        </p:txBody>
      </p:sp>
      <p:sp>
        <p:nvSpPr>
          <p:cNvPr id="18" name="Shape 16"/>
          <p:cNvSpPr/>
          <p:nvPr/>
        </p:nvSpPr>
        <p:spPr>
          <a:xfrm>
            <a:off x="4023360" y="2566416"/>
            <a:ext cx="274320" cy="0"/>
          </a:xfrm>
          <a:prstGeom prst="line">
            <a:avLst/>
          </a:prstGeom>
          <a:noFill/>
          <a:ln w="13970">
            <a:solidFill>
              <a:srgbClr val="C9BFAE"/>
            </a:solidFill>
            <a:prstDash val="solid"/>
          </a:ln>
        </p:spPr>
      </p:sp>
      <p:sp>
        <p:nvSpPr>
          <p:cNvPr id="19" name="Shape 17"/>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Full Node  ·  Lightweight Client  ·  Third Party API Client  ·  Peer And Client</a:t>
            </a:r>
            <a:endParaRPr lang="en-US" sz="1150" dirty="0"/>
          </a:p>
        </p:txBody>
      </p:sp>
      <p:sp>
        <p:nvSpPr>
          <p:cNvPr id="21" name="Shape 19"/>
          <p:cNvSpPr/>
          <p:nvPr/>
        </p:nvSpPr>
        <p:spPr>
          <a:xfrm>
            <a:off x="1783080" y="2990088"/>
            <a:ext cx="502920" cy="423672"/>
          </a:xfrm>
          <a:prstGeom prst="line">
            <a:avLst/>
          </a:prstGeom>
          <a:noFill/>
          <a:ln w="13970">
            <a:solidFill>
              <a:srgbClr val="C9BFAE"/>
            </a:solidFill>
            <a:prstDash val="solid"/>
          </a:ln>
        </p:spPr>
      </p:sp>
      <p:sp>
        <p:nvSpPr>
          <p:cNvPr id="22" name="Shape 20"/>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 Control</a:t>
            </a:r>
            <a:endParaRPr lang="en-US" sz="1250" dirty="0"/>
          </a:p>
        </p:txBody>
      </p:sp>
      <p:sp>
        <p:nvSpPr>
          <p:cNvPr id="24" name="Shape 22"/>
          <p:cNvSpPr/>
          <p:nvPr/>
        </p:nvSpPr>
        <p:spPr>
          <a:xfrm>
            <a:off x="4023360" y="3413760"/>
            <a:ext cx="274320" cy="0"/>
          </a:xfrm>
          <a:prstGeom prst="line">
            <a:avLst/>
          </a:prstGeom>
          <a:noFill/>
          <a:ln w="13970">
            <a:solidFill>
              <a:srgbClr val="C9BFAE"/>
            </a:solidFill>
            <a:prstDash val="solid"/>
          </a:ln>
        </p:spPr>
      </p:sp>
      <p:sp>
        <p:nvSpPr>
          <p:cNvPr id="25" name="Shape 23"/>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Noncustodial Wallet  ·  Custodial Wallet</a:t>
            </a:r>
            <a:endParaRPr lang="en-US" sz="1150" dirty="0"/>
          </a:p>
        </p:txBody>
      </p:sp>
      <p:sp>
        <p:nvSpPr>
          <p:cNvPr id="27" name="Shape 25"/>
          <p:cNvSpPr/>
          <p:nvPr/>
        </p:nvSpPr>
        <p:spPr>
          <a:xfrm>
            <a:off x="1783080" y="2990088"/>
            <a:ext cx="502920" cy="1271016"/>
          </a:xfrm>
          <a:prstGeom prst="line">
            <a:avLst/>
          </a:prstGeom>
          <a:noFill/>
          <a:ln w="13970">
            <a:solidFill>
              <a:srgbClr val="C9BFAE"/>
            </a:solidFill>
            <a:prstDash val="solid"/>
          </a:ln>
        </p:spPr>
      </p:sp>
      <p:sp>
        <p:nvSpPr>
          <p:cNvPr id="28" name="Shape 26"/>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Backup</a:t>
            </a:r>
            <a:endParaRPr lang="en-US" sz="1250" dirty="0"/>
          </a:p>
        </p:txBody>
      </p:sp>
      <p:sp>
        <p:nvSpPr>
          <p:cNvPr id="30" name="Shape 28"/>
          <p:cNvSpPr/>
          <p:nvPr/>
        </p:nvSpPr>
        <p:spPr>
          <a:xfrm>
            <a:off x="4023360" y="4261104"/>
            <a:ext cx="274320" cy="0"/>
          </a:xfrm>
          <a:prstGeom prst="line">
            <a:avLst/>
          </a:prstGeom>
          <a:noFill/>
          <a:ln w="13970">
            <a:solidFill>
              <a:srgbClr val="C9BFAE"/>
            </a:solidFill>
            <a:prstDash val="solid"/>
          </a:ln>
        </p:spPr>
      </p:sp>
      <p:sp>
        <p:nvSpPr>
          <p:cNvPr id="31" name="Shape 29"/>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Recovery Code  ·  Wallet Metadata</a:t>
            </a:r>
            <a:endParaRPr lang="en-US" sz="11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wallet is software for keys, not a bag of coins</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38</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 holds the keys, holds the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one wallet decision that matters most</a:t>
            </a:r>
            <a:endParaRPr lang="en-US" sz="1300" dirty="0"/>
          </a:p>
        </p:txBody>
      </p:sp>
      <p:sp>
        <p:nvSpPr>
          <p:cNvPr id="6" name="Shape 4"/>
          <p:cNvSpPr/>
          <p:nvPr/>
        </p:nvSpPr>
        <p:spPr>
          <a:xfrm>
            <a:off x="457200" y="1371600"/>
            <a:ext cx="3931920" cy="1920240"/>
          </a:xfrm>
          <a:prstGeom prst="roundRect">
            <a:avLst>
              <a:gd name="adj" fmla="val 4762"/>
            </a:avLst>
          </a:prstGeom>
          <a:solidFill>
            <a:srgbClr val="F2ECE1"/>
          </a:solidFill>
          <a:ln w="15875">
            <a:solidFill>
              <a:srgbClr val="D97A14"/>
            </a:solidFill>
            <a:prstDash val="solid"/>
          </a:ln>
        </p:spPr>
      </p:sp>
      <p:sp>
        <p:nvSpPr>
          <p:cNvPr id="7" name="Text 5"/>
          <p:cNvSpPr txBox="1"/>
          <p:nvPr/>
        </p:nvSpPr>
        <p:spPr>
          <a:xfrm>
            <a:off x="640080" y="148132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control</a:t>
            </a:r>
            <a:endParaRPr lang="en-US" sz="1500" dirty="0"/>
          </a:p>
        </p:txBody>
      </p:sp>
      <p:sp>
        <p:nvSpPr>
          <p:cNvPr id="8" name="Text 6"/>
          <p:cNvSpPr txBox="1"/>
          <p:nvPr/>
        </p:nvSpPr>
        <p:spPr>
          <a:xfrm>
            <a:off x="64008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keep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sign; nobody can freeze</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Backup is your job</a:t>
            </a:r>
            <a:endParaRPr lang="en-US" sz="1300" dirty="0"/>
          </a:p>
        </p:txBody>
      </p:sp>
      <p:sp>
        <p:nvSpPr>
          <p:cNvPr id="9" name="Shape 7"/>
          <p:cNvSpPr/>
          <p:nvPr/>
        </p:nvSpPr>
        <p:spPr>
          <a:xfrm>
            <a:off x="4754880" y="1371600"/>
            <a:ext cx="3931920" cy="1920240"/>
          </a:xfrm>
          <a:prstGeom prst="roundRect">
            <a:avLst>
              <a:gd name="adj" fmla="val 4762"/>
            </a:avLst>
          </a:prstGeom>
          <a:solidFill>
            <a:srgbClr val="F2ECE1"/>
          </a:solidFill>
          <a:ln w="15875">
            <a:solidFill>
              <a:srgbClr val="2F6D62"/>
            </a:solidFill>
            <a:prstDash val="solid"/>
          </a:ln>
        </p:spPr>
      </p:sp>
      <p:sp>
        <p:nvSpPr>
          <p:cNvPr id="10" name="Text 8"/>
          <p:cNvSpPr txBox="1"/>
          <p:nvPr/>
        </p:nvSpPr>
        <p:spPr>
          <a:xfrm>
            <a:off x="4937760" y="148132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Third-party control</a:t>
            </a:r>
            <a:endParaRPr lang="en-US" sz="1500" dirty="0"/>
          </a:p>
        </p:txBody>
      </p:sp>
      <p:sp>
        <p:nvSpPr>
          <p:cNvPr id="11" name="Text 9"/>
          <p:cNvSpPr txBox="1"/>
          <p:nvPr/>
        </p:nvSpPr>
        <p:spPr>
          <a:xfrm>
            <a:off x="493776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A service keeps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Convenient, custodial</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trust their honesty and uptime</a:t>
            </a:r>
            <a:endParaRPr lang="en-US" sz="1300" dirty="0"/>
          </a:p>
        </p:txBody>
      </p:sp>
      <p:sp>
        <p:nvSpPr>
          <p:cNvPr id="12" name="Shape 10"/>
          <p:cNvSpPr/>
          <p:nvPr/>
        </p:nvSpPr>
        <p:spPr>
          <a:xfrm>
            <a:off x="457200" y="3520440"/>
            <a:ext cx="134096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520440"/>
            <a:ext cx="1340968"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desktop</a:t>
            </a:r>
            <a:endParaRPr lang="en-US" sz="1300" dirty="0"/>
          </a:p>
        </p:txBody>
      </p:sp>
      <p:sp>
        <p:nvSpPr>
          <p:cNvPr id="14" name="Shape 12"/>
          <p:cNvSpPr/>
          <p:nvPr/>
        </p:nvSpPr>
        <p:spPr>
          <a:xfrm>
            <a:off x="1999336" y="3520440"/>
            <a:ext cx="1204265"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1999336" y="3520440"/>
            <a:ext cx="1204265"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mobile</a:t>
            </a:r>
            <a:endParaRPr lang="en-US" sz="1300" dirty="0"/>
          </a:p>
        </p:txBody>
      </p:sp>
      <p:sp>
        <p:nvSpPr>
          <p:cNvPr id="16" name="Shape 14"/>
          <p:cNvSpPr/>
          <p:nvPr/>
        </p:nvSpPr>
        <p:spPr>
          <a:xfrm>
            <a:off x="3404768" y="3520440"/>
            <a:ext cx="794156"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404768" y="3520440"/>
            <a:ext cx="794156"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web</a:t>
            </a:r>
            <a:endParaRPr lang="en-US" sz="1300" dirty="0"/>
          </a:p>
        </p:txBody>
      </p:sp>
      <p:sp>
        <p:nvSpPr>
          <p:cNvPr id="18" name="Shape 16"/>
          <p:cNvSpPr/>
          <p:nvPr/>
        </p:nvSpPr>
        <p:spPr>
          <a:xfrm>
            <a:off x="4400093" y="3520440"/>
            <a:ext cx="147767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400093" y="3520440"/>
            <a:ext cx="1477670"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hardware</a:t>
            </a:r>
            <a:endParaRPr lang="en-US" sz="1300" dirty="0"/>
          </a:p>
        </p:txBody>
      </p:sp>
      <p:sp>
        <p:nvSpPr>
          <p:cNvPr id="20" name="Shape 18"/>
          <p:cNvSpPr/>
          <p:nvPr/>
        </p:nvSpPr>
        <p:spPr>
          <a:xfrm>
            <a:off x="6078931" y="3520440"/>
            <a:ext cx="1067562"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6078931" y="3520440"/>
            <a:ext cx="1067562"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paper</a:t>
            </a:r>
            <a:endParaRPr lang="en-US" sz="13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Custody is the first security decision you make</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38</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exchange that lost everyone's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February 2014</a:t>
            </a:r>
            <a:endParaRPr lang="en-US" sz="1300" dirty="0"/>
          </a:p>
        </p:txBody>
      </p:sp>
      <p:sp>
        <p:nvSpPr>
          <p:cNvPr id="6" name="Shape 4"/>
          <p:cNvSpPr/>
          <p:nvPr/>
        </p:nvSpPr>
        <p:spPr>
          <a:xfrm>
            <a:off x="457200" y="1371600"/>
            <a:ext cx="2590800" cy="1280160"/>
          </a:xfrm>
          <a:prstGeom prst="roundRect">
            <a:avLst>
              <a:gd name="adj" fmla="val 5714"/>
            </a:avLst>
          </a:prstGeom>
          <a:solidFill>
            <a:srgbClr val="F2ECE1"/>
          </a:solidFill>
          <a:ln w="12700">
            <a:solidFill>
              <a:srgbClr val="DFD6C7"/>
            </a:solidFill>
            <a:prstDash val="solid"/>
          </a:ln>
        </p:spPr>
      </p:sp>
      <p:sp>
        <p:nvSpPr>
          <p:cNvPr id="7" name="Text 5"/>
          <p:cNvSpPr txBox="1"/>
          <p:nvPr/>
        </p:nvSpPr>
        <p:spPr>
          <a:xfrm>
            <a:off x="566928" y="1444752"/>
            <a:ext cx="2371344" cy="64008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850,000</a:t>
            </a:r>
            <a:endParaRPr lang="en-US" sz="2800" dirty="0"/>
          </a:p>
        </p:txBody>
      </p:sp>
      <p:sp>
        <p:nvSpPr>
          <p:cNvPr id="8" name="Text 6"/>
          <p:cNvSpPr txBox="1"/>
          <p:nvPr/>
        </p:nvSpPr>
        <p:spPr>
          <a:xfrm>
            <a:off x="566928" y="2037283"/>
            <a:ext cx="2371344" cy="5632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bitcoins reported missing in the 2014 bankruptcy filing</a:t>
            </a:r>
            <a:endParaRPr lang="en-US" sz="1150" dirty="0"/>
          </a:p>
        </p:txBody>
      </p:sp>
      <p:sp>
        <p:nvSpPr>
          <p:cNvPr id="9" name="Shape 7"/>
          <p:cNvSpPr/>
          <p:nvPr/>
        </p:nvSpPr>
        <p:spPr>
          <a:xfrm>
            <a:off x="3276600" y="1371600"/>
            <a:ext cx="2590800" cy="1280160"/>
          </a:xfrm>
          <a:prstGeom prst="roundRect">
            <a:avLst>
              <a:gd name="adj" fmla="val 5714"/>
            </a:avLst>
          </a:prstGeom>
          <a:solidFill>
            <a:srgbClr val="F2ECE1"/>
          </a:solidFill>
          <a:ln w="12700">
            <a:solidFill>
              <a:srgbClr val="DFD6C7"/>
            </a:solidFill>
            <a:prstDash val="solid"/>
          </a:ln>
        </p:spPr>
      </p:sp>
      <p:sp>
        <p:nvSpPr>
          <p:cNvPr id="10" name="Text 8"/>
          <p:cNvSpPr txBox="1"/>
          <p:nvPr/>
        </p:nvSpPr>
        <p:spPr>
          <a:xfrm>
            <a:off x="3386328" y="1444752"/>
            <a:ext cx="2371344" cy="64008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a:t>
            </a:r>
            <a:endParaRPr lang="en-US" sz="2800" dirty="0"/>
          </a:p>
        </p:txBody>
      </p:sp>
      <p:sp>
        <p:nvSpPr>
          <p:cNvPr id="11" name="Text 9"/>
          <p:cNvSpPr txBox="1"/>
          <p:nvPr/>
        </p:nvSpPr>
        <p:spPr>
          <a:xfrm>
            <a:off x="3386328" y="2037283"/>
            <a:ext cx="2371344" cy="5632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Mt. Gox had been the largest exchange in the world</a:t>
            </a:r>
            <a:endParaRPr lang="en-US" sz="1150" dirty="0"/>
          </a:p>
        </p:txBody>
      </p:sp>
      <p:sp>
        <p:nvSpPr>
          <p:cNvPr id="12" name="Shape 10"/>
          <p:cNvSpPr/>
          <p:nvPr/>
        </p:nvSpPr>
        <p:spPr>
          <a:xfrm>
            <a:off x="6096000" y="1371600"/>
            <a:ext cx="2590800" cy="1280160"/>
          </a:xfrm>
          <a:prstGeom prst="roundRect">
            <a:avLst>
              <a:gd name="adj" fmla="val 5714"/>
            </a:avLst>
          </a:prstGeom>
          <a:solidFill>
            <a:srgbClr val="F2ECE1"/>
          </a:solidFill>
          <a:ln w="12700">
            <a:solidFill>
              <a:srgbClr val="DFD6C7"/>
            </a:solidFill>
            <a:prstDash val="solid"/>
          </a:ln>
        </p:spPr>
      </p:sp>
      <p:sp>
        <p:nvSpPr>
          <p:cNvPr id="13" name="Text 11"/>
          <p:cNvSpPr txBox="1"/>
          <p:nvPr/>
        </p:nvSpPr>
        <p:spPr>
          <a:xfrm>
            <a:off x="6205728" y="1444752"/>
            <a:ext cx="2371344" cy="64008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10+ yrs</a:t>
            </a:r>
            <a:endParaRPr lang="en-US" sz="2800" dirty="0"/>
          </a:p>
        </p:txBody>
      </p:sp>
      <p:sp>
        <p:nvSpPr>
          <p:cNvPr id="14" name="Text 12"/>
          <p:cNvSpPr txBox="1"/>
          <p:nvPr/>
        </p:nvSpPr>
        <p:spPr>
          <a:xfrm>
            <a:off x="6205728" y="2037283"/>
            <a:ext cx="2371344" cy="5632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creditors still being repaid a decade later</a:t>
            </a:r>
            <a:endParaRPr lang="en-US" sz="1150" dirty="0"/>
          </a:p>
        </p:txBody>
      </p:sp>
      <p:sp>
        <p:nvSpPr>
          <p:cNvPr id="15" name="Shape 13"/>
          <p:cNvSpPr/>
          <p:nvPr/>
        </p:nvSpPr>
        <p:spPr>
          <a:xfrm>
            <a:off x="457200" y="30754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731520" y="2880360"/>
            <a:ext cx="7955280" cy="518160"/>
          </a:xfrm>
          <a:prstGeom prst="rect">
            <a:avLst/>
          </a:prstGeom>
          <a:noFill/>
          <a:ln/>
        </p:spPr>
        <p:txBody>
          <a:bodyPr wrap="square" lIns="0" tIns="0" rIns="0" bIns="0" rtlCol="0" anchor="ctr"/>
          <a:lstStyle/>
          <a:p>
            <a:pPr indent="0" marL="0">
              <a:buNone/>
            </a:pPr>
            <a:r>
              <a:rPr lang="en-US" sz="1400" dirty="0">
                <a:solidFill>
                  <a:srgbClr val="2B2622"/>
                </a:solidFill>
                <a:latin typeface="Calibri" pitchFamily="34" charset="0"/>
                <a:ea typeface="Calibri" pitchFamily="34" charset="-122"/>
                <a:cs typeface="Calibri" pitchFamily="34" charset="-120"/>
              </a:rPr>
              <a:t>Customers saw balances on a website</a:t>
            </a:r>
            <a:endParaRPr lang="en-US" sz="1400" dirty="0"/>
          </a:p>
        </p:txBody>
      </p:sp>
      <p:sp>
        <p:nvSpPr>
          <p:cNvPr id="17" name="Shape 15"/>
          <p:cNvSpPr/>
          <p:nvPr/>
        </p:nvSpPr>
        <p:spPr>
          <a:xfrm>
            <a:off x="457200" y="359359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731520" y="3398520"/>
            <a:ext cx="7955280" cy="518160"/>
          </a:xfrm>
          <a:prstGeom prst="rect">
            <a:avLst/>
          </a:prstGeom>
          <a:noFill/>
          <a:ln/>
        </p:spPr>
        <p:txBody>
          <a:bodyPr wrap="square" lIns="0" tIns="0" rIns="0" bIns="0" rtlCol="0" anchor="ctr"/>
          <a:lstStyle/>
          <a:p>
            <a:pPr indent="0" marL="0">
              <a:buNone/>
            </a:pPr>
            <a:r>
              <a:rPr lang="en-US" sz="1400" dirty="0">
                <a:solidFill>
                  <a:srgbClr val="2B2622"/>
                </a:solidFill>
                <a:latin typeface="Calibri" pitchFamily="34" charset="0"/>
                <a:ea typeface="Calibri" pitchFamily="34" charset="-122"/>
                <a:cs typeface="Calibri" pitchFamily="34" charset="-120"/>
              </a:rPr>
              <a:t>The keys - so the coins - sat in one company's hands</a:t>
            </a:r>
            <a:endParaRPr lang="en-US" sz="1400" dirty="0"/>
          </a:p>
        </p:txBody>
      </p:sp>
      <p:sp>
        <p:nvSpPr>
          <p:cNvPr id="19" name="Shape 17"/>
          <p:cNvSpPr/>
          <p:nvPr/>
        </p:nvSpPr>
        <p:spPr>
          <a:xfrm>
            <a:off x="457200" y="4111752"/>
            <a:ext cx="128016" cy="128016"/>
          </a:xfrm>
          <a:prstGeom prst="diamond">
            <a:avLst/>
          </a:prstGeom>
          <a:solidFill>
            <a:srgbClr val="D97A14"/>
          </a:solidFill>
          <a:ln w="12700">
            <a:solidFill>
              <a:srgbClr val="D97A14"/>
            </a:solidFill>
            <a:prstDash val="solid"/>
          </a:ln>
        </p:spPr>
      </p:sp>
      <p:sp>
        <p:nvSpPr>
          <p:cNvPr id="20" name="Text 18"/>
          <p:cNvSpPr txBox="1"/>
          <p:nvPr/>
        </p:nvSpPr>
        <p:spPr>
          <a:xfrm>
            <a:off x="731520" y="3916680"/>
            <a:ext cx="7955280" cy="518160"/>
          </a:xfrm>
          <a:prstGeom prst="rect">
            <a:avLst/>
          </a:prstGeom>
          <a:noFill/>
          <a:ln/>
        </p:spPr>
        <p:txBody>
          <a:bodyPr wrap="square" lIns="0" tIns="0" rIns="0" bIns="0" rtlCol="0" anchor="ctr"/>
          <a:lstStyle/>
          <a:p>
            <a:pPr indent="0" marL="0">
              <a:buNone/>
            </a:pPr>
            <a:r>
              <a:rPr lang="en-US" sz="1400" dirty="0">
                <a:solidFill>
                  <a:srgbClr val="2B2622"/>
                </a:solidFill>
                <a:latin typeface="Calibri" pitchFamily="34" charset="0"/>
                <a:ea typeface="Calibri" pitchFamily="34" charset="-122"/>
                <a:cs typeface="Calibri" pitchFamily="34" charset="-120"/>
              </a:rPr>
              <a:t>When they vanished, the balances meant nothing</a:t>
            </a:r>
            <a:endParaRPr lang="en-US" sz="14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Whoever holds the keys holds the coins</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38</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phrase to a key, slowly on purpose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Key stretching makes guessing expensive</a:t>
            </a:r>
            <a:endParaRPr lang="en-US" sz="1300" dirty="0"/>
          </a:p>
        </p:txBody>
      </p:sp>
      <p:sp>
        <p:nvSpPr>
          <p:cNvPr id="6" name="Text 4"/>
          <p:cNvSpPr txBox="1"/>
          <p:nvPr/>
        </p:nvSpPr>
        <p:spPr>
          <a:xfrm>
            <a:off x="457200" y="1325880"/>
            <a:ext cx="3291840" cy="100584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A backup phrase becomes the wallet seed</a:t>
            </a:r>
            <a:endParaRPr lang="en-US" sz="1350" dirty="0"/>
          </a:p>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Chapter 5 derives whole wallets from this</a:t>
            </a:r>
            <a:endParaRPr lang="en-US" sz="1350" dirty="0"/>
          </a:p>
        </p:txBody>
      </p:sp>
      <p:sp>
        <p:nvSpPr>
          <p:cNvPr id="7" name="Shape 5"/>
          <p:cNvSpPr/>
          <p:nvPr/>
        </p:nvSpPr>
        <p:spPr>
          <a:xfrm flipV="1">
            <a:off x="548640" y="2377440"/>
            <a:ext cx="3108960" cy="347472"/>
          </a:xfrm>
          <a:prstGeom prst="trapezoid">
            <a:avLst/>
          </a:prstGeom>
          <a:solidFill>
            <a:srgbClr val="2F6D62"/>
          </a:solidFill>
          <a:ln w="12700">
            <a:solidFill>
              <a:srgbClr val="FFFFFF"/>
            </a:solidFill>
            <a:prstDash val="solid"/>
          </a:ln>
        </p:spPr>
      </p:sp>
      <p:sp>
        <p:nvSpPr>
          <p:cNvPr id="8" name="Text 6"/>
          <p:cNvSpPr txBox="1"/>
          <p:nvPr/>
        </p:nvSpPr>
        <p:spPr>
          <a:xfrm>
            <a:off x="548640" y="2377440"/>
            <a:ext cx="3108960" cy="3474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phrase 'abandon' + salt</a:t>
            </a:r>
            <a:endParaRPr lang="en-US" sz="1050" dirty="0"/>
          </a:p>
        </p:txBody>
      </p:sp>
      <p:sp>
        <p:nvSpPr>
          <p:cNvPr id="9" name="Shape 7"/>
          <p:cNvSpPr/>
          <p:nvPr/>
        </p:nvSpPr>
        <p:spPr>
          <a:xfrm flipV="1">
            <a:off x="828446" y="2834640"/>
            <a:ext cx="2549347" cy="347472"/>
          </a:xfrm>
          <a:prstGeom prst="trapezoid">
            <a:avLst/>
          </a:prstGeom>
          <a:solidFill>
            <a:srgbClr val="2F6D62"/>
          </a:solidFill>
          <a:ln w="12700">
            <a:solidFill>
              <a:srgbClr val="FFFFFF"/>
            </a:solidFill>
            <a:prstDash val="solid"/>
          </a:ln>
        </p:spPr>
      </p:sp>
      <p:sp>
        <p:nvSpPr>
          <p:cNvPr id="10" name="Text 8"/>
          <p:cNvSpPr txBox="1"/>
          <p:nvPr/>
        </p:nvSpPr>
        <p:spPr>
          <a:xfrm>
            <a:off x="828446" y="2834640"/>
            <a:ext cx="2549347" cy="3474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HMAC-SHA512, round 1</a:t>
            </a:r>
            <a:endParaRPr lang="en-US" sz="1050" dirty="0"/>
          </a:p>
        </p:txBody>
      </p:sp>
      <p:sp>
        <p:nvSpPr>
          <p:cNvPr id="11" name="Shape 9"/>
          <p:cNvSpPr/>
          <p:nvPr/>
        </p:nvSpPr>
        <p:spPr>
          <a:xfrm flipV="1">
            <a:off x="1108253" y="3291840"/>
            <a:ext cx="1989734" cy="347472"/>
          </a:xfrm>
          <a:prstGeom prst="trapezoid">
            <a:avLst/>
          </a:prstGeom>
          <a:solidFill>
            <a:srgbClr val="2F6D62"/>
          </a:solidFill>
          <a:ln w="12700">
            <a:solidFill>
              <a:srgbClr val="FFFFFF"/>
            </a:solidFill>
            <a:prstDash val="solid"/>
          </a:ln>
        </p:spPr>
      </p:sp>
      <p:sp>
        <p:nvSpPr>
          <p:cNvPr id="12" name="Text 10"/>
          <p:cNvSpPr txBox="1"/>
          <p:nvPr/>
        </p:nvSpPr>
        <p:spPr>
          <a:xfrm>
            <a:off x="1108253" y="3291840"/>
            <a:ext cx="1989734" cy="3474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 2,048 rounds ...</a:t>
            </a:r>
            <a:endParaRPr lang="en-US" sz="1050" dirty="0"/>
          </a:p>
        </p:txBody>
      </p:sp>
      <p:sp>
        <p:nvSpPr>
          <p:cNvPr id="13" name="Shape 11"/>
          <p:cNvSpPr/>
          <p:nvPr/>
        </p:nvSpPr>
        <p:spPr>
          <a:xfrm flipV="1">
            <a:off x="1388059" y="3749040"/>
            <a:ext cx="1430122" cy="347472"/>
          </a:xfrm>
          <a:prstGeom prst="trapezoid">
            <a:avLst/>
          </a:prstGeom>
          <a:solidFill>
            <a:srgbClr val="D97A14"/>
          </a:solidFill>
          <a:ln w="12700">
            <a:solidFill>
              <a:srgbClr val="FFFFFF"/>
            </a:solidFill>
            <a:prstDash val="solid"/>
          </a:ln>
        </p:spPr>
      </p:sp>
      <p:sp>
        <p:nvSpPr>
          <p:cNvPr id="14" name="Text 12"/>
          <p:cNvSpPr txBox="1"/>
          <p:nvPr/>
        </p:nvSpPr>
        <p:spPr>
          <a:xfrm>
            <a:off x="1388059" y="3749040"/>
            <a:ext cx="143012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the wallet seed</a:t>
            </a:r>
            <a:endParaRPr lang="en-US" sz="1050" dirty="0"/>
          </a:p>
        </p:txBody>
      </p:sp>
      <p:sp>
        <p:nvSpPr>
          <p:cNvPr id="15" name="Text 13"/>
          <p:cNvSpPr txBox="1"/>
          <p:nvPr/>
        </p:nvSpPr>
        <p:spPr>
          <a:xfrm>
            <a:off x="548640" y="4242816"/>
            <a:ext cx="310896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result: a 64-byte seed, digest d96147bf</a:t>
            </a:r>
            <a:endParaRPr lang="en-US" sz="1050" dirty="0"/>
          </a:p>
        </p:txBody>
      </p:sp>
      <p:sp>
        <p:nvSpPr>
          <p:cNvPr id="16" name="Text 14"/>
          <p:cNvSpPr txBox="1"/>
          <p:nvPr/>
        </p:nvSpPr>
        <p:spPr>
          <a:xfrm>
            <a:off x="3931920" y="10972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2,048 rounds from phrase to seed</a:t>
            </a:r>
            <a:endParaRPr lang="en-US" sz="1150" dirty="0"/>
          </a:p>
        </p:txBody>
      </p:sp>
      <p:sp>
        <p:nvSpPr>
          <p:cNvPr id="17" name="Shape 15"/>
          <p:cNvSpPr/>
          <p:nvPr/>
        </p:nvSpPr>
        <p:spPr>
          <a:xfrm>
            <a:off x="3931920" y="1371600"/>
            <a:ext cx="4754880" cy="2926080"/>
          </a:xfrm>
          <a:prstGeom prst="roundRect">
            <a:avLst>
              <a:gd name="adj" fmla="val 3125"/>
            </a:avLst>
          </a:prstGeom>
          <a:solidFill>
            <a:srgbClr val="23272E"/>
          </a:solidFill>
          <a:ln w="12700">
            <a:solidFill>
              <a:srgbClr val="23272E"/>
            </a:solidFill>
            <a:prstDash val="solid"/>
          </a:ln>
        </p:spPr>
      </p:sp>
      <p:sp>
        <p:nvSpPr>
          <p:cNvPr id="18" name="Text 16"/>
          <p:cNvSpPr txBox="1"/>
          <p:nvPr/>
        </p:nvSpPr>
        <p:spPr>
          <a:xfrm>
            <a:off x="4114800" y="1490472"/>
            <a:ext cx="4389120" cy="2688336"/>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import hmac</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password, salt, iters = b'abandon', b'mnemonic', 2048</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u = hmac.new(password, salt + bytes([0, 0, 0, 1]), 'sha512').digest()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seed = u</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for _ in range(iters - 1):</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u = hmac.new(password, u, 'sha512').digest()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seed = bytes(a ^ b for a, b in zip(seed, u))</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(len(seed), seed.hex()[:8])</a:t>
            </a:r>
            <a:endParaRPr lang="en-US" sz="1000" dirty="0"/>
          </a:p>
        </p:txBody>
      </p:sp>
      <p:sp>
        <p:nvSpPr>
          <p:cNvPr id="19" name="Text 17"/>
          <p:cNvSpPr txBox="1"/>
          <p:nvPr/>
        </p:nvSpPr>
        <p:spPr>
          <a:xfrm>
            <a:off x="3931920" y="4315968"/>
            <a:ext cx="4754880" cy="256032"/>
          </a:xfrm>
          <a:prstGeom prst="rect">
            <a:avLst/>
          </a:prstGeom>
          <a:noFill/>
          <a:ln/>
        </p:spPr>
        <p:txBody>
          <a:bodyPr wrap="square" lIns="0" tIns="0" rIns="0" bIns="0" rtlCol="0" anchor="ctr"/>
          <a:lstStyle/>
          <a:p>
            <a:pPr indent="0" marL="0">
              <a:buNone/>
            </a:pPr>
            <a:r>
              <a:rPr lang="en-US" sz="1000" b="1" dirty="0">
                <a:solidFill>
                  <a:srgbClr val="D97A14"/>
                </a:solidFill>
                <a:latin typeface="Courier New" pitchFamily="34" charset="0"/>
                <a:ea typeface="Courier New" pitchFamily="34" charset="-122"/>
                <a:cs typeface="Courier New" pitchFamily="34" charset="-120"/>
              </a:rPr>
              <a:t>result  </a:t>
            </a:r>
            <a:pPr indent="0" marL="0">
              <a:buNone/>
            </a:pPr>
            <a:r>
              <a:rPr lang="en-US" sz="1000" dirty="0">
                <a:solidFill>
                  <a:srgbClr val="2B2622"/>
                </a:solidFill>
                <a:latin typeface="Courier New" pitchFamily="34" charset="0"/>
                <a:ea typeface="Courier New" pitchFamily="34" charset="-122"/>
                <a:cs typeface="Courier New" pitchFamily="34" charset="-120"/>
              </a:rPr>
              <a:t>(64, 'd96147bf')</a:t>
            </a:r>
            <a:endParaRPr lang="en-US" sz="1000" dirty="0"/>
          </a:p>
        </p:txBody>
      </p:sp>
      <p:sp>
        <p:nvSpPr>
          <p:cNvPr id="20" name="Text 18"/>
          <p:cNvSpPr txBox="1"/>
          <p:nvPr/>
        </p:nvSpPr>
        <p:spPr>
          <a:xfrm>
            <a:off x="3931920" y="45720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KeyStretching, lines 1 to 8 of 8, run under Python 3.14.4</a:t>
            </a:r>
            <a:endParaRPr lang="en-US" sz="9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Slowness here is a feature priced against attackers</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38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Alice's first bitcoin, step by step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running story begins</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Install a wallet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keys made on her phone</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First address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shared as text or QR</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Acquire bitcoin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buy, earn, or exchange</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Confirmations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network accepts it</a:t>
            </a:r>
            <a:endParaRPr lang="en-US" sz="1250" dirty="0"/>
          </a:p>
        </p:txBody>
      </p:sp>
      <p:sp>
        <p:nvSpPr>
          <p:cNvPr id="17" name="Text 15"/>
          <p:cNvSpPr txBox="1"/>
          <p:nvPr/>
        </p:nvSpPr>
        <p:spPr>
          <a:xfrm>
            <a:off x="3931920" y="2487168"/>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Her channel settles on-chain only twice</a:t>
            </a:r>
            <a:endParaRPr lang="en-US" sz="1150" dirty="0"/>
          </a:p>
        </p:txBody>
      </p:sp>
      <p:sp>
        <p:nvSpPr>
          <p:cNvPr id="18" name="Shape 16"/>
          <p:cNvSpPr/>
          <p:nvPr/>
        </p:nvSpPr>
        <p:spPr>
          <a:xfrm>
            <a:off x="3931920" y="2761488"/>
            <a:ext cx="4754880" cy="1481328"/>
          </a:xfrm>
          <a:prstGeom prst="roundRect">
            <a:avLst>
              <a:gd name="adj" fmla="val 6173"/>
            </a:avLst>
          </a:prstGeom>
          <a:solidFill>
            <a:srgbClr val="23272E"/>
          </a:solidFill>
          <a:ln w="12700">
            <a:solidFill>
              <a:srgbClr val="23272E"/>
            </a:solidFill>
            <a:prstDash val="solid"/>
          </a:ln>
        </p:spPr>
      </p:sp>
      <p:sp>
        <p:nvSpPr>
          <p:cNvPr id="19" name="Text 17"/>
          <p:cNvSpPr txBox="1"/>
          <p:nvPr/>
        </p:nvSpPr>
        <p:spPr>
          <a:xfrm>
            <a:off x="4114800" y="2880360"/>
            <a:ext cx="4389120" cy="1243584"/>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onchain, a, b = 2, 60_000, 40_000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for _ in range(100):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a, b = a - 10, b + 10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(a, b, a + b, onchain)</a:t>
            </a:r>
            <a:endParaRPr lang="en-US" sz="1000" dirty="0"/>
          </a:p>
        </p:txBody>
      </p:sp>
      <p:sp>
        <p:nvSpPr>
          <p:cNvPr id="20" name="Text 18"/>
          <p:cNvSpPr txBox="1"/>
          <p:nvPr/>
        </p:nvSpPr>
        <p:spPr>
          <a:xfrm>
            <a:off x="3931920" y="4261104"/>
            <a:ext cx="4754880" cy="256032"/>
          </a:xfrm>
          <a:prstGeom prst="rect">
            <a:avLst/>
          </a:prstGeom>
          <a:noFill/>
          <a:ln/>
        </p:spPr>
        <p:txBody>
          <a:bodyPr wrap="square" lIns="0" tIns="0" rIns="0" bIns="0" rtlCol="0" anchor="ctr"/>
          <a:lstStyle/>
          <a:p>
            <a:pPr indent="0" marL="0">
              <a:buNone/>
            </a:pPr>
            <a:r>
              <a:rPr lang="en-US" sz="1000" b="1" dirty="0">
                <a:solidFill>
                  <a:srgbClr val="D97A14"/>
                </a:solidFill>
                <a:latin typeface="Courier New" pitchFamily="34" charset="0"/>
                <a:ea typeface="Courier New" pitchFamily="34" charset="-122"/>
                <a:cs typeface="Courier New" pitchFamily="34" charset="-120"/>
              </a:rPr>
              <a:t>result  </a:t>
            </a:r>
            <a:pPr indent="0" marL="0">
              <a:buNone/>
            </a:pPr>
            <a:r>
              <a:rPr lang="en-US" sz="1000" dirty="0">
                <a:solidFill>
                  <a:srgbClr val="2B2622"/>
                </a:solidFill>
                <a:latin typeface="Courier New" pitchFamily="34" charset="0"/>
                <a:ea typeface="Courier New" pitchFamily="34" charset="-122"/>
                <a:cs typeface="Courier New" pitchFamily="34" charset="-120"/>
              </a:rPr>
              <a:t>(59000, 41000, 100000, 2)</a:t>
            </a:r>
            <a:endParaRPr lang="en-US" sz="1000" dirty="0"/>
          </a:p>
        </p:txBody>
      </p:sp>
      <p:sp>
        <p:nvSpPr>
          <p:cNvPr id="21" name="Text 19"/>
          <p:cNvSpPr txBox="1"/>
          <p:nvPr/>
        </p:nvSpPr>
        <p:spPr>
          <a:xfrm>
            <a:off x="3931920" y="4517136"/>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PaymentChannel, lines 1 to 4 of 4, run under Python 3.14.4</a:t>
            </a:r>
            <a:endParaRPr lang="en-US" sz="900" dirty="0"/>
          </a:p>
        </p:txBody>
      </p:sp>
      <p:sp>
        <p:nvSpPr>
          <p:cNvPr id="22" name="Text 20"/>
          <p:cNvSpPr txBox="1"/>
          <p:nvPr/>
        </p:nvSpPr>
        <p:spPr>
          <a:xfrm>
            <a:off x="457200" y="2788920"/>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Alice, after</a:t>
            </a:r>
            <a:endParaRPr lang="en-US" sz="1050" dirty="0"/>
          </a:p>
        </p:txBody>
      </p:sp>
      <p:sp>
        <p:nvSpPr>
          <p:cNvPr id="23" name="Shape 21"/>
          <p:cNvSpPr/>
          <p:nvPr/>
        </p:nvSpPr>
        <p:spPr>
          <a:xfrm>
            <a:off x="1737360" y="2816352"/>
            <a:ext cx="1554480" cy="310896"/>
          </a:xfrm>
          <a:prstGeom prst="roundRect">
            <a:avLst>
              <a:gd name="adj" fmla="val 14706"/>
            </a:avLst>
          </a:prstGeom>
          <a:solidFill>
            <a:srgbClr val="D97A14"/>
          </a:solidFill>
          <a:ln w="12700">
            <a:solidFill>
              <a:srgbClr val="D97A14"/>
            </a:solidFill>
            <a:prstDash val="solid"/>
          </a:ln>
        </p:spPr>
      </p:sp>
      <p:sp>
        <p:nvSpPr>
          <p:cNvPr id="24" name="Text 22"/>
          <p:cNvSpPr txBox="1"/>
          <p:nvPr/>
        </p:nvSpPr>
        <p:spPr>
          <a:xfrm>
            <a:off x="3346704" y="2816352"/>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59,000</a:t>
            </a:r>
            <a:endParaRPr lang="en-US" sz="1000" dirty="0"/>
          </a:p>
        </p:txBody>
      </p:sp>
      <p:sp>
        <p:nvSpPr>
          <p:cNvPr id="25" name="Text 23"/>
          <p:cNvSpPr txBox="1"/>
          <p:nvPr/>
        </p:nvSpPr>
        <p:spPr>
          <a:xfrm>
            <a:off x="457200" y="3221736"/>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Bob, after</a:t>
            </a:r>
            <a:endParaRPr lang="en-US" sz="1050" dirty="0"/>
          </a:p>
        </p:txBody>
      </p:sp>
      <p:sp>
        <p:nvSpPr>
          <p:cNvPr id="26" name="Shape 24"/>
          <p:cNvSpPr/>
          <p:nvPr/>
        </p:nvSpPr>
        <p:spPr>
          <a:xfrm>
            <a:off x="1737360" y="3249168"/>
            <a:ext cx="1080232" cy="310896"/>
          </a:xfrm>
          <a:prstGeom prst="roundRect">
            <a:avLst>
              <a:gd name="adj" fmla="val 14706"/>
            </a:avLst>
          </a:prstGeom>
          <a:solidFill>
            <a:srgbClr val="2F6D62"/>
          </a:solidFill>
          <a:ln w="12700">
            <a:solidFill>
              <a:srgbClr val="2F6D62"/>
            </a:solidFill>
            <a:prstDash val="solid"/>
          </a:ln>
        </p:spPr>
      </p:sp>
      <p:sp>
        <p:nvSpPr>
          <p:cNvPr id="27" name="Text 25"/>
          <p:cNvSpPr txBox="1"/>
          <p:nvPr/>
        </p:nvSpPr>
        <p:spPr>
          <a:xfrm>
            <a:off x="2872456" y="3249168"/>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41,000</a:t>
            </a:r>
            <a:endParaRPr lang="en-US" sz="1000" dirty="0"/>
          </a:p>
        </p:txBody>
      </p:sp>
      <p:sp>
        <p:nvSpPr>
          <p:cNvPr id="28" name="Text 26"/>
          <p:cNvSpPr txBox="1"/>
          <p:nvPr/>
        </p:nvSpPr>
        <p:spPr>
          <a:xfrm>
            <a:off x="457200" y="3654552"/>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on-chain txs</a:t>
            </a:r>
            <a:endParaRPr lang="en-US" sz="1050" dirty="0"/>
          </a:p>
        </p:txBody>
      </p:sp>
      <p:sp>
        <p:nvSpPr>
          <p:cNvPr id="29" name="Shape 27"/>
          <p:cNvSpPr/>
          <p:nvPr/>
        </p:nvSpPr>
        <p:spPr>
          <a:xfrm>
            <a:off x="1737360" y="3681984"/>
            <a:ext cx="109728" cy="310896"/>
          </a:xfrm>
          <a:prstGeom prst="roundRect">
            <a:avLst>
              <a:gd name="adj" fmla="val 41667"/>
            </a:avLst>
          </a:prstGeom>
          <a:solidFill>
            <a:srgbClr val="D97A14"/>
          </a:solidFill>
          <a:ln w="12700">
            <a:solidFill>
              <a:srgbClr val="D97A14"/>
            </a:solidFill>
            <a:prstDash val="solid"/>
          </a:ln>
        </p:spPr>
      </p:sp>
      <p:sp>
        <p:nvSpPr>
          <p:cNvPr id="30" name="Text 28"/>
          <p:cNvSpPr txBox="1"/>
          <p:nvPr/>
        </p:nvSpPr>
        <p:spPr>
          <a:xfrm>
            <a:off x="1901952" y="3681984"/>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2</a:t>
            </a:r>
            <a:endParaRPr lang="en-US" sz="100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minutes of app taps hide all of this machinery</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38</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Foundations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two old problems Bitcoin finally joined up</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Hashcash</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Byzantine Generals</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Keys and signatures</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chain</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38</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solved problems, one new system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1997 and 1982 meet in 2008</a:t>
            </a:r>
            <a:endParaRPr lang="en-US" sz="1300" dirty="0"/>
          </a:p>
        </p:txBody>
      </p:sp>
      <p:sp>
        <p:nvSpPr>
          <p:cNvPr id="6" name="Shape 4"/>
          <p:cNvSpPr/>
          <p:nvPr/>
        </p:nvSpPr>
        <p:spPr>
          <a:xfrm>
            <a:off x="457200" y="1371600"/>
            <a:ext cx="4023360" cy="2651760"/>
          </a:xfrm>
          <a:prstGeom prst="roundRect">
            <a:avLst>
              <a:gd name="adj" fmla="val 3448"/>
            </a:avLst>
          </a:prstGeom>
          <a:solidFill>
            <a:srgbClr val="F2ECE1"/>
          </a:solidFill>
          <a:ln w="12700">
            <a:solidFill>
              <a:srgbClr val="F2ECE1"/>
            </a:solidFill>
            <a:prstDash val="solid"/>
          </a:ln>
        </p:spPr>
      </p:sp>
      <p:sp>
        <p:nvSpPr>
          <p:cNvPr id="7" name="Text 5"/>
          <p:cNvSpPr txBox="1"/>
          <p:nvPr/>
        </p:nvSpPr>
        <p:spPr>
          <a:xfrm>
            <a:off x="640080" y="149047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Hashcash (1997)</a:t>
            </a:r>
            <a:endParaRPr lang="en-US" sz="1600" dirty="0"/>
          </a:p>
        </p:txBody>
      </p:sp>
      <p:sp>
        <p:nvSpPr>
          <p:cNvPr id="8" name="Text 6"/>
          <p:cNvSpPr txBox="1"/>
          <p:nvPr/>
        </p:nvSpPr>
        <p:spPr>
          <a:xfrm>
            <a:off x="64008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Proof-of-work: make sending cost a computation, so flooding costs real resources. Bitcoin turns the same cost into the price of writing history.</a:t>
            </a:r>
            <a:endParaRPr lang="en-US" sz="1300" dirty="0"/>
          </a:p>
        </p:txBody>
      </p:sp>
      <p:sp>
        <p:nvSpPr>
          <p:cNvPr id="9" name="Shape 7"/>
          <p:cNvSpPr/>
          <p:nvPr/>
        </p:nvSpPr>
        <p:spPr>
          <a:xfrm>
            <a:off x="4663440" y="1371600"/>
            <a:ext cx="4023360" cy="2651760"/>
          </a:xfrm>
          <a:prstGeom prst="roundRect">
            <a:avLst>
              <a:gd name="adj" fmla="val 3448"/>
            </a:avLst>
          </a:prstGeom>
          <a:solidFill>
            <a:srgbClr val="F2ECE1"/>
          </a:solidFill>
          <a:ln w="12700">
            <a:solidFill>
              <a:srgbClr val="F2ECE1"/>
            </a:solidFill>
            <a:prstDash val="solid"/>
          </a:ln>
        </p:spPr>
      </p:sp>
      <p:sp>
        <p:nvSpPr>
          <p:cNvPr id="10" name="Text 8"/>
          <p:cNvSpPr txBox="1"/>
          <p:nvPr/>
        </p:nvSpPr>
        <p:spPr>
          <a:xfrm>
            <a:off x="4846320" y="1490472"/>
            <a:ext cx="36576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Byzantine Generals (1982)</a:t>
            </a:r>
            <a:endParaRPr lang="en-US" sz="1600" dirty="0"/>
          </a:p>
        </p:txBody>
      </p:sp>
      <p:sp>
        <p:nvSpPr>
          <p:cNvPr id="11" name="Text 9"/>
          <p:cNvSpPr txBox="1"/>
          <p:nvPr/>
        </p:nvSpPr>
        <p:spPr>
          <a:xfrm>
            <a:off x="484632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How do parties that cannot trust each other agree on one message? Proof-of-work plus the longest valid chain is Bitcoin's practical answer.</a:t>
            </a:r>
            <a:endParaRPr lang="en-US" sz="13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Bitcoin's novelty is the combination, not the parts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38</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keys to the chain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pipeline the rest of the course walks</a:t>
            </a:r>
            <a:endParaRPr lang="en-US" sz="1300" dirty="0"/>
          </a:p>
        </p:txBody>
      </p:sp>
      <p:sp>
        <p:nvSpPr>
          <p:cNvPr id="6" name="Shape 4"/>
          <p:cNvSpPr/>
          <p:nvPr/>
        </p:nvSpPr>
        <p:spPr>
          <a:xfrm>
            <a:off x="457200" y="1554480"/>
            <a:ext cx="1265530" cy="1234440"/>
          </a:xfrm>
          <a:prstGeom prst="roundRect">
            <a:avLst>
              <a:gd name="adj" fmla="val 7407"/>
            </a:avLst>
          </a:prstGeom>
          <a:solidFill>
            <a:srgbClr val="2F6D62"/>
          </a:solidFill>
          <a:ln w="12700">
            <a:solidFill>
              <a:srgbClr val="2F6D62"/>
            </a:solidFill>
            <a:prstDash val="solid"/>
          </a:ln>
        </p:spPr>
      </p:sp>
      <p:sp>
        <p:nvSpPr>
          <p:cNvPr id="7" name="Text 5"/>
          <p:cNvSpPr txBox="1"/>
          <p:nvPr/>
        </p:nvSpPr>
        <p:spPr>
          <a:xfrm>
            <a:off x="53035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8" name="Shape 6"/>
          <p:cNvSpPr/>
          <p:nvPr/>
        </p:nvSpPr>
        <p:spPr>
          <a:xfrm>
            <a:off x="1777594" y="2171700"/>
            <a:ext cx="365760" cy="0"/>
          </a:xfrm>
          <a:prstGeom prst="line">
            <a:avLst/>
          </a:prstGeom>
          <a:noFill/>
          <a:ln w="25400">
            <a:solidFill>
              <a:srgbClr val="D97A14"/>
            </a:solidFill>
            <a:prstDash val="solid"/>
            <a:tailEnd type="triangle"/>
          </a:ln>
        </p:spPr>
      </p:sp>
      <p:sp>
        <p:nvSpPr>
          <p:cNvPr id="9" name="Shape 7"/>
          <p:cNvSpPr/>
          <p:nvPr/>
        </p:nvSpPr>
        <p:spPr>
          <a:xfrm>
            <a:off x="2198218" y="1554480"/>
            <a:ext cx="1265530" cy="1234440"/>
          </a:xfrm>
          <a:prstGeom prst="roundRect">
            <a:avLst>
              <a:gd name="adj" fmla="val 7407"/>
            </a:avLst>
          </a:prstGeom>
          <a:solidFill>
            <a:srgbClr val="2F6D62"/>
          </a:solidFill>
          <a:ln w="12700">
            <a:solidFill>
              <a:srgbClr val="2F6D62"/>
            </a:solidFill>
            <a:prstDash val="solid"/>
          </a:ln>
        </p:spPr>
      </p:sp>
      <p:sp>
        <p:nvSpPr>
          <p:cNvPr id="10" name="Text 8"/>
          <p:cNvSpPr txBox="1"/>
          <p:nvPr/>
        </p:nvSpPr>
        <p:spPr>
          <a:xfrm>
            <a:off x="2271370"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Addresses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11" name="Shape 9"/>
          <p:cNvSpPr/>
          <p:nvPr/>
        </p:nvSpPr>
        <p:spPr>
          <a:xfrm>
            <a:off x="3518611" y="2171700"/>
            <a:ext cx="365760" cy="0"/>
          </a:xfrm>
          <a:prstGeom prst="line">
            <a:avLst/>
          </a:prstGeom>
          <a:noFill/>
          <a:ln w="25400">
            <a:solidFill>
              <a:srgbClr val="D97A14"/>
            </a:solidFill>
            <a:prstDash val="solid"/>
            <a:tailEnd type="triangle"/>
          </a:ln>
        </p:spPr>
      </p:sp>
      <p:sp>
        <p:nvSpPr>
          <p:cNvPr id="12" name="Shape 10"/>
          <p:cNvSpPr/>
          <p:nvPr/>
        </p:nvSpPr>
        <p:spPr>
          <a:xfrm>
            <a:off x="3939235" y="1554480"/>
            <a:ext cx="1265530" cy="1234440"/>
          </a:xfrm>
          <a:prstGeom prst="roundRect">
            <a:avLst>
              <a:gd name="adj" fmla="val 7407"/>
            </a:avLst>
          </a:prstGeom>
          <a:solidFill>
            <a:srgbClr val="2F6D62"/>
          </a:solidFill>
          <a:ln w="12700">
            <a:solidFill>
              <a:srgbClr val="2F6D62"/>
            </a:solidFill>
            <a:prstDash val="solid"/>
          </a:ln>
        </p:spPr>
      </p:sp>
      <p:sp>
        <p:nvSpPr>
          <p:cNvPr id="13" name="Text 11"/>
          <p:cNvSpPr txBox="1"/>
          <p:nvPr/>
        </p:nvSpPr>
        <p:spPr>
          <a:xfrm>
            <a:off x="4012387"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6</a:t>
            </a:r>
            <a:endParaRPr lang="en-US" sz="1250" dirty="0"/>
          </a:p>
        </p:txBody>
      </p:sp>
      <p:sp>
        <p:nvSpPr>
          <p:cNvPr id="14" name="Shape 12"/>
          <p:cNvSpPr/>
          <p:nvPr/>
        </p:nvSpPr>
        <p:spPr>
          <a:xfrm>
            <a:off x="5259629" y="2171700"/>
            <a:ext cx="365760" cy="0"/>
          </a:xfrm>
          <a:prstGeom prst="line">
            <a:avLst/>
          </a:prstGeom>
          <a:noFill/>
          <a:ln w="25400">
            <a:solidFill>
              <a:srgbClr val="D97A14"/>
            </a:solidFill>
            <a:prstDash val="solid"/>
            <a:tailEnd type="triangle"/>
          </a:ln>
        </p:spPr>
      </p:sp>
      <p:sp>
        <p:nvSpPr>
          <p:cNvPr id="15" name="Shape 13"/>
          <p:cNvSpPr/>
          <p:nvPr/>
        </p:nvSpPr>
        <p:spPr>
          <a:xfrm>
            <a:off x="5680253" y="1554480"/>
            <a:ext cx="1265530" cy="1234440"/>
          </a:xfrm>
          <a:prstGeom prst="roundRect">
            <a:avLst>
              <a:gd name="adj" fmla="val 7407"/>
            </a:avLst>
          </a:prstGeom>
          <a:solidFill>
            <a:srgbClr val="2F6D62"/>
          </a:solidFill>
          <a:ln w="12700">
            <a:solidFill>
              <a:srgbClr val="2F6D62"/>
            </a:solidFill>
            <a:prstDash val="solid"/>
          </a:ln>
        </p:spPr>
      </p:sp>
      <p:sp>
        <p:nvSpPr>
          <p:cNvPr id="16" name="Text 14"/>
          <p:cNvSpPr txBox="1"/>
          <p:nvPr/>
        </p:nvSpPr>
        <p:spPr>
          <a:xfrm>
            <a:off x="5753405"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11</a:t>
            </a:r>
            <a:endParaRPr lang="en-US" sz="1250" dirty="0"/>
          </a:p>
        </p:txBody>
      </p:sp>
      <p:sp>
        <p:nvSpPr>
          <p:cNvPr id="17" name="Shape 15"/>
          <p:cNvSpPr/>
          <p:nvPr/>
        </p:nvSpPr>
        <p:spPr>
          <a:xfrm>
            <a:off x="7000646" y="2171700"/>
            <a:ext cx="365760" cy="0"/>
          </a:xfrm>
          <a:prstGeom prst="line">
            <a:avLst/>
          </a:prstGeom>
          <a:noFill/>
          <a:ln w="25400">
            <a:solidFill>
              <a:srgbClr val="D97A14"/>
            </a:solidFill>
            <a:prstDash val="solid"/>
            <a:tailEnd type="triangle"/>
          </a:ln>
        </p:spPr>
      </p:sp>
      <p:sp>
        <p:nvSpPr>
          <p:cNvPr id="18" name="Shape 16"/>
          <p:cNvSpPr/>
          <p:nvPr/>
        </p:nvSpPr>
        <p:spPr>
          <a:xfrm>
            <a:off x="7421270" y="1554480"/>
            <a:ext cx="1265530" cy="1234440"/>
          </a:xfrm>
          <a:prstGeom prst="roundRect">
            <a:avLst>
              <a:gd name="adj" fmla="val 7407"/>
            </a:avLst>
          </a:prstGeom>
          <a:solidFill>
            <a:srgbClr val="2F6D62"/>
          </a:solidFill>
          <a:ln w="12700">
            <a:solidFill>
              <a:srgbClr val="2F6D62"/>
            </a:solidFill>
            <a:prstDash val="solid"/>
          </a:ln>
        </p:spPr>
      </p:sp>
      <p:sp>
        <p:nvSpPr>
          <p:cNvPr id="19" name="Text 17"/>
          <p:cNvSpPr txBox="1"/>
          <p:nvPr/>
        </p:nvSpPr>
        <p:spPr>
          <a:xfrm>
            <a:off x="749442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Mining</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12</a:t>
            </a:r>
            <a:endParaRPr lang="en-US" sz="1250" dirty="0"/>
          </a:p>
        </p:txBody>
      </p:sp>
      <p:sp>
        <p:nvSpPr>
          <p:cNvPr id="20" name="Text 18"/>
          <p:cNvSpPr txBox="1"/>
          <p:nvPr/>
        </p:nvSpPr>
        <p:spPr>
          <a:xfrm>
            <a:off x="457200" y="3108960"/>
            <a:ext cx="8229600" cy="13716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Each stage only trusts what it can verify</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Every later chapter opens one of these boxes</a:t>
            </a:r>
            <a:endParaRPr lang="en-US" sz="15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This pipeline is the course syllabus in one row</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38</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chain that notices tampering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block carries the digest of the one before</a:t>
            </a:r>
            <a:endParaRPr lang="en-US" sz="1300" dirty="0"/>
          </a:p>
        </p:txBody>
      </p:sp>
      <p:sp>
        <p:nvSpPr>
          <p:cNvPr id="6" name="Text 4"/>
          <p:cNvSpPr txBox="1"/>
          <p:nvPr/>
        </p:nvSpPr>
        <p:spPr>
          <a:xfrm>
            <a:off x="457200" y="1325880"/>
            <a:ext cx="3291840" cy="100584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Change one byte and every later link breaks</a:t>
            </a:r>
            <a:endParaRPr lang="en-US" sz="1350" dirty="0"/>
          </a:p>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Verification is recomputing, not trusting</a:t>
            </a:r>
            <a:endParaRPr lang="en-US" sz="1350" dirty="0"/>
          </a:p>
        </p:txBody>
      </p:sp>
      <p:sp>
        <p:nvSpPr>
          <p:cNvPr id="7" name="Shape 5"/>
          <p:cNvSpPr/>
          <p:nvPr/>
        </p:nvSpPr>
        <p:spPr>
          <a:xfrm>
            <a:off x="457200" y="2468880"/>
            <a:ext cx="853440" cy="1554480"/>
          </a:xfrm>
          <a:prstGeom prst="roundRect">
            <a:avLst>
              <a:gd name="adj" fmla="val 8571"/>
            </a:avLst>
          </a:prstGeom>
          <a:solidFill>
            <a:srgbClr val="F2ECE1"/>
          </a:solidFill>
          <a:ln w="22225">
            <a:solidFill>
              <a:srgbClr val="5B8C5A"/>
            </a:solidFill>
            <a:prstDash val="solid"/>
          </a:ln>
        </p:spPr>
      </p:sp>
      <p:sp>
        <p:nvSpPr>
          <p:cNvPr id="8" name="Text 6"/>
          <p:cNvSpPr txBox="1"/>
          <p:nvPr/>
        </p:nvSpPr>
        <p:spPr>
          <a:xfrm>
            <a:off x="457200" y="2523744"/>
            <a:ext cx="853440" cy="274320"/>
          </a:xfrm>
          <a:prstGeom prst="rect">
            <a:avLst/>
          </a:prstGeom>
          <a:noFill/>
          <a:ln/>
        </p:spPr>
        <p:txBody>
          <a:bodyPr wrap="square" lIns="0" tIns="0" rIns="0" bIns="0" rtlCol="0" anchor="ctr"/>
          <a:lstStyle/>
          <a:p>
            <a:pPr algn="ctr" indent="0" marL="0">
              <a:buNone/>
            </a:pPr>
            <a:r>
              <a:rPr lang="en-US" sz="1100" b="1" dirty="0">
                <a:solidFill>
                  <a:srgbClr val="3C6B3B"/>
                </a:solidFill>
                <a:latin typeface="Calibri" pitchFamily="34" charset="0"/>
                <a:ea typeface="Calibri" pitchFamily="34" charset="-122"/>
                <a:cs typeface="Calibri" pitchFamily="34" charset="-120"/>
              </a:rPr>
              <a:t>block 0</a:t>
            </a:r>
            <a:endParaRPr lang="en-US" sz="1100" dirty="0"/>
          </a:p>
        </p:txBody>
      </p:sp>
      <p:sp>
        <p:nvSpPr>
          <p:cNvPr id="9" name="Text 7"/>
          <p:cNvSpPr txBox="1"/>
          <p:nvPr/>
        </p:nvSpPr>
        <p:spPr>
          <a:xfrm>
            <a:off x="502920" y="2834640"/>
            <a:ext cx="76200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the genesis record</a:t>
            </a:r>
            <a:endParaRPr lang="en-US" sz="850" dirty="0"/>
          </a:p>
        </p:txBody>
      </p:sp>
      <p:sp>
        <p:nvSpPr>
          <p:cNvPr id="10" name="Shape 8"/>
          <p:cNvSpPr/>
          <p:nvPr/>
        </p:nvSpPr>
        <p:spPr>
          <a:xfrm>
            <a:off x="1310640" y="3246120"/>
            <a:ext cx="365760" cy="0"/>
          </a:xfrm>
          <a:prstGeom prst="line">
            <a:avLst/>
          </a:prstGeom>
          <a:noFill/>
          <a:ln w="25400">
            <a:solidFill>
              <a:srgbClr val="B6533C"/>
            </a:solidFill>
            <a:prstDash val="solid"/>
            <a:tailEnd type="triangle"/>
          </a:ln>
        </p:spPr>
      </p:sp>
      <p:sp>
        <p:nvSpPr>
          <p:cNvPr id="11" name="Shape 9"/>
          <p:cNvSpPr/>
          <p:nvPr/>
        </p:nvSpPr>
        <p:spPr>
          <a:xfrm>
            <a:off x="1676400" y="2468880"/>
            <a:ext cx="853440" cy="1554480"/>
          </a:xfrm>
          <a:prstGeom prst="roundRect">
            <a:avLst>
              <a:gd name="adj" fmla="val 8571"/>
            </a:avLst>
          </a:prstGeom>
          <a:solidFill>
            <a:srgbClr val="F3DED6"/>
          </a:solidFill>
          <a:ln w="22225">
            <a:solidFill>
              <a:srgbClr val="B6533C"/>
            </a:solidFill>
            <a:prstDash val="solid"/>
          </a:ln>
        </p:spPr>
      </p:sp>
      <p:sp>
        <p:nvSpPr>
          <p:cNvPr id="12" name="Text 10"/>
          <p:cNvSpPr txBox="1"/>
          <p:nvPr/>
        </p:nvSpPr>
        <p:spPr>
          <a:xfrm>
            <a:off x="1676400" y="2523744"/>
            <a:ext cx="853440" cy="274320"/>
          </a:xfrm>
          <a:prstGeom prst="rect">
            <a:avLst/>
          </a:prstGeom>
          <a:noFill/>
          <a:ln/>
        </p:spPr>
        <p:txBody>
          <a:bodyPr wrap="square" lIns="0" tIns="0" rIns="0" bIns="0" rtlCol="0" anchor="ctr"/>
          <a:lstStyle/>
          <a:p>
            <a:pPr algn="ctr" indent="0" marL="0">
              <a:buNone/>
            </a:pPr>
            <a:r>
              <a:rPr lang="en-US" sz="1100" b="1" dirty="0">
                <a:solidFill>
                  <a:srgbClr val="B6533C"/>
                </a:solidFill>
                <a:latin typeface="Calibri" pitchFamily="34" charset="0"/>
                <a:ea typeface="Calibri" pitchFamily="34" charset="-122"/>
                <a:cs typeface="Calibri" pitchFamily="34" charset="-120"/>
              </a:rPr>
              <a:t>block 1</a:t>
            </a:r>
            <a:endParaRPr lang="en-US" sz="1100" dirty="0"/>
          </a:p>
        </p:txBody>
      </p:sp>
      <p:sp>
        <p:nvSpPr>
          <p:cNvPr id="13" name="Text 11"/>
          <p:cNvSpPr txBox="1"/>
          <p:nvPr/>
        </p:nvSpPr>
        <p:spPr>
          <a:xfrm>
            <a:off x="1722120" y="2834640"/>
            <a:ext cx="762000" cy="457200"/>
          </a:xfrm>
          <a:prstGeom prst="rect">
            <a:avLst/>
          </a:prstGeom>
          <a:noFill/>
          <a:ln/>
        </p:spPr>
        <p:txBody>
          <a:bodyPr wrap="square" lIns="0" tIns="0" rIns="0" bIns="0" rtlCol="0" anchor="t"/>
          <a:lstStyle/>
          <a:p>
            <a:pPr algn="ctr" indent="0" marL="0">
              <a:buNone/>
            </a:pPr>
            <a:r>
              <a:rPr lang="en-US" sz="850" dirty="0">
                <a:solidFill>
                  <a:srgbClr val="B6533C"/>
                </a:solidFill>
                <a:latin typeface="Courier New" pitchFamily="34" charset="0"/>
                <a:ea typeface="Courier New" pitchFamily="34" charset="-122"/>
                <a:cs typeface="Courier New" pitchFamily="34" charset="-120"/>
              </a:rPr>
              <a:t>data changed!</a:t>
            </a:r>
            <a:endParaRPr lang="en-US" sz="850" dirty="0"/>
          </a:p>
        </p:txBody>
      </p:sp>
      <p:sp>
        <p:nvSpPr>
          <p:cNvPr id="14" name="Shape 12"/>
          <p:cNvSpPr/>
          <p:nvPr/>
        </p:nvSpPr>
        <p:spPr>
          <a:xfrm>
            <a:off x="2529840" y="3246120"/>
            <a:ext cx="365760" cy="0"/>
          </a:xfrm>
          <a:prstGeom prst="line">
            <a:avLst/>
          </a:prstGeom>
          <a:noFill/>
          <a:ln w="25400">
            <a:solidFill>
              <a:srgbClr val="B6533C"/>
            </a:solidFill>
            <a:prstDash val="solid"/>
            <a:tailEnd type="triangle"/>
          </a:ln>
        </p:spPr>
      </p:sp>
      <p:sp>
        <p:nvSpPr>
          <p:cNvPr id="15" name="Shape 13"/>
          <p:cNvSpPr/>
          <p:nvPr/>
        </p:nvSpPr>
        <p:spPr>
          <a:xfrm>
            <a:off x="2895600" y="2468880"/>
            <a:ext cx="853440" cy="1554480"/>
          </a:xfrm>
          <a:prstGeom prst="roundRect">
            <a:avLst>
              <a:gd name="adj" fmla="val 8571"/>
            </a:avLst>
          </a:prstGeom>
          <a:solidFill>
            <a:srgbClr val="F3DED6"/>
          </a:solidFill>
          <a:ln w="22225">
            <a:solidFill>
              <a:srgbClr val="B6533C"/>
            </a:solidFill>
            <a:prstDash val="solid"/>
          </a:ln>
        </p:spPr>
      </p:sp>
      <p:sp>
        <p:nvSpPr>
          <p:cNvPr id="16" name="Text 14"/>
          <p:cNvSpPr txBox="1"/>
          <p:nvPr/>
        </p:nvSpPr>
        <p:spPr>
          <a:xfrm>
            <a:off x="2895600" y="2523744"/>
            <a:ext cx="853440" cy="274320"/>
          </a:xfrm>
          <a:prstGeom prst="rect">
            <a:avLst/>
          </a:prstGeom>
          <a:noFill/>
          <a:ln/>
        </p:spPr>
        <p:txBody>
          <a:bodyPr wrap="square" lIns="0" tIns="0" rIns="0" bIns="0" rtlCol="0" anchor="ctr"/>
          <a:lstStyle/>
          <a:p>
            <a:pPr algn="ctr" indent="0" marL="0">
              <a:buNone/>
            </a:pPr>
            <a:r>
              <a:rPr lang="en-US" sz="1100" b="1" dirty="0">
                <a:solidFill>
                  <a:srgbClr val="B6533C"/>
                </a:solidFill>
                <a:latin typeface="Calibri" pitchFamily="34" charset="0"/>
                <a:ea typeface="Calibri" pitchFamily="34" charset="-122"/>
                <a:cs typeface="Calibri" pitchFamily="34" charset="-120"/>
              </a:rPr>
              <a:t>block 2</a:t>
            </a:r>
            <a:endParaRPr lang="en-US" sz="1100" dirty="0"/>
          </a:p>
        </p:txBody>
      </p:sp>
      <p:sp>
        <p:nvSpPr>
          <p:cNvPr id="17" name="Text 15"/>
          <p:cNvSpPr txBox="1"/>
          <p:nvPr/>
        </p:nvSpPr>
        <p:spPr>
          <a:xfrm>
            <a:off x="2941320" y="2834640"/>
            <a:ext cx="762000" cy="457200"/>
          </a:xfrm>
          <a:prstGeom prst="rect">
            <a:avLst/>
          </a:prstGeom>
          <a:noFill/>
          <a:ln/>
        </p:spPr>
        <p:txBody>
          <a:bodyPr wrap="square" lIns="0" tIns="0" rIns="0" bIns="0" rtlCol="0" anchor="t"/>
          <a:lstStyle/>
          <a:p>
            <a:pPr algn="ctr" indent="0" marL="0">
              <a:buNone/>
            </a:pPr>
            <a:r>
              <a:rPr lang="en-US" sz="850" dirty="0">
                <a:solidFill>
                  <a:srgbClr val="B6533C"/>
                </a:solidFill>
                <a:latin typeface="Courier New" pitchFamily="34" charset="0"/>
                <a:ea typeface="Courier New" pitchFamily="34" charset="-122"/>
                <a:cs typeface="Courier New" pitchFamily="34" charset="-120"/>
              </a:rPr>
              <a:t>digest of block 1</a:t>
            </a:r>
            <a:endParaRPr lang="en-US" sz="850" dirty="0"/>
          </a:p>
        </p:txBody>
      </p:sp>
      <p:sp>
        <p:nvSpPr>
          <p:cNvPr id="18" name="Text 16"/>
          <p:cNvSpPr txBox="1"/>
          <p:nvPr/>
        </p:nvSpPr>
        <p:spPr>
          <a:xfrm>
            <a:off x="457200" y="4096512"/>
            <a:ext cx="3291840" cy="310896"/>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verify: True before, False after the change</a:t>
            </a:r>
            <a:endParaRPr lang="en-US" sz="1050" dirty="0"/>
          </a:p>
        </p:txBody>
      </p:sp>
      <p:sp>
        <p:nvSpPr>
          <p:cNvPr id="19" name="Text 17"/>
          <p:cNvSpPr txBox="1"/>
          <p:nvPr/>
        </p:nvSpPr>
        <p:spPr>
          <a:xfrm>
            <a:off x="3931920" y="10972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Tamper with block 1, watch block 2 refuse</a:t>
            </a:r>
            <a:endParaRPr lang="en-US" sz="1150" dirty="0"/>
          </a:p>
        </p:txBody>
      </p:sp>
      <p:sp>
        <p:nvSpPr>
          <p:cNvPr id="20" name="Shape 18"/>
          <p:cNvSpPr/>
          <p:nvPr/>
        </p:nvSpPr>
        <p:spPr>
          <a:xfrm>
            <a:off x="3931920" y="1371600"/>
            <a:ext cx="4754880" cy="2926080"/>
          </a:xfrm>
          <a:prstGeom prst="roundRect">
            <a:avLst>
              <a:gd name="adj" fmla="val 3125"/>
            </a:avLst>
          </a:prstGeom>
          <a:solidFill>
            <a:srgbClr val="23272E"/>
          </a:solidFill>
          <a:ln w="12700">
            <a:solidFill>
              <a:srgbClr val="23272E"/>
            </a:solidFill>
            <a:prstDash val="solid"/>
          </a:ln>
        </p:spPr>
      </p:sp>
      <p:sp>
        <p:nvSpPr>
          <p:cNvPr id="21" name="Text 19"/>
          <p:cNvSpPr txBox="1"/>
          <p:nvPr/>
        </p:nvSpPr>
        <p:spPr>
          <a:xfrm>
            <a:off x="4114800" y="1490472"/>
            <a:ext cx="4389120" cy="2688336"/>
          </a:xfrm>
          <a:prstGeom prst="rect">
            <a:avLst/>
          </a:prstGeom>
          <a:noFill/>
          <a:ln/>
        </p:spPr>
        <p:txBody>
          <a:bodyPr wrap="square" lIns="0" tIns="0" rIns="0" bIns="0" rtlCol="0" anchor="t"/>
          <a:lstStyle/>
          <a:p>
            <a:pPr indent="0" marL="0">
              <a:buNone/>
            </a:pPr>
            <a:r>
              <a:rPr lang="en-US" sz="950" dirty="0">
                <a:solidFill>
                  <a:srgbClr val="E6EDF3"/>
                </a:solidFill>
                <a:latin typeface="Courier New" pitchFamily="34" charset="0"/>
                <a:ea typeface="Courier New" pitchFamily="34" charset="-122"/>
                <a:cs typeface="Courier New" pitchFamily="34" charset="-120"/>
              </a:rPr>
              <a:t>import hashlib</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def link(prev, data): return hashlib.sha256((prev + data).encode()).hexdigest()</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data = ['Joe pays Alice 1', 'Alice pays Eve 2', 'Eve pays Joe 3']</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def build(items):</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hs, prev = [], 'genesis'</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for d in items:</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prev = link(prev, d); hs.append(prev)</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return hs</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stored = build(data)</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tampered = ['Joe pays Alice 100'] + data[1:]</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result = (build(data) == stored, build(tampered) == stored)</a:t>
            </a:r>
            <a:endParaRPr lang="en-US" sz="950" dirty="0"/>
          </a:p>
        </p:txBody>
      </p:sp>
      <p:sp>
        <p:nvSpPr>
          <p:cNvPr id="22" name="Text 20"/>
          <p:cNvSpPr txBox="1"/>
          <p:nvPr/>
        </p:nvSpPr>
        <p:spPr>
          <a:xfrm>
            <a:off x="3931920" y="4315968"/>
            <a:ext cx="4754880" cy="256032"/>
          </a:xfrm>
          <a:prstGeom prst="rect">
            <a:avLst/>
          </a:prstGeom>
          <a:noFill/>
          <a:ln/>
        </p:spPr>
        <p:txBody>
          <a:bodyPr wrap="square" lIns="0" tIns="0" rIns="0" bIns="0" rtlCol="0" anchor="ctr"/>
          <a:lstStyle/>
          <a:p>
            <a:pPr indent="0" marL="0">
              <a:buNone/>
            </a:pPr>
            <a:r>
              <a:rPr lang="en-US" sz="950" b="1" dirty="0">
                <a:solidFill>
                  <a:srgbClr val="D97A14"/>
                </a:solidFill>
                <a:latin typeface="Courier New" pitchFamily="34" charset="0"/>
                <a:ea typeface="Courier New" pitchFamily="34" charset="-122"/>
                <a:cs typeface="Courier New" pitchFamily="34" charset="-120"/>
              </a:rPr>
              <a:t>result  </a:t>
            </a:r>
            <a:pPr indent="0" marL="0">
              <a:buNone/>
            </a:pPr>
            <a:r>
              <a:rPr lang="en-US" sz="950" dirty="0">
                <a:solidFill>
                  <a:srgbClr val="2B2622"/>
                </a:solidFill>
                <a:latin typeface="Courier New" pitchFamily="34" charset="0"/>
                <a:ea typeface="Courier New" pitchFamily="34" charset="-122"/>
                <a:cs typeface="Courier New" pitchFamily="34" charset="-120"/>
              </a:rPr>
              <a:t>(True, False)</a:t>
            </a:r>
            <a:endParaRPr lang="en-US" sz="950" dirty="0"/>
          </a:p>
        </p:txBody>
      </p:sp>
      <p:sp>
        <p:nvSpPr>
          <p:cNvPr id="23" name="Text 21"/>
          <p:cNvSpPr txBox="1"/>
          <p:nvPr/>
        </p:nvSpPr>
        <p:spPr>
          <a:xfrm>
            <a:off x="3931920" y="45720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Blockchain, lines 1 to 11 of 11, run under Python 3.14.4</a:t>
            </a:r>
            <a:endParaRPr lang="en-US" sz="9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becomes expensive to rewrite, cheap to verify</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38</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toolbox under the hood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vocabularies the whole book leans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Four vocabularies feed the chapters ahead: the cryptography that signs, the chain that remembers, the computing it all runs on, and the threats it must survive.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Foundations</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Cryptography</a:t>
            </a:r>
            <a:endParaRPr lang="en-US" sz="12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Hash Function  ·  Digital Signature  ·  Public Key Cryptography  ·  Private Key  ·  Entropy  ·  Checksum  ·  + 2 more</a:t>
            </a:r>
            <a:endParaRPr lang="en-US" sz="1100" dirty="0"/>
          </a:p>
        </p:txBody>
      </p:sp>
      <p:sp>
        <p:nvSpPr>
          <p:cNvPr id="15" name="Shape 13"/>
          <p:cNvSpPr/>
          <p:nvPr/>
        </p:nvSpPr>
        <p:spPr>
          <a:xfrm flipV="1">
            <a:off x="1783080" y="2566416"/>
            <a:ext cx="502920" cy="423672"/>
          </a:xfrm>
          <a:prstGeom prst="line">
            <a:avLst/>
          </a:prstGeom>
          <a:noFill/>
          <a:ln w="13970">
            <a:solidFill>
              <a:srgbClr val="C9BFAE"/>
            </a:solidFill>
            <a:prstDash val="solid"/>
          </a:ln>
        </p:spPr>
      </p:sp>
      <p:sp>
        <p:nvSpPr>
          <p:cNvPr id="16" name="Shape 14"/>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Chain</a:t>
            </a:r>
            <a:endParaRPr lang="en-US" sz="1200" dirty="0"/>
          </a:p>
        </p:txBody>
      </p:sp>
      <p:sp>
        <p:nvSpPr>
          <p:cNvPr id="18" name="Shape 16"/>
          <p:cNvSpPr/>
          <p:nvPr/>
        </p:nvSpPr>
        <p:spPr>
          <a:xfrm>
            <a:off x="4023360" y="2566416"/>
            <a:ext cx="274320" cy="0"/>
          </a:xfrm>
          <a:prstGeom prst="line">
            <a:avLst/>
          </a:prstGeom>
          <a:noFill/>
          <a:ln w="13970">
            <a:solidFill>
              <a:srgbClr val="C9BFAE"/>
            </a:solidFill>
            <a:prstDash val="solid"/>
          </a:ln>
        </p:spPr>
      </p:sp>
      <p:sp>
        <p:nvSpPr>
          <p:cNvPr id="19" name="Shape 17"/>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Block  ·  Blockchain  ·  Timestamp  ·  Node</a:t>
            </a:r>
            <a:endParaRPr lang="en-US" sz="1100" dirty="0"/>
          </a:p>
        </p:txBody>
      </p:sp>
      <p:sp>
        <p:nvSpPr>
          <p:cNvPr id="21" name="Shape 19"/>
          <p:cNvSpPr/>
          <p:nvPr/>
        </p:nvSpPr>
        <p:spPr>
          <a:xfrm>
            <a:off x="1783080" y="2990088"/>
            <a:ext cx="502920" cy="423672"/>
          </a:xfrm>
          <a:prstGeom prst="line">
            <a:avLst/>
          </a:prstGeom>
          <a:noFill/>
          <a:ln w="13970">
            <a:solidFill>
              <a:srgbClr val="C9BFAE"/>
            </a:solidFill>
            <a:prstDash val="solid"/>
          </a:ln>
        </p:spPr>
      </p:sp>
      <p:sp>
        <p:nvSpPr>
          <p:cNvPr id="22" name="Shape 20"/>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Computing</a:t>
            </a:r>
            <a:endParaRPr lang="en-US" sz="1200" dirty="0"/>
          </a:p>
        </p:txBody>
      </p:sp>
      <p:sp>
        <p:nvSpPr>
          <p:cNvPr id="24" name="Shape 22"/>
          <p:cNvSpPr/>
          <p:nvPr/>
        </p:nvSpPr>
        <p:spPr>
          <a:xfrm>
            <a:off x="4023360" y="3413760"/>
            <a:ext cx="274320" cy="0"/>
          </a:xfrm>
          <a:prstGeom prst="line">
            <a:avLst/>
          </a:prstGeom>
          <a:noFill/>
          <a:ln w="13970">
            <a:solidFill>
              <a:srgbClr val="C9BFAE"/>
            </a:solidFill>
            <a:prstDash val="solid"/>
          </a:ln>
        </p:spPr>
      </p:sp>
      <p:sp>
        <p:nvSpPr>
          <p:cNvPr id="25" name="Shape 23"/>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Internet  ·  Protocol  ·  HTTP  ·  Web Browser  ·  Server  ·  API  ·  + 6 more</a:t>
            </a:r>
            <a:endParaRPr lang="en-US" sz="1100" dirty="0"/>
          </a:p>
        </p:txBody>
      </p:sp>
      <p:sp>
        <p:nvSpPr>
          <p:cNvPr id="27" name="Shape 25"/>
          <p:cNvSpPr/>
          <p:nvPr/>
        </p:nvSpPr>
        <p:spPr>
          <a:xfrm>
            <a:off x="1783080" y="2990088"/>
            <a:ext cx="502920" cy="1271016"/>
          </a:xfrm>
          <a:prstGeom prst="line">
            <a:avLst/>
          </a:prstGeom>
          <a:noFill/>
          <a:ln w="13970">
            <a:solidFill>
              <a:srgbClr val="C9BFAE"/>
            </a:solidFill>
            <a:prstDash val="solid"/>
          </a:ln>
        </p:spPr>
      </p:sp>
      <p:sp>
        <p:nvSpPr>
          <p:cNvPr id="28" name="Shape 26"/>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Threats</a:t>
            </a:r>
            <a:endParaRPr lang="en-US" sz="1200" dirty="0"/>
          </a:p>
        </p:txBody>
      </p:sp>
      <p:sp>
        <p:nvSpPr>
          <p:cNvPr id="30" name="Shape 28"/>
          <p:cNvSpPr/>
          <p:nvPr/>
        </p:nvSpPr>
        <p:spPr>
          <a:xfrm>
            <a:off x="4023360" y="4261104"/>
            <a:ext cx="274320" cy="0"/>
          </a:xfrm>
          <a:prstGeom prst="line">
            <a:avLst/>
          </a:prstGeom>
          <a:noFill/>
          <a:ln w="13970">
            <a:solidFill>
              <a:srgbClr val="C9BFAE"/>
            </a:solidFill>
            <a:prstDash val="solid"/>
          </a:ln>
        </p:spPr>
      </p:sp>
      <p:sp>
        <p:nvSpPr>
          <p:cNvPr id="31" name="Shape 29"/>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Malware  ·  Phishing</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term here gets its own page section</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38</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kind of thing is Bitcoin?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stated characteristics, and the architecture behind them</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first row makes promises to users; the second names the machinery that keeps them.</a:t>
            </a:r>
            <a:endParaRPr lang="en-US" sz="1250" dirty="0"/>
          </a:p>
        </p:txBody>
      </p:sp>
      <p:sp>
        <p:nvSpPr>
          <p:cNvPr id="7" name="Text 5"/>
          <p:cNvSpPr txBox="1"/>
          <p:nvPr/>
        </p:nvSpPr>
        <p:spPr>
          <a:xfrm>
            <a:off x="457200" y="1481328"/>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Characteristics - each one a design choice</a:t>
            </a:r>
            <a:endParaRPr lang="en-US" sz="1500" dirty="0"/>
          </a:p>
        </p:txBody>
      </p:sp>
      <p:sp>
        <p:nvSpPr>
          <p:cNvPr id="8" name="Shape 6"/>
          <p:cNvSpPr/>
          <p:nvPr/>
        </p:nvSpPr>
        <p:spPr>
          <a:xfrm>
            <a:off x="457200" y="1920240"/>
            <a:ext cx="1414577" cy="530352"/>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457200" y="1920240"/>
            <a:ext cx="141457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Virtual</a:t>
            </a:r>
            <a:endParaRPr lang="en-US" sz="1400" dirty="0"/>
          </a:p>
        </p:txBody>
      </p:sp>
      <p:sp>
        <p:nvSpPr>
          <p:cNvPr id="10" name="Shape 8"/>
          <p:cNvSpPr/>
          <p:nvPr/>
        </p:nvSpPr>
        <p:spPr>
          <a:xfrm>
            <a:off x="2072945" y="1920240"/>
            <a:ext cx="1856232" cy="530352"/>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2072945" y="1920240"/>
            <a:ext cx="1856232"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Borderless</a:t>
            </a:r>
            <a:endParaRPr lang="en-US" sz="1400" dirty="0"/>
          </a:p>
        </p:txBody>
      </p:sp>
      <p:sp>
        <p:nvSpPr>
          <p:cNvPr id="12" name="Shape 10"/>
          <p:cNvSpPr/>
          <p:nvPr/>
        </p:nvSpPr>
        <p:spPr>
          <a:xfrm>
            <a:off x="4130345" y="1920240"/>
            <a:ext cx="2297887" cy="530352"/>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130345" y="1920240"/>
            <a:ext cx="229788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Decentralized</a:t>
            </a:r>
            <a:endParaRPr lang="en-US" sz="1400" dirty="0"/>
          </a:p>
        </p:txBody>
      </p:sp>
      <p:sp>
        <p:nvSpPr>
          <p:cNvPr id="14" name="Shape 12"/>
          <p:cNvSpPr/>
          <p:nvPr/>
        </p:nvSpPr>
        <p:spPr>
          <a:xfrm>
            <a:off x="6629400" y="1920240"/>
            <a:ext cx="1267358" cy="530352"/>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6629400" y="1920240"/>
            <a:ext cx="1267358"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Robust</a:t>
            </a:r>
            <a:endParaRPr lang="en-US" sz="1400" dirty="0"/>
          </a:p>
        </p:txBody>
      </p:sp>
      <p:sp>
        <p:nvSpPr>
          <p:cNvPr id="16" name="Text 14"/>
          <p:cNvSpPr txBox="1"/>
          <p:nvPr/>
        </p:nvSpPr>
        <p:spPr>
          <a:xfrm>
            <a:off x="457200" y="2788920"/>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The architecture that delivers them</a:t>
            </a:r>
            <a:endParaRPr lang="en-US" sz="1500" dirty="0"/>
          </a:p>
        </p:txBody>
      </p:sp>
      <p:sp>
        <p:nvSpPr>
          <p:cNvPr id="17" name="Shape 15"/>
          <p:cNvSpPr/>
          <p:nvPr/>
        </p:nvSpPr>
        <p:spPr>
          <a:xfrm>
            <a:off x="457200" y="3200400"/>
            <a:ext cx="3475634" cy="530352"/>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457200" y="3200400"/>
            <a:ext cx="3475634"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Peer To Peer Protocol</a:t>
            </a:r>
            <a:endParaRPr lang="en-US" sz="1400" dirty="0"/>
          </a:p>
        </p:txBody>
      </p:sp>
      <p:sp>
        <p:nvSpPr>
          <p:cNvPr id="19" name="Shape 17"/>
          <p:cNvSpPr/>
          <p:nvPr/>
        </p:nvSpPr>
        <p:spPr>
          <a:xfrm>
            <a:off x="4134002" y="3200400"/>
            <a:ext cx="2445106" cy="530352"/>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4134002" y="3200400"/>
            <a:ext cx="2445106"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Public Journal</a:t>
            </a:r>
            <a:endParaRPr lang="en-US" sz="1400" dirty="0"/>
          </a:p>
        </p:txBody>
      </p:sp>
      <p:sp>
        <p:nvSpPr>
          <p:cNvPr id="21" name="Shape 19"/>
          <p:cNvSpPr/>
          <p:nvPr/>
        </p:nvSpPr>
        <p:spPr>
          <a:xfrm>
            <a:off x="457200" y="3895344"/>
            <a:ext cx="3033979" cy="530352"/>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457200" y="3895344"/>
            <a:ext cx="3033979"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Consensus Rule Set</a:t>
            </a:r>
            <a:endParaRPr lang="en-US" sz="14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adjective is engineered, not advertised</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38</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Beyond the base layer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Payment channels route through a network - chapter 14's subject</a:t>
            </a:r>
            <a:endParaRPr lang="en-US" sz="1300" dirty="0"/>
          </a:p>
        </p:txBody>
      </p:sp>
      <p:sp>
        <p:nvSpPr>
          <p:cNvPr id="6" name="Text 4"/>
          <p:cNvSpPr txBox="1"/>
          <p:nvPr/>
        </p:nvSpPr>
        <p:spPr>
          <a:xfrm>
            <a:off x="457200" y="1325880"/>
            <a:ext cx="3291840" cy="100584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Channels move value off the chain</a:t>
            </a:r>
            <a:endParaRPr lang="en-US" sz="1350" dirty="0"/>
          </a:p>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The chain settles only open and close</a:t>
            </a:r>
            <a:endParaRPr lang="en-US" sz="1350" dirty="0"/>
          </a:p>
        </p:txBody>
      </p:sp>
      <p:sp>
        <p:nvSpPr>
          <p:cNvPr id="7" name="Shape 5"/>
          <p:cNvSpPr/>
          <p:nvPr/>
        </p:nvSpPr>
        <p:spPr>
          <a:xfrm>
            <a:off x="886968" y="3282696"/>
            <a:ext cx="505968" cy="0"/>
          </a:xfrm>
          <a:prstGeom prst="line">
            <a:avLst/>
          </a:prstGeom>
          <a:noFill/>
          <a:ln w="28575">
            <a:solidFill>
              <a:srgbClr val="D97A14"/>
            </a:solidFill>
            <a:prstDash val="solid"/>
            <a:tailEnd type="triangle"/>
          </a:ln>
        </p:spPr>
      </p:sp>
      <p:sp>
        <p:nvSpPr>
          <p:cNvPr id="8" name="Shape 6"/>
          <p:cNvSpPr/>
          <p:nvPr/>
        </p:nvSpPr>
        <p:spPr>
          <a:xfrm>
            <a:off x="466344" y="3063240"/>
            <a:ext cx="438912" cy="438912"/>
          </a:xfrm>
          <a:prstGeom prst="ellipse">
            <a:avLst/>
          </a:prstGeom>
          <a:solidFill>
            <a:srgbClr val="D97A14"/>
          </a:solidFill>
          <a:ln w="19050">
            <a:solidFill>
              <a:srgbClr val="FFFFFF"/>
            </a:solidFill>
            <a:prstDash val="solid"/>
          </a:ln>
        </p:spPr>
      </p:sp>
      <p:sp>
        <p:nvSpPr>
          <p:cNvPr id="9" name="Text 7"/>
          <p:cNvSpPr txBox="1"/>
          <p:nvPr/>
        </p:nvSpPr>
        <p:spPr>
          <a:xfrm>
            <a:off x="137160" y="355701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Alice</a:t>
            </a:r>
            <a:endParaRPr lang="en-US" sz="1050" dirty="0"/>
          </a:p>
        </p:txBody>
      </p:sp>
      <p:sp>
        <p:nvSpPr>
          <p:cNvPr id="10" name="Shape 8"/>
          <p:cNvSpPr/>
          <p:nvPr/>
        </p:nvSpPr>
        <p:spPr>
          <a:xfrm>
            <a:off x="1831848" y="3282696"/>
            <a:ext cx="505968" cy="0"/>
          </a:xfrm>
          <a:prstGeom prst="line">
            <a:avLst/>
          </a:prstGeom>
          <a:noFill/>
          <a:ln w="28575">
            <a:solidFill>
              <a:srgbClr val="D97A14"/>
            </a:solidFill>
            <a:prstDash val="solid"/>
            <a:tailEnd type="triangle"/>
          </a:ln>
        </p:spPr>
      </p:sp>
      <p:sp>
        <p:nvSpPr>
          <p:cNvPr id="11" name="Shape 9"/>
          <p:cNvSpPr/>
          <p:nvPr/>
        </p:nvSpPr>
        <p:spPr>
          <a:xfrm>
            <a:off x="1411224" y="3063240"/>
            <a:ext cx="438912" cy="438912"/>
          </a:xfrm>
          <a:prstGeom prst="ellipse">
            <a:avLst/>
          </a:prstGeom>
          <a:solidFill>
            <a:srgbClr val="2F6D62"/>
          </a:solidFill>
          <a:ln w="19050">
            <a:solidFill>
              <a:srgbClr val="FFFFFF"/>
            </a:solidFill>
            <a:prstDash val="solid"/>
          </a:ln>
        </p:spPr>
      </p:sp>
      <p:sp>
        <p:nvSpPr>
          <p:cNvPr id="12" name="Text 10"/>
          <p:cNvSpPr txBox="1"/>
          <p:nvPr/>
        </p:nvSpPr>
        <p:spPr>
          <a:xfrm>
            <a:off x="1082040" y="355701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Bob</a:t>
            </a:r>
            <a:endParaRPr lang="en-US" sz="1050" dirty="0"/>
          </a:p>
        </p:txBody>
      </p:sp>
      <p:sp>
        <p:nvSpPr>
          <p:cNvPr id="13" name="Shape 11"/>
          <p:cNvSpPr/>
          <p:nvPr/>
        </p:nvSpPr>
        <p:spPr>
          <a:xfrm>
            <a:off x="2776728" y="3282696"/>
            <a:ext cx="505968" cy="0"/>
          </a:xfrm>
          <a:prstGeom prst="line">
            <a:avLst/>
          </a:prstGeom>
          <a:noFill/>
          <a:ln w="28575">
            <a:solidFill>
              <a:srgbClr val="D97A14"/>
            </a:solidFill>
            <a:prstDash val="solid"/>
            <a:tailEnd type="triangle"/>
          </a:ln>
        </p:spPr>
      </p:sp>
      <p:sp>
        <p:nvSpPr>
          <p:cNvPr id="14" name="Shape 12"/>
          <p:cNvSpPr/>
          <p:nvPr/>
        </p:nvSpPr>
        <p:spPr>
          <a:xfrm>
            <a:off x="2356104" y="3063240"/>
            <a:ext cx="438912" cy="438912"/>
          </a:xfrm>
          <a:prstGeom prst="ellipse">
            <a:avLst/>
          </a:prstGeom>
          <a:solidFill>
            <a:srgbClr val="2F6D62"/>
          </a:solidFill>
          <a:ln w="19050">
            <a:solidFill>
              <a:srgbClr val="FFFFFF"/>
            </a:solidFill>
            <a:prstDash val="solid"/>
          </a:ln>
        </p:spPr>
      </p:sp>
      <p:sp>
        <p:nvSpPr>
          <p:cNvPr id="15" name="Text 13"/>
          <p:cNvSpPr txBox="1"/>
          <p:nvPr/>
        </p:nvSpPr>
        <p:spPr>
          <a:xfrm>
            <a:off x="2026920" y="355701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Carol</a:t>
            </a:r>
            <a:endParaRPr lang="en-US" sz="1050" dirty="0"/>
          </a:p>
        </p:txBody>
      </p:sp>
      <p:sp>
        <p:nvSpPr>
          <p:cNvPr id="16" name="Shape 14"/>
          <p:cNvSpPr/>
          <p:nvPr/>
        </p:nvSpPr>
        <p:spPr>
          <a:xfrm>
            <a:off x="3300984" y="3063240"/>
            <a:ext cx="438912" cy="438912"/>
          </a:xfrm>
          <a:prstGeom prst="ellipse">
            <a:avLst/>
          </a:prstGeom>
          <a:solidFill>
            <a:srgbClr val="D97A14"/>
          </a:solidFill>
          <a:ln w="19050">
            <a:solidFill>
              <a:srgbClr val="FFFFFF"/>
            </a:solidFill>
            <a:prstDash val="solid"/>
          </a:ln>
        </p:spPr>
      </p:sp>
      <p:sp>
        <p:nvSpPr>
          <p:cNvPr id="17" name="Text 15"/>
          <p:cNvSpPr txBox="1"/>
          <p:nvPr/>
        </p:nvSpPr>
        <p:spPr>
          <a:xfrm>
            <a:off x="2971800" y="355701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Dave</a:t>
            </a:r>
            <a:endParaRPr lang="en-US" sz="1050" dirty="0"/>
          </a:p>
        </p:txBody>
      </p:sp>
      <p:sp>
        <p:nvSpPr>
          <p:cNvPr id="18" name="Text 16"/>
          <p:cNvSpPr txBox="1"/>
          <p:nvPr/>
        </p:nvSpPr>
        <p:spPr>
          <a:xfrm>
            <a:off x="365760" y="3941064"/>
            <a:ext cx="3474720" cy="310896"/>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3 hops; no direct channel needed</a:t>
            </a:r>
            <a:endParaRPr lang="en-US" sz="1100" dirty="0"/>
          </a:p>
        </p:txBody>
      </p:sp>
      <p:sp>
        <p:nvSpPr>
          <p:cNvPr id="19" name="Text 17"/>
          <p:cNvSpPr txBox="1"/>
          <p:nvPr/>
        </p:nvSpPr>
        <p:spPr>
          <a:xfrm>
            <a:off x="3931920" y="10972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payment routed over three hops</a:t>
            </a:r>
            <a:endParaRPr lang="en-US" sz="1150" dirty="0"/>
          </a:p>
        </p:txBody>
      </p:sp>
      <p:sp>
        <p:nvSpPr>
          <p:cNvPr id="20" name="Shape 18"/>
          <p:cNvSpPr/>
          <p:nvPr/>
        </p:nvSpPr>
        <p:spPr>
          <a:xfrm>
            <a:off x="3931920" y="1371600"/>
            <a:ext cx="4754880" cy="2926080"/>
          </a:xfrm>
          <a:prstGeom prst="roundRect">
            <a:avLst>
              <a:gd name="adj" fmla="val 3125"/>
            </a:avLst>
          </a:prstGeom>
          <a:solidFill>
            <a:srgbClr val="23272E"/>
          </a:solidFill>
          <a:ln w="12700">
            <a:solidFill>
              <a:srgbClr val="23272E"/>
            </a:solidFill>
            <a:prstDash val="solid"/>
          </a:ln>
        </p:spPr>
      </p:sp>
      <p:sp>
        <p:nvSpPr>
          <p:cNvPr id="21" name="Text 19"/>
          <p:cNvSpPr txBox="1"/>
          <p:nvPr/>
        </p:nvSpPr>
        <p:spPr>
          <a:xfrm>
            <a:off x="4114800" y="1490472"/>
            <a:ext cx="4389120" cy="2688336"/>
          </a:xfrm>
          <a:prstGeom prst="rect">
            <a:avLst/>
          </a:prstGeom>
          <a:noFill/>
          <a:ln/>
        </p:spPr>
        <p:txBody>
          <a:bodyPr wrap="square" lIns="0" tIns="0" rIns="0" bIns="0" rtlCol="0" anchor="t"/>
          <a:lstStyle/>
          <a:p>
            <a:pPr indent="0" marL="0">
              <a:buNone/>
            </a:pPr>
            <a:r>
              <a:rPr lang="en-US" sz="950" dirty="0">
                <a:solidFill>
                  <a:srgbClr val="E6EDF3"/>
                </a:solidFill>
                <a:latin typeface="Courier New" pitchFamily="34" charset="0"/>
                <a:ea typeface="Courier New" pitchFamily="34" charset="-122"/>
                <a:cs typeface="Courier New" pitchFamily="34" charset="-120"/>
              </a:rPr>
              <a:t>channels = {('Alice', 'Bob'), ('Bob', 'Carol'), ('Carol', 'Dave')}</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nbr = {}</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for x, y in channels: nbr.setdefault(x, []).append(y); nbr.setdefault(y, []).append(x)</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path, frontier = {'Alice': ['Alice']}, ['Alice']</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while 'Dave' not in path:</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nxt = []</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for x in frontier:</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for y in nbr[x]:</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if y not in path: path[y] = path[x] + [y]; nxt.append(y)</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frontier = nxt</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result = (path['Dave'], len(path['Dave']) - 1, ('Alice', 'Dave') in channels)</a:t>
            </a:r>
            <a:endParaRPr lang="en-US" sz="950" dirty="0"/>
          </a:p>
        </p:txBody>
      </p:sp>
      <p:sp>
        <p:nvSpPr>
          <p:cNvPr id="22" name="Text 20"/>
          <p:cNvSpPr txBox="1"/>
          <p:nvPr/>
        </p:nvSpPr>
        <p:spPr>
          <a:xfrm>
            <a:off x="3931920" y="4315968"/>
            <a:ext cx="4754880" cy="256032"/>
          </a:xfrm>
          <a:prstGeom prst="rect">
            <a:avLst/>
          </a:prstGeom>
          <a:noFill/>
          <a:ln/>
        </p:spPr>
        <p:txBody>
          <a:bodyPr wrap="square" lIns="0" tIns="0" rIns="0" bIns="0" rtlCol="0" anchor="ctr"/>
          <a:lstStyle/>
          <a:p>
            <a:pPr indent="0" marL="0">
              <a:buNone/>
            </a:pPr>
            <a:r>
              <a:rPr lang="en-US" sz="950" b="1" dirty="0">
                <a:solidFill>
                  <a:srgbClr val="D97A14"/>
                </a:solidFill>
                <a:latin typeface="Courier New" pitchFamily="34" charset="0"/>
                <a:ea typeface="Courier New" pitchFamily="34" charset="-122"/>
                <a:cs typeface="Courier New" pitchFamily="34" charset="-120"/>
              </a:rPr>
              <a:t>result  </a:t>
            </a:r>
            <a:pPr indent="0" marL="0">
              <a:buNone/>
            </a:pPr>
            <a:r>
              <a:rPr lang="en-US" sz="950" dirty="0">
                <a:solidFill>
                  <a:srgbClr val="2B2622"/>
                </a:solidFill>
                <a:latin typeface="Courier New" pitchFamily="34" charset="0"/>
                <a:ea typeface="Courier New" pitchFamily="34" charset="-122"/>
                <a:cs typeface="Courier New" pitchFamily="34" charset="-120"/>
              </a:rPr>
              <a:t>(['Alice', 'Bob', 'Carol', 'Dave'], 3, False)</a:t>
            </a:r>
            <a:endParaRPr lang="en-US" sz="950" dirty="0"/>
          </a:p>
        </p:txBody>
      </p:sp>
      <p:sp>
        <p:nvSpPr>
          <p:cNvPr id="23" name="Text 21"/>
          <p:cNvSpPr txBox="1"/>
          <p:nvPr/>
        </p:nvSpPr>
        <p:spPr>
          <a:xfrm>
            <a:off x="3931920" y="45720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LightningNetwork, lines 1 to 11 of 11, run under Python 3.14.4</a:t>
            </a:r>
            <a:endParaRPr lang="en-US" sz="9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chain settles; the edges scale</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38</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whitepaper (9 pages, 2008)  </a:t>
            </a:r>
            <a:pPr indent="0" marL="0">
              <a:buNone/>
            </a:pP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bitcoin.org/bitcoin.pdf</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textbook, free (CC BY-SA)  </a:t>
            </a:r>
            <a:pPr indent="0" marL="0">
              <a:buNone/>
            </a:pP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github.com/bitcoinbook/bitcoinbook</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Developer documentation  </a:t>
            </a:r>
            <a:pPr indent="0" marL="0">
              <a:buNone/>
            </a:pP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developer.bitcoin.org</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Explore &amp; markets</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Core, the reference client  </a:t>
            </a:r>
            <a:pPr indent="0" marL="0">
              <a:buNone/>
            </a:pP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bitcoincore.org</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mempool.space - watch blocks live  </a:t>
            </a:r>
            <a:pPr indent="0" marL="0">
              <a:buNone/>
            </a:pP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mempool.space</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blockstream.info - block 0 came from here  </a:t>
            </a:r>
            <a:pPr indent="0" marL="0">
              <a:buNone/>
            </a:pP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blockstream.info</a:t>
            </a:r>
            <a:endParaRPr lang="en-US" sz="1000" dirty="0"/>
          </a:p>
        </p:txBody>
      </p:sp>
      <p:sp>
        <p:nvSpPr>
          <p:cNvPr id="20" name="Shape 18"/>
          <p:cNvSpPr/>
          <p:nvPr/>
        </p:nvSpPr>
        <p:spPr>
          <a:xfrm>
            <a:off x="493776" y="4041648"/>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3968496"/>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CoinGecko - market data  </a:t>
            </a:r>
            <a:pPr indent="0" marL="0">
              <a:buNone/>
            </a:pP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coingecko.com</a:t>
            </a:r>
            <a:endParaRPr lang="en-US" sz="1000" dirty="0"/>
          </a:p>
        </p:txBody>
      </p:sp>
      <p:sp>
        <p:nvSpPr>
          <p:cNvPr id="22" name="Text 20"/>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3" name="Shape 21"/>
          <p:cNvSpPr/>
          <p:nvPr/>
        </p:nvSpPr>
        <p:spPr>
          <a:xfrm>
            <a:off x="4768596" y="1719072"/>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Stack Exchange Q&amp;A  </a:t>
            </a:r>
            <a:pPr indent="0" marL="0">
              <a:buNone/>
            </a:pP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bitcoin.stackexchange.com</a:t>
            </a:r>
            <a:endParaRPr lang="en-US" sz="1000" dirty="0"/>
          </a:p>
        </p:txBody>
      </p:sp>
      <p:sp>
        <p:nvSpPr>
          <p:cNvPr id="25" name="Shape 23"/>
          <p:cNvSpPr/>
          <p:nvPr/>
        </p:nvSpPr>
        <p:spPr>
          <a:xfrm>
            <a:off x="4768596" y="2048256"/>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bitcointalk - the forum of Pizza Day  </a:t>
            </a:r>
            <a:pPr indent="0" marL="0">
              <a:buNone/>
            </a:pP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bitcointalk.org</a:t>
            </a:r>
            <a:endParaRPr lang="en-US" sz="1000" dirty="0"/>
          </a:p>
        </p:txBody>
      </p:sp>
      <p:sp>
        <p:nvSpPr>
          <p:cNvPr id="27" name="Text 25"/>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Seminal &amp; watch</a:t>
            </a:r>
            <a:endParaRPr lang="en-US" sz="1250" dirty="0"/>
          </a:p>
        </p:txBody>
      </p:sp>
      <p:sp>
        <p:nvSpPr>
          <p:cNvPr id="28" name="Shape 26"/>
          <p:cNvSpPr/>
          <p:nvPr/>
        </p:nvSpPr>
        <p:spPr>
          <a:xfrm>
            <a:off x="4768596" y="272491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Hashcash, the proof-of-work paper  </a:t>
            </a:r>
            <a:pPr indent="0" marL="0">
              <a:buNone/>
            </a:pP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hashcash.org</a:t>
            </a:r>
            <a:endParaRPr lang="en-US" sz="1000" dirty="0"/>
          </a:p>
        </p:txBody>
      </p:sp>
      <p:sp>
        <p:nvSpPr>
          <p:cNvPr id="30" name="Shape 28"/>
          <p:cNvSpPr/>
          <p:nvPr/>
        </p:nvSpPr>
        <p:spPr>
          <a:xfrm>
            <a:off x="4768596" y="3054096"/>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b-money, Wei Dai (1998)  </a:t>
            </a:r>
            <a:pPr indent="0" marL="0">
              <a:buNone/>
            </a:pPr>
            <a:r>
              <a:rPr lang="en-US" sz="10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weidai.com/bmoney.txt</a:t>
            </a:r>
            <a:endParaRPr lang="en-US" sz="1000" dirty="0"/>
          </a:p>
        </p:txBody>
      </p:sp>
      <p:sp>
        <p:nvSpPr>
          <p:cNvPr id="32" name="Shape 30"/>
          <p:cNvSpPr/>
          <p:nvPr/>
        </p:nvSpPr>
        <p:spPr>
          <a:xfrm>
            <a:off x="4768596" y="3383280"/>
            <a:ext cx="82296" cy="82296"/>
          </a:xfrm>
          <a:prstGeom prst="ellipse">
            <a:avLst/>
          </a:prstGeom>
          <a:solidFill>
            <a:srgbClr val="D97A14"/>
          </a:solidFill>
          <a:ln w="12700">
            <a:solidFill>
              <a:srgbClr val="D97A14"/>
            </a:solidFill>
            <a:prstDash val="solid"/>
          </a:ln>
        </p:spPr>
      </p:sp>
      <p:sp>
        <p:nvSpPr>
          <p:cNvPr id="33" name="Text 31"/>
          <p:cNvSpPr txBox="1"/>
          <p:nvPr/>
        </p:nvSpPr>
        <p:spPr>
          <a:xfrm>
            <a:off x="493318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But how does bitcoin work? (3Blue1Brown)  </a:t>
            </a:r>
            <a:pPr indent="0" marL="0">
              <a:buNone/>
            </a:pPr>
            <a:r>
              <a:rPr lang="en-US" sz="1000"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youtube.com/watch?v=bBC-nXj3Ng4</a:t>
            </a:r>
            <a:endParaRPr lang="en-US" sz="100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Nine free pages started all of this - read them this week</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38</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bitcoin is, and how far it divides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21 million is arithmetic, not promise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replaces the bank in the middle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chapter opens each box we drew</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38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 Introduction</dc:title>
  <dc:subject>PptxGenJS Presentation</dc:subject>
  <dc:creator>Yusuf Altunel</dc:creator>
  <cp:lastModifiedBy>Yusuf Altunel</cp:lastModifiedBy>
  <cp:revision>1</cp:revision>
  <dcterms:created xsi:type="dcterms:W3CDTF">2026-10-06T07:40:36Z</dcterms:created>
  <dcterms:modified xsi:type="dcterms:W3CDTF">2026-10-06T07:40:36Z</dcterms:modified>
</cp:coreProperties>
</file>