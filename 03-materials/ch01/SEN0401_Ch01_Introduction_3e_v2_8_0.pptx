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parts. The stories carry the why, the programs carry the proof, and every slide number on this list is printed bottom-right as we pass it.
ASK: Which part do you expect to be hardest - mark it now, check again at the summary.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ASK: Which of these failures did cards fix - and at what new price?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same boom's pure digital currencies, Beenz and Flooz, died in the 2001 crash, taking their customers' balances with them. Online payment was solved, but only as accounts on one company's private ledger - the internet still had no cash.
SOURCE: en.wikipedia.org/wiki/PayPal (Confinity 1998, X.com 1999, merger 2000, eBay acquisition 2002); en.wikipedia.org/wiki/Flooz.com and /wiki/Beenz.com (both closed 2001 in the dot-com crash).
IMAGE: the PayPal wordmark (public domain, via Wikimedia Commons) - the one survivor of the slide's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(2007 - 2022): Money fails people in documented ways. Kenya, 2007: most adults had no bank, so Safaricom's M-Pesa turned phone credit into the country's money rail. Cyprus, March 2013: banks closed for days and a levy took part of large deposits overnight. Greece, summer 2015: capital controls capped ATM withdrawals at 60 euros a day. Venezuela, 2018: hyperinflation passed one million percent and wages evaporated between morning and evening. Ukraine, February 2022: with war at the capital, the government itself posted donation addresses and raised tens of millions of dollars in crypto within days, run by Deputy Minister Alex Bornyakov, when ordinary rails were too slow.
SOURCE: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Why does the same problem not exist for paper cash?
FULL TEXT: course page, chapter 1 - DoubleSpend.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What stops the network agreeing on the WRONG order? (chapter 12 answers)
FULL TEXT: course page, chapter 1 - DoubleSpend,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
DATES: genesis 2009-01-03; halvings 2012-11-28 (block 210,000), 2016-07-09 (420,000), 2020-05-11 (630,000), 2024-04-20 (840,000) - the blocks' own timestamps; later dates are projections at the 10-minute target. Table: https://en.bitcoin.it/wiki/Controlled_supply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Your house has a registry if the key is lost - what does bitcoin have?
FULL TEXT: course page, chapter 1 -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led by Mark Karpeles,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lines, one per part. If any of them still feels like a claim rather than a fact, the agenda slide names the slides that prove it - and the course page carries the full text.
ASK: Which line would you defend to a sceptic first, and with which slide?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blockstream.info/block-height/0"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blockstream.info/block-height/170" TargetMode="External"/><Relationship Id="rId1" Type="http://schemas.openxmlformats.org/officeDocument/2006/relationships/image" Target="../media/image-8-1.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en.wikipedia.org/wiki/Rai_stones" TargetMode="External"/><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History_of_money" TargetMode="External"/><Relationship Id="rId1" Type="http://schemas.openxmlformats.org/officeDocument/2006/relationships/image" Target="../media/image-12-1.jpg"/><Relationship Id="rId2" Type="http://schemas.openxmlformats.org/officeDocument/2006/relationships/image" Target="../media/image-12-2.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PayPal"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M-Pesa" TargetMode="External"/><Relationship Id="rId4" Type="http://schemas.openxmlformats.org/officeDocument/2006/relationships/hyperlink" Target="https://en.wikipedia.org/wiki/2012%E2%80%932013_Cypriot_financial_crisis" TargetMode="External"/><Relationship Id="rId6" Type="http://schemas.openxmlformats.org/officeDocument/2006/relationships/hyperlink" Target="https://en.wikipedia.org/wiki/Greek_government-debt_crisis" TargetMode="External"/><Relationship Id="rId8" Type="http://schemas.openxmlformats.org/officeDocument/2006/relationships/hyperlink" Target="https://en.wikipedia.org/wiki/Hyperinflation_in_Venezuela" TargetMode="External"/><Relationship Id="rId10" Type="http://schemas.openxmlformats.org/officeDocument/2006/relationships/hyperlink" Target="https://www.cnbc.com/2022/03/02/ukraine-dogecoin-other-cryptocurrencies-accepted-for-donations.html" TargetMode="External"/><Relationship Id="rId11" Type="http://schemas.openxmlformats.org/officeDocument/2006/relationships/hyperlink" Target="https://www.cnbc.com/2022/03/02/ukraine-dogecoin-other-cryptocurrencies-accepted-for-donations.html" TargetMode="External"/><Relationship Id="rId1" Type="http://schemas.openxmlformats.org/officeDocument/2006/relationships/image" Target="../media/image-16-1.jpg"/><Relationship Id="rId3" Type="http://schemas.openxmlformats.org/officeDocument/2006/relationships/image" Target="../media/image-16-2.jpg"/><Relationship Id="rId5" Type="http://schemas.openxmlformats.org/officeDocument/2006/relationships/image" Target="../media/image-16-3.jpg"/><Relationship Id="rId7" Type="http://schemas.openxmlformats.org/officeDocument/2006/relationships/image" Target="../media/image-16-4.jpg"/><Relationship Id="rId9" Type="http://schemas.openxmlformats.org/officeDocument/2006/relationships/image" Target="../media/image-16-5.jp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uinnessworldrecords.com/world-records/696240-first-commercial-bitcoin-transaction" TargetMode="External"/><Relationship Id="rId1" Type="http://schemas.openxmlformats.org/officeDocument/2006/relationships/image" Target="../media/image-23-1.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en.wikipedia.org/wiki/Mt._Gox"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 TargetMode="External"/><Relationship Id="rId10" Type="http://schemas.openxmlformats.org/officeDocument/2006/relationships/hyperlink" Target="http://www.hashcash.org" TargetMode="External"/><Relationship Id="rId11" Type="http://schemas.openxmlformats.org/officeDocument/2006/relationships/hyperlink" Target="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02736"/>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10128"/>
            <a:ext cx="2331720" cy="71323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0 of the chain itself</a:t>
            </a:r>
            <a:endParaRPr lang="en-US" sz="750" dirty="0"/>
          </a:p>
        </p:txBody>
      </p:sp>
      <p:sp>
        <p:nvSpPr>
          <p:cNvPr id="21" name="Shape 18"/>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blockstream.info</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1542044"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to …</a:t>
            </a:r>
            <a:endParaRPr lang="en-US" sz="750" dirty="0"/>
          </a:p>
        </p:txBody>
      </p:sp>
      <p:sp>
        <p:nvSpPr>
          <p:cNvPr id="16" name="Shape 13"/>
          <p:cNvSpPr/>
          <p:nvPr/>
        </p:nvSpPr>
        <p:spPr>
          <a:xfrm>
            <a:off x="5035052" y="3703320"/>
            <a:ext cx="154204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126492"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6686824"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6778264"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7642189" y="3703320"/>
            <a:ext cx="1044611"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733629" y="3703320"/>
            <a:ext cx="898307"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Chaum, Back, Dai, Szabo - then Nakamoto</a:t>
            </a:r>
            <a:endParaRPr lang="en-US" sz="750" dirty="0"/>
          </a:p>
        </p:txBody>
      </p:sp>
      <p:sp>
        <p:nvSpPr>
          <p:cNvPr id="25" name="Shape 23"/>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academic papers and mailing lists</a:t>
            </a:r>
            <a:endParaRPr lang="en-US" sz="750" dirty="0"/>
          </a:p>
        </p:txBody>
      </p:sp>
      <p:sp>
        <p:nvSpPr>
          <p:cNvPr id="27" name="Shape 25"/>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2990088"/>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355848"/>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465576"/>
            <a:ext cx="548640" cy="0"/>
          </a:xfrm>
          <a:prstGeom prst="line">
            <a:avLst/>
          </a:prstGeom>
          <a:noFill/>
          <a:ln w="25400">
            <a:solidFill>
              <a:srgbClr val="D97A14"/>
            </a:solidFill>
            <a:prstDash val="solid"/>
            <a:tailEnd type="triangle"/>
          </a:ln>
        </p:spPr>
      </p:sp>
      <p:sp>
        <p:nvSpPr>
          <p:cNvPr id="18" name="Shape 15"/>
          <p:cNvSpPr/>
          <p:nvPr/>
        </p:nvSpPr>
        <p:spPr>
          <a:xfrm>
            <a:off x="5650992" y="2990088"/>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355848"/>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465576"/>
            <a:ext cx="548640" cy="0"/>
          </a:xfrm>
          <a:prstGeom prst="line">
            <a:avLst/>
          </a:prstGeom>
          <a:noFill/>
          <a:ln w="25400">
            <a:solidFill>
              <a:srgbClr val="D97A14"/>
            </a:solidFill>
            <a:prstDash val="solid"/>
            <a:tailEnd type="triangle"/>
          </a:ln>
        </p:spPr>
      </p:sp>
      <p:sp>
        <p:nvSpPr>
          <p:cNvPr id="22" name="Shape 19"/>
          <p:cNvSpPr/>
          <p:nvPr/>
        </p:nvSpPr>
        <p:spPr>
          <a:xfrm>
            <a:off x="7296912" y="2990088"/>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355848"/>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334256"/>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14800"/>
            <a:ext cx="1471178"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Yapese; documen…</a:t>
            </a:r>
            <a:endParaRPr lang="en-US" sz="750" dirty="0"/>
          </a:p>
        </p:txBody>
      </p:sp>
      <p:sp>
        <p:nvSpPr>
          <p:cNvPr id="28" name="Shape 25"/>
          <p:cNvSpPr/>
          <p:nvPr/>
        </p:nvSpPr>
        <p:spPr>
          <a:xfrm>
            <a:off x="5192786" y="4114800"/>
            <a:ext cx="1471178"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5284226"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30" name="Shape 27"/>
          <p:cNvSpPr/>
          <p:nvPr/>
        </p:nvSpPr>
        <p:spPr>
          <a:xfrm>
            <a:off x="6773692" y="411480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6865132" y="411480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7690195" y="4114800"/>
            <a:ext cx="996605"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7781635" y="411480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417320"/>
            <a:ext cx="1600200" cy="1325880"/>
          </a:xfrm>
          <a:prstGeom prst="rect">
            <a:avLst/>
          </a:prstGeom>
        </p:spPr>
      </p:pic>
      <p:sp>
        <p:nvSpPr>
          <p:cNvPr id="8" name="Text 5"/>
          <p:cNvSpPr txBox="1"/>
          <p:nvPr/>
        </p:nvSpPr>
        <p:spPr>
          <a:xfrm>
            <a:off x="68580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417320"/>
            <a:ext cx="1600200" cy="1325880"/>
          </a:xfrm>
          <a:prstGeom prst="rect">
            <a:avLst/>
          </a:prstGeom>
        </p:spPr>
      </p:pic>
      <p:sp>
        <p:nvSpPr>
          <p:cNvPr id="10" name="Text 6"/>
          <p:cNvSpPr txBox="1"/>
          <p:nvPr/>
        </p:nvSpPr>
        <p:spPr>
          <a:xfrm>
            <a:off x="690372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552444"/>
            <a:ext cx="8229600" cy="0"/>
          </a:xfrm>
          <a:prstGeom prst="line">
            <a:avLst/>
          </a:prstGeom>
          <a:noFill/>
          <a:ln w="25400">
            <a:solidFill>
              <a:srgbClr val="C9BFAE"/>
            </a:solidFill>
            <a:prstDash val="solid"/>
          </a:ln>
        </p:spPr>
      </p:sp>
      <p:sp>
        <p:nvSpPr>
          <p:cNvPr id="13" name="Shape 9"/>
          <p:cNvSpPr/>
          <p:nvPr/>
        </p:nvSpPr>
        <p:spPr>
          <a:xfrm>
            <a:off x="557784" y="3470148"/>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470148"/>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470148"/>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470148"/>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470148"/>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470148"/>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680960" y="3076956"/>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223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ledger-keepers, from temple scribes to…</a:t>
            </a:r>
            <a:endParaRPr lang="en-US" sz="750" dirty="0"/>
          </a:p>
        </p:txBody>
      </p:sp>
      <p:sp>
        <p:nvSpPr>
          <p:cNvPr id="33" name="Shape 29"/>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Mesopotamia, Lydia, China, and onward</a:t>
            </a:r>
            <a:endParaRPr lang="en-US" sz="750" dirty="0"/>
          </a:p>
        </p:txBody>
      </p:sp>
      <p:sp>
        <p:nvSpPr>
          <p:cNvPr id="35" name="Shape 31"/>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6809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223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8122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7589520" y="3200400"/>
            <a:ext cx="1097280" cy="731520"/>
          </a:xfrm>
          <a:prstGeom prst="rect">
            <a:avLst/>
          </a:prstGeom>
        </p:spPr>
      </p:pic>
      <p:sp>
        <p:nvSpPr>
          <p:cNvPr id="25" name="Shape 22"/>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Max Levchin and Peter Thiel (Confinity…</a:t>
            </a:r>
            <a:endParaRPr lang="en-US" sz="750" dirty="0"/>
          </a:p>
        </p:txBody>
      </p:sp>
      <p:sp>
        <p:nvSpPr>
          <p:cNvPr id="27" name="Shape 24"/>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Palo Alto, in the dot-com boom</a:t>
            </a:r>
            <a:endParaRPr lang="en-US" sz="750" dirty="0"/>
          </a:p>
        </p:txBody>
      </p:sp>
      <p:sp>
        <p:nvSpPr>
          <p:cNvPr id="29" name="Shape 26"/>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1" name="Shape 28"/>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554480"/>
            <a:ext cx="1521562" cy="2359152"/>
          </a:xfrm>
          <a:prstGeom prst="roundRect">
            <a:avLst>
              <a:gd name="adj" fmla="val 6010"/>
            </a:avLst>
          </a:prstGeom>
          <a:solidFill>
            <a:srgbClr val="F2ECE1"/>
          </a:solidFill>
          <a:ln w="12700">
            <a:solidFill>
              <a:srgbClr val="DFD6C7"/>
            </a:solidFill>
            <a:prstDash val="solid"/>
          </a:ln>
        </p:spPr>
      </p:sp>
      <p:pic>
        <p:nvPicPr>
          <p:cNvPr id="8" name="Image 0" descr="../../03-materials/ch01/assets/photo_mpesa_agent.jpg">    </p:cNvPr>
          <p:cNvPicPr>
            <a:picLocks noChangeAspect="1"/>
          </p:cNvPicPr>
          <p:nvPr/>
        </p:nvPicPr>
        <p:blipFill>
          <a:blip r:embed="rId1"/>
          <a:srcRect l="0" r="0" t="0" b="0"/>
          <a:stretch/>
        </p:blipFill>
        <p:spPr>
          <a:xfrm>
            <a:off x="457200" y="1645920"/>
            <a:ext cx="1338682" cy="658368"/>
          </a:xfrm>
          <a:prstGeom prst="rect">
            <a:avLst/>
          </a:prstGeom>
        </p:spPr>
      </p:pic>
      <p:sp>
        <p:nvSpPr>
          <p:cNvPr id="9" name="Shape 6"/>
          <p:cNvSpPr/>
          <p:nvPr/>
        </p:nvSpPr>
        <p:spPr>
          <a:xfrm>
            <a:off x="475488" y="2359152"/>
            <a:ext cx="1302106" cy="329184"/>
          </a:xfrm>
          <a:prstGeom prst="roundRect">
            <a:avLst>
              <a:gd name="adj" fmla="val 50000"/>
            </a:avLst>
          </a:prstGeom>
          <a:solidFill>
            <a:srgbClr val="2F6D62"/>
          </a:solidFill>
          <a:ln w="12700">
            <a:solidFill>
              <a:srgbClr val="2F6D62"/>
            </a:solidFill>
            <a:prstDash val="solid"/>
          </a:ln>
        </p:spPr>
      </p:sp>
      <p:sp>
        <p:nvSpPr>
          <p:cNvPr id="10" name="Text 7"/>
          <p:cNvSpPr txBox="1"/>
          <p:nvPr/>
        </p:nvSpPr>
        <p:spPr>
          <a:xfrm>
            <a:off x="47548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pPr algn="ctr" indent="0" marL="0">
              <a:buNone/>
            </a:pP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1" name="Text 8"/>
          <p:cNvSpPr txBox="1"/>
          <p:nvPr/>
        </p:nvSpPr>
        <p:spPr>
          <a:xfrm>
            <a:off x="49377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2" name="Text 9"/>
          <p:cNvSpPr txBox="1"/>
          <p:nvPr/>
        </p:nvSpPr>
        <p:spPr>
          <a:xfrm>
            <a:off x="49377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3" name="Shape 10"/>
          <p:cNvSpPr/>
          <p:nvPr/>
        </p:nvSpPr>
        <p:spPr>
          <a:xfrm>
            <a:off x="2088490" y="1554480"/>
            <a:ext cx="1521562" cy="2359152"/>
          </a:xfrm>
          <a:prstGeom prst="roundRect">
            <a:avLst>
              <a:gd name="adj" fmla="val 6010"/>
            </a:avLst>
          </a:prstGeom>
          <a:solidFill>
            <a:srgbClr val="F2ECE1"/>
          </a:solidFill>
          <a:ln w="12700">
            <a:solidFill>
              <a:srgbClr val="DFD6C7"/>
            </a:solidFill>
            <a:prstDash val="solid"/>
          </a:ln>
        </p:spPr>
      </p:sp>
      <p:pic>
        <p:nvPicPr>
          <p:cNvPr id="14" name="Image 1" descr="../../03-materials/ch01/assets/photo_laiki_bank.jpg">    </p:cNvPr>
          <p:cNvPicPr>
            <a:picLocks noChangeAspect="1"/>
          </p:cNvPicPr>
          <p:nvPr/>
        </p:nvPicPr>
        <p:blipFill>
          <a:blip r:embed="rId3"/>
          <a:srcRect l="0" r="0" t="0" b="0"/>
          <a:stretch/>
        </p:blipFill>
        <p:spPr>
          <a:xfrm>
            <a:off x="2179930" y="1645920"/>
            <a:ext cx="1338682" cy="658368"/>
          </a:xfrm>
          <a:prstGeom prst="rect">
            <a:avLst/>
          </a:prstGeom>
        </p:spPr>
      </p:pic>
      <p:sp>
        <p:nvSpPr>
          <p:cNvPr id="15" name="Shape 11"/>
          <p:cNvSpPr/>
          <p:nvPr/>
        </p:nvSpPr>
        <p:spPr>
          <a:xfrm>
            <a:off x="2198218" y="2359152"/>
            <a:ext cx="1302106" cy="329184"/>
          </a:xfrm>
          <a:prstGeom prst="roundRect">
            <a:avLst>
              <a:gd name="adj" fmla="val 50000"/>
            </a:avLst>
          </a:prstGeom>
          <a:solidFill>
            <a:srgbClr val="2F6D62"/>
          </a:solidFill>
          <a:ln w="12700">
            <a:solidFill>
              <a:srgbClr val="2F6D62"/>
            </a:solidFill>
            <a:prstDash val="solid"/>
          </a:ln>
        </p:spPr>
      </p:sp>
      <p:sp>
        <p:nvSpPr>
          <p:cNvPr id="16" name="Text 12"/>
          <p:cNvSpPr txBox="1"/>
          <p:nvPr/>
        </p:nvSpPr>
        <p:spPr>
          <a:xfrm>
            <a:off x="219821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pPr algn="ctr" indent="0" marL="0">
              <a:buNone/>
            </a:pP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7" name="Text 13"/>
          <p:cNvSpPr txBox="1"/>
          <p:nvPr/>
        </p:nvSpPr>
        <p:spPr>
          <a:xfrm>
            <a:off x="221650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18" name="Text 14"/>
          <p:cNvSpPr txBox="1"/>
          <p:nvPr/>
        </p:nvSpPr>
        <p:spPr>
          <a:xfrm>
            <a:off x="221650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9" name="Shape 15"/>
          <p:cNvSpPr/>
          <p:nvPr/>
        </p:nvSpPr>
        <p:spPr>
          <a:xfrm>
            <a:off x="3811219" y="1554480"/>
            <a:ext cx="1521562" cy="2359152"/>
          </a:xfrm>
          <a:prstGeom prst="roundRect">
            <a:avLst>
              <a:gd name="adj" fmla="val 6010"/>
            </a:avLst>
          </a:prstGeom>
          <a:solidFill>
            <a:srgbClr val="F2ECE1"/>
          </a:solidFill>
          <a:ln w="12700">
            <a:solidFill>
              <a:srgbClr val="DFD6C7"/>
            </a:solidFill>
            <a:prstDash val="solid"/>
          </a:ln>
        </p:spPr>
      </p:sp>
      <p:pic>
        <p:nvPicPr>
          <p:cNvPr id="20" name="Image 2" descr="../../03-materials/ch01/assets/photo_greece_atm.jpg">    </p:cNvPr>
          <p:cNvPicPr>
            <a:picLocks noChangeAspect="1"/>
          </p:cNvPicPr>
          <p:nvPr/>
        </p:nvPicPr>
        <p:blipFill>
          <a:blip r:embed="rId5"/>
          <a:srcRect l="0" r="0" t="0" b="0"/>
          <a:stretch/>
        </p:blipFill>
        <p:spPr>
          <a:xfrm>
            <a:off x="3902659" y="1645920"/>
            <a:ext cx="1338682" cy="658368"/>
          </a:xfrm>
          <a:prstGeom prst="rect">
            <a:avLst/>
          </a:prstGeom>
        </p:spPr>
      </p:pic>
      <p:sp>
        <p:nvSpPr>
          <p:cNvPr id="21" name="Shape 16"/>
          <p:cNvSpPr/>
          <p:nvPr/>
        </p:nvSpPr>
        <p:spPr>
          <a:xfrm>
            <a:off x="3920947" y="2359152"/>
            <a:ext cx="1302106" cy="329184"/>
          </a:xfrm>
          <a:prstGeom prst="roundRect">
            <a:avLst>
              <a:gd name="adj" fmla="val 50000"/>
            </a:avLst>
          </a:prstGeom>
          <a:solidFill>
            <a:srgbClr val="2F6D62"/>
          </a:solidFill>
          <a:ln w="12700">
            <a:solidFill>
              <a:srgbClr val="2F6D62"/>
            </a:solidFill>
            <a:prstDash val="solid"/>
          </a:ln>
        </p:spPr>
      </p:sp>
      <p:sp>
        <p:nvSpPr>
          <p:cNvPr id="22" name="Text 17"/>
          <p:cNvSpPr txBox="1"/>
          <p:nvPr/>
        </p:nvSpPr>
        <p:spPr>
          <a:xfrm>
            <a:off x="392094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pPr algn="ctr" indent="0" marL="0">
              <a:buNone/>
            </a:pP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3" name="Text 18"/>
          <p:cNvSpPr txBox="1"/>
          <p:nvPr/>
        </p:nvSpPr>
        <p:spPr>
          <a:xfrm>
            <a:off x="393923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4" name="Text 19"/>
          <p:cNvSpPr txBox="1"/>
          <p:nvPr/>
        </p:nvSpPr>
        <p:spPr>
          <a:xfrm>
            <a:off x="393923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5" name="Shape 20"/>
          <p:cNvSpPr/>
          <p:nvPr/>
        </p:nvSpPr>
        <p:spPr>
          <a:xfrm>
            <a:off x="5533949" y="1554480"/>
            <a:ext cx="1521562" cy="2359152"/>
          </a:xfrm>
          <a:prstGeom prst="roundRect">
            <a:avLst>
              <a:gd name="adj" fmla="val 6010"/>
            </a:avLst>
          </a:prstGeom>
          <a:solidFill>
            <a:srgbClr val="F2ECE1"/>
          </a:solidFill>
          <a:ln w="12700">
            <a:solidFill>
              <a:srgbClr val="DFD6C7"/>
            </a:solidFill>
            <a:prstDash val="solid"/>
          </a:ln>
        </p:spPr>
      </p:sp>
      <p:pic>
        <p:nvPicPr>
          <p:cNvPr id="26" name="Image 3" descr="../../03-materials/ch01/assets/photo_bolivar_note.jpg">    </p:cNvPr>
          <p:cNvPicPr>
            <a:picLocks noChangeAspect="1"/>
          </p:cNvPicPr>
          <p:nvPr/>
        </p:nvPicPr>
        <p:blipFill>
          <a:blip r:embed="rId7"/>
          <a:srcRect l="0" r="0" t="0" b="0"/>
          <a:stretch/>
        </p:blipFill>
        <p:spPr>
          <a:xfrm>
            <a:off x="5625389" y="1645920"/>
            <a:ext cx="1338682" cy="658368"/>
          </a:xfrm>
          <a:prstGeom prst="rect">
            <a:avLst/>
          </a:prstGeom>
        </p:spPr>
      </p:pic>
      <p:sp>
        <p:nvSpPr>
          <p:cNvPr id="27" name="Shape 21"/>
          <p:cNvSpPr/>
          <p:nvPr/>
        </p:nvSpPr>
        <p:spPr>
          <a:xfrm>
            <a:off x="5643677" y="2359152"/>
            <a:ext cx="1302106" cy="329184"/>
          </a:xfrm>
          <a:prstGeom prst="roundRect">
            <a:avLst>
              <a:gd name="adj" fmla="val 50000"/>
            </a:avLst>
          </a:prstGeom>
          <a:solidFill>
            <a:srgbClr val="2F6D62"/>
          </a:solidFill>
          <a:ln w="12700">
            <a:solidFill>
              <a:srgbClr val="2F6D62"/>
            </a:solidFill>
            <a:prstDash val="solid"/>
          </a:ln>
        </p:spPr>
      </p:sp>
      <p:sp>
        <p:nvSpPr>
          <p:cNvPr id="28" name="Text 22"/>
          <p:cNvSpPr txBox="1"/>
          <p:nvPr/>
        </p:nvSpPr>
        <p:spPr>
          <a:xfrm>
            <a:off x="564367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pPr algn="ctr" indent="0" marL="0">
              <a:buNone/>
            </a:pP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29" name="Text 23"/>
          <p:cNvSpPr txBox="1"/>
          <p:nvPr/>
        </p:nvSpPr>
        <p:spPr>
          <a:xfrm>
            <a:off x="566196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0" name="Text 24"/>
          <p:cNvSpPr txBox="1"/>
          <p:nvPr/>
        </p:nvSpPr>
        <p:spPr>
          <a:xfrm>
            <a:off x="566196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1" name="Shape 25"/>
          <p:cNvSpPr/>
          <p:nvPr/>
        </p:nvSpPr>
        <p:spPr>
          <a:xfrm>
            <a:off x="7256678" y="1554480"/>
            <a:ext cx="1521562" cy="2359152"/>
          </a:xfrm>
          <a:prstGeom prst="roundRect">
            <a:avLst>
              <a:gd name="adj" fmla="val 6010"/>
            </a:avLst>
          </a:prstGeom>
          <a:solidFill>
            <a:srgbClr val="F2ECE1"/>
          </a:solidFill>
          <a:ln w="12700">
            <a:solidFill>
              <a:srgbClr val="DFD6C7"/>
            </a:solidFill>
            <a:prstDash val="solid"/>
          </a:ln>
        </p:spPr>
      </p:sp>
      <p:pic>
        <p:nvPicPr>
          <p:cNvPr id="32" name="Image 4" descr="../../03-materials/ch01/assets/photo_fedorov.jpg">    </p:cNvPr>
          <p:cNvPicPr>
            <a:picLocks noChangeAspect="1"/>
          </p:cNvPicPr>
          <p:nvPr/>
        </p:nvPicPr>
        <p:blipFill>
          <a:blip r:embed="rId9"/>
          <a:srcRect l="0" r="0" t="0" b="0"/>
          <a:stretch/>
        </p:blipFill>
        <p:spPr>
          <a:xfrm>
            <a:off x="7348118" y="1645920"/>
            <a:ext cx="1338682" cy="658368"/>
          </a:xfrm>
          <a:prstGeom prst="rect">
            <a:avLst/>
          </a:prstGeom>
        </p:spPr>
      </p:pic>
      <p:sp>
        <p:nvSpPr>
          <p:cNvPr id="33" name="Shape 26"/>
          <p:cNvSpPr/>
          <p:nvPr/>
        </p:nvSpPr>
        <p:spPr>
          <a:xfrm>
            <a:off x="7366406" y="2359152"/>
            <a:ext cx="1302106" cy="329184"/>
          </a:xfrm>
          <a:prstGeom prst="roundRect">
            <a:avLst>
              <a:gd name="adj" fmla="val 50000"/>
            </a:avLst>
          </a:prstGeom>
          <a:solidFill>
            <a:srgbClr val="2F6D62"/>
          </a:solidFill>
          <a:ln w="12700">
            <a:solidFill>
              <a:srgbClr val="2F6D62"/>
            </a:solidFill>
            <a:prstDash val="solid"/>
          </a:ln>
        </p:spPr>
      </p:sp>
      <p:sp>
        <p:nvSpPr>
          <p:cNvPr id="34" name="Text 27"/>
          <p:cNvSpPr txBox="1"/>
          <p:nvPr/>
        </p:nvSpPr>
        <p:spPr>
          <a:xfrm>
            <a:off x="7366406"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pPr algn="ctr" indent="0" marL="0">
              <a:buNone/>
            </a:pP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5" name="Text 28"/>
          <p:cNvSpPr txBox="1"/>
          <p:nvPr/>
        </p:nvSpPr>
        <p:spPr>
          <a:xfrm>
            <a:off x="7384694"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950" dirty="0"/>
          </a:p>
        </p:txBody>
      </p:sp>
      <p:sp>
        <p:nvSpPr>
          <p:cNvPr id="36" name="Text 29"/>
          <p:cNvSpPr txBox="1"/>
          <p:nvPr/>
        </p:nvSpPr>
        <p:spPr>
          <a:xfrm>
            <a:off x="7384694"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7" name="Text 30"/>
          <p:cNvSpPr txBox="1"/>
          <p:nvPr/>
        </p:nvSpPr>
        <p:spPr>
          <a:xfrm>
            <a:off x="365760" y="3941064"/>
            <a:ext cx="8412480" cy="13716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38" name="Shape 31"/>
          <p:cNvSpPr/>
          <p:nvPr/>
        </p:nvSpPr>
        <p:spPr>
          <a:xfrm>
            <a:off x="457200" y="4133088"/>
            <a:ext cx="2449129" cy="365760"/>
          </a:xfrm>
          <a:prstGeom prst="roundRect">
            <a:avLst>
              <a:gd name="adj" fmla="val 50000"/>
            </a:avLst>
          </a:prstGeom>
          <a:solidFill>
            <a:srgbClr val="EFE9DC"/>
          </a:solidFill>
          <a:ln w="9525">
            <a:solidFill>
              <a:srgbClr val="DFD6C7"/>
            </a:solidFill>
            <a:prstDash val="solid"/>
          </a:ln>
        </p:spPr>
      </p:sp>
      <p:sp>
        <p:nvSpPr>
          <p:cNvPr id="39" name="Text 32"/>
          <p:cNvSpPr txBox="1"/>
          <p:nvPr/>
        </p:nvSpPr>
        <p:spPr>
          <a:xfrm>
            <a:off x="548640" y="413308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savers, the unbanked, and one governme…</a:t>
            </a:r>
            <a:endParaRPr lang="en-US" sz="750" dirty="0"/>
          </a:p>
        </p:txBody>
      </p:sp>
      <p:sp>
        <p:nvSpPr>
          <p:cNvPr id="40" name="Shape 33"/>
          <p:cNvSpPr/>
          <p:nvPr/>
        </p:nvSpPr>
        <p:spPr>
          <a:xfrm>
            <a:off x="3016057" y="4133088"/>
            <a:ext cx="2449129" cy="365760"/>
          </a:xfrm>
          <a:prstGeom prst="roundRect">
            <a:avLst>
              <a:gd name="adj" fmla="val 50000"/>
            </a:avLst>
          </a:prstGeom>
          <a:solidFill>
            <a:srgbClr val="EFE9DC"/>
          </a:solidFill>
          <a:ln w="9525">
            <a:solidFill>
              <a:srgbClr val="DFD6C7"/>
            </a:solidFill>
            <a:prstDash val="solid"/>
          </a:ln>
        </p:spPr>
      </p:sp>
      <p:sp>
        <p:nvSpPr>
          <p:cNvPr id="41" name="Text 34"/>
          <p:cNvSpPr txBox="1"/>
          <p:nvPr/>
        </p:nvSpPr>
        <p:spPr>
          <a:xfrm>
            <a:off x="3107497" y="413308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Kenya, Cyprus, Greece, Venezuela, Ukra…</a:t>
            </a:r>
            <a:endParaRPr lang="en-US" sz="750" dirty="0"/>
          </a:p>
        </p:txBody>
      </p:sp>
      <p:sp>
        <p:nvSpPr>
          <p:cNvPr id="42" name="Shape 35"/>
          <p:cNvSpPr/>
          <p:nvPr/>
        </p:nvSpPr>
        <p:spPr>
          <a:xfrm>
            <a:off x="5574914" y="4133088"/>
            <a:ext cx="1343071" cy="365760"/>
          </a:xfrm>
          <a:prstGeom prst="roundRect">
            <a:avLst>
              <a:gd name="adj" fmla="val 50000"/>
            </a:avLst>
          </a:prstGeom>
          <a:solidFill>
            <a:srgbClr val="EFE9DC"/>
          </a:solidFill>
          <a:ln w="9525">
            <a:solidFill>
              <a:srgbClr val="DFD6C7"/>
            </a:solidFill>
            <a:prstDash val="solid"/>
          </a:ln>
        </p:spPr>
      </p:sp>
      <p:sp>
        <p:nvSpPr>
          <p:cNvPr id="43" name="Text 36"/>
          <p:cNvSpPr txBox="1"/>
          <p:nvPr/>
        </p:nvSpPr>
        <p:spPr>
          <a:xfrm>
            <a:off x="5666354" y="413308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44" name="Shape 37"/>
          <p:cNvSpPr/>
          <p:nvPr/>
        </p:nvSpPr>
        <p:spPr>
          <a:xfrm>
            <a:off x="7027713" y="4133088"/>
            <a:ext cx="1659087" cy="365760"/>
          </a:xfrm>
          <a:prstGeom prst="roundRect">
            <a:avLst>
              <a:gd name="adj" fmla="val 50000"/>
            </a:avLst>
          </a:prstGeom>
          <a:solidFill>
            <a:srgbClr val="2F6D62"/>
          </a:solidFill>
          <a:ln w="9525">
            <a:solidFill>
              <a:srgbClr val="2F6D62"/>
            </a:solidFill>
            <a:prstDash val="solid"/>
          </a:ln>
        </p:spPr>
      </p:sp>
      <p:sp>
        <p:nvSpPr>
          <p:cNvPr id="45" name="Text 38"/>
          <p:cNvSpPr txBox="1"/>
          <p:nvPr/>
        </p:nvSpPr>
        <p:spPr>
          <a:xfrm>
            <a:off x="7119153" y="413308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cnbc.com</a:t>
            </a:r>
            <a:endParaRPr lang="en-US" sz="750" dirty="0"/>
          </a:p>
        </p:txBody>
      </p:sp>
      <p:sp>
        <p:nvSpPr>
          <p:cNvPr id="46"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8"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B6533C"/>
            </a:solidFill>
            <a:prstDash val="solid"/>
          </a:ln>
        </p:spPr>
      </p:sp>
      <p:sp>
        <p:nvSpPr>
          <p:cNvPr id="24" name="Shape 22"/>
          <p:cNvSpPr/>
          <p:nvPr/>
        </p:nvSpPr>
        <p:spPr>
          <a:xfrm>
            <a:off x="7114032" y="1956816"/>
            <a:ext cx="310896" cy="310896"/>
          </a:xfrm>
          <a:prstGeom prst="ellipse">
            <a:avLst/>
          </a:prstGeom>
          <a:solidFill>
            <a:srgbClr val="E8B94B"/>
          </a:solidFill>
          <a:ln w="15875">
            <a:solidFill>
              <a:srgbClr val="B98A2B"/>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B6533C"/>
            </a:solidFill>
            <a:prstDash val="solid"/>
          </a:ln>
        </p:spPr>
      </p:sp>
      <p:sp>
        <p:nvSpPr>
          <p:cNvPr id="28" name="Shape 26"/>
          <p:cNvSpPr/>
          <p:nvPr/>
        </p:nvSpPr>
        <p:spPr>
          <a:xfrm>
            <a:off x="7114032" y="3465576"/>
            <a:ext cx="310896" cy="310896"/>
          </a:xfrm>
          <a:prstGeom prst="ellipse">
            <a:avLst/>
          </a:prstGeom>
          <a:solidFill>
            <a:srgbClr val="E8B94B"/>
          </a:solidFill>
          <a:ln w="15875">
            <a:solidFill>
              <a:srgbClr val="B98A2B"/>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B6533C"/>
            </a:solidFill>
            <a:prstDash val="solid"/>
            <a:tailEnd type="triangle"/>
          </a:ln>
        </p:spPr>
      </p:sp>
      <p:sp>
        <p:nvSpPr>
          <p:cNvPr id="32" name="Shape 30"/>
          <p:cNvSpPr/>
          <p:nvPr/>
        </p:nvSpPr>
        <p:spPr>
          <a:xfrm>
            <a:off x="5303520" y="2880360"/>
            <a:ext cx="1417320" cy="740664"/>
          </a:xfrm>
          <a:prstGeom prst="line">
            <a:avLst/>
          </a:prstGeom>
          <a:noFill/>
          <a:ln w="25400">
            <a:solidFill>
              <a:srgbClr val="B6533C"/>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B6533C"/>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411480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18795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18795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51713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928970" y="1783080"/>
            <a:ext cx="1828800" cy="548640"/>
          </a:xfrm>
          <a:prstGeom prst="roundRect">
            <a:avLst>
              <a:gd name="adj" fmla="val 13333"/>
            </a:avLst>
          </a:prstGeom>
          <a:solidFill>
            <a:srgbClr val="F2ECE1"/>
          </a:solidFill>
          <a:ln w="19050">
            <a:solidFill>
              <a:srgbClr val="5B8C5A"/>
            </a:solidFill>
            <a:prstDash val="solid"/>
          </a:ln>
        </p:spPr>
      </p:sp>
      <p:sp>
        <p:nvSpPr>
          <p:cNvPr id="24" name="Text 22"/>
          <p:cNvSpPr txBox="1"/>
          <p:nvPr/>
        </p:nvSpPr>
        <p:spPr>
          <a:xfrm>
            <a:off x="6002122" y="178308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928970" y="3429000"/>
            <a:ext cx="1828800" cy="548640"/>
          </a:xfrm>
          <a:prstGeom prst="roundRect">
            <a:avLst>
              <a:gd name="adj" fmla="val 13333"/>
            </a:avLst>
          </a:prstGeom>
          <a:solidFill>
            <a:srgbClr val="F2ECE1"/>
          </a:solidFill>
          <a:ln w="19050">
            <a:solidFill>
              <a:srgbClr val="B6533C"/>
            </a:solidFill>
            <a:prstDash val="solid"/>
          </a:ln>
        </p:spPr>
      </p:sp>
      <p:sp>
        <p:nvSpPr>
          <p:cNvPr id="26" name="Text 24"/>
          <p:cNvSpPr txBox="1"/>
          <p:nvPr/>
        </p:nvSpPr>
        <p:spPr>
          <a:xfrm>
            <a:off x="6002122" y="342900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5212080" y="2057400"/>
            <a:ext cx="625450" cy="822960"/>
          </a:xfrm>
          <a:prstGeom prst="line">
            <a:avLst/>
          </a:prstGeom>
          <a:noFill/>
          <a:ln w="22225">
            <a:solidFill>
              <a:srgbClr val="8A9B94"/>
            </a:solidFill>
            <a:prstDash val="solid"/>
            <a:tailEnd type="triangle"/>
          </a:ln>
        </p:spPr>
      </p:sp>
      <p:sp>
        <p:nvSpPr>
          <p:cNvPr id="28" name="Shape 26"/>
          <p:cNvSpPr/>
          <p:nvPr/>
        </p:nvSpPr>
        <p:spPr>
          <a:xfrm>
            <a:off x="5212080" y="2880360"/>
            <a:ext cx="625450" cy="822960"/>
          </a:xfrm>
          <a:prstGeom prst="line">
            <a:avLst/>
          </a:prstGeom>
          <a:noFill/>
          <a:ln w="22225">
            <a:solidFill>
              <a:srgbClr val="8A9B94"/>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5B8C5A"/>
          </a:solidFill>
          <a:ln w="12700">
            <a:solidFill>
              <a:srgbClr val="5B8C5A"/>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F3DED6"/>
          </a:solidFill>
          <a:ln w="15875">
            <a:solidFill>
              <a:srgbClr val="B6533C"/>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B6533C"/>
                </a:solidFill>
                <a:latin typeface="Calibri" pitchFamily="34" charset="0"/>
                <a:ea typeface="Calibri" pitchFamily="34" charset="-122"/>
                <a:cs typeface="Calibri" pitchFamily="34" charset="-120"/>
              </a:rPr>
              <a:t>refused by every node </a:t>
            </a:r>
            <a:pPr algn="ctr" indent="0" marL="0">
              <a:buNone/>
            </a:pPr>
            <a:r>
              <a:rPr lang="en-US" sz="1200" b="1" dirty="0">
                <a:solidFill>
                  <a:srgbClr val="B6533C"/>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flipH="1">
            <a:off x="6830568" y="2057400"/>
            <a:ext cx="927202" cy="0"/>
          </a:xfrm>
          <a:prstGeom prst="line">
            <a:avLst/>
          </a:prstGeom>
          <a:noFill/>
          <a:ln w="25400">
            <a:solidFill>
              <a:srgbClr val="5B8C5A"/>
            </a:solidFill>
            <a:prstDash val="solid"/>
            <a:tailEnd type="triangle"/>
          </a:ln>
        </p:spPr>
      </p:sp>
      <p:sp>
        <p:nvSpPr>
          <p:cNvPr id="34" name="Shape 32"/>
          <p:cNvSpPr/>
          <p:nvPr/>
        </p:nvSpPr>
        <p:spPr>
          <a:xfrm flipH="1">
            <a:off x="6830568" y="3703320"/>
            <a:ext cx="927202" cy="0"/>
          </a:xfrm>
          <a:prstGeom prst="line">
            <a:avLst/>
          </a:prstGeom>
          <a:noFill/>
          <a:ln w="25400">
            <a:solidFill>
              <a:srgbClr val="B6533C"/>
            </a:solidFill>
            <a:prstDash val="solid"/>
            <a:tailEnd type="triangle"/>
          </a:ln>
        </p:spPr>
      </p:sp>
      <p:sp>
        <p:nvSpPr>
          <p:cNvPr id="35" name="Text 33"/>
          <p:cNvSpPr txBox="1"/>
          <p:nvPr/>
        </p:nvSpPr>
        <p:spPr>
          <a:xfrm>
            <a:off x="3931920" y="4041648"/>
            <a:ext cx="475488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298448"/>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618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9" name="Shape 7"/>
          <p:cNvSpPr/>
          <p:nvPr/>
        </p:nvSpPr>
        <p:spPr>
          <a:xfrm>
            <a:off x="457200" y="1603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03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5666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2" name="Shape 10"/>
          <p:cNvSpPr/>
          <p:nvPr/>
        </p:nvSpPr>
        <p:spPr>
          <a:xfrm>
            <a:off x="457200" y="190804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1908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18714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5" name="Text 13"/>
          <p:cNvSpPr txBox="1"/>
          <p:nvPr/>
        </p:nvSpPr>
        <p:spPr>
          <a:xfrm>
            <a:off x="457200" y="21214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6" name="Shape 14"/>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7" name="Text 15"/>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8" name="Text 1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29260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20" name="Shape 18"/>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21" name="Text 19"/>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22" name="Text 20"/>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Text 21"/>
          <p:cNvSpPr txBox="1"/>
          <p:nvPr/>
        </p:nvSpPr>
        <p:spPr>
          <a:xfrm>
            <a:off x="457200" y="369417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4" name="Shape 22"/>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5" name="Text 23"/>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6" name="Text 24"/>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round(0.001 * 60000, 2)</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1821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457200" y="43434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1471178"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21" name="Shape 18"/>
          <p:cNvSpPr/>
          <p:nvPr/>
        </p:nvSpPr>
        <p:spPr>
          <a:xfrm>
            <a:off x="5192786" y="3977640"/>
            <a:ext cx="1471178"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284226"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bitcointalk for…</a:t>
            </a:r>
            <a:endParaRPr lang="en-US" sz="750" dirty="0"/>
          </a:p>
        </p:txBody>
      </p:sp>
      <p:sp>
        <p:nvSpPr>
          <p:cNvPr id="23" name="Shape 20"/>
          <p:cNvSpPr/>
          <p:nvPr/>
        </p:nvSpPr>
        <p:spPr>
          <a:xfrm>
            <a:off x="6773692"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6865132"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7690195" y="3977640"/>
            <a:ext cx="996605"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7781635" y="397764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guinnessw…</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Four peers start, each knowing one neighbour</a:t>
            </a:r>
            <a:endParaRPr lang="en-US" sz="1050" dirty="0"/>
          </a:p>
        </p:txBody>
      </p:sp>
      <p:sp>
        <p:nvSpPr>
          <p:cNvPr id="9" name="Shape 7"/>
          <p:cNvSpPr/>
          <p:nvPr/>
        </p:nvSpPr>
        <p:spPr>
          <a:xfrm>
            <a:off x="457200" y="210312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03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6654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asks its neighbours for THEIR neighbours</a:t>
            </a:r>
            <a:endParaRPr lang="en-US" sz="10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Links are counted when the gossip settles: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463040"/>
          </a:xfrm>
          <a:prstGeom prst="rect">
            <a:avLst/>
          </a:prstGeom>
        </p:spPr>
      </p:pic>
      <p:sp>
        <p:nvSpPr>
          <p:cNvPr id="16" name="Text 13"/>
          <p:cNvSpPr txBox="1"/>
          <p:nvPr/>
        </p:nvSpPr>
        <p:spPr>
          <a:xfrm>
            <a:off x="3931920" y="292608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463040"/>
          </a:xfrm>
          <a:prstGeom prst="roundRect">
            <a:avLst>
              <a:gd name="adj" fmla="val 5000"/>
            </a:avLst>
          </a:prstGeom>
          <a:solidFill>
            <a:srgbClr val="F2ECE1"/>
          </a:solidFill>
          <a:ln w="12700">
            <a:solidFill>
              <a:srgbClr val="DFD6C7"/>
            </a:solidFill>
            <a:prstDash val="solid"/>
          </a:ln>
        </p:spPr>
      </p:sp>
      <p:sp>
        <p:nvSpPr>
          <p:cNvPr id="18" name="Text 15"/>
          <p:cNvSpPr txBox="1"/>
          <p:nvPr/>
        </p:nvSpPr>
        <p:spPr>
          <a:xfrm>
            <a:off x="6510528" y="1517904"/>
            <a:ext cx="20665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205533"/>
            <a:ext cx="20665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links counted by the run - no server, no registry</a:t>
            </a:r>
            <a:endParaRPr lang="en-US" sz="1150" dirty="0"/>
          </a:p>
        </p:txBody>
      </p:sp>
      <p:sp>
        <p:nvSpPr>
          <p:cNvPr id="20"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2"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pPr indent="0" marL="0">
              <a:buNone/>
            </a:pP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f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frontier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n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pPr indent="0" marL="0">
              <a:buNone/>
            </a:pP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p:txBody>
      </p:sp>
      <p:sp>
        <p:nvSpPr>
          <p:cNvPr id="23" name="Text 20"/>
          <p:cNvSpPr txBox="1"/>
          <p:nvPr/>
        </p:nvSpPr>
        <p:spPr>
          <a:xfrm>
            <a:off x="457200" y="451713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4</a:t>
            </a:r>
            <a:endParaRPr lang="en-US" sz="900" dirty="0"/>
          </a:p>
        </p:txBody>
      </p:sp>
      <p:sp>
        <p:nvSpPr>
          <p:cNvPr id="24" name="Text 21"/>
          <p:cNvSpPr txBox="1"/>
          <p:nvPr/>
        </p:nvSpPr>
        <p:spPr>
          <a:xfrm>
            <a:off x="457200" y="477316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5B8C5A"/>
            </a:solidFill>
            <a:prstDash val="solid"/>
          </a:ln>
        </p:spPr>
      </p:sp>
      <p:sp>
        <p:nvSpPr>
          <p:cNvPr id="16" name="Shape 14"/>
          <p:cNvSpPr/>
          <p:nvPr/>
        </p:nvSpPr>
        <p:spPr>
          <a:xfrm>
            <a:off x="3931920" y="1514856"/>
            <a:ext cx="292608" cy="292608"/>
          </a:xfrm>
          <a:prstGeom prst="ellipse">
            <a:avLst/>
          </a:prstGeom>
          <a:solidFill>
            <a:srgbClr val="5B8C5A"/>
          </a:solidFill>
          <a:ln w="12700">
            <a:solidFill>
              <a:srgbClr val="5B8C5A"/>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B6533C"/>
            </a:solidFill>
            <a:prstDash val="solid"/>
          </a:ln>
        </p:spPr>
      </p:sp>
      <p:sp>
        <p:nvSpPr>
          <p:cNvPr id="20" name="Shape 18"/>
          <p:cNvSpPr/>
          <p:nvPr/>
        </p:nvSpPr>
        <p:spPr>
          <a:xfrm>
            <a:off x="3931920" y="2057400"/>
            <a:ext cx="292608" cy="292608"/>
          </a:xfrm>
          <a:prstGeom prst="ellipse">
            <a:avLst/>
          </a:prstGeom>
          <a:solidFill>
            <a:srgbClr val="B6533C"/>
          </a:solidFill>
          <a:ln w="12700">
            <a:solidFill>
              <a:srgbClr val="B6533C"/>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5B8C5A"/>
            </a:solidFill>
            <a:prstDash val="solid"/>
          </a:ln>
        </p:spPr>
      </p:sp>
      <p:sp>
        <p:nvSpPr>
          <p:cNvPr id="24" name="Shape 22"/>
          <p:cNvSpPr/>
          <p:nvPr/>
        </p:nvSpPr>
        <p:spPr>
          <a:xfrm>
            <a:off x="3931920" y="2599944"/>
            <a:ext cx="292608" cy="292608"/>
          </a:xfrm>
          <a:prstGeom prst="ellipse">
            <a:avLst/>
          </a:prstGeom>
          <a:solidFill>
            <a:srgbClr val="5B8C5A"/>
          </a:solidFill>
          <a:ln w="12700">
            <a:solidFill>
              <a:srgbClr val="5B8C5A"/>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9" name="Text 27"/>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pPr indent="0" marL="0">
              <a:buNone/>
            </a:pPr>
            <a:r>
              <a:rPr lang="en-US" sz="900" dirty="0">
                <a:solidFill>
                  <a:srgbClr val="FFD28A"/>
                </a:solidFill>
                <a:latin typeface="Courier New" pitchFamily="34" charset="0"/>
                <a:ea typeface="Courier New" pitchFamily="34" charset="-122"/>
                <a:cs typeface="Courier New" pitchFamily="34" charset="-120"/>
              </a:rPr>
              <a:t>50</a:t>
            </a:r>
            <a:pPr indent="0" marL="0">
              <a:buNone/>
            </a:pPr>
            <a:r>
              <a:rPr lang="en-US" sz="900" dirty="0">
                <a:solidFill>
                  <a:srgbClr val="E6EDF3"/>
                </a:solidFill>
                <a:latin typeface="Courier New" pitchFamily="34" charset="0"/>
                <a:ea typeface="Courier New" pitchFamily="34" charset="-122"/>
                <a:cs typeface="Courier New" pitchFamily="34" charset="-120"/>
              </a:rPr>
              <a:t> * </a:t>
            </a:r>
            <a:pPr indent="0" marL="0">
              <a:buNone/>
            </a:pPr>
            <a:r>
              <a:rPr lang="en-US" sz="900" dirty="0">
                <a:solidFill>
                  <a:srgbClr val="FFD28A"/>
                </a:solidFill>
                <a:latin typeface="Courier New" pitchFamily="34" charset="0"/>
                <a:ea typeface="Courier New" pitchFamily="34" charset="-122"/>
                <a:cs typeface="Courier New" pitchFamily="34" charset="-120"/>
              </a:rPr>
              <a:t>10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8</a:t>
            </a:r>
            <a:pPr indent="0" marL="0">
              <a:buNone/>
            </a:pPr>
            <a:r>
              <a:rPr lang="en-US" sz="900" dirty="0">
                <a:solidFill>
                  <a:srgbClr val="E6EDF3"/>
                </a:solidFill>
                <a:latin typeface="Courier New" pitchFamily="34" charset="0"/>
                <a:ea typeface="Courier New" pitchFamily="34" charset="-122"/>
                <a:cs typeface="Courier New" pitchFamily="34" charset="-120"/>
              </a:rPr>
              <a:t>) &gt;&gt; (height // </a:t>
            </a:r>
            <a:pPr indent="0" marL="0">
              <a:buNone/>
            </a:pPr>
            <a:r>
              <a:rPr lang="en-US" sz="900" dirty="0">
                <a:solidFill>
                  <a:srgbClr val="FFD28A"/>
                </a:solidFill>
                <a:latin typeface="Courier New" pitchFamily="34" charset="0"/>
                <a:ea typeface="Courier New" pitchFamily="34" charset="-122"/>
                <a:cs typeface="Courier New" pitchFamily="34" charset="-120"/>
              </a:rPr>
              <a:t>210000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325_000_000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12_500_000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p:txBody>
      </p:sp>
      <p:sp>
        <p:nvSpPr>
          <p:cNvPr id="30" name="Text 28"/>
          <p:cNvSpPr txBox="1"/>
          <p:nvPr/>
        </p:nvSpPr>
        <p:spPr>
          <a:xfrm>
            <a:off x="457200" y="442569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 True]</a:t>
            </a:r>
            <a:endParaRPr lang="en-US" sz="900" dirty="0"/>
          </a:p>
        </p:txBody>
      </p:sp>
      <p:sp>
        <p:nvSpPr>
          <p:cNvPr id="31" name="Text 29"/>
          <p:cNvSpPr txBox="1"/>
          <p:nvPr/>
        </p:nvSpPr>
        <p:spPr>
          <a:xfrm>
            <a:off x="457200" y="468172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E8B94B"/>
          </a:solidFill>
          <a:ln w="19050">
            <a:solidFill>
              <a:srgbClr val="B98A2B"/>
            </a:solidFill>
            <a:prstDash val="solid"/>
          </a:ln>
        </p:spPr>
      </p:sp>
      <p:sp>
        <p:nvSpPr>
          <p:cNvPr id="11" name="Shape 9"/>
          <p:cNvSpPr/>
          <p:nvPr/>
        </p:nvSpPr>
        <p:spPr>
          <a:xfrm>
            <a:off x="2002536" y="2203704"/>
            <a:ext cx="457200" cy="73152"/>
          </a:xfrm>
          <a:prstGeom prst="rect">
            <a:avLst/>
          </a:prstGeom>
          <a:solidFill>
            <a:srgbClr val="E8B94B"/>
          </a:solidFill>
          <a:ln w="9525">
            <a:solidFill>
              <a:srgbClr val="B98A2B"/>
            </a:solidFill>
            <a:prstDash val="solid"/>
          </a:ln>
        </p:spPr>
      </p:sp>
      <p:sp>
        <p:nvSpPr>
          <p:cNvPr id="12" name="Shape 10"/>
          <p:cNvSpPr/>
          <p:nvPr/>
        </p:nvSpPr>
        <p:spPr>
          <a:xfrm>
            <a:off x="2313432" y="2258568"/>
            <a:ext cx="64008" cy="109728"/>
          </a:xfrm>
          <a:prstGeom prst="rect">
            <a:avLst/>
          </a:prstGeom>
          <a:solidFill>
            <a:srgbClr val="E8B94B"/>
          </a:solidFill>
          <a:ln w="9525">
            <a:solidFill>
              <a:srgbClr val="B98A2B"/>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E8B94B"/>
          </a:solidFill>
          <a:ln w="19050">
            <a:solidFill>
              <a:srgbClr val="B98A2B"/>
            </a:solidFill>
            <a:prstDash val="solid"/>
          </a:ln>
        </p:spPr>
      </p:sp>
      <p:sp>
        <p:nvSpPr>
          <p:cNvPr id="19" name="Shape 17"/>
          <p:cNvSpPr/>
          <p:nvPr/>
        </p:nvSpPr>
        <p:spPr>
          <a:xfrm>
            <a:off x="6345936" y="2203704"/>
            <a:ext cx="457200" cy="73152"/>
          </a:xfrm>
          <a:prstGeom prst="rect">
            <a:avLst/>
          </a:prstGeom>
          <a:solidFill>
            <a:srgbClr val="E8B94B"/>
          </a:solidFill>
          <a:ln w="9525">
            <a:solidFill>
              <a:srgbClr val="B98A2B"/>
            </a:solidFill>
            <a:prstDash val="solid"/>
          </a:ln>
        </p:spPr>
      </p:sp>
      <p:sp>
        <p:nvSpPr>
          <p:cNvPr id="20" name="Shape 18"/>
          <p:cNvSpPr/>
          <p:nvPr/>
        </p:nvSpPr>
        <p:spPr>
          <a:xfrm>
            <a:off x="6656832" y="2258568"/>
            <a:ext cx="64008" cy="109728"/>
          </a:xfrm>
          <a:prstGeom prst="rect">
            <a:avLst/>
          </a:prstGeom>
          <a:solidFill>
            <a:srgbClr val="E8B94B"/>
          </a:solidFill>
          <a:ln w="9525">
            <a:solidFill>
              <a:srgbClr val="B98A2B"/>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 CEO Mark Karpeles files for bankruptcy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led by CEO Mark Karpeles</a:t>
            </a:r>
            <a:endParaRPr lang="en-US" sz="750" dirty="0"/>
          </a:p>
        </p:txBody>
      </p:sp>
      <p:sp>
        <p:nvSpPr>
          <p:cNvPr id="22"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Tokyo; bankruptcy filed at the Tokyo D…</a:t>
            </a:r>
            <a:endParaRPr lang="en-US" sz="750" dirty="0"/>
          </a:p>
        </p:txBody>
      </p:sp>
      <p:sp>
        <p:nvSpPr>
          <p:cNvPr id="24"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8" name="Shape 16"/>
          <p:cNvSpPr/>
          <p:nvPr/>
        </p:nvSpPr>
        <p:spPr>
          <a:xfrm flipV="1">
            <a:off x="4206240" y="1481328"/>
            <a:ext cx="4206240" cy="214884"/>
          </a:xfrm>
          <a:prstGeom prst="trapezoid">
            <a:avLst/>
          </a:prstGeom>
          <a:solidFill>
            <a:srgbClr val="2F6D62"/>
          </a:solidFill>
          <a:ln w="12700">
            <a:solidFill>
              <a:srgbClr val="FFFFFF"/>
            </a:solidFill>
            <a:prstDash val="solid"/>
          </a:ln>
        </p:spPr>
      </p:sp>
      <p:sp>
        <p:nvSpPr>
          <p:cNvPr id="19" name="Text 17"/>
          <p:cNvSpPr txBox="1"/>
          <p:nvPr/>
        </p:nvSpPr>
        <p:spPr>
          <a:xfrm>
            <a:off x="4206240" y="1481328"/>
            <a:ext cx="4206240"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20" name="Shape 18"/>
          <p:cNvSpPr/>
          <p:nvPr/>
        </p:nvSpPr>
        <p:spPr>
          <a:xfrm flipV="1">
            <a:off x="4584802" y="1805940"/>
            <a:ext cx="3449117" cy="214884"/>
          </a:xfrm>
          <a:prstGeom prst="trapezoid">
            <a:avLst/>
          </a:prstGeom>
          <a:solidFill>
            <a:srgbClr val="2F6D62"/>
          </a:solidFill>
          <a:ln w="12700">
            <a:solidFill>
              <a:srgbClr val="FFFFFF"/>
            </a:solidFill>
            <a:prstDash val="solid"/>
          </a:ln>
        </p:spPr>
      </p:sp>
      <p:sp>
        <p:nvSpPr>
          <p:cNvPr id="21" name="Text 19"/>
          <p:cNvSpPr txBox="1"/>
          <p:nvPr/>
        </p:nvSpPr>
        <p:spPr>
          <a:xfrm>
            <a:off x="4584802" y="1805940"/>
            <a:ext cx="3449117"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22" name="Shape 20"/>
          <p:cNvSpPr/>
          <p:nvPr/>
        </p:nvSpPr>
        <p:spPr>
          <a:xfrm flipV="1">
            <a:off x="4963363" y="2130552"/>
            <a:ext cx="2691994" cy="214884"/>
          </a:xfrm>
          <a:prstGeom prst="trapezoid">
            <a:avLst/>
          </a:prstGeom>
          <a:solidFill>
            <a:srgbClr val="2F6D62"/>
          </a:solidFill>
          <a:ln w="12700">
            <a:solidFill>
              <a:srgbClr val="FFFFFF"/>
            </a:solidFill>
            <a:prstDash val="solid"/>
          </a:ln>
        </p:spPr>
      </p:sp>
      <p:sp>
        <p:nvSpPr>
          <p:cNvPr id="23" name="Text 21"/>
          <p:cNvSpPr txBox="1"/>
          <p:nvPr/>
        </p:nvSpPr>
        <p:spPr>
          <a:xfrm>
            <a:off x="4963363" y="2130552"/>
            <a:ext cx="2691994"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4" name="Shape 22"/>
          <p:cNvSpPr/>
          <p:nvPr/>
        </p:nvSpPr>
        <p:spPr>
          <a:xfrm flipV="1">
            <a:off x="5341925" y="2455164"/>
            <a:ext cx="1934870" cy="214884"/>
          </a:xfrm>
          <a:prstGeom prst="trapezoid">
            <a:avLst/>
          </a:prstGeom>
          <a:solidFill>
            <a:srgbClr val="D97A14"/>
          </a:solidFill>
          <a:ln w="12700">
            <a:solidFill>
              <a:srgbClr val="FFFFFF"/>
            </a:solidFill>
            <a:prstDash val="solid"/>
          </a:ln>
        </p:spPr>
      </p:sp>
      <p:sp>
        <p:nvSpPr>
          <p:cNvPr id="25" name="Text 23"/>
          <p:cNvSpPr txBox="1"/>
          <p:nvPr/>
        </p:nvSpPr>
        <p:spPr>
          <a:xfrm>
            <a:off x="5341925" y="2455164"/>
            <a:ext cx="1934870" cy="2148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6" name="Text 24"/>
          <p:cNvSpPr txBox="1"/>
          <p:nvPr/>
        </p:nvSpPr>
        <p:spPr>
          <a:xfrm>
            <a:off x="4206240" y="2816352"/>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7" name="Text 25"/>
          <p:cNvSpPr txBox="1"/>
          <p:nvPr/>
        </p:nvSpPr>
        <p:spPr>
          <a:xfrm>
            <a:off x="3931920" y="29260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3931920" y="3200400"/>
            <a:ext cx="4754880" cy="1325880"/>
          </a:xfrm>
          <a:prstGeom prst="roundRect">
            <a:avLst>
              <a:gd name="adj" fmla="val 6897"/>
            </a:avLst>
          </a:prstGeom>
          <a:solidFill>
            <a:srgbClr val="23272E"/>
          </a:solidFill>
          <a:ln w="12700">
            <a:solidFill>
              <a:srgbClr val="23272E"/>
            </a:solidFill>
            <a:prstDash val="solid"/>
          </a:ln>
        </p:spPr>
      </p:sp>
      <p:sp>
        <p:nvSpPr>
          <p:cNvPr id="29" name="Text 27"/>
          <p:cNvSpPr txBox="1"/>
          <p:nvPr/>
        </p:nvSpPr>
        <p:spPr>
          <a:xfrm>
            <a:off x="4114800" y="3319272"/>
            <a:ext cx="4389120" cy="108813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pPr indent="0" marL="0">
              <a:buNone/>
            </a:pPr>
            <a:r>
              <a:rPr lang="en-US" sz="800" dirty="0">
                <a:solidFill>
                  <a:srgbClr val="E6EDF3"/>
                </a:solidFill>
                <a:latin typeface="Courier New" pitchFamily="34" charset="0"/>
                <a:ea typeface="Courier New" pitchFamily="34" charset="-122"/>
                <a:cs typeface="Courier New" pitchFamily="34" charset="-120"/>
              </a:rPr>
              <a:t> hmac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password, salt, iters = b</a:t>
            </a:r>
            <a:pPr indent="0" marL="0">
              <a:buNone/>
            </a:pPr>
            <a:r>
              <a:rPr lang="en-US" sz="800" dirty="0">
                <a:solidFill>
                  <a:srgbClr val="9ECBFF"/>
                </a:solidFill>
                <a:latin typeface="Courier New" pitchFamily="34" charset="0"/>
                <a:ea typeface="Courier New" pitchFamily="34" charset="-122"/>
                <a:cs typeface="Courier New" pitchFamily="34" charset="-120"/>
              </a:rPr>
              <a:t>'abandon'</a:t>
            </a:r>
            <a:pPr indent="0" marL="0">
              <a:buNone/>
            </a:pPr>
            <a:r>
              <a:rPr lang="en-US" sz="800" dirty="0">
                <a:solidFill>
                  <a:srgbClr val="E6EDF3"/>
                </a:solidFill>
                <a:latin typeface="Courier New" pitchFamily="34" charset="0"/>
                <a:ea typeface="Courier New" pitchFamily="34" charset="-122"/>
                <a:cs typeface="Courier New" pitchFamily="34" charset="-120"/>
              </a:rPr>
              <a:t>, b</a:t>
            </a:r>
            <a:pPr indent="0" marL="0">
              <a:buNone/>
            </a:pPr>
            <a:r>
              <a:rPr lang="en-US" sz="800" dirty="0">
                <a:solidFill>
                  <a:srgbClr val="9ECBFF"/>
                </a:solidFill>
                <a:latin typeface="Courier New" pitchFamily="34" charset="0"/>
                <a:ea typeface="Courier New" pitchFamily="34" charset="-122"/>
                <a:cs typeface="Courier New" pitchFamily="34" charset="-120"/>
              </a:rPr>
              <a:t>'mnemonic'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2048</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hmac.new(password, salt + bytes([</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seed = u</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range(iters -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 = hmac.new(password, u,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seed = bytes(a ^ b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a, b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zip(seed,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(len(seed), seed.hex()[:</a:t>
            </a:r>
            <a:pPr indent="0" marL="0">
              <a:buNone/>
            </a:pPr>
            <a:r>
              <a:rPr lang="en-US" sz="800" dirty="0">
                <a:solidFill>
                  <a:srgbClr val="FFD28A"/>
                </a:solidFill>
                <a:latin typeface="Courier New" pitchFamily="34" charset="0"/>
                <a:ea typeface="Courier New" pitchFamily="34" charset="-122"/>
                <a:cs typeface="Courier New" pitchFamily="34" charset="-120"/>
              </a:rPr>
              <a:t>8</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30" name="Text 28"/>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(64, 'd96147bf')</a:t>
            </a:r>
            <a:endParaRPr lang="en-US" sz="900" dirty="0"/>
          </a:p>
        </p:txBody>
      </p:sp>
      <p:sp>
        <p:nvSpPr>
          <p:cNvPr id="31" name="Text 29"/>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761488"/>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761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72491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20" name="Shape 18"/>
          <p:cNvSpPr/>
          <p:nvPr/>
        </p:nvSpPr>
        <p:spPr>
          <a:xfrm>
            <a:off x="457200" y="3340608"/>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340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30403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3" name="Shape 21"/>
          <p:cNvSpPr/>
          <p:nvPr/>
        </p:nvSpPr>
        <p:spPr>
          <a:xfrm>
            <a:off x="457200" y="3919728"/>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919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88315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6" name="Text 24"/>
          <p:cNvSpPr txBox="1"/>
          <p:nvPr/>
        </p:nvSpPr>
        <p:spPr>
          <a:xfrm>
            <a:off x="3931920" y="263347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7" name="Shape 25"/>
          <p:cNvSpPr/>
          <p:nvPr/>
        </p:nvSpPr>
        <p:spPr>
          <a:xfrm>
            <a:off x="5212080" y="2660904"/>
            <a:ext cx="2240280" cy="310896"/>
          </a:xfrm>
          <a:prstGeom prst="roundRect">
            <a:avLst>
              <a:gd name="adj" fmla="val 14706"/>
            </a:avLst>
          </a:prstGeom>
          <a:solidFill>
            <a:srgbClr val="D97A14"/>
          </a:solidFill>
          <a:ln w="12700">
            <a:solidFill>
              <a:srgbClr val="D97A14"/>
            </a:solidFill>
            <a:prstDash val="solid"/>
          </a:ln>
        </p:spPr>
      </p:sp>
      <p:sp>
        <p:nvSpPr>
          <p:cNvPr id="28" name="Text 26"/>
          <p:cNvSpPr txBox="1"/>
          <p:nvPr/>
        </p:nvSpPr>
        <p:spPr>
          <a:xfrm>
            <a:off x="7507224" y="266090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9" name="Text 27"/>
          <p:cNvSpPr txBox="1"/>
          <p:nvPr/>
        </p:nvSpPr>
        <p:spPr>
          <a:xfrm>
            <a:off x="3931920" y="287731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30" name="Shape 28"/>
          <p:cNvSpPr/>
          <p:nvPr/>
        </p:nvSpPr>
        <p:spPr>
          <a:xfrm>
            <a:off x="5212080" y="2904744"/>
            <a:ext cx="1556805" cy="310896"/>
          </a:xfrm>
          <a:prstGeom prst="roundRect">
            <a:avLst>
              <a:gd name="adj" fmla="val 14706"/>
            </a:avLst>
          </a:prstGeom>
          <a:solidFill>
            <a:srgbClr val="2F6D62"/>
          </a:solidFill>
          <a:ln w="12700">
            <a:solidFill>
              <a:srgbClr val="2F6D62"/>
            </a:solidFill>
            <a:prstDash val="solid"/>
          </a:ln>
        </p:spPr>
      </p:sp>
      <p:sp>
        <p:nvSpPr>
          <p:cNvPr id="31" name="Text 29"/>
          <p:cNvSpPr txBox="1"/>
          <p:nvPr/>
        </p:nvSpPr>
        <p:spPr>
          <a:xfrm>
            <a:off x="6823749" y="290474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32" name="Text 30"/>
          <p:cNvSpPr txBox="1"/>
          <p:nvPr/>
        </p:nvSpPr>
        <p:spPr>
          <a:xfrm>
            <a:off x="3931920" y="31211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3" name="Shape 31"/>
          <p:cNvSpPr/>
          <p:nvPr/>
        </p:nvSpPr>
        <p:spPr>
          <a:xfrm>
            <a:off x="5212080" y="3148584"/>
            <a:ext cx="109728" cy="310896"/>
          </a:xfrm>
          <a:prstGeom prst="roundRect">
            <a:avLst>
              <a:gd name="adj" fmla="val 41667"/>
            </a:avLst>
          </a:prstGeom>
          <a:solidFill>
            <a:srgbClr val="D97A14"/>
          </a:solidFill>
          <a:ln w="12700">
            <a:solidFill>
              <a:srgbClr val="D97A14"/>
            </a:solidFill>
            <a:prstDash val="solid"/>
          </a:ln>
        </p:spPr>
      </p:sp>
      <p:sp>
        <p:nvSpPr>
          <p:cNvPr id="34" name="Text 32"/>
          <p:cNvSpPr txBox="1"/>
          <p:nvPr/>
        </p:nvSpPr>
        <p:spPr>
          <a:xfrm>
            <a:off x="5376672" y="31485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3931920" y="3493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6" name="Shape 34"/>
          <p:cNvSpPr/>
          <p:nvPr/>
        </p:nvSpPr>
        <p:spPr>
          <a:xfrm>
            <a:off x="3931920" y="3767328"/>
            <a:ext cx="4754880" cy="758952"/>
          </a:xfrm>
          <a:prstGeom prst="roundRect">
            <a:avLst>
              <a:gd name="adj" fmla="val 12048"/>
            </a:avLst>
          </a:prstGeom>
          <a:solidFill>
            <a:srgbClr val="23272E"/>
          </a:solidFill>
          <a:ln w="12700">
            <a:solidFill>
              <a:srgbClr val="23272E"/>
            </a:solidFill>
            <a:prstDash val="solid"/>
          </a:ln>
        </p:spPr>
      </p:sp>
      <p:sp>
        <p:nvSpPr>
          <p:cNvPr id="37" name="Text 35"/>
          <p:cNvSpPr txBox="1"/>
          <p:nvPr/>
        </p:nvSpPr>
        <p:spPr>
          <a:xfrm>
            <a:off x="4114800" y="3886200"/>
            <a:ext cx="4389120" cy="5212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onchain, a, b = </a:t>
            </a:r>
            <a:pPr indent="0" marL="0">
              <a:buNone/>
            </a:pPr>
            <a:r>
              <a:rPr lang="en-US" sz="800" dirty="0">
                <a:solidFill>
                  <a:srgbClr val="FFD28A"/>
                </a:solidFill>
                <a:latin typeface="Courier New" pitchFamily="34" charset="0"/>
                <a:ea typeface="Courier New" pitchFamily="34" charset="-122"/>
                <a:cs typeface="Courier New" pitchFamily="34" charset="-120"/>
              </a:rPr>
              <a:t>2</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60_000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40_000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a:t>
            </a:r>
            <a:pPr indent="0" marL="0">
              <a:buNone/>
            </a:pPr>
            <a:r>
              <a:rPr lang="en-US" sz="800" dirty="0">
                <a:solidFill>
                  <a:srgbClr val="FFD28A"/>
                </a:solidFill>
                <a:latin typeface="Courier New" pitchFamily="34" charset="0"/>
                <a:ea typeface="Courier New" pitchFamily="34" charset="-122"/>
                <a:cs typeface="Courier New" pitchFamily="34" charset="-120"/>
              </a:rPr>
              <a:t>100</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 b = a - </a:t>
            </a:r>
            <a:pPr indent="0" marL="0">
              <a:buNone/>
            </a:pPr>
            <a:r>
              <a:rPr lang="en-US" sz="800" dirty="0">
                <a:solidFill>
                  <a:srgbClr val="FFD28A"/>
                </a:solidFill>
                <a:latin typeface="Courier New" pitchFamily="34" charset="0"/>
                <a:ea typeface="Courier New" pitchFamily="34" charset="-122"/>
                <a:cs typeface="Courier New" pitchFamily="34" charset="-120"/>
              </a:rPr>
              <a:t>10</a:t>
            </a:r>
            <a:pPr indent="0" marL="0">
              <a:buNone/>
            </a:pPr>
            <a:r>
              <a:rPr lang="en-US" sz="800" dirty="0">
                <a:solidFill>
                  <a:srgbClr val="E6EDF3"/>
                </a:solidFill>
                <a:latin typeface="Courier New" pitchFamily="34" charset="0"/>
                <a:ea typeface="Courier New" pitchFamily="34" charset="-122"/>
                <a:cs typeface="Courier New" pitchFamily="34" charset="-120"/>
              </a:rPr>
              <a:t>, b + </a:t>
            </a:r>
            <a:pPr indent="0" marL="0">
              <a:buNone/>
            </a:pPr>
            <a:r>
              <a:rPr lang="en-US" sz="800" dirty="0">
                <a:solidFill>
                  <a:srgbClr val="FFD28A"/>
                </a:solidFill>
                <a:latin typeface="Courier New" pitchFamily="34" charset="0"/>
                <a:ea typeface="Courier New" pitchFamily="34" charset="-122"/>
                <a:cs typeface="Courier New" pitchFamily="34" charset="-120"/>
              </a:rPr>
              <a:t>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(a, b, a + b, onchain)</a:t>
            </a:r>
            <a:endParaRPr lang="en-US" sz="800" dirty="0"/>
          </a:p>
        </p:txBody>
      </p:sp>
      <p:sp>
        <p:nvSpPr>
          <p:cNvPr id="38" name="Text 36"/>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(59000, 41000, 100000, 2)</a:t>
            </a:r>
            <a:endParaRPr lang="en-US" sz="900" dirty="0"/>
          </a:p>
        </p:txBody>
      </p:sp>
      <p:sp>
        <p:nvSpPr>
          <p:cNvPr id="39" name="Text 37"/>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5" name="Shape 13"/>
          <p:cNvSpPr/>
          <p:nvPr/>
        </p:nvSpPr>
        <p:spPr>
          <a:xfrm>
            <a:off x="3840480" y="1426464"/>
            <a:ext cx="1371600" cy="841248"/>
          </a:xfrm>
          <a:prstGeom prst="roundRect">
            <a:avLst>
              <a:gd name="adj" fmla="val 8696"/>
            </a:avLst>
          </a:prstGeom>
          <a:solidFill>
            <a:srgbClr val="F2ECE1"/>
          </a:solidFill>
          <a:ln w="22225">
            <a:solidFill>
              <a:srgbClr val="5B8C5A"/>
            </a:solidFill>
            <a:prstDash val="solid"/>
          </a:ln>
        </p:spPr>
      </p:sp>
      <p:sp>
        <p:nvSpPr>
          <p:cNvPr id="16" name="Text 14"/>
          <p:cNvSpPr txBox="1"/>
          <p:nvPr/>
        </p:nvSpPr>
        <p:spPr>
          <a:xfrm>
            <a:off x="3840480" y="148132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17" name="Text 15"/>
          <p:cNvSpPr txBox="1"/>
          <p:nvPr/>
        </p:nvSpPr>
        <p:spPr>
          <a:xfrm>
            <a:off x="3886200" y="179222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8" name="Shape 16"/>
          <p:cNvSpPr/>
          <p:nvPr/>
        </p:nvSpPr>
        <p:spPr>
          <a:xfrm>
            <a:off x="5212080" y="1847088"/>
            <a:ext cx="365760" cy="0"/>
          </a:xfrm>
          <a:prstGeom prst="line">
            <a:avLst/>
          </a:prstGeom>
          <a:noFill/>
          <a:ln w="25400">
            <a:solidFill>
              <a:srgbClr val="B6533C"/>
            </a:solidFill>
            <a:prstDash val="solid"/>
            <a:tailEnd type="triangle"/>
          </a:ln>
        </p:spPr>
      </p:sp>
      <p:sp>
        <p:nvSpPr>
          <p:cNvPr id="19" name="Shape 17"/>
          <p:cNvSpPr/>
          <p:nvPr/>
        </p:nvSpPr>
        <p:spPr>
          <a:xfrm>
            <a:off x="5577840" y="1426464"/>
            <a:ext cx="1371600" cy="841248"/>
          </a:xfrm>
          <a:prstGeom prst="roundRect">
            <a:avLst>
              <a:gd name="adj" fmla="val 8696"/>
            </a:avLst>
          </a:prstGeom>
          <a:solidFill>
            <a:srgbClr val="F3DED6"/>
          </a:solidFill>
          <a:ln w="22225">
            <a:solidFill>
              <a:srgbClr val="B6533C"/>
            </a:solidFill>
            <a:prstDash val="solid"/>
          </a:ln>
        </p:spPr>
      </p:sp>
      <p:sp>
        <p:nvSpPr>
          <p:cNvPr id="20" name="Text 18"/>
          <p:cNvSpPr txBox="1"/>
          <p:nvPr/>
        </p:nvSpPr>
        <p:spPr>
          <a:xfrm>
            <a:off x="557784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21" name="Text 19"/>
          <p:cNvSpPr txBox="1"/>
          <p:nvPr/>
        </p:nvSpPr>
        <p:spPr>
          <a:xfrm>
            <a:off x="562356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22" name="Shape 20"/>
          <p:cNvSpPr/>
          <p:nvPr/>
        </p:nvSpPr>
        <p:spPr>
          <a:xfrm>
            <a:off x="6949440" y="1847088"/>
            <a:ext cx="365760" cy="0"/>
          </a:xfrm>
          <a:prstGeom prst="line">
            <a:avLst/>
          </a:prstGeom>
          <a:noFill/>
          <a:ln w="25400">
            <a:solidFill>
              <a:srgbClr val="B6533C"/>
            </a:solidFill>
            <a:prstDash val="solid"/>
            <a:tailEnd type="triangle"/>
          </a:ln>
        </p:spPr>
      </p:sp>
      <p:sp>
        <p:nvSpPr>
          <p:cNvPr id="23" name="Shape 21"/>
          <p:cNvSpPr/>
          <p:nvPr/>
        </p:nvSpPr>
        <p:spPr>
          <a:xfrm>
            <a:off x="7315200" y="1426464"/>
            <a:ext cx="1371600" cy="841248"/>
          </a:xfrm>
          <a:prstGeom prst="roundRect">
            <a:avLst>
              <a:gd name="adj" fmla="val 8696"/>
            </a:avLst>
          </a:prstGeom>
          <a:solidFill>
            <a:srgbClr val="F3DED6"/>
          </a:solidFill>
          <a:ln w="22225">
            <a:solidFill>
              <a:srgbClr val="B6533C"/>
            </a:solidFill>
            <a:prstDash val="solid"/>
          </a:ln>
        </p:spPr>
      </p:sp>
      <p:sp>
        <p:nvSpPr>
          <p:cNvPr id="24" name="Text 22"/>
          <p:cNvSpPr txBox="1"/>
          <p:nvPr/>
        </p:nvSpPr>
        <p:spPr>
          <a:xfrm>
            <a:off x="731520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25" name="Text 23"/>
          <p:cNvSpPr txBox="1"/>
          <p:nvPr/>
        </p:nvSpPr>
        <p:spPr>
          <a:xfrm>
            <a:off x="736092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26" name="Text 24"/>
          <p:cNvSpPr txBox="1"/>
          <p:nvPr/>
        </p:nvSpPr>
        <p:spPr>
          <a:xfrm>
            <a:off x="3840480" y="2340864"/>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pPr indent="0" marL="0">
              <a:buNone/>
            </a:pPr>
            <a:r>
              <a:rPr lang="en-US" sz="780" dirty="0">
                <a:solidFill>
                  <a:srgbClr val="E6EDF3"/>
                </a:solidFill>
                <a:latin typeface="Courier New" pitchFamily="34" charset="0"/>
                <a:ea typeface="Courier New" pitchFamily="34" charset="-122"/>
                <a:cs typeface="Courier New" pitchFamily="34" charset="-120"/>
              </a:rPr>
              <a:t> hashlib</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link(prev, data):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hashlib.sha256((prev + data).encode()).hexdigest()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data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 pays Eve 2'</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'Eve pays Joe 3'</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build(items):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hs, prev = [], </a:t>
            </a:r>
            <a:pPr indent="0" marL="0">
              <a:buNone/>
            </a:pPr>
            <a:r>
              <a:rPr lang="en-US" sz="780" dirty="0">
                <a:solidFill>
                  <a:srgbClr val="9ECBFF"/>
                </a:solidFill>
                <a:latin typeface="Courier New" pitchFamily="34" charset="0"/>
                <a:ea typeface="Courier New" pitchFamily="34" charset="-122"/>
                <a:cs typeface="Courier New" pitchFamily="34" charset="-120"/>
              </a:rPr>
              <a:t>'genesis'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d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prev = link(prev, d); hs.append(prev)</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stored = build(data)</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tampered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100'</a:t>
            </a:r>
            <a:pPr indent="0" marL="0">
              <a:buNone/>
            </a:pPr>
            <a:r>
              <a:rPr lang="en-US" sz="780" dirty="0">
                <a:solidFill>
                  <a:srgbClr val="E6EDF3"/>
                </a:solidFill>
                <a:latin typeface="Courier New" pitchFamily="34" charset="0"/>
                <a:ea typeface="Courier New" pitchFamily="34" charset="-122"/>
                <a:cs typeface="Courier New" pitchFamily="34" charset="-120"/>
              </a:rPr>
              <a:t>] + data[</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5" name="Shape 13"/>
          <p:cNvSpPr/>
          <p:nvPr/>
        </p:nvSpPr>
        <p:spPr>
          <a:xfrm>
            <a:off x="4453128" y="1938528"/>
            <a:ext cx="902208" cy="0"/>
          </a:xfrm>
          <a:prstGeom prst="line">
            <a:avLst/>
          </a:prstGeom>
          <a:noFill/>
          <a:ln w="28575">
            <a:solidFill>
              <a:srgbClr val="D97A14"/>
            </a:solidFill>
            <a:prstDash val="solid"/>
            <a:tailEnd type="triangle"/>
          </a:ln>
        </p:spPr>
      </p:sp>
      <p:sp>
        <p:nvSpPr>
          <p:cNvPr id="16" name="Shape 14"/>
          <p:cNvSpPr/>
          <p:nvPr/>
        </p:nvSpPr>
        <p:spPr>
          <a:xfrm>
            <a:off x="4032504" y="1719072"/>
            <a:ext cx="438912" cy="438912"/>
          </a:xfrm>
          <a:prstGeom prst="ellipse">
            <a:avLst/>
          </a:prstGeom>
          <a:solidFill>
            <a:srgbClr val="D97A14"/>
          </a:solidFill>
          <a:ln w="19050">
            <a:solidFill>
              <a:srgbClr val="FFFFFF"/>
            </a:solidFill>
            <a:prstDash val="solid"/>
          </a:ln>
        </p:spPr>
      </p:sp>
      <p:sp>
        <p:nvSpPr>
          <p:cNvPr id="17" name="Text 15"/>
          <p:cNvSpPr txBox="1"/>
          <p:nvPr/>
        </p:nvSpPr>
        <p:spPr>
          <a:xfrm>
            <a:off x="370332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8" name="Shape 16"/>
          <p:cNvSpPr/>
          <p:nvPr/>
        </p:nvSpPr>
        <p:spPr>
          <a:xfrm>
            <a:off x="5794248" y="1938528"/>
            <a:ext cx="902208" cy="0"/>
          </a:xfrm>
          <a:prstGeom prst="line">
            <a:avLst/>
          </a:prstGeom>
          <a:noFill/>
          <a:ln w="28575">
            <a:solidFill>
              <a:srgbClr val="D97A14"/>
            </a:solidFill>
            <a:prstDash val="solid"/>
            <a:tailEnd type="triangle"/>
          </a:ln>
        </p:spPr>
      </p:sp>
      <p:sp>
        <p:nvSpPr>
          <p:cNvPr id="19" name="Shape 17"/>
          <p:cNvSpPr/>
          <p:nvPr/>
        </p:nvSpPr>
        <p:spPr>
          <a:xfrm>
            <a:off x="5373624" y="1719072"/>
            <a:ext cx="438912" cy="438912"/>
          </a:xfrm>
          <a:prstGeom prst="ellipse">
            <a:avLst/>
          </a:prstGeom>
          <a:solidFill>
            <a:srgbClr val="2F6D62"/>
          </a:solidFill>
          <a:ln w="19050">
            <a:solidFill>
              <a:srgbClr val="FFFFFF"/>
            </a:solidFill>
            <a:prstDash val="solid"/>
          </a:ln>
        </p:spPr>
      </p:sp>
      <p:sp>
        <p:nvSpPr>
          <p:cNvPr id="20" name="Text 18"/>
          <p:cNvSpPr txBox="1"/>
          <p:nvPr/>
        </p:nvSpPr>
        <p:spPr>
          <a:xfrm>
            <a:off x="504444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21" name="Shape 19"/>
          <p:cNvSpPr/>
          <p:nvPr/>
        </p:nvSpPr>
        <p:spPr>
          <a:xfrm>
            <a:off x="7135368" y="1938528"/>
            <a:ext cx="902208" cy="0"/>
          </a:xfrm>
          <a:prstGeom prst="line">
            <a:avLst/>
          </a:prstGeom>
          <a:noFill/>
          <a:ln w="28575">
            <a:solidFill>
              <a:srgbClr val="D97A14"/>
            </a:solidFill>
            <a:prstDash val="solid"/>
            <a:tailEnd type="triangle"/>
          </a:ln>
        </p:spPr>
      </p:sp>
      <p:sp>
        <p:nvSpPr>
          <p:cNvPr id="22" name="Shape 20"/>
          <p:cNvSpPr/>
          <p:nvPr/>
        </p:nvSpPr>
        <p:spPr>
          <a:xfrm>
            <a:off x="6714744" y="1719072"/>
            <a:ext cx="438912" cy="438912"/>
          </a:xfrm>
          <a:prstGeom prst="ellipse">
            <a:avLst/>
          </a:prstGeom>
          <a:solidFill>
            <a:srgbClr val="2F6D62"/>
          </a:solidFill>
          <a:ln w="19050">
            <a:solidFill>
              <a:srgbClr val="FFFFFF"/>
            </a:solidFill>
            <a:prstDash val="solid"/>
          </a:ln>
        </p:spPr>
      </p:sp>
      <p:sp>
        <p:nvSpPr>
          <p:cNvPr id="23" name="Text 21"/>
          <p:cNvSpPr txBox="1"/>
          <p:nvPr/>
        </p:nvSpPr>
        <p:spPr>
          <a:xfrm>
            <a:off x="638556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4" name="Shape 22"/>
          <p:cNvSpPr/>
          <p:nvPr/>
        </p:nvSpPr>
        <p:spPr>
          <a:xfrm>
            <a:off x="8055864" y="1719072"/>
            <a:ext cx="438912" cy="438912"/>
          </a:xfrm>
          <a:prstGeom prst="ellipse">
            <a:avLst/>
          </a:prstGeom>
          <a:solidFill>
            <a:srgbClr val="D97A14"/>
          </a:solidFill>
          <a:ln w="19050">
            <a:solidFill>
              <a:srgbClr val="FFFFFF"/>
            </a:solidFill>
            <a:prstDash val="solid"/>
          </a:ln>
        </p:spPr>
      </p:sp>
      <p:sp>
        <p:nvSpPr>
          <p:cNvPr id="25" name="Text 23"/>
          <p:cNvSpPr txBox="1"/>
          <p:nvPr/>
        </p:nvSpPr>
        <p:spPr>
          <a:xfrm>
            <a:off x="772668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6" name="Text 24"/>
          <p:cNvSpPr txBox="1"/>
          <p:nvPr/>
        </p:nvSpPr>
        <p:spPr>
          <a:xfrm>
            <a:off x="3931920" y="2596896"/>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channels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nbr = {}</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path, frontier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nxt =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frontier: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nbr[x]: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 path[y] = path[x] + [y]; nxt.append(y)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frontier = nxt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len(path[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(['Alice', 'Bob', 'Carol', 'Dave'], 3,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Developer documentation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block 0 came from here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20" name="Shape 18"/>
          <p:cNvSpPr/>
          <p:nvPr/>
        </p:nvSpPr>
        <p:spPr>
          <a:xfrm>
            <a:off x="493776" y="404164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968496"/>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CoinGecko - market data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5" name="Shape 23"/>
          <p:cNvSpPr/>
          <p:nvPr/>
        </p:nvSpPr>
        <p:spPr>
          <a:xfrm>
            <a:off x="4768596" y="204825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a:t>
            </a:r>
            <a:endParaRPr lang="en-US" sz="1000" dirty="0"/>
          </a:p>
        </p:txBody>
      </p:sp>
      <p:sp>
        <p:nvSpPr>
          <p:cNvPr id="27" name="Text 25"/>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2491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hashcash.org</a:t>
            </a:r>
            <a:endParaRPr lang="en-US" sz="1000" dirty="0"/>
          </a:p>
        </p:txBody>
      </p:sp>
      <p:sp>
        <p:nvSpPr>
          <p:cNvPr id="30" name="Shape 28"/>
          <p:cNvSpPr/>
          <p:nvPr/>
        </p:nvSpPr>
        <p:spPr>
          <a:xfrm>
            <a:off x="4768596" y="30540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b-money, Wei Dai (1998)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00" dirty="0"/>
          </a:p>
        </p:txBody>
      </p:sp>
      <p:sp>
        <p:nvSpPr>
          <p:cNvPr id="32" name="Shape 30"/>
          <p:cNvSpPr/>
          <p:nvPr/>
        </p:nvSpPr>
        <p:spPr>
          <a:xfrm>
            <a:off x="4768596" y="338328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2026-10-06T09:19:51Z</dcterms:created>
  <dcterms:modified xsi:type="dcterms:W3CDTF">2026-10-06T09:19:51Z</dcterms:modified>
</cp:coreProperties>
</file>