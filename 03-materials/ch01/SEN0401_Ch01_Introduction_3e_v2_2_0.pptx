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Block subsidy per era of 210,000 blocks (BTC)</a:t>
            </a:r>
          </a:p>
        </c:rich>
      </c:tx>
      <c:layout/>
      <c:overlay val="0"/>
    </c:title>
    <c:autoTitleDeleted val="0"/>
    <c:plotArea>
      <c:layout/>
      <c:lineChart>
        <c:varyColors val="0"/>
        <c:ser>
          <c:idx val="0"/>
          <c:order val="0"/>
          <c:tx>
            <c:strRef>
              <c:f>Sheet1!$B$1</c:f>
              <c:strCache>
                <c:ptCount val="1"/>
                <c:pt idx="0">
                  <c:v>subsidy</c:v>
                </c:pt>
              </c:strCache>
            </c:strRef>
          </c:tx>
          <c:spPr>
            <a:solidFill>
              <a:srgbClr val="D97A14"/>
            </a:solidFill>
            <a:ln w="31750" cap="flat">
              <a:solidFill>
                <a:srgbClr val="D97A1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D97A14"/>
              </a:solidFill>
              <a:ln w="9525" cap="flat">
                <a:solidFill>
                  <a:srgbClr val="D97A14"/>
                </a:solidFill>
                <a:prstDash val="solid"/>
                <a:round/>
              </a:ln>
              <a:effectLst/>
            </c:spPr>
          </c:marker>
          <c:cat>
            <c:multiLvlStrRef>
              <c:f>Sheet1!$A$2:$A$10</c:f>
              <c:multiLvlStrCache>
                <c:ptCount val="9"/>
                <c:lvl>
                  <c:pt idx="0">
                    <c:v>era 0</c:v>
                  </c:pt>
                  <c:pt idx="1">
                    <c:v>era 1</c:v>
                  </c:pt>
                  <c:pt idx="2">
                    <c:v>era 2</c:v>
                  </c:pt>
                  <c:pt idx="3">
                    <c:v>era 3</c:v>
                  </c:pt>
                  <c:pt idx="4">
                    <c:v>era 4</c:v>
                  </c:pt>
                  <c:pt idx="5">
                    <c:v>era 5</c:v>
                  </c:pt>
                  <c:pt idx="6">
                    <c:v>era 6</c:v>
                  </c:pt>
                  <c:pt idx="7">
                    <c:v>era 7</c:v>
                  </c:pt>
                  <c:pt idx="8">
                    <c:v>era 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branches are the chapter's own: Money, Network, Wallet, Usage, Foundations, Nature. Say at the start that the order of the lecture is the order of the taxonomy, so that a student who opens the interactive page afterwards finds the same tree. Concepts are corpus-derived from the 3rd edition's chapter 1 through the Stage 1 research record; the explanations were rewritten for version 1.2.0 from the documents and files listed at the head of this module, each read for this version, with every quotation re-read from its saved copy and every number recomputed by a claim that the builder executes; the supporting concepts (the cryptographic primitives, the parts of the chain, the everyday computing terms, the two threats, the objects of a payment and the standards bodies) were added because an audit of the terms used in the explanations fo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course outcome aloud and say which part of it this chapter reaches. The chapter's objectives are the page's own and are what the question bank and the mock exam are written against. Course outcome LO-1 is recorded as a draft that the course owner has not yet approved, so present it as the direction of the course rather than as a settled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 Network, Wallet, Usage, Foundations, Nature.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(3 January 2009): The first Bitcoin block ever mined carries a piece of that morning's newspaper: 'The Times 03/Jan/2009 Chancellor on brink of second bailout for banks'. It proves the block could not have been made earlier than that headline, and at the same time records why the system was built - in the middle of a banking crisis, by someone who wanted money that needs no bailout and no bank.
SOURCE: Bitcoin genesis block coinbase text, block 0, 2009-01-03; The Times front page of 3 January 2009; https://en.wikipedia.org/wiki/Bitcoin (genesis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(January 2009): Nine days after the genesis block, Satoshi Nakamoto sent 10 bitcoin to Hal Finney, a veteran cryptographer who had answered the whitepaper with curiosity instead of dismissal and famously tweeted 'Running bitcoin'. Finney had worked on PGP and had built the first reusable proof-of-work system years before Bitcoin existed - the first payment went to someone who had spent a career preparing for it.
SOURCE: Bitcoin block 170, 2009-01-12, the first bitcoin transaction (Satoshi Nakamoto to Hal Finney, 10 BTC); Hal Finney, 'Running bitcoin', twitter.com/halfin, 2009-01-10.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(1982 - 2008): Bitcoin was not a first attempt. David Chaum designed blind-signature ecash in the 1980s and his company DigiCash went bankrupt; Adam Back built Hashcash's proof-of-work in 1997 to price email spam; Wei Dai sketched b-money and Nick Szabo bit gold in 1998, both unbuilt for want of a way to agree without a leader. Satoshi's 2008 whitepaper cites them and adds the missing piece - proof-of-work as the voting weight of an open network - turning four decades of near-misses into a running system.
SOURCE: S. Nakamoto, 'Bitcoin: A Peer-to-Peer Electronic Cash System' (2008), references; A. Back, Hashcash (1997); W. Dai, b-money (1998); N. Szabo, bit gold; D. Chaum, 'Blind signatures for untraceable payments' (1982).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Chapter 1 begins by saying that Bitcoin is a collection of concepts and technologies that form the basis of a digital money ecosystem, and that units of currency called bitcoin are used to store and transmit value among the participants of the Bitcoin network (Antonopoulos and Harding, 2023).
FULL TEXT: course page, chapter 1 -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(Yap, documented 1903): On the island of Yap, wealth was held in rai - limestone discs up to four metres wide, far too heavy to move. When a stone changed owners, the stone stayed where it lay; what changed was the community's shared memory of who owned it. One famous stone sank to the sea floor in transit, and the islanders kept trading it anyway, because everyone agreed it existed and whose it was.
SOURCE: W. H. Furness III, The Island of Stone Money (1910); Milton Friedman, 'The Island of Stone Money', Hoover Institution Working Paper E-91-3 (1991).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Unit section answers the first question that any money raises, namely what the money is called and in what pieces it is counted. It contains the name of the currency, with its distinction between the unit and the system, and the smallest subdivision that can be recorded, the satoshi.
ASK: How many satoshis buy a coffee at today's price?
FULL TEXT: course page, chapter 1 -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ASK: Why does the sum stop just short of 21 million?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Supply section is about how much bitcoin exists and how the amount grows. The chapter says that the protocol periodically decreases the number of new bitcoins that are created, limiting the total to a fixed number just below 21 million, so that the number in circulation follows a predictable curve (Antonopoulos and Harding, 2023).
FULL TEXT: course page, chapter 1 - Supply, Issuance.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Price section addresses a question that every newcomer asks, namely who sets the price of bitcoin. The chapter's short answer is that the price is set by markets (Antonopoulos and Harding, 2023).
FULL TEXT: course page, chapter 1 -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(22 May 2010): For Bitcoin's first year and a half, nobody knew what a bitcoin was worth, because nobody had ever bought anything with one. Then Laszlo Hanyecz, a Florida programmer, offered 10,000 BTC on a forum to anyone who would bring him two pizzas - and someone did. That order, the first known commercial purchase paid in bitcoin, is why 22 May is still celebrated as Bitcoin Pizza Day: it is the day a floating price began to exist.
SOURCE: Guinness World Records, 'First commercial Bitcoin transaction' (Laszlo Hanyecz, 2010-05-22, 10,000 BTC for two pizzas); bitcointalk.org thread 'Pizza for bitcoins?', May 2010.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ASK: What breaks first in each picture if one machine lies?
FULL TEXT: course page, chapter 1 - Network,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Network branch is about the community of computers that runs Bitcoin and the way it agrees on a single history without a leader. The chapter describes Bitcoin as a distributed, peer-to-peer system in which there is no central server or point of control, and as a protocol, a peer-to-peer network, and a distributed computing innovation (Antonopoulos and Harding, 2023).
FULL TEXT: course page, chapter 1 -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Consensus is the state in which the participants of the network agree on the same record of transactions.
FULL TEXT: course page, chapter 1 - Consensus,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 Usage.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A wallet is the software through which a person uses Bitcoin. The chapter calls the Bitcoin wallet the most common user interface to the Bitcoin system, just as a web browser is the most common user interface for the protocol of the web, and the glossary of the book describes it as software that holds your Bitcoin addresses and secret keys and lets you send, receive and store your bitcoin (Antonopoulos and Harding, 2023).
FULL TEXT: course page, chapter 1 - Wallet.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Key control is the question of who holds the private keys that unlock a wallet's funds. The chapter calls this a very important additional consideration and says that access to bitcoins is controlled by private keys, which are like very long PINs.
ASK: Which side was the exchange that lost its customers' coins on?
FULL TEXT: course page, chapter 1 - KeyControl, WalletPlatform, Backup.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(February 2014): Mt. Gox of Tokyo was once the world's largest bitcoin exchange, handling the large majority of all trades. In February 2014 it halted withdrawals, filed for bankruptcy and admitted that around 850,000 bitcoins held on customers' behalf were gone - the customers had balances on a website, but the keys, and therefore the coins, had been in someone else's hands all along. Creditors were still being repaid more than a decade later.
SOURCE: Mt. Gox bankruptcy filing, Tokyo District Court, 2014-02-28, reporting approximately 850,000 BTC missing (about 750,000 of them customers'); widely reported, e.g. en.wikipedia.org/wiki/Mt._Gox.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Backup section is about getting a wallet back after something goes wrong. It begins with the chapter's account of Alice's first start-up, when her noncustodial wallet produces a recovery code that can be used to restore it, and it goes on to the additional data that a recovery code does not contain, and to the payments that some technologies keep outside the public blockchain (Antonopoulos and Harding, 2023).
FULL TEXT: course page, chapter 1 - Backup, KeyControl.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Acquisition section lists the ways in which a newcomer obtains a first bitcoin, which is the practical problem a reader faces as soon as the wallet is installed.
FULL TEXT: course page, chapter 1 - Acquisition, Address, Transfer.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Foundations branch collects the general technical ideas that the rest of the chapter takes for granted. Chapter 1 of the textbook introduces Bitcoin through a story about Alice and Joe, and in doing so it uses words such as digital signature, private key, blockchain, node, protocol and QR code as if every reader already knew them (Antonopoulos and Harding, 2023).
FULL TEXT: course page, chapter 1 - Foundations,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 Cryptography.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Chain section explains the data structure at the centre of Bitcoin and the computers that maintain it. The block is a group of transactions that the network accepts together, the blockchain is the list of blocks linked one to the next, the timestamp is the mark of time that orders them, and the node is a computer that takes part in the network.
FULL TEXT: course page, chapter 1 -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Computing section explains the ordinary technology on which Bitcoin software runs and by which people reach it. It covers the internet and the rules that computers follow on it, the way programs talk to each other through interfaces, the way data is named and stored, the operating systems and browsers in which wallets live, and the units in which computers count.
FULL TEXT: course page, chapter 1 - Computing, Threats.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Nature branch answers a question that precedes all the others: what kind of thing is Bitcoin? Chapter 1 gives two complementary answers.
FULL TEXT: course page, chapter 1 - Nature, Characteristic,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Transfer section explains what happens when Joe sends bitcoin to Alice. It follows the payment from the moment he presses Send to the moment it is confirmed in a block, and it introduces the objects and ideas involved: the transaction, its inputs and outputs, the fee, the confirmation, the irreversibility, and the newer payments that never reach the public chain (Antonopoulos and Harding, 2023).
FULL TEXT: course page, chapter 1 - Transfer, SemanticBridge.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Mastering Bitcoin, 3rd edition, chapter 1, Introduction (Antonopoulos and Harding, 2023), free under CC BY-SA 4.0. This deck follows the chapter's own concept taxonomy: 90 concepts in 6 branches, of which 42 carry a worked example. Every number, hash, address and output on these slides was executed under Python 3.14.4 by the chapter's own examples and checked against the figure the chapter corpus records; the deck is refused by its checker if any of them stops agreeing.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1: Introduction</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What Bitcoin is, what it is made of, and why every part of it exists</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1/assets/c1s24_protocol.png">    </p:cNvPr>
          <p:cNvPicPr>
            <a:picLocks noChangeAspect="1"/>
          </p:cNvPicPr>
          <p:nvPr/>
        </p:nvPicPr>
        <p:blipFill>
          <a:blip r:embed="rId1"/>
          <a:srcRect l="0" r="0" t="0" b="0"/>
          <a:stretch/>
        </p:blipFill>
        <p:spPr>
          <a:xfrm>
            <a:off x="5760720" y="1051560"/>
            <a:ext cx="3017520" cy="2377440"/>
          </a:xfrm>
          <a:prstGeom prst="rect">
            <a:avLst/>
          </a:prstGeom>
        </p:spPr>
      </p:pic>
      <p:sp>
        <p:nvSpPr>
          <p:cNvPr id="12" name="Text 9"/>
          <p:cNvSpPr txBox="1"/>
          <p:nvPr/>
        </p:nvSpPr>
        <p:spPr>
          <a:xfrm>
            <a:off x="5760720" y="3447288"/>
            <a:ext cx="3017520" cy="237744"/>
          </a:xfrm>
          <a:prstGeom prst="rect">
            <a:avLst/>
          </a:prstGeom>
          <a:noFill/>
          <a:ln/>
        </p:spPr>
        <p:txBody>
          <a:bodyPr wrap="square" lIns="0" tIns="0" rIns="0" bIns="0" rtlCol="0" anchor="ctr"/>
          <a:lstStyle/>
          <a:p>
            <a:pPr algn="ctr" indent="0" marL="0">
              <a:buNone/>
            </a:pPr>
            <a:r>
              <a:rPr lang="en-US" sz="950" i="1" dirty="0">
                <a:solidFill>
                  <a:srgbClr val="6E655C"/>
                </a:solidFill>
                <a:latin typeface="Calibri" pitchFamily="34" charset="0"/>
                <a:ea typeface="Calibri" pitchFamily="34" charset="-122"/>
                <a:cs typeface="Calibri" pitchFamily="34" charset="-120"/>
              </a:rPr>
              <a:t>from the owner's 2025 deck</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outcomes this session serves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course outcome, in the chapter's own parts</a:t>
            </a:r>
            <a:endParaRPr lang="en-US" sz="1300" dirty="0"/>
          </a:p>
        </p:txBody>
      </p:sp>
      <p:sp>
        <p:nvSpPr>
          <p:cNvPr id="6" name="Shape 4"/>
          <p:cNvSpPr/>
          <p:nvPr/>
        </p:nvSpPr>
        <p:spPr>
          <a:xfrm>
            <a:off x="457200" y="1371600"/>
            <a:ext cx="2590800" cy="1371600"/>
          </a:xfrm>
          <a:prstGeom prst="roundRect">
            <a:avLst>
              <a:gd name="adj" fmla="val 5333"/>
            </a:avLst>
          </a:prstGeom>
          <a:solidFill>
            <a:srgbClr val="F2ECE1"/>
          </a:solidFill>
          <a:ln w="12700">
            <a:solidFill>
              <a:srgbClr val="DFD6C7"/>
            </a:solidFill>
            <a:prstDash val="solid"/>
          </a:ln>
        </p:spPr>
      </p:sp>
      <p:sp>
        <p:nvSpPr>
          <p:cNvPr id="7" name="Text 5"/>
          <p:cNvSpPr txBox="1"/>
          <p:nvPr/>
        </p:nvSpPr>
        <p:spPr>
          <a:xfrm>
            <a:off x="5669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LO-1</a:t>
            </a:r>
            <a:endParaRPr lang="en-US" sz="2800" dirty="0"/>
          </a:p>
        </p:txBody>
      </p:sp>
      <p:sp>
        <p:nvSpPr>
          <p:cNvPr id="8" name="Text 6"/>
          <p:cNvSpPr txBox="1"/>
          <p:nvPr/>
        </p:nvSpPr>
        <p:spPr>
          <a:xfrm>
            <a:off x="5669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explain Bitcoin as money and as a system</a:t>
            </a:r>
            <a:endParaRPr lang="en-US" sz="1150" dirty="0"/>
          </a:p>
        </p:txBody>
      </p:sp>
      <p:sp>
        <p:nvSpPr>
          <p:cNvPr id="9" name="Shape 7"/>
          <p:cNvSpPr/>
          <p:nvPr/>
        </p:nvSpPr>
        <p:spPr>
          <a:xfrm>
            <a:off x="3276600" y="1371600"/>
            <a:ext cx="2590800" cy="1371600"/>
          </a:xfrm>
          <a:prstGeom prst="roundRect">
            <a:avLst>
              <a:gd name="adj" fmla="val 5333"/>
            </a:avLst>
          </a:prstGeom>
          <a:solidFill>
            <a:srgbClr val="F2ECE1"/>
          </a:solidFill>
          <a:ln w="12700">
            <a:solidFill>
              <a:srgbClr val="DFD6C7"/>
            </a:solidFill>
            <a:prstDash val="solid"/>
          </a:ln>
        </p:spPr>
      </p:sp>
      <p:sp>
        <p:nvSpPr>
          <p:cNvPr id="10" name="Text 8"/>
          <p:cNvSpPr txBox="1"/>
          <p:nvPr/>
        </p:nvSpPr>
        <p:spPr>
          <a:xfrm>
            <a:off x="33863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6</a:t>
            </a:r>
            <a:endParaRPr lang="en-US" sz="2800" dirty="0"/>
          </a:p>
        </p:txBody>
      </p:sp>
      <p:sp>
        <p:nvSpPr>
          <p:cNvPr id="11" name="Text 9"/>
          <p:cNvSpPr txBox="1"/>
          <p:nvPr/>
        </p:nvSpPr>
        <p:spPr>
          <a:xfrm>
            <a:off x="33863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subject branches in this chapter</a:t>
            </a:r>
            <a:endParaRPr lang="en-US" sz="1150" dirty="0"/>
          </a:p>
        </p:txBody>
      </p:sp>
      <p:sp>
        <p:nvSpPr>
          <p:cNvPr id="12" name="Shape 10"/>
          <p:cNvSpPr/>
          <p:nvPr/>
        </p:nvSpPr>
        <p:spPr>
          <a:xfrm>
            <a:off x="6096000" y="1371600"/>
            <a:ext cx="2590800" cy="1371600"/>
          </a:xfrm>
          <a:prstGeom prst="roundRect">
            <a:avLst>
              <a:gd name="adj" fmla="val 5333"/>
            </a:avLst>
          </a:prstGeom>
          <a:solidFill>
            <a:srgbClr val="F2ECE1"/>
          </a:solidFill>
          <a:ln w="12700">
            <a:solidFill>
              <a:srgbClr val="DFD6C7"/>
            </a:solidFill>
            <a:prstDash val="solid"/>
          </a:ln>
        </p:spPr>
      </p:sp>
      <p:sp>
        <p:nvSpPr>
          <p:cNvPr id="13" name="Text 11"/>
          <p:cNvSpPr txBox="1"/>
          <p:nvPr/>
        </p:nvSpPr>
        <p:spPr>
          <a:xfrm>
            <a:off x="6205728" y="1444752"/>
            <a:ext cx="2371344" cy="68580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117</a:t>
            </a:r>
            <a:endParaRPr lang="en-US" sz="2800" dirty="0"/>
          </a:p>
        </p:txBody>
      </p:sp>
      <p:sp>
        <p:nvSpPr>
          <p:cNvPr id="14" name="Text 12"/>
          <p:cNvSpPr txBox="1"/>
          <p:nvPr/>
        </p:nvSpPr>
        <p:spPr>
          <a:xfrm>
            <a:off x="6205728" y="2084832"/>
            <a:ext cx="2371344" cy="60350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concepts, every one on the course page</a:t>
            </a:r>
            <a:endParaRPr lang="en-US" sz="1150" dirty="0"/>
          </a:p>
        </p:txBody>
      </p:sp>
      <p:sp>
        <p:nvSpPr>
          <p:cNvPr id="15" name="Text 13"/>
          <p:cNvSpPr txBox="1"/>
          <p:nvPr/>
        </p:nvSpPr>
        <p:spPr>
          <a:xfrm>
            <a:off x="457200" y="2971800"/>
            <a:ext cx="8229600" cy="155448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History, units and the supply schedule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parts: keys, addresses, transactions, blocks, nodes, mining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The problems each part was designed to solve</a:t>
            </a:r>
            <a:endParaRPr lang="en-US" sz="15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outcome, one chapter, every concept on the page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34</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 we return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is the unit of Bitcoin's currency?</a:t>
            </a:r>
            <a:endParaRPr lang="en-US" sz="1250" dirty="0"/>
          </a:p>
        </p:txBody>
      </p:sp>
      <p:sp>
        <p:nvSpPr>
          <p:cNvPr id="9" name="Shape 7"/>
          <p:cNvSpPr/>
          <p:nvPr/>
        </p:nvSpPr>
        <p:spPr>
          <a:xfrm>
            <a:off x="457200" y="175434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5434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17766"/>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Who creates new bitcoin?</a:t>
            </a:r>
            <a:endParaRPr lang="en-US" sz="1250" dirty="0"/>
          </a:p>
        </p:txBody>
      </p:sp>
      <p:sp>
        <p:nvSpPr>
          <p:cNvPr id="12" name="Shape 10"/>
          <p:cNvSpPr/>
          <p:nvPr/>
        </p:nvSpPr>
        <p:spPr>
          <a:xfrm>
            <a:off x="457200" y="2237667"/>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76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1091"/>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problem of earlier digital money does Bitcoin solve?</a:t>
            </a:r>
            <a:endParaRPr lang="en-US" sz="1250" dirty="0"/>
          </a:p>
        </p:txBody>
      </p:sp>
      <p:sp>
        <p:nvSpPr>
          <p:cNvPr id="15" name="Shape 13"/>
          <p:cNvSpPr/>
          <p:nvPr/>
        </p:nvSpPr>
        <p:spPr>
          <a:xfrm>
            <a:off x="457200" y="2720993"/>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209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84417"/>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How can a wallet be classified by platform?</a:t>
            </a:r>
            <a:endParaRPr lang="en-US" sz="1250" dirty="0"/>
          </a:p>
        </p:txBody>
      </p:sp>
      <p:sp>
        <p:nvSpPr>
          <p:cNvPr id="18" name="Shape 16"/>
          <p:cNvSpPr/>
          <p:nvPr/>
        </p:nvSpPr>
        <p:spPr>
          <a:xfrm>
            <a:off x="457200" y="3204319"/>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20431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67743"/>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What happens?</a:t>
            </a:r>
            <a:endParaRPr lang="en-US" sz="1250" dirty="0"/>
          </a:p>
        </p:txBody>
      </p:sp>
      <p:sp>
        <p:nvSpPr>
          <p:cNvPr id="21" name="Shape 19"/>
          <p:cNvSpPr/>
          <p:nvPr/>
        </p:nvSpPr>
        <p:spPr>
          <a:xfrm>
            <a:off x="457200" y="3687645"/>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8764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651069"/>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technical terms does the chapter use without defining them?</a:t>
            </a:r>
            <a:endParaRPr lang="en-US" sz="1250" dirty="0"/>
          </a:p>
        </p:txBody>
      </p:sp>
      <p:sp>
        <p:nvSpPr>
          <p:cNvPr id="24" name="Shape 22"/>
          <p:cNvSpPr/>
          <p:nvPr/>
        </p:nvSpPr>
        <p:spPr>
          <a:xfrm>
            <a:off x="457200" y="4170970"/>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17097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134394"/>
            <a:ext cx="7662672" cy="44675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Which figures of the chapter are rules of the protocol and which are values at a date?</a:t>
            </a:r>
            <a:endParaRPr lang="en-US" sz="12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you can answer these, chapter 1 is yours</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34</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six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chapter hangs on</a:t>
            </a:r>
            <a:endParaRPr lang="en-US" sz="1300" dirty="0"/>
          </a:p>
        </p:txBody>
      </p:sp>
      <p:sp>
        <p:nvSpPr>
          <p:cNvPr id="6" name="Shape 4"/>
          <p:cNvSpPr/>
          <p:nvPr/>
        </p:nvSpPr>
        <p:spPr>
          <a:xfrm>
            <a:off x="365760" y="267462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Chapter 1</a:t>
            </a:r>
            <a:endParaRPr lang="en-US" sz="1500" dirty="0"/>
          </a:p>
        </p:txBody>
      </p:sp>
      <p:sp>
        <p:nvSpPr>
          <p:cNvPr id="8" name="Shape 6"/>
          <p:cNvSpPr/>
          <p:nvPr/>
        </p:nvSpPr>
        <p:spPr>
          <a:xfrm flipV="1">
            <a:off x="1783080" y="1472184"/>
            <a:ext cx="502920" cy="1476756"/>
          </a:xfrm>
          <a:prstGeom prst="line">
            <a:avLst/>
          </a:prstGeom>
          <a:noFill/>
          <a:ln w="13970">
            <a:solidFill>
              <a:srgbClr val="C9BFAE"/>
            </a:solidFill>
            <a:prstDash val="solid"/>
          </a:ln>
        </p:spPr>
      </p:sp>
      <p:sp>
        <p:nvSpPr>
          <p:cNvPr id="9" name="Shape 7"/>
          <p:cNvSpPr/>
          <p:nvPr/>
        </p:nvSpPr>
        <p:spPr>
          <a:xfrm>
            <a:off x="2331720" y="123444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Money</a:t>
            </a:r>
            <a:endParaRPr lang="en-US" sz="1300" dirty="0"/>
          </a:p>
        </p:txBody>
      </p:sp>
      <p:sp>
        <p:nvSpPr>
          <p:cNvPr id="11" name="Shape 9"/>
          <p:cNvSpPr/>
          <p:nvPr/>
        </p:nvSpPr>
        <p:spPr>
          <a:xfrm>
            <a:off x="4023360" y="1472184"/>
            <a:ext cx="274320" cy="0"/>
          </a:xfrm>
          <a:prstGeom prst="line">
            <a:avLst/>
          </a:prstGeom>
          <a:noFill/>
          <a:ln w="13970">
            <a:solidFill>
              <a:srgbClr val="C9BFAE"/>
            </a:solidFill>
            <a:prstDash val="solid"/>
          </a:ln>
        </p:spPr>
      </p:sp>
      <p:sp>
        <p:nvSpPr>
          <p:cNvPr id="12" name="Shape 10"/>
          <p:cNvSpPr/>
          <p:nvPr/>
        </p:nvSpPr>
        <p:spPr>
          <a:xfrm>
            <a:off x="4297680" y="125272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Unit  ·  Supply  ·  Price  ·  Issuance</a:t>
            </a:r>
            <a:endParaRPr lang="en-US" sz="1200" dirty="0"/>
          </a:p>
        </p:txBody>
      </p:sp>
      <p:sp>
        <p:nvSpPr>
          <p:cNvPr id="14" name="Shape 12"/>
          <p:cNvSpPr/>
          <p:nvPr/>
        </p:nvSpPr>
        <p:spPr>
          <a:xfrm flipV="1">
            <a:off x="1783080" y="2062886"/>
            <a:ext cx="502920" cy="886054"/>
          </a:xfrm>
          <a:prstGeom prst="line">
            <a:avLst/>
          </a:prstGeom>
          <a:noFill/>
          <a:ln w="13970">
            <a:solidFill>
              <a:srgbClr val="C9BFAE"/>
            </a:solidFill>
            <a:prstDash val="solid"/>
          </a:ln>
        </p:spPr>
      </p:sp>
      <p:sp>
        <p:nvSpPr>
          <p:cNvPr id="15" name="Shape 13"/>
          <p:cNvSpPr/>
          <p:nvPr/>
        </p:nvSpPr>
        <p:spPr>
          <a:xfrm>
            <a:off x="2331720" y="1825142"/>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182514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Network</a:t>
            </a:r>
            <a:endParaRPr lang="en-US" sz="1300" dirty="0"/>
          </a:p>
        </p:txBody>
      </p:sp>
      <p:sp>
        <p:nvSpPr>
          <p:cNvPr id="17" name="Shape 15"/>
          <p:cNvSpPr/>
          <p:nvPr/>
        </p:nvSpPr>
        <p:spPr>
          <a:xfrm>
            <a:off x="4023360" y="2062886"/>
            <a:ext cx="274320" cy="0"/>
          </a:xfrm>
          <a:prstGeom prst="line">
            <a:avLst/>
          </a:prstGeom>
          <a:noFill/>
          <a:ln w="13970">
            <a:solidFill>
              <a:srgbClr val="C9BFAE"/>
            </a:solidFill>
            <a:prstDash val="solid"/>
          </a:ln>
        </p:spPr>
      </p:sp>
      <p:sp>
        <p:nvSpPr>
          <p:cNvPr id="18" name="Shape 16"/>
          <p:cNvSpPr/>
          <p:nvPr/>
        </p:nvSpPr>
        <p:spPr>
          <a:xfrm>
            <a:off x="4297680" y="1843430"/>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184343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Consensus  ·  History  ·  Standards</a:t>
            </a:r>
            <a:endParaRPr lang="en-US" sz="1200" dirty="0"/>
          </a:p>
        </p:txBody>
      </p:sp>
      <p:sp>
        <p:nvSpPr>
          <p:cNvPr id="20" name="Shape 18"/>
          <p:cNvSpPr/>
          <p:nvPr/>
        </p:nvSpPr>
        <p:spPr>
          <a:xfrm flipV="1">
            <a:off x="1783080" y="2653589"/>
            <a:ext cx="502920" cy="295351"/>
          </a:xfrm>
          <a:prstGeom prst="line">
            <a:avLst/>
          </a:prstGeom>
          <a:noFill/>
          <a:ln w="13970">
            <a:solidFill>
              <a:srgbClr val="C9BFAE"/>
            </a:solidFill>
            <a:prstDash val="solid"/>
          </a:ln>
        </p:spPr>
      </p:sp>
      <p:sp>
        <p:nvSpPr>
          <p:cNvPr id="21" name="Shape 19"/>
          <p:cNvSpPr/>
          <p:nvPr/>
        </p:nvSpPr>
        <p:spPr>
          <a:xfrm>
            <a:off x="2331720" y="2415845"/>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2415845"/>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Wallet</a:t>
            </a:r>
            <a:endParaRPr lang="en-US" sz="1300" dirty="0"/>
          </a:p>
        </p:txBody>
      </p:sp>
      <p:sp>
        <p:nvSpPr>
          <p:cNvPr id="23" name="Shape 21"/>
          <p:cNvSpPr/>
          <p:nvPr/>
        </p:nvSpPr>
        <p:spPr>
          <a:xfrm>
            <a:off x="4023360" y="2653589"/>
            <a:ext cx="274320" cy="0"/>
          </a:xfrm>
          <a:prstGeom prst="line">
            <a:avLst/>
          </a:prstGeom>
          <a:noFill/>
          <a:ln w="13970">
            <a:solidFill>
              <a:srgbClr val="C9BFAE"/>
            </a:solidFill>
            <a:prstDash val="solid"/>
          </a:ln>
        </p:spPr>
      </p:sp>
      <p:sp>
        <p:nvSpPr>
          <p:cNvPr id="24" name="Shape 22"/>
          <p:cNvSpPr/>
          <p:nvPr/>
        </p:nvSpPr>
        <p:spPr>
          <a:xfrm>
            <a:off x="4297680" y="2434133"/>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2434133"/>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Wallet Platform  ·  Node Type  ·  Key Control  ·  Backup</a:t>
            </a:r>
            <a:endParaRPr lang="en-US" sz="1200" dirty="0"/>
          </a:p>
        </p:txBody>
      </p:sp>
      <p:sp>
        <p:nvSpPr>
          <p:cNvPr id="26" name="Shape 24"/>
          <p:cNvSpPr/>
          <p:nvPr/>
        </p:nvSpPr>
        <p:spPr>
          <a:xfrm>
            <a:off x="1783080" y="2948940"/>
            <a:ext cx="502920" cy="295351"/>
          </a:xfrm>
          <a:prstGeom prst="line">
            <a:avLst/>
          </a:prstGeom>
          <a:noFill/>
          <a:ln w="13970">
            <a:solidFill>
              <a:srgbClr val="C9BFAE"/>
            </a:solidFill>
            <a:prstDash val="solid"/>
          </a:ln>
        </p:spPr>
      </p:sp>
      <p:sp>
        <p:nvSpPr>
          <p:cNvPr id="27" name="Shape 25"/>
          <p:cNvSpPr/>
          <p:nvPr/>
        </p:nvSpPr>
        <p:spPr>
          <a:xfrm>
            <a:off x="2331720" y="3006547"/>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3006547"/>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Usage</a:t>
            </a:r>
            <a:endParaRPr lang="en-US" sz="1300" dirty="0"/>
          </a:p>
        </p:txBody>
      </p:sp>
      <p:sp>
        <p:nvSpPr>
          <p:cNvPr id="29" name="Shape 27"/>
          <p:cNvSpPr/>
          <p:nvPr/>
        </p:nvSpPr>
        <p:spPr>
          <a:xfrm>
            <a:off x="4023360" y="3244291"/>
            <a:ext cx="274320" cy="0"/>
          </a:xfrm>
          <a:prstGeom prst="line">
            <a:avLst/>
          </a:prstGeom>
          <a:noFill/>
          <a:ln w="13970">
            <a:solidFill>
              <a:srgbClr val="C9BFAE"/>
            </a:solidFill>
            <a:prstDash val="solid"/>
          </a:ln>
        </p:spPr>
      </p:sp>
      <p:sp>
        <p:nvSpPr>
          <p:cNvPr id="30" name="Shape 28"/>
          <p:cNvSpPr/>
          <p:nvPr/>
        </p:nvSpPr>
        <p:spPr>
          <a:xfrm>
            <a:off x="4297680" y="3024835"/>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3024835"/>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Address  ·  Transfer  ·  Semantic Bridge  ·  Acquisition</a:t>
            </a:r>
            <a:endParaRPr lang="en-US" sz="1200" dirty="0"/>
          </a:p>
        </p:txBody>
      </p:sp>
      <p:sp>
        <p:nvSpPr>
          <p:cNvPr id="32" name="Shape 30"/>
          <p:cNvSpPr/>
          <p:nvPr/>
        </p:nvSpPr>
        <p:spPr>
          <a:xfrm>
            <a:off x="1783080" y="2948940"/>
            <a:ext cx="502920" cy="886054"/>
          </a:xfrm>
          <a:prstGeom prst="line">
            <a:avLst/>
          </a:prstGeom>
          <a:noFill/>
          <a:ln w="13970">
            <a:solidFill>
              <a:srgbClr val="C9BFAE"/>
            </a:solidFill>
            <a:prstDash val="solid"/>
          </a:ln>
        </p:spPr>
      </p:sp>
      <p:sp>
        <p:nvSpPr>
          <p:cNvPr id="33" name="Shape 31"/>
          <p:cNvSpPr/>
          <p:nvPr/>
        </p:nvSpPr>
        <p:spPr>
          <a:xfrm>
            <a:off x="2331720" y="3597250"/>
            <a:ext cx="1691640" cy="475488"/>
          </a:xfrm>
          <a:prstGeom prst="roundRect">
            <a:avLst>
              <a:gd name="adj" fmla="val 15385"/>
            </a:avLst>
          </a:prstGeom>
          <a:solidFill>
            <a:srgbClr val="2F6D62"/>
          </a:solidFill>
          <a:ln w="9525">
            <a:solidFill>
              <a:srgbClr val="2F6D62"/>
            </a:solidFill>
            <a:prstDash val="solid"/>
          </a:ln>
        </p:spPr>
      </p:sp>
      <p:sp>
        <p:nvSpPr>
          <p:cNvPr id="34" name="Text 32"/>
          <p:cNvSpPr txBox="1"/>
          <p:nvPr/>
        </p:nvSpPr>
        <p:spPr>
          <a:xfrm>
            <a:off x="2386584" y="3597250"/>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Foundations</a:t>
            </a:r>
            <a:endParaRPr lang="en-US" sz="1300" dirty="0"/>
          </a:p>
        </p:txBody>
      </p:sp>
      <p:sp>
        <p:nvSpPr>
          <p:cNvPr id="35" name="Shape 33"/>
          <p:cNvSpPr/>
          <p:nvPr/>
        </p:nvSpPr>
        <p:spPr>
          <a:xfrm>
            <a:off x="4023360" y="3834994"/>
            <a:ext cx="274320" cy="0"/>
          </a:xfrm>
          <a:prstGeom prst="line">
            <a:avLst/>
          </a:prstGeom>
          <a:noFill/>
          <a:ln w="13970">
            <a:solidFill>
              <a:srgbClr val="C9BFAE"/>
            </a:solidFill>
            <a:prstDash val="solid"/>
          </a:ln>
        </p:spPr>
      </p:sp>
      <p:sp>
        <p:nvSpPr>
          <p:cNvPr id="36" name="Shape 34"/>
          <p:cNvSpPr/>
          <p:nvPr/>
        </p:nvSpPr>
        <p:spPr>
          <a:xfrm>
            <a:off x="4297680" y="3615538"/>
            <a:ext cx="4480560" cy="438912"/>
          </a:xfrm>
          <a:prstGeom prst="roundRect">
            <a:avLst>
              <a:gd name="adj" fmla="val 12500"/>
            </a:avLst>
          </a:prstGeom>
          <a:solidFill>
            <a:srgbClr val="F2ECE1"/>
          </a:solidFill>
          <a:ln w="6350">
            <a:solidFill>
              <a:srgbClr val="DFD6C7"/>
            </a:solidFill>
            <a:prstDash val="solid"/>
          </a:ln>
        </p:spPr>
      </p:sp>
      <p:sp>
        <p:nvSpPr>
          <p:cNvPr id="37" name="Text 35"/>
          <p:cNvSpPr txBox="1"/>
          <p:nvPr/>
        </p:nvSpPr>
        <p:spPr>
          <a:xfrm>
            <a:off x="4407408" y="3615538"/>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Cryptography  ·  Chain  ·  Computing  ·  Threats</a:t>
            </a:r>
            <a:endParaRPr lang="en-US" sz="1200" dirty="0"/>
          </a:p>
        </p:txBody>
      </p:sp>
      <p:sp>
        <p:nvSpPr>
          <p:cNvPr id="38" name="Shape 36"/>
          <p:cNvSpPr/>
          <p:nvPr/>
        </p:nvSpPr>
        <p:spPr>
          <a:xfrm>
            <a:off x="1783080" y="2948940"/>
            <a:ext cx="502920" cy="1476756"/>
          </a:xfrm>
          <a:prstGeom prst="line">
            <a:avLst/>
          </a:prstGeom>
          <a:noFill/>
          <a:ln w="13970">
            <a:solidFill>
              <a:srgbClr val="C9BFAE"/>
            </a:solidFill>
            <a:prstDash val="solid"/>
          </a:ln>
        </p:spPr>
      </p:sp>
      <p:sp>
        <p:nvSpPr>
          <p:cNvPr id="39" name="Shape 37"/>
          <p:cNvSpPr/>
          <p:nvPr/>
        </p:nvSpPr>
        <p:spPr>
          <a:xfrm>
            <a:off x="2331720" y="4187952"/>
            <a:ext cx="1691640" cy="475488"/>
          </a:xfrm>
          <a:prstGeom prst="roundRect">
            <a:avLst>
              <a:gd name="adj" fmla="val 15385"/>
            </a:avLst>
          </a:prstGeom>
          <a:solidFill>
            <a:srgbClr val="2F6D62"/>
          </a:solidFill>
          <a:ln w="9525">
            <a:solidFill>
              <a:srgbClr val="2F6D62"/>
            </a:solidFill>
            <a:prstDash val="solid"/>
          </a:ln>
        </p:spPr>
      </p:sp>
      <p:sp>
        <p:nvSpPr>
          <p:cNvPr id="40" name="Text 38"/>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Nature</a:t>
            </a:r>
            <a:endParaRPr lang="en-US" sz="1300" dirty="0"/>
          </a:p>
        </p:txBody>
      </p:sp>
      <p:sp>
        <p:nvSpPr>
          <p:cNvPr id="41" name="Shape 39"/>
          <p:cNvSpPr/>
          <p:nvPr/>
        </p:nvSpPr>
        <p:spPr>
          <a:xfrm>
            <a:off x="4023360" y="4425696"/>
            <a:ext cx="274320" cy="0"/>
          </a:xfrm>
          <a:prstGeom prst="line">
            <a:avLst/>
          </a:prstGeom>
          <a:noFill/>
          <a:ln w="13970">
            <a:solidFill>
              <a:srgbClr val="C9BFAE"/>
            </a:solidFill>
            <a:prstDash val="solid"/>
          </a:ln>
        </p:spPr>
      </p:sp>
      <p:sp>
        <p:nvSpPr>
          <p:cNvPr id="42" name="Shape 40"/>
          <p:cNvSpPr/>
          <p:nvPr/>
        </p:nvSpPr>
        <p:spPr>
          <a:xfrm>
            <a:off x="4297680" y="4206240"/>
            <a:ext cx="4480560" cy="438912"/>
          </a:xfrm>
          <a:prstGeom prst="roundRect">
            <a:avLst>
              <a:gd name="adj" fmla="val 12500"/>
            </a:avLst>
          </a:prstGeom>
          <a:solidFill>
            <a:srgbClr val="F2ECE1"/>
          </a:solidFill>
          <a:ln w="6350">
            <a:solidFill>
              <a:srgbClr val="DFD6C7"/>
            </a:solidFill>
            <a:prstDash val="solid"/>
          </a:ln>
        </p:spPr>
      </p:sp>
      <p:sp>
        <p:nvSpPr>
          <p:cNvPr id="43" name="Text 41"/>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Characteristic  ·  Architecture</a:t>
            </a:r>
            <a:endParaRPr lang="en-US" sz="1200" dirty="0"/>
          </a:p>
        </p:txBody>
      </p:sp>
      <p:sp>
        <p:nvSpPr>
          <p:cNvPr id="44" name="Shape 42"/>
          <p:cNvSpPr/>
          <p:nvPr/>
        </p:nvSpPr>
        <p:spPr>
          <a:xfrm>
            <a:off x="457200" y="4636008"/>
            <a:ext cx="91440" cy="310896"/>
          </a:xfrm>
          <a:prstGeom prst="rect">
            <a:avLst/>
          </a:prstGeom>
          <a:solidFill>
            <a:srgbClr val="D97A14"/>
          </a:solidFill>
          <a:ln w="12700">
            <a:solidFill>
              <a:srgbClr val="D97A14"/>
            </a:solidFill>
            <a:prstDash val="solid"/>
          </a:ln>
        </p:spPr>
      </p:sp>
      <p:sp>
        <p:nvSpPr>
          <p:cNvPr id="45" name="Text 4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Six branches - every slide today lives on this map</a:t>
            </a:r>
            <a:endParaRPr lang="en-US" sz="1350" dirty="0"/>
          </a:p>
        </p:txBody>
      </p:sp>
      <p:sp>
        <p:nvSpPr>
          <p:cNvPr id="46" name="Text 4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34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Origins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Three stories that explain why Bitcoin looks the way it does</a:t>
            </a:r>
            <a:endParaRPr lang="en-US" sz="1500" dirty="0"/>
          </a:p>
        </p:txBody>
      </p:sp>
      <p:sp>
        <p:nvSpPr>
          <p:cNvPr id="6" name="Shape 4"/>
          <p:cNvSpPr/>
          <p:nvPr/>
        </p:nvSpPr>
        <p:spPr>
          <a:xfrm>
            <a:off x="777240" y="2697480"/>
            <a:ext cx="2523744"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 headline in block 0</a:t>
            </a:r>
            <a:pPr algn="ctr" indent="0" marL="0">
              <a:buNone/>
            </a:pPr>
            <a:endParaRPr lang="en-US" sz="1400" dirty="0"/>
          </a:p>
        </p:txBody>
      </p:sp>
      <p:sp>
        <p:nvSpPr>
          <p:cNvPr id="8" name="Shape 6"/>
          <p:cNvSpPr/>
          <p:nvPr/>
        </p:nvSpPr>
        <p:spPr>
          <a:xfrm>
            <a:off x="3447288" y="2697480"/>
            <a:ext cx="2523744"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3520440"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first payment</a:t>
            </a:r>
            <a:pPr algn="ctr" indent="0" marL="0">
              <a:buNone/>
            </a:pPr>
            <a:endParaRPr lang="en-US" sz="1400" dirty="0"/>
          </a:p>
        </p:txBody>
      </p:sp>
      <p:sp>
        <p:nvSpPr>
          <p:cNvPr id="10" name="Shape 8"/>
          <p:cNvSpPr/>
          <p:nvPr/>
        </p:nvSpPr>
        <p:spPr>
          <a:xfrm>
            <a:off x="6117336" y="2697480"/>
            <a:ext cx="2523744"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6190488" y="2743200"/>
            <a:ext cx="2377440"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Forty years of attempts</a:t>
            </a:r>
            <a:pPr algn="ctr" indent="0" marL="0">
              <a:buNone/>
            </a:pPr>
            <a:endParaRPr lang="en-US" sz="1400" dirty="0"/>
          </a:p>
        </p:txBody>
      </p:sp>
      <p:sp>
        <p:nvSpPr>
          <p:cNvPr id="12"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34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newspaper headline carved into block zero</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3 January 2009</a:t>
            </a:r>
            <a:endParaRPr lang="en-US" sz="1300" dirty="0"/>
          </a:p>
        </p:txBody>
      </p:sp>
      <p:sp>
        <p:nvSpPr>
          <p:cNvPr id="6" name="Shape 4"/>
          <p:cNvSpPr/>
          <p:nvPr/>
        </p:nvSpPr>
        <p:spPr>
          <a:xfrm>
            <a:off x="457200" y="1325880"/>
            <a:ext cx="4846320" cy="3108960"/>
          </a:xfrm>
          <a:prstGeom prst="rect">
            <a:avLst/>
          </a:prstGeom>
          <a:solidFill>
            <a:srgbClr val="FFFDF7"/>
          </a:solidFill>
          <a:ln w="15875">
            <a:solidFill>
              <a:srgbClr val="B9AE9C"/>
            </a:solidFill>
            <a:prstDash val="solid"/>
          </a:ln>
          <a:effectLst>
            <a:outerShdw sx="100000" sy="100000" kx="0" ky="0" algn="bl" rotWithShape="0" blurRad="76200" dist="25400" dir="2700000">
              <a:srgbClr val="000000">
                <a:alpha val="25000"/>
              </a:srgbClr>
            </a:outerShdw>
          </a:effectLst>
        </p:spPr>
      </p:sp>
      <p:sp>
        <p:nvSpPr>
          <p:cNvPr id="7" name="Text 5"/>
          <p:cNvSpPr txBox="1"/>
          <p:nvPr/>
        </p:nvSpPr>
        <p:spPr>
          <a:xfrm>
            <a:off x="457200" y="1435608"/>
            <a:ext cx="4846320" cy="457200"/>
          </a:xfrm>
          <a:prstGeom prst="rect">
            <a:avLst/>
          </a:prstGeom>
          <a:noFill/>
          <a:ln/>
        </p:spPr>
        <p:txBody>
          <a:bodyPr wrap="square" lIns="0" tIns="0" rIns="0" bIns="0" rtlCol="0" anchor="ctr"/>
          <a:lstStyle/>
          <a:p>
            <a:pPr algn="ctr" indent="0" marL="0">
              <a:buNone/>
            </a:pPr>
            <a:r>
              <a:rPr lang="en-US" sz="2200" b="1" dirty="0">
                <a:solidFill>
                  <a:srgbClr val="1A1A1A"/>
                </a:solidFill>
                <a:latin typeface="Times New Roman" pitchFamily="34" charset="0"/>
                <a:ea typeface="Times New Roman" pitchFamily="34" charset="-122"/>
                <a:cs typeface="Times New Roman" pitchFamily="34" charset="-120"/>
              </a:rPr>
              <a:t>The Times</a:t>
            </a:r>
            <a:endParaRPr lang="en-US" sz="2200" dirty="0"/>
          </a:p>
        </p:txBody>
      </p:sp>
      <p:sp>
        <p:nvSpPr>
          <p:cNvPr id="8" name="Shape 6"/>
          <p:cNvSpPr/>
          <p:nvPr/>
        </p:nvSpPr>
        <p:spPr>
          <a:xfrm>
            <a:off x="685800" y="1947672"/>
            <a:ext cx="4389120" cy="0"/>
          </a:xfrm>
          <a:prstGeom prst="line">
            <a:avLst/>
          </a:prstGeom>
          <a:noFill/>
          <a:ln w="12700">
            <a:solidFill>
              <a:srgbClr val="1A1A1A"/>
            </a:solidFill>
            <a:prstDash val="solid"/>
          </a:ln>
        </p:spPr>
      </p:sp>
      <p:sp>
        <p:nvSpPr>
          <p:cNvPr id="9" name="Text 7"/>
          <p:cNvSpPr txBox="1"/>
          <p:nvPr/>
        </p:nvSpPr>
        <p:spPr>
          <a:xfrm>
            <a:off x="457200" y="1984248"/>
            <a:ext cx="4846320" cy="274320"/>
          </a:xfrm>
          <a:prstGeom prst="rect">
            <a:avLst/>
          </a:prstGeom>
          <a:noFill/>
          <a:ln/>
        </p:spPr>
        <p:txBody>
          <a:bodyPr wrap="square" lIns="0" tIns="0" rIns="0" bIns="0" rtlCol="0" anchor="ctr"/>
          <a:lstStyle/>
          <a:p>
            <a:pPr algn="ctr" indent="0" marL="0">
              <a:buNone/>
            </a:pPr>
            <a:r>
              <a:rPr lang="en-US" sz="1050" i="1" dirty="0">
                <a:solidFill>
                  <a:srgbClr val="444444"/>
                </a:solidFill>
                <a:latin typeface="Times New Roman" pitchFamily="34" charset="0"/>
                <a:ea typeface="Times New Roman" pitchFamily="34" charset="-122"/>
                <a:cs typeface="Times New Roman" pitchFamily="34" charset="-120"/>
              </a:rPr>
              <a:t>Saturday January 3 2009</a:t>
            </a:r>
            <a:endParaRPr lang="en-US" sz="1050" dirty="0"/>
          </a:p>
        </p:txBody>
      </p:sp>
      <p:sp>
        <p:nvSpPr>
          <p:cNvPr id="10" name="Text 8"/>
          <p:cNvSpPr txBox="1"/>
          <p:nvPr/>
        </p:nvSpPr>
        <p:spPr>
          <a:xfrm>
            <a:off x="731520" y="2286000"/>
            <a:ext cx="4297680" cy="777240"/>
          </a:xfrm>
          <a:prstGeom prst="rect">
            <a:avLst/>
          </a:prstGeom>
          <a:noFill/>
          <a:ln/>
        </p:spPr>
        <p:txBody>
          <a:bodyPr wrap="square" lIns="0" tIns="0" rIns="0" bIns="0" rtlCol="0" anchor="ctr"/>
          <a:lstStyle/>
          <a:p>
            <a:pPr algn="ctr" indent="0" marL="0">
              <a:buNone/>
            </a:pPr>
            <a:r>
              <a:rPr lang="en-US" sz="1700" b="1" dirty="0">
                <a:solidFill>
                  <a:srgbClr val="1A1A1A"/>
                </a:solidFill>
                <a:latin typeface="Times New Roman" pitchFamily="34" charset="0"/>
                <a:ea typeface="Times New Roman" pitchFamily="34" charset="-122"/>
                <a:cs typeface="Times New Roman" pitchFamily="34" charset="-120"/>
              </a:rPr>
              <a:t>Chancellor on brink of second bailout for banks</a:t>
            </a:r>
            <a:endParaRPr lang="en-US" sz="1700" dirty="0"/>
          </a:p>
        </p:txBody>
      </p:sp>
      <p:sp>
        <p:nvSpPr>
          <p:cNvPr id="11" name="Shape 9"/>
          <p:cNvSpPr/>
          <p:nvPr/>
        </p:nvSpPr>
        <p:spPr>
          <a:xfrm>
            <a:off x="731520" y="3154680"/>
            <a:ext cx="4297680" cy="0"/>
          </a:xfrm>
          <a:prstGeom prst="line">
            <a:avLst/>
          </a:prstGeom>
          <a:noFill/>
          <a:ln w="27940">
            <a:solidFill>
              <a:srgbClr val="C9C2B4"/>
            </a:solidFill>
            <a:prstDash val="solid"/>
          </a:ln>
        </p:spPr>
      </p:sp>
      <p:sp>
        <p:nvSpPr>
          <p:cNvPr id="12" name="Shape 10"/>
          <p:cNvSpPr/>
          <p:nvPr/>
        </p:nvSpPr>
        <p:spPr>
          <a:xfrm>
            <a:off x="731520" y="3310128"/>
            <a:ext cx="4297680" cy="0"/>
          </a:xfrm>
          <a:prstGeom prst="line">
            <a:avLst/>
          </a:prstGeom>
          <a:noFill/>
          <a:ln w="27940">
            <a:solidFill>
              <a:srgbClr val="C9C2B4"/>
            </a:solidFill>
            <a:prstDash val="solid"/>
          </a:ln>
        </p:spPr>
      </p:sp>
      <p:sp>
        <p:nvSpPr>
          <p:cNvPr id="13" name="Shape 11"/>
          <p:cNvSpPr/>
          <p:nvPr/>
        </p:nvSpPr>
        <p:spPr>
          <a:xfrm>
            <a:off x="731520" y="3465576"/>
            <a:ext cx="4297680" cy="0"/>
          </a:xfrm>
          <a:prstGeom prst="line">
            <a:avLst/>
          </a:prstGeom>
          <a:noFill/>
          <a:ln w="27940">
            <a:solidFill>
              <a:srgbClr val="C9C2B4"/>
            </a:solidFill>
            <a:prstDash val="solid"/>
          </a:ln>
        </p:spPr>
      </p:sp>
      <p:sp>
        <p:nvSpPr>
          <p:cNvPr id="14" name="Shape 12"/>
          <p:cNvSpPr/>
          <p:nvPr/>
        </p:nvSpPr>
        <p:spPr>
          <a:xfrm>
            <a:off x="731520" y="3621024"/>
            <a:ext cx="4297680" cy="0"/>
          </a:xfrm>
          <a:prstGeom prst="line">
            <a:avLst/>
          </a:prstGeom>
          <a:noFill/>
          <a:ln w="27940">
            <a:solidFill>
              <a:srgbClr val="C9C2B4"/>
            </a:solidFill>
            <a:prstDash val="solid"/>
          </a:ln>
        </p:spPr>
      </p:sp>
      <p:sp>
        <p:nvSpPr>
          <p:cNvPr id="15" name="Shape 13"/>
          <p:cNvSpPr/>
          <p:nvPr/>
        </p:nvSpPr>
        <p:spPr>
          <a:xfrm>
            <a:off x="1737360" y="4014216"/>
            <a:ext cx="2286000" cy="329184"/>
          </a:xfrm>
          <a:prstGeom prst="roundRect">
            <a:avLst>
              <a:gd name="adj" fmla="val 50000"/>
            </a:avLst>
          </a:prstGeom>
          <a:solidFill>
            <a:srgbClr val="D97A14"/>
          </a:solidFill>
          <a:ln w="12700">
            <a:solidFill>
              <a:srgbClr val="D97A14"/>
            </a:solidFill>
            <a:prstDash val="solid"/>
          </a:ln>
        </p:spPr>
      </p:sp>
      <p:sp>
        <p:nvSpPr>
          <p:cNvPr id="16" name="Text 14"/>
          <p:cNvSpPr txBox="1"/>
          <p:nvPr/>
        </p:nvSpPr>
        <p:spPr>
          <a:xfrm>
            <a:off x="1737360" y="4014216"/>
            <a:ext cx="2286000"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embedded in block 0</a:t>
            </a:r>
            <a:endParaRPr lang="en-US" sz="1100" dirty="0"/>
          </a:p>
        </p:txBody>
      </p:sp>
      <p:sp>
        <p:nvSpPr>
          <p:cNvPr id="17" name="Shape 15"/>
          <p:cNvSpPr/>
          <p:nvPr/>
        </p:nvSpPr>
        <p:spPr>
          <a:xfrm>
            <a:off x="5577840" y="17647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5852160" y="146304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Proves block 0 came after that morning</a:t>
            </a:r>
            <a:endParaRPr lang="en-US" sz="1300" dirty="0"/>
          </a:p>
        </p:txBody>
      </p:sp>
      <p:sp>
        <p:nvSpPr>
          <p:cNvPr id="19" name="Shape 17"/>
          <p:cNvSpPr/>
          <p:nvPr/>
        </p:nvSpPr>
        <p:spPr>
          <a:xfrm>
            <a:off x="5577840" y="249631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5852160" y="219456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Records why: a banking crisis</a:t>
            </a:r>
            <a:endParaRPr lang="en-US" sz="1300" dirty="0"/>
          </a:p>
        </p:txBody>
      </p:sp>
      <p:sp>
        <p:nvSpPr>
          <p:cNvPr id="21" name="Shape 19"/>
          <p:cNvSpPr/>
          <p:nvPr/>
        </p:nvSpPr>
        <p:spPr>
          <a:xfrm>
            <a:off x="5577840" y="3227832"/>
            <a:ext cx="128016" cy="128016"/>
          </a:xfrm>
          <a:prstGeom prst="diamond">
            <a:avLst/>
          </a:prstGeom>
          <a:solidFill>
            <a:srgbClr val="D97A14"/>
          </a:solidFill>
          <a:ln w="12700">
            <a:solidFill>
              <a:srgbClr val="D97A14"/>
            </a:solidFill>
            <a:prstDash val="solid"/>
          </a:ln>
        </p:spPr>
      </p:sp>
      <p:sp>
        <p:nvSpPr>
          <p:cNvPr id="22" name="Text 20"/>
          <p:cNvSpPr txBox="1"/>
          <p:nvPr/>
        </p:nvSpPr>
        <p:spPr>
          <a:xfrm>
            <a:off x="5852160" y="2926080"/>
            <a:ext cx="2834640" cy="731520"/>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A timestamp and a manifesto at once</a:t>
            </a:r>
            <a:endParaRPr lang="en-US" sz="1300" dirty="0"/>
          </a:p>
        </p:txBody>
      </p:sp>
      <p:sp>
        <p:nvSpPr>
          <p:cNvPr id="23" name="Shape 21"/>
          <p:cNvSpPr/>
          <p:nvPr/>
        </p:nvSpPr>
        <p:spPr>
          <a:xfrm>
            <a:off x="5577840" y="3794760"/>
            <a:ext cx="3017520" cy="402336"/>
          </a:xfrm>
          <a:prstGeom prst="roundRect">
            <a:avLst>
              <a:gd name="adj" fmla="val 50000"/>
            </a:avLst>
          </a:prstGeom>
          <a:solidFill>
            <a:srgbClr val="2F6D62"/>
          </a:solidFill>
          <a:ln w="12700">
            <a:solidFill>
              <a:srgbClr val="2F6D62"/>
            </a:solidFill>
            <a:prstDash val="solid"/>
          </a:ln>
        </p:spPr>
      </p:sp>
      <p:sp>
        <p:nvSpPr>
          <p:cNvPr id="24" name="Text 22"/>
          <p:cNvSpPr txBox="1"/>
          <p:nvPr/>
        </p:nvSpPr>
        <p:spPr>
          <a:xfrm>
            <a:off x="5577840" y="3794760"/>
            <a:ext cx="301752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 January 2009</a:t>
            </a:r>
            <a:endParaRPr lang="en-US" sz="13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is written into the chain itself</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34</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first person ever paid in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Satoshi Nakamoto, and the cryptographer who ran the code</a:t>
            </a:r>
            <a:endParaRPr lang="en-US" sz="1300" dirty="0"/>
          </a:p>
        </p:txBody>
      </p:sp>
      <p:pic>
        <p:nvPicPr>
          <p:cNvPr id="6" name="Image 0" descr="../../03-materials/ch01/assets/c1s32_nakamoto.jpg">    </p:cNvPr>
          <p:cNvPicPr>
            <a:picLocks noChangeAspect="1"/>
          </p:cNvPicPr>
          <p:nvPr/>
        </p:nvPicPr>
        <p:blipFill>
          <a:blip r:embed="rId1"/>
          <a:srcRect l="0" r="0" t="0" b="0"/>
          <a:stretch/>
        </p:blipFill>
        <p:spPr>
          <a:xfrm>
            <a:off x="457200" y="1325880"/>
            <a:ext cx="2651760" cy="3108960"/>
          </a:xfrm>
          <a:prstGeom prst="rect">
            <a:avLst/>
          </a:prstGeom>
        </p:spPr>
      </p:pic>
      <p:sp>
        <p:nvSpPr>
          <p:cNvPr id="7" name="Text 4"/>
          <p:cNvSpPr txBox="1"/>
          <p:nvPr/>
        </p:nvSpPr>
        <p:spPr>
          <a:xfrm>
            <a:off x="457200" y="4453128"/>
            <a:ext cx="2651760" cy="237744"/>
          </a:xfrm>
          <a:prstGeom prst="rect">
            <a:avLst/>
          </a:prstGeom>
          <a:noFill/>
          <a:ln/>
        </p:spPr>
        <p:txBody>
          <a:bodyPr wrap="square" lIns="0" tIns="0" rIns="0" bIns="0" rtlCol="0" anchor="ctr"/>
          <a:lstStyle/>
          <a:p>
            <a:pPr algn="ctr" indent="0" marL="0">
              <a:buNone/>
            </a:pPr>
            <a:r>
              <a:rPr lang="en-US" sz="950" i="1" dirty="0">
                <a:solidFill>
                  <a:srgbClr val="6E655C"/>
                </a:solidFill>
                <a:latin typeface="Calibri" pitchFamily="34" charset="0"/>
                <a:ea typeface="Calibri" pitchFamily="34" charset="-122"/>
                <a:cs typeface="Calibri" pitchFamily="34" charset="-120"/>
              </a:rPr>
              <a:t>anonymity, from the owner's 2025 deck</a:t>
            </a:r>
            <a:endParaRPr lang="en-US" sz="950" dirty="0"/>
          </a:p>
        </p:txBody>
      </p:sp>
      <p:sp>
        <p:nvSpPr>
          <p:cNvPr id="8" name="Shape 5"/>
          <p:cNvSpPr/>
          <p:nvPr/>
        </p:nvSpPr>
        <p:spPr>
          <a:xfrm>
            <a:off x="3383280" y="1703832"/>
            <a:ext cx="128016" cy="128016"/>
          </a:xfrm>
          <a:prstGeom prst="diamond">
            <a:avLst/>
          </a:prstGeom>
          <a:solidFill>
            <a:srgbClr val="D97A14"/>
          </a:solidFill>
          <a:ln w="12700">
            <a:solidFill>
              <a:srgbClr val="D97A14"/>
            </a:solidFill>
            <a:prstDash val="solid"/>
          </a:ln>
        </p:spPr>
      </p:sp>
      <p:sp>
        <p:nvSpPr>
          <p:cNvPr id="9" name="Text 6"/>
          <p:cNvSpPr txBox="1"/>
          <p:nvPr/>
        </p:nvSpPr>
        <p:spPr>
          <a:xfrm>
            <a:off x="3657600" y="141732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Satoshi Nakamoto: still unidentified, by design</a:t>
            </a:r>
            <a:endParaRPr lang="en-US" sz="1350" dirty="0"/>
          </a:p>
        </p:txBody>
      </p:sp>
      <p:sp>
        <p:nvSpPr>
          <p:cNvPr id="10" name="Shape 7"/>
          <p:cNvSpPr/>
          <p:nvPr/>
        </p:nvSpPr>
        <p:spPr>
          <a:xfrm>
            <a:off x="3383280" y="240487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657600" y="211836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Hal Finney answered the whitepaper - and 'Running bitcoin'</a:t>
            </a:r>
            <a:endParaRPr lang="en-US" sz="1350" dirty="0"/>
          </a:p>
        </p:txBody>
      </p:sp>
      <p:sp>
        <p:nvSpPr>
          <p:cNvPr id="12" name="Shape 9"/>
          <p:cNvSpPr/>
          <p:nvPr/>
        </p:nvSpPr>
        <p:spPr>
          <a:xfrm>
            <a:off x="3383280" y="310591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657600" y="2819400"/>
            <a:ext cx="5029200" cy="701040"/>
          </a:xfrm>
          <a:prstGeom prst="rect">
            <a:avLst/>
          </a:prstGeom>
          <a:noFill/>
          <a:ln/>
        </p:spPr>
        <p:txBody>
          <a:bodyPr wrap="square" lIns="0" tIns="0" rIns="0" bIns="0" rtlCol="0" anchor="ctr"/>
          <a:lstStyle/>
          <a:p>
            <a:pPr indent="0" marL="0">
              <a:buNone/>
            </a:pPr>
            <a:r>
              <a:rPr lang="en-US" sz="1350" dirty="0">
                <a:solidFill>
                  <a:srgbClr val="2B2622"/>
                </a:solidFill>
                <a:latin typeface="Calibri" pitchFamily="34" charset="0"/>
                <a:ea typeface="Calibri" pitchFamily="34" charset="-122"/>
                <a:cs typeface="Calibri" pitchFamily="34" charset="-120"/>
              </a:rPr>
              <a:t>Block 170, January 2009: Satoshi pays Finney 10 BTC</a:t>
            </a:r>
            <a:endParaRPr lang="en-US" sz="1350" dirty="0"/>
          </a:p>
        </p:txBody>
      </p:sp>
      <p:sp>
        <p:nvSpPr>
          <p:cNvPr id="14" name="Shape 11"/>
          <p:cNvSpPr/>
          <p:nvPr/>
        </p:nvSpPr>
        <p:spPr>
          <a:xfrm>
            <a:off x="3383280" y="3703320"/>
            <a:ext cx="2743200" cy="402336"/>
          </a:xfrm>
          <a:prstGeom prst="roundRect">
            <a:avLst>
              <a:gd name="adj" fmla="val 50000"/>
            </a:avLst>
          </a:prstGeom>
          <a:solidFill>
            <a:srgbClr val="2F6D62"/>
          </a:solidFill>
          <a:ln w="12700">
            <a:solidFill>
              <a:srgbClr val="2F6D62"/>
            </a:solidFill>
            <a:prstDash val="solid"/>
          </a:ln>
        </p:spPr>
      </p:sp>
      <p:sp>
        <p:nvSpPr>
          <p:cNvPr id="15" name="Text 12"/>
          <p:cNvSpPr txBox="1"/>
          <p:nvPr/>
        </p:nvSpPr>
        <p:spPr>
          <a:xfrm>
            <a:off x="3383280" y="370332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January 2009</a:t>
            </a:r>
            <a:endParaRPr lang="en-US" sz="13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Peer to peer meant person to person from day one</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34</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Forty years of failed digital money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part existed before Bitcoin combined them</a:t>
            </a:r>
            <a:endParaRPr lang="en-US" sz="1300" dirty="0"/>
          </a:p>
        </p:txBody>
      </p:sp>
      <p:sp>
        <p:nvSpPr>
          <p:cNvPr id="6" name="Shape 4"/>
          <p:cNvSpPr/>
          <p:nvPr/>
        </p:nvSpPr>
        <p:spPr>
          <a:xfrm>
            <a:off x="457200" y="2307946"/>
            <a:ext cx="8229600" cy="0"/>
          </a:xfrm>
          <a:prstGeom prst="line">
            <a:avLst/>
          </a:prstGeom>
          <a:noFill/>
          <a:ln w="25400">
            <a:solidFill>
              <a:srgbClr val="C9BFAE"/>
            </a:solidFill>
            <a:prstDash val="solid"/>
          </a:ln>
        </p:spPr>
      </p:sp>
      <p:sp>
        <p:nvSpPr>
          <p:cNvPr id="7" name="Shape 5"/>
          <p:cNvSpPr/>
          <p:nvPr/>
        </p:nvSpPr>
        <p:spPr>
          <a:xfrm>
            <a:off x="557784" y="2225650"/>
            <a:ext cx="164592" cy="164592"/>
          </a:xfrm>
          <a:prstGeom prst="ellipse">
            <a:avLst/>
          </a:prstGeom>
          <a:solidFill>
            <a:srgbClr val="2F6D62"/>
          </a:solidFill>
          <a:ln w="12700">
            <a:solidFill>
              <a:srgbClr val="FFFFFF"/>
            </a:solidFill>
            <a:prstDash val="solid"/>
          </a:ln>
        </p:spPr>
      </p:sp>
      <p:sp>
        <p:nvSpPr>
          <p:cNvPr id="8" name="Text 6"/>
          <p:cNvSpPr txBox="1"/>
          <p:nvPr/>
        </p:nvSpPr>
        <p:spPr>
          <a:xfrm>
            <a:off x="3657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1982</a:t>
            </a:r>
            <a:endParaRPr lang="en-US" sz="1200" dirty="0"/>
          </a:p>
        </p:txBody>
      </p:sp>
      <p:sp>
        <p:nvSpPr>
          <p:cNvPr id="9" name="Text 7"/>
          <p:cNvSpPr txBox="1"/>
          <p:nvPr/>
        </p:nvSpPr>
        <p:spPr>
          <a:xfrm>
            <a:off x="365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Chaum: blind signatures, ecash</a:t>
            </a:r>
            <a:endParaRPr lang="en-US" sz="1000" dirty="0"/>
          </a:p>
        </p:txBody>
      </p:sp>
      <p:sp>
        <p:nvSpPr>
          <p:cNvPr id="10" name="Shape 8"/>
          <p:cNvSpPr/>
          <p:nvPr/>
        </p:nvSpPr>
        <p:spPr>
          <a:xfrm>
            <a:off x="2523744" y="2225650"/>
            <a:ext cx="164592" cy="164592"/>
          </a:xfrm>
          <a:prstGeom prst="ellipse">
            <a:avLst/>
          </a:prstGeom>
          <a:solidFill>
            <a:srgbClr val="2F6D62"/>
          </a:solidFill>
          <a:ln w="12700">
            <a:solidFill>
              <a:srgbClr val="FFFFFF"/>
            </a:solidFill>
            <a:prstDash val="solid"/>
          </a:ln>
        </p:spPr>
      </p:sp>
      <p:sp>
        <p:nvSpPr>
          <p:cNvPr id="11" name="Text 9"/>
          <p:cNvSpPr txBox="1"/>
          <p:nvPr/>
        </p:nvSpPr>
        <p:spPr>
          <a:xfrm>
            <a:off x="205740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1997</a:t>
            </a:r>
            <a:endParaRPr lang="en-US" sz="1200" dirty="0"/>
          </a:p>
        </p:txBody>
      </p:sp>
      <p:sp>
        <p:nvSpPr>
          <p:cNvPr id="12" name="Text 10"/>
          <p:cNvSpPr txBox="1"/>
          <p:nvPr/>
        </p:nvSpPr>
        <p:spPr>
          <a:xfrm>
            <a:off x="182880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Back: Hashcash proof-of-work</a:t>
            </a:r>
            <a:endParaRPr lang="en-US" sz="1000" dirty="0"/>
          </a:p>
        </p:txBody>
      </p:sp>
      <p:sp>
        <p:nvSpPr>
          <p:cNvPr id="13" name="Shape 11"/>
          <p:cNvSpPr/>
          <p:nvPr/>
        </p:nvSpPr>
        <p:spPr>
          <a:xfrm>
            <a:off x="4489704" y="2225650"/>
            <a:ext cx="164592" cy="164592"/>
          </a:xfrm>
          <a:prstGeom prst="ellipse">
            <a:avLst/>
          </a:prstGeom>
          <a:solidFill>
            <a:srgbClr val="2F6D62"/>
          </a:solidFill>
          <a:ln w="12700">
            <a:solidFill>
              <a:srgbClr val="FFFFFF"/>
            </a:solidFill>
            <a:prstDash val="solid"/>
          </a:ln>
        </p:spPr>
      </p:sp>
      <p:sp>
        <p:nvSpPr>
          <p:cNvPr id="14" name="Text 12"/>
          <p:cNvSpPr txBox="1"/>
          <p:nvPr/>
        </p:nvSpPr>
        <p:spPr>
          <a:xfrm>
            <a:off x="4023360" y="1832458"/>
            <a:ext cx="1097280" cy="274320"/>
          </a:xfrm>
          <a:prstGeom prst="rect">
            <a:avLst/>
          </a:prstGeom>
          <a:noFill/>
          <a:ln/>
        </p:spPr>
        <p:txBody>
          <a:bodyPr wrap="square" lIns="0" tIns="0" rIns="0" bIns="0" rtlCol="0" anchor="ctr"/>
          <a:lstStyle/>
          <a:p>
            <a:pPr algn="ctr" indent="0" marL="0">
              <a:buNone/>
            </a:pPr>
            <a:r>
              <a:rPr lang="en-US" sz="1200" b="1" dirty="0">
                <a:solidFill>
                  <a:srgbClr val="2B2622"/>
                </a:solidFill>
                <a:latin typeface="Cambria" pitchFamily="34" charset="0"/>
                <a:ea typeface="Cambria" pitchFamily="34" charset="-122"/>
                <a:cs typeface="Cambria" pitchFamily="34" charset="-120"/>
              </a:rPr>
              <a:t>1998</a:t>
            </a:r>
            <a:endParaRPr lang="en-US" sz="1200" dirty="0"/>
          </a:p>
        </p:txBody>
      </p:sp>
      <p:sp>
        <p:nvSpPr>
          <p:cNvPr id="15" name="Text 13"/>
          <p:cNvSpPr txBox="1"/>
          <p:nvPr/>
        </p:nvSpPr>
        <p:spPr>
          <a:xfrm>
            <a:off x="3794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Dai: b-money; Szabo: bit gold</a:t>
            </a:r>
            <a:endParaRPr lang="en-US" sz="1000" dirty="0"/>
          </a:p>
        </p:txBody>
      </p:sp>
      <p:sp>
        <p:nvSpPr>
          <p:cNvPr id="16" name="Shape 14"/>
          <p:cNvSpPr/>
          <p:nvPr/>
        </p:nvSpPr>
        <p:spPr>
          <a:xfrm>
            <a:off x="6455664" y="2225650"/>
            <a:ext cx="164592" cy="164592"/>
          </a:xfrm>
          <a:prstGeom prst="ellipse">
            <a:avLst/>
          </a:prstGeom>
          <a:solidFill>
            <a:srgbClr val="D97A14"/>
          </a:solidFill>
          <a:ln w="12700">
            <a:solidFill>
              <a:srgbClr val="FFFFFF"/>
            </a:solidFill>
            <a:prstDash val="solid"/>
          </a:ln>
        </p:spPr>
      </p:sp>
      <p:sp>
        <p:nvSpPr>
          <p:cNvPr id="17" name="Text 15"/>
          <p:cNvSpPr txBox="1"/>
          <p:nvPr/>
        </p:nvSpPr>
        <p:spPr>
          <a:xfrm>
            <a:off x="598932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2008</a:t>
            </a:r>
            <a:endParaRPr lang="en-US" sz="1200" dirty="0"/>
          </a:p>
        </p:txBody>
      </p:sp>
      <p:sp>
        <p:nvSpPr>
          <p:cNvPr id="18" name="Text 16"/>
          <p:cNvSpPr txBox="1"/>
          <p:nvPr/>
        </p:nvSpPr>
        <p:spPr>
          <a:xfrm>
            <a:off x="576072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Nakamoto: the whitepaper</a:t>
            </a:r>
            <a:endParaRPr lang="en-US" sz="1000" dirty="0"/>
          </a:p>
        </p:txBody>
      </p:sp>
      <p:sp>
        <p:nvSpPr>
          <p:cNvPr id="19" name="Shape 17"/>
          <p:cNvSpPr/>
          <p:nvPr/>
        </p:nvSpPr>
        <p:spPr>
          <a:xfrm>
            <a:off x="8421624" y="2225650"/>
            <a:ext cx="164592" cy="164592"/>
          </a:xfrm>
          <a:prstGeom prst="ellipse">
            <a:avLst/>
          </a:prstGeom>
          <a:solidFill>
            <a:srgbClr val="D97A14"/>
          </a:solidFill>
          <a:ln w="12700">
            <a:solidFill>
              <a:srgbClr val="FFFFFF"/>
            </a:solidFill>
            <a:prstDash val="solid"/>
          </a:ln>
        </p:spPr>
      </p:sp>
      <p:sp>
        <p:nvSpPr>
          <p:cNvPr id="20" name="Text 18"/>
          <p:cNvSpPr txBox="1"/>
          <p:nvPr/>
        </p:nvSpPr>
        <p:spPr>
          <a:xfrm>
            <a:off x="7680960" y="1832458"/>
            <a:ext cx="1097280" cy="274320"/>
          </a:xfrm>
          <a:prstGeom prst="rect">
            <a:avLst/>
          </a:prstGeom>
          <a:noFill/>
          <a:ln/>
        </p:spPr>
        <p:txBody>
          <a:bodyPr wrap="square" lIns="0" tIns="0" rIns="0" bIns="0" rtlCol="0" anchor="ctr"/>
          <a:lstStyle/>
          <a:p>
            <a:pPr algn="ctr" indent="0" marL="0">
              <a:buNone/>
            </a:pPr>
            <a:r>
              <a:rPr lang="en-US" sz="1200" b="1" dirty="0">
                <a:solidFill>
                  <a:srgbClr val="D97A14"/>
                </a:solidFill>
                <a:latin typeface="Cambria" pitchFamily="34" charset="0"/>
                <a:ea typeface="Cambria" pitchFamily="34" charset="-122"/>
                <a:cs typeface="Cambria" pitchFamily="34" charset="-120"/>
              </a:rPr>
              <a:t>2009</a:t>
            </a:r>
            <a:endParaRPr lang="en-US" sz="1200" dirty="0"/>
          </a:p>
        </p:txBody>
      </p:sp>
      <p:sp>
        <p:nvSpPr>
          <p:cNvPr id="21" name="Text 19"/>
          <p:cNvSpPr txBox="1"/>
          <p:nvPr/>
        </p:nvSpPr>
        <p:spPr>
          <a:xfrm>
            <a:off x="7223760" y="2435962"/>
            <a:ext cx="1554480" cy="658368"/>
          </a:xfrm>
          <a:prstGeom prst="rect">
            <a:avLst/>
          </a:prstGeom>
          <a:noFill/>
          <a:ln/>
        </p:spPr>
        <p:txBody>
          <a:bodyPr wrap="square" lIns="0" tIns="0" rIns="0" bIns="0" rtlCol="0" anchor="t"/>
          <a:lstStyle/>
          <a:p>
            <a:pPr algn="ctr" indent="0" marL="0">
              <a:buNone/>
            </a:pPr>
            <a:r>
              <a:rPr lang="en-US" sz="1000" dirty="0">
                <a:solidFill>
                  <a:srgbClr val="6E655C"/>
                </a:solidFill>
                <a:latin typeface="Calibri" pitchFamily="34" charset="0"/>
                <a:ea typeface="Calibri" pitchFamily="34" charset="-122"/>
                <a:cs typeface="Calibri" pitchFamily="34" charset="-120"/>
              </a:rPr>
              <a:t>The genesis block runs</a:t>
            </a:r>
            <a:endParaRPr lang="en-US" sz="1000" dirty="0"/>
          </a:p>
        </p:txBody>
      </p:sp>
      <p:sp>
        <p:nvSpPr>
          <p:cNvPr id="22" name="Text 20"/>
          <p:cNvSpPr txBox="1"/>
          <p:nvPr/>
        </p:nvSpPr>
        <p:spPr>
          <a:xfrm>
            <a:off x="457200" y="3611880"/>
            <a:ext cx="8229600" cy="86868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DigiCash went bankrupt; b-money and bit gold were never built</a:t>
            </a:r>
            <a:endParaRPr lang="en-US" sz="1400" dirty="0"/>
          </a:p>
          <a:p>
            <a:pPr marL="342900" indent="-342900">
              <a:spcAft>
                <a:spcPts val="400"/>
              </a:spcAft>
              <a:buSzPct val="100000"/>
              <a:buChar char="•"/>
            </a:pPr>
            <a:r>
              <a:rPr lang="en-US" sz="1400" dirty="0">
                <a:solidFill>
                  <a:srgbClr val="2B2622"/>
                </a:solidFill>
                <a:latin typeface="Calibri" pitchFamily="34" charset="0"/>
                <a:ea typeface="Calibri" pitchFamily="34" charset="-122"/>
                <a:cs typeface="Calibri" pitchFamily="34" charset="-120"/>
              </a:rPr>
              <a:t>The missing piece: agreement without a leader</a:t>
            </a:r>
            <a:endParaRPr lang="en-US" sz="14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pieces were old; the combination was new</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34</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Money</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What the currency is, who issues it, and on what schedule</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Unit</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Supply</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Issuance</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Price</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34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island where money never moved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Yap, documented 1903</a:t>
            </a:r>
            <a:endParaRPr lang="en-US" sz="1300" dirty="0"/>
          </a:p>
        </p:txBody>
      </p:sp>
      <p:sp>
        <p:nvSpPr>
          <p:cNvPr id="6" name="Shape 4"/>
          <p:cNvSpPr/>
          <p:nvPr/>
        </p:nvSpPr>
        <p:spPr>
          <a:xfrm>
            <a:off x="865632" y="1554480"/>
            <a:ext cx="950976" cy="950976"/>
          </a:xfrm>
          <a:prstGeom prst="ellipse">
            <a:avLst/>
          </a:prstGeom>
          <a:solidFill>
            <a:srgbClr val="D8D0C2"/>
          </a:solidFill>
          <a:ln w="25400">
            <a:solidFill>
              <a:srgbClr val="9A9183"/>
            </a:solidFill>
            <a:prstDash val="solid"/>
          </a:ln>
        </p:spPr>
      </p:sp>
      <p:sp>
        <p:nvSpPr>
          <p:cNvPr id="7" name="Shape 5"/>
          <p:cNvSpPr/>
          <p:nvPr/>
        </p:nvSpPr>
        <p:spPr>
          <a:xfrm>
            <a:off x="1213104" y="1920240"/>
            <a:ext cx="256032" cy="256032"/>
          </a:xfrm>
          <a:prstGeom prst="ellipse">
            <a:avLst/>
          </a:prstGeom>
          <a:solidFill>
            <a:srgbClr val="FAF6EF"/>
          </a:solidFill>
          <a:ln w="19050">
            <a:solidFill>
              <a:srgbClr val="9A9183"/>
            </a:solidFill>
            <a:prstDash val="solid"/>
          </a:ln>
        </p:spPr>
      </p:sp>
      <p:sp>
        <p:nvSpPr>
          <p:cNvPr id="8" name="Text 6"/>
          <p:cNvSpPr txBox="1"/>
          <p:nvPr/>
        </p:nvSpPr>
        <p:spPr>
          <a:xfrm>
            <a:off x="563880" y="25877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Fatu</a:t>
            </a:r>
            <a:endParaRPr lang="en-US" sz="1100" dirty="0"/>
          </a:p>
        </p:txBody>
      </p:sp>
      <p:sp>
        <p:nvSpPr>
          <p:cNvPr id="9" name="Shape 7"/>
          <p:cNvSpPr/>
          <p:nvPr/>
        </p:nvSpPr>
        <p:spPr>
          <a:xfrm>
            <a:off x="1889760" y="2029968"/>
            <a:ext cx="487680" cy="0"/>
          </a:xfrm>
          <a:prstGeom prst="line">
            <a:avLst/>
          </a:prstGeom>
          <a:noFill/>
          <a:ln w="25400">
            <a:solidFill>
              <a:srgbClr val="D97A14"/>
            </a:solidFill>
            <a:prstDash val="solid"/>
            <a:tailEnd type="triangle"/>
          </a:ln>
        </p:spPr>
      </p:sp>
      <p:sp>
        <p:nvSpPr>
          <p:cNvPr id="10" name="Shape 8"/>
          <p:cNvSpPr/>
          <p:nvPr/>
        </p:nvSpPr>
        <p:spPr>
          <a:xfrm>
            <a:off x="2450592" y="1554480"/>
            <a:ext cx="950976" cy="950976"/>
          </a:xfrm>
          <a:prstGeom prst="ellipse">
            <a:avLst/>
          </a:prstGeom>
          <a:solidFill>
            <a:srgbClr val="D8D0C2"/>
          </a:solidFill>
          <a:ln w="25400">
            <a:solidFill>
              <a:srgbClr val="9A9183"/>
            </a:solidFill>
            <a:prstDash val="solid"/>
          </a:ln>
        </p:spPr>
      </p:sp>
      <p:sp>
        <p:nvSpPr>
          <p:cNvPr id="11" name="Shape 9"/>
          <p:cNvSpPr/>
          <p:nvPr/>
        </p:nvSpPr>
        <p:spPr>
          <a:xfrm>
            <a:off x="2798064" y="1920240"/>
            <a:ext cx="256032" cy="256032"/>
          </a:xfrm>
          <a:prstGeom prst="ellipse">
            <a:avLst/>
          </a:prstGeom>
          <a:solidFill>
            <a:srgbClr val="FAF6EF"/>
          </a:solidFill>
          <a:ln w="19050">
            <a:solidFill>
              <a:srgbClr val="9A9183"/>
            </a:solidFill>
            <a:prstDash val="solid"/>
          </a:ln>
        </p:spPr>
      </p:sp>
      <p:sp>
        <p:nvSpPr>
          <p:cNvPr id="12" name="Text 10"/>
          <p:cNvSpPr txBox="1"/>
          <p:nvPr/>
        </p:nvSpPr>
        <p:spPr>
          <a:xfrm>
            <a:off x="2148840" y="25877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Ngirmang</a:t>
            </a:r>
            <a:endParaRPr lang="en-US" sz="1100" dirty="0"/>
          </a:p>
        </p:txBody>
      </p:sp>
      <p:sp>
        <p:nvSpPr>
          <p:cNvPr id="13" name="Shape 11"/>
          <p:cNvSpPr/>
          <p:nvPr/>
        </p:nvSpPr>
        <p:spPr>
          <a:xfrm>
            <a:off x="3474720" y="2029968"/>
            <a:ext cx="487680" cy="0"/>
          </a:xfrm>
          <a:prstGeom prst="line">
            <a:avLst/>
          </a:prstGeom>
          <a:noFill/>
          <a:ln w="25400">
            <a:solidFill>
              <a:srgbClr val="D97A14"/>
            </a:solidFill>
            <a:prstDash val="solid"/>
            <a:tailEnd type="triangle"/>
          </a:ln>
        </p:spPr>
      </p:sp>
      <p:sp>
        <p:nvSpPr>
          <p:cNvPr id="14" name="Shape 12"/>
          <p:cNvSpPr/>
          <p:nvPr/>
        </p:nvSpPr>
        <p:spPr>
          <a:xfrm>
            <a:off x="4035552" y="1554480"/>
            <a:ext cx="950976" cy="950976"/>
          </a:xfrm>
          <a:prstGeom prst="ellipse">
            <a:avLst/>
          </a:prstGeom>
          <a:solidFill>
            <a:srgbClr val="D8D0C2"/>
          </a:solidFill>
          <a:ln w="25400">
            <a:solidFill>
              <a:srgbClr val="9A9183"/>
            </a:solidFill>
            <a:prstDash val="solid"/>
          </a:ln>
        </p:spPr>
      </p:sp>
      <p:sp>
        <p:nvSpPr>
          <p:cNvPr id="15" name="Shape 13"/>
          <p:cNvSpPr/>
          <p:nvPr/>
        </p:nvSpPr>
        <p:spPr>
          <a:xfrm>
            <a:off x="4383024" y="1920240"/>
            <a:ext cx="256032" cy="256032"/>
          </a:xfrm>
          <a:prstGeom prst="ellipse">
            <a:avLst/>
          </a:prstGeom>
          <a:solidFill>
            <a:srgbClr val="FAF6EF"/>
          </a:solidFill>
          <a:ln w="19050">
            <a:solidFill>
              <a:srgbClr val="9A9183"/>
            </a:solidFill>
            <a:prstDash val="solid"/>
          </a:ln>
        </p:spPr>
      </p:sp>
      <p:sp>
        <p:nvSpPr>
          <p:cNvPr id="16" name="Text 14"/>
          <p:cNvSpPr txBox="1"/>
          <p:nvPr/>
        </p:nvSpPr>
        <p:spPr>
          <a:xfrm>
            <a:off x="3733800" y="2587752"/>
            <a:ext cx="1554480" cy="27432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Teru</a:t>
            </a:r>
            <a:endParaRPr lang="en-US" sz="1100" dirty="0"/>
          </a:p>
        </p:txBody>
      </p:sp>
      <p:sp>
        <p:nvSpPr>
          <p:cNvPr id="17" name="Text 15"/>
          <p:cNvSpPr txBox="1"/>
          <p:nvPr/>
        </p:nvSpPr>
        <p:spPr>
          <a:xfrm>
            <a:off x="548640" y="2898648"/>
            <a:ext cx="4754880" cy="292608"/>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the stone stays; the owner changes in shared memory</a:t>
            </a:r>
            <a:endParaRPr lang="en-US" sz="1100" dirty="0"/>
          </a:p>
        </p:txBody>
      </p:sp>
      <p:sp>
        <p:nvSpPr>
          <p:cNvPr id="18" name="Shape 16"/>
          <p:cNvSpPr/>
          <p:nvPr/>
        </p:nvSpPr>
        <p:spPr>
          <a:xfrm>
            <a:off x="5669280" y="1734312"/>
            <a:ext cx="128016" cy="128016"/>
          </a:xfrm>
          <a:prstGeom prst="diamond">
            <a:avLst/>
          </a:prstGeom>
          <a:solidFill>
            <a:srgbClr val="D97A14"/>
          </a:solidFill>
          <a:ln w="12700">
            <a:solidFill>
              <a:srgbClr val="D97A14"/>
            </a:solidFill>
            <a:prstDash val="solid"/>
          </a:ln>
        </p:spPr>
      </p:sp>
      <p:sp>
        <p:nvSpPr>
          <p:cNvPr id="19" name="Text 17"/>
          <p:cNvSpPr txBox="1"/>
          <p:nvPr/>
        </p:nvSpPr>
        <p:spPr>
          <a:xfrm>
            <a:off x="5943600" y="1463040"/>
            <a:ext cx="2743200" cy="6705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Rai: stone discs too heavy to move</a:t>
            </a:r>
            <a:endParaRPr lang="en-US" sz="1250" dirty="0"/>
          </a:p>
        </p:txBody>
      </p:sp>
      <p:sp>
        <p:nvSpPr>
          <p:cNvPr id="20" name="Shape 18"/>
          <p:cNvSpPr/>
          <p:nvPr/>
        </p:nvSpPr>
        <p:spPr>
          <a:xfrm>
            <a:off x="5669280" y="2404872"/>
            <a:ext cx="128016" cy="128016"/>
          </a:xfrm>
          <a:prstGeom prst="diamond">
            <a:avLst/>
          </a:prstGeom>
          <a:solidFill>
            <a:srgbClr val="D97A14"/>
          </a:solidFill>
          <a:ln w="12700">
            <a:solidFill>
              <a:srgbClr val="D97A14"/>
            </a:solidFill>
            <a:prstDash val="solid"/>
          </a:ln>
        </p:spPr>
      </p:sp>
      <p:sp>
        <p:nvSpPr>
          <p:cNvPr id="21" name="Text 19"/>
          <p:cNvSpPr txBox="1"/>
          <p:nvPr/>
        </p:nvSpPr>
        <p:spPr>
          <a:xfrm>
            <a:off x="5943600" y="2133600"/>
            <a:ext cx="2743200" cy="6705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Ownership lived in everyone's memory</a:t>
            </a:r>
            <a:endParaRPr lang="en-US" sz="1250" dirty="0"/>
          </a:p>
        </p:txBody>
      </p:sp>
      <p:sp>
        <p:nvSpPr>
          <p:cNvPr id="22" name="Shape 20"/>
          <p:cNvSpPr/>
          <p:nvPr/>
        </p:nvSpPr>
        <p:spPr>
          <a:xfrm>
            <a:off x="5669280" y="3075432"/>
            <a:ext cx="128016" cy="128016"/>
          </a:xfrm>
          <a:prstGeom prst="diamond">
            <a:avLst/>
          </a:prstGeom>
          <a:solidFill>
            <a:srgbClr val="D97A14"/>
          </a:solidFill>
          <a:ln w="12700">
            <a:solidFill>
              <a:srgbClr val="D97A14"/>
            </a:solidFill>
            <a:prstDash val="solid"/>
          </a:ln>
        </p:spPr>
      </p:sp>
      <p:sp>
        <p:nvSpPr>
          <p:cNvPr id="23" name="Text 21"/>
          <p:cNvSpPr txBox="1"/>
          <p:nvPr/>
        </p:nvSpPr>
        <p:spPr>
          <a:xfrm>
            <a:off x="5943600" y="2804160"/>
            <a:ext cx="2743200" cy="670560"/>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One sunken stone kept trading</a:t>
            </a:r>
            <a:endParaRPr lang="en-US" sz="1250" dirty="0"/>
          </a:p>
        </p:txBody>
      </p:sp>
      <p:sp>
        <p:nvSpPr>
          <p:cNvPr id="24" name="Shape 22"/>
          <p:cNvSpPr/>
          <p:nvPr/>
        </p:nvSpPr>
        <p:spPr>
          <a:xfrm>
            <a:off x="5669280" y="3657600"/>
            <a:ext cx="2743200" cy="402336"/>
          </a:xfrm>
          <a:prstGeom prst="roundRect">
            <a:avLst>
              <a:gd name="adj" fmla="val 50000"/>
            </a:avLst>
          </a:prstGeom>
          <a:solidFill>
            <a:srgbClr val="2F6D62"/>
          </a:solidFill>
          <a:ln w="12700">
            <a:solidFill>
              <a:srgbClr val="2F6D62"/>
            </a:solidFill>
            <a:prstDash val="solid"/>
          </a:ln>
        </p:spPr>
      </p:sp>
      <p:sp>
        <p:nvSpPr>
          <p:cNvPr id="25" name="Text 23"/>
          <p:cNvSpPr txBox="1"/>
          <p:nvPr/>
        </p:nvSpPr>
        <p:spPr>
          <a:xfrm>
            <a:off x="5669280" y="3657600"/>
            <a:ext cx="2743200"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Yap, documented 1903</a:t>
            </a:r>
            <a:endParaRPr lang="en-US" sz="1300" dirty="0"/>
          </a:p>
        </p:txBody>
      </p:sp>
      <p:sp>
        <p:nvSpPr>
          <p:cNvPr id="26" name="Text 24"/>
          <p:cNvSpPr txBox="1"/>
          <p:nvPr/>
        </p:nvSpPr>
        <p:spPr>
          <a:xfrm>
            <a:off x="548640" y="3611880"/>
            <a:ext cx="4754880" cy="9144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currency can be nothing but a trusted ledger</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Bitcoin makes that ledger digital and public</a:t>
            </a:r>
            <a:endParaRPr lang="en-US" sz="1350" dirty="0"/>
          </a:p>
        </p:txBody>
      </p:sp>
      <p:sp>
        <p:nvSpPr>
          <p:cNvPr id="27" name="Shape 25"/>
          <p:cNvSpPr/>
          <p:nvPr/>
        </p:nvSpPr>
        <p:spPr>
          <a:xfrm>
            <a:off x="457200" y="4636008"/>
            <a:ext cx="91440" cy="310896"/>
          </a:xfrm>
          <a:prstGeom prst="rect">
            <a:avLst/>
          </a:prstGeom>
          <a:solidFill>
            <a:srgbClr val="D97A14"/>
          </a:solidFill>
          <a:ln w="12700">
            <a:solidFill>
              <a:srgbClr val="D97A14"/>
            </a:solidFill>
            <a:prstDash val="solid"/>
          </a:ln>
        </p:spPr>
      </p:sp>
      <p:sp>
        <p:nvSpPr>
          <p:cNvPr id="28" name="Text 2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is a ledger; Bitcoin makes it digital</a:t>
            </a:r>
            <a:endParaRPr lang="en-US" sz="1350" dirty="0"/>
          </a:p>
        </p:txBody>
      </p:sp>
      <p:sp>
        <p:nvSpPr>
          <p:cNvPr id="29" name="Text 2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34</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One bitcoin divides into 100 million satoshis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unit and its divisions - run, not quoted</a:t>
            </a:r>
            <a:endParaRPr lang="en-US" sz="1300" dirty="0"/>
          </a:p>
        </p:txBody>
      </p:sp>
      <p:sp>
        <p:nvSpPr>
          <p:cNvPr id="6" name="Shape 4"/>
          <p:cNvSpPr/>
          <p:nvPr/>
        </p:nvSpPr>
        <p:spPr>
          <a:xfrm>
            <a:off x="457200" y="1371600"/>
            <a:ext cx="2426208" cy="1051560"/>
          </a:xfrm>
          <a:prstGeom prst="roundRect">
            <a:avLst>
              <a:gd name="adj" fmla="val 8696"/>
            </a:avLst>
          </a:prstGeom>
          <a:solidFill>
            <a:srgbClr val="2F6D62"/>
          </a:solidFill>
          <a:ln w="12700">
            <a:solidFill>
              <a:srgbClr val="2F6D62"/>
            </a:solidFill>
            <a:prstDash val="solid"/>
          </a:ln>
        </p:spPr>
      </p:sp>
      <p:sp>
        <p:nvSpPr>
          <p:cNvPr id="7" name="Text 5"/>
          <p:cNvSpPr txBox="1"/>
          <p:nvPr/>
        </p:nvSpPr>
        <p:spPr>
          <a:xfrm>
            <a:off x="530352"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 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currency unit</a:t>
            </a:r>
            <a:endParaRPr lang="en-US" sz="1300" dirty="0"/>
          </a:p>
        </p:txBody>
      </p:sp>
      <p:sp>
        <p:nvSpPr>
          <p:cNvPr id="8" name="Shape 6"/>
          <p:cNvSpPr/>
          <p:nvPr/>
        </p:nvSpPr>
        <p:spPr>
          <a:xfrm>
            <a:off x="2938272" y="1897380"/>
            <a:ext cx="365760" cy="0"/>
          </a:xfrm>
          <a:prstGeom prst="line">
            <a:avLst/>
          </a:prstGeom>
          <a:noFill/>
          <a:ln w="25400">
            <a:solidFill>
              <a:srgbClr val="D97A14"/>
            </a:solidFill>
            <a:prstDash val="solid"/>
            <a:tailEnd type="triangle"/>
          </a:ln>
        </p:spPr>
      </p:sp>
      <p:sp>
        <p:nvSpPr>
          <p:cNvPr id="9" name="Shape 7"/>
          <p:cNvSpPr/>
          <p:nvPr/>
        </p:nvSpPr>
        <p:spPr>
          <a:xfrm>
            <a:off x="3358896" y="1371600"/>
            <a:ext cx="2426208" cy="1051560"/>
          </a:xfrm>
          <a:prstGeom prst="roundRect">
            <a:avLst>
              <a:gd name="adj" fmla="val 8696"/>
            </a:avLst>
          </a:prstGeom>
          <a:solidFill>
            <a:srgbClr val="2F6D62"/>
          </a:solidFill>
          <a:ln w="12700">
            <a:solidFill>
              <a:srgbClr val="2F6D62"/>
            </a:solidFill>
            <a:prstDash val="solid"/>
          </a:ln>
        </p:spPr>
      </p:sp>
      <p:sp>
        <p:nvSpPr>
          <p:cNvPr id="10" name="Text 8"/>
          <p:cNvSpPr txBox="1"/>
          <p:nvPr/>
        </p:nvSpPr>
        <p:spPr>
          <a:xfrm>
            <a:off x="3432048"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 mBTC</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millibitcoin</a:t>
            </a:r>
            <a:endParaRPr lang="en-US" sz="1300" dirty="0"/>
          </a:p>
        </p:txBody>
      </p:sp>
      <p:sp>
        <p:nvSpPr>
          <p:cNvPr id="11" name="Shape 9"/>
          <p:cNvSpPr/>
          <p:nvPr/>
        </p:nvSpPr>
        <p:spPr>
          <a:xfrm>
            <a:off x="5839968" y="1897380"/>
            <a:ext cx="365760" cy="0"/>
          </a:xfrm>
          <a:prstGeom prst="line">
            <a:avLst/>
          </a:prstGeom>
          <a:noFill/>
          <a:ln w="25400">
            <a:solidFill>
              <a:srgbClr val="D97A14"/>
            </a:solidFill>
            <a:prstDash val="solid"/>
            <a:tailEnd type="triangle"/>
          </a:ln>
        </p:spPr>
      </p:sp>
      <p:sp>
        <p:nvSpPr>
          <p:cNvPr id="12" name="Shape 10"/>
          <p:cNvSpPr/>
          <p:nvPr/>
        </p:nvSpPr>
        <p:spPr>
          <a:xfrm>
            <a:off x="6260592" y="1371600"/>
            <a:ext cx="2426208" cy="1051560"/>
          </a:xfrm>
          <a:prstGeom prst="roundRect">
            <a:avLst>
              <a:gd name="adj" fmla="val 8696"/>
            </a:avLst>
          </a:prstGeom>
          <a:solidFill>
            <a:srgbClr val="2F6D62"/>
          </a:solidFill>
          <a:ln w="12700">
            <a:solidFill>
              <a:srgbClr val="2F6D62"/>
            </a:solidFill>
            <a:prstDash val="solid"/>
          </a:ln>
        </p:spPr>
      </p:sp>
      <p:sp>
        <p:nvSpPr>
          <p:cNvPr id="13" name="Text 11"/>
          <p:cNvSpPr txBox="1"/>
          <p:nvPr/>
        </p:nvSpPr>
        <p:spPr>
          <a:xfrm>
            <a:off x="6333744" y="1417320"/>
            <a:ext cx="2279904" cy="9601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100,000,000 sat</a:t>
            </a:r>
            <a:endParaRPr lang="en-US" sz="1300" dirty="0"/>
          </a:p>
          <a:p>
            <a:pPr algn="ctr" indent="0" marL="0">
              <a:buNone/>
            </a:pPr>
            <a:r>
              <a:rPr lang="en-US" sz="1050" dirty="0">
                <a:solidFill>
                  <a:srgbClr val="D7E4E0"/>
                </a:solidFill>
                <a:latin typeface="Calibri" pitchFamily="34" charset="0"/>
                <a:ea typeface="Calibri" pitchFamily="34" charset="-122"/>
                <a:cs typeface="Calibri" pitchFamily="34" charset="-120"/>
              </a:rPr>
              <a:t>the smallest unit</a:t>
            </a:r>
            <a:endParaRPr lang="en-US" sz="1300" dirty="0"/>
          </a:p>
        </p:txBody>
      </p:sp>
      <p:sp>
        <p:nvSpPr>
          <p:cNvPr id="14" name="Text 12"/>
          <p:cNvSpPr txBox="1"/>
          <p:nvPr/>
        </p:nvSpPr>
        <p:spPr>
          <a:xfrm>
            <a:off x="457200" y="24688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0.001 BTC, counted in satoshis</a:t>
            </a:r>
            <a:endParaRPr lang="en-US" sz="1150" dirty="0"/>
          </a:p>
        </p:txBody>
      </p:sp>
      <p:sp>
        <p:nvSpPr>
          <p:cNvPr id="15" name="Shape 13"/>
          <p:cNvSpPr/>
          <p:nvPr/>
        </p:nvSpPr>
        <p:spPr>
          <a:xfrm>
            <a:off x="457200" y="2743200"/>
            <a:ext cx="5120640" cy="1005840"/>
          </a:xfrm>
          <a:prstGeom prst="roundRect">
            <a:avLst>
              <a:gd name="adj" fmla="val 9091"/>
            </a:avLst>
          </a:prstGeom>
          <a:solidFill>
            <a:srgbClr val="23272E"/>
          </a:solidFill>
          <a:ln w="12700">
            <a:solidFill>
              <a:srgbClr val="23272E"/>
            </a:solidFill>
            <a:prstDash val="solid"/>
          </a:ln>
        </p:spPr>
      </p:sp>
      <p:sp>
        <p:nvSpPr>
          <p:cNvPr id="16" name="Text 14"/>
          <p:cNvSpPr txBox="1"/>
          <p:nvPr/>
        </p:nvSpPr>
        <p:spPr>
          <a:xfrm>
            <a:off x="640080" y="2862072"/>
            <a:ext cx="4754880" cy="76809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int(decimal.Decimal('0.001')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100000</a:t>
            </a:r>
            <a:endParaRPr lang="en-US" sz="1100" dirty="0"/>
          </a:p>
        </p:txBody>
      </p:sp>
      <p:sp>
        <p:nvSpPr>
          <p:cNvPr id="17" name="Text 15"/>
          <p:cNvSpPr txBox="1"/>
          <p:nvPr/>
        </p:nvSpPr>
        <p:spPr>
          <a:xfrm>
            <a:off x="457200" y="3767328"/>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pic>
        <p:nvPicPr>
          <p:cNvPr id="18" name="Image 0" descr="../../03-materials/ch01/assets/c2s07_fractions.jpg">    </p:cNvPr>
          <p:cNvPicPr>
            <a:picLocks noChangeAspect="1"/>
          </p:cNvPicPr>
          <p:nvPr/>
        </p:nvPicPr>
        <p:blipFill>
          <a:blip r:embed="rId1"/>
          <a:srcRect l="0" r="0" t="0" b="0"/>
          <a:stretch/>
        </p:blipFill>
        <p:spPr>
          <a:xfrm>
            <a:off x="5806440" y="2697480"/>
            <a:ext cx="2880360" cy="1600200"/>
          </a:xfrm>
          <a:prstGeom prst="rect">
            <a:avLst/>
          </a:prstGeom>
        </p:spPr>
      </p:pic>
      <p:sp>
        <p:nvSpPr>
          <p:cNvPr id="19" name="Text 16"/>
          <p:cNvSpPr txBox="1"/>
          <p:nvPr/>
        </p:nvSpPr>
        <p:spPr>
          <a:xfrm>
            <a:off x="5806440" y="4315968"/>
            <a:ext cx="2880360" cy="237744"/>
          </a:xfrm>
          <a:prstGeom prst="rect">
            <a:avLst/>
          </a:prstGeom>
          <a:noFill/>
          <a:ln/>
        </p:spPr>
        <p:txBody>
          <a:bodyPr wrap="square" lIns="0" tIns="0" rIns="0" bIns="0" rtlCol="0" anchor="ctr"/>
          <a:lstStyle/>
          <a:p>
            <a:pPr algn="ctr" indent="0" marL="0">
              <a:buNone/>
            </a:pPr>
            <a:r>
              <a:rPr lang="en-US" sz="950" i="1" dirty="0">
                <a:solidFill>
                  <a:srgbClr val="6E655C"/>
                </a:solidFill>
                <a:latin typeface="Calibri" pitchFamily="34" charset="0"/>
                <a:ea typeface="Calibri" pitchFamily="34" charset="-122"/>
                <a:cs typeface="Calibri" pitchFamily="34" charset="-120"/>
              </a:rPr>
              <a:t>the fraction table, from the owner's 2025 deck</a:t>
            </a:r>
            <a:endParaRPr lang="en-US" sz="9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Money here is counting, and the units are exact</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34</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21 million, by rule - not by promise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Issuance halves every 210,000 blocks; the cap is the sum</a:t>
            </a:r>
            <a:endParaRPr lang="en-US" sz="1300" dirty="0"/>
          </a:p>
        </p:txBody>
      </p:sp>
      <p:graphicFrame>
        <p:nvGraphicFramePr>
          <p:cNvPr id="6" name="Chart 0" descr=""/>
          <p:cNvGraphicFramePr/>
          <p:nvPr/>
        </p:nvGraphicFramePr>
        <p:xfrm>
          <a:off x="457200" y="1325880"/>
          <a:ext cx="5120640" cy="324612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5760720" y="1325880"/>
            <a:ext cx="2926080" cy="996696"/>
          </a:xfrm>
          <a:prstGeom prst="roundRect">
            <a:avLst>
              <a:gd name="adj" fmla="val 7339"/>
            </a:avLst>
          </a:prstGeom>
          <a:solidFill>
            <a:srgbClr val="F2ECE1"/>
          </a:solidFill>
          <a:ln w="12700">
            <a:solidFill>
              <a:srgbClr val="DFD6C7"/>
            </a:solidFill>
            <a:prstDash val="solid"/>
          </a:ln>
        </p:spPr>
      </p:sp>
      <p:sp>
        <p:nvSpPr>
          <p:cNvPr id="8" name="Text 5"/>
          <p:cNvSpPr txBox="1"/>
          <p:nvPr/>
        </p:nvSpPr>
        <p:spPr>
          <a:xfrm>
            <a:off x="5870448" y="1362456"/>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210,000</a:t>
            </a:r>
            <a:endParaRPr lang="en-US" sz="2600" dirty="0"/>
          </a:p>
        </p:txBody>
      </p:sp>
      <p:sp>
        <p:nvSpPr>
          <p:cNvPr id="9" name="Text 6"/>
          <p:cNvSpPr txBox="1"/>
          <p:nvPr/>
        </p:nvSpPr>
        <p:spPr>
          <a:xfrm>
            <a:off x="5870448" y="1844162"/>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blocks between halvings</a:t>
            </a:r>
            <a:endParaRPr lang="en-US" sz="1100" dirty="0"/>
          </a:p>
        </p:txBody>
      </p:sp>
      <p:sp>
        <p:nvSpPr>
          <p:cNvPr id="10" name="Shape 7"/>
          <p:cNvSpPr/>
          <p:nvPr/>
        </p:nvSpPr>
        <p:spPr>
          <a:xfrm>
            <a:off x="5760720" y="2450592"/>
            <a:ext cx="2926080" cy="996696"/>
          </a:xfrm>
          <a:prstGeom prst="roundRect">
            <a:avLst>
              <a:gd name="adj" fmla="val 7339"/>
            </a:avLst>
          </a:prstGeom>
          <a:solidFill>
            <a:srgbClr val="F2ECE1"/>
          </a:solidFill>
          <a:ln w="12700">
            <a:solidFill>
              <a:srgbClr val="DFD6C7"/>
            </a:solidFill>
            <a:prstDash val="solid"/>
          </a:ln>
        </p:spPr>
      </p:sp>
      <p:sp>
        <p:nvSpPr>
          <p:cNvPr id="11" name="Text 8"/>
          <p:cNvSpPr txBox="1"/>
          <p:nvPr/>
        </p:nvSpPr>
        <p:spPr>
          <a:xfrm>
            <a:off x="5870448" y="2487168"/>
            <a:ext cx="2706624" cy="518282"/>
          </a:xfrm>
          <a:prstGeom prst="rect">
            <a:avLst/>
          </a:prstGeom>
          <a:noFill/>
          <a:ln/>
        </p:spPr>
        <p:txBody>
          <a:bodyPr wrap="square" lIns="0" tIns="0" rIns="0" bIns="0" rtlCol="0" anchor="ctr"/>
          <a:lstStyle/>
          <a:p>
            <a:pPr indent="0" marL="0">
              <a:buNone/>
            </a:pPr>
            <a:r>
              <a:rPr lang="en-US" sz="2000" b="1" dirty="0">
                <a:solidFill>
                  <a:srgbClr val="D97A14"/>
                </a:solidFill>
                <a:latin typeface="Cambria" pitchFamily="34" charset="0"/>
                <a:ea typeface="Cambria" pitchFamily="34" charset="-122"/>
                <a:cs typeface="Cambria" pitchFamily="34" charset="-120"/>
              </a:rPr>
              <a:t>20999999.9769</a:t>
            </a:r>
            <a:endParaRPr lang="en-US" sz="2000" dirty="0"/>
          </a:p>
        </p:txBody>
      </p:sp>
      <p:sp>
        <p:nvSpPr>
          <p:cNvPr id="12" name="Text 9"/>
          <p:cNvSpPr txBox="1"/>
          <p:nvPr/>
        </p:nvSpPr>
        <p:spPr>
          <a:xfrm>
            <a:off x="5870448" y="2968874"/>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sum of every era's issuance</a:t>
            </a:r>
            <a:endParaRPr lang="en-US" sz="1100" dirty="0"/>
          </a:p>
        </p:txBody>
      </p:sp>
      <p:sp>
        <p:nvSpPr>
          <p:cNvPr id="13" name="Shape 10"/>
          <p:cNvSpPr/>
          <p:nvPr/>
        </p:nvSpPr>
        <p:spPr>
          <a:xfrm>
            <a:off x="5760720" y="3575304"/>
            <a:ext cx="2926080" cy="996696"/>
          </a:xfrm>
          <a:prstGeom prst="roundRect">
            <a:avLst>
              <a:gd name="adj" fmla="val 7339"/>
            </a:avLst>
          </a:prstGeom>
          <a:solidFill>
            <a:srgbClr val="F2ECE1"/>
          </a:solidFill>
          <a:ln w="12700">
            <a:solidFill>
              <a:srgbClr val="DFD6C7"/>
            </a:solidFill>
            <a:prstDash val="solid"/>
          </a:ln>
        </p:spPr>
      </p:sp>
      <p:sp>
        <p:nvSpPr>
          <p:cNvPr id="14" name="Text 11"/>
          <p:cNvSpPr txBox="1"/>
          <p:nvPr/>
        </p:nvSpPr>
        <p:spPr>
          <a:xfrm>
            <a:off x="5870448" y="3611880"/>
            <a:ext cx="2706624" cy="518282"/>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~2140</a:t>
            </a:r>
            <a:endParaRPr lang="en-US" sz="2600" dirty="0"/>
          </a:p>
        </p:txBody>
      </p:sp>
      <p:sp>
        <p:nvSpPr>
          <p:cNvPr id="15" name="Text 12"/>
          <p:cNvSpPr txBox="1"/>
          <p:nvPr/>
        </p:nvSpPr>
        <p:spPr>
          <a:xfrm>
            <a:off x="5870448" y="4093586"/>
            <a:ext cx="2706624" cy="438546"/>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the year issuance ends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Scarcity is enforced by arithmetic every node checks</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34</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schedule, executed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cap is an arithmetic fact - the slide computes it</a:t>
            </a:r>
            <a:endParaRPr lang="en-US" sz="1300" dirty="0"/>
          </a:p>
        </p:txBody>
      </p:sp>
      <p:sp>
        <p:nvSpPr>
          <p:cNvPr id="6" name="Text 4"/>
          <p:cNvSpPr txBox="1"/>
          <p:nvPr/>
        </p:nvSpPr>
        <p:spPr>
          <a:xfrm>
            <a:off x="457200" y="1371600"/>
            <a:ext cx="3200400" cy="301752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Sum every era and the cap appears</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 halving is one shift right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Any height tells you its subsidy</a:t>
            </a:r>
            <a:endParaRPr lang="en-US" sz="1450" dirty="0"/>
          </a:p>
        </p:txBody>
      </p:sp>
      <p:sp>
        <p:nvSpPr>
          <p:cNvPr id="7" name="Text 5"/>
          <p:cNvSpPr txBox="1"/>
          <p:nvPr/>
        </p:nvSpPr>
        <p:spPr>
          <a:xfrm>
            <a:off x="3840480" y="102412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cap, summed over 33 eras</a:t>
            </a:r>
            <a:endParaRPr lang="en-US" sz="1150" dirty="0"/>
          </a:p>
        </p:txBody>
      </p:sp>
      <p:sp>
        <p:nvSpPr>
          <p:cNvPr id="8" name="Shape 6"/>
          <p:cNvSpPr/>
          <p:nvPr/>
        </p:nvSpPr>
        <p:spPr>
          <a:xfrm>
            <a:off x="3840480" y="1298448"/>
            <a:ext cx="4846320" cy="914400"/>
          </a:xfrm>
          <a:prstGeom prst="roundRect">
            <a:avLst>
              <a:gd name="adj" fmla="val 10000"/>
            </a:avLst>
          </a:prstGeom>
          <a:solidFill>
            <a:srgbClr val="23272E"/>
          </a:solidFill>
          <a:ln w="12700">
            <a:solidFill>
              <a:srgbClr val="23272E"/>
            </a:solidFill>
            <a:prstDash val="solid"/>
          </a:ln>
        </p:spPr>
      </p:sp>
      <p:sp>
        <p:nvSpPr>
          <p:cNvPr id="9" name="Text 7"/>
          <p:cNvSpPr txBox="1"/>
          <p:nvPr/>
        </p:nvSpPr>
        <p:spPr>
          <a:xfrm>
            <a:off x="4023360" y="141732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sum((50 * 10**8 &gt;&gt; era) * 210000 for era in range(33))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20999999.9769</a:t>
            </a:r>
            <a:endParaRPr lang="en-US" sz="1100" dirty="0"/>
          </a:p>
        </p:txBody>
      </p:sp>
      <p:sp>
        <p:nvSpPr>
          <p:cNvPr id="10" name="Text 8"/>
          <p:cNvSpPr txBox="1"/>
          <p:nvPr/>
        </p:nvSpPr>
        <p:spPr>
          <a:xfrm>
            <a:off x="3840480" y="223113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3840480" y="212140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One halving = divide by two</a:t>
            </a:r>
            <a:endParaRPr lang="en-US" sz="1150" dirty="0"/>
          </a:p>
        </p:txBody>
      </p:sp>
      <p:sp>
        <p:nvSpPr>
          <p:cNvPr id="12" name="Shape 10"/>
          <p:cNvSpPr/>
          <p:nvPr/>
        </p:nvSpPr>
        <p:spPr>
          <a:xfrm>
            <a:off x="3840480" y="2395728"/>
            <a:ext cx="4846320" cy="914400"/>
          </a:xfrm>
          <a:prstGeom prst="roundRect">
            <a:avLst>
              <a:gd name="adj" fmla="val 10000"/>
            </a:avLst>
          </a:prstGeom>
          <a:solidFill>
            <a:srgbClr val="23272E"/>
          </a:solidFill>
          <a:ln w="12700">
            <a:solidFill>
              <a:srgbClr val="23272E"/>
            </a:solidFill>
            <a:prstDash val="solid"/>
          </a:ln>
        </p:spPr>
      </p:sp>
      <p:sp>
        <p:nvSpPr>
          <p:cNvPr id="13" name="Text 11"/>
          <p:cNvSpPr txBox="1"/>
          <p:nvPr/>
        </p:nvSpPr>
        <p:spPr>
          <a:xfrm>
            <a:off x="4023360" y="251460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840000 // 210000) / 10**8</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3.125</a:t>
            </a:r>
            <a:endParaRPr lang="en-US" sz="1100" dirty="0"/>
          </a:p>
        </p:txBody>
      </p:sp>
      <p:sp>
        <p:nvSpPr>
          <p:cNvPr id="14" name="Text 12"/>
          <p:cNvSpPr txBox="1"/>
          <p:nvPr/>
        </p:nvSpPr>
        <p:spPr>
          <a:xfrm>
            <a:off x="3840480" y="332841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Text 13"/>
          <p:cNvSpPr txBox="1"/>
          <p:nvPr/>
        </p:nvSpPr>
        <p:spPr>
          <a:xfrm>
            <a:off x="3840480" y="3218688"/>
            <a:ext cx="48463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The subsidy at any block height</a:t>
            </a:r>
            <a:endParaRPr lang="en-US" sz="1150" dirty="0"/>
          </a:p>
        </p:txBody>
      </p:sp>
      <p:sp>
        <p:nvSpPr>
          <p:cNvPr id="16" name="Shape 14"/>
          <p:cNvSpPr/>
          <p:nvPr/>
        </p:nvSpPr>
        <p:spPr>
          <a:xfrm>
            <a:off x="3840480" y="3493008"/>
            <a:ext cx="4846320" cy="914400"/>
          </a:xfrm>
          <a:prstGeom prst="roundRect">
            <a:avLst>
              <a:gd name="adj" fmla="val 10000"/>
            </a:avLst>
          </a:prstGeom>
          <a:solidFill>
            <a:srgbClr val="23272E"/>
          </a:solidFill>
          <a:ln w="12700">
            <a:solidFill>
              <a:srgbClr val="23272E"/>
            </a:solidFill>
            <a:prstDash val="solid"/>
          </a:ln>
        </p:spPr>
      </p:sp>
      <p:sp>
        <p:nvSpPr>
          <p:cNvPr id="17" name="Text 15"/>
          <p:cNvSpPr txBox="1"/>
          <p:nvPr/>
        </p:nvSpPr>
        <p:spPr>
          <a:xfrm>
            <a:off x="4023360" y="3611880"/>
            <a:ext cx="4480560" cy="67665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[(50 * 10**8 &gt;&gt; h // 210000) / 10**8 for h in (0, 210000, 420000, 630000, 840000)]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[50.0, 25.0, 12.5, 6.25, 3.125]</a:t>
            </a:r>
            <a:endParaRPr lang="en-US" sz="1100" dirty="0"/>
          </a:p>
        </p:txBody>
      </p:sp>
      <p:sp>
        <p:nvSpPr>
          <p:cNvPr id="18" name="Text 16"/>
          <p:cNvSpPr txBox="1"/>
          <p:nvPr/>
        </p:nvSpPr>
        <p:spPr>
          <a:xfrm>
            <a:off x="3840480" y="4425696"/>
            <a:ext cx="48463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Three one-liners reproduce the whole monetary policy</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34</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Price is discovered, not declared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No authority sets an exchange rate</a:t>
            </a:r>
            <a:endParaRPr lang="en-US" sz="1300" dirty="0"/>
          </a:p>
        </p:txBody>
      </p:sp>
      <p:sp>
        <p:nvSpPr>
          <p:cNvPr id="6" name="Text 4"/>
          <p:cNvSpPr txBox="1"/>
          <p:nvPr/>
        </p:nvSpPr>
        <p:spPr>
          <a:xfrm>
            <a:off x="457200" y="1371600"/>
            <a:ext cx="4023360" cy="31089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Bitcoin floats against every other currency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Markets discover the price trade by trade</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volume-weighted average summarises a day</a:t>
            </a:r>
            <a:endParaRPr lang="en-US" sz="1500" dirty="0"/>
          </a:p>
        </p:txBody>
      </p:sp>
      <p:sp>
        <p:nvSpPr>
          <p:cNvPr id="7" name="Text 5"/>
          <p:cNvSpPr txBox="1"/>
          <p:nvPr/>
        </p:nvSpPr>
        <p:spPr>
          <a:xfrm>
            <a:off x="4663440" y="109728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price is a ratio of two quotes</a:t>
            </a:r>
            <a:endParaRPr lang="en-US" sz="1150" dirty="0"/>
          </a:p>
        </p:txBody>
      </p:sp>
      <p:sp>
        <p:nvSpPr>
          <p:cNvPr id="8" name="Shape 6"/>
          <p:cNvSpPr/>
          <p:nvPr/>
        </p:nvSpPr>
        <p:spPr>
          <a:xfrm>
            <a:off x="4663440" y="1371600"/>
            <a:ext cx="4023360" cy="1188720"/>
          </a:xfrm>
          <a:prstGeom prst="roundRect">
            <a:avLst>
              <a:gd name="adj" fmla="val 7692"/>
            </a:avLst>
          </a:prstGeom>
          <a:solidFill>
            <a:srgbClr val="23272E"/>
          </a:solidFill>
          <a:ln w="12700">
            <a:solidFill>
              <a:srgbClr val="23272E"/>
            </a:solidFill>
            <a:prstDash val="solid"/>
          </a:ln>
        </p:spPr>
      </p:sp>
      <p:sp>
        <p:nvSpPr>
          <p:cNvPr id="9" name="Text 7"/>
          <p:cNvSpPr txBox="1"/>
          <p:nvPr/>
        </p:nvSpPr>
        <p:spPr>
          <a:xfrm>
            <a:off x="4846320" y="149047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round(0.001 * 60000, 2)</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60.0</a:t>
            </a:r>
            <a:endParaRPr lang="en-US" sz="1100" dirty="0"/>
          </a:p>
        </p:txBody>
      </p:sp>
      <p:sp>
        <p:nvSpPr>
          <p:cNvPr id="10" name="Text 8"/>
          <p:cNvSpPr txBox="1"/>
          <p:nvPr/>
        </p:nvSpPr>
        <p:spPr>
          <a:xfrm>
            <a:off x="4663440" y="257860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1" name="Text 9"/>
          <p:cNvSpPr txBox="1"/>
          <p:nvPr/>
        </p:nvSpPr>
        <p:spPr>
          <a:xfrm>
            <a:off x="4663440" y="2560320"/>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day summarised fairly, by volume</a:t>
            </a:r>
            <a:endParaRPr lang="en-US" sz="1150" dirty="0"/>
          </a:p>
        </p:txBody>
      </p:sp>
      <p:sp>
        <p:nvSpPr>
          <p:cNvPr id="12" name="Shape 10"/>
          <p:cNvSpPr/>
          <p:nvPr/>
        </p:nvSpPr>
        <p:spPr>
          <a:xfrm>
            <a:off x="4663440" y="2834640"/>
            <a:ext cx="4023360" cy="1188720"/>
          </a:xfrm>
          <a:prstGeom prst="roundRect">
            <a:avLst>
              <a:gd name="adj" fmla="val 7692"/>
            </a:avLst>
          </a:prstGeom>
          <a:solidFill>
            <a:srgbClr val="23272E"/>
          </a:solidFill>
          <a:ln w="12700">
            <a:solidFill>
              <a:srgbClr val="23272E"/>
            </a:solidFill>
            <a:prstDash val="solid"/>
          </a:ln>
        </p:spPr>
      </p:sp>
      <p:sp>
        <p:nvSpPr>
          <p:cNvPr id="13" name="Text 11"/>
          <p:cNvSpPr txBox="1"/>
          <p:nvPr/>
        </p:nvSpPr>
        <p:spPr>
          <a:xfrm>
            <a:off x="4846320" y="2953512"/>
            <a:ext cx="3657600" cy="9509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pPr indent="0" marL="0">
              <a:buNone/>
            </a:pPr>
            <a:r>
              <a:rPr lang="en-US" sz="1100" dirty="0">
                <a:solidFill>
                  <a:srgbClr val="E6EDF3"/>
                </a:solidFill>
                <a:latin typeface="Courier New" pitchFamily="34" charset="0"/>
                <a:ea typeface="Courier New" pitchFamily="34" charset="-122"/>
                <a:cs typeface="Courier New" pitchFamily="34" charset="-120"/>
              </a:rPr>
              <a:t>sum(p * v for p, v in [(100, 3), (104, 1)]) / sum(v for p, v in [(100, 3), (104, 1)])</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101.0</a:t>
            </a:r>
            <a:endParaRPr lang="en-US" sz="1100" dirty="0"/>
          </a:p>
        </p:txBody>
      </p:sp>
      <p:sp>
        <p:nvSpPr>
          <p:cNvPr id="14" name="Text 12"/>
          <p:cNvSpPr txBox="1"/>
          <p:nvPr/>
        </p:nvSpPr>
        <p:spPr>
          <a:xfrm>
            <a:off x="4663440" y="4041648"/>
            <a:ext cx="40233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3.14.4</a:t>
            </a:r>
            <a:endParaRPr lang="en-US" sz="9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one sets the price; everyone does</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34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pizzas for ten thousand bitcoin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22 May 2010</a:t>
            </a:r>
            <a:endParaRPr lang="en-US" sz="1300" dirty="0"/>
          </a:p>
        </p:txBody>
      </p:sp>
      <p:sp>
        <p:nvSpPr>
          <p:cNvPr id="6" name="Shape 4"/>
          <p:cNvSpPr/>
          <p:nvPr/>
        </p:nvSpPr>
        <p:spPr>
          <a:xfrm>
            <a:off x="457200" y="1554480"/>
            <a:ext cx="2148840" cy="1554480"/>
          </a:xfrm>
          <a:prstGeom prst="roundRect">
            <a:avLst>
              <a:gd name="adj" fmla="val 5882"/>
            </a:avLst>
          </a:prstGeom>
          <a:solidFill>
            <a:srgbClr val="F2ECE1"/>
          </a:solidFill>
          <a:ln w="15875">
            <a:solidFill>
              <a:srgbClr val="D97A14"/>
            </a:solidFill>
            <a:prstDash val="solid"/>
          </a:ln>
        </p:spPr>
      </p:sp>
      <p:sp>
        <p:nvSpPr>
          <p:cNvPr id="7" name="Text 5"/>
          <p:cNvSpPr txBox="1"/>
          <p:nvPr/>
        </p:nvSpPr>
        <p:spPr>
          <a:xfrm>
            <a:off x="457200" y="1682496"/>
            <a:ext cx="2148840" cy="566928"/>
          </a:xfrm>
          <a:prstGeom prst="rect">
            <a:avLst/>
          </a:prstGeom>
          <a:noFill/>
          <a:ln/>
        </p:spPr>
        <p:txBody>
          <a:bodyPr wrap="square" lIns="0" tIns="0" rIns="0" bIns="0" rtlCol="0" anchor="ctr"/>
          <a:lstStyle/>
          <a:p>
            <a:pPr algn="ctr" indent="0" marL="0">
              <a:buNone/>
            </a:pPr>
            <a:r>
              <a:rPr lang="en-US" sz="3000" b="1" dirty="0">
                <a:solidFill>
                  <a:srgbClr val="D97A14"/>
                </a:solidFill>
                <a:latin typeface="Cambria" pitchFamily="34" charset="0"/>
                <a:ea typeface="Cambria" pitchFamily="34" charset="-122"/>
                <a:cs typeface="Cambria" pitchFamily="34" charset="-120"/>
              </a:rPr>
              <a:t>10,000 BTC</a:t>
            </a:r>
            <a:endParaRPr lang="en-US" sz="3000" dirty="0"/>
          </a:p>
        </p:txBody>
      </p:sp>
      <p:sp>
        <p:nvSpPr>
          <p:cNvPr id="8" name="Text 6"/>
          <p:cNvSpPr txBox="1"/>
          <p:nvPr/>
        </p:nvSpPr>
        <p:spPr>
          <a:xfrm>
            <a:off x="548640" y="2286000"/>
            <a:ext cx="1965960" cy="45720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offered on a forum by Laszlo Hanyecz</a:t>
            </a:r>
            <a:endParaRPr lang="en-US" sz="1200" dirty="0"/>
          </a:p>
        </p:txBody>
      </p:sp>
      <p:sp>
        <p:nvSpPr>
          <p:cNvPr id="9" name="Shape 7"/>
          <p:cNvSpPr/>
          <p:nvPr/>
        </p:nvSpPr>
        <p:spPr>
          <a:xfrm>
            <a:off x="2788920" y="2331720"/>
            <a:ext cx="914400" cy="0"/>
          </a:xfrm>
          <a:prstGeom prst="line">
            <a:avLst/>
          </a:prstGeom>
          <a:noFill/>
          <a:ln w="31750">
            <a:solidFill>
              <a:srgbClr val="2F6D62"/>
            </a:solidFill>
            <a:prstDash val="solid"/>
            <a:tailEnd type="triangle"/>
          </a:ln>
        </p:spPr>
      </p:sp>
      <p:sp>
        <p:nvSpPr>
          <p:cNvPr id="10" name="Shape 8"/>
          <p:cNvSpPr/>
          <p:nvPr/>
        </p:nvSpPr>
        <p:spPr>
          <a:xfrm flipH="1">
            <a:off x="2788920" y="2587752"/>
            <a:ext cx="914400" cy="0"/>
          </a:xfrm>
          <a:prstGeom prst="line">
            <a:avLst/>
          </a:prstGeom>
          <a:noFill/>
          <a:ln w="31750">
            <a:solidFill>
              <a:srgbClr val="2F6D62"/>
            </a:solidFill>
            <a:prstDash val="solid"/>
            <a:tailEnd type="triangle"/>
          </a:ln>
        </p:spPr>
      </p:sp>
      <p:sp>
        <p:nvSpPr>
          <p:cNvPr id="11" name="Shape 9"/>
          <p:cNvSpPr/>
          <p:nvPr/>
        </p:nvSpPr>
        <p:spPr>
          <a:xfrm>
            <a:off x="3936492" y="1965960"/>
            <a:ext cx="914400" cy="914400"/>
          </a:xfrm>
          <a:prstGeom prst="ellipse">
            <a:avLst/>
          </a:prstGeom>
          <a:solidFill>
            <a:srgbClr val="E8B94B"/>
          </a:solidFill>
          <a:ln w="25400">
            <a:solidFill>
              <a:srgbClr val="B98A2B"/>
            </a:solidFill>
            <a:prstDash val="solid"/>
          </a:ln>
        </p:spPr>
      </p:sp>
      <p:sp>
        <p:nvSpPr>
          <p:cNvPr id="12" name="Shape 10"/>
          <p:cNvSpPr/>
          <p:nvPr/>
        </p:nvSpPr>
        <p:spPr>
          <a:xfrm>
            <a:off x="4393692" y="2423160"/>
            <a:ext cx="438912" cy="0"/>
          </a:xfrm>
          <a:prstGeom prst="line">
            <a:avLst/>
          </a:prstGeom>
          <a:noFill/>
          <a:ln w="12700">
            <a:solidFill>
              <a:srgbClr val="B98A2B"/>
            </a:solidFill>
            <a:prstDash val="solid"/>
          </a:ln>
        </p:spPr>
      </p:sp>
      <p:sp>
        <p:nvSpPr>
          <p:cNvPr id="13" name="Shape 11"/>
          <p:cNvSpPr/>
          <p:nvPr/>
        </p:nvSpPr>
        <p:spPr>
          <a:xfrm>
            <a:off x="4393692" y="2423160"/>
            <a:ext cx="219456" cy="380109"/>
          </a:xfrm>
          <a:prstGeom prst="line">
            <a:avLst/>
          </a:prstGeom>
          <a:noFill/>
          <a:ln w="12700">
            <a:solidFill>
              <a:srgbClr val="B98A2B"/>
            </a:solidFill>
            <a:prstDash val="solid"/>
          </a:ln>
        </p:spPr>
      </p:sp>
      <p:sp>
        <p:nvSpPr>
          <p:cNvPr id="14" name="Shape 12"/>
          <p:cNvSpPr/>
          <p:nvPr/>
        </p:nvSpPr>
        <p:spPr>
          <a:xfrm flipH="1">
            <a:off x="4174236" y="2423160"/>
            <a:ext cx="219456" cy="380109"/>
          </a:xfrm>
          <a:prstGeom prst="line">
            <a:avLst/>
          </a:prstGeom>
          <a:noFill/>
          <a:ln w="12700">
            <a:solidFill>
              <a:srgbClr val="B98A2B"/>
            </a:solidFill>
            <a:prstDash val="solid"/>
          </a:ln>
        </p:spPr>
      </p:sp>
      <p:sp>
        <p:nvSpPr>
          <p:cNvPr id="15" name="Shape 13"/>
          <p:cNvSpPr/>
          <p:nvPr/>
        </p:nvSpPr>
        <p:spPr>
          <a:xfrm flipH="1">
            <a:off x="3954780" y="2423160"/>
            <a:ext cx="438912" cy="0"/>
          </a:xfrm>
          <a:prstGeom prst="line">
            <a:avLst/>
          </a:prstGeom>
          <a:noFill/>
          <a:ln w="12700">
            <a:solidFill>
              <a:srgbClr val="B98A2B"/>
            </a:solidFill>
            <a:prstDash val="solid"/>
          </a:ln>
        </p:spPr>
      </p:sp>
      <p:sp>
        <p:nvSpPr>
          <p:cNvPr id="16" name="Shape 14"/>
          <p:cNvSpPr/>
          <p:nvPr/>
        </p:nvSpPr>
        <p:spPr>
          <a:xfrm flipH="1" flipV="1">
            <a:off x="4174236" y="2043051"/>
            <a:ext cx="219456" cy="380109"/>
          </a:xfrm>
          <a:prstGeom prst="line">
            <a:avLst/>
          </a:prstGeom>
          <a:noFill/>
          <a:ln w="12700">
            <a:solidFill>
              <a:srgbClr val="B98A2B"/>
            </a:solidFill>
            <a:prstDash val="solid"/>
          </a:ln>
        </p:spPr>
      </p:sp>
      <p:sp>
        <p:nvSpPr>
          <p:cNvPr id="17" name="Shape 15"/>
          <p:cNvSpPr/>
          <p:nvPr/>
        </p:nvSpPr>
        <p:spPr>
          <a:xfrm flipV="1">
            <a:off x="4393692" y="2043051"/>
            <a:ext cx="219456" cy="380109"/>
          </a:xfrm>
          <a:prstGeom prst="line">
            <a:avLst/>
          </a:prstGeom>
          <a:noFill/>
          <a:ln w="12700">
            <a:solidFill>
              <a:srgbClr val="B98A2B"/>
            </a:solidFill>
            <a:prstDash val="solid"/>
          </a:ln>
        </p:spPr>
      </p:sp>
      <p:sp>
        <p:nvSpPr>
          <p:cNvPr id="18" name="Shape 16"/>
          <p:cNvSpPr/>
          <p:nvPr/>
        </p:nvSpPr>
        <p:spPr>
          <a:xfrm>
            <a:off x="5070348" y="1965960"/>
            <a:ext cx="914400" cy="914400"/>
          </a:xfrm>
          <a:prstGeom prst="ellipse">
            <a:avLst/>
          </a:prstGeom>
          <a:solidFill>
            <a:srgbClr val="E8B94B"/>
          </a:solidFill>
          <a:ln w="25400">
            <a:solidFill>
              <a:srgbClr val="B98A2B"/>
            </a:solidFill>
            <a:prstDash val="solid"/>
          </a:ln>
        </p:spPr>
      </p:sp>
      <p:sp>
        <p:nvSpPr>
          <p:cNvPr id="19" name="Shape 17"/>
          <p:cNvSpPr/>
          <p:nvPr/>
        </p:nvSpPr>
        <p:spPr>
          <a:xfrm>
            <a:off x="5527548" y="2423160"/>
            <a:ext cx="438912" cy="0"/>
          </a:xfrm>
          <a:prstGeom prst="line">
            <a:avLst/>
          </a:prstGeom>
          <a:noFill/>
          <a:ln w="12700">
            <a:solidFill>
              <a:srgbClr val="B98A2B"/>
            </a:solidFill>
            <a:prstDash val="solid"/>
          </a:ln>
        </p:spPr>
      </p:sp>
      <p:sp>
        <p:nvSpPr>
          <p:cNvPr id="20" name="Shape 18"/>
          <p:cNvSpPr/>
          <p:nvPr/>
        </p:nvSpPr>
        <p:spPr>
          <a:xfrm>
            <a:off x="5527548" y="2423160"/>
            <a:ext cx="219456" cy="380109"/>
          </a:xfrm>
          <a:prstGeom prst="line">
            <a:avLst/>
          </a:prstGeom>
          <a:noFill/>
          <a:ln w="12700">
            <a:solidFill>
              <a:srgbClr val="B98A2B"/>
            </a:solidFill>
            <a:prstDash val="solid"/>
          </a:ln>
        </p:spPr>
      </p:sp>
      <p:sp>
        <p:nvSpPr>
          <p:cNvPr id="21" name="Shape 19"/>
          <p:cNvSpPr/>
          <p:nvPr/>
        </p:nvSpPr>
        <p:spPr>
          <a:xfrm flipH="1">
            <a:off x="5308092" y="2423160"/>
            <a:ext cx="219456" cy="380109"/>
          </a:xfrm>
          <a:prstGeom prst="line">
            <a:avLst/>
          </a:prstGeom>
          <a:noFill/>
          <a:ln w="12700">
            <a:solidFill>
              <a:srgbClr val="B98A2B"/>
            </a:solidFill>
            <a:prstDash val="solid"/>
          </a:ln>
        </p:spPr>
      </p:sp>
      <p:sp>
        <p:nvSpPr>
          <p:cNvPr id="22" name="Shape 20"/>
          <p:cNvSpPr/>
          <p:nvPr/>
        </p:nvSpPr>
        <p:spPr>
          <a:xfrm flipH="1">
            <a:off x="5088636" y="2423160"/>
            <a:ext cx="438912" cy="0"/>
          </a:xfrm>
          <a:prstGeom prst="line">
            <a:avLst/>
          </a:prstGeom>
          <a:noFill/>
          <a:ln w="12700">
            <a:solidFill>
              <a:srgbClr val="B98A2B"/>
            </a:solidFill>
            <a:prstDash val="solid"/>
          </a:ln>
        </p:spPr>
      </p:sp>
      <p:sp>
        <p:nvSpPr>
          <p:cNvPr id="23" name="Shape 21"/>
          <p:cNvSpPr/>
          <p:nvPr/>
        </p:nvSpPr>
        <p:spPr>
          <a:xfrm flipH="1" flipV="1">
            <a:off x="5308092" y="2043051"/>
            <a:ext cx="219456" cy="380109"/>
          </a:xfrm>
          <a:prstGeom prst="line">
            <a:avLst/>
          </a:prstGeom>
          <a:noFill/>
          <a:ln w="12700">
            <a:solidFill>
              <a:srgbClr val="B98A2B"/>
            </a:solidFill>
            <a:prstDash val="solid"/>
          </a:ln>
        </p:spPr>
      </p:sp>
      <p:sp>
        <p:nvSpPr>
          <p:cNvPr id="24" name="Shape 22"/>
          <p:cNvSpPr/>
          <p:nvPr/>
        </p:nvSpPr>
        <p:spPr>
          <a:xfrm flipV="1">
            <a:off x="5527548" y="2043051"/>
            <a:ext cx="219456" cy="380109"/>
          </a:xfrm>
          <a:prstGeom prst="line">
            <a:avLst/>
          </a:prstGeom>
          <a:noFill/>
          <a:ln w="12700">
            <a:solidFill>
              <a:srgbClr val="B98A2B"/>
            </a:solidFill>
            <a:prstDash val="solid"/>
          </a:ln>
        </p:spPr>
      </p:sp>
      <p:sp>
        <p:nvSpPr>
          <p:cNvPr id="25" name="Text 23"/>
          <p:cNvSpPr txBox="1"/>
          <p:nvPr/>
        </p:nvSpPr>
        <p:spPr>
          <a:xfrm>
            <a:off x="3886200" y="3090672"/>
            <a:ext cx="2148840" cy="274320"/>
          </a:xfrm>
          <a:prstGeom prst="rect">
            <a:avLst/>
          </a:prstGeom>
          <a:noFill/>
          <a:ln/>
        </p:spPr>
        <p:txBody>
          <a:bodyPr wrap="square" lIns="0" tIns="0" rIns="0" bIns="0" rtlCol="0" anchor="ctr"/>
          <a:lstStyle/>
          <a:p>
            <a:pPr algn="ctr" indent="0" marL="0">
              <a:buNone/>
            </a:pPr>
            <a:r>
              <a:rPr lang="en-US" sz="1200" dirty="0">
                <a:solidFill>
                  <a:srgbClr val="2B2622"/>
                </a:solidFill>
                <a:latin typeface="Calibri" pitchFamily="34" charset="0"/>
                <a:ea typeface="Calibri" pitchFamily="34" charset="-122"/>
                <a:cs typeface="Calibri" pitchFamily="34" charset="-120"/>
              </a:rPr>
              <a:t>two delivered pizzas</a:t>
            </a:r>
            <a:endParaRPr lang="en-US" sz="1200" dirty="0"/>
          </a:p>
        </p:txBody>
      </p:sp>
      <p:sp>
        <p:nvSpPr>
          <p:cNvPr id="26" name="Shape 24"/>
          <p:cNvSpPr/>
          <p:nvPr/>
        </p:nvSpPr>
        <p:spPr>
          <a:xfrm>
            <a:off x="6309360" y="1688592"/>
            <a:ext cx="128016" cy="128016"/>
          </a:xfrm>
          <a:prstGeom prst="diamond">
            <a:avLst/>
          </a:prstGeom>
          <a:solidFill>
            <a:srgbClr val="D97A14"/>
          </a:solidFill>
          <a:ln w="12700">
            <a:solidFill>
              <a:srgbClr val="D97A14"/>
            </a:solidFill>
            <a:prstDash val="solid"/>
          </a:ln>
        </p:spPr>
      </p:sp>
      <p:sp>
        <p:nvSpPr>
          <p:cNvPr id="27" name="Text 25"/>
          <p:cNvSpPr txBox="1"/>
          <p:nvPr/>
        </p:nvSpPr>
        <p:spPr>
          <a:xfrm>
            <a:off x="6583680" y="1417320"/>
            <a:ext cx="2194560" cy="6705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 months with no known price</a:t>
            </a:r>
            <a:endParaRPr lang="en-US" sz="1200" dirty="0"/>
          </a:p>
        </p:txBody>
      </p:sp>
      <p:sp>
        <p:nvSpPr>
          <p:cNvPr id="28" name="Shape 26"/>
          <p:cNvSpPr/>
          <p:nvPr/>
        </p:nvSpPr>
        <p:spPr>
          <a:xfrm>
            <a:off x="6309360" y="2359152"/>
            <a:ext cx="128016" cy="128016"/>
          </a:xfrm>
          <a:prstGeom prst="diamond">
            <a:avLst/>
          </a:prstGeom>
          <a:solidFill>
            <a:srgbClr val="D97A14"/>
          </a:solidFill>
          <a:ln w="12700">
            <a:solidFill>
              <a:srgbClr val="D97A14"/>
            </a:solidFill>
            <a:prstDash val="solid"/>
          </a:ln>
        </p:spPr>
      </p:sp>
      <p:sp>
        <p:nvSpPr>
          <p:cNvPr id="29" name="Text 27"/>
          <p:cNvSpPr txBox="1"/>
          <p:nvPr/>
        </p:nvSpPr>
        <p:spPr>
          <a:xfrm>
            <a:off x="6583680" y="2087880"/>
            <a:ext cx="2194560" cy="6705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First commercial purchase in bitcoin</a:t>
            </a:r>
            <a:endParaRPr lang="en-US" sz="1200" dirty="0"/>
          </a:p>
        </p:txBody>
      </p:sp>
      <p:sp>
        <p:nvSpPr>
          <p:cNvPr id="30" name="Shape 28"/>
          <p:cNvSpPr/>
          <p:nvPr/>
        </p:nvSpPr>
        <p:spPr>
          <a:xfrm>
            <a:off x="6309360" y="3029712"/>
            <a:ext cx="128016" cy="128016"/>
          </a:xfrm>
          <a:prstGeom prst="diamond">
            <a:avLst/>
          </a:prstGeom>
          <a:solidFill>
            <a:srgbClr val="D97A14"/>
          </a:solidFill>
          <a:ln w="12700">
            <a:solidFill>
              <a:srgbClr val="D97A14"/>
            </a:solidFill>
            <a:prstDash val="solid"/>
          </a:ln>
        </p:spPr>
      </p:sp>
      <p:sp>
        <p:nvSpPr>
          <p:cNvPr id="31" name="Text 29"/>
          <p:cNvSpPr txBox="1"/>
          <p:nvPr/>
        </p:nvSpPr>
        <p:spPr>
          <a:xfrm>
            <a:off x="6583680" y="2758440"/>
            <a:ext cx="2194560" cy="67056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22 May: Bitcoin Pizza Day</a:t>
            </a:r>
            <a:endParaRPr lang="en-US" sz="1200" dirty="0"/>
          </a:p>
        </p:txBody>
      </p:sp>
      <p:sp>
        <p:nvSpPr>
          <p:cNvPr id="32" name="Text 30"/>
          <p:cNvSpPr txBox="1"/>
          <p:nvPr/>
        </p:nvSpPr>
        <p:spPr>
          <a:xfrm>
            <a:off x="457200" y="3657600"/>
            <a:ext cx="8229600" cy="82296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Guinness-recorded first - and a price was born</a:t>
            </a:r>
            <a:endParaRPr lang="en-US" sz="13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Price is discovered the first time someone pays</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34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Network</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No bank in the middle - and what replaces it</a:t>
            </a:r>
            <a:endParaRPr lang="en-US" sz="1500" dirty="0"/>
          </a:p>
        </p:txBody>
      </p:sp>
      <p:sp>
        <p:nvSpPr>
          <p:cNvPr id="6" name="Shape 4"/>
          <p:cNvSpPr/>
          <p:nvPr/>
        </p:nvSpPr>
        <p:spPr>
          <a:xfrm>
            <a:off x="777240" y="2697480"/>
            <a:ext cx="2350008" cy="804672"/>
          </a:xfrm>
          <a:prstGeom prst="roundRect">
            <a:avLst>
              <a:gd name="adj" fmla="val 9091"/>
            </a:avLst>
          </a:prstGeom>
          <a:solidFill>
            <a:srgbClr val="2F6D62"/>
          </a:solidFill>
          <a:ln w="12700">
            <a:solidFill>
              <a:srgbClr val="2F6D62"/>
            </a:solidFill>
            <a:prstDash val="solid"/>
          </a:ln>
        </p:spPr>
      </p:sp>
      <p:sp>
        <p:nvSpPr>
          <p:cNvPr id="7" name="Text 5"/>
          <p:cNvSpPr txBox="1"/>
          <p:nvPr/>
        </p:nvSpPr>
        <p:spPr>
          <a:xfrm>
            <a:off x="850392"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Peer-to-peer</a:t>
            </a:r>
            <a:pPr algn="ctr" indent="0" marL="0">
              <a:buNone/>
            </a:pPr>
            <a:endParaRPr lang="en-US" sz="1400" dirty="0"/>
          </a:p>
        </p:txBody>
      </p:sp>
      <p:sp>
        <p:nvSpPr>
          <p:cNvPr id="8" name="Shape 6"/>
          <p:cNvSpPr/>
          <p:nvPr/>
        </p:nvSpPr>
        <p:spPr>
          <a:xfrm>
            <a:off x="3273552" y="2697480"/>
            <a:ext cx="2350008" cy="804672"/>
          </a:xfrm>
          <a:prstGeom prst="roundRect">
            <a:avLst>
              <a:gd name="adj" fmla="val 9091"/>
            </a:avLst>
          </a:prstGeom>
          <a:solidFill>
            <a:srgbClr val="2F6D62"/>
          </a:solidFill>
          <a:ln w="12700">
            <a:solidFill>
              <a:srgbClr val="2F6D62"/>
            </a:solidFill>
            <a:prstDash val="solid"/>
          </a:ln>
        </p:spPr>
      </p:sp>
      <p:sp>
        <p:nvSpPr>
          <p:cNvPr id="9" name="Text 7"/>
          <p:cNvSpPr txBox="1"/>
          <p:nvPr/>
        </p:nvSpPr>
        <p:spPr>
          <a:xfrm>
            <a:off x="3346704" y="2743200"/>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Consensus</a:t>
            </a:r>
            <a:pPr algn="ctr" indent="0" marL="0">
              <a:buNone/>
            </a:pPr>
            <a:endParaRPr lang="en-US" sz="1400" dirty="0"/>
          </a:p>
        </p:txBody>
      </p:sp>
      <p:sp>
        <p:nvSpPr>
          <p:cNvPr id="10" name="Shape 8"/>
          <p:cNvSpPr/>
          <p:nvPr/>
        </p:nvSpPr>
        <p:spPr>
          <a:xfrm>
            <a:off x="777240" y="3630168"/>
            <a:ext cx="2350008" cy="804672"/>
          </a:xfrm>
          <a:prstGeom prst="roundRect">
            <a:avLst>
              <a:gd name="adj" fmla="val 9091"/>
            </a:avLst>
          </a:prstGeom>
          <a:solidFill>
            <a:srgbClr val="2F6D62"/>
          </a:solidFill>
          <a:ln w="12700">
            <a:solidFill>
              <a:srgbClr val="2F6D62"/>
            </a:solidFill>
            <a:prstDash val="solid"/>
          </a:ln>
        </p:spPr>
      </p:sp>
      <p:sp>
        <p:nvSpPr>
          <p:cNvPr id="11" name="Text 9"/>
          <p:cNvSpPr txBox="1"/>
          <p:nvPr/>
        </p:nvSpPr>
        <p:spPr>
          <a:xfrm>
            <a:off x="850392"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Mining</a:t>
            </a:r>
            <a:pPr algn="ctr" indent="0" marL="0">
              <a:buNone/>
            </a:pPr>
            <a:endParaRPr lang="en-US" sz="1400" dirty="0"/>
          </a:p>
        </p:txBody>
      </p:sp>
      <p:sp>
        <p:nvSpPr>
          <p:cNvPr id="12" name="Shape 10"/>
          <p:cNvSpPr/>
          <p:nvPr/>
        </p:nvSpPr>
        <p:spPr>
          <a:xfrm>
            <a:off x="3273552" y="3630168"/>
            <a:ext cx="2350008" cy="804672"/>
          </a:xfrm>
          <a:prstGeom prst="roundRect">
            <a:avLst>
              <a:gd name="adj" fmla="val 9091"/>
            </a:avLst>
          </a:prstGeom>
          <a:solidFill>
            <a:srgbClr val="2F6D62"/>
          </a:solidFill>
          <a:ln w="12700">
            <a:solidFill>
              <a:srgbClr val="2F6D62"/>
            </a:solidFill>
            <a:prstDash val="solid"/>
          </a:ln>
        </p:spPr>
      </p:sp>
      <p:sp>
        <p:nvSpPr>
          <p:cNvPr id="13" name="Text 11"/>
          <p:cNvSpPr txBox="1"/>
          <p:nvPr/>
        </p:nvSpPr>
        <p:spPr>
          <a:xfrm>
            <a:off x="3346704" y="3675888"/>
            <a:ext cx="2203704" cy="71323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History</a:t>
            </a:r>
            <a:pPr algn="ctr" indent="0" marL="0">
              <a:buNone/>
            </a:pPr>
            <a:endParaRPr lang="en-US" sz="1400" dirty="0"/>
          </a:p>
        </p:txBody>
      </p:sp>
      <p:pic>
        <p:nvPicPr>
          <p:cNvPr id="14" name="Image 0" descr="../../03-materials/ch01/assets/c1s18_circulation.png">    </p:cNvPr>
          <p:cNvPicPr>
            <a:picLocks noChangeAspect="1"/>
          </p:cNvPicPr>
          <p:nvPr/>
        </p:nvPicPr>
        <p:blipFill>
          <a:blip r:embed="rId1"/>
          <a:srcRect l="0" r="0" t="0" b="0"/>
          <a:stretch/>
        </p:blipFill>
        <p:spPr>
          <a:xfrm>
            <a:off x="5943600" y="1828800"/>
            <a:ext cx="2834640" cy="2560320"/>
          </a:xfrm>
          <a:prstGeom prst="rect">
            <a:avLst/>
          </a:prstGeom>
        </p:spPr>
      </p:pic>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34</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bank in the middle vs. peers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Decentralisation is an architecture, not a slogan</a:t>
            </a:r>
            <a:endParaRPr lang="en-US" sz="1300" dirty="0"/>
          </a:p>
        </p:txBody>
      </p:sp>
      <p:sp>
        <p:nvSpPr>
          <p:cNvPr id="6" name="Shape 4"/>
          <p:cNvSpPr/>
          <p:nvPr/>
        </p:nvSpPr>
        <p:spPr>
          <a:xfrm>
            <a:off x="457200" y="1325880"/>
            <a:ext cx="3931920" cy="3017520"/>
          </a:xfrm>
          <a:prstGeom prst="roundRect">
            <a:avLst>
              <a:gd name="adj" fmla="val 3030"/>
            </a:avLst>
          </a:prstGeom>
          <a:solidFill>
            <a:srgbClr val="F2ECE1"/>
          </a:solidFill>
          <a:ln w="12700">
            <a:solidFill>
              <a:srgbClr val="DFD6C7"/>
            </a:solidFill>
            <a:prstDash val="solid"/>
          </a:ln>
        </p:spPr>
      </p:sp>
      <p:sp>
        <p:nvSpPr>
          <p:cNvPr id="7" name="Text 5"/>
          <p:cNvSpPr txBox="1"/>
          <p:nvPr/>
        </p:nvSpPr>
        <p:spPr>
          <a:xfrm>
            <a:off x="594360" y="1399032"/>
            <a:ext cx="3657600" cy="365760"/>
          </a:xfrm>
          <a:prstGeom prst="rect">
            <a:avLst/>
          </a:prstGeom>
          <a:noFill/>
          <a:ln/>
        </p:spPr>
        <p:txBody>
          <a:bodyPr wrap="square" lIns="0" tIns="0" rIns="0" bIns="0" rtlCol="0" anchor="ctr"/>
          <a:lstStyle/>
          <a:p>
            <a:pPr indent="0" marL="0">
              <a:buNone/>
            </a:pPr>
            <a:r>
              <a:rPr lang="en-US" sz="1350" b="1" dirty="0">
                <a:solidFill>
                  <a:srgbClr val="54504A"/>
                </a:solidFill>
                <a:latin typeface="Cambria" pitchFamily="34" charset="0"/>
                <a:ea typeface="Cambria" pitchFamily="34" charset="-122"/>
                <a:cs typeface="Cambria" pitchFamily="34" charset="-120"/>
              </a:rPr>
              <a:t>Centralised: one ledger-keeper</a:t>
            </a:r>
            <a:endParaRPr lang="en-US" sz="1350" dirty="0"/>
          </a:p>
        </p:txBody>
      </p:sp>
      <p:sp>
        <p:nvSpPr>
          <p:cNvPr id="8" name="Shape 6"/>
          <p:cNvSpPr/>
          <p:nvPr/>
        </p:nvSpPr>
        <p:spPr>
          <a:xfrm>
            <a:off x="2423160" y="2098548"/>
            <a:ext cx="0" cy="896112"/>
          </a:xfrm>
          <a:prstGeom prst="line">
            <a:avLst/>
          </a:prstGeom>
          <a:noFill/>
          <a:ln w="13970">
            <a:solidFill>
              <a:srgbClr val="BBB1A2"/>
            </a:solidFill>
            <a:prstDash val="solid"/>
          </a:ln>
        </p:spPr>
      </p:sp>
      <p:sp>
        <p:nvSpPr>
          <p:cNvPr id="9" name="Shape 7"/>
          <p:cNvSpPr/>
          <p:nvPr/>
        </p:nvSpPr>
        <p:spPr>
          <a:xfrm>
            <a:off x="2231136" y="1906524"/>
            <a:ext cx="384048" cy="384048"/>
          </a:xfrm>
          <a:prstGeom prst="ellipse">
            <a:avLst/>
          </a:prstGeom>
          <a:solidFill>
            <a:srgbClr val="54504A"/>
          </a:solidFill>
          <a:ln w="9525">
            <a:solidFill>
              <a:srgbClr val="54504A"/>
            </a:solidFill>
            <a:prstDash val="solid"/>
          </a:ln>
        </p:spPr>
      </p:sp>
      <p:sp>
        <p:nvSpPr>
          <p:cNvPr id="10" name="Shape 8"/>
          <p:cNvSpPr/>
          <p:nvPr/>
        </p:nvSpPr>
        <p:spPr>
          <a:xfrm flipV="1">
            <a:off x="2423160" y="2546604"/>
            <a:ext cx="776056" cy="448056"/>
          </a:xfrm>
          <a:prstGeom prst="line">
            <a:avLst/>
          </a:prstGeom>
          <a:noFill/>
          <a:ln w="13970">
            <a:solidFill>
              <a:srgbClr val="BBB1A2"/>
            </a:solidFill>
            <a:prstDash val="solid"/>
          </a:ln>
        </p:spPr>
      </p:sp>
      <p:sp>
        <p:nvSpPr>
          <p:cNvPr id="11" name="Shape 9"/>
          <p:cNvSpPr/>
          <p:nvPr/>
        </p:nvSpPr>
        <p:spPr>
          <a:xfrm>
            <a:off x="3007192" y="2354580"/>
            <a:ext cx="384048" cy="384048"/>
          </a:xfrm>
          <a:prstGeom prst="ellipse">
            <a:avLst/>
          </a:prstGeom>
          <a:solidFill>
            <a:srgbClr val="54504A"/>
          </a:solidFill>
          <a:ln w="9525">
            <a:solidFill>
              <a:srgbClr val="54504A"/>
            </a:solidFill>
            <a:prstDash val="solid"/>
          </a:ln>
        </p:spPr>
      </p:sp>
      <p:sp>
        <p:nvSpPr>
          <p:cNvPr id="12" name="Shape 10"/>
          <p:cNvSpPr/>
          <p:nvPr/>
        </p:nvSpPr>
        <p:spPr>
          <a:xfrm>
            <a:off x="2423160" y="2994660"/>
            <a:ext cx="776056" cy="448056"/>
          </a:xfrm>
          <a:prstGeom prst="line">
            <a:avLst/>
          </a:prstGeom>
          <a:noFill/>
          <a:ln w="13970">
            <a:solidFill>
              <a:srgbClr val="BBB1A2"/>
            </a:solidFill>
            <a:prstDash val="solid"/>
          </a:ln>
        </p:spPr>
      </p:sp>
      <p:sp>
        <p:nvSpPr>
          <p:cNvPr id="13" name="Shape 11"/>
          <p:cNvSpPr/>
          <p:nvPr/>
        </p:nvSpPr>
        <p:spPr>
          <a:xfrm>
            <a:off x="3007192" y="3250692"/>
            <a:ext cx="384048" cy="384048"/>
          </a:xfrm>
          <a:prstGeom prst="ellipse">
            <a:avLst/>
          </a:prstGeom>
          <a:solidFill>
            <a:srgbClr val="54504A"/>
          </a:solidFill>
          <a:ln w="9525">
            <a:solidFill>
              <a:srgbClr val="54504A"/>
            </a:solidFill>
            <a:prstDash val="solid"/>
          </a:ln>
        </p:spPr>
      </p:sp>
      <p:sp>
        <p:nvSpPr>
          <p:cNvPr id="14" name="Shape 12"/>
          <p:cNvSpPr/>
          <p:nvPr/>
        </p:nvSpPr>
        <p:spPr>
          <a:xfrm flipV="1">
            <a:off x="2423160" y="2994660"/>
            <a:ext cx="0" cy="896112"/>
          </a:xfrm>
          <a:prstGeom prst="line">
            <a:avLst/>
          </a:prstGeom>
          <a:noFill/>
          <a:ln w="13970">
            <a:solidFill>
              <a:srgbClr val="BBB1A2"/>
            </a:solidFill>
            <a:prstDash val="solid"/>
          </a:ln>
        </p:spPr>
      </p:sp>
      <p:sp>
        <p:nvSpPr>
          <p:cNvPr id="15" name="Shape 13"/>
          <p:cNvSpPr/>
          <p:nvPr/>
        </p:nvSpPr>
        <p:spPr>
          <a:xfrm>
            <a:off x="2231136" y="3698748"/>
            <a:ext cx="384048" cy="384048"/>
          </a:xfrm>
          <a:prstGeom prst="ellipse">
            <a:avLst/>
          </a:prstGeom>
          <a:solidFill>
            <a:srgbClr val="54504A"/>
          </a:solidFill>
          <a:ln w="9525">
            <a:solidFill>
              <a:srgbClr val="54504A"/>
            </a:solidFill>
            <a:prstDash val="solid"/>
          </a:ln>
        </p:spPr>
      </p:sp>
      <p:sp>
        <p:nvSpPr>
          <p:cNvPr id="16" name="Shape 14"/>
          <p:cNvSpPr/>
          <p:nvPr/>
        </p:nvSpPr>
        <p:spPr>
          <a:xfrm flipH="1">
            <a:off x="1647104" y="2994660"/>
            <a:ext cx="776056" cy="448056"/>
          </a:xfrm>
          <a:prstGeom prst="line">
            <a:avLst/>
          </a:prstGeom>
          <a:noFill/>
          <a:ln w="13970">
            <a:solidFill>
              <a:srgbClr val="BBB1A2"/>
            </a:solidFill>
            <a:prstDash val="solid"/>
          </a:ln>
        </p:spPr>
      </p:sp>
      <p:sp>
        <p:nvSpPr>
          <p:cNvPr id="17" name="Shape 15"/>
          <p:cNvSpPr/>
          <p:nvPr/>
        </p:nvSpPr>
        <p:spPr>
          <a:xfrm>
            <a:off x="1455080" y="3250692"/>
            <a:ext cx="384048" cy="384048"/>
          </a:xfrm>
          <a:prstGeom prst="ellipse">
            <a:avLst/>
          </a:prstGeom>
          <a:solidFill>
            <a:srgbClr val="54504A"/>
          </a:solidFill>
          <a:ln w="9525">
            <a:solidFill>
              <a:srgbClr val="54504A"/>
            </a:solidFill>
            <a:prstDash val="solid"/>
          </a:ln>
        </p:spPr>
      </p:sp>
      <p:sp>
        <p:nvSpPr>
          <p:cNvPr id="18" name="Shape 16"/>
          <p:cNvSpPr/>
          <p:nvPr/>
        </p:nvSpPr>
        <p:spPr>
          <a:xfrm flipH="1" flipV="1">
            <a:off x="1647104" y="2546604"/>
            <a:ext cx="776056" cy="448056"/>
          </a:xfrm>
          <a:prstGeom prst="line">
            <a:avLst/>
          </a:prstGeom>
          <a:noFill/>
          <a:ln w="13970">
            <a:solidFill>
              <a:srgbClr val="BBB1A2"/>
            </a:solidFill>
            <a:prstDash val="solid"/>
          </a:ln>
        </p:spPr>
      </p:sp>
      <p:sp>
        <p:nvSpPr>
          <p:cNvPr id="19" name="Shape 17"/>
          <p:cNvSpPr/>
          <p:nvPr/>
        </p:nvSpPr>
        <p:spPr>
          <a:xfrm>
            <a:off x="1455080" y="2354580"/>
            <a:ext cx="384048" cy="384048"/>
          </a:xfrm>
          <a:prstGeom prst="ellipse">
            <a:avLst/>
          </a:prstGeom>
          <a:solidFill>
            <a:srgbClr val="54504A"/>
          </a:solidFill>
          <a:ln w="9525">
            <a:solidFill>
              <a:srgbClr val="54504A"/>
            </a:solidFill>
            <a:prstDash val="solid"/>
          </a:ln>
        </p:spPr>
      </p:sp>
      <p:sp>
        <p:nvSpPr>
          <p:cNvPr id="20" name="Shape 18"/>
          <p:cNvSpPr/>
          <p:nvPr/>
        </p:nvSpPr>
        <p:spPr>
          <a:xfrm>
            <a:off x="2121408" y="2692908"/>
            <a:ext cx="603504" cy="603504"/>
          </a:xfrm>
          <a:prstGeom prst="ellipse">
            <a:avLst/>
          </a:prstGeom>
          <a:solidFill>
            <a:srgbClr val="2B2622"/>
          </a:solidFill>
          <a:ln w="19050">
            <a:solidFill>
              <a:srgbClr val="D97A14"/>
            </a:solidFill>
            <a:prstDash val="solid"/>
          </a:ln>
        </p:spPr>
      </p:sp>
      <p:sp>
        <p:nvSpPr>
          <p:cNvPr id="21" name="Text 19"/>
          <p:cNvSpPr txBox="1"/>
          <p:nvPr/>
        </p:nvSpPr>
        <p:spPr>
          <a:xfrm>
            <a:off x="1965960" y="2692908"/>
            <a:ext cx="914400" cy="60350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Bank</a:t>
            </a:r>
            <a:endParaRPr lang="en-US" sz="1100" dirty="0"/>
          </a:p>
        </p:txBody>
      </p:sp>
      <p:sp>
        <p:nvSpPr>
          <p:cNvPr id="22" name="Shape 20"/>
          <p:cNvSpPr/>
          <p:nvPr/>
        </p:nvSpPr>
        <p:spPr>
          <a:xfrm>
            <a:off x="4754880" y="1325880"/>
            <a:ext cx="3931920" cy="3017520"/>
          </a:xfrm>
          <a:prstGeom prst="roundRect">
            <a:avLst>
              <a:gd name="adj" fmla="val 3030"/>
            </a:avLst>
          </a:prstGeom>
          <a:solidFill>
            <a:srgbClr val="F2ECE1"/>
          </a:solidFill>
          <a:ln w="12700">
            <a:solidFill>
              <a:srgbClr val="DFD6C7"/>
            </a:solidFill>
            <a:prstDash val="solid"/>
          </a:ln>
        </p:spPr>
      </p:sp>
      <p:sp>
        <p:nvSpPr>
          <p:cNvPr id="23" name="Text 21"/>
          <p:cNvSpPr txBox="1"/>
          <p:nvPr/>
        </p:nvSpPr>
        <p:spPr>
          <a:xfrm>
            <a:off x="4892040" y="1399032"/>
            <a:ext cx="3657600" cy="365760"/>
          </a:xfrm>
          <a:prstGeom prst="rect">
            <a:avLst/>
          </a:prstGeom>
          <a:noFill/>
          <a:ln/>
        </p:spPr>
        <p:txBody>
          <a:bodyPr wrap="square" lIns="0" tIns="0" rIns="0" bIns="0" rtlCol="0" anchor="ctr"/>
          <a:lstStyle/>
          <a:p>
            <a:pPr indent="0" marL="0">
              <a:buNone/>
            </a:pPr>
            <a:r>
              <a:rPr lang="en-US" sz="1350" b="1" dirty="0">
                <a:solidFill>
                  <a:srgbClr val="D97A14"/>
                </a:solidFill>
                <a:latin typeface="Cambria" pitchFamily="34" charset="0"/>
                <a:ea typeface="Cambria" pitchFamily="34" charset="-122"/>
                <a:cs typeface="Cambria" pitchFamily="34" charset="-120"/>
              </a:rPr>
              <a:t>Bitcoin: every node checks every rule</a:t>
            </a:r>
            <a:endParaRPr lang="en-US" sz="1350" dirty="0"/>
          </a:p>
        </p:txBody>
      </p:sp>
      <p:sp>
        <p:nvSpPr>
          <p:cNvPr id="24" name="Shape 22"/>
          <p:cNvSpPr/>
          <p:nvPr/>
        </p:nvSpPr>
        <p:spPr>
          <a:xfrm>
            <a:off x="6720840" y="2098548"/>
            <a:ext cx="633647" cy="262465"/>
          </a:xfrm>
          <a:prstGeom prst="line">
            <a:avLst/>
          </a:prstGeom>
          <a:noFill/>
          <a:ln w="12700">
            <a:solidFill>
              <a:srgbClr val="BBB1A2"/>
            </a:solidFill>
            <a:prstDash val="solid"/>
          </a:ln>
        </p:spPr>
      </p:sp>
      <p:sp>
        <p:nvSpPr>
          <p:cNvPr id="25" name="Shape 23"/>
          <p:cNvSpPr/>
          <p:nvPr/>
        </p:nvSpPr>
        <p:spPr>
          <a:xfrm>
            <a:off x="6720840" y="2098548"/>
            <a:ext cx="896112" cy="896112"/>
          </a:xfrm>
          <a:prstGeom prst="line">
            <a:avLst/>
          </a:prstGeom>
          <a:noFill/>
          <a:ln w="10160">
            <a:solidFill>
              <a:srgbClr val="BBB1A2"/>
            </a:solidFill>
            <a:prstDash val="solid"/>
          </a:ln>
        </p:spPr>
      </p:sp>
      <p:sp>
        <p:nvSpPr>
          <p:cNvPr id="26" name="Shape 24"/>
          <p:cNvSpPr/>
          <p:nvPr/>
        </p:nvSpPr>
        <p:spPr>
          <a:xfrm>
            <a:off x="6720840" y="2098548"/>
            <a:ext cx="633647" cy="1529759"/>
          </a:xfrm>
          <a:prstGeom prst="line">
            <a:avLst/>
          </a:prstGeom>
          <a:noFill/>
          <a:ln w="6985">
            <a:solidFill>
              <a:srgbClr val="BBB1A2"/>
            </a:solidFill>
            <a:prstDash val="solid"/>
          </a:ln>
        </p:spPr>
      </p:sp>
      <p:sp>
        <p:nvSpPr>
          <p:cNvPr id="27" name="Shape 25"/>
          <p:cNvSpPr/>
          <p:nvPr/>
        </p:nvSpPr>
        <p:spPr>
          <a:xfrm>
            <a:off x="7354487" y="2361013"/>
            <a:ext cx="262465" cy="633647"/>
          </a:xfrm>
          <a:prstGeom prst="line">
            <a:avLst/>
          </a:prstGeom>
          <a:noFill/>
          <a:ln w="12700">
            <a:solidFill>
              <a:srgbClr val="BBB1A2"/>
            </a:solidFill>
            <a:prstDash val="solid"/>
          </a:ln>
        </p:spPr>
      </p:sp>
      <p:sp>
        <p:nvSpPr>
          <p:cNvPr id="28" name="Shape 26"/>
          <p:cNvSpPr/>
          <p:nvPr/>
        </p:nvSpPr>
        <p:spPr>
          <a:xfrm flipV="1">
            <a:off x="7354487" y="2361013"/>
            <a:ext cx="0" cy="1267294"/>
          </a:xfrm>
          <a:prstGeom prst="line">
            <a:avLst/>
          </a:prstGeom>
          <a:noFill/>
          <a:ln w="10160">
            <a:solidFill>
              <a:srgbClr val="BBB1A2"/>
            </a:solidFill>
            <a:prstDash val="solid"/>
          </a:ln>
        </p:spPr>
      </p:sp>
      <p:sp>
        <p:nvSpPr>
          <p:cNvPr id="29" name="Shape 27"/>
          <p:cNvSpPr/>
          <p:nvPr/>
        </p:nvSpPr>
        <p:spPr>
          <a:xfrm flipH="1">
            <a:off x="6720840" y="2361013"/>
            <a:ext cx="633647" cy="1529759"/>
          </a:xfrm>
          <a:prstGeom prst="line">
            <a:avLst/>
          </a:prstGeom>
          <a:noFill/>
          <a:ln w="6985">
            <a:solidFill>
              <a:srgbClr val="BBB1A2"/>
            </a:solidFill>
            <a:prstDash val="solid"/>
          </a:ln>
        </p:spPr>
      </p:sp>
      <p:sp>
        <p:nvSpPr>
          <p:cNvPr id="30" name="Shape 28"/>
          <p:cNvSpPr/>
          <p:nvPr/>
        </p:nvSpPr>
        <p:spPr>
          <a:xfrm flipH="1">
            <a:off x="7354487" y="2994660"/>
            <a:ext cx="262465" cy="633647"/>
          </a:xfrm>
          <a:prstGeom prst="line">
            <a:avLst/>
          </a:prstGeom>
          <a:noFill/>
          <a:ln w="12700">
            <a:solidFill>
              <a:srgbClr val="BBB1A2"/>
            </a:solidFill>
            <a:prstDash val="solid"/>
          </a:ln>
        </p:spPr>
      </p:sp>
      <p:sp>
        <p:nvSpPr>
          <p:cNvPr id="31" name="Shape 29"/>
          <p:cNvSpPr/>
          <p:nvPr/>
        </p:nvSpPr>
        <p:spPr>
          <a:xfrm flipH="1">
            <a:off x="6720840" y="2994660"/>
            <a:ext cx="896112" cy="896112"/>
          </a:xfrm>
          <a:prstGeom prst="line">
            <a:avLst/>
          </a:prstGeom>
          <a:noFill/>
          <a:ln w="10160">
            <a:solidFill>
              <a:srgbClr val="BBB1A2"/>
            </a:solidFill>
            <a:prstDash val="solid"/>
          </a:ln>
        </p:spPr>
      </p:sp>
      <p:sp>
        <p:nvSpPr>
          <p:cNvPr id="32" name="Shape 30"/>
          <p:cNvSpPr/>
          <p:nvPr/>
        </p:nvSpPr>
        <p:spPr>
          <a:xfrm flipH="1">
            <a:off x="6087193" y="2994660"/>
            <a:ext cx="1529759" cy="633647"/>
          </a:xfrm>
          <a:prstGeom prst="line">
            <a:avLst/>
          </a:prstGeom>
          <a:noFill/>
          <a:ln w="6985">
            <a:solidFill>
              <a:srgbClr val="BBB1A2"/>
            </a:solidFill>
            <a:prstDash val="solid"/>
          </a:ln>
        </p:spPr>
      </p:sp>
      <p:sp>
        <p:nvSpPr>
          <p:cNvPr id="33" name="Shape 31"/>
          <p:cNvSpPr/>
          <p:nvPr/>
        </p:nvSpPr>
        <p:spPr>
          <a:xfrm flipH="1">
            <a:off x="6720840" y="3628307"/>
            <a:ext cx="633647" cy="262465"/>
          </a:xfrm>
          <a:prstGeom prst="line">
            <a:avLst/>
          </a:prstGeom>
          <a:noFill/>
          <a:ln w="12700">
            <a:solidFill>
              <a:srgbClr val="BBB1A2"/>
            </a:solidFill>
            <a:prstDash val="solid"/>
          </a:ln>
        </p:spPr>
      </p:sp>
      <p:sp>
        <p:nvSpPr>
          <p:cNvPr id="34" name="Shape 32"/>
          <p:cNvSpPr/>
          <p:nvPr/>
        </p:nvSpPr>
        <p:spPr>
          <a:xfrm flipH="1">
            <a:off x="6087193" y="3628307"/>
            <a:ext cx="1267294" cy="0"/>
          </a:xfrm>
          <a:prstGeom prst="line">
            <a:avLst/>
          </a:prstGeom>
          <a:noFill/>
          <a:ln w="10160">
            <a:solidFill>
              <a:srgbClr val="BBB1A2"/>
            </a:solidFill>
            <a:prstDash val="solid"/>
          </a:ln>
        </p:spPr>
      </p:sp>
      <p:sp>
        <p:nvSpPr>
          <p:cNvPr id="35" name="Shape 33"/>
          <p:cNvSpPr/>
          <p:nvPr/>
        </p:nvSpPr>
        <p:spPr>
          <a:xfrm flipH="1" flipV="1">
            <a:off x="5824728" y="2994660"/>
            <a:ext cx="1529759" cy="633647"/>
          </a:xfrm>
          <a:prstGeom prst="line">
            <a:avLst/>
          </a:prstGeom>
          <a:noFill/>
          <a:ln w="6985">
            <a:solidFill>
              <a:srgbClr val="BBB1A2"/>
            </a:solidFill>
            <a:prstDash val="solid"/>
          </a:ln>
        </p:spPr>
      </p:sp>
      <p:sp>
        <p:nvSpPr>
          <p:cNvPr id="36" name="Shape 34"/>
          <p:cNvSpPr/>
          <p:nvPr/>
        </p:nvSpPr>
        <p:spPr>
          <a:xfrm flipH="1" flipV="1">
            <a:off x="6087193" y="3628307"/>
            <a:ext cx="633647" cy="262465"/>
          </a:xfrm>
          <a:prstGeom prst="line">
            <a:avLst/>
          </a:prstGeom>
          <a:noFill/>
          <a:ln w="12700">
            <a:solidFill>
              <a:srgbClr val="BBB1A2"/>
            </a:solidFill>
            <a:prstDash val="solid"/>
          </a:ln>
        </p:spPr>
      </p:sp>
      <p:sp>
        <p:nvSpPr>
          <p:cNvPr id="37" name="Shape 35"/>
          <p:cNvSpPr/>
          <p:nvPr/>
        </p:nvSpPr>
        <p:spPr>
          <a:xfrm flipH="1" flipV="1">
            <a:off x="5824728" y="2994660"/>
            <a:ext cx="896112" cy="896112"/>
          </a:xfrm>
          <a:prstGeom prst="line">
            <a:avLst/>
          </a:prstGeom>
          <a:noFill/>
          <a:ln w="10160">
            <a:solidFill>
              <a:srgbClr val="BBB1A2"/>
            </a:solidFill>
            <a:prstDash val="solid"/>
          </a:ln>
        </p:spPr>
      </p:sp>
      <p:sp>
        <p:nvSpPr>
          <p:cNvPr id="38" name="Shape 36"/>
          <p:cNvSpPr/>
          <p:nvPr/>
        </p:nvSpPr>
        <p:spPr>
          <a:xfrm flipH="1" flipV="1">
            <a:off x="6087193" y="2361013"/>
            <a:ext cx="633647" cy="1529759"/>
          </a:xfrm>
          <a:prstGeom prst="line">
            <a:avLst/>
          </a:prstGeom>
          <a:noFill/>
          <a:ln w="6985">
            <a:solidFill>
              <a:srgbClr val="BBB1A2"/>
            </a:solidFill>
            <a:prstDash val="solid"/>
          </a:ln>
        </p:spPr>
      </p:sp>
      <p:sp>
        <p:nvSpPr>
          <p:cNvPr id="39" name="Shape 37"/>
          <p:cNvSpPr/>
          <p:nvPr/>
        </p:nvSpPr>
        <p:spPr>
          <a:xfrm flipH="1" flipV="1">
            <a:off x="5824728" y="2994660"/>
            <a:ext cx="262465" cy="633647"/>
          </a:xfrm>
          <a:prstGeom prst="line">
            <a:avLst/>
          </a:prstGeom>
          <a:noFill/>
          <a:ln w="12700">
            <a:solidFill>
              <a:srgbClr val="BBB1A2"/>
            </a:solidFill>
            <a:prstDash val="solid"/>
          </a:ln>
        </p:spPr>
      </p:sp>
      <p:sp>
        <p:nvSpPr>
          <p:cNvPr id="40" name="Shape 38"/>
          <p:cNvSpPr/>
          <p:nvPr/>
        </p:nvSpPr>
        <p:spPr>
          <a:xfrm>
            <a:off x="6087193" y="2361013"/>
            <a:ext cx="0" cy="1267294"/>
          </a:xfrm>
          <a:prstGeom prst="line">
            <a:avLst/>
          </a:prstGeom>
          <a:noFill/>
          <a:ln w="10160">
            <a:solidFill>
              <a:srgbClr val="BBB1A2"/>
            </a:solidFill>
            <a:prstDash val="solid"/>
          </a:ln>
        </p:spPr>
      </p:sp>
      <p:sp>
        <p:nvSpPr>
          <p:cNvPr id="41" name="Shape 39"/>
          <p:cNvSpPr/>
          <p:nvPr/>
        </p:nvSpPr>
        <p:spPr>
          <a:xfrm flipV="1">
            <a:off x="5824728" y="2361013"/>
            <a:ext cx="262465" cy="633647"/>
          </a:xfrm>
          <a:prstGeom prst="line">
            <a:avLst/>
          </a:prstGeom>
          <a:noFill/>
          <a:ln w="12700">
            <a:solidFill>
              <a:srgbClr val="BBB1A2"/>
            </a:solidFill>
            <a:prstDash val="solid"/>
          </a:ln>
        </p:spPr>
      </p:sp>
      <p:sp>
        <p:nvSpPr>
          <p:cNvPr id="42" name="Shape 40"/>
          <p:cNvSpPr/>
          <p:nvPr/>
        </p:nvSpPr>
        <p:spPr>
          <a:xfrm>
            <a:off x="6528816" y="1906524"/>
            <a:ext cx="384048" cy="384048"/>
          </a:xfrm>
          <a:prstGeom prst="ellipse">
            <a:avLst/>
          </a:prstGeom>
          <a:solidFill>
            <a:srgbClr val="D97A14"/>
          </a:solidFill>
          <a:ln w="9525">
            <a:solidFill>
              <a:srgbClr val="FFFFFF"/>
            </a:solidFill>
            <a:prstDash val="solid"/>
          </a:ln>
        </p:spPr>
      </p:sp>
      <p:sp>
        <p:nvSpPr>
          <p:cNvPr id="43" name="Shape 41"/>
          <p:cNvSpPr/>
          <p:nvPr/>
        </p:nvSpPr>
        <p:spPr>
          <a:xfrm>
            <a:off x="7162463" y="2168989"/>
            <a:ext cx="384048" cy="384048"/>
          </a:xfrm>
          <a:prstGeom prst="ellipse">
            <a:avLst/>
          </a:prstGeom>
          <a:solidFill>
            <a:srgbClr val="D97A14"/>
          </a:solidFill>
          <a:ln w="9525">
            <a:solidFill>
              <a:srgbClr val="FFFFFF"/>
            </a:solidFill>
            <a:prstDash val="solid"/>
          </a:ln>
        </p:spPr>
      </p:sp>
      <p:sp>
        <p:nvSpPr>
          <p:cNvPr id="44" name="Shape 42"/>
          <p:cNvSpPr/>
          <p:nvPr/>
        </p:nvSpPr>
        <p:spPr>
          <a:xfrm>
            <a:off x="7424928" y="2802636"/>
            <a:ext cx="384048" cy="384048"/>
          </a:xfrm>
          <a:prstGeom prst="ellipse">
            <a:avLst/>
          </a:prstGeom>
          <a:solidFill>
            <a:srgbClr val="D97A14"/>
          </a:solidFill>
          <a:ln w="9525">
            <a:solidFill>
              <a:srgbClr val="FFFFFF"/>
            </a:solidFill>
            <a:prstDash val="solid"/>
          </a:ln>
        </p:spPr>
      </p:sp>
      <p:sp>
        <p:nvSpPr>
          <p:cNvPr id="45" name="Shape 43"/>
          <p:cNvSpPr/>
          <p:nvPr/>
        </p:nvSpPr>
        <p:spPr>
          <a:xfrm>
            <a:off x="7162463" y="3436283"/>
            <a:ext cx="384048" cy="384048"/>
          </a:xfrm>
          <a:prstGeom prst="ellipse">
            <a:avLst/>
          </a:prstGeom>
          <a:solidFill>
            <a:srgbClr val="D97A14"/>
          </a:solidFill>
          <a:ln w="9525">
            <a:solidFill>
              <a:srgbClr val="FFFFFF"/>
            </a:solidFill>
            <a:prstDash val="solid"/>
          </a:ln>
        </p:spPr>
      </p:sp>
      <p:sp>
        <p:nvSpPr>
          <p:cNvPr id="46" name="Shape 44"/>
          <p:cNvSpPr/>
          <p:nvPr/>
        </p:nvSpPr>
        <p:spPr>
          <a:xfrm>
            <a:off x="6528816" y="3698748"/>
            <a:ext cx="384048" cy="384048"/>
          </a:xfrm>
          <a:prstGeom prst="ellipse">
            <a:avLst/>
          </a:prstGeom>
          <a:solidFill>
            <a:srgbClr val="D97A14"/>
          </a:solidFill>
          <a:ln w="9525">
            <a:solidFill>
              <a:srgbClr val="FFFFFF"/>
            </a:solidFill>
            <a:prstDash val="solid"/>
          </a:ln>
        </p:spPr>
      </p:sp>
      <p:sp>
        <p:nvSpPr>
          <p:cNvPr id="47" name="Shape 45"/>
          <p:cNvSpPr/>
          <p:nvPr/>
        </p:nvSpPr>
        <p:spPr>
          <a:xfrm>
            <a:off x="5895169" y="3436283"/>
            <a:ext cx="384048" cy="384048"/>
          </a:xfrm>
          <a:prstGeom prst="ellipse">
            <a:avLst/>
          </a:prstGeom>
          <a:solidFill>
            <a:srgbClr val="D97A14"/>
          </a:solidFill>
          <a:ln w="9525">
            <a:solidFill>
              <a:srgbClr val="FFFFFF"/>
            </a:solidFill>
            <a:prstDash val="solid"/>
          </a:ln>
        </p:spPr>
      </p:sp>
      <p:sp>
        <p:nvSpPr>
          <p:cNvPr id="48" name="Shape 46"/>
          <p:cNvSpPr/>
          <p:nvPr/>
        </p:nvSpPr>
        <p:spPr>
          <a:xfrm>
            <a:off x="5632704" y="2802636"/>
            <a:ext cx="384048" cy="384048"/>
          </a:xfrm>
          <a:prstGeom prst="ellipse">
            <a:avLst/>
          </a:prstGeom>
          <a:solidFill>
            <a:srgbClr val="D97A14"/>
          </a:solidFill>
          <a:ln w="9525">
            <a:solidFill>
              <a:srgbClr val="FFFFFF"/>
            </a:solidFill>
            <a:prstDash val="solid"/>
          </a:ln>
        </p:spPr>
      </p:sp>
      <p:sp>
        <p:nvSpPr>
          <p:cNvPr id="49" name="Shape 47"/>
          <p:cNvSpPr/>
          <p:nvPr/>
        </p:nvSpPr>
        <p:spPr>
          <a:xfrm>
            <a:off x="5895169" y="2168989"/>
            <a:ext cx="384048" cy="384048"/>
          </a:xfrm>
          <a:prstGeom prst="ellipse">
            <a:avLst/>
          </a:prstGeom>
          <a:solidFill>
            <a:srgbClr val="D97A14"/>
          </a:solidFill>
          <a:ln w="9525">
            <a:solidFill>
              <a:srgbClr val="FFFFFF"/>
            </a:solidFill>
            <a:prstDash val="solid"/>
          </a:ln>
        </p:spPr>
      </p:sp>
      <p:sp>
        <p:nvSpPr>
          <p:cNvPr id="50" name="Shape 48"/>
          <p:cNvSpPr/>
          <p:nvPr/>
        </p:nvSpPr>
        <p:spPr>
          <a:xfrm>
            <a:off x="457200" y="4636008"/>
            <a:ext cx="91440" cy="310896"/>
          </a:xfrm>
          <a:prstGeom prst="rect">
            <a:avLst/>
          </a:prstGeom>
          <a:solidFill>
            <a:srgbClr val="D97A14"/>
          </a:solidFill>
          <a:ln w="12700">
            <a:solidFill>
              <a:srgbClr val="D97A14"/>
            </a:solidFill>
            <a:prstDash val="solid"/>
          </a:ln>
        </p:spPr>
      </p:sp>
      <p:sp>
        <p:nvSpPr>
          <p:cNvPr id="51" name="Text 4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Remove the hub and the rules must move to every node</a:t>
            </a:r>
            <a:endParaRPr lang="en-US" sz="1350" dirty="0"/>
          </a:p>
        </p:txBody>
      </p:sp>
      <p:sp>
        <p:nvSpPr>
          <p:cNvPr id="52" name="Text 5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34</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Peers find each other without a directory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protocol sketch - run, not quoted</a:t>
            </a:r>
            <a:endParaRPr lang="en-US" sz="1300" dirty="0"/>
          </a:p>
        </p:txBody>
      </p:sp>
      <p:sp>
        <p:nvSpPr>
          <p:cNvPr id="6" name="Text 4"/>
          <p:cNvSpPr txBox="1"/>
          <p:nvPr/>
        </p:nvSpPr>
        <p:spPr>
          <a:xfrm>
            <a:off x="457200" y="1325880"/>
            <a:ext cx="3291840" cy="137160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Every node speaks the same protocol</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Any peer can join or leave freely</a:t>
            </a:r>
            <a:endParaRPr lang="en-US" sz="1350" dirty="0"/>
          </a:p>
        </p:txBody>
      </p:sp>
      <p:pic>
        <p:nvPicPr>
          <p:cNvPr id="7" name="Image 0" descr="../../03-materials/ch01/assets/c8s06_mesh.png">    </p:cNvPr>
          <p:cNvPicPr>
            <a:picLocks noChangeAspect="1"/>
          </p:cNvPicPr>
          <p:nvPr/>
        </p:nvPicPr>
        <p:blipFill>
          <a:blip r:embed="rId1"/>
          <a:srcRect l="0" r="0" t="0" b="0"/>
          <a:stretch/>
        </p:blipFill>
        <p:spPr>
          <a:xfrm>
            <a:off x="457200" y="2743200"/>
            <a:ext cx="3200400" cy="1691640"/>
          </a:xfrm>
          <a:prstGeom prst="rect">
            <a:avLst/>
          </a:prstGeom>
        </p:spPr>
      </p:pic>
      <p:sp>
        <p:nvSpPr>
          <p:cNvPr id="8" name="Text 5"/>
          <p:cNvSpPr txBox="1"/>
          <p:nvPr/>
        </p:nvSpPr>
        <p:spPr>
          <a:xfrm>
            <a:off x="457200" y="4453128"/>
            <a:ext cx="3200400" cy="237744"/>
          </a:xfrm>
          <a:prstGeom prst="rect">
            <a:avLst/>
          </a:prstGeom>
          <a:noFill/>
          <a:ln/>
        </p:spPr>
        <p:txBody>
          <a:bodyPr wrap="square" lIns="0" tIns="0" rIns="0" bIns="0" rtlCol="0" anchor="ctr"/>
          <a:lstStyle/>
          <a:p>
            <a:pPr algn="ctr" indent="0" marL="0">
              <a:buNone/>
            </a:pPr>
            <a:r>
              <a:rPr lang="en-US" sz="950" i="1" dirty="0">
                <a:solidFill>
                  <a:srgbClr val="6E655C"/>
                </a:solidFill>
                <a:latin typeface="Calibri" pitchFamily="34" charset="0"/>
                <a:ea typeface="Calibri" pitchFamily="34" charset="-122"/>
                <a:cs typeface="Calibri" pitchFamily="34" charset="-120"/>
              </a:rPr>
              <a:t>flat topology, from the owner's 2025 deck</a:t>
            </a:r>
            <a:endParaRPr lang="en-US" sz="950" dirty="0"/>
          </a:p>
        </p:txBody>
      </p:sp>
      <p:sp>
        <p:nvSpPr>
          <p:cNvPr id="9" name="Text 6"/>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Four peers, one shared protocol - counted</a:t>
            </a:r>
            <a:endParaRPr lang="en-US" sz="1150" dirty="0"/>
          </a:p>
        </p:txBody>
      </p:sp>
      <p:sp>
        <p:nvSpPr>
          <p:cNvPr id="10" name="Shape 7"/>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1" name="Text 8"/>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links = {'A': ['B', 'C'], 'B': ['A', 'D'], 'C': ['A', 'E'], 'D': ['B', 'F'], 'E': ['C', 'F'], 'F': ['D', 'E', 'G'], 'G': ['F']}</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seen, frontier, rounds = {'A'}, {'A'}, 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while len(seen) &lt; len(links):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frontier = {n for f in frontier for n in links[f]} - seen</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seen |= frontier; rounds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rounds</a:t>
            </a:r>
            <a:endParaRPr lang="en-US" sz="1000" dirty="0"/>
          </a:p>
        </p:txBody>
      </p:sp>
      <p:sp>
        <p:nvSpPr>
          <p:cNvPr id="12" name="Text 9"/>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4</a:t>
            </a:r>
            <a:endParaRPr lang="en-US" sz="1000" dirty="0"/>
          </a:p>
        </p:txBody>
      </p:sp>
      <p:sp>
        <p:nvSpPr>
          <p:cNvPr id="13" name="Text 10"/>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PeerToPeerProtocol, lines 1 to 6 of 6, run under Python 3.14.4</a:t>
            </a:r>
            <a:endParaRPr lang="en-US" sz="900" dirty="0"/>
          </a:p>
        </p:txBody>
      </p:sp>
      <p:sp>
        <p:nvSpPr>
          <p:cNvPr id="14"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network is just nodes agreeing to speak alike</a:t>
            </a:r>
            <a:endParaRPr lang="en-US" sz="1350" dirty="0"/>
          </a:p>
        </p:txBody>
      </p:sp>
      <p:sp>
        <p:nvSpPr>
          <p:cNvPr id="16"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34</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Rules, not rulers, decide validity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node applies the same consensus rules</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rule set is code every node runs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No vote, no committee, no appeal</a:t>
            </a:r>
            <a:endParaRPr lang="en-US" sz="1350" dirty="0"/>
          </a:p>
        </p:txBody>
      </p:sp>
      <p:sp>
        <p:nvSpPr>
          <p:cNvPr id="7" name="Shape 5"/>
          <p:cNvSpPr/>
          <p:nvPr/>
        </p:nvSpPr>
        <p:spPr>
          <a:xfrm>
            <a:off x="457200" y="2423160"/>
            <a:ext cx="3291840" cy="576072"/>
          </a:xfrm>
          <a:prstGeom prst="roundRect">
            <a:avLst>
              <a:gd name="adj" fmla="val 12698"/>
            </a:avLst>
          </a:prstGeom>
          <a:solidFill>
            <a:srgbClr val="F2ECE1"/>
          </a:solidFill>
          <a:ln w="19050">
            <a:solidFill>
              <a:srgbClr val="5B8C5A"/>
            </a:solidFill>
            <a:prstDash val="solid"/>
          </a:ln>
        </p:spPr>
      </p:sp>
      <p:sp>
        <p:nvSpPr>
          <p:cNvPr id="8" name="Shape 6"/>
          <p:cNvSpPr/>
          <p:nvPr/>
        </p:nvSpPr>
        <p:spPr>
          <a:xfrm>
            <a:off x="548640" y="2564892"/>
            <a:ext cx="292608" cy="292608"/>
          </a:xfrm>
          <a:prstGeom prst="ellipse">
            <a:avLst/>
          </a:prstGeom>
          <a:solidFill>
            <a:srgbClr val="5B8C5A"/>
          </a:solidFill>
          <a:ln w="12700">
            <a:solidFill>
              <a:srgbClr val="5B8C5A"/>
            </a:solidFill>
            <a:prstDash val="solid"/>
          </a:ln>
        </p:spPr>
      </p:sp>
      <p:sp>
        <p:nvSpPr>
          <p:cNvPr id="9" name="Text 7"/>
          <p:cNvSpPr txBox="1"/>
          <p:nvPr/>
        </p:nvSpPr>
        <p:spPr>
          <a:xfrm>
            <a:off x="548640" y="25648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932688" y="24231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312,500,000 sat at height 840,000</a:t>
            </a:r>
            <a:endParaRPr lang="en-US" sz="1050" dirty="0"/>
          </a:p>
        </p:txBody>
      </p:sp>
      <p:sp>
        <p:nvSpPr>
          <p:cNvPr id="11" name="Shape 9"/>
          <p:cNvSpPr/>
          <p:nvPr/>
        </p:nvSpPr>
        <p:spPr>
          <a:xfrm>
            <a:off x="457200" y="3108960"/>
            <a:ext cx="3291840" cy="576072"/>
          </a:xfrm>
          <a:prstGeom prst="roundRect">
            <a:avLst>
              <a:gd name="adj" fmla="val 12698"/>
            </a:avLst>
          </a:prstGeom>
          <a:solidFill>
            <a:srgbClr val="F2ECE1"/>
          </a:solidFill>
          <a:ln w="19050">
            <a:solidFill>
              <a:srgbClr val="B6533C"/>
            </a:solidFill>
            <a:prstDash val="solid"/>
          </a:ln>
        </p:spPr>
      </p:sp>
      <p:sp>
        <p:nvSpPr>
          <p:cNvPr id="12" name="Shape 10"/>
          <p:cNvSpPr/>
          <p:nvPr/>
        </p:nvSpPr>
        <p:spPr>
          <a:xfrm>
            <a:off x="548640" y="3250692"/>
            <a:ext cx="292608" cy="292608"/>
          </a:xfrm>
          <a:prstGeom prst="ellipse">
            <a:avLst/>
          </a:prstGeom>
          <a:solidFill>
            <a:srgbClr val="B6533C"/>
          </a:solidFill>
          <a:ln w="12700">
            <a:solidFill>
              <a:srgbClr val="B6533C"/>
            </a:solidFill>
            <a:prstDash val="solid"/>
          </a:ln>
        </p:spPr>
      </p:sp>
      <p:sp>
        <p:nvSpPr>
          <p:cNvPr id="13" name="Text 11"/>
          <p:cNvSpPr txBox="1"/>
          <p:nvPr/>
        </p:nvSpPr>
        <p:spPr>
          <a:xfrm>
            <a:off x="548640" y="32506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4" name="Text 12"/>
          <p:cNvSpPr txBox="1"/>
          <p:nvPr/>
        </p:nvSpPr>
        <p:spPr>
          <a:xfrm>
            <a:off x="932688" y="31089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312,500,001 sat - one too many</a:t>
            </a:r>
            <a:endParaRPr lang="en-US" sz="1050" dirty="0"/>
          </a:p>
        </p:txBody>
      </p:sp>
      <p:sp>
        <p:nvSpPr>
          <p:cNvPr id="15" name="Shape 13"/>
          <p:cNvSpPr/>
          <p:nvPr/>
        </p:nvSpPr>
        <p:spPr>
          <a:xfrm>
            <a:off x="457200" y="3794760"/>
            <a:ext cx="3291840" cy="576072"/>
          </a:xfrm>
          <a:prstGeom prst="roundRect">
            <a:avLst>
              <a:gd name="adj" fmla="val 12698"/>
            </a:avLst>
          </a:prstGeom>
          <a:solidFill>
            <a:srgbClr val="F2ECE1"/>
          </a:solidFill>
          <a:ln w="19050">
            <a:solidFill>
              <a:srgbClr val="5B8C5A"/>
            </a:solidFill>
            <a:prstDash val="solid"/>
          </a:ln>
        </p:spPr>
      </p:sp>
      <p:sp>
        <p:nvSpPr>
          <p:cNvPr id="16" name="Shape 14"/>
          <p:cNvSpPr/>
          <p:nvPr/>
        </p:nvSpPr>
        <p:spPr>
          <a:xfrm>
            <a:off x="548640" y="3936492"/>
            <a:ext cx="292608" cy="292608"/>
          </a:xfrm>
          <a:prstGeom prst="ellipse">
            <a:avLst/>
          </a:prstGeom>
          <a:solidFill>
            <a:srgbClr val="5B8C5A"/>
          </a:solidFill>
          <a:ln w="12700">
            <a:solidFill>
              <a:srgbClr val="5B8C5A"/>
            </a:solidFill>
            <a:prstDash val="solid"/>
          </a:ln>
        </p:spPr>
      </p:sp>
      <p:sp>
        <p:nvSpPr>
          <p:cNvPr id="17" name="Text 15"/>
          <p:cNvSpPr txBox="1"/>
          <p:nvPr/>
        </p:nvSpPr>
        <p:spPr>
          <a:xfrm>
            <a:off x="548640" y="39364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8" name="Text 16"/>
          <p:cNvSpPr txBox="1"/>
          <p:nvPr/>
        </p:nvSpPr>
        <p:spPr>
          <a:xfrm>
            <a:off x="932688" y="3794760"/>
            <a:ext cx="2743200" cy="576072"/>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325,000,000 sat incl. 12,500,000 fees</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Three claims against one rule set</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def accept(claim, height,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subsidy = (50 * 10**8) &gt;&gt; (height // 210000)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return claim &lt;= subsidy + fees</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[accept(312_500_000, 840000, 0), accept(312_500_001, 840000, 0), accept(325_000_000, 840000, 12_500_000)]</a:t>
            </a:r>
            <a:endParaRPr lang="en-US" sz="100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[True, False, True]</a:t>
            </a:r>
            <a:endParaRPr lang="en-US" sz="100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ConsensusRuleSet, lines 1 to 4 of 4,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Validity is computed, never decreed</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34</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Mining pays for honesty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coin and fees reward the work that secures the chain</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wait in the mempool</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Miners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spend energy on proof-of-work</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 found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~every 10 minutes</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Reward</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subsidy + fees</a:t>
            </a:r>
            <a:endParaRPr lang="en-US" sz="1250" dirty="0"/>
          </a:p>
        </p:txBody>
      </p:sp>
      <p:sp>
        <p:nvSpPr>
          <p:cNvPr id="17" name="Text 15"/>
          <p:cNvSpPr txBox="1"/>
          <p:nvPr/>
        </p:nvSpPr>
        <p:spPr>
          <a:xfrm>
            <a:off x="457200" y="2926080"/>
            <a:ext cx="5120640" cy="1554480"/>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The subsidy follows the halving chart</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Cheating costs more than it could win</a:t>
            </a:r>
            <a:endParaRPr lang="en-US" sz="1450" dirty="0"/>
          </a:p>
          <a:p>
            <a:pPr marL="342900" indent="-342900">
              <a:spcAft>
                <a:spcPts val="400"/>
              </a:spcAft>
              <a:buSzPct val="100000"/>
              <a:buChar char="•"/>
            </a:pPr>
            <a:r>
              <a:rPr lang="en-US" sz="1450" dirty="0">
                <a:solidFill>
                  <a:srgbClr val="2B2622"/>
                </a:solidFill>
                <a:latin typeface="Calibri" pitchFamily="34" charset="0"/>
                <a:ea typeface="Calibri" pitchFamily="34" charset="-122"/>
                <a:cs typeface="Calibri" pitchFamily="34" charset="-120"/>
              </a:rPr>
              <a:t>Chapter 12 opens the mechanism</a:t>
            </a:r>
            <a:endParaRPr lang="en-US" sz="1450" dirty="0"/>
          </a:p>
        </p:txBody>
      </p:sp>
      <p:pic>
        <p:nvPicPr>
          <p:cNvPr id="18" name="Image 0" descr="../../03-materials/ch01/assets/c8s32_miningnodes.png">    </p:cNvPr>
          <p:cNvPicPr>
            <a:picLocks noChangeAspect="1"/>
          </p:cNvPicPr>
          <p:nvPr/>
        </p:nvPicPr>
        <p:blipFill>
          <a:blip r:embed="rId1"/>
          <a:srcRect l="0" r="0" t="0" b="0"/>
          <a:stretch/>
        </p:blipFill>
        <p:spPr>
          <a:xfrm>
            <a:off x="5760720" y="2788920"/>
            <a:ext cx="2926080" cy="1691640"/>
          </a:xfrm>
          <a:prstGeom prst="rect">
            <a:avLst/>
          </a:prstGeom>
        </p:spPr>
      </p:pic>
      <p:sp>
        <p:nvSpPr>
          <p:cNvPr id="19" name="Text 16"/>
          <p:cNvSpPr txBox="1"/>
          <p:nvPr/>
        </p:nvSpPr>
        <p:spPr>
          <a:xfrm>
            <a:off x="5760720" y="4498848"/>
            <a:ext cx="2926080" cy="237744"/>
          </a:xfrm>
          <a:prstGeom prst="rect">
            <a:avLst/>
          </a:prstGeom>
          <a:noFill/>
          <a:ln/>
        </p:spPr>
        <p:txBody>
          <a:bodyPr wrap="square" lIns="0" tIns="0" rIns="0" bIns="0" rtlCol="0" anchor="ctr"/>
          <a:lstStyle/>
          <a:p>
            <a:pPr algn="ctr" indent="0" marL="0">
              <a:buNone/>
            </a:pPr>
            <a:r>
              <a:rPr lang="en-US" sz="950" i="1" dirty="0">
                <a:solidFill>
                  <a:srgbClr val="6E655C"/>
                </a:solidFill>
                <a:latin typeface="Calibri" pitchFamily="34" charset="0"/>
                <a:ea typeface="Calibri" pitchFamily="34" charset="-122"/>
                <a:cs typeface="Calibri" pitchFamily="34" charset="-120"/>
              </a:rPr>
              <a:t>from the owner's 2025 deck</a:t>
            </a:r>
            <a:endParaRPr lang="en-US" sz="9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Security is bought with energy and paid in bitcoin</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34</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Wallets and first use</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Choosing software, holding keys, and the first payment</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Wallet platforms</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 control</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Backup</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First payment</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34</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wallet branch, mapped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leaf is explained on the course page</a:t>
            </a:r>
            <a:endParaRPr lang="en-US" sz="1300" dirty="0"/>
          </a:p>
        </p:txBody>
      </p:sp>
      <p:sp>
        <p:nvSpPr>
          <p:cNvPr id="6" name="Shape 4"/>
          <p:cNvSpPr/>
          <p:nvPr/>
        </p:nvSpPr>
        <p:spPr>
          <a:xfrm>
            <a:off x="365760" y="267462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7462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Wallet</a:t>
            </a:r>
            <a:endParaRPr lang="en-US" sz="1500" dirty="0"/>
          </a:p>
        </p:txBody>
      </p:sp>
      <p:sp>
        <p:nvSpPr>
          <p:cNvPr id="8" name="Shape 6"/>
          <p:cNvSpPr/>
          <p:nvPr/>
        </p:nvSpPr>
        <p:spPr>
          <a:xfrm flipV="1">
            <a:off x="1783080" y="1472184"/>
            <a:ext cx="502920" cy="1476756"/>
          </a:xfrm>
          <a:prstGeom prst="line">
            <a:avLst/>
          </a:prstGeom>
          <a:noFill/>
          <a:ln w="13970">
            <a:solidFill>
              <a:srgbClr val="C9BFAE"/>
            </a:solidFill>
            <a:prstDash val="solid"/>
          </a:ln>
        </p:spPr>
      </p:sp>
      <p:sp>
        <p:nvSpPr>
          <p:cNvPr id="9" name="Shape 7"/>
          <p:cNvSpPr/>
          <p:nvPr/>
        </p:nvSpPr>
        <p:spPr>
          <a:xfrm>
            <a:off x="2331720" y="123444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34440"/>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Wallet Platform</a:t>
            </a:r>
            <a:endParaRPr lang="en-US" sz="1250" dirty="0"/>
          </a:p>
        </p:txBody>
      </p:sp>
      <p:sp>
        <p:nvSpPr>
          <p:cNvPr id="11" name="Shape 9"/>
          <p:cNvSpPr/>
          <p:nvPr/>
        </p:nvSpPr>
        <p:spPr>
          <a:xfrm>
            <a:off x="4023360" y="1472184"/>
            <a:ext cx="274320" cy="0"/>
          </a:xfrm>
          <a:prstGeom prst="line">
            <a:avLst/>
          </a:prstGeom>
          <a:noFill/>
          <a:ln w="13970">
            <a:solidFill>
              <a:srgbClr val="C9BFAE"/>
            </a:solidFill>
            <a:prstDash val="solid"/>
          </a:ln>
        </p:spPr>
      </p:sp>
      <p:sp>
        <p:nvSpPr>
          <p:cNvPr id="12" name="Shape 10"/>
          <p:cNvSpPr/>
          <p:nvPr/>
        </p:nvSpPr>
        <p:spPr>
          <a:xfrm>
            <a:off x="4297680" y="125272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52728"/>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Desktop Wallet  ·  Mobile Wallet  ·  Web Wallet  ·  Hardware Signing Device</a:t>
            </a:r>
            <a:endParaRPr lang="en-US" sz="1150" dirty="0"/>
          </a:p>
        </p:txBody>
      </p:sp>
      <p:sp>
        <p:nvSpPr>
          <p:cNvPr id="14" name="Shape 12"/>
          <p:cNvSpPr/>
          <p:nvPr/>
        </p:nvSpPr>
        <p:spPr>
          <a:xfrm flipV="1">
            <a:off x="1783080" y="2456688"/>
            <a:ext cx="502920" cy="492252"/>
          </a:xfrm>
          <a:prstGeom prst="line">
            <a:avLst/>
          </a:prstGeom>
          <a:noFill/>
          <a:ln w="13970">
            <a:solidFill>
              <a:srgbClr val="C9BFAE"/>
            </a:solidFill>
            <a:prstDash val="solid"/>
          </a:ln>
        </p:spPr>
      </p:sp>
      <p:sp>
        <p:nvSpPr>
          <p:cNvPr id="15" name="Shape 13"/>
          <p:cNvSpPr/>
          <p:nvPr/>
        </p:nvSpPr>
        <p:spPr>
          <a:xfrm>
            <a:off x="2331720" y="221894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Node Type</a:t>
            </a:r>
            <a:endParaRPr lang="en-US" sz="1250" dirty="0"/>
          </a:p>
        </p:txBody>
      </p:sp>
      <p:sp>
        <p:nvSpPr>
          <p:cNvPr id="17" name="Shape 15"/>
          <p:cNvSpPr/>
          <p:nvPr/>
        </p:nvSpPr>
        <p:spPr>
          <a:xfrm>
            <a:off x="4023360" y="2456688"/>
            <a:ext cx="274320" cy="0"/>
          </a:xfrm>
          <a:prstGeom prst="line">
            <a:avLst/>
          </a:prstGeom>
          <a:noFill/>
          <a:ln w="13970">
            <a:solidFill>
              <a:srgbClr val="C9BFAE"/>
            </a:solidFill>
            <a:prstDash val="solid"/>
          </a:ln>
        </p:spPr>
      </p:sp>
      <p:sp>
        <p:nvSpPr>
          <p:cNvPr id="18" name="Shape 16"/>
          <p:cNvSpPr/>
          <p:nvPr/>
        </p:nvSpPr>
        <p:spPr>
          <a:xfrm>
            <a:off x="4297680" y="223723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Full Node  ·  Lightweight Client  ·  Third Party API Client  ·  Peer And Client</a:t>
            </a:r>
            <a:endParaRPr lang="en-US" sz="1150" dirty="0"/>
          </a:p>
        </p:txBody>
      </p:sp>
      <p:sp>
        <p:nvSpPr>
          <p:cNvPr id="20" name="Shape 18"/>
          <p:cNvSpPr/>
          <p:nvPr/>
        </p:nvSpPr>
        <p:spPr>
          <a:xfrm>
            <a:off x="1783080" y="2948940"/>
            <a:ext cx="502920" cy="492252"/>
          </a:xfrm>
          <a:prstGeom prst="line">
            <a:avLst/>
          </a:prstGeom>
          <a:noFill/>
          <a:ln w="13970">
            <a:solidFill>
              <a:srgbClr val="C9BFAE"/>
            </a:solidFill>
            <a:prstDash val="solid"/>
          </a:ln>
        </p:spPr>
      </p:sp>
      <p:sp>
        <p:nvSpPr>
          <p:cNvPr id="21" name="Shape 19"/>
          <p:cNvSpPr/>
          <p:nvPr/>
        </p:nvSpPr>
        <p:spPr>
          <a:xfrm>
            <a:off x="2331720" y="3203448"/>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203448"/>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 Control</a:t>
            </a:r>
            <a:endParaRPr lang="en-US" sz="1250" dirty="0"/>
          </a:p>
        </p:txBody>
      </p:sp>
      <p:sp>
        <p:nvSpPr>
          <p:cNvPr id="23" name="Shape 21"/>
          <p:cNvSpPr/>
          <p:nvPr/>
        </p:nvSpPr>
        <p:spPr>
          <a:xfrm>
            <a:off x="4023360" y="3441192"/>
            <a:ext cx="274320" cy="0"/>
          </a:xfrm>
          <a:prstGeom prst="line">
            <a:avLst/>
          </a:prstGeom>
          <a:noFill/>
          <a:ln w="13970">
            <a:solidFill>
              <a:srgbClr val="C9BFAE"/>
            </a:solidFill>
            <a:prstDash val="solid"/>
          </a:ln>
        </p:spPr>
      </p:sp>
      <p:sp>
        <p:nvSpPr>
          <p:cNvPr id="24" name="Shape 22"/>
          <p:cNvSpPr/>
          <p:nvPr/>
        </p:nvSpPr>
        <p:spPr>
          <a:xfrm>
            <a:off x="4297680" y="3221736"/>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221736"/>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Noncustodial Wallet  ·  Custodial Wallet</a:t>
            </a:r>
            <a:endParaRPr lang="en-US" sz="1150" dirty="0"/>
          </a:p>
        </p:txBody>
      </p:sp>
      <p:sp>
        <p:nvSpPr>
          <p:cNvPr id="26" name="Shape 24"/>
          <p:cNvSpPr/>
          <p:nvPr/>
        </p:nvSpPr>
        <p:spPr>
          <a:xfrm>
            <a:off x="1783080" y="2948940"/>
            <a:ext cx="502920" cy="1476756"/>
          </a:xfrm>
          <a:prstGeom prst="line">
            <a:avLst/>
          </a:prstGeom>
          <a:noFill/>
          <a:ln w="13970">
            <a:solidFill>
              <a:srgbClr val="C9BFAE"/>
            </a:solidFill>
            <a:prstDash val="solid"/>
          </a:ln>
        </p:spPr>
      </p:sp>
      <p:sp>
        <p:nvSpPr>
          <p:cNvPr id="27" name="Shape 25"/>
          <p:cNvSpPr/>
          <p:nvPr/>
        </p:nvSpPr>
        <p:spPr>
          <a:xfrm>
            <a:off x="2331720" y="4187952"/>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187952"/>
            <a:ext cx="1581912" cy="475488"/>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Backup</a:t>
            </a:r>
            <a:endParaRPr lang="en-US" sz="1250" dirty="0"/>
          </a:p>
        </p:txBody>
      </p:sp>
      <p:sp>
        <p:nvSpPr>
          <p:cNvPr id="29" name="Shape 27"/>
          <p:cNvSpPr/>
          <p:nvPr/>
        </p:nvSpPr>
        <p:spPr>
          <a:xfrm>
            <a:off x="4023360" y="4425696"/>
            <a:ext cx="274320" cy="0"/>
          </a:xfrm>
          <a:prstGeom prst="line">
            <a:avLst/>
          </a:prstGeom>
          <a:noFill/>
          <a:ln w="13970">
            <a:solidFill>
              <a:srgbClr val="C9BFAE"/>
            </a:solidFill>
            <a:prstDash val="solid"/>
          </a:ln>
        </p:spPr>
      </p:sp>
      <p:sp>
        <p:nvSpPr>
          <p:cNvPr id="30" name="Shape 28"/>
          <p:cNvSpPr/>
          <p:nvPr/>
        </p:nvSpPr>
        <p:spPr>
          <a:xfrm>
            <a:off x="4297680" y="4206240"/>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206240"/>
            <a:ext cx="4261104" cy="438912"/>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Recovery Code  ·  Wallet Metadata</a:t>
            </a:r>
            <a:endParaRPr lang="en-US" sz="11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wallet is software for keys, not a bag of coins</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34</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Who holds the keys, holds the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one wallet decision that matters most</a:t>
            </a:r>
            <a:endParaRPr lang="en-US" sz="1300" dirty="0"/>
          </a:p>
        </p:txBody>
      </p:sp>
      <p:sp>
        <p:nvSpPr>
          <p:cNvPr id="6" name="Shape 4"/>
          <p:cNvSpPr/>
          <p:nvPr/>
        </p:nvSpPr>
        <p:spPr>
          <a:xfrm>
            <a:off x="457200" y="1371600"/>
            <a:ext cx="3931920" cy="1920240"/>
          </a:xfrm>
          <a:prstGeom prst="roundRect">
            <a:avLst>
              <a:gd name="adj" fmla="val 4762"/>
            </a:avLst>
          </a:prstGeom>
          <a:solidFill>
            <a:srgbClr val="F2ECE1"/>
          </a:solidFill>
          <a:ln w="15875">
            <a:solidFill>
              <a:srgbClr val="D97A14"/>
            </a:solidFill>
            <a:prstDash val="solid"/>
          </a:ln>
        </p:spPr>
      </p:sp>
      <p:sp>
        <p:nvSpPr>
          <p:cNvPr id="7" name="Text 5"/>
          <p:cNvSpPr txBox="1"/>
          <p:nvPr/>
        </p:nvSpPr>
        <p:spPr>
          <a:xfrm>
            <a:off x="640080" y="148132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Full control</a:t>
            </a:r>
            <a:endParaRPr lang="en-US" sz="1500" dirty="0"/>
          </a:p>
        </p:txBody>
      </p:sp>
      <p:sp>
        <p:nvSpPr>
          <p:cNvPr id="8" name="Text 6"/>
          <p:cNvSpPr txBox="1"/>
          <p:nvPr/>
        </p:nvSpPr>
        <p:spPr>
          <a:xfrm>
            <a:off x="64008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keep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sign; nobody can freeze</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Backup is your job</a:t>
            </a:r>
            <a:endParaRPr lang="en-US" sz="1300" dirty="0"/>
          </a:p>
        </p:txBody>
      </p:sp>
      <p:sp>
        <p:nvSpPr>
          <p:cNvPr id="9" name="Shape 7"/>
          <p:cNvSpPr/>
          <p:nvPr/>
        </p:nvSpPr>
        <p:spPr>
          <a:xfrm>
            <a:off x="4754880" y="1371600"/>
            <a:ext cx="3931920" cy="1920240"/>
          </a:xfrm>
          <a:prstGeom prst="roundRect">
            <a:avLst>
              <a:gd name="adj" fmla="val 4762"/>
            </a:avLst>
          </a:prstGeom>
          <a:solidFill>
            <a:srgbClr val="F2ECE1"/>
          </a:solidFill>
          <a:ln w="15875">
            <a:solidFill>
              <a:srgbClr val="2F6D62"/>
            </a:solidFill>
            <a:prstDash val="solid"/>
          </a:ln>
        </p:spPr>
      </p:sp>
      <p:sp>
        <p:nvSpPr>
          <p:cNvPr id="10" name="Text 8"/>
          <p:cNvSpPr txBox="1"/>
          <p:nvPr/>
        </p:nvSpPr>
        <p:spPr>
          <a:xfrm>
            <a:off x="4937760" y="148132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Third-party control</a:t>
            </a:r>
            <a:endParaRPr lang="en-US" sz="1500" dirty="0"/>
          </a:p>
        </p:txBody>
      </p:sp>
      <p:sp>
        <p:nvSpPr>
          <p:cNvPr id="11" name="Text 9"/>
          <p:cNvSpPr txBox="1"/>
          <p:nvPr/>
        </p:nvSpPr>
        <p:spPr>
          <a:xfrm>
            <a:off x="4937760" y="1901952"/>
            <a:ext cx="3566160" cy="1261872"/>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A service keeps the keys</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Convenient, custodial</a:t>
            </a:r>
            <a:endParaRPr lang="en-US" sz="1300" dirty="0"/>
          </a:p>
          <a:p>
            <a:pPr marL="342900" indent="-342900">
              <a:spcAft>
                <a:spcPts val="500"/>
              </a:spcAft>
              <a:buSzPct val="100000"/>
              <a:buChar char="•"/>
            </a:pPr>
            <a:r>
              <a:rPr lang="en-US" sz="1300" dirty="0">
                <a:solidFill>
                  <a:srgbClr val="2B2622"/>
                </a:solidFill>
                <a:latin typeface="Calibri" pitchFamily="34" charset="0"/>
                <a:ea typeface="Calibri" pitchFamily="34" charset="-122"/>
                <a:cs typeface="Calibri" pitchFamily="34" charset="-120"/>
              </a:rPr>
              <a:t>You trust their honesty and uptime</a:t>
            </a:r>
            <a:endParaRPr lang="en-US" sz="1300" dirty="0"/>
          </a:p>
        </p:txBody>
      </p:sp>
      <p:sp>
        <p:nvSpPr>
          <p:cNvPr id="12" name="Shape 10"/>
          <p:cNvSpPr/>
          <p:nvPr/>
        </p:nvSpPr>
        <p:spPr>
          <a:xfrm>
            <a:off x="457200" y="3520440"/>
            <a:ext cx="134096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520440"/>
            <a:ext cx="1340968"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desktop</a:t>
            </a:r>
            <a:endParaRPr lang="en-US" sz="1300" dirty="0"/>
          </a:p>
        </p:txBody>
      </p:sp>
      <p:sp>
        <p:nvSpPr>
          <p:cNvPr id="14" name="Shape 12"/>
          <p:cNvSpPr/>
          <p:nvPr/>
        </p:nvSpPr>
        <p:spPr>
          <a:xfrm>
            <a:off x="1999336" y="3520440"/>
            <a:ext cx="1204265"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1999336" y="3520440"/>
            <a:ext cx="1204265"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mobile</a:t>
            </a:r>
            <a:endParaRPr lang="en-US" sz="1300" dirty="0"/>
          </a:p>
        </p:txBody>
      </p:sp>
      <p:sp>
        <p:nvSpPr>
          <p:cNvPr id="16" name="Shape 14"/>
          <p:cNvSpPr/>
          <p:nvPr/>
        </p:nvSpPr>
        <p:spPr>
          <a:xfrm>
            <a:off x="3404768" y="3520440"/>
            <a:ext cx="794156"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404768" y="3520440"/>
            <a:ext cx="794156"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web</a:t>
            </a:r>
            <a:endParaRPr lang="en-US" sz="1300" dirty="0"/>
          </a:p>
        </p:txBody>
      </p:sp>
      <p:sp>
        <p:nvSpPr>
          <p:cNvPr id="18" name="Shape 16"/>
          <p:cNvSpPr/>
          <p:nvPr/>
        </p:nvSpPr>
        <p:spPr>
          <a:xfrm>
            <a:off x="4400093" y="3520440"/>
            <a:ext cx="1477670"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400093" y="3520440"/>
            <a:ext cx="1477670"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hardware</a:t>
            </a:r>
            <a:endParaRPr lang="en-US" sz="1300" dirty="0"/>
          </a:p>
        </p:txBody>
      </p:sp>
      <p:sp>
        <p:nvSpPr>
          <p:cNvPr id="20" name="Shape 18"/>
          <p:cNvSpPr/>
          <p:nvPr/>
        </p:nvSpPr>
        <p:spPr>
          <a:xfrm>
            <a:off x="6078931" y="3520440"/>
            <a:ext cx="1067562"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6078931" y="3520440"/>
            <a:ext cx="1067562" cy="420624"/>
          </a:xfrm>
          <a:prstGeom prst="rect">
            <a:avLst/>
          </a:prstGeom>
          <a:noFill/>
          <a:ln/>
        </p:spPr>
        <p:txBody>
          <a:bodyPr wrap="square" lIns="0" tIns="0" rIns="0" bIns="0" rtlCol="0" anchor="ctr"/>
          <a:lstStyle/>
          <a:p>
            <a:pPr algn="ctr" indent="0" marL="0">
              <a:buNone/>
            </a:pPr>
            <a:r>
              <a:rPr lang="en-US" sz="1300" dirty="0">
                <a:solidFill>
                  <a:srgbClr val="2B2622"/>
                </a:solidFill>
                <a:latin typeface="Calibri" pitchFamily="34" charset="0"/>
                <a:ea typeface="Calibri" pitchFamily="34" charset="-122"/>
                <a:cs typeface="Calibri" pitchFamily="34" charset="-120"/>
              </a:rPr>
              <a:t>paper</a:t>
            </a:r>
            <a:endParaRPr lang="en-US" sz="13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Custody is the first security decision you make</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34</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exchange that lost everyone's 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February 2014</a:t>
            </a:r>
            <a:endParaRPr lang="en-US" sz="1300" dirty="0"/>
          </a:p>
        </p:txBody>
      </p:sp>
      <p:sp>
        <p:nvSpPr>
          <p:cNvPr id="6" name="Shape 4"/>
          <p:cNvSpPr/>
          <p:nvPr/>
        </p:nvSpPr>
        <p:spPr>
          <a:xfrm>
            <a:off x="457200" y="1371600"/>
            <a:ext cx="2590800" cy="1280160"/>
          </a:xfrm>
          <a:prstGeom prst="roundRect">
            <a:avLst>
              <a:gd name="adj" fmla="val 5714"/>
            </a:avLst>
          </a:prstGeom>
          <a:solidFill>
            <a:srgbClr val="F2ECE1"/>
          </a:solidFill>
          <a:ln w="12700">
            <a:solidFill>
              <a:srgbClr val="DFD6C7"/>
            </a:solidFill>
            <a:prstDash val="solid"/>
          </a:ln>
        </p:spPr>
      </p:sp>
      <p:sp>
        <p:nvSpPr>
          <p:cNvPr id="7" name="Text 5"/>
          <p:cNvSpPr txBox="1"/>
          <p:nvPr/>
        </p:nvSpPr>
        <p:spPr>
          <a:xfrm>
            <a:off x="5669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850,000</a:t>
            </a:r>
            <a:endParaRPr lang="en-US" sz="2800" dirty="0"/>
          </a:p>
        </p:txBody>
      </p:sp>
      <p:sp>
        <p:nvSpPr>
          <p:cNvPr id="8" name="Text 6"/>
          <p:cNvSpPr txBox="1"/>
          <p:nvPr/>
        </p:nvSpPr>
        <p:spPr>
          <a:xfrm>
            <a:off x="5669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bitcoins reported missing in the 2014 bankruptcy filing</a:t>
            </a:r>
            <a:endParaRPr lang="en-US" sz="1150" dirty="0"/>
          </a:p>
        </p:txBody>
      </p:sp>
      <p:sp>
        <p:nvSpPr>
          <p:cNvPr id="9" name="Shape 7"/>
          <p:cNvSpPr/>
          <p:nvPr/>
        </p:nvSpPr>
        <p:spPr>
          <a:xfrm>
            <a:off x="3276600" y="1371600"/>
            <a:ext cx="2590800" cy="1280160"/>
          </a:xfrm>
          <a:prstGeom prst="roundRect">
            <a:avLst>
              <a:gd name="adj" fmla="val 5714"/>
            </a:avLst>
          </a:prstGeom>
          <a:solidFill>
            <a:srgbClr val="F2ECE1"/>
          </a:solidFill>
          <a:ln w="12700">
            <a:solidFill>
              <a:srgbClr val="DFD6C7"/>
            </a:solidFill>
            <a:prstDash val="solid"/>
          </a:ln>
        </p:spPr>
      </p:sp>
      <p:sp>
        <p:nvSpPr>
          <p:cNvPr id="10" name="Text 8"/>
          <p:cNvSpPr txBox="1"/>
          <p:nvPr/>
        </p:nvSpPr>
        <p:spPr>
          <a:xfrm>
            <a:off x="33863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a:t>
            </a:r>
            <a:endParaRPr lang="en-US" sz="2800" dirty="0"/>
          </a:p>
        </p:txBody>
      </p:sp>
      <p:sp>
        <p:nvSpPr>
          <p:cNvPr id="11" name="Text 9"/>
          <p:cNvSpPr txBox="1"/>
          <p:nvPr/>
        </p:nvSpPr>
        <p:spPr>
          <a:xfrm>
            <a:off x="33863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Mt. Gox had been the largest exchange in the world</a:t>
            </a:r>
            <a:endParaRPr lang="en-US" sz="1150" dirty="0"/>
          </a:p>
        </p:txBody>
      </p:sp>
      <p:sp>
        <p:nvSpPr>
          <p:cNvPr id="12" name="Shape 10"/>
          <p:cNvSpPr/>
          <p:nvPr/>
        </p:nvSpPr>
        <p:spPr>
          <a:xfrm>
            <a:off x="6096000" y="1371600"/>
            <a:ext cx="2590800" cy="1280160"/>
          </a:xfrm>
          <a:prstGeom prst="roundRect">
            <a:avLst>
              <a:gd name="adj" fmla="val 5714"/>
            </a:avLst>
          </a:prstGeom>
          <a:solidFill>
            <a:srgbClr val="F2ECE1"/>
          </a:solidFill>
          <a:ln w="12700">
            <a:solidFill>
              <a:srgbClr val="DFD6C7"/>
            </a:solidFill>
            <a:prstDash val="solid"/>
          </a:ln>
        </p:spPr>
      </p:sp>
      <p:sp>
        <p:nvSpPr>
          <p:cNvPr id="13" name="Text 11"/>
          <p:cNvSpPr txBox="1"/>
          <p:nvPr/>
        </p:nvSpPr>
        <p:spPr>
          <a:xfrm>
            <a:off x="6205728" y="1444752"/>
            <a:ext cx="2371344" cy="640080"/>
          </a:xfrm>
          <a:prstGeom prst="rect">
            <a:avLst/>
          </a:prstGeom>
          <a:noFill/>
          <a:ln/>
        </p:spPr>
        <p:txBody>
          <a:bodyPr wrap="square" lIns="0" tIns="0" rIns="0" bIns="0" rtlCol="0" anchor="ctr"/>
          <a:lstStyle/>
          <a:p>
            <a:pPr indent="0" marL="0">
              <a:buNone/>
            </a:pPr>
            <a:r>
              <a:rPr lang="en-US" sz="2800" b="1" dirty="0">
                <a:solidFill>
                  <a:srgbClr val="D97A14"/>
                </a:solidFill>
                <a:latin typeface="Cambria" pitchFamily="34" charset="0"/>
                <a:ea typeface="Cambria" pitchFamily="34" charset="-122"/>
                <a:cs typeface="Cambria" pitchFamily="34" charset="-120"/>
              </a:rPr>
              <a:t>10+ yrs</a:t>
            </a:r>
            <a:endParaRPr lang="en-US" sz="2800" dirty="0"/>
          </a:p>
        </p:txBody>
      </p:sp>
      <p:sp>
        <p:nvSpPr>
          <p:cNvPr id="14" name="Text 12"/>
          <p:cNvSpPr txBox="1"/>
          <p:nvPr/>
        </p:nvSpPr>
        <p:spPr>
          <a:xfrm>
            <a:off x="6205728" y="2037283"/>
            <a:ext cx="2371344" cy="56327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creditors still being repaid a decade later</a:t>
            </a:r>
            <a:endParaRPr lang="en-US" sz="1150" dirty="0"/>
          </a:p>
        </p:txBody>
      </p:sp>
      <p:sp>
        <p:nvSpPr>
          <p:cNvPr id="15" name="Shape 13"/>
          <p:cNvSpPr/>
          <p:nvPr/>
        </p:nvSpPr>
        <p:spPr>
          <a:xfrm>
            <a:off x="457200" y="307543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731520" y="288036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Customers saw balances on a website</a:t>
            </a:r>
            <a:endParaRPr lang="en-US" sz="1400" dirty="0"/>
          </a:p>
        </p:txBody>
      </p:sp>
      <p:sp>
        <p:nvSpPr>
          <p:cNvPr id="17" name="Shape 15"/>
          <p:cNvSpPr/>
          <p:nvPr/>
        </p:nvSpPr>
        <p:spPr>
          <a:xfrm>
            <a:off x="457200" y="3593592"/>
            <a:ext cx="128016" cy="128016"/>
          </a:xfrm>
          <a:prstGeom prst="diamond">
            <a:avLst/>
          </a:prstGeom>
          <a:solidFill>
            <a:srgbClr val="D97A14"/>
          </a:solidFill>
          <a:ln w="12700">
            <a:solidFill>
              <a:srgbClr val="D97A14"/>
            </a:solidFill>
            <a:prstDash val="solid"/>
          </a:ln>
        </p:spPr>
      </p:sp>
      <p:sp>
        <p:nvSpPr>
          <p:cNvPr id="18" name="Text 16"/>
          <p:cNvSpPr txBox="1"/>
          <p:nvPr/>
        </p:nvSpPr>
        <p:spPr>
          <a:xfrm>
            <a:off x="731520" y="339852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The keys - so the coins - sat in one company's hands</a:t>
            </a:r>
            <a:endParaRPr lang="en-US" sz="1400" dirty="0"/>
          </a:p>
        </p:txBody>
      </p:sp>
      <p:sp>
        <p:nvSpPr>
          <p:cNvPr id="19" name="Shape 17"/>
          <p:cNvSpPr/>
          <p:nvPr/>
        </p:nvSpPr>
        <p:spPr>
          <a:xfrm>
            <a:off x="457200" y="4111752"/>
            <a:ext cx="128016" cy="128016"/>
          </a:xfrm>
          <a:prstGeom prst="diamond">
            <a:avLst/>
          </a:prstGeom>
          <a:solidFill>
            <a:srgbClr val="D97A14"/>
          </a:solidFill>
          <a:ln w="12700">
            <a:solidFill>
              <a:srgbClr val="D97A14"/>
            </a:solidFill>
            <a:prstDash val="solid"/>
          </a:ln>
        </p:spPr>
      </p:sp>
      <p:sp>
        <p:nvSpPr>
          <p:cNvPr id="20" name="Text 18"/>
          <p:cNvSpPr txBox="1"/>
          <p:nvPr/>
        </p:nvSpPr>
        <p:spPr>
          <a:xfrm>
            <a:off x="731520" y="3916680"/>
            <a:ext cx="7955280" cy="518160"/>
          </a:xfrm>
          <a:prstGeom prst="rect">
            <a:avLst/>
          </a:prstGeom>
          <a:noFill/>
          <a:ln/>
        </p:spPr>
        <p:txBody>
          <a:bodyPr wrap="square" lIns="0" tIns="0" rIns="0" bIns="0" rtlCol="0" anchor="ctr"/>
          <a:lstStyle/>
          <a:p>
            <a:pPr indent="0" marL="0">
              <a:buNone/>
            </a:pPr>
            <a:r>
              <a:rPr lang="en-US" sz="1400" dirty="0">
                <a:solidFill>
                  <a:srgbClr val="2B2622"/>
                </a:solidFill>
                <a:latin typeface="Calibri" pitchFamily="34" charset="0"/>
                <a:ea typeface="Calibri" pitchFamily="34" charset="-122"/>
                <a:cs typeface="Calibri" pitchFamily="34" charset="-120"/>
              </a:rPr>
              <a:t>When they vanished, the balances meant nothing</a:t>
            </a:r>
            <a:endParaRPr lang="en-US" sz="14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Whoever holds the keys holds the coins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34</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From a phrase to a key, slowly on purpose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Key stretching makes guessing expensive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A backup phrase becomes the wallet seed</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Chapter 5 derives whole wallets from this</a:t>
            </a:r>
            <a:endParaRPr lang="en-US" sz="1350" dirty="0"/>
          </a:p>
        </p:txBody>
      </p:sp>
      <p:sp>
        <p:nvSpPr>
          <p:cNvPr id="7" name="Shape 5"/>
          <p:cNvSpPr/>
          <p:nvPr/>
        </p:nvSpPr>
        <p:spPr>
          <a:xfrm flipV="1">
            <a:off x="548640" y="2377440"/>
            <a:ext cx="3108960" cy="347472"/>
          </a:xfrm>
          <a:prstGeom prst="trapezoid">
            <a:avLst/>
          </a:prstGeom>
          <a:solidFill>
            <a:srgbClr val="2F6D62"/>
          </a:solidFill>
          <a:ln w="12700">
            <a:solidFill>
              <a:srgbClr val="FFFFFF"/>
            </a:solidFill>
            <a:prstDash val="solid"/>
          </a:ln>
        </p:spPr>
      </p:sp>
      <p:sp>
        <p:nvSpPr>
          <p:cNvPr id="8" name="Text 6"/>
          <p:cNvSpPr txBox="1"/>
          <p:nvPr/>
        </p:nvSpPr>
        <p:spPr>
          <a:xfrm>
            <a:off x="548640" y="2377440"/>
            <a:ext cx="3108960"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phrase 'abandon' + salt</a:t>
            </a:r>
            <a:endParaRPr lang="en-US" sz="1050" dirty="0"/>
          </a:p>
        </p:txBody>
      </p:sp>
      <p:sp>
        <p:nvSpPr>
          <p:cNvPr id="9" name="Shape 7"/>
          <p:cNvSpPr/>
          <p:nvPr/>
        </p:nvSpPr>
        <p:spPr>
          <a:xfrm flipV="1">
            <a:off x="828446" y="2834640"/>
            <a:ext cx="2549347" cy="347472"/>
          </a:xfrm>
          <a:prstGeom prst="trapezoid">
            <a:avLst/>
          </a:prstGeom>
          <a:solidFill>
            <a:srgbClr val="2F6D62"/>
          </a:solidFill>
          <a:ln w="12700">
            <a:solidFill>
              <a:srgbClr val="FFFFFF"/>
            </a:solidFill>
            <a:prstDash val="solid"/>
          </a:ln>
        </p:spPr>
      </p:sp>
      <p:sp>
        <p:nvSpPr>
          <p:cNvPr id="10" name="Text 8"/>
          <p:cNvSpPr txBox="1"/>
          <p:nvPr/>
        </p:nvSpPr>
        <p:spPr>
          <a:xfrm>
            <a:off x="828446" y="2834640"/>
            <a:ext cx="2549347"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HMAC-SHA512, round 1</a:t>
            </a:r>
            <a:endParaRPr lang="en-US" sz="1050" dirty="0"/>
          </a:p>
        </p:txBody>
      </p:sp>
      <p:sp>
        <p:nvSpPr>
          <p:cNvPr id="11" name="Shape 9"/>
          <p:cNvSpPr/>
          <p:nvPr/>
        </p:nvSpPr>
        <p:spPr>
          <a:xfrm flipV="1">
            <a:off x="1108253" y="3291840"/>
            <a:ext cx="1989734" cy="347472"/>
          </a:xfrm>
          <a:prstGeom prst="trapezoid">
            <a:avLst/>
          </a:prstGeom>
          <a:solidFill>
            <a:srgbClr val="2F6D62"/>
          </a:solidFill>
          <a:ln w="12700">
            <a:solidFill>
              <a:srgbClr val="FFFFFF"/>
            </a:solidFill>
            <a:prstDash val="solid"/>
          </a:ln>
        </p:spPr>
      </p:sp>
      <p:sp>
        <p:nvSpPr>
          <p:cNvPr id="12" name="Text 10"/>
          <p:cNvSpPr txBox="1"/>
          <p:nvPr/>
        </p:nvSpPr>
        <p:spPr>
          <a:xfrm>
            <a:off x="1108253" y="3291840"/>
            <a:ext cx="1989734" cy="347472"/>
          </a:xfrm>
          <a:prstGeom prst="rect">
            <a:avLst/>
          </a:prstGeom>
          <a:noFill/>
          <a:ln/>
        </p:spPr>
        <p:txBody>
          <a:bodyPr wrap="square" lIns="0" tIns="0" rIns="0" bIns="0"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 2,048 rounds ...</a:t>
            </a:r>
            <a:endParaRPr lang="en-US" sz="1050" dirty="0"/>
          </a:p>
        </p:txBody>
      </p:sp>
      <p:sp>
        <p:nvSpPr>
          <p:cNvPr id="13" name="Shape 11"/>
          <p:cNvSpPr/>
          <p:nvPr/>
        </p:nvSpPr>
        <p:spPr>
          <a:xfrm flipV="1">
            <a:off x="1388059" y="3749040"/>
            <a:ext cx="1430122" cy="347472"/>
          </a:xfrm>
          <a:prstGeom prst="trapezoid">
            <a:avLst/>
          </a:prstGeom>
          <a:solidFill>
            <a:srgbClr val="D97A14"/>
          </a:solidFill>
          <a:ln w="12700">
            <a:solidFill>
              <a:srgbClr val="FFFFFF"/>
            </a:solidFill>
            <a:prstDash val="solid"/>
          </a:ln>
        </p:spPr>
      </p:sp>
      <p:sp>
        <p:nvSpPr>
          <p:cNvPr id="14" name="Text 12"/>
          <p:cNvSpPr txBox="1"/>
          <p:nvPr/>
        </p:nvSpPr>
        <p:spPr>
          <a:xfrm>
            <a:off x="1388059" y="3749040"/>
            <a:ext cx="143012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the wallet seed</a:t>
            </a:r>
            <a:endParaRPr lang="en-US" sz="1050" dirty="0"/>
          </a:p>
        </p:txBody>
      </p:sp>
      <p:sp>
        <p:nvSpPr>
          <p:cNvPr id="15" name="Text 13"/>
          <p:cNvSpPr txBox="1"/>
          <p:nvPr/>
        </p:nvSpPr>
        <p:spPr>
          <a:xfrm>
            <a:off x="548640" y="4242816"/>
            <a:ext cx="3108960" cy="274320"/>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result: a 64-byte seed, digest d96147bf</a:t>
            </a:r>
            <a:endParaRPr lang="en-US" sz="1050" dirty="0"/>
          </a:p>
        </p:txBody>
      </p:sp>
      <p:sp>
        <p:nvSpPr>
          <p:cNvPr id="16" name="Text 14"/>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2,048 rounds from phrase to seed</a:t>
            </a:r>
            <a:endParaRPr lang="en-US" sz="1150" dirty="0"/>
          </a:p>
        </p:txBody>
      </p:sp>
      <p:sp>
        <p:nvSpPr>
          <p:cNvPr id="17" name="Shape 15"/>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18" name="Text 16"/>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import hmac</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password, salt, iters = b'abandon', b'mnemonic', 2048</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u = hmac.new(password, salt + bytes([0, 0, 0, 1]),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seed =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range(iters - 1):</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u = hmac.new(password, u, 'sha512').digest()</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seed = bytes(a ^ b for a, b in zip(seed, u))</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(len(seed), seed.hex()[:8])</a:t>
            </a:r>
            <a:endParaRPr lang="en-US" sz="1000" dirty="0"/>
          </a:p>
        </p:txBody>
      </p:sp>
      <p:sp>
        <p:nvSpPr>
          <p:cNvPr id="19" name="Text 17"/>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(64, 'd96147bf')</a:t>
            </a:r>
            <a:endParaRPr lang="en-US" sz="1000" dirty="0"/>
          </a:p>
        </p:txBody>
      </p:sp>
      <p:sp>
        <p:nvSpPr>
          <p:cNvPr id="20" name="Text 18"/>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KeyStretching, lines 1 to 8 of 8, run under Python 3.14.4</a:t>
            </a:r>
            <a:endParaRPr lang="en-US" sz="9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Slowness here is a feature priced against attackers</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34</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Alice's first bitcoin, step by step</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running story begins</a:t>
            </a:r>
            <a:endParaRPr lang="en-US" sz="1300" dirty="0"/>
          </a:p>
        </p:txBody>
      </p:sp>
      <p:sp>
        <p:nvSpPr>
          <p:cNvPr id="6" name="Shape 4"/>
          <p:cNvSpPr/>
          <p:nvPr/>
        </p:nvSpPr>
        <p:spPr>
          <a:xfrm>
            <a:off x="457200" y="1463040"/>
            <a:ext cx="1700784" cy="1097280"/>
          </a:xfrm>
          <a:prstGeom prst="roundRect">
            <a:avLst>
              <a:gd name="adj" fmla="val 8333"/>
            </a:avLst>
          </a:prstGeom>
          <a:solidFill>
            <a:srgbClr val="2F6D62"/>
          </a:solidFill>
          <a:ln w="12700">
            <a:solidFill>
              <a:srgbClr val="2F6D62"/>
            </a:solidFill>
            <a:prstDash val="solid"/>
          </a:ln>
        </p:spPr>
      </p:sp>
      <p:sp>
        <p:nvSpPr>
          <p:cNvPr id="7" name="Text 5"/>
          <p:cNvSpPr txBox="1"/>
          <p:nvPr/>
        </p:nvSpPr>
        <p:spPr>
          <a:xfrm>
            <a:off x="530352"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Install a wallet</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keys made on her phone</a:t>
            </a:r>
            <a:endParaRPr lang="en-US" sz="1250" dirty="0"/>
          </a:p>
        </p:txBody>
      </p:sp>
      <p:sp>
        <p:nvSpPr>
          <p:cNvPr id="8" name="Shape 6"/>
          <p:cNvSpPr/>
          <p:nvPr/>
        </p:nvSpPr>
        <p:spPr>
          <a:xfrm>
            <a:off x="2212848" y="2011680"/>
            <a:ext cx="365760" cy="0"/>
          </a:xfrm>
          <a:prstGeom prst="line">
            <a:avLst/>
          </a:prstGeom>
          <a:noFill/>
          <a:ln w="25400">
            <a:solidFill>
              <a:srgbClr val="D97A14"/>
            </a:solidFill>
            <a:prstDash val="solid"/>
            <a:tailEnd type="triangle"/>
          </a:ln>
        </p:spPr>
      </p:sp>
      <p:sp>
        <p:nvSpPr>
          <p:cNvPr id="9" name="Shape 7"/>
          <p:cNvSpPr/>
          <p:nvPr/>
        </p:nvSpPr>
        <p:spPr>
          <a:xfrm>
            <a:off x="2633472" y="1463040"/>
            <a:ext cx="1700784" cy="1097280"/>
          </a:xfrm>
          <a:prstGeom prst="roundRect">
            <a:avLst>
              <a:gd name="adj" fmla="val 8333"/>
            </a:avLst>
          </a:prstGeom>
          <a:solidFill>
            <a:srgbClr val="2F6D62"/>
          </a:solidFill>
          <a:ln w="12700">
            <a:solidFill>
              <a:srgbClr val="2F6D62"/>
            </a:solidFill>
            <a:prstDash val="solid"/>
          </a:ln>
        </p:spPr>
      </p:sp>
      <p:sp>
        <p:nvSpPr>
          <p:cNvPr id="10" name="Text 8"/>
          <p:cNvSpPr txBox="1"/>
          <p:nvPr/>
        </p:nvSpPr>
        <p:spPr>
          <a:xfrm>
            <a:off x="2706624"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First address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shared as text or QR</a:t>
            </a:r>
            <a:endParaRPr lang="en-US" sz="1250" dirty="0"/>
          </a:p>
        </p:txBody>
      </p:sp>
      <p:sp>
        <p:nvSpPr>
          <p:cNvPr id="11" name="Shape 9"/>
          <p:cNvSpPr/>
          <p:nvPr/>
        </p:nvSpPr>
        <p:spPr>
          <a:xfrm>
            <a:off x="4389120" y="2011680"/>
            <a:ext cx="365760" cy="0"/>
          </a:xfrm>
          <a:prstGeom prst="line">
            <a:avLst/>
          </a:prstGeom>
          <a:noFill/>
          <a:ln w="25400">
            <a:solidFill>
              <a:srgbClr val="D97A14"/>
            </a:solidFill>
            <a:prstDash val="solid"/>
            <a:tailEnd type="triangle"/>
          </a:ln>
        </p:spPr>
      </p:sp>
      <p:sp>
        <p:nvSpPr>
          <p:cNvPr id="12" name="Shape 10"/>
          <p:cNvSpPr/>
          <p:nvPr/>
        </p:nvSpPr>
        <p:spPr>
          <a:xfrm>
            <a:off x="4809744" y="1463040"/>
            <a:ext cx="1700784" cy="1097280"/>
          </a:xfrm>
          <a:prstGeom prst="roundRect">
            <a:avLst>
              <a:gd name="adj" fmla="val 8333"/>
            </a:avLst>
          </a:prstGeom>
          <a:solidFill>
            <a:srgbClr val="2F6D62"/>
          </a:solidFill>
          <a:ln w="12700">
            <a:solidFill>
              <a:srgbClr val="2F6D62"/>
            </a:solidFill>
            <a:prstDash val="solid"/>
          </a:ln>
        </p:spPr>
      </p:sp>
      <p:sp>
        <p:nvSpPr>
          <p:cNvPr id="13" name="Text 11"/>
          <p:cNvSpPr txBox="1"/>
          <p:nvPr/>
        </p:nvSpPr>
        <p:spPr>
          <a:xfrm>
            <a:off x="4882896"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Acquire bitcoin</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buy, earn, or exchange</a:t>
            </a:r>
            <a:endParaRPr lang="en-US" sz="1250" dirty="0"/>
          </a:p>
        </p:txBody>
      </p:sp>
      <p:sp>
        <p:nvSpPr>
          <p:cNvPr id="14" name="Shape 12"/>
          <p:cNvSpPr/>
          <p:nvPr/>
        </p:nvSpPr>
        <p:spPr>
          <a:xfrm>
            <a:off x="6565392" y="2011680"/>
            <a:ext cx="365760" cy="0"/>
          </a:xfrm>
          <a:prstGeom prst="line">
            <a:avLst/>
          </a:prstGeom>
          <a:noFill/>
          <a:ln w="25400">
            <a:solidFill>
              <a:srgbClr val="D97A14"/>
            </a:solidFill>
            <a:prstDash val="solid"/>
            <a:tailEnd type="triangle"/>
          </a:ln>
        </p:spPr>
      </p:sp>
      <p:sp>
        <p:nvSpPr>
          <p:cNvPr id="15" name="Shape 13"/>
          <p:cNvSpPr/>
          <p:nvPr/>
        </p:nvSpPr>
        <p:spPr>
          <a:xfrm>
            <a:off x="6986016" y="1463040"/>
            <a:ext cx="1700784" cy="1097280"/>
          </a:xfrm>
          <a:prstGeom prst="roundRect">
            <a:avLst>
              <a:gd name="adj" fmla="val 8333"/>
            </a:avLst>
          </a:prstGeom>
          <a:solidFill>
            <a:srgbClr val="2F6D62"/>
          </a:solidFill>
          <a:ln w="12700">
            <a:solidFill>
              <a:srgbClr val="2F6D62"/>
            </a:solidFill>
            <a:prstDash val="solid"/>
          </a:ln>
        </p:spPr>
      </p:sp>
      <p:sp>
        <p:nvSpPr>
          <p:cNvPr id="16" name="Text 14"/>
          <p:cNvSpPr txBox="1"/>
          <p:nvPr/>
        </p:nvSpPr>
        <p:spPr>
          <a:xfrm>
            <a:off x="7059168" y="1508760"/>
            <a:ext cx="1554480" cy="100584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Confirmations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the network accepts it</a:t>
            </a:r>
            <a:endParaRPr lang="en-US" sz="1250" dirty="0"/>
          </a:p>
        </p:txBody>
      </p:sp>
      <p:sp>
        <p:nvSpPr>
          <p:cNvPr id="17" name="Text 15"/>
          <p:cNvSpPr txBox="1"/>
          <p:nvPr/>
        </p:nvSpPr>
        <p:spPr>
          <a:xfrm>
            <a:off x="3931920" y="2487168"/>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Her channel settles on-chain only twice</a:t>
            </a:r>
            <a:endParaRPr lang="en-US" sz="1150" dirty="0"/>
          </a:p>
        </p:txBody>
      </p:sp>
      <p:sp>
        <p:nvSpPr>
          <p:cNvPr id="18" name="Shape 16"/>
          <p:cNvSpPr/>
          <p:nvPr/>
        </p:nvSpPr>
        <p:spPr>
          <a:xfrm>
            <a:off x="3931920" y="2761488"/>
            <a:ext cx="4754880" cy="1481328"/>
          </a:xfrm>
          <a:prstGeom prst="roundRect">
            <a:avLst>
              <a:gd name="adj" fmla="val 6173"/>
            </a:avLst>
          </a:prstGeom>
          <a:solidFill>
            <a:srgbClr val="23272E"/>
          </a:solidFill>
          <a:ln w="12700">
            <a:solidFill>
              <a:srgbClr val="23272E"/>
            </a:solidFill>
            <a:prstDash val="solid"/>
          </a:ln>
        </p:spPr>
      </p:sp>
      <p:sp>
        <p:nvSpPr>
          <p:cNvPr id="19" name="Text 17"/>
          <p:cNvSpPr txBox="1"/>
          <p:nvPr/>
        </p:nvSpPr>
        <p:spPr>
          <a:xfrm>
            <a:off x="4114800" y="2880360"/>
            <a:ext cx="4389120" cy="1243584"/>
          </a:xfrm>
          <a:prstGeom prst="rect">
            <a:avLst/>
          </a:prstGeom>
          <a:noFill/>
          <a:ln/>
        </p:spPr>
        <p:txBody>
          <a:bodyPr wrap="square" lIns="0" tIns="0" rIns="0" bIns="0" rtlCol="0" anchor="t"/>
          <a:lstStyle/>
          <a:p>
            <a:pPr indent="0" marL="0">
              <a:buNone/>
            </a:pPr>
            <a:r>
              <a:rPr lang="en-US" sz="1000" dirty="0">
                <a:solidFill>
                  <a:srgbClr val="E6EDF3"/>
                </a:solidFill>
                <a:latin typeface="Courier New" pitchFamily="34" charset="0"/>
                <a:ea typeface="Courier New" pitchFamily="34" charset="-122"/>
                <a:cs typeface="Courier New" pitchFamily="34" charset="-120"/>
              </a:rPr>
              <a:t>onchain, a, b = 2, 60_000, 40_000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for _ in range(100):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    a, b = a - 10, b + 10</a:t>
            </a:r>
            <a:endParaRPr lang="en-US" sz="1000" dirty="0"/>
          </a:p>
          <a:p>
            <a:pPr indent="0" marL="0">
              <a:buNone/>
            </a:pPr>
            <a:r>
              <a:rPr lang="en-US" sz="1000" dirty="0">
                <a:solidFill>
                  <a:srgbClr val="E6EDF3"/>
                </a:solidFill>
                <a:latin typeface="Courier New" pitchFamily="34" charset="0"/>
                <a:ea typeface="Courier New" pitchFamily="34" charset="-122"/>
                <a:cs typeface="Courier New" pitchFamily="34" charset="-120"/>
              </a:rPr>
              <a:t>result = (a, b, a + b, onchain)</a:t>
            </a:r>
            <a:endParaRPr lang="en-US" sz="1000" dirty="0"/>
          </a:p>
        </p:txBody>
      </p:sp>
      <p:sp>
        <p:nvSpPr>
          <p:cNvPr id="20" name="Text 18"/>
          <p:cNvSpPr txBox="1"/>
          <p:nvPr/>
        </p:nvSpPr>
        <p:spPr>
          <a:xfrm>
            <a:off x="3931920" y="4261104"/>
            <a:ext cx="4754880" cy="256032"/>
          </a:xfrm>
          <a:prstGeom prst="rect">
            <a:avLst/>
          </a:prstGeom>
          <a:noFill/>
          <a:ln/>
        </p:spPr>
        <p:txBody>
          <a:bodyPr wrap="square" lIns="0" tIns="0" rIns="0" bIns="0" rtlCol="0" anchor="ctr"/>
          <a:lstStyle/>
          <a:p>
            <a:pPr indent="0" marL="0">
              <a:buNone/>
            </a:pPr>
            <a:r>
              <a:rPr lang="en-US" sz="1000" b="1" dirty="0">
                <a:solidFill>
                  <a:srgbClr val="D97A14"/>
                </a:solidFill>
                <a:latin typeface="Courier New" pitchFamily="34" charset="0"/>
                <a:ea typeface="Courier New" pitchFamily="34" charset="-122"/>
                <a:cs typeface="Courier New" pitchFamily="34" charset="-120"/>
              </a:rPr>
              <a:t>result  </a:t>
            </a:r>
            <a:pPr indent="0" marL="0">
              <a:buNone/>
            </a:pPr>
            <a:r>
              <a:rPr lang="en-US" sz="1000" dirty="0">
                <a:solidFill>
                  <a:srgbClr val="2B2622"/>
                </a:solidFill>
                <a:latin typeface="Courier New" pitchFamily="34" charset="0"/>
                <a:ea typeface="Courier New" pitchFamily="34" charset="-122"/>
                <a:cs typeface="Courier New" pitchFamily="34" charset="-120"/>
              </a:rPr>
              <a:t>(59000, 41000, 100000, 2)</a:t>
            </a:r>
            <a:endParaRPr lang="en-US" sz="1000" dirty="0"/>
          </a:p>
        </p:txBody>
      </p:sp>
      <p:sp>
        <p:nvSpPr>
          <p:cNvPr id="21" name="Text 19"/>
          <p:cNvSpPr txBox="1"/>
          <p:nvPr/>
        </p:nvSpPr>
        <p:spPr>
          <a:xfrm>
            <a:off x="3931920" y="4517136"/>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PaymentChannel, lines 1 to 4 of 4, run under Python 3.14.4</a:t>
            </a:r>
            <a:endParaRPr lang="en-US" sz="900" dirty="0"/>
          </a:p>
        </p:txBody>
      </p:sp>
      <p:sp>
        <p:nvSpPr>
          <p:cNvPr id="22" name="Text 20"/>
          <p:cNvSpPr txBox="1"/>
          <p:nvPr/>
        </p:nvSpPr>
        <p:spPr>
          <a:xfrm>
            <a:off x="457200" y="2788920"/>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Alice, after</a:t>
            </a:r>
            <a:endParaRPr lang="en-US" sz="1050" dirty="0"/>
          </a:p>
        </p:txBody>
      </p:sp>
      <p:sp>
        <p:nvSpPr>
          <p:cNvPr id="23" name="Shape 21"/>
          <p:cNvSpPr/>
          <p:nvPr/>
        </p:nvSpPr>
        <p:spPr>
          <a:xfrm>
            <a:off x="1737360" y="2816352"/>
            <a:ext cx="1554480" cy="310896"/>
          </a:xfrm>
          <a:prstGeom prst="roundRect">
            <a:avLst>
              <a:gd name="adj" fmla="val 14706"/>
            </a:avLst>
          </a:prstGeom>
          <a:solidFill>
            <a:srgbClr val="D97A14"/>
          </a:solidFill>
          <a:ln w="12700">
            <a:solidFill>
              <a:srgbClr val="D97A14"/>
            </a:solidFill>
            <a:prstDash val="solid"/>
          </a:ln>
        </p:spPr>
      </p:sp>
      <p:sp>
        <p:nvSpPr>
          <p:cNvPr id="24" name="Text 22"/>
          <p:cNvSpPr txBox="1"/>
          <p:nvPr/>
        </p:nvSpPr>
        <p:spPr>
          <a:xfrm>
            <a:off x="3346704" y="2816352"/>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59,000</a:t>
            </a:r>
            <a:endParaRPr lang="en-US" sz="1000" dirty="0"/>
          </a:p>
        </p:txBody>
      </p:sp>
      <p:sp>
        <p:nvSpPr>
          <p:cNvPr id="25" name="Text 23"/>
          <p:cNvSpPr txBox="1"/>
          <p:nvPr/>
        </p:nvSpPr>
        <p:spPr>
          <a:xfrm>
            <a:off x="457200" y="3221736"/>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Bob, after</a:t>
            </a:r>
            <a:endParaRPr lang="en-US" sz="1050" dirty="0"/>
          </a:p>
        </p:txBody>
      </p:sp>
      <p:sp>
        <p:nvSpPr>
          <p:cNvPr id="26" name="Shape 24"/>
          <p:cNvSpPr/>
          <p:nvPr/>
        </p:nvSpPr>
        <p:spPr>
          <a:xfrm>
            <a:off x="1737360" y="3249168"/>
            <a:ext cx="1080232" cy="310896"/>
          </a:xfrm>
          <a:prstGeom prst="roundRect">
            <a:avLst>
              <a:gd name="adj" fmla="val 14706"/>
            </a:avLst>
          </a:prstGeom>
          <a:solidFill>
            <a:srgbClr val="2F6D62"/>
          </a:solidFill>
          <a:ln w="12700">
            <a:solidFill>
              <a:srgbClr val="2F6D62"/>
            </a:solidFill>
            <a:prstDash val="solid"/>
          </a:ln>
        </p:spPr>
      </p:sp>
      <p:sp>
        <p:nvSpPr>
          <p:cNvPr id="27" name="Text 25"/>
          <p:cNvSpPr txBox="1"/>
          <p:nvPr/>
        </p:nvSpPr>
        <p:spPr>
          <a:xfrm>
            <a:off x="2872456" y="3249168"/>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41,000</a:t>
            </a:r>
            <a:endParaRPr lang="en-US" sz="1000" dirty="0"/>
          </a:p>
        </p:txBody>
      </p:sp>
      <p:sp>
        <p:nvSpPr>
          <p:cNvPr id="28" name="Text 26"/>
          <p:cNvSpPr txBox="1"/>
          <p:nvPr/>
        </p:nvSpPr>
        <p:spPr>
          <a:xfrm>
            <a:off x="457200" y="3654552"/>
            <a:ext cx="1188720" cy="402336"/>
          </a:xfrm>
          <a:prstGeom prst="rect">
            <a:avLst/>
          </a:prstGeom>
          <a:noFill/>
          <a:ln/>
        </p:spPr>
        <p:txBody>
          <a:bodyPr wrap="square" lIns="0" tIns="0" rIns="0" bIns="0" rtlCol="0" anchor="ctr"/>
          <a:lstStyle/>
          <a:p>
            <a:pPr indent="0" marL="0">
              <a:buNone/>
            </a:pPr>
            <a:r>
              <a:rPr lang="en-US" sz="1050" dirty="0">
                <a:solidFill>
                  <a:srgbClr val="2B2622"/>
                </a:solidFill>
                <a:latin typeface="Calibri" pitchFamily="34" charset="0"/>
                <a:ea typeface="Calibri" pitchFamily="34" charset="-122"/>
                <a:cs typeface="Calibri" pitchFamily="34" charset="-120"/>
              </a:rPr>
              <a:t>on-chain txs</a:t>
            </a:r>
            <a:endParaRPr lang="en-US" sz="1050" dirty="0"/>
          </a:p>
        </p:txBody>
      </p:sp>
      <p:sp>
        <p:nvSpPr>
          <p:cNvPr id="29" name="Shape 27"/>
          <p:cNvSpPr/>
          <p:nvPr/>
        </p:nvSpPr>
        <p:spPr>
          <a:xfrm>
            <a:off x="1737360" y="3681984"/>
            <a:ext cx="109728" cy="310896"/>
          </a:xfrm>
          <a:prstGeom prst="roundRect">
            <a:avLst>
              <a:gd name="adj" fmla="val 41667"/>
            </a:avLst>
          </a:prstGeom>
          <a:solidFill>
            <a:srgbClr val="D97A14"/>
          </a:solidFill>
          <a:ln w="12700">
            <a:solidFill>
              <a:srgbClr val="D97A14"/>
            </a:solidFill>
            <a:prstDash val="solid"/>
          </a:ln>
        </p:spPr>
      </p:sp>
      <p:sp>
        <p:nvSpPr>
          <p:cNvPr id="30" name="Text 28"/>
          <p:cNvSpPr txBox="1"/>
          <p:nvPr/>
        </p:nvSpPr>
        <p:spPr>
          <a:xfrm>
            <a:off x="1901952" y="3681984"/>
            <a:ext cx="1005840" cy="310896"/>
          </a:xfrm>
          <a:prstGeom prst="rect">
            <a:avLst/>
          </a:prstGeom>
          <a:noFill/>
          <a:ln/>
        </p:spPr>
        <p:txBody>
          <a:bodyPr wrap="square" lIns="0" tIns="0" rIns="0" bIns="0" rtlCol="0" anchor="ctr"/>
          <a:lstStyle/>
          <a:p>
            <a:pPr indent="0" marL="0">
              <a:buNone/>
            </a:pPr>
            <a:r>
              <a:rPr lang="en-US" sz="1000" b="1" dirty="0">
                <a:solidFill>
                  <a:srgbClr val="6E655C"/>
                </a:solidFill>
                <a:latin typeface="Calibri" pitchFamily="34" charset="0"/>
                <a:ea typeface="Calibri" pitchFamily="34" charset="-122"/>
                <a:cs typeface="Calibri" pitchFamily="34" charset="-120"/>
              </a:rPr>
              <a:t>2</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minutes of app taps hide all of this machinery</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34</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Foundations</a:t>
            </a:r>
            <a:endParaRPr lang="en-US" sz="3200" dirty="0"/>
          </a:p>
        </p:txBody>
      </p:sp>
      <p:sp>
        <p:nvSpPr>
          <p:cNvPr id="5" name="Text 3"/>
          <p:cNvSpPr txBox="1"/>
          <p:nvPr/>
        </p:nvSpPr>
        <p:spPr>
          <a:xfrm>
            <a:off x="777240" y="1645920"/>
            <a:ext cx="7863840" cy="822960"/>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two old problems Bitcoin finally joined up</a:t>
            </a:r>
            <a:endParaRPr lang="en-US" sz="1500" dirty="0"/>
          </a:p>
        </p:txBody>
      </p:sp>
      <p:sp>
        <p:nvSpPr>
          <p:cNvPr id="6" name="Shape 4"/>
          <p:cNvSpPr/>
          <p:nvPr/>
        </p:nvSpPr>
        <p:spPr>
          <a:xfrm>
            <a:off x="777240" y="2697480"/>
            <a:ext cx="1856232" cy="1737360"/>
          </a:xfrm>
          <a:prstGeom prst="roundRect">
            <a:avLst>
              <a:gd name="adj" fmla="val 4211"/>
            </a:avLst>
          </a:prstGeom>
          <a:solidFill>
            <a:srgbClr val="2F6D62"/>
          </a:solidFill>
          <a:ln w="12700">
            <a:solidFill>
              <a:srgbClr val="2F6D62"/>
            </a:solidFill>
            <a:prstDash val="solid"/>
          </a:ln>
        </p:spPr>
      </p:sp>
      <p:sp>
        <p:nvSpPr>
          <p:cNvPr id="7" name="Text 5"/>
          <p:cNvSpPr txBox="1"/>
          <p:nvPr/>
        </p:nvSpPr>
        <p:spPr>
          <a:xfrm>
            <a:off x="850392"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Hashcash</a:t>
            </a:r>
            <a:pPr algn="ctr" indent="0" marL="0">
              <a:buNone/>
            </a:pPr>
            <a:endParaRPr lang="en-US" sz="1400" dirty="0"/>
          </a:p>
        </p:txBody>
      </p:sp>
      <p:sp>
        <p:nvSpPr>
          <p:cNvPr id="8" name="Shape 6"/>
          <p:cNvSpPr/>
          <p:nvPr/>
        </p:nvSpPr>
        <p:spPr>
          <a:xfrm>
            <a:off x="2779776" y="2697480"/>
            <a:ext cx="1856232" cy="1737360"/>
          </a:xfrm>
          <a:prstGeom prst="roundRect">
            <a:avLst>
              <a:gd name="adj" fmla="val 4211"/>
            </a:avLst>
          </a:prstGeom>
          <a:solidFill>
            <a:srgbClr val="2F6D62"/>
          </a:solidFill>
          <a:ln w="12700">
            <a:solidFill>
              <a:srgbClr val="2F6D62"/>
            </a:solidFill>
            <a:prstDash val="solid"/>
          </a:ln>
        </p:spPr>
      </p:sp>
      <p:sp>
        <p:nvSpPr>
          <p:cNvPr id="9" name="Text 7"/>
          <p:cNvSpPr txBox="1"/>
          <p:nvPr/>
        </p:nvSpPr>
        <p:spPr>
          <a:xfrm>
            <a:off x="2852928"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Byzantine Generals</a:t>
            </a:r>
            <a:pPr algn="ctr" indent="0" marL="0">
              <a:buNone/>
            </a:pPr>
            <a:endParaRPr lang="en-US" sz="1400" dirty="0"/>
          </a:p>
        </p:txBody>
      </p:sp>
      <p:sp>
        <p:nvSpPr>
          <p:cNvPr id="10" name="Shape 8"/>
          <p:cNvSpPr/>
          <p:nvPr/>
        </p:nvSpPr>
        <p:spPr>
          <a:xfrm>
            <a:off x="4782312" y="2697480"/>
            <a:ext cx="1856232" cy="1737360"/>
          </a:xfrm>
          <a:prstGeom prst="roundRect">
            <a:avLst>
              <a:gd name="adj" fmla="val 4211"/>
            </a:avLst>
          </a:prstGeom>
          <a:solidFill>
            <a:srgbClr val="2F6D62"/>
          </a:solidFill>
          <a:ln w="12700">
            <a:solidFill>
              <a:srgbClr val="2F6D62"/>
            </a:solidFill>
            <a:prstDash val="solid"/>
          </a:ln>
        </p:spPr>
      </p:sp>
      <p:sp>
        <p:nvSpPr>
          <p:cNvPr id="11" name="Text 9"/>
          <p:cNvSpPr txBox="1"/>
          <p:nvPr/>
        </p:nvSpPr>
        <p:spPr>
          <a:xfrm>
            <a:off x="4855464"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Keys and signatures</a:t>
            </a:r>
            <a:pPr algn="ctr" indent="0" marL="0">
              <a:buNone/>
            </a:pPr>
            <a:endParaRPr lang="en-US" sz="1400" dirty="0"/>
          </a:p>
        </p:txBody>
      </p:sp>
      <p:sp>
        <p:nvSpPr>
          <p:cNvPr id="12" name="Shape 10"/>
          <p:cNvSpPr/>
          <p:nvPr/>
        </p:nvSpPr>
        <p:spPr>
          <a:xfrm>
            <a:off x="6784848" y="2697480"/>
            <a:ext cx="1856232" cy="1737360"/>
          </a:xfrm>
          <a:prstGeom prst="roundRect">
            <a:avLst>
              <a:gd name="adj" fmla="val 4211"/>
            </a:avLst>
          </a:prstGeom>
          <a:solidFill>
            <a:srgbClr val="2F6D62"/>
          </a:solidFill>
          <a:ln w="12700">
            <a:solidFill>
              <a:srgbClr val="2F6D62"/>
            </a:solidFill>
            <a:prstDash val="solid"/>
          </a:ln>
        </p:spPr>
      </p:sp>
      <p:sp>
        <p:nvSpPr>
          <p:cNvPr id="13" name="Text 11"/>
          <p:cNvSpPr txBox="1"/>
          <p:nvPr/>
        </p:nvSpPr>
        <p:spPr>
          <a:xfrm>
            <a:off x="6858000" y="2743200"/>
            <a:ext cx="1709928" cy="16459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The chain</a:t>
            </a:r>
            <a:pPr algn="ctr" indent="0" marL="0">
              <a:buNone/>
            </a:pPr>
            <a:endParaRPr lang="en-US" sz="140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34</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solved problems, one new system</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1997 and 1982 meet in 2008</a:t>
            </a:r>
            <a:endParaRPr lang="en-US" sz="1300" dirty="0"/>
          </a:p>
        </p:txBody>
      </p:sp>
      <p:sp>
        <p:nvSpPr>
          <p:cNvPr id="6" name="Shape 4"/>
          <p:cNvSpPr/>
          <p:nvPr/>
        </p:nvSpPr>
        <p:spPr>
          <a:xfrm>
            <a:off x="457200" y="1371600"/>
            <a:ext cx="4023360" cy="2651760"/>
          </a:xfrm>
          <a:prstGeom prst="roundRect">
            <a:avLst>
              <a:gd name="adj" fmla="val 3448"/>
            </a:avLst>
          </a:prstGeom>
          <a:solidFill>
            <a:srgbClr val="F2ECE1"/>
          </a:solidFill>
          <a:ln w="12700">
            <a:solidFill>
              <a:srgbClr val="F2ECE1"/>
            </a:solidFill>
            <a:prstDash val="solid"/>
          </a:ln>
        </p:spPr>
      </p:sp>
      <p:sp>
        <p:nvSpPr>
          <p:cNvPr id="7" name="Text 5"/>
          <p:cNvSpPr txBox="1"/>
          <p:nvPr/>
        </p:nvSpPr>
        <p:spPr>
          <a:xfrm>
            <a:off x="640080" y="149047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Hashcash (1997)</a:t>
            </a:r>
            <a:endParaRPr lang="en-US" sz="1600" dirty="0"/>
          </a:p>
        </p:txBody>
      </p:sp>
      <p:sp>
        <p:nvSpPr>
          <p:cNvPr id="8" name="Text 6"/>
          <p:cNvSpPr txBox="1"/>
          <p:nvPr/>
        </p:nvSpPr>
        <p:spPr>
          <a:xfrm>
            <a:off x="64008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Proof-of-work: make sending cost a computation, so flooding costs real resources. Bitcoin turns the same cost into the price of writing history.</a:t>
            </a:r>
            <a:endParaRPr lang="en-US" sz="1300" dirty="0"/>
          </a:p>
        </p:txBody>
      </p:sp>
      <p:sp>
        <p:nvSpPr>
          <p:cNvPr id="9" name="Shape 7"/>
          <p:cNvSpPr/>
          <p:nvPr/>
        </p:nvSpPr>
        <p:spPr>
          <a:xfrm>
            <a:off x="4663440" y="1371600"/>
            <a:ext cx="4023360" cy="2651760"/>
          </a:xfrm>
          <a:prstGeom prst="roundRect">
            <a:avLst>
              <a:gd name="adj" fmla="val 3448"/>
            </a:avLst>
          </a:prstGeom>
          <a:solidFill>
            <a:srgbClr val="F2ECE1"/>
          </a:solidFill>
          <a:ln w="12700">
            <a:solidFill>
              <a:srgbClr val="F2ECE1"/>
            </a:solidFill>
            <a:prstDash val="solid"/>
          </a:ln>
        </p:spPr>
      </p:sp>
      <p:sp>
        <p:nvSpPr>
          <p:cNvPr id="10" name="Text 8"/>
          <p:cNvSpPr txBox="1"/>
          <p:nvPr/>
        </p:nvSpPr>
        <p:spPr>
          <a:xfrm>
            <a:off x="4846320" y="1490472"/>
            <a:ext cx="365760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Byzantine Generals (1982)</a:t>
            </a:r>
            <a:endParaRPr lang="en-US" sz="1600" dirty="0"/>
          </a:p>
        </p:txBody>
      </p:sp>
      <p:sp>
        <p:nvSpPr>
          <p:cNvPr id="11" name="Text 9"/>
          <p:cNvSpPr txBox="1"/>
          <p:nvPr/>
        </p:nvSpPr>
        <p:spPr>
          <a:xfrm>
            <a:off x="4846320" y="1874520"/>
            <a:ext cx="3657600" cy="2011680"/>
          </a:xfrm>
          <a:prstGeom prst="rect">
            <a:avLst/>
          </a:prstGeom>
          <a:noFill/>
          <a:ln/>
        </p:spPr>
        <p:txBody>
          <a:bodyPr wrap="square" lIns="0" tIns="0" rIns="0" bIns="0" rtlCol="0" anchor="t"/>
          <a:lstStyle/>
          <a:p>
            <a:pPr indent="0" marL="0">
              <a:buNone/>
            </a:pPr>
            <a:r>
              <a:rPr lang="en-US" sz="1300" dirty="0">
                <a:solidFill>
                  <a:srgbClr val="2B2622"/>
                </a:solidFill>
                <a:latin typeface="Calibri" pitchFamily="34" charset="0"/>
                <a:ea typeface="Calibri" pitchFamily="34" charset="-122"/>
                <a:cs typeface="Calibri" pitchFamily="34" charset="-120"/>
              </a:rPr>
              <a:t>How do parties that cannot trust each other agree on one message? Proof-of-work plus the longest valid chain is Bitcoin's practical answer.</a:t>
            </a:r>
            <a:endParaRPr lang="en-US" sz="130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Bitcoin's novelty is the combination, not the parts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34</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From keys to the chain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pipeline the rest of the course walks</a:t>
            </a:r>
            <a:endParaRPr lang="en-US" sz="1300" dirty="0"/>
          </a:p>
        </p:txBody>
      </p:sp>
      <p:sp>
        <p:nvSpPr>
          <p:cNvPr id="6" name="Shape 4"/>
          <p:cNvSpPr/>
          <p:nvPr/>
        </p:nvSpPr>
        <p:spPr>
          <a:xfrm>
            <a:off x="457200" y="1554480"/>
            <a:ext cx="1265530" cy="1234440"/>
          </a:xfrm>
          <a:prstGeom prst="roundRect">
            <a:avLst>
              <a:gd name="adj" fmla="val 7407"/>
            </a:avLst>
          </a:prstGeom>
          <a:solidFill>
            <a:srgbClr val="2F6D62"/>
          </a:solidFill>
          <a:ln w="12700">
            <a:solidFill>
              <a:srgbClr val="2F6D62"/>
            </a:solidFill>
            <a:prstDash val="solid"/>
          </a:ln>
        </p:spPr>
      </p:sp>
      <p:sp>
        <p:nvSpPr>
          <p:cNvPr id="7" name="Text 5"/>
          <p:cNvSpPr txBox="1"/>
          <p:nvPr/>
        </p:nvSpPr>
        <p:spPr>
          <a:xfrm>
            <a:off x="53035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Keys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8" name="Shape 6"/>
          <p:cNvSpPr/>
          <p:nvPr/>
        </p:nvSpPr>
        <p:spPr>
          <a:xfrm>
            <a:off x="1777594" y="2171700"/>
            <a:ext cx="365760" cy="0"/>
          </a:xfrm>
          <a:prstGeom prst="line">
            <a:avLst/>
          </a:prstGeom>
          <a:noFill/>
          <a:ln w="25400">
            <a:solidFill>
              <a:srgbClr val="D97A14"/>
            </a:solidFill>
            <a:prstDash val="solid"/>
            <a:tailEnd type="triangle"/>
          </a:ln>
        </p:spPr>
      </p:sp>
      <p:sp>
        <p:nvSpPr>
          <p:cNvPr id="9" name="Shape 7"/>
          <p:cNvSpPr/>
          <p:nvPr/>
        </p:nvSpPr>
        <p:spPr>
          <a:xfrm>
            <a:off x="2198218" y="1554480"/>
            <a:ext cx="1265530" cy="1234440"/>
          </a:xfrm>
          <a:prstGeom prst="roundRect">
            <a:avLst>
              <a:gd name="adj" fmla="val 7407"/>
            </a:avLst>
          </a:prstGeom>
          <a:solidFill>
            <a:srgbClr val="2F6D62"/>
          </a:solidFill>
          <a:ln w="12700">
            <a:solidFill>
              <a:srgbClr val="2F6D62"/>
            </a:solidFill>
            <a:prstDash val="solid"/>
          </a:ln>
        </p:spPr>
      </p:sp>
      <p:sp>
        <p:nvSpPr>
          <p:cNvPr id="10" name="Text 8"/>
          <p:cNvSpPr txBox="1"/>
          <p:nvPr/>
        </p:nvSpPr>
        <p:spPr>
          <a:xfrm>
            <a:off x="2271370"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Addresses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4</a:t>
            </a:r>
            <a:endParaRPr lang="en-US" sz="1250" dirty="0"/>
          </a:p>
        </p:txBody>
      </p:sp>
      <p:sp>
        <p:nvSpPr>
          <p:cNvPr id="11" name="Shape 9"/>
          <p:cNvSpPr/>
          <p:nvPr/>
        </p:nvSpPr>
        <p:spPr>
          <a:xfrm>
            <a:off x="3518611" y="2171700"/>
            <a:ext cx="365760" cy="0"/>
          </a:xfrm>
          <a:prstGeom prst="line">
            <a:avLst/>
          </a:prstGeom>
          <a:noFill/>
          <a:ln w="25400">
            <a:solidFill>
              <a:srgbClr val="D97A14"/>
            </a:solidFill>
            <a:prstDash val="solid"/>
            <a:tailEnd type="triangle"/>
          </a:ln>
        </p:spPr>
      </p:sp>
      <p:sp>
        <p:nvSpPr>
          <p:cNvPr id="12" name="Shape 10"/>
          <p:cNvSpPr/>
          <p:nvPr/>
        </p:nvSpPr>
        <p:spPr>
          <a:xfrm>
            <a:off x="3939235" y="1554480"/>
            <a:ext cx="1265530" cy="1234440"/>
          </a:xfrm>
          <a:prstGeom prst="roundRect">
            <a:avLst>
              <a:gd name="adj" fmla="val 7407"/>
            </a:avLst>
          </a:prstGeom>
          <a:solidFill>
            <a:srgbClr val="2F6D62"/>
          </a:solidFill>
          <a:ln w="12700">
            <a:solidFill>
              <a:srgbClr val="2F6D62"/>
            </a:solidFill>
            <a:prstDash val="solid"/>
          </a:ln>
        </p:spPr>
      </p:sp>
      <p:sp>
        <p:nvSpPr>
          <p:cNvPr id="13" name="Text 11"/>
          <p:cNvSpPr txBox="1"/>
          <p:nvPr/>
        </p:nvSpPr>
        <p:spPr>
          <a:xfrm>
            <a:off x="4012387"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Transactions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6</a:t>
            </a:r>
            <a:endParaRPr lang="en-US" sz="1250" dirty="0"/>
          </a:p>
        </p:txBody>
      </p:sp>
      <p:sp>
        <p:nvSpPr>
          <p:cNvPr id="14" name="Shape 12"/>
          <p:cNvSpPr/>
          <p:nvPr/>
        </p:nvSpPr>
        <p:spPr>
          <a:xfrm>
            <a:off x="5259629" y="2171700"/>
            <a:ext cx="365760" cy="0"/>
          </a:xfrm>
          <a:prstGeom prst="line">
            <a:avLst/>
          </a:prstGeom>
          <a:noFill/>
          <a:ln w="25400">
            <a:solidFill>
              <a:srgbClr val="D97A14"/>
            </a:solidFill>
            <a:prstDash val="solid"/>
            <a:tailEnd type="triangle"/>
          </a:ln>
        </p:spPr>
      </p:sp>
      <p:sp>
        <p:nvSpPr>
          <p:cNvPr id="15" name="Shape 13"/>
          <p:cNvSpPr/>
          <p:nvPr/>
        </p:nvSpPr>
        <p:spPr>
          <a:xfrm>
            <a:off x="5680253" y="1554480"/>
            <a:ext cx="1265530" cy="1234440"/>
          </a:xfrm>
          <a:prstGeom prst="roundRect">
            <a:avLst>
              <a:gd name="adj" fmla="val 7407"/>
            </a:avLst>
          </a:prstGeom>
          <a:solidFill>
            <a:srgbClr val="2F6D62"/>
          </a:solidFill>
          <a:ln w="12700">
            <a:solidFill>
              <a:srgbClr val="2F6D62"/>
            </a:solidFill>
            <a:prstDash val="solid"/>
          </a:ln>
        </p:spPr>
      </p:sp>
      <p:sp>
        <p:nvSpPr>
          <p:cNvPr id="16" name="Text 14"/>
          <p:cNvSpPr txBox="1"/>
          <p:nvPr/>
        </p:nvSpPr>
        <p:spPr>
          <a:xfrm>
            <a:off x="5753405"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Blocks</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11</a:t>
            </a:r>
            <a:endParaRPr lang="en-US" sz="1250" dirty="0"/>
          </a:p>
        </p:txBody>
      </p:sp>
      <p:sp>
        <p:nvSpPr>
          <p:cNvPr id="17" name="Shape 15"/>
          <p:cNvSpPr/>
          <p:nvPr/>
        </p:nvSpPr>
        <p:spPr>
          <a:xfrm>
            <a:off x="7000646" y="2171700"/>
            <a:ext cx="365760" cy="0"/>
          </a:xfrm>
          <a:prstGeom prst="line">
            <a:avLst/>
          </a:prstGeom>
          <a:noFill/>
          <a:ln w="25400">
            <a:solidFill>
              <a:srgbClr val="D97A14"/>
            </a:solidFill>
            <a:prstDash val="solid"/>
            <a:tailEnd type="triangle"/>
          </a:ln>
        </p:spPr>
      </p:sp>
      <p:sp>
        <p:nvSpPr>
          <p:cNvPr id="18" name="Shape 16"/>
          <p:cNvSpPr/>
          <p:nvPr/>
        </p:nvSpPr>
        <p:spPr>
          <a:xfrm>
            <a:off x="7421270" y="1554480"/>
            <a:ext cx="1265530" cy="1234440"/>
          </a:xfrm>
          <a:prstGeom prst="roundRect">
            <a:avLst>
              <a:gd name="adj" fmla="val 7407"/>
            </a:avLst>
          </a:prstGeom>
          <a:solidFill>
            <a:srgbClr val="2F6D62"/>
          </a:solidFill>
          <a:ln w="12700">
            <a:solidFill>
              <a:srgbClr val="2F6D62"/>
            </a:solidFill>
            <a:prstDash val="solid"/>
          </a:ln>
        </p:spPr>
      </p:sp>
      <p:sp>
        <p:nvSpPr>
          <p:cNvPr id="19" name="Text 17"/>
          <p:cNvSpPr txBox="1"/>
          <p:nvPr/>
        </p:nvSpPr>
        <p:spPr>
          <a:xfrm>
            <a:off x="7494422" y="1600200"/>
            <a:ext cx="1119226" cy="114300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Mining</a:t>
            </a:r>
            <a:endParaRPr lang="en-US" sz="1250" dirty="0"/>
          </a:p>
          <a:p>
            <a:pPr algn="ctr" indent="0" marL="0">
              <a:buNone/>
            </a:pPr>
            <a:r>
              <a:rPr lang="en-US" sz="1000" dirty="0">
                <a:solidFill>
                  <a:srgbClr val="D7E4E0"/>
                </a:solidFill>
                <a:latin typeface="Calibri" pitchFamily="34" charset="0"/>
                <a:ea typeface="Calibri" pitchFamily="34" charset="-122"/>
                <a:cs typeface="Calibri" pitchFamily="34" charset="-120"/>
              </a:rPr>
              <a:t>ch. 12</a:t>
            </a:r>
            <a:endParaRPr lang="en-US" sz="1250" dirty="0"/>
          </a:p>
        </p:txBody>
      </p:sp>
      <p:sp>
        <p:nvSpPr>
          <p:cNvPr id="20" name="Text 18"/>
          <p:cNvSpPr txBox="1"/>
          <p:nvPr/>
        </p:nvSpPr>
        <p:spPr>
          <a:xfrm>
            <a:off x="457200" y="3108960"/>
            <a:ext cx="8229600" cy="13716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Each stage only trusts what it can verify</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Every later chapter opens one of these boxes</a:t>
            </a:r>
            <a:endParaRPr lang="en-US" sz="15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This pipeline is the course syllabus in one row</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34</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chain that notices tampering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block carries the digest of the one before</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Change one byte and every later link breaks</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Verification is recomputing, not trusting</a:t>
            </a:r>
            <a:endParaRPr lang="en-US" sz="1350" dirty="0"/>
          </a:p>
        </p:txBody>
      </p:sp>
      <p:sp>
        <p:nvSpPr>
          <p:cNvPr id="7" name="Shape 5"/>
          <p:cNvSpPr/>
          <p:nvPr/>
        </p:nvSpPr>
        <p:spPr>
          <a:xfrm>
            <a:off x="457200" y="2468880"/>
            <a:ext cx="853440" cy="1554480"/>
          </a:xfrm>
          <a:prstGeom prst="roundRect">
            <a:avLst>
              <a:gd name="adj" fmla="val 8571"/>
            </a:avLst>
          </a:prstGeom>
          <a:solidFill>
            <a:srgbClr val="F2ECE1"/>
          </a:solidFill>
          <a:ln w="22225">
            <a:solidFill>
              <a:srgbClr val="5B8C5A"/>
            </a:solidFill>
            <a:prstDash val="solid"/>
          </a:ln>
        </p:spPr>
      </p:sp>
      <p:sp>
        <p:nvSpPr>
          <p:cNvPr id="8" name="Text 6"/>
          <p:cNvSpPr txBox="1"/>
          <p:nvPr/>
        </p:nvSpPr>
        <p:spPr>
          <a:xfrm>
            <a:off x="457200" y="2523744"/>
            <a:ext cx="853440" cy="274320"/>
          </a:xfrm>
          <a:prstGeom prst="rect">
            <a:avLst/>
          </a:prstGeom>
          <a:noFill/>
          <a:ln/>
        </p:spPr>
        <p:txBody>
          <a:bodyPr wrap="square" lIns="0" tIns="0" rIns="0" bIns="0" rtlCol="0" anchor="ctr"/>
          <a:lstStyle/>
          <a:p>
            <a:pPr algn="ctr" indent="0" marL="0">
              <a:buNone/>
            </a:pPr>
            <a:r>
              <a:rPr lang="en-US" sz="1100" b="1" dirty="0">
                <a:solidFill>
                  <a:srgbClr val="3C6B3B"/>
                </a:solidFill>
                <a:latin typeface="Calibri" pitchFamily="34" charset="0"/>
                <a:ea typeface="Calibri" pitchFamily="34" charset="-122"/>
                <a:cs typeface="Calibri" pitchFamily="34" charset="-120"/>
              </a:rPr>
              <a:t>block 0</a:t>
            </a:r>
            <a:endParaRPr lang="en-US" sz="1100" dirty="0"/>
          </a:p>
        </p:txBody>
      </p:sp>
      <p:sp>
        <p:nvSpPr>
          <p:cNvPr id="9" name="Text 7"/>
          <p:cNvSpPr txBox="1"/>
          <p:nvPr/>
        </p:nvSpPr>
        <p:spPr>
          <a:xfrm>
            <a:off x="502920" y="2834640"/>
            <a:ext cx="762000" cy="457200"/>
          </a:xfrm>
          <a:prstGeom prst="rect">
            <a:avLst/>
          </a:prstGeom>
          <a:noFill/>
          <a:ln/>
        </p:spPr>
        <p:txBody>
          <a:bodyPr wrap="square" lIns="0" tIns="0" rIns="0" bIns="0" rtlCol="0" anchor="t"/>
          <a:lstStyle/>
          <a:p>
            <a:pPr algn="ctr" indent="0" marL="0">
              <a:buNone/>
            </a:pPr>
            <a:r>
              <a:rPr lang="en-US" sz="850" dirty="0">
                <a:solidFill>
                  <a:srgbClr val="6E655C"/>
                </a:solidFill>
                <a:latin typeface="Courier New" pitchFamily="34" charset="0"/>
                <a:ea typeface="Courier New" pitchFamily="34" charset="-122"/>
                <a:cs typeface="Courier New" pitchFamily="34" charset="-120"/>
              </a:rPr>
              <a:t>the genesis record</a:t>
            </a:r>
            <a:endParaRPr lang="en-US" sz="850" dirty="0"/>
          </a:p>
        </p:txBody>
      </p:sp>
      <p:sp>
        <p:nvSpPr>
          <p:cNvPr id="10" name="Shape 8"/>
          <p:cNvSpPr/>
          <p:nvPr/>
        </p:nvSpPr>
        <p:spPr>
          <a:xfrm>
            <a:off x="1310640" y="3246120"/>
            <a:ext cx="365760" cy="0"/>
          </a:xfrm>
          <a:prstGeom prst="line">
            <a:avLst/>
          </a:prstGeom>
          <a:noFill/>
          <a:ln w="25400">
            <a:solidFill>
              <a:srgbClr val="B6533C"/>
            </a:solidFill>
            <a:prstDash val="solid"/>
            <a:tailEnd type="triangle"/>
          </a:ln>
        </p:spPr>
      </p:sp>
      <p:sp>
        <p:nvSpPr>
          <p:cNvPr id="11" name="Shape 9"/>
          <p:cNvSpPr/>
          <p:nvPr/>
        </p:nvSpPr>
        <p:spPr>
          <a:xfrm>
            <a:off x="1676400" y="2468880"/>
            <a:ext cx="853440" cy="1554480"/>
          </a:xfrm>
          <a:prstGeom prst="roundRect">
            <a:avLst>
              <a:gd name="adj" fmla="val 8571"/>
            </a:avLst>
          </a:prstGeom>
          <a:solidFill>
            <a:srgbClr val="F3DED6"/>
          </a:solidFill>
          <a:ln w="22225">
            <a:solidFill>
              <a:srgbClr val="B6533C"/>
            </a:solidFill>
            <a:prstDash val="solid"/>
          </a:ln>
        </p:spPr>
      </p:sp>
      <p:sp>
        <p:nvSpPr>
          <p:cNvPr id="12" name="Text 10"/>
          <p:cNvSpPr txBox="1"/>
          <p:nvPr/>
        </p:nvSpPr>
        <p:spPr>
          <a:xfrm>
            <a:off x="16764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1</a:t>
            </a:r>
            <a:endParaRPr lang="en-US" sz="1100" dirty="0"/>
          </a:p>
        </p:txBody>
      </p:sp>
      <p:sp>
        <p:nvSpPr>
          <p:cNvPr id="13" name="Text 11"/>
          <p:cNvSpPr txBox="1"/>
          <p:nvPr/>
        </p:nvSpPr>
        <p:spPr>
          <a:xfrm>
            <a:off x="17221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data changed!</a:t>
            </a:r>
            <a:endParaRPr lang="en-US" sz="850" dirty="0"/>
          </a:p>
        </p:txBody>
      </p:sp>
      <p:sp>
        <p:nvSpPr>
          <p:cNvPr id="14" name="Shape 12"/>
          <p:cNvSpPr/>
          <p:nvPr/>
        </p:nvSpPr>
        <p:spPr>
          <a:xfrm>
            <a:off x="2529840" y="3246120"/>
            <a:ext cx="365760" cy="0"/>
          </a:xfrm>
          <a:prstGeom prst="line">
            <a:avLst/>
          </a:prstGeom>
          <a:noFill/>
          <a:ln w="25400">
            <a:solidFill>
              <a:srgbClr val="B6533C"/>
            </a:solidFill>
            <a:prstDash val="solid"/>
            <a:tailEnd type="triangle"/>
          </a:ln>
        </p:spPr>
      </p:sp>
      <p:sp>
        <p:nvSpPr>
          <p:cNvPr id="15" name="Shape 13"/>
          <p:cNvSpPr/>
          <p:nvPr/>
        </p:nvSpPr>
        <p:spPr>
          <a:xfrm>
            <a:off x="2895600" y="2468880"/>
            <a:ext cx="853440" cy="1554480"/>
          </a:xfrm>
          <a:prstGeom prst="roundRect">
            <a:avLst>
              <a:gd name="adj" fmla="val 8571"/>
            </a:avLst>
          </a:prstGeom>
          <a:solidFill>
            <a:srgbClr val="F3DED6"/>
          </a:solidFill>
          <a:ln w="22225">
            <a:solidFill>
              <a:srgbClr val="B6533C"/>
            </a:solidFill>
            <a:prstDash val="solid"/>
          </a:ln>
        </p:spPr>
      </p:sp>
      <p:sp>
        <p:nvSpPr>
          <p:cNvPr id="16" name="Text 14"/>
          <p:cNvSpPr txBox="1"/>
          <p:nvPr/>
        </p:nvSpPr>
        <p:spPr>
          <a:xfrm>
            <a:off x="2895600" y="2523744"/>
            <a:ext cx="853440" cy="274320"/>
          </a:xfrm>
          <a:prstGeom prst="rect">
            <a:avLst/>
          </a:prstGeom>
          <a:noFill/>
          <a:ln/>
        </p:spPr>
        <p:txBody>
          <a:bodyPr wrap="square" lIns="0" tIns="0" rIns="0" bIns="0" rtlCol="0" anchor="ctr"/>
          <a:lstStyle/>
          <a:p>
            <a:pPr algn="ctr" indent="0" marL="0">
              <a:buNone/>
            </a:pPr>
            <a:r>
              <a:rPr lang="en-US" sz="1100" b="1" dirty="0">
                <a:solidFill>
                  <a:srgbClr val="B6533C"/>
                </a:solidFill>
                <a:latin typeface="Calibri" pitchFamily="34" charset="0"/>
                <a:ea typeface="Calibri" pitchFamily="34" charset="-122"/>
                <a:cs typeface="Calibri" pitchFamily="34" charset="-120"/>
              </a:rPr>
              <a:t>block 2</a:t>
            </a:r>
            <a:endParaRPr lang="en-US" sz="1100" dirty="0"/>
          </a:p>
        </p:txBody>
      </p:sp>
      <p:sp>
        <p:nvSpPr>
          <p:cNvPr id="17" name="Text 15"/>
          <p:cNvSpPr txBox="1"/>
          <p:nvPr/>
        </p:nvSpPr>
        <p:spPr>
          <a:xfrm>
            <a:off x="2941320" y="2834640"/>
            <a:ext cx="762000" cy="457200"/>
          </a:xfrm>
          <a:prstGeom prst="rect">
            <a:avLst/>
          </a:prstGeom>
          <a:noFill/>
          <a:ln/>
        </p:spPr>
        <p:txBody>
          <a:bodyPr wrap="square" lIns="0" tIns="0" rIns="0" bIns="0" rtlCol="0" anchor="t"/>
          <a:lstStyle/>
          <a:p>
            <a:pPr algn="ctr" indent="0" marL="0">
              <a:buNone/>
            </a:pPr>
            <a:r>
              <a:rPr lang="en-US" sz="850" dirty="0">
                <a:solidFill>
                  <a:srgbClr val="B6533C"/>
                </a:solidFill>
                <a:latin typeface="Courier New" pitchFamily="34" charset="0"/>
                <a:ea typeface="Courier New" pitchFamily="34" charset="-122"/>
                <a:cs typeface="Courier New" pitchFamily="34" charset="-120"/>
              </a:rPr>
              <a:t>digest of block 1</a:t>
            </a:r>
            <a:endParaRPr lang="en-US" sz="850" dirty="0"/>
          </a:p>
        </p:txBody>
      </p:sp>
      <p:sp>
        <p:nvSpPr>
          <p:cNvPr id="18" name="Text 16"/>
          <p:cNvSpPr txBox="1"/>
          <p:nvPr/>
        </p:nvSpPr>
        <p:spPr>
          <a:xfrm>
            <a:off x="457200" y="4096512"/>
            <a:ext cx="3291840" cy="310896"/>
          </a:xfrm>
          <a:prstGeom prst="rect">
            <a:avLst/>
          </a:prstGeom>
          <a:noFill/>
          <a:ln/>
        </p:spPr>
        <p:txBody>
          <a:bodyPr wrap="square" lIns="0" tIns="0" rIns="0" bIns="0" rtlCol="0" anchor="ctr"/>
          <a:lstStyle/>
          <a:p>
            <a:pPr algn="ctr" indent="0" marL="0">
              <a:buNone/>
            </a:pPr>
            <a:r>
              <a:rPr lang="en-US" sz="1050" i="1" dirty="0">
                <a:solidFill>
                  <a:srgbClr val="6E655C"/>
                </a:solidFill>
                <a:latin typeface="Calibri" pitchFamily="34" charset="0"/>
                <a:ea typeface="Calibri" pitchFamily="34" charset="-122"/>
                <a:cs typeface="Calibri" pitchFamily="34" charset="-120"/>
              </a:rPr>
              <a:t>verify: True before, False after the change</a:t>
            </a:r>
            <a:endParaRPr lang="en-US" sz="105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Tamper with block 1, watch block 2 refuse</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import hashlib</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link(prev, data): return hashlib.sha256((prev + data).encode()).hexdigest()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data = ['Joe pays Alice 1', 'Alice pays Eve 2', 'Eve pays Joe 3']</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def build(items):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hs, prev = [], 'genesis'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d in items: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prev = link(prev, d); hs.append(prev)</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return hs</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stored = build(data)</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tampered = ['Joe pays Alice 100'] + data[1:]</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(build(data) == stored, build(tampered) == stored)</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(True,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Blockchain,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History becomes expensive to rewrite, cheap to verify</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34</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toolbox under the hood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vocabularies the whole book leans on</a:t>
            </a:r>
            <a:endParaRPr lang="en-US" sz="1300" dirty="0"/>
          </a:p>
        </p:txBody>
      </p:sp>
      <p:sp>
        <p:nvSpPr>
          <p:cNvPr id="6" name="Shape 4"/>
          <p:cNvSpPr/>
          <p:nvPr/>
        </p:nvSpPr>
        <p:spPr>
          <a:xfrm>
            <a:off x="365760" y="2651760"/>
            <a:ext cx="1417320" cy="548640"/>
          </a:xfrm>
          <a:prstGeom prst="roundRect">
            <a:avLst>
              <a:gd name="adj" fmla="val 16667"/>
            </a:avLst>
          </a:prstGeom>
          <a:solidFill>
            <a:srgbClr val="D97A14"/>
          </a:solidFill>
          <a:ln w="12700">
            <a:solidFill>
              <a:srgbClr val="D97A14"/>
            </a:solidFill>
            <a:prstDash val="solid"/>
          </a:ln>
        </p:spPr>
      </p:sp>
      <p:sp>
        <p:nvSpPr>
          <p:cNvPr id="7" name="Text 5"/>
          <p:cNvSpPr txBox="1"/>
          <p:nvPr/>
        </p:nvSpPr>
        <p:spPr>
          <a:xfrm>
            <a:off x="365760" y="2651760"/>
            <a:ext cx="1417320" cy="54864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Foundations</a:t>
            </a:r>
            <a:endParaRPr lang="en-US" sz="1500" dirty="0"/>
          </a:p>
        </p:txBody>
      </p:sp>
      <p:sp>
        <p:nvSpPr>
          <p:cNvPr id="8" name="Shape 6"/>
          <p:cNvSpPr/>
          <p:nvPr/>
        </p:nvSpPr>
        <p:spPr>
          <a:xfrm flipV="1">
            <a:off x="1783080" y="1517904"/>
            <a:ext cx="502920" cy="1408176"/>
          </a:xfrm>
          <a:prstGeom prst="line">
            <a:avLst/>
          </a:prstGeom>
          <a:noFill/>
          <a:ln w="13970">
            <a:solidFill>
              <a:srgbClr val="C9BFAE"/>
            </a:solidFill>
            <a:prstDash val="solid"/>
          </a:ln>
        </p:spPr>
      </p:sp>
      <p:sp>
        <p:nvSpPr>
          <p:cNvPr id="9" name="Shape 7"/>
          <p:cNvSpPr/>
          <p:nvPr/>
        </p:nvSpPr>
        <p:spPr>
          <a:xfrm>
            <a:off x="2331720" y="1280160"/>
            <a:ext cx="1691640" cy="475488"/>
          </a:xfrm>
          <a:prstGeom prst="roundRect">
            <a:avLst>
              <a:gd name="adj" fmla="val 15385"/>
            </a:avLst>
          </a:prstGeom>
          <a:solidFill>
            <a:srgbClr val="2F6D62"/>
          </a:solidFill>
          <a:ln w="9525">
            <a:solidFill>
              <a:srgbClr val="2F6D62"/>
            </a:solidFill>
            <a:prstDash val="solid"/>
          </a:ln>
        </p:spPr>
      </p:sp>
      <p:sp>
        <p:nvSpPr>
          <p:cNvPr id="10" name="Text 8"/>
          <p:cNvSpPr txBox="1"/>
          <p:nvPr/>
        </p:nvSpPr>
        <p:spPr>
          <a:xfrm>
            <a:off x="2386584" y="1280160"/>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Cryptography</a:t>
            </a:r>
            <a:endParaRPr lang="en-US" sz="1200" dirty="0"/>
          </a:p>
        </p:txBody>
      </p:sp>
      <p:sp>
        <p:nvSpPr>
          <p:cNvPr id="11" name="Shape 9"/>
          <p:cNvSpPr/>
          <p:nvPr/>
        </p:nvSpPr>
        <p:spPr>
          <a:xfrm>
            <a:off x="4023360" y="1517904"/>
            <a:ext cx="274320" cy="0"/>
          </a:xfrm>
          <a:prstGeom prst="line">
            <a:avLst/>
          </a:prstGeom>
          <a:noFill/>
          <a:ln w="13970">
            <a:solidFill>
              <a:srgbClr val="C9BFAE"/>
            </a:solidFill>
            <a:prstDash val="solid"/>
          </a:ln>
        </p:spPr>
      </p:sp>
      <p:sp>
        <p:nvSpPr>
          <p:cNvPr id="12" name="Shape 10"/>
          <p:cNvSpPr/>
          <p:nvPr/>
        </p:nvSpPr>
        <p:spPr>
          <a:xfrm>
            <a:off x="4297680" y="1298448"/>
            <a:ext cx="4480560" cy="438912"/>
          </a:xfrm>
          <a:prstGeom prst="roundRect">
            <a:avLst>
              <a:gd name="adj" fmla="val 12500"/>
            </a:avLst>
          </a:prstGeom>
          <a:solidFill>
            <a:srgbClr val="F2ECE1"/>
          </a:solidFill>
          <a:ln w="6350">
            <a:solidFill>
              <a:srgbClr val="DFD6C7"/>
            </a:solidFill>
            <a:prstDash val="solid"/>
          </a:ln>
        </p:spPr>
      </p:sp>
      <p:sp>
        <p:nvSpPr>
          <p:cNvPr id="13" name="Text 11"/>
          <p:cNvSpPr txBox="1"/>
          <p:nvPr/>
        </p:nvSpPr>
        <p:spPr>
          <a:xfrm>
            <a:off x="4407408" y="1298448"/>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Hash Function  ·  Digital Signature  ·  Public Key Cryptography  ·  Private Key  ·  Entropy  ·  Checksum  ·  + 2 more</a:t>
            </a:r>
            <a:endParaRPr lang="en-US" sz="1100" dirty="0"/>
          </a:p>
        </p:txBody>
      </p:sp>
      <p:sp>
        <p:nvSpPr>
          <p:cNvPr id="14" name="Shape 12"/>
          <p:cNvSpPr/>
          <p:nvPr/>
        </p:nvSpPr>
        <p:spPr>
          <a:xfrm flipV="1">
            <a:off x="1783080" y="2456688"/>
            <a:ext cx="502920" cy="469392"/>
          </a:xfrm>
          <a:prstGeom prst="line">
            <a:avLst/>
          </a:prstGeom>
          <a:noFill/>
          <a:ln w="13970">
            <a:solidFill>
              <a:srgbClr val="C9BFAE"/>
            </a:solidFill>
            <a:prstDash val="solid"/>
          </a:ln>
        </p:spPr>
      </p:sp>
      <p:sp>
        <p:nvSpPr>
          <p:cNvPr id="15" name="Shape 13"/>
          <p:cNvSpPr/>
          <p:nvPr/>
        </p:nvSpPr>
        <p:spPr>
          <a:xfrm>
            <a:off x="2331720" y="2218944"/>
            <a:ext cx="1691640" cy="475488"/>
          </a:xfrm>
          <a:prstGeom prst="roundRect">
            <a:avLst>
              <a:gd name="adj" fmla="val 15385"/>
            </a:avLst>
          </a:prstGeom>
          <a:solidFill>
            <a:srgbClr val="2F6D62"/>
          </a:solidFill>
          <a:ln w="9525">
            <a:solidFill>
              <a:srgbClr val="2F6D62"/>
            </a:solidFill>
            <a:prstDash val="solid"/>
          </a:ln>
        </p:spPr>
      </p:sp>
      <p:sp>
        <p:nvSpPr>
          <p:cNvPr id="16" name="Text 14"/>
          <p:cNvSpPr txBox="1"/>
          <p:nvPr/>
        </p:nvSpPr>
        <p:spPr>
          <a:xfrm>
            <a:off x="2386584" y="2218944"/>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Chain</a:t>
            </a:r>
            <a:endParaRPr lang="en-US" sz="1200" dirty="0"/>
          </a:p>
        </p:txBody>
      </p:sp>
      <p:sp>
        <p:nvSpPr>
          <p:cNvPr id="17" name="Shape 15"/>
          <p:cNvSpPr/>
          <p:nvPr/>
        </p:nvSpPr>
        <p:spPr>
          <a:xfrm>
            <a:off x="4023360" y="2456688"/>
            <a:ext cx="274320" cy="0"/>
          </a:xfrm>
          <a:prstGeom prst="line">
            <a:avLst/>
          </a:prstGeom>
          <a:noFill/>
          <a:ln w="13970">
            <a:solidFill>
              <a:srgbClr val="C9BFAE"/>
            </a:solidFill>
            <a:prstDash val="solid"/>
          </a:ln>
        </p:spPr>
      </p:sp>
      <p:sp>
        <p:nvSpPr>
          <p:cNvPr id="18" name="Shape 16"/>
          <p:cNvSpPr/>
          <p:nvPr/>
        </p:nvSpPr>
        <p:spPr>
          <a:xfrm>
            <a:off x="4297680" y="2237232"/>
            <a:ext cx="4480560" cy="438912"/>
          </a:xfrm>
          <a:prstGeom prst="roundRect">
            <a:avLst>
              <a:gd name="adj" fmla="val 12500"/>
            </a:avLst>
          </a:prstGeom>
          <a:solidFill>
            <a:srgbClr val="F2ECE1"/>
          </a:solidFill>
          <a:ln w="6350">
            <a:solidFill>
              <a:srgbClr val="DFD6C7"/>
            </a:solidFill>
            <a:prstDash val="solid"/>
          </a:ln>
        </p:spPr>
      </p:sp>
      <p:sp>
        <p:nvSpPr>
          <p:cNvPr id="19" name="Text 17"/>
          <p:cNvSpPr txBox="1"/>
          <p:nvPr/>
        </p:nvSpPr>
        <p:spPr>
          <a:xfrm>
            <a:off x="4407408" y="2237232"/>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Block  ·  Blockchain  ·  Timestamp  ·  Node</a:t>
            </a:r>
            <a:endParaRPr lang="en-US" sz="1100" dirty="0"/>
          </a:p>
        </p:txBody>
      </p:sp>
      <p:sp>
        <p:nvSpPr>
          <p:cNvPr id="20" name="Shape 18"/>
          <p:cNvSpPr/>
          <p:nvPr/>
        </p:nvSpPr>
        <p:spPr>
          <a:xfrm>
            <a:off x="1783080" y="2926080"/>
            <a:ext cx="502920" cy="469392"/>
          </a:xfrm>
          <a:prstGeom prst="line">
            <a:avLst/>
          </a:prstGeom>
          <a:noFill/>
          <a:ln w="13970">
            <a:solidFill>
              <a:srgbClr val="C9BFAE"/>
            </a:solidFill>
            <a:prstDash val="solid"/>
          </a:ln>
        </p:spPr>
      </p:sp>
      <p:sp>
        <p:nvSpPr>
          <p:cNvPr id="21" name="Shape 19"/>
          <p:cNvSpPr/>
          <p:nvPr/>
        </p:nvSpPr>
        <p:spPr>
          <a:xfrm>
            <a:off x="2331720" y="3157728"/>
            <a:ext cx="1691640" cy="475488"/>
          </a:xfrm>
          <a:prstGeom prst="roundRect">
            <a:avLst>
              <a:gd name="adj" fmla="val 15385"/>
            </a:avLst>
          </a:prstGeom>
          <a:solidFill>
            <a:srgbClr val="2F6D62"/>
          </a:solidFill>
          <a:ln w="9525">
            <a:solidFill>
              <a:srgbClr val="2F6D62"/>
            </a:solidFill>
            <a:prstDash val="solid"/>
          </a:ln>
        </p:spPr>
      </p:sp>
      <p:sp>
        <p:nvSpPr>
          <p:cNvPr id="22" name="Text 20"/>
          <p:cNvSpPr txBox="1"/>
          <p:nvPr/>
        </p:nvSpPr>
        <p:spPr>
          <a:xfrm>
            <a:off x="2386584" y="3157728"/>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Computing</a:t>
            </a:r>
            <a:endParaRPr lang="en-US" sz="1200" dirty="0"/>
          </a:p>
        </p:txBody>
      </p:sp>
      <p:sp>
        <p:nvSpPr>
          <p:cNvPr id="23" name="Shape 21"/>
          <p:cNvSpPr/>
          <p:nvPr/>
        </p:nvSpPr>
        <p:spPr>
          <a:xfrm>
            <a:off x="4023360" y="3395472"/>
            <a:ext cx="274320" cy="0"/>
          </a:xfrm>
          <a:prstGeom prst="line">
            <a:avLst/>
          </a:prstGeom>
          <a:noFill/>
          <a:ln w="13970">
            <a:solidFill>
              <a:srgbClr val="C9BFAE"/>
            </a:solidFill>
            <a:prstDash val="solid"/>
          </a:ln>
        </p:spPr>
      </p:sp>
      <p:sp>
        <p:nvSpPr>
          <p:cNvPr id="24" name="Shape 22"/>
          <p:cNvSpPr/>
          <p:nvPr/>
        </p:nvSpPr>
        <p:spPr>
          <a:xfrm>
            <a:off x="4297680" y="3176016"/>
            <a:ext cx="4480560" cy="438912"/>
          </a:xfrm>
          <a:prstGeom prst="roundRect">
            <a:avLst>
              <a:gd name="adj" fmla="val 12500"/>
            </a:avLst>
          </a:prstGeom>
          <a:solidFill>
            <a:srgbClr val="F2ECE1"/>
          </a:solidFill>
          <a:ln w="6350">
            <a:solidFill>
              <a:srgbClr val="DFD6C7"/>
            </a:solidFill>
            <a:prstDash val="solid"/>
          </a:ln>
        </p:spPr>
      </p:sp>
      <p:sp>
        <p:nvSpPr>
          <p:cNvPr id="25" name="Text 23"/>
          <p:cNvSpPr txBox="1"/>
          <p:nvPr/>
        </p:nvSpPr>
        <p:spPr>
          <a:xfrm>
            <a:off x="4407408" y="3176016"/>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Internet  ·  Protocol  ·  HTTP  ·  Web Browser  ·  Server  ·  API  ·  + 6 more</a:t>
            </a:r>
            <a:endParaRPr lang="en-US" sz="1100" dirty="0"/>
          </a:p>
        </p:txBody>
      </p:sp>
      <p:sp>
        <p:nvSpPr>
          <p:cNvPr id="26" name="Shape 24"/>
          <p:cNvSpPr/>
          <p:nvPr/>
        </p:nvSpPr>
        <p:spPr>
          <a:xfrm>
            <a:off x="1783080" y="2926080"/>
            <a:ext cx="502920" cy="1408176"/>
          </a:xfrm>
          <a:prstGeom prst="line">
            <a:avLst/>
          </a:prstGeom>
          <a:noFill/>
          <a:ln w="13970">
            <a:solidFill>
              <a:srgbClr val="C9BFAE"/>
            </a:solidFill>
            <a:prstDash val="solid"/>
          </a:ln>
        </p:spPr>
      </p:sp>
      <p:sp>
        <p:nvSpPr>
          <p:cNvPr id="27" name="Shape 25"/>
          <p:cNvSpPr/>
          <p:nvPr/>
        </p:nvSpPr>
        <p:spPr>
          <a:xfrm>
            <a:off x="2331720" y="4096512"/>
            <a:ext cx="1691640" cy="475488"/>
          </a:xfrm>
          <a:prstGeom prst="roundRect">
            <a:avLst>
              <a:gd name="adj" fmla="val 15385"/>
            </a:avLst>
          </a:prstGeom>
          <a:solidFill>
            <a:srgbClr val="2F6D62"/>
          </a:solidFill>
          <a:ln w="9525">
            <a:solidFill>
              <a:srgbClr val="2F6D62"/>
            </a:solidFill>
            <a:prstDash val="solid"/>
          </a:ln>
        </p:spPr>
      </p:sp>
      <p:sp>
        <p:nvSpPr>
          <p:cNvPr id="28" name="Text 26"/>
          <p:cNvSpPr txBox="1"/>
          <p:nvPr/>
        </p:nvSpPr>
        <p:spPr>
          <a:xfrm>
            <a:off x="2386584" y="4096512"/>
            <a:ext cx="1581912" cy="47548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Threats</a:t>
            </a:r>
            <a:endParaRPr lang="en-US" sz="1200" dirty="0"/>
          </a:p>
        </p:txBody>
      </p:sp>
      <p:sp>
        <p:nvSpPr>
          <p:cNvPr id="29" name="Shape 27"/>
          <p:cNvSpPr/>
          <p:nvPr/>
        </p:nvSpPr>
        <p:spPr>
          <a:xfrm>
            <a:off x="4023360" y="4334256"/>
            <a:ext cx="274320" cy="0"/>
          </a:xfrm>
          <a:prstGeom prst="line">
            <a:avLst/>
          </a:prstGeom>
          <a:noFill/>
          <a:ln w="13970">
            <a:solidFill>
              <a:srgbClr val="C9BFAE"/>
            </a:solidFill>
            <a:prstDash val="solid"/>
          </a:ln>
        </p:spPr>
      </p:sp>
      <p:sp>
        <p:nvSpPr>
          <p:cNvPr id="30" name="Shape 28"/>
          <p:cNvSpPr/>
          <p:nvPr/>
        </p:nvSpPr>
        <p:spPr>
          <a:xfrm>
            <a:off x="4297680" y="4114800"/>
            <a:ext cx="4480560" cy="438912"/>
          </a:xfrm>
          <a:prstGeom prst="roundRect">
            <a:avLst>
              <a:gd name="adj" fmla="val 12500"/>
            </a:avLst>
          </a:prstGeom>
          <a:solidFill>
            <a:srgbClr val="F2ECE1"/>
          </a:solidFill>
          <a:ln w="6350">
            <a:solidFill>
              <a:srgbClr val="DFD6C7"/>
            </a:solidFill>
            <a:prstDash val="solid"/>
          </a:ln>
        </p:spPr>
      </p:sp>
      <p:sp>
        <p:nvSpPr>
          <p:cNvPr id="31" name="Text 29"/>
          <p:cNvSpPr txBox="1"/>
          <p:nvPr/>
        </p:nvSpPr>
        <p:spPr>
          <a:xfrm>
            <a:off x="4407408" y="4114800"/>
            <a:ext cx="4261104" cy="438912"/>
          </a:xfrm>
          <a:prstGeom prst="rect">
            <a:avLst/>
          </a:prstGeom>
          <a:noFill/>
          <a:ln/>
        </p:spPr>
        <p:txBody>
          <a:bodyPr wrap="square" lIns="0" tIns="0" rIns="0" bIns="0" rtlCol="0" anchor="ctr"/>
          <a:lstStyle/>
          <a:p>
            <a:pPr indent="0" marL="0">
              <a:buNone/>
            </a:pPr>
            <a:r>
              <a:rPr lang="en-US" sz="1100" dirty="0">
                <a:solidFill>
                  <a:srgbClr val="2B2622"/>
                </a:solidFill>
                <a:latin typeface="Calibri" pitchFamily="34" charset="0"/>
                <a:ea typeface="Calibri" pitchFamily="34" charset="-122"/>
                <a:cs typeface="Calibri" pitchFamily="34" charset="-120"/>
              </a:rPr>
              <a:t>Malware  ·  Phishing</a:t>
            </a:r>
            <a:endParaRPr lang="en-US" sz="110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term here gets its own page section</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34</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kind of thing is Bitcoin?</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stated characteristics, and the architecture behind them</a:t>
            </a:r>
            <a:endParaRPr lang="en-US" sz="1300" dirty="0"/>
          </a:p>
        </p:txBody>
      </p:sp>
      <p:sp>
        <p:nvSpPr>
          <p:cNvPr id="6" name="Text 4"/>
          <p:cNvSpPr txBox="1"/>
          <p:nvPr/>
        </p:nvSpPr>
        <p:spPr>
          <a:xfrm>
            <a:off x="457200" y="132588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Characteristics - each one a design choice</a:t>
            </a:r>
            <a:endParaRPr lang="en-US" sz="1500" dirty="0"/>
          </a:p>
        </p:txBody>
      </p:sp>
      <p:sp>
        <p:nvSpPr>
          <p:cNvPr id="7" name="Shape 5"/>
          <p:cNvSpPr/>
          <p:nvPr/>
        </p:nvSpPr>
        <p:spPr>
          <a:xfrm>
            <a:off x="457200" y="1783080"/>
            <a:ext cx="1414577"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457200" y="1783080"/>
            <a:ext cx="141457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Virtual</a:t>
            </a:r>
            <a:endParaRPr lang="en-US" sz="1400" dirty="0"/>
          </a:p>
        </p:txBody>
      </p:sp>
      <p:sp>
        <p:nvSpPr>
          <p:cNvPr id="9" name="Shape 7"/>
          <p:cNvSpPr/>
          <p:nvPr/>
        </p:nvSpPr>
        <p:spPr>
          <a:xfrm>
            <a:off x="2072945" y="1783080"/>
            <a:ext cx="1856232"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072945" y="1783080"/>
            <a:ext cx="1856232"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Borderless</a:t>
            </a:r>
            <a:endParaRPr lang="en-US" sz="1400" dirty="0"/>
          </a:p>
        </p:txBody>
      </p:sp>
      <p:sp>
        <p:nvSpPr>
          <p:cNvPr id="11" name="Shape 9"/>
          <p:cNvSpPr/>
          <p:nvPr/>
        </p:nvSpPr>
        <p:spPr>
          <a:xfrm>
            <a:off x="4130345" y="178308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4130345" y="1783080"/>
            <a:ext cx="2297887"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Decentralized</a:t>
            </a:r>
            <a:endParaRPr lang="en-US" sz="1400" dirty="0"/>
          </a:p>
        </p:txBody>
      </p:sp>
      <p:sp>
        <p:nvSpPr>
          <p:cNvPr id="13" name="Shape 11"/>
          <p:cNvSpPr/>
          <p:nvPr/>
        </p:nvSpPr>
        <p:spPr>
          <a:xfrm>
            <a:off x="6629400" y="1783080"/>
            <a:ext cx="1267358" cy="530352"/>
          </a:xfrm>
          <a:prstGeom prst="roundRect">
            <a:avLst>
              <a:gd name="adj" fmla="val 50000"/>
            </a:avLst>
          </a:prstGeom>
          <a:solidFill>
            <a:srgbClr val="F2ECE1"/>
          </a:solidFill>
          <a:ln w="12700">
            <a:solidFill>
              <a:srgbClr val="D97A14"/>
            </a:solidFill>
            <a:prstDash val="solid"/>
          </a:ln>
        </p:spPr>
      </p:sp>
      <p:sp>
        <p:nvSpPr>
          <p:cNvPr id="14" name="Text 12"/>
          <p:cNvSpPr txBox="1"/>
          <p:nvPr/>
        </p:nvSpPr>
        <p:spPr>
          <a:xfrm>
            <a:off x="6629400" y="1783080"/>
            <a:ext cx="1267358"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Robust</a:t>
            </a:r>
            <a:endParaRPr lang="en-US" sz="1400" dirty="0"/>
          </a:p>
        </p:txBody>
      </p:sp>
      <p:sp>
        <p:nvSpPr>
          <p:cNvPr id="15" name="Text 13"/>
          <p:cNvSpPr txBox="1"/>
          <p:nvPr/>
        </p:nvSpPr>
        <p:spPr>
          <a:xfrm>
            <a:off x="457200" y="2697480"/>
            <a:ext cx="8229600" cy="365760"/>
          </a:xfrm>
          <a:prstGeom prst="rect">
            <a:avLst/>
          </a:prstGeom>
          <a:noFill/>
          <a:ln/>
        </p:spPr>
        <p:txBody>
          <a:bodyPr wrap="square" lIns="0" tIns="0" rIns="0" bIns="0" rtlCol="0" anchor="t"/>
          <a:lstStyle/>
          <a:p>
            <a:pPr algn="l" indent="0" marL="0">
              <a:buNone/>
            </a:pPr>
            <a:r>
              <a:rPr lang="en-US" sz="1500" b="1" dirty="0">
                <a:solidFill>
                  <a:srgbClr val="2B2622"/>
                </a:solidFill>
                <a:latin typeface="Calibri" pitchFamily="34" charset="0"/>
                <a:ea typeface="Calibri" pitchFamily="34" charset="-122"/>
                <a:cs typeface="Calibri" pitchFamily="34" charset="-120"/>
              </a:rPr>
              <a:t>The architecture that delivers them</a:t>
            </a:r>
            <a:endParaRPr lang="en-US" sz="1500" dirty="0"/>
          </a:p>
        </p:txBody>
      </p:sp>
      <p:sp>
        <p:nvSpPr>
          <p:cNvPr id="16" name="Shape 14"/>
          <p:cNvSpPr/>
          <p:nvPr/>
        </p:nvSpPr>
        <p:spPr>
          <a:xfrm>
            <a:off x="457200" y="3154680"/>
            <a:ext cx="3475634" cy="530352"/>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457200" y="3154680"/>
            <a:ext cx="3475634"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Peer To Peer Protocol</a:t>
            </a:r>
            <a:endParaRPr lang="en-US" sz="1400" dirty="0"/>
          </a:p>
        </p:txBody>
      </p:sp>
      <p:sp>
        <p:nvSpPr>
          <p:cNvPr id="18" name="Shape 16"/>
          <p:cNvSpPr/>
          <p:nvPr/>
        </p:nvSpPr>
        <p:spPr>
          <a:xfrm>
            <a:off x="4134002" y="3154680"/>
            <a:ext cx="2445106" cy="530352"/>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4134002" y="3154680"/>
            <a:ext cx="2445106"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Public Journal</a:t>
            </a:r>
            <a:endParaRPr lang="en-US" sz="1400" dirty="0"/>
          </a:p>
        </p:txBody>
      </p:sp>
      <p:sp>
        <p:nvSpPr>
          <p:cNvPr id="20" name="Shape 18"/>
          <p:cNvSpPr/>
          <p:nvPr/>
        </p:nvSpPr>
        <p:spPr>
          <a:xfrm>
            <a:off x="457200" y="3849624"/>
            <a:ext cx="3033979" cy="530352"/>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3849624"/>
            <a:ext cx="3033979" cy="530352"/>
          </a:xfrm>
          <a:prstGeom prst="rect">
            <a:avLst/>
          </a:prstGeom>
          <a:noFill/>
          <a:ln/>
        </p:spPr>
        <p:txBody>
          <a:bodyPr wrap="square" lIns="0" tIns="0" rIns="0" bIns="0" rtlCol="0" anchor="ctr"/>
          <a:lstStyle/>
          <a:p>
            <a:pPr algn="ctr" indent="0" marL="0">
              <a:buNone/>
            </a:pPr>
            <a:r>
              <a:rPr lang="en-US" sz="1400" b="1" dirty="0">
                <a:solidFill>
                  <a:srgbClr val="2B2622"/>
                </a:solidFill>
                <a:latin typeface="Calibri" pitchFamily="34" charset="0"/>
                <a:ea typeface="Calibri" pitchFamily="34" charset="-122"/>
                <a:cs typeface="Calibri" pitchFamily="34" charset="-120"/>
              </a:rPr>
              <a:t>Consensus Rule Set</a:t>
            </a:r>
            <a:endParaRPr lang="en-US" sz="140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adjective is engineered, not advertised</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34</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Beyond the base layer</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Payment channels route through a network - chapter 14's subject</a:t>
            </a:r>
            <a:endParaRPr lang="en-US" sz="1300" dirty="0"/>
          </a:p>
        </p:txBody>
      </p:sp>
      <p:sp>
        <p:nvSpPr>
          <p:cNvPr id="6" name="Text 4"/>
          <p:cNvSpPr txBox="1"/>
          <p:nvPr/>
        </p:nvSpPr>
        <p:spPr>
          <a:xfrm>
            <a:off x="457200" y="1325880"/>
            <a:ext cx="3291840" cy="1005840"/>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Channels move value off the chain</a:t>
            </a:r>
            <a:endParaRPr lang="en-US" sz="1350" dirty="0"/>
          </a:p>
          <a:p>
            <a:pPr marL="342900" indent="-342900">
              <a:spcAft>
                <a:spcPts val="400"/>
              </a:spcAft>
              <a:buSzPct val="100000"/>
              <a:buChar char="•"/>
            </a:pPr>
            <a:r>
              <a:rPr lang="en-US" sz="1350" dirty="0">
                <a:solidFill>
                  <a:srgbClr val="2B2622"/>
                </a:solidFill>
                <a:latin typeface="Calibri" pitchFamily="34" charset="0"/>
                <a:ea typeface="Calibri" pitchFamily="34" charset="-122"/>
                <a:cs typeface="Calibri" pitchFamily="34" charset="-120"/>
              </a:rPr>
              <a:t>The chain settles only open and close</a:t>
            </a:r>
            <a:endParaRPr lang="en-US" sz="1350" dirty="0"/>
          </a:p>
        </p:txBody>
      </p:sp>
      <p:sp>
        <p:nvSpPr>
          <p:cNvPr id="7" name="Shape 5"/>
          <p:cNvSpPr/>
          <p:nvPr/>
        </p:nvSpPr>
        <p:spPr>
          <a:xfrm>
            <a:off x="886968" y="3282696"/>
            <a:ext cx="505968" cy="0"/>
          </a:xfrm>
          <a:prstGeom prst="line">
            <a:avLst/>
          </a:prstGeom>
          <a:noFill/>
          <a:ln w="28575">
            <a:solidFill>
              <a:srgbClr val="D97A14"/>
            </a:solidFill>
            <a:prstDash val="solid"/>
            <a:tailEnd type="triangle"/>
          </a:ln>
        </p:spPr>
      </p:sp>
      <p:sp>
        <p:nvSpPr>
          <p:cNvPr id="8" name="Shape 6"/>
          <p:cNvSpPr/>
          <p:nvPr/>
        </p:nvSpPr>
        <p:spPr>
          <a:xfrm>
            <a:off x="466344" y="3063240"/>
            <a:ext cx="438912" cy="438912"/>
          </a:xfrm>
          <a:prstGeom prst="ellipse">
            <a:avLst/>
          </a:prstGeom>
          <a:solidFill>
            <a:srgbClr val="D97A14"/>
          </a:solidFill>
          <a:ln w="19050">
            <a:solidFill>
              <a:srgbClr val="FFFFFF"/>
            </a:solidFill>
            <a:prstDash val="solid"/>
          </a:ln>
        </p:spPr>
      </p:sp>
      <p:sp>
        <p:nvSpPr>
          <p:cNvPr id="9" name="Text 7"/>
          <p:cNvSpPr txBox="1"/>
          <p:nvPr/>
        </p:nvSpPr>
        <p:spPr>
          <a:xfrm>
            <a:off x="13716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Alice</a:t>
            </a:r>
            <a:endParaRPr lang="en-US" sz="1050" dirty="0"/>
          </a:p>
        </p:txBody>
      </p:sp>
      <p:sp>
        <p:nvSpPr>
          <p:cNvPr id="10" name="Shape 8"/>
          <p:cNvSpPr/>
          <p:nvPr/>
        </p:nvSpPr>
        <p:spPr>
          <a:xfrm>
            <a:off x="1831848" y="3282696"/>
            <a:ext cx="505968" cy="0"/>
          </a:xfrm>
          <a:prstGeom prst="line">
            <a:avLst/>
          </a:prstGeom>
          <a:noFill/>
          <a:ln w="28575">
            <a:solidFill>
              <a:srgbClr val="D97A14"/>
            </a:solidFill>
            <a:prstDash val="solid"/>
            <a:tailEnd type="triangle"/>
          </a:ln>
        </p:spPr>
      </p:sp>
      <p:sp>
        <p:nvSpPr>
          <p:cNvPr id="11" name="Shape 9"/>
          <p:cNvSpPr/>
          <p:nvPr/>
        </p:nvSpPr>
        <p:spPr>
          <a:xfrm>
            <a:off x="1411224" y="3063240"/>
            <a:ext cx="438912" cy="438912"/>
          </a:xfrm>
          <a:prstGeom prst="ellipse">
            <a:avLst/>
          </a:prstGeom>
          <a:solidFill>
            <a:srgbClr val="2F6D62"/>
          </a:solidFill>
          <a:ln w="19050">
            <a:solidFill>
              <a:srgbClr val="FFFFFF"/>
            </a:solidFill>
            <a:prstDash val="solid"/>
          </a:ln>
        </p:spPr>
      </p:sp>
      <p:sp>
        <p:nvSpPr>
          <p:cNvPr id="12" name="Text 10"/>
          <p:cNvSpPr txBox="1"/>
          <p:nvPr/>
        </p:nvSpPr>
        <p:spPr>
          <a:xfrm>
            <a:off x="108204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Bob</a:t>
            </a:r>
            <a:endParaRPr lang="en-US" sz="1050" dirty="0"/>
          </a:p>
        </p:txBody>
      </p:sp>
      <p:sp>
        <p:nvSpPr>
          <p:cNvPr id="13" name="Shape 11"/>
          <p:cNvSpPr/>
          <p:nvPr/>
        </p:nvSpPr>
        <p:spPr>
          <a:xfrm>
            <a:off x="2776728" y="3282696"/>
            <a:ext cx="505968" cy="0"/>
          </a:xfrm>
          <a:prstGeom prst="line">
            <a:avLst/>
          </a:prstGeom>
          <a:noFill/>
          <a:ln w="28575">
            <a:solidFill>
              <a:srgbClr val="D97A14"/>
            </a:solidFill>
            <a:prstDash val="solid"/>
            <a:tailEnd type="triangle"/>
          </a:ln>
        </p:spPr>
      </p:sp>
      <p:sp>
        <p:nvSpPr>
          <p:cNvPr id="14" name="Shape 12"/>
          <p:cNvSpPr/>
          <p:nvPr/>
        </p:nvSpPr>
        <p:spPr>
          <a:xfrm>
            <a:off x="2356104" y="3063240"/>
            <a:ext cx="438912" cy="438912"/>
          </a:xfrm>
          <a:prstGeom prst="ellipse">
            <a:avLst/>
          </a:prstGeom>
          <a:solidFill>
            <a:srgbClr val="2F6D62"/>
          </a:solidFill>
          <a:ln w="19050">
            <a:solidFill>
              <a:srgbClr val="FFFFFF"/>
            </a:solidFill>
            <a:prstDash val="solid"/>
          </a:ln>
        </p:spPr>
      </p:sp>
      <p:sp>
        <p:nvSpPr>
          <p:cNvPr id="15" name="Text 13"/>
          <p:cNvSpPr txBox="1"/>
          <p:nvPr/>
        </p:nvSpPr>
        <p:spPr>
          <a:xfrm>
            <a:off x="202692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Carol</a:t>
            </a:r>
            <a:endParaRPr lang="en-US" sz="1050" dirty="0"/>
          </a:p>
        </p:txBody>
      </p:sp>
      <p:sp>
        <p:nvSpPr>
          <p:cNvPr id="16" name="Shape 14"/>
          <p:cNvSpPr/>
          <p:nvPr/>
        </p:nvSpPr>
        <p:spPr>
          <a:xfrm>
            <a:off x="3300984" y="3063240"/>
            <a:ext cx="438912" cy="438912"/>
          </a:xfrm>
          <a:prstGeom prst="ellipse">
            <a:avLst/>
          </a:prstGeom>
          <a:solidFill>
            <a:srgbClr val="D97A14"/>
          </a:solidFill>
          <a:ln w="19050">
            <a:solidFill>
              <a:srgbClr val="FFFFFF"/>
            </a:solidFill>
            <a:prstDash val="solid"/>
          </a:ln>
        </p:spPr>
      </p:sp>
      <p:sp>
        <p:nvSpPr>
          <p:cNvPr id="17" name="Text 15"/>
          <p:cNvSpPr txBox="1"/>
          <p:nvPr/>
        </p:nvSpPr>
        <p:spPr>
          <a:xfrm>
            <a:off x="2971800" y="3557016"/>
            <a:ext cx="1097280" cy="274320"/>
          </a:xfrm>
          <a:prstGeom prst="rect">
            <a:avLst/>
          </a:prstGeom>
          <a:noFill/>
          <a:ln/>
        </p:spPr>
        <p:txBody>
          <a:bodyPr wrap="square" lIns="0" tIns="0" rIns="0" bIns="0" rtlCol="0" anchor="ctr"/>
          <a:lstStyle/>
          <a:p>
            <a:pPr algn="ctr" indent="0" marL="0">
              <a:buNone/>
            </a:pPr>
            <a:r>
              <a:rPr lang="en-US" sz="1050" b="1" dirty="0">
                <a:solidFill>
                  <a:srgbClr val="2B2622"/>
                </a:solidFill>
                <a:latin typeface="Calibri" pitchFamily="34" charset="0"/>
                <a:ea typeface="Calibri" pitchFamily="34" charset="-122"/>
                <a:cs typeface="Calibri" pitchFamily="34" charset="-120"/>
              </a:rPr>
              <a:t>Dave</a:t>
            </a:r>
            <a:endParaRPr lang="en-US" sz="1050" dirty="0"/>
          </a:p>
        </p:txBody>
      </p:sp>
      <p:sp>
        <p:nvSpPr>
          <p:cNvPr id="18" name="Text 16"/>
          <p:cNvSpPr txBox="1"/>
          <p:nvPr/>
        </p:nvSpPr>
        <p:spPr>
          <a:xfrm>
            <a:off x="365760" y="3941064"/>
            <a:ext cx="3474720" cy="310896"/>
          </a:xfrm>
          <a:prstGeom prst="rect">
            <a:avLst/>
          </a:prstGeom>
          <a:noFill/>
          <a:ln/>
        </p:spPr>
        <p:txBody>
          <a:bodyPr wrap="square" lIns="0" tIns="0" rIns="0" bIns="0" rtlCol="0" anchor="ctr"/>
          <a:lstStyle/>
          <a:p>
            <a:pPr algn="ctr" indent="0" marL="0">
              <a:buNone/>
            </a:pPr>
            <a:r>
              <a:rPr lang="en-US" sz="1100" i="1" dirty="0">
                <a:solidFill>
                  <a:srgbClr val="6E655C"/>
                </a:solidFill>
                <a:latin typeface="Calibri" pitchFamily="34" charset="0"/>
                <a:ea typeface="Calibri" pitchFamily="34" charset="-122"/>
                <a:cs typeface="Calibri" pitchFamily="34" charset="-120"/>
              </a:rPr>
              <a:t>3 hops; no direct channel needed</a:t>
            </a:r>
            <a:endParaRPr lang="en-US" sz="1100" dirty="0"/>
          </a:p>
        </p:txBody>
      </p:sp>
      <p:sp>
        <p:nvSpPr>
          <p:cNvPr id="19" name="Text 17"/>
          <p:cNvSpPr txBox="1"/>
          <p:nvPr/>
        </p:nvSpPr>
        <p:spPr>
          <a:xfrm>
            <a:off x="3931920" y="1097280"/>
            <a:ext cx="47548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payment routed over three hops</a:t>
            </a:r>
            <a:endParaRPr lang="en-US" sz="1150" dirty="0"/>
          </a:p>
        </p:txBody>
      </p:sp>
      <p:sp>
        <p:nvSpPr>
          <p:cNvPr id="20" name="Shape 18"/>
          <p:cNvSpPr/>
          <p:nvPr/>
        </p:nvSpPr>
        <p:spPr>
          <a:xfrm>
            <a:off x="3931920" y="1371600"/>
            <a:ext cx="4754880" cy="2926080"/>
          </a:xfrm>
          <a:prstGeom prst="roundRect">
            <a:avLst>
              <a:gd name="adj" fmla="val 3125"/>
            </a:avLst>
          </a:prstGeom>
          <a:solidFill>
            <a:srgbClr val="23272E"/>
          </a:solidFill>
          <a:ln w="12700">
            <a:solidFill>
              <a:srgbClr val="23272E"/>
            </a:solidFill>
            <a:prstDash val="solid"/>
          </a:ln>
        </p:spPr>
      </p:sp>
      <p:sp>
        <p:nvSpPr>
          <p:cNvPr id="21" name="Text 19"/>
          <p:cNvSpPr txBox="1"/>
          <p:nvPr/>
        </p:nvSpPr>
        <p:spPr>
          <a:xfrm>
            <a:off x="4114800" y="1490472"/>
            <a:ext cx="4389120" cy="2688336"/>
          </a:xfrm>
          <a:prstGeom prst="rect">
            <a:avLst/>
          </a:prstGeom>
          <a:noFill/>
          <a:ln/>
        </p:spPr>
        <p:txBody>
          <a:bodyPr wrap="square" lIns="0" tIns="0" rIns="0" bIns="0" rtlCol="0" anchor="t"/>
          <a:lstStyle/>
          <a:p>
            <a:pPr indent="0" marL="0">
              <a:buNone/>
            </a:pPr>
            <a:r>
              <a:rPr lang="en-US" sz="950" dirty="0">
                <a:solidFill>
                  <a:srgbClr val="E6EDF3"/>
                </a:solidFill>
                <a:latin typeface="Courier New" pitchFamily="34" charset="0"/>
                <a:ea typeface="Courier New" pitchFamily="34" charset="-122"/>
                <a:cs typeface="Courier New" pitchFamily="34" charset="-120"/>
              </a:rPr>
              <a:t>channels = {('Alice', 'Bob'), ('Bob', 'Carol'), ('Carol', 'Dave')}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nbr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for x, y in channels: nbr.setdefault(x, []).append(y); nbr.setdefault(y, []).append(x)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path, frontier = {'Alice': ['Alice']}, ['Alice']</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while 'Dave' not in path:</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nxt = []</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x in frontier:</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for y in nbr[x]:</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if y not in path: path[y] = path[x] + [y]; nxt.append(y)</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    frontier = nxt</a:t>
            </a:r>
            <a:endParaRPr lang="en-US" sz="950" dirty="0"/>
          </a:p>
          <a:p>
            <a:pPr indent="0" marL="0">
              <a:buNone/>
            </a:pPr>
            <a:r>
              <a:rPr lang="en-US" sz="950" dirty="0">
                <a:solidFill>
                  <a:srgbClr val="E6EDF3"/>
                </a:solidFill>
                <a:latin typeface="Courier New" pitchFamily="34" charset="0"/>
                <a:ea typeface="Courier New" pitchFamily="34" charset="-122"/>
                <a:cs typeface="Courier New" pitchFamily="34" charset="-120"/>
              </a:rPr>
              <a:t>result = (path['Dave'], len(path['Dave']) - 1, ('Alice', 'Dave') in channels)</a:t>
            </a:r>
            <a:endParaRPr lang="en-US" sz="950" dirty="0"/>
          </a:p>
        </p:txBody>
      </p:sp>
      <p:sp>
        <p:nvSpPr>
          <p:cNvPr id="22" name="Text 20"/>
          <p:cNvSpPr txBox="1"/>
          <p:nvPr/>
        </p:nvSpPr>
        <p:spPr>
          <a:xfrm>
            <a:off x="3931920" y="4315968"/>
            <a:ext cx="4754880" cy="256032"/>
          </a:xfrm>
          <a:prstGeom prst="rect">
            <a:avLst/>
          </a:prstGeom>
          <a:noFill/>
          <a:ln/>
        </p:spPr>
        <p:txBody>
          <a:bodyPr wrap="square" lIns="0" tIns="0" rIns="0" bIns="0" rtlCol="0" anchor="ctr"/>
          <a:lstStyle/>
          <a:p>
            <a:pPr indent="0" marL="0">
              <a:buNone/>
            </a:pPr>
            <a:r>
              <a:rPr lang="en-US" sz="950" b="1" dirty="0">
                <a:solidFill>
                  <a:srgbClr val="D97A14"/>
                </a:solidFill>
                <a:latin typeface="Courier New" pitchFamily="34" charset="0"/>
                <a:ea typeface="Courier New" pitchFamily="34" charset="-122"/>
                <a:cs typeface="Courier New" pitchFamily="34" charset="-120"/>
              </a:rPr>
              <a:t>result  </a:t>
            </a:r>
            <a:pPr indent="0" marL="0">
              <a:buNone/>
            </a:pPr>
            <a:r>
              <a:rPr lang="en-US" sz="950" dirty="0">
                <a:solidFill>
                  <a:srgbClr val="2B2622"/>
                </a:solidFill>
                <a:latin typeface="Courier New" pitchFamily="34" charset="0"/>
                <a:ea typeface="Courier New" pitchFamily="34" charset="-122"/>
                <a:cs typeface="Courier New" pitchFamily="34" charset="-120"/>
              </a:rPr>
              <a:t>(['Alice', 'Bob', 'Carol', 'Dave'], 3, False)</a:t>
            </a:r>
            <a:endParaRPr lang="en-US" sz="950" dirty="0"/>
          </a:p>
        </p:txBody>
      </p:sp>
      <p:sp>
        <p:nvSpPr>
          <p:cNvPr id="23" name="Text 21"/>
          <p:cNvSpPr txBox="1"/>
          <p:nvPr/>
        </p:nvSpPr>
        <p:spPr>
          <a:xfrm>
            <a:off x="3931920" y="4572000"/>
            <a:ext cx="4754880" cy="201168"/>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program LightningNetwork, lines 1 to 11 of 11, run under Python 3.14.4</a:t>
            </a:r>
            <a:endParaRPr lang="en-US" sz="9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chain settles; the edges scale</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34</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103120"/>
            <a:ext cx="8046720" cy="210312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bitcoin is, and how far it divides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21 million is arithmetic, not promise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replaces the bank in the middle</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Which chapter opens each box we drew</a:t>
            </a:r>
            <a:endParaRPr lang="en-US" sz="1600" dirty="0"/>
          </a:p>
        </p:txBody>
      </p:sp>
      <p:sp>
        <p:nvSpPr>
          <p:cNvPr id="6" name="Text 4"/>
          <p:cNvSpPr txBox="1"/>
          <p:nvPr/>
        </p:nvSpPr>
        <p:spPr>
          <a:xfrm>
            <a:off x="548640" y="4407408"/>
            <a:ext cx="80467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34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1: Introduction</dc:title>
  <dc:subject>PptxGenJS Presentation</dc:subject>
  <dc:creator>Yusuf Altunel</dc:creator>
  <cp:lastModifiedBy>Yusuf Altunel</cp:lastModifiedBy>
  <cp:revision>1</cp:revision>
  <dcterms:created xsi:type="dcterms:W3CDTF">2026-10-06T06:50:12Z</dcterms:created>
  <dcterms:modified xsi:type="dcterms:W3CDTF">2026-10-06T06:50:12Z</dcterms:modified>
</cp:coreProperties>
</file>