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per era of 210,000 blocks (BTC)</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era 0</c:v>
                  </c:pt>
                  <c:pt idx="1">
                    <c:v>era 1</c:v>
                  </c:pt>
                  <c:pt idx="2">
                    <c:v>era 2</c:v>
                  </c:pt>
                  <c:pt idx="3">
                    <c:v>era 3</c:v>
                  </c:pt>
                  <c:pt idx="4">
                    <c:v>era 4</c:v>
                  </c:pt>
                  <c:pt idx="5">
                    <c:v>era 5</c:v>
                  </c:pt>
                  <c:pt idx="6">
                    <c:v>era 6</c:v>
                  </c:pt>
                  <c:pt idx="7">
                    <c:v>era 7</c:v>
                  </c:pt>
                  <c:pt idx="8">
                    <c:v>era 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 Network, Wallet, Usage, Foundations,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SOURCE: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(1982 - 2008): Bitcoin was not a first attempt. David Chaum designed blind-signature ecash in the 1980s and his company DigiCash went bankrupt; Adam Back built Hashcash's proof-of-work in 1997 to price email spam; Wei Dai sketched b-money and Nick Szabo bit gold in 1998, both unbuilt for want of a way to agree without a leader. Satoshi's 2008 whitepaper cites them and adds the missing piece - proof-of-work as the voting weight of an open network - turning four decades of near-misses into a running system.
SOURCE: S. Nakamoto, 'Bitcoin: A Peer-to-Peer Electronic Cash System' (2008), references; A. Back, Hashcash (1997); W. Dai, b-money (1998); N. Szabo, bit gold; D. Chaum, 'Blind signatures for untraceable payments' (1982).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(Yap, documented 1903): On the island of Yap, wealth was held in rai - limestone discs up to four metres wide, far too heavy to move. When a stone changed owners, the stone stayed where it lay; what changed was the community's shared memory of who owned it. One famous stone sank to the sea floor in transit, and the islanders kept trading it anyway, because everyone agreed it existed and whose it was.
SOURCE: W. H. Furness III, The Island of Stone Money (1910); Milton Friedman, 'The Island of Stone Money', Hoover Institution Working Paper E-91-3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ASK: How many satoshis buy a coffee at today's price?
FULL TEXT: course page, chapter 1 -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ASK: Why does the sum stop just short of 21 million?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Price section addresses a question that every newcomer asks, namely who sets the price of bitcoin. The chapter's short answer is that the price is set by markets (Antonopoulos and Harding, 2023).
FULL TEXT: course page, chapter 1 -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(22 May 2010): For Bitcoin's first year and a half, nobody knew what a bitcoin was worth, because nobody had ever bought anything with one. Then Laszlo Hanyecz, a Florida programmer, offered 10,000 BTC on a forum to anyone who would bring him two pizzas - and someone did. That order, the first known commercial purchase paid in bitcoin, is why 22 May is still celebrated as Bitcoin Pizza Day: it is the day a floating price began to exist.
SOURCE: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ASK: What breaks first in each picture if one machine lies?
FULL TEXT: course page, chapter 1 - Network,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Which side was the exchange that lost its customers' coins on?
FULL TEXT: course page, chapter 1 - KeyControl, WalletPlatform,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(February 2014): Mt. Gox of Tokyo was once the world's largest bitcoin exchange, handling the large majority of all trades. In February 2014 it halted withdrawals, filed for bankruptcy and admitted that around 850,000 bitcoins held on customers' behalf were gone - the customers had balances on a website, but the keys, and therefore the coins, had been in someone else's hands all along. Creditors were still being repaid more than a decade later.
SOURCE: Mt. Gox bankruptcy filing, Tokyo District Court, 2014-02-28, reporting approximately 850,000 BTC missing (about 750,000 of them customers'); widely reported, e.g.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FULL TEXT: course page, chapter 1 - Backup,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Acquisition section lists the ways in which a newcomer obtains a first bitcoin, which is the practical problem a reader faces as soon as the wallet is installed.
FULL TEXT: course page, chapter 1 - Acquisition, Address,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FULL TEXT: course page, chapter 1 - Computing,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Nature branch answers a question that precedes all the others: what kind of thing is Bitcoin? Chapter 1 gives two complementary answers.
FULL TEXT: course page, chapter 1 - Nature, Characteristic,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FULL TEXT: course page, chapter 1 - Transfer, SemanticBridge.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on this slide is free. The whitepaper is nine pages - read it this week; the textbook is the one this course follows, free under CC BY-SA in the same repository our materials pin.
ASK: Who can find today's newest block on mempool.space before the break ends?
FULL TEXT: course page, chapter 1 - Standards,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github.com/bitcoinbook/bitcoinbook" TargetMode="External"/><Relationship Id="rId3" Type="http://schemas.openxmlformats.org/officeDocument/2006/relationships/hyperlink" Target="https://developer.bitcoin.org" TargetMode="External"/><Relationship Id="rId4" Type="http://schemas.openxmlformats.org/officeDocument/2006/relationships/hyperlink" Target="https://bitcoincore.org" TargetMode="External"/><Relationship Id="rId5" Type="http://schemas.openxmlformats.org/officeDocument/2006/relationships/hyperlink" Target="https://mempool.space" TargetMode="External"/><Relationship Id="rId6" Type="http://schemas.openxmlformats.org/officeDocument/2006/relationships/hyperlink" Target="https://bitcoin.stackexchange.com" TargetMode="External"/><Relationship Id="rId7" Type="http://schemas.openxmlformats.org/officeDocument/2006/relationships/hyperlink" Target="https://bitcointalk.org" TargetMode="External"/><Relationship Id="rId8" Type="http://schemas.openxmlformats.org/officeDocument/2006/relationships/hyperlink" Target="http://www.hashcash.org" TargetMode="External"/><Relationship Id="rId9" Type="http://schemas.openxmlformats.org/officeDocument/2006/relationships/hyperlink" Target="http://www.weidai.com/bmoney.txt" TargetMode="External"/><Relationship Id="rId10" Type="http://schemas.openxmlformats.org/officeDocument/2006/relationships/hyperlink" Target="https://www.youtube.com/watch?v=bBC-nXj3Ng4" TargetMode="External"/><Relationship Id="rId11" Type="http://schemas.openxmlformats.org/officeDocument/2006/relationships/slideLayout" Target="../slideLayouts/slideLayout1.xml"/><Relationship Id="rId1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35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35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35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35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 January 2009</a:t>
            </a:r>
            <a:endParaRPr lang="en-US" sz="1300" dirty="0"/>
          </a:p>
        </p:txBody>
      </p:sp>
      <p:sp>
        <p:nvSpPr>
          <p:cNvPr id="6" name="Shape 4"/>
          <p:cNvSpPr/>
          <p:nvPr/>
        </p:nvSpPr>
        <p:spPr>
          <a:xfrm>
            <a:off x="457200" y="1325880"/>
            <a:ext cx="4846320" cy="310896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35608"/>
            <a:ext cx="4846320" cy="457200"/>
          </a:xfrm>
          <a:prstGeom prst="rect">
            <a:avLst/>
          </a:prstGeom>
          <a:noFill/>
          <a:ln/>
        </p:spPr>
        <p:txBody>
          <a:bodyPr wrap="square" lIns="0" tIns="0" rIns="0" bIns="0" rtlCol="0" anchor="ctr"/>
          <a:lstStyle/>
          <a:p>
            <a:pPr algn="ctr" indent="0" marL="0">
              <a:buNone/>
            </a:pPr>
            <a:r>
              <a:rPr lang="en-US" sz="2200" b="1" dirty="0">
                <a:solidFill>
                  <a:srgbClr val="1A1A1A"/>
                </a:solidFill>
                <a:latin typeface="Times New Roman" pitchFamily="34" charset="0"/>
                <a:ea typeface="Times New Roman" pitchFamily="34" charset="-122"/>
                <a:cs typeface="Times New Roman" pitchFamily="34" charset="-120"/>
              </a:rPr>
              <a:t>The Times</a:t>
            </a:r>
            <a:endParaRPr lang="en-US" sz="2200" dirty="0"/>
          </a:p>
        </p:txBody>
      </p:sp>
      <p:sp>
        <p:nvSpPr>
          <p:cNvPr id="8" name="Shape 6"/>
          <p:cNvSpPr/>
          <p:nvPr/>
        </p:nvSpPr>
        <p:spPr>
          <a:xfrm>
            <a:off x="685800" y="1947672"/>
            <a:ext cx="4389120" cy="0"/>
          </a:xfrm>
          <a:prstGeom prst="line">
            <a:avLst/>
          </a:prstGeom>
          <a:noFill/>
          <a:ln w="12700">
            <a:solidFill>
              <a:srgbClr val="1A1A1A"/>
            </a:solidFill>
            <a:prstDash val="solid"/>
          </a:ln>
        </p:spPr>
      </p:sp>
      <p:sp>
        <p:nvSpPr>
          <p:cNvPr id="9" name="Text 7"/>
          <p:cNvSpPr txBox="1"/>
          <p:nvPr/>
        </p:nvSpPr>
        <p:spPr>
          <a:xfrm>
            <a:off x="457200" y="1984248"/>
            <a:ext cx="484632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Saturday January 3 2009</a:t>
            </a:r>
            <a:endParaRPr lang="en-US" sz="1050" dirty="0"/>
          </a:p>
        </p:txBody>
      </p:sp>
      <p:sp>
        <p:nvSpPr>
          <p:cNvPr id="10" name="Text 8"/>
          <p:cNvSpPr txBox="1"/>
          <p:nvPr/>
        </p:nvSpPr>
        <p:spPr>
          <a:xfrm>
            <a:off x="731520" y="2286000"/>
            <a:ext cx="4297680" cy="777240"/>
          </a:xfrm>
          <a:prstGeom prst="rect">
            <a:avLst/>
          </a:prstGeom>
          <a:noFill/>
          <a:ln/>
        </p:spPr>
        <p:txBody>
          <a:bodyPr wrap="square" lIns="0" tIns="0" rIns="0" bIns="0" rtlCol="0" anchor="ctr"/>
          <a:lstStyle/>
          <a:p>
            <a:pPr algn="ctr" indent="0" marL="0">
              <a:buNone/>
            </a:pPr>
            <a:r>
              <a:rPr lang="en-US" sz="1700" b="1" dirty="0">
                <a:solidFill>
                  <a:srgbClr val="1A1A1A"/>
                </a:solidFill>
                <a:latin typeface="Times New Roman" pitchFamily="34" charset="0"/>
                <a:ea typeface="Times New Roman" pitchFamily="34" charset="-122"/>
                <a:cs typeface="Times New Roman" pitchFamily="34" charset="-120"/>
              </a:rPr>
              <a:t>Chancellor on brink of second bailout for banks</a:t>
            </a:r>
            <a:endParaRPr lang="en-US" sz="1700" dirty="0"/>
          </a:p>
        </p:txBody>
      </p:sp>
      <p:sp>
        <p:nvSpPr>
          <p:cNvPr id="11" name="Shape 9"/>
          <p:cNvSpPr/>
          <p:nvPr/>
        </p:nvSpPr>
        <p:spPr>
          <a:xfrm>
            <a:off x="731520" y="3154680"/>
            <a:ext cx="4297680" cy="0"/>
          </a:xfrm>
          <a:prstGeom prst="line">
            <a:avLst/>
          </a:prstGeom>
          <a:noFill/>
          <a:ln w="27940">
            <a:solidFill>
              <a:srgbClr val="C9C2B4"/>
            </a:solidFill>
            <a:prstDash val="solid"/>
          </a:ln>
        </p:spPr>
      </p:sp>
      <p:sp>
        <p:nvSpPr>
          <p:cNvPr id="12" name="Shape 10"/>
          <p:cNvSpPr/>
          <p:nvPr/>
        </p:nvSpPr>
        <p:spPr>
          <a:xfrm>
            <a:off x="731520" y="3310128"/>
            <a:ext cx="4297680" cy="0"/>
          </a:xfrm>
          <a:prstGeom prst="line">
            <a:avLst/>
          </a:prstGeom>
          <a:noFill/>
          <a:ln w="27940">
            <a:solidFill>
              <a:srgbClr val="C9C2B4"/>
            </a:solidFill>
            <a:prstDash val="solid"/>
          </a:ln>
        </p:spPr>
      </p:sp>
      <p:sp>
        <p:nvSpPr>
          <p:cNvPr id="13" name="Shape 11"/>
          <p:cNvSpPr/>
          <p:nvPr/>
        </p:nvSpPr>
        <p:spPr>
          <a:xfrm>
            <a:off x="731520" y="3465576"/>
            <a:ext cx="4297680" cy="0"/>
          </a:xfrm>
          <a:prstGeom prst="line">
            <a:avLst/>
          </a:prstGeom>
          <a:noFill/>
          <a:ln w="27940">
            <a:solidFill>
              <a:srgbClr val="C9C2B4"/>
            </a:solidFill>
            <a:prstDash val="solid"/>
          </a:ln>
        </p:spPr>
      </p:sp>
      <p:sp>
        <p:nvSpPr>
          <p:cNvPr id="14" name="Shape 12"/>
          <p:cNvSpPr/>
          <p:nvPr/>
        </p:nvSpPr>
        <p:spPr>
          <a:xfrm>
            <a:off x="731520" y="3621024"/>
            <a:ext cx="4297680" cy="0"/>
          </a:xfrm>
          <a:prstGeom prst="line">
            <a:avLst/>
          </a:prstGeom>
          <a:noFill/>
          <a:ln w="27940">
            <a:solidFill>
              <a:srgbClr val="C9C2B4"/>
            </a:solidFill>
            <a:prstDash val="solid"/>
          </a:ln>
        </p:spPr>
      </p:sp>
      <p:sp>
        <p:nvSpPr>
          <p:cNvPr id="15" name="Shape 13"/>
          <p:cNvSpPr/>
          <p:nvPr/>
        </p:nvSpPr>
        <p:spPr>
          <a:xfrm>
            <a:off x="1737360" y="4014216"/>
            <a:ext cx="2286000" cy="329184"/>
          </a:xfrm>
          <a:prstGeom prst="roundRect">
            <a:avLst>
              <a:gd name="adj" fmla="val 50000"/>
            </a:avLst>
          </a:prstGeom>
          <a:solidFill>
            <a:srgbClr val="D97A14"/>
          </a:solidFill>
          <a:ln w="12700">
            <a:solidFill>
              <a:srgbClr val="D97A14"/>
            </a:solidFill>
            <a:prstDash val="solid"/>
          </a:ln>
        </p:spPr>
      </p:sp>
      <p:sp>
        <p:nvSpPr>
          <p:cNvPr id="16" name="Text 14"/>
          <p:cNvSpPr txBox="1"/>
          <p:nvPr/>
        </p:nvSpPr>
        <p:spPr>
          <a:xfrm>
            <a:off x="1737360" y="4014216"/>
            <a:ext cx="22860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embedded in block 0</a:t>
            </a:r>
            <a:endParaRPr lang="en-US" sz="1100" dirty="0"/>
          </a:p>
        </p:txBody>
      </p:sp>
      <p:sp>
        <p:nvSpPr>
          <p:cNvPr id="17" name="Shape 15"/>
          <p:cNvSpPr/>
          <p:nvPr/>
        </p:nvSpPr>
        <p:spPr>
          <a:xfrm>
            <a:off x="5577840" y="17647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5852160" y="1463040"/>
            <a:ext cx="2834640" cy="7315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Proves block 0 came after that morning</a:t>
            </a:r>
            <a:endParaRPr lang="en-US" sz="1300" dirty="0"/>
          </a:p>
        </p:txBody>
      </p:sp>
      <p:sp>
        <p:nvSpPr>
          <p:cNvPr id="19" name="Shape 17"/>
          <p:cNvSpPr/>
          <p:nvPr/>
        </p:nvSpPr>
        <p:spPr>
          <a:xfrm>
            <a:off x="5577840" y="249631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5852160" y="2194560"/>
            <a:ext cx="2834640" cy="7315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Records why: a banking crisis</a:t>
            </a:r>
            <a:endParaRPr lang="en-US" sz="1300" dirty="0"/>
          </a:p>
        </p:txBody>
      </p:sp>
      <p:sp>
        <p:nvSpPr>
          <p:cNvPr id="21" name="Shape 19"/>
          <p:cNvSpPr/>
          <p:nvPr/>
        </p:nvSpPr>
        <p:spPr>
          <a:xfrm>
            <a:off x="5577840" y="3227832"/>
            <a:ext cx="128016" cy="128016"/>
          </a:xfrm>
          <a:prstGeom prst="diamond">
            <a:avLst/>
          </a:prstGeom>
          <a:solidFill>
            <a:srgbClr val="D97A14"/>
          </a:solidFill>
          <a:ln w="12700">
            <a:solidFill>
              <a:srgbClr val="D97A14"/>
            </a:solidFill>
            <a:prstDash val="solid"/>
          </a:ln>
        </p:spPr>
      </p:sp>
      <p:sp>
        <p:nvSpPr>
          <p:cNvPr id="22" name="Text 20"/>
          <p:cNvSpPr txBox="1"/>
          <p:nvPr/>
        </p:nvSpPr>
        <p:spPr>
          <a:xfrm>
            <a:off x="5852160" y="2926080"/>
            <a:ext cx="2834640" cy="7315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 timestamp and a manifesto at once</a:t>
            </a:r>
            <a:endParaRPr lang="en-US" sz="1300" dirty="0"/>
          </a:p>
        </p:txBody>
      </p:sp>
      <p:sp>
        <p:nvSpPr>
          <p:cNvPr id="23" name="Shape 21"/>
          <p:cNvSpPr/>
          <p:nvPr/>
        </p:nvSpPr>
        <p:spPr>
          <a:xfrm>
            <a:off x="5577840" y="3794760"/>
            <a:ext cx="3017520" cy="402336"/>
          </a:xfrm>
          <a:prstGeom prst="roundRect">
            <a:avLst>
              <a:gd name="adj" fmla="val 50000"/>
            </a:avLst>
          </a:prstGeom>
          <a:solidFill>
            <a:srgbClr val="2F6D62"/>
          </a:solidFill>
          <a:ln w="12700">
            <a:solidFill>
              <a:srgbClr val="2F6D62"/>
            </a:solidFill>
            <a:prstDash val="solid"/>
          </a:ln>
        </p:spPr>
      </p:sp>
      <p:sp>
        <p:nvSpPr>
          <p:cNvPr id="24" name="Text 22"/>
          <p:cNvSpPr txBox="1"/>
          <p:nvPr/>
        </p:nvSpPr>
        <p:spPr>
          <a:xfrm>
            <a:off x="5577840" y="3794760"/>
            <a:ext cx="30175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January 2009</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35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3108960"/>
          </a:xfrm>
          <a:prstGeom prst="rect">
            <a:avLst/>
          </a:prstGeom>
        </p:spPr>
      </p:pic>
      <p:sp>
        <p:nvSpPr>
          <p:cNvPr id="7" name="Text 4"/>
          <p:cNvSpPr txBox="1"/>
          <p:nvPr/>
        </p:nvSpPr>
        <p:spPr>
          <a:xfrm>
            <a:off x="457200" y="44531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anonymity, from the owner's 2025 deck</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2743200" cy="402336"/>
          </a:xfrm>
          <a:prstGeom prst="roundRect">
            <a:avLst>
              <a:gd name="adj" fmla="val 50000"/>
            </a:avLst>
          </a:prstGeom>
          <a:solidFill>
            <a:srgbClr val="2F6D62"/>
          </a:solidFill>
          <a:ln w="12700">
            <a:solidFill>
              <a:srgbClr val="2F6D62"/>
            </a:solidFill>
            <a:prstDash val="solid"/>
          </a:ln>
        </p:spPr>
      </p:sp>
      <p:sp>
        <p:nvSpPr>
          <p:cNvPr id="15" name="Text 12"/>
          <p:cNvSpPr txBox="1"/>
          <p:nvPr/>
        </p:nvSpPr>
        <p:spPr>
          <a:xfrm>
            <a:off x="3383280" y="3703320"/>
            <a:ext cx="27432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January 2009</a:t>
            </a:r>
            <a:endParaRPr lang="en-US" sz="13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35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68096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223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611880"/>
            <a:ext cx="8229600" cy="868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DigiCash went bankrupt; b-money and bit gold were never built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missing piece: agreement without a leader</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35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pPr algn="ctr" indent="0" marL="0">
              <a:buNone/>
            </a:pP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35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71600"/>
            <a:ext cx="2834640" cy="2834640"/>
          </a:xfrm>
          <a:prstGeom prst="rect">
            <a:avLst/>
          </a:prstGeom>
        </p:spPr>
      </p:pic>
      <p:sp>
        <p:nvSpPr>
          <p:cNvPr id="7" name="Text 4"/>
          <p:cNvSpPr txBox="1"/>
          <p:nvPr/>
        </p:nvSpPr>
        <p:spPr>
          <a:xfrm>
            <a:off x="4572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rai stone on Yap - photo: Eric Guinther, CC BY-SA 3.0, Wikimedia Commons</a:t>
            </a:r>
            <a:endParaRPr lang="en-US" sz="900" dirty="0"/>
          </a:p>
        </p:txBody>
      </p:sp>
      <p:sp>
        <p:nvSpPr>
          <p:cNvPr id="8" name="Shape 5"/>
          <p:cNvSpPr/>
          <p:nvPr/>
        </p:nvSpPr>
        <p:spPr>
          <a:xfrm>
            <a:off x="3611880" y="15742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3716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300" dirty="0"/>
          </a:p>
        </p:txBody>
      </p:sp>
      <p:sp>
        <p:nvSpPr>
          <p:cNvPr id="10" name="Shape 7"/>
          <p:cNvSpPr/>
          <p:nvPr/>
        </p:nvSpPr>
        <p:spPr>
          <a:xfrm>
            <a:off x="3611880" y="21076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9050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300" dirty="0"/>
          </a:p>
        </p:txBody>
      </p:sp>
      <p:sp>
        <p:nvSpPr>
          <p:cNvPr id="12" name="Shape 9"/>
          <p:cNvSpPr/>
          <p:nvPr/>
        </p:nvSpPr>
        <p:spPr>
          <a:xfrm>
            <a:off x="3611880" y="26410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24384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stone sank at sea - and kept changing owners anyway</a:t>
            </a:r>
            <a:endParaRPr lang="en-US" sz="1300" dirty="0"/>
          </a:p>
        </p:txBody>
      </p:sp>
      <p:sp>
        <p:nvSpPr>
          <p:cNvPr id="14" name="Shape 11"/>
          <p:cNvSpPr/>
          <p:nvPr/>
        </p:nvSpPr>
        <p:spPr>
          <a:xfrm>
            <a:off x="4005072" y="3154680"/>
            <a:ext cx="950976" cy="950976"/>
          </a:xfrm>
          <a:prstGeom prst="ellipse">
            <a:avLst/>
          </a:prstGeom>
          <a:solidFill>
            <a:srgbClr val="D8D0C2"/>
          </a:solidFill>
          <a:ln w="25400">
            <a:solidFill>
              <a:srgbClr val="9A9183"/>
            </a:solidFill>
            <a:prstDash val="solid"/>
          </a:ln>
        </p:spPr>
      </p:sp>
      <p:sp>
        <p:nvSpPr>
          <p:cNvPr id="15" name="Shape 12"/>
          <p:cNvSpPr/>
          <p:nvPr/>
        </p:nvSpPr>
        <p:spPr>
          <a:xfrm>
            <a:off x="4352544" y="3520440"/>
            <a:ext cx="256032" cy="256032"/>
          </a:xfrm>
          <a:prstGeom prst="ellipse">
            <a:avLst/>
          </a:prstGeom>
          <a:solidFill>
            <a:srgbClr val="FAF6EF"/>
          </a:solidFill>
          <a:ln w="19050">
            <a:solidFill>
              <a:srgbClr val="9A9183"/>
            </a:solidFill>
            <a:prstDash val="solid"/>
          </a:ln>
        </p:spPr>
      </p:sp>
      <p:sp>
        <p:nvSpPr>
          <p:cNvPr id="16" name="Text 13"/>
          <p:cNvSpPr txBox="1"/>
          <p:nvPr/>
        </p:nvSpPr>
        <p:spPr>
          <a:xfrm>
            <a:off x="3703320" y="41879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3630168"/>
            <a:ext cx="548640" cy="0"/>
          </a:xfrm>
          <a:prstGeom prst="line">
            <a:avLst/>
          </a:prstGeom>
          <a:noFill/>
          <a:ln w="25400">
            <a:solidFill>
              <a:srgbClr val="D97A14"/>
            </a:solidFill>
            <a:prstDash val="solid"/>
            <a:tailEnd type="triangle"/>
          </a:ln>
        </p:spPr>
      </p:sp>
      <p:sp>
        <p:nvSpPr>
          <p:cNvPr id="18" name="Shape 15"/>
          <p:cNvSpPr/>
          <p:nvPr/>
        </p:nvSpPr>
        <p:spPr>
          <a:xfrm>
            <a:off x="5650992" y="3154680"/>
            <a:ext cx="950976" cy="950976"/>
          </a:xfrm>
          <a:prstGeom prst="ellipse">
            <a:avLst/>
          </a:prstGeom>
          <a:solidFill>
            <a:srgbClr val="D8D0C2"/>
          </a:solidFill>
          <a:ln w="25400">
            <a:solidFill>
              <a:srgbClr val="9A9183"/>
            </a:solidFill>
            <a:prstDash val="solid"/>
          </a:ln>
        </p:spPr>
      </p:sp>
      <p:sp>
        <p:nvSpPr>
          <p:cNvPr id="19" name="Shape 16"/>
          <p:cNvSpPr/>
          <p:nvPr/>
        </p:nvSpPr>
        <p:spPr>
          <a:xfrm>
            <a:off x="5998464" y="3520440"/>
            <a:ext cx="256032" cy="256032"/>
          </a:xfrm>
          <a:prstGeom prst="ellipse">
            <a:avLst/>
          </a:prstGeom>
          <a:solidFill>
            <a:srgbClr val="FAF6EF"/>
          </a:solidFill>
          <a:ln w="19050">
            <a:solidFill>
              <a:srgbClr val="9A9183"/>
            </a:solidFill>
            <a:prstDash val="solid"/>
          </a:ln>
        </p:spPr>
      </p:sp>
      <p:sp>
        <p:nvSpPr>
          <p:cNvPr id="20" name="Text 17"/>
          <p:cNvSpPr txBox="1"/>
          <p:nvPr/>
        </p:nvSpPr>
        <p:spPr>
          <a:xfrm>
            <a:off x="5349240" y="41879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3630168"/>
            <a:ext cx="548640" cy="0"/>
          </a:xfrm>
          <a:prstGeom prst="line">
            <a:avLst/>
          </a:prstGeom>
          <a:noFill/>
          <a:ln w="25400">
            <a:solidFill>
              <a:srgbClr val="D97A14"/>
            </a:solidFill>
            <a:prstDash val="solid"/>
            <a:tailEnd type="triangle"/>
          </a:ln>
        </p:spPr>
      </p:sp>
      <p:sp>
        <p:nvSpPr>
          <p:cNvPr id="22" name="Shape 19"/>
          <p:cNvSpPr/>
          <p:nvPr/>
        </p:nvSpPr>
        <p:spPr>
          <a:xfrm>
            <a:off x="7296912" y="3154680"/>
            <a:ext cx="950976" cy="950976"/>
          </a:xfrm>
          <a:prstGeom prst="ellipse">
            <a:avLst/>
          </a:prstGeom>
          <a:solidFill>
            <a:srgbClr val="D8D0C2"/>
          </a:solidFill>
          <a:ln w="25400">
            <a:solidFill>
              <a:srgbClr val="9A9183"/>
            </a:solidFill>
            <a:prstDash val="solid"/>
          </a:ln>
        </p:spPr>
      </p:sp>
      <p:sp>
        <p:nvSpPr>
          <p:cNvPr id="23" name="Shape 20"/>
          <p:cNvSpPr/>
          <p:nvPr/>
        </p:nvSpPr>
        <p:spPr>
          <a:xfrm>
            <a:off x="7644384" y="3520440"/>
            <a:ext cx="256032" cy="256032"/>
          </a:xfrm>
          <a:prstGeom prst="ellipse">
            <a:avLst/>
          </a:prstGeom>
          <a:solidFill>
            <a:srgbClr val="FAF6EF"/>
          </a:solidFill>
          <a:ln w="19050">
            <a:solidFill>
              <a:srgbClr val="9A9183"/>
            </a:solidFill>
            <a:prstDash val="solid"/>
          </a:ln>
        </p:spPr>
      </p:sp>
      <p:sp>
        <p:nvSpPr>
          <p:cNvPr id="24" name="Text 21"/>
          <p:cNvSpPr txBox="1"/>
          <p:nvPr/>
        </p:nvSpPr>
        <p:spPr>
          <a:xfrm>
            <a:off x="6995160" y="41879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4498848"/>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35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int(decimal.Decimal('0.001')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35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8" name="Text 5"/>
          <p:cNvSpPr txBox="1"/>
          <p:nvPr/>
        </p:nvSpPr>
        <p:spPr>
          <a:xfrm>
            <a:off x="5870448" y="1362456"/>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9" name="Text 6"/>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0" name="Shape 7"/>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1" name="Text 8"/>
          <p:cNvSpPr txBox="1"/>
          <p:nvPr/>
        </p:nvSpPr>
        <p:spPr>
          <a:xfrm>
            <a:off x="5870448" y="2487168"/>
            <a:ext cx="2706624" cy="518282"/>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2" name="Text 9"/>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3" name="Shape 10"/>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4" name="Text 11"/>
          <p:cNvSpPr txBox="1"/>
          <p:nvPr/>
        </p:nvSpPr>
        <p:spPr>
          <a:xfrm>
            <a:off x="5870448" y="3611880"/>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5" name="Text 12"/>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35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Text 4"/>
          <p:cNvSpPr txBox="1"/>
          <p:nvPr/>
        </p:nvSpPr>
        <p:spPr>
          <a:xfrm>
            <a:off x="457200" y="1371600"/>
            <a:ext cx="320040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Sum every era and the cap appears</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 halving is one shift right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Any height tells you its subsidy</a:t>
            </a:r>
            <a:endParaRPr lang="en-US" sz="1450" dirty="0"/>
          </a:p>
        </p:txBody>
      </p:sp>
      <p:sp>
        <p:nvSpPr>
          <p:cNvPr id="7" name="Text 5"/>
          <p:cNvSpPr txBox="1"/>
          <p:nvPr/>
        </p:nvSpPr>
        <p:spPr>
          <a:xfrm>
            <a:off x="3840480" y="102412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cap, summed over 33 eras</a:t>
            </a:r>
            <a:endParaRPr lang="en-US" sz="1150" dirty="0"/>
          </a:p>
        </p:txBody>
      </p:sp>
      <p:sp>
        <p:nvSpPr>
          <p:cNvPr id="8" name="Shape 6"/>
          <p:cNvSpPr/>
          <p:nvPr/>
        </p:nvSpPr>
        <p:spPr>
          <a:xfrm>
            <a:off x="3840480" y="1298448"/>
            <a:ext cx="4846320" cy="914400"/>
          </a:xfrm>
          <a:prstGeom prst="roundRect">
            <a:avLst>
              <a:gd name="adj" fmla="val 10000"/>
            </a:avLst>
          </a:prstGeom>
          <a:solidFill>
            <a:srgbClr val="23272E"/>
          </a:solidFill>
          <a:ln w="12700">
            <a:solidFill>
              <a:srgbClr val="23272E"/>
            </a:solidFill>
            <a:prstDash val="solid"/>
          </a:ln>
        </p:spPr>
      </p:sp>
      <p:sp>
        <p:nvSpPr>
          <p:cNvPr id="9" name="Text 7"/>
          <p:cNvSpPr txBox="1"/>
          <p:nvPr/>
        </p:nvSpPr>
        <p:spPr>
          <a:xfrm>
            <a:off x="4023360" y="141732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0" name="Text 8"/>
          <p:cNvSpPr txBox="1"/>
          <p:nvPr/>
        </p:nvSpPr>
        <p:spPr>
          <a:xfrm>
            <a:off x="3840480" y="223113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1" name="Text 9"/>
          <p:cNvSpPr txBox="1"/>
          <p:nvPr/>
        </p:nvSpPr>
        <p:spPr>
          <a:xfrm>
            <a:off x="3840480" y="212140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halving = divide by two</a:t>
            </a:r>
            <a:endParaRPr lang="en-US" sz="1150" dirty="0"/>
          </a:p>
        </p:txBody>
      </p:sp>
      <p:sp>
        <p:nvSpPr>
          <p:cNvPr id="12" name="Shape 10"/>
          <p:cNvSpPr/>
          <p:nvPr/>
        </p:nvSpPr>
        <p:spPr>
          <a:xfrm>
            <a:off x="3840480" y="2395728"/>
            <a:ext cx="4846320" cy="914400"/>
          </a:xfrm>
          <a:prstGeom prst="roundRect">
            <a:avLst>
              <a:gd name="adj" fmla="val 10000"/>
            </a:avLst>
          </a:prstGeom>
          <a:solidFill>
            <a:srgbClr val="23272E"/>
          </a:solidFill>
          <a:ln w="12700">
            <a:solidFill>
              <a:srgbClr val="23272E"/>
            </a:solidFill>
            <a:prstDash val="solid"/>
          </a:ln>
        </p:spPr>
      </p:sp>
      <p:sp>
        <p:nvSpPr>
          <p:cNvPr id="13" name="Text 11"/>
          <p:cNvSpPr txBox="1"/>
          <p:nvPr/>
        </p:nvSpPr>
        <p:spPr>
          <a:xfrm>
            <a:off x="4023360" y="251460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14" name="Text 12"/>
          <p:cNvSpPr txBox="1"/>
          <p:nvPr/>
        </p:nvSpPr>
        <p:spPr>
          <a:xfrm>
            <a:off x="3840480" y="332841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5" name="Text 13"/>
          <p:cNvSpPr txBox="1"/>
          <p:nvPr/>
        </p:nvSpPr>
        <p:spPr>
          <a:xfrm>
            <a:off x="3840480" y="321868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subsidy at any block height</a:t>
            </a:r>
            <a:endParaRPr lang="en-US" sz="1150" dirty="0"/>
          </a:p>
        </p:txBody>
      </p:sp>
      <p:sp>
        <p:nvSpPr>
          <p:cNvPr id="16" name="Shape 14"/>
          <p:cNvSpPr/>
          <p:nvPr/>
        </p:nvSpPr>
        <p:spPr>
          <a:xfrm>
            <a:off x="3840480" y="3493008"/>
            <a:ext cx="4846320" cy="914400"/>
          </a:xfrm>
          <a:prstGeom prst="roundRect">
            <a:avLst>
              <a:gd name="adj" fmla="val 10000"/>
            </a:avLst>
          </a:prstGeom>
          <a:solidFill>
            <a:srgbClr val="23272E"/>
          </a:solidFill>
          <a:ln w="12700">
            <a:solidFill>
              <a:srgbClr val="23272E"/>
            </a:solidFill>
            <a:prstDash val="solid"/>
          </a:ln>
        </p:spPr>
      </p:sp>
      <p:sp>
        <p:nvSpPr>
          <p:cNvPr id="17" name="Text 15"/>
          <p:cNvSpPr txBox="1"/>
          <p:nvPr/>
        </p:nvSpPr>
        <p:spPr>
          <a:xfrm>
            <a:off x="4023360" y="361188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[50.0, 25.0, 12.5, 6.25, 3.125]</a:t>
            </a:r>
            <a:endParaRPr lang="en-US" sz="1100" dirty="0"/>
          </a:p>
        </p:txBody>
      </p:sp>
      <p:sp>
        <p:nvSpPr>
          <p:cNvPr id="18" name="Text 16"/>
          <p:cNvSpPr txBox="1"/>
          <p:nvPr/>
        </p:nvSpPr>
        <p:spPr>
          <a:xfrm>
            <a:off x="3840480" y="442569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35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Text 4"/>
          <p:cNvSpPr txBox="1"/>
          <p:nvPr/>
        </p:nvSpPr>
        <p:spPr>
          <a:xfrm>
            <a:off x="457200" y="1371600"/>
            <a:ext cx="4023360" cy="31089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Bitcoin floats against every other currency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Markets discover the price trade by trade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volume-weighted average summarises a day</a:t>
            </a:r>
            <a:endParaRPr lang="en-US" sz="1500" dirty="0"/>
          </a:p>
        </p:txBody>
      </p:sp>
      <p:sp>
        <p:nvSpPr>
          <p:cNvPr id="7" name="Text 5"/>
          <p:cNvSpPr txBox="1"/>
          <p:nvPr/>
        </p:nvSpPr>
        <p:spPr>
          <a:xfrm>
            <a:off x="4663440" y="10972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price is a ratio of two quotes</a:t>
            </a:r>
            <a:endParaRPr lang="en-US" sz="1150" dirty="0"/>
          </a:p>
        </p:txBody>
      </p:sp>
      <p:sp>
        <p:nvSpPr>
          <p:cNvPr id="8" name="Shape 6"/>
          <p:cNvSpPr/>
          <p:nvPr/>
        </p:nvSpPr>
        <p:spPr>
          <a:xfrm>
            <a:off x="4663440" y="1371600"/>
            <a:ext cx="4023360" cy="1188720"/>
          </a:xfrm>
          <a:prstGeom prst="roundRect">
            <a:avLst>
              <a:gd name="adj" fmla="val 7692"/>
            </a:avLst>
          </a:prstGeom>
          <a:solidFill>
            <a:srgbClr val="23272E"/>
          </a:solidFill>
          <a:ln w="12700">
            <a:solidFill>
              <a:srgbClr val="23272E"/>
            </a:solidFill>
            <a:prstDash val="solid"/>
          </a:ln>
        </p:spPr>
      </p:sp>
      <p:sp>
        <p:nvSpPr>
          <p:cNvPr id="9" name="Text 7"/>
          <p:cNvSpPr txBox="1"/>
          <p:nvPr/>
        </p:nvSpPr>
        <p:spPr>
          <a:xfrm>
            <a:off x="4846320" y="1490472"/>
            <a:ext cx="3657600" cy="9509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round(0.001 * 60000, 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60.0</a:t>
            </a:r>
            <a:endParaRPr lang="en-US" sz="1100" dirty="0"/>
          </a:p>
        </p:txBody>
      </p:sp>
      <p:sp>
        <p:nvSpPr>
          <p:cNvPr id="10" name="Text 8"/>
          <p:cNvSpPr txBox="1"/>
          <p:nvPr/>
        </p:nvSpPr>
        <p:spPr>
          <a:xfrm>
            <a:off x="4663440" y="257860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1" name="Text 9"/>
          <p:cNvSpPr txBox="1"/>
          <p:nvPr/>
        </p:nvSpPr>
        <p:spPr>
          <a:xfrm>
            <a:off x="4663440" y="25603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day summarised fairly, by volume</a:t>
            </a:r>
            <a:endParaRPr lang="en-US" sz="1150" dirty="0"/>
          </a:p>
        </p:txBody>
      </p:sp>
      <p:sp>
        <p:nvSpPr>
          <p:cNvPr id="12" name="Shape 10"/>
          <p:cNvSpPr/>
          <p:nvPr/>
        </p:nvSpPr>
        <p:spPr>
          <a:xfrm>
            <a:off x="4663440" y="2834640"/>
            <a:ext cx="4023360" cy="1188720"/>
          </a:xfrm>
          <a:prstGeom prst="roundRect">
            <a:avLst>
              <a:gd name="adj" fmla="val 7692"/>
            </a:avLst>
          </a:prstGeom>
          <a:solidFill>
            <a:srgbClr val="23272E"/>
          </a:solidFill>
          <a:ln w="12700">
            <a:solidFill>
              <a:srgbClr val="23272E"/>
            </a:solidFill>
            <a:prstDash val="solid"/>
          </a:ln>
        </p:spPr>
      </p:sp>
      <p:sp>
        <p:nvSpPr>
          <p:cNvPr id="13" name="Text 11"/>
          <p:cNvSpPr txBox="1"/>
          <p:nvPr/>
        </p:nvSpPr>
        <p:spPr>
          <a:xfrm>
            <a:off x="4846320" y="2953512"/>
            <a:ext cx="3657600" cy="9509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101.0</a:t>
            </a:r>
            <a:endParaRPr lang="en-US" sz="1100" dirty="0"/>
          </a:p>
        </p:txBody>
      </p:sp>
      <p:sp>
        <p:nvSpPr>
          <p:cNvPr id="14" name="Text 12"/>
          <p:cNvSpPr txBox="1"/>
          <p:nvPr/>
        </p:nvSpPr>
        <p:spPr>
          <a:xfrm>
            <a:off x="4663440" y="404164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35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417320"/>
            <a:ext cx="2743200" cy="1463040"/>
          </a:xfrm>
          <a:prstGeom prst="roundRect">
            <a:avLst>
              <a:gd name="adj" fmla="val 5000"/>
            </a:avLst>
          </a:prstGeom>
          <a:solidFill>
            <a:srgbClr val="F2ECE1"/>
          </a:solidFill>
          <a:ln w="12700">
            <a:solidFill>
              <a:srgbClr val="DFD6C7"/>
            </a:solidFill>
            <a:prstDash val="solid"/>
          </a:ln>
        </p:spPr>
      </p:sp>
      <p:sp>
        <p:nvSpPr>
          <p:cNvPr id="7" name="Text 5"/>
          <p:cNvSpPr txBox="1"/>
          <p:nvPr/>
        </p:nvSpPr>
        <p:spPr>
          <a:xfrm>
            <a:off x="566928" y="1490472"/>
            <a:ext cx="2523744" cy="73152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8" name="Text 6"/>
          <p:cNvSpPr txBox="1"/>
          <p:nvPr/>
        </p:nvSpPr>
        <p:spPr>
          <a:xfrm>
            <a:off x="566928" y="2178101"/>
            <a:ext cx="25237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pic>
        <p:nvPicPr>
          <p:cNvPr id="9" name="Image 0" descr="../../03-materials/ch01/assets/photo_pizza_margherita.jpg">    </p:cNvPr>
          <p:cNvPicPr>
            <a:picLocks noChangeAspect="1"/>
          </p:cNvPicPr>
          <p:nvPr/>
        </p:nvPicPr>
        <p:blipFill>
          <a:blip r:embed="rId1"/>
          <a:srcRect l="0" r="0" t="0" b="0"/>
          <a:stretch/>
        </p:blipFill>
        <p:spPr>
          <a:xfrm>
            <a:off x="502920" y="3017520"/>
            <a:ext cx="2697480" cy="1417320"/>
          </a:xfrm>
          <a:prstGeom prst="rect">
            <a:avLst/>
          </a:prstGeom>
        </p:spPr>
      </p:pic>
      <p:sp>
        <p:nvSpPr>
          <p:cNvPr id="10" name="Text 7"/>
          <p:cNvSpPr txBox="1"/>
          <p:nvPr/>
        </p:nvSpPr>
        <p:spPr>
          <a:xfrm>
            <a:off x="502920" y="445312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photo: Valerio Capello, CC BY-SA 3.0, Wikimedia Commons</a:t>
            </a:r>
            <a:endParaRPr lang="en-US" sz="90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3611880" y="3977640"/>
            <a:ext cx="2743200" cy="402336"/>
          </a:xfrm>
          <a:prstGeom prst="roundRect">
            <a:avLst>
              <a:gd name="adj" fmla="val 50000"/>
            </a:avLst>
          </a:prstGeom>
          <a:solidFill>
            <a:srgbClr val="2F6D62"/>
          </a:solidFill>
          <a:ln w="12700">
            <a:solidFill>
              <a:srgbClr val="2F6D62"/>
            </a:solidFill>
            <a:prstDash val="solid"/>
          </a:ln>
        </p:spPr>
      </p:sp>
      <p:sp>
        <p:nvSpPr>
          <p:cNvPr id="20" name="Text 17"/>
          <p:cNvSpPr txBox="1"/>
          <p:nvPr/>
        </p:nvSpPr>
        <p:spPr>
          <a:xfrm>
            <a:off x="3611880" y="3977640"/>
            <a:ext cx="27432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22 May 2010</a:t>
            </a:r>
            <a:endParaRPr lang="en-US" sz="130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35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pPr algn="ctr" indent="0" marL="0">
              <a:buNone/>
            </a:pP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35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54504A"/>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BBB1A2"/>
            </a:solidFill>
            <a:prstDash val="solid"/>
          </a:ln>
        </p:spPr>
      </p:sp>
      <p:sp>
        <p:nvSpPr>
          <p:cNvPr id="9" name="Shape 7"/>
          <p:cNvSpPr/>
          <p:nvPr/>
        </p:nvSpPr>
        <p:spPr>
          <a:xfrm>
            <a:off x="2231136" y="1906524"/>
            <a:ext cx="384048" cy="384048"/>
          </a:xfrm>
          <a:prstGeom prst="ellipse">
            <a:avLst/>
          </a:prstGeom>
          <a:solidFill>
            <a:srgbClr val="54504A"/>
          </a:solidFill>
          <a:ln w="9525">
            <a:solidFill>
              <a:srgbClr val="54504A"/>
            </a:solidFill>
            <a:prstDash val="solid"/>
          </a:ln>
        </p:spPr>
      </p:sp>
      <p:sp>
        <p:nvSpPr>
          <p:cNvPr id="10" name="Shape 8"/>
          <p:cNvSpPr/>
          <p:nvPr/>
        </p:nvSpPr>
        <p:spPr>
          <a:xfrm flipV="1">
            <a:off x="2423160" y="2546604"/>
            <a:ext cx="776056" cy="448056"/>
          </a:xfrm>
          <a:prstGeom prst="line">
            <a:avLst/>
          </a:prstGeom>
          <a:noFill/>
          <a:ln w="13970">
            <a:solidFill>
              <a:srgbClr val="BBB1A2"/>
            </a:solidFill>
            <a:prstDash val="solid"/>
          </a:ln>
        </p:spPr>
      </p:sp>
      <p:sp>
        <p:nvSpPr>
          <p:cNvPr id="11" name="Shape 9"/>
          <p:cNvSpPr/>
          <p:nvPr/>
        </p:nvSpPr>
        <p:spPr>
          <a:xfrm>
            <a:off x="3007192" y="2354580"/>
            <a:ext cx="384048" cy="384048"/>
          </a:xfrm>
          <a:prstGeom prst="ellipse">
            <a:avLst/>
          </a:prstGeom>
          <a:solidFill>
            <a:srgbClr val="54504A"/>
          </a:solidFill>
          <a:ln w="9525">
            <a:solidFill>
              <a:srgbClr val="54504A"/>
            </a:solidFill>
            <a:prstDash val="solid"/>
          </a:ln>
        </p:spPr>
      </p:sp>
      <p:sp>
        <p:nvSpPr>
          <p:cNvPr id="12" name="Shape 10"/>
          <p:cNvSpPr/>
          <p:nvPr/>
        </p:nvSpPr>
        <p:spPr>
          <a:xfrm>
            <a:off x="2423160" y="2994660"/>
            <a:ext cx="776056" cy="448056"/>
          </a:xfrm>
          <a:prstGeom prst="line">
            <a:avLst/>
          </a:prstGeom>
          <a:noFill/>
          <a:ln w="13970">
            <a:solidFill>
              <a:srgbClr val="BBB1A2"/>
            </a:solidFill>
            <a:prstDash val="solid"/>
          </a:ln>
        </p:spPr>
      </p:sp>
      <p:sp>
        <p:nvSpPr>
          <p:cNvPr id="13" name="Shape 11"/>
          <p:cNvSpPr/>
          <p:nvPr/>
        </p:nvSpPr>
        <p:spPr>
          <a:xfrm>
            <a:off x="3007192" y="3250692"/>
            <a:ext cx="384048" cy="384048"/>
          </a:xfrm>
          <a:prstGeom prst="ellipse">
            <a:avLst/>
          </a:prstGeom>
          <a:solidFill>
            <a:srgbClr val="54504A"/>
          </a:solidFill>
          <a:ln w="9525">
            <a:solidFill>
              <a:srgbClr val="54504A"/>
            </a:solidFill>
            <a:prstDash val="solid"/>
          </a:ln>
        </p:spPr>
      </p:sp>
      <p:sp>
        <p:nvSpPr>
          <p:cNvPr id="14" name="Shape 12"/>
          <p:cNvSpPr/>
          <p:nvPr/>
        </p:nvSpPr>
        <p:spPr>
          <a:xfrm flipV="1">
            <a:off x="2423160" y="2994660"/>
            <a:ext cx="0" cy="896112"/>
          </a:xfrm>
          <a:prstGeom prst="line">
            <a:avLst/>
          </a:prstGeom>
          <a:noFill/>
          <a:ln w="13970">
            <a:solidFill>
              <a:srgbClr val="BBB1A2"/>
            </a:solidFill>
            <a:prstDash val="solid"/>
          </a:ln>
        </p:spPr>
      </p:sp>
      <p:sp>
        <p:nvSpPr>
          <p:cNvPr id="15" name="Shape 13"/>
          <p:cNvSpPr/>
          <p:nvPr/>
        </p:nvSpPr>
        <p:spPr>
          <a:xfrm>
            <a:off x="2231136" y="3698748"/>
            <a:ext cx="384048" cy="384048"/>
          </a:xfrm>
          <a:prstGeom prst="ellipse">
            <a:avLst/>
          </a:prstGeom>
          <a:solidFill>
            <a:srgbClr val="54504A"/>
          </a:solidFill>
          <a:ln w="9525">
            <a:solidFill>
              <a:srgbClr val="54504A"/>
            </a:solidFill>
            <a:prstDash val="solid"/>
          </a:ln>
        </p:spPr>
      </p:sp>
      <p:sp>
        <p:nvSpPr>
          <p:cNvPr id="16" name="Shape 14"/>
          <p:cNvSpPr/>
          <p:nvPr/>
        </p:nvSpPr>
        <p:spPr>
          <a:xfrm flipH="1">
            <a:off x="1647104" y="2994660"/>
            <a:ext cx="776056" cy="448056"/>
          </a:xfrm>
          <a:prstGeom prst="line">
            <a:avLst/>
          </a:prstGeom>
          <a:noFill/>
          <a:ln w="13970">
            <a:solidFill>
              <a:srgbClr val="BBB1A2"/>
            </a:solidFill>
            <a:prstDash val="solid"/>
          </a:ln>
        </p:spPr>
      </p:sp>
      <p:sp>
        <p:nvSpPr>
          <p:cNvPr id="17" name="Shape 15"/>
          <p:cNvSpPr/>
          <p:nvPr/>
        </p:nvSpPr>
        <p:spPr>
          <a:xfrm>
            <a:off x="1455080" y="3250692"/>
            <a:ext cx="384048" cy="384048"/>
          </a:xfrm>
          <a:prstGeom prst="ellipse">
            <a:avLst/>
          </a:prstGeom>
          <a:solidFill>
            <a:srgbClr val="54504A"/>
          </a:solidFill>
          <a:ln w="9525">
            <a:solidFill>
              <a:srgbClr val="54504A"/>
            </a:solidFill>
            <a:prstDash val="solid"/>
          </a:ln>
        </p:spPr>
      </p:sp>
      <p:sp>
        <p:nvSpPr>
          <p:cNvPr id="18" name="Shape 16"/>
          <p:cNvSpPr/>
          <p:nvPr/>
        </p:nvSpPr>
        <p:spPr>
          <a:xfrm flipH="1" flipV="1">
            <a:off x="1647104" y="2546604"/>
            <a:ext cx="776056" cy="448056"/>
          </a:xfrm>
          <a:prstGeom prst="line">
            <a:avLst/>
          </a:prstGeom>
          <a:noFill/>
          <a:ln w="13970">
            <a:solidFill>
              <a:srgbClr val="BBB1A2"/>
            </a:solidFill>
            <a:prstDash val="solid"/>
          </a:ln>
        </p:spPr>
      </p:sp>
      <p:sp>
        <p:nvSpPr>
          <p:cNvPr id="19" name="Shape 17"/>
          <p:cNvSpPr/>
          <p:nvPr/>
        </p:nvSpPr>
        <p:spPr>
          <a:xfrm>
            <a:off x="1455080" y="2354580"/>
            <a:ext cx="384048" cy="384048"/>
          </a:xfrm>
          <a:prstGeom prst="ellipse">
            <a:avLst/>
          </a:prstGeom>
          <a:solidFill>
            <a:srgbClr val="54504A"/>
          </a:solidFill>
          <a:ln w="9525">
            <a:solidFill>
              <a:srgbClr val="54504A"/>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BBB1A2"/>
            </a:solidFill>
            <a:prstDash val="solid"/>
          </a:ln>
        </p:spPr>
      </p:sp>
      <p:sp>
        <p:nvSpPr>
          <p:cNvPr id="25" name="Shape 23"/>
          <p:cNvSpPr/>
          <p:nvPr/>
        </p:nvSpPr>
        <p:spPr>
          <a:xfrm>
            <a:off x="6720840" y="2098548"/>
            <a:ext cx="896112" cy="896112"/>
          </a:xfrm>
          <a:prstGeom prst="line">
            <a:avLst/>
          </a:prstGeom>
          <a:noFill/>
          <a:ln w="10160">
            <a:solidFill>
              <a:srgbClr val="BBB1A2"/>
            </a:solidFill>
            <a:prstDash val="solid"/>
          </a:ln>
        </p:spPr>
      </p:sp>
      <p:sp>
        <p:nvSpPr>
          <p:cNvPr id="26" name="Shape 24"/>
          <p:cNvSpPr/>
          <p:nvPr/>
        </p:nvSpPr>
        <p:spPr>
          <a:xfrm>
            <a:off x="6720840" y="2098548"/>
            <a:ext cx="633647" cy="1529759"/>
          </a:xfrm>
          <a:prstGeom prst="line">
            <a:avLst/>
          </a:prstGeom>
          <a:noFill/>
          <a:ln w="6985">
            <a:solidFill>
              <a:srgbClr val="BBB1A2"/>
            </a:solidFill>
            <a:prstDash val="solid"/>
          </a:ln>
        </p:spPr>
      </p:sp>
      <p:sp>
        <p:nvSpPr>
          <p:cNvPr id="27" name="Shape 25"/>
          <p:cNvSpPr/>
          <p:nvPr/>
        </p:nvSpPr>
        <p:spPr>
          <a:xfrm>
            <a:off x="7354487" y="2361013"/>
            <a:ext cx="262465" cy="633647"/>
          </a:xfrm>
          <a:prstGeom prst="line">
            <a:avLst/>
          </a:prstGeom>
          <a:noFill/>
          <a:ln w="12700">
            <a:solidFill>
              <a:srgbClr val="BBB1A2"/>
            </a:solidFill>
            <a:prstDash val="solid"/>
          </a:ln>
        </p:spPr>
      </p:sp>
      <p:sp>
        <p:nvSpPr>
          <p:cNvPr id="28" name="Shape 26"/>
          <p:cNvSpPr/>
          <p:nvPr/>
        </p:nvSpPr>
        <p:spPr>
          <a:xfrm flipV="1">
            <a:off x="7354487" y="2361013"/>
            <a:ext cx="0" cy="1267294"/>
          </a:xfrm>
          <a:prstGeom prst="line">
            <a:avLst/>
          </a:prstGeom>
          <a:noFill/>
          <a:ln w="10160">
            <a:solidFill>
              <a:srgbClr val="BBB1A2"/>
            </a:solidFill>
            <a:prstDash val="solid"/>
          </a:ln>
        </p:spPr>
      </p:sp>
      <p:sp>
        <p:nvSpPr>
          <p:cNvPr id="29" name="Shape 27"/>
          <p:cNvSpPr/>
          <p:nvPr/>
        </p:nvSpPr>
        <p:spPr>
          <a:xfrm flipH="1">
            <a:off x="6720840" y="2361013"/>
            <a:ext cx="633647" cy="1529759"/>
          </a:xfrm>
          <a:prstGeom prst="line">
            <a:avLst/>
          </a:prstGeom>
          <a:noFill/>
          <a:ln w="6985">
            <a:solidFill>
              <a:srgbClr val="BBB1A2"/>
            </a:solidFill>
            <a:prstDash val="solid"/>
          </a:ln>
        </p:spPr>
      </p:sp>
      <p:sp>
        <p:nvSpPr>
          <p:cNvPr id="30" name="Shape 28"/>
          <p:cNvSpPr/>
          <p:nvPr/>
        </p:nvSpPr>
        <p:spPr>
          <a:xfrm flipH="1">
            <a:off x="7354487" y="2994660"/>
            <a:ext cx="262465" cy="633647"/>
          </a:xfrm>
          <a:prstGeom prst="line">
            <a:avLst/>
          </a:prstGeom>
          <a:noFill/>
          <a:ln w="12700">
            <a:solidFill>
              <a:srgbClr val="BBB1A2"/>
            </a:solidFill>
            <a:prstDash val="solid"/>
          </a:ln>
        </p:spPr>
      </p:sp>
      <p:sp>
        <p:nvSpPr>
          <p:cNvPr id="31" name="Shape 29"/>
          <p:cNvSpPr/>
          <p:nvPr/>
        </p:nvSpPr>
        <p:spPr>
          <a:xfrm flipH="1">
            <a:off x="6720840" y="2994660"/>
            <a:ext cx="896112" cy="896112"/>
          </a:xfrm>
          <a:prstGeom prst="line">
            <a:avLst/>
          </a:prstGeom>
          <a:noFill/>
          <a:ln w="10160">
            <a:solidFill>
              <a:srgbClr val="BBB1A2"/>
            </a:solidFill>
            <a:prstDash val="solid"/>
          </a:ln>
        </p:spPr>
      </p:sp>
      <p:sp>
        <p:nvSpPr>
          <p:cNvPr id="32" name="Shape 30"/>
          <p:cNvSpPr/>
          <p:nvPr/>
        </p:nvSpPr>
        <p:spPr>
          <a:xfrm flipH="1">
            <a:off x="6087193" y="2994660"/>
            <a:ext cx="1529759" cy="633647"/>
          </a:xfrm>
          <a:prstGeom prst="line">
            <a:avLst/>
          </a:prstGeom>
          <a:noFill/>
          <a:ln w="6985">
            <a:solidFill>
              <a:srgbClr val="BBB1A2"/>
            </a:solidFill>
            <a:prstDash val="solid"/>
          </a:ln>
        </p:spPr>
      </p:sp>
      <p:sp>
        <p:nvSpPr>
          <p:cNvPr id="33" name="Shape 31"/>
          <p:cNvSpPr/>
          <p:nvPr/>
        </p:nvSpPr>
        <p:spPr>
          <a:xfrm flipH="1">
            <a:off x="6720840" y="3628307"/>
            <a:ext cx="633647" cy="262465"/>
          </a:xfrm>
          <a:prstGeom prst="line">
            <a:avLst/>
          </a:prstGeom>
          <a:noFill/>
          <a:ln w="12700">
            <a:solidFill>
              <a:srgbClr val="BBB1A2"/>
            </a:solidFill>
            <a:prstDash val="solid"/>
          </a:ln>
        </p:spPr>
      </p:sp>
      <p:sp>
        <p:nvSpPr>
          <p:cNvPr id="34" name="Shape 32"/>
          <p:cNvSpPr/>
          <p:nvPr/>
        </p:nvSpPr>
        <p:spPr>
          <a:xfrm flipH="1">
            <a:off x="6087193" y="3628307"/>
            <a:ext cx="1267294" cy="0"/>
          </a:xfrm>
          <a:prstGeom prst="line">
            <a:avLst/>
          </a:prstGeom>
          <a:noFill/>
          <a:ln w="10160">
            <a:solidFill>
              <a:srgbClr val="BBB1A2"/>
            </a:solidFill>
            <a:prstDash val="solid"/>
          </a:ln>
        </p:spPr>
      </p:sp>
      <p:sp>
        <p:nvSpPr>
          <p:cNvPr id="35" name="Shape 33"/>
          <p:cNvSpPr/>
          <p:nvPr/>
        </p:nvSpPr>
        <p:spPr>
          <a:xfrm flipH="1" flipV="1">
            <a:off x="5824728" y="2994660"/>
            <a:ext cx="1529759" cy="633647"/>
          </a:xfrm>
          <a:prstGeom prst="line">
            <a:avLst/>
          </a:prstGeom>
          <a:noFill/>
          <a:ln w="6985">
            <a:solidFill>
              <a:srgbClr val="BBB1A2"/>
            </a:solidFill>
            <a:prstDash val="solid"/>
          </a:ln>
        </p:spPr>
      </p:sp>
      <p:sp>
        <p:nvSpPr>
          <p:cNvPr id="36" name="Shape 34"/>
          <p:cNvSpPr/>
          <p:nvPr/>
        </p:nvSpPr>
        <p:spPr>
          <a:xfrm flipH="1" flipV="1">
            <a:off x="6087193" y="3628307"/>
            <a:ext cx="633647" cy="262465"/>
          </a:xfrm>
          <a:prstGeom prst="line">
            <a:avLst/>
          </a:prstGeom>
          <a:noFill/>
          <a:ln w="12700">
            <a:solidFill>
              <a:srgbClr val="BBB1A2"/>
            </a:solidFill>
            <a:prstDash val="solid"/>
          </a:ln>
        </p:spPr>
      </p:sp>
      <p:sp>
        <p:nvSpPr>
          <p:cNvPr id="37" name="Shape 35"/>
          <p:cNvSpPr/>
          <p:nvPr/>
        </p:nvSpPr>
        <p:spPr>
          <a:xfrm flipH="1" flipV="1">
            <a:off x="5824728" y="2994660"/>
            <a:ext cx="896112" cy="896112"/>
          </a:xfrm>
          <a:prstGeom prst="line">
            <a:avLst/>
          </a:prstGeom>
          <a:noFill/>
          <a:ln w="10160">
            <a:solidFill>
              <a:srgbClr val="BBB1A2"/>
            </a:solidFill>
            <a:prstDash val="solid"/>
          </a:ln>
        </p:spPr>
      </p:sp>
      <p:sp>
        <p:nvSpPr>
          <p:cNvPr id="38" name="Shape 36"/>
          <p:cNvSpPr/>
          <p:nvPr/>
        </p:nvSpPr>
        <p:spPr>
          <a:xfrm flipH="1" flipV="1">
            <a:off x="6087193" y="2361013"/>
            <a:ext cx="633647" cy="1529759"/>
          </a:xfrm>
          <a:prstGeom prst="line">
            <a:avLst/>
          </a:prstGeom>
          <a:noFill/>
          <a:ln w="6985">
            <a:solidFill>
              <a:srgbClr val="BBB1A2"/>
            </a:solidFill>
            <a:prstDash val="solid"/>
          </a:ln>
        </p:spPr>
      </p:sp>
      <p:sp>
        <p:nvSpPr>
          <p:cNvPr id="39" name="Shape 37"/>
          <p:cNvSpPr/>
          <p:nvPr/>
        </p:nvSpPr>
        <p:spPr>
          <a:xfrm flipH="1" flipV="1">
            <a:off x="5824728" y="2994660"/>
            <a:ext cx="262465" cy="633647"/>
          </a:xfrm>
          <a:prstGeom prst="line">
            <a:avLst/>
          </a:prstGeom>
          <a:noFill/>
          <a:ln w="12700">
            <a:solidFill>
              <a:srgbClr val="BBB1A2"/>
            </a:solidFill>
            <a:prstDash val="solid"/>
          </a:ln>
        </p:spPr>
      </p:sp>
      <p:sp>
        <p:nvSpPr>
          <p:cNvPr id="40" name="Shape 38"/>
          <p:cNvSpPr/>
          <p:nvPr/>
        </p:nvSpPr>
        <p:spPr>
          <a:xfrm>
            <a:off x="6087193" y="2361013"/>
            <a:ext cx="0" cy="1267294"/>
          </a:xfrm>
          <a:prstGeom prst="line">
            <a:avLst/>
          </a:prstGeom>
          <a:noFill/>
          <a:ln w="10160">
            <a:solidFill>
              <a:srgbClr val="BBB1A2"/>
            </a:solidFill>
            <a:prstDash val="solid"/>
          </a:ln>
        </p:spPr>
      </p:sp>
      <p:sp>
        <p:nvSpPr>
          <p:cNvPr id="41" name="Shape 39"/>
          <p:cNvSpPr/>
          <p:nvPr/>
        </p:nvSpPr>
        <p:spPr>
          <a:xfrm flipV="1">
            <a:off x="5824728" y="2361013"/>
            <a:ext cx="262465" cy="633647"/>
          </a:xfrm>
          <a:prstGeom prst="line">
            <a:avLst/>
          </a:prstGeom>
          <a:noFill/>
          <a:ln w="12700">
            <a:solidFill>
              <a:srgbClr val="BBB1A2"/>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35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Text 4"/>
          <p:cNvSpPr txBox="1"/>
          <p:nvPr/>
        </p:nvSpPr>
        <p:spPr>
          <a:xfrm>
            <a:off x="457200" y="1325880"/>
            <a:ext cx="3291840" cy="137160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Every node speaks the same protocol</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Any peer can join or leave freely</a:t>
            </a:r>
            <a:endParaRPr lang="en-US" sz="1350" dirty="0"/>
          </a:p>
        </p:txBody>
      </p:sp>
      <p:pic>
        <p:nvPicPr>
          <p:cNvPr id="7" name="Image 0" descr="../../03-materials/ch01/assets/c8s06_mesh.png">    </p:cNvPr>
          <p:cNvPicPr>
            <a:picLocks noChangeAspect="1"/>
          </p:cNvPicPr>
          <p:nvPr/>
        </p:nvPicPr>
        <p:blipFill>
          <a:blip r:embed="rId1"/>
          <a:srcRect l="0" r="0" t="0" b="0"/>
          <a:stretch/>
        </p:blipFill>
        <p:spPr>
          <a:xfrm>
            <a:off x="457200" y="2743200"/>
            <a:ext cx="3200400" cy="1691640"/>
          </a:xfrm>
          <a:prstGeom prst="rect">
            <a:avLst/>
          </a:prstGeom>
        </p:spPr>
      </p:pic>
      <p:sp>
        <p:nvSpPr>
          <p:cNvPr id="8" name="Text 5"/>
          <p:cNvSpPr txBox="1"/>
          <p:nvPr/>
        </p:nvSpPr>
        <p:spPr>
          <a:xfrm>
            <a:off x="457200" y="44531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flat topology, from the owner's 2025 deck</a:t>
            </a:r>
            <a:endParaRPr lang="en-US" sz="900" dirty="0"/>
          </a:p>
        </p:txBody>
      </p:sp>
      <p:sp>
        <p:nvSpPr>
          <p:cNvPr id="9" name="Text 6"/>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peers, one shared protocol - counted</a:t>
            </a:r>
            <a:endParaRPr lang="en-US" sz="1150" dirty="0"/>
          </a:p>
        </p:txBody>
      </p:sp>
      <p:sp>
        <p:nvSpPr>
          <p:cNvPr id="10" name="Shape 7"/>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11" name="Text 8"/>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links = {'A': ['B', 'C'], 'B': ['A', 'D'], 'C': ['A', 'E'], 'D': ['B', 'F'], 'E': ['C', 'F'], 'F': ['D', 'E', 'G'], 'G': ['F']}</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seen, frontier, rounds = {'A'}, {'A'}, 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while len(seen) &lt; len(links):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frontier = {n for f in frontier for n in links[f]} - seen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seen |= frontier; rounds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rounds</a:t>
            </a:r>
            <a:endParaRPr lang="en-US" sz="1000" dirty="0"/>
          </a:p>
        </p:txBody>
      </p:sp>
      <p:sp>
        <p:nvSpPr>
          <p:cNvPr id="12" name="Text 9"/>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4</a:t>
            </a:r>
            <a:endParaRPr lang="en-US" sz="1000" dirty="0"/>
          </a:p>
        </p:txBody>
      </p:sp>
      <p:sp>
        <p:nvSpPr>
          <p:cNvPr id="13" name="Text 10"/>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3.14.4</a:t>
            </a:r>
            <a:endParaRPr lang="en-US" sz="9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35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 rule set is code every node runs</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No vote, no committee, no appeal</a:t>
            </a:r>
            <a:endParaRPr lang="en-US" sz="1350" dirty="0"/>
          </a:p>
        </p:txBody>
      </p:sp>
      <p:sp>
        <p:nvSpPr>
          <p:cNvPr id="7" name="Shape 5"/>
          <p:cNvSpPr/>
          <p:nvPr/>
        </p:nvSpPr>
        <p:spPr>
          <a:xfrm>
            <a:off x="457200" y="2423160"/>
            <a:ext cx="3291840" cy="576072"/>
          </a:xfrm>
          <a:prstGeom prst="roundRect">
            <a:avLst>
              <a:gd name="adj" fmla="val 12698"/>
            </a:avLst>
          </a:prstGeom>
          <a:solidFill>
            <a:srgbClr val="F2ECE1"/>
          </a:solidFill>
          <a:ln w="19050">
            <a:solidFill>
              <a:srgbClr val="5B8C5A"/>
            </a:solidFill>
            <a:prstDash val="solid"/>
          </a:ln>
        </p:spPr>
      </p:sp>
      <p:sp>
        <p:nvSpPr>
          <p:cNvPr id="8" name="Shape 6"/>
          <p:cNvSpPr/>
          <p:nvPr/>
        </p:nvSpPr>
        <p:spPr>
          <a:xfrm>
            <a:off x="548640" y="2564892"/>
            <a:ext cx="292608" cy="292608"/>
          </a:xfrm>
          <a:prstGeom prst="ellipse">
            <a:avLst/>
          </a:prstGeom>
          <a:solidFill>
            <a:srgbClr val="5B8C5A"/>
          </a:solidFill>
          <a:ln w="12700">
            <a:solidFill>
              <a:srgbClr val="5B8C5A"/>
            </a:solidFill>
            <a:prstDash val="solid"/>
          </a:ln>
        </p:spPr>
      </p:sp>
      <p:sp>
        <p:nvSpPr>
          <p:cNvPr id="9" name="Text 7"/>
          <p:cNvSpPr txBox="1"/>
          <p:nvPr/>
        </p:nvSpPr>
        <p:spPr>
          <a:xfrm>
            <a:off x="548640" y="25648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932688" y="2423160"/>
            <a:ext cx="2743200" cy="57607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1" name="Shape 9"/>
          <p:cNvSpPr/>
          <p:nvPr/>
        </p:nvSpPr>
        <p:spPr>
          <a:xfrm>
            <a:off x="457200" y="3108960"/>
            <a:ext cx="3291840" cy="576072"/>
          </a:xfrm>
          <a:prstGeom prst="roundRect">
            <a:avLst>
              <a:gd name="adj" fmla="val 12698"/>
            </a:avLst>
          </a:prstGeom>
          <a:solidFill>
            <a:srgbClr val="F2ECE1"/>
          </a:solidFill>
          <a:ln w="19050">
            <a:solidFill>
              <a:srgbClr val="B6533C"/>
            </a:solidFill>
            <a:prstDash val="solid"/>
          </a:ln>
        </p:spPr>
      </p:sp>
      <p:sp>
        <p:nvSpPr>
          <p:cNvPr id="12" name="Shape 10"/>
          <p:cNvSpPr/>
          <p:nvPr/>
        </p:nvSpPr>
        <p:spPr>
          <a:xfrm>
            <a:off x="548640" y="3250692"/>
            <a:ext cx="292608" cy="292608"/>
          </a:xfrm>
          <a:prstGeom prst="ellipse">
            <a:avLst/>
          </a:prstGeom>
          <a:solidFill>
            <a:srgbClr val="B6533C"/>
          </a:solidFill>
          <a:ln w="12700">
            <a:solidFill>
              <a:srgbClr val="B6533C"/>
            </a:solidFill>
            <a:prstDash val="solid"/>
          </a:ln>
        </p:spPr>
      </p:sp>
      <p:sp>
        <p:nvSpPr>
          <p:cNvPr id="13" name="Text 11"/>
          <p:cNvSpPr txBox="1"/>
          <p:nvPr/>
        </p:nvSpPr>
        <p:spPr>
          <a:xfrm>
            <a:off x="548640" y="32506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932688" y="3108960"/>
            <a:ext cx="2743200" cy="57607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15" name="Shape 13"/>
          <p:cNvSpPr/>
          <p:nvPr/>
        </p:nvSpPr>
        <p:spPr>
          <a:xfrm>
            <a:off x="457200" y="3794760"/>
            <a:ext cx="3291840" cy="576072"/>
          </a:xfrm>
          <a:prstGeom prst="roundRect">
            <a:avLst>
              <a:gd name="adj" fmla="val 12698"/>
            </a:avLst>
          </a:prstGeom>
          <a:solidFill>
            <a:srgbClr val="F2ECE1"/>
          </a:solidFill>
          <a:ln w="19050">
            <a:solidFill>
              <a:srgbClr val="5B8C5A"/>
            </a:solidFill>
            <a:prstDash val="solid"/>
          </a:ln>
        </p:spPr>
      </p:sp>
      <p:sp>
        <p:nvSpPr>
          <p:cNvPr id="16" name="Shape 14"/>
          <p:cNvSpPr/>
          <p:nvPr/>
        </p:nvSpPr>
        <p:spPr>
          <a:xfrm>
            <a:off x="548640" y="3936492"/>
            <a:ext cx="292608" cy="292608"/>
          </a:xfrm>
          <a:prstGeom prst="ellipse">
            <a:avLst/>
          </a:prstGeom>
          <a:solidFill>
            <a:srgbClr val="5B8C5A"/>
          </a:solidFill>
          <a:ln w="12700">
            <a:solidFill>
              <a:srgbClr val="5B8C5A"/>
            </a:solidFill>
            <a:prstDash val="solid"/>
          </a:ln>
        </p:spPr>
      </p:sp>
      <p:sp>
        <p:nvSpPr>
          <p:cNvPr id="17" name="Text 15"/>
          <p:cNvSpPr txBox="1"/>
          <p:nvPr/>
        </p:nvSpPr>
        <p:spPr>
          <a:xfrm>
            <a:off x="548640" y="39364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932688" y="3794760"/>
            <a:ext cx="2743200" cy="57607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19" name="Text 17"/>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Three claims against one rule set</a:t>
            </a:r>
            <a:endParaRPr lang="en-US" sz="1150" dirty="0"/>
          </a:p>
        </p:txBody>
      </p:sp>
      <p:sp>
        <p:nvSpPr>
          <p:cNvPr id="20" name="Shape 18"/>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21" name="Text 19"/>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def accept(claim, height, fees):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subsidy = (50 * 10**8) &gt;&gt; (height // 210000)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claim &lt;= subsidy + fees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[accept(312_500_000, 840000, 0), accept(312_500_001, 840000, 0), accept(325_000_000, 840000, 12_500_000)]</a:t>
            </a:r>
            <a:endParaRPr lang="en-US" sz="1000" dirty="0"/>
          </a:p>
        </p:txBody>
      </p:sp>
      <p:sp>
        <p:nvSpPr>
          <p:cNvPr id="22" name="Text 20"/>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[True, False, True]</a:t>
            </a:r>
            <a:endParaRPr lang="en-US" sz="1000" dirty="0"/>
          </a:p>
        </p:txBody>
      </p:sp>
      <p:sp>
        <p:nvSpPr>
          <p:cNvPr id="23" name="Text 21"/>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3.14.4</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35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691640"/>
          </a:xfrm>
          <a:prstGeom prst="rect">
            <a:avLst/>
          </a:prstGeom>
        </p:spPr>
      </p:pic>
      <p:sp>
        <p:nvSpPr>
          <p:cNvPr id="19" name="Text 16"/>
          <p:cNvSpPr txBox="1"/>
          <p:nvPr/>
        </p:nvSpPr>
        <p:spPr>
          <a:xfrm>
            <a:off x="5760720" y="449884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35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pPr algn="ctr" indent="0" marL="0">
              <a:buNone/>
            </a:pP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pPr algn="ctr" indent="0" marL="0">
              <a:buNone/>
            </a:pP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pPr algn="ctr" indent="0" marL="0">
              <a:buNone/>
            </a:pP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pPr algn="ctr" indent="0" marL="0">
              <a:buNone/>
            </a:pP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35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35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35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lost everyone's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February 2014</a:t>
            </a:r>
            <a:endParaRPr lang="en-US" sz="1300" dirty="0"/>
          </a:p>
        </p:txBody>
      </p:sp>
      <p:sp>
        <p:nvSpPr>
          <p:cNvPr id="6" name="Shape 4"/>
          <p:cNvSpPr/>
          <p:nvPr/>
        </p:nvSpPr>
        <p:spPr>
          <a:xfrm>
            <a:off x="457200" y="1371600"/>
            <a:ext cx="2590800" cy="1280160"/>
          </a:xfrm>
          <a:prstGeom prst="roundRect">
            <a:avLst>
              <a:gd name="adj" fmla="val 5714"/>
            </a:avLst>
          </a:prstGeom>
          <a:solidFill>
            <a:srgbClr val="F2ECE1"/>
          </a:solidFill>
          <a:ln w="12700">
            <a:solidFill>
              <a:srgbClr val="DFD6C7"/>
            </a:solidFill>
            <a:prstDash val="solid"/>
          </a:ln>
        </p:spPr>
      </p:sp>
      <p:sp>
        <p:nvSpPr>
          <p:cNvPr id="7" name="Text 5"/>
          <p:cNvSpPr txBox="1"/>
          <p:nvPr/>
        </p:nvSpPr>
        <p:spPr>
          <a:xfrm>
            <a:off x="5669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8" name="Text 6"/>
          <p:cNvSpPr txBox="1"/>
          <p:nvPr/>
        </p:nvSpPr>
        <p:spPr>
          <a:xfrm>
            <a:off x="5669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reported missing in the 2014 bankruptcy filing</a:t>
            </a:r>
            <a:endParaRPr lang="en-US" sz="1150" dirty="0"/>
          </a:p>
        </p:txBody>
      </p:sp>
      <p:sp>
        <p:nvSpPr>
          <p:cNvPr id="9" name="Shape 7"/>
          <p:cNvSpPr/>
          <p:nvPr/>
        </p:nvSpPr>
        <p:spPr>
          <a:xfrm>
            <a:off x="3276600" y="1371600"/>
            <a:ext cx="2590800" cy="1280160"/>
          </a:xfrm>
          <a:prstGeom prst="roundRect">
            <a:avLst>
              <a:gd name="adj" fmla="val 5714"/>
            </a:avLst>
          </a:prstGeom>
          <a:solidFill>
            <a:srgbClr val="F2ECE1"/>
          </a:solidFill>
          <a:ln w="12700">
            <a:solidFill>
              <a:srgbClr val="DFD6C7"/>
            </a:solidFill>
            <a:prstDash val="solid"/>
          </a:ln>
        </p:spPr>
      </p:sp>
      <p:sp>
        <p:nvSpPr>
          <p:cNvPr id="10" name="Text 8"/>
          <p:cNvSpPr txBox="1"/>
          <p:nvPr/>
        </p:nvSpPr>
        <p:spPr>
          <a:xfrm>
            <a:off x="33863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1" name="Text 9"/>
          <p:cNvSpPr txBox="1"/>
          <p:nvPr/>
        </p:nvSpPr>
        <p:spPr>
          <a:xfrm>
            <a:off x="33863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exchange in the world</a:t>
            </a:r>
            <a:endParaRPr lang="en-US" sz="1150" dirty="0"/>
          </a:p>
        </p:txBody>
      </p:sp>
      <p:sp>
        <p:nvSpPr>
          <p:cNvPr id="12" name="Shape 10"/>
          <p:cNvSpPr/>
          <p:nvPr/>
        </p:nvSpPr>
        <p:spPr>
          <a:xfrm>
            <a:off x="6096000" y="1371600"/>
            <a:ext cx="2590800" cy="1280160"/>
          </a:xfrm>
          <a:prstGeom prst="roundRect">
            <a:avLst>
              <a:gd name="adj" fmla="val 5714"/>
            </a:avLst>
          </a:prstGeom>
          <a:solidFill>
            <a:srgbClr val="F2ECE1"/>
          </a:solidFill>
          <a:ln w="12700">
            <a:solidFill>
              <a:srgbClr val="DFD6C7"/>
            </a:solidFill>
            <a:prstDash val="solid"/>
          </a:ln>
        </p:spPr>
      </p:sp>
      <p:sp>
        <p:nvSpPr>
          <p:cNvPr id="13" name="Text 11"/>
          <p:cNvSpPr txBox="1"/>
          <p:nvPr/>
        </p:nvSpPr>
        <p:spPr>
          <a:xfrm>
            <a:off x="62057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4" name="Text 12"/>
          <p:cNvSpPr txBox="1"/>
          <p:nvPr/>
        </p:nvSpPr>
        <p:spPr>
          <a:xfrm>
            <a:off x="62057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5" name="Shape 13"/>
          <p:cNvSpPr/>
          <p:nvPr/>
        </p:nvSpPr>
        <p:spPr>
          <a:xfrm>
            <a:off x="457200" y="30754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88036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Customers saw balances on a website</a:t>
            </a:r>
            <a:endParaRPr lang="en-US" sz="1400" dirty="0"/>
          </a:p>
        </p:txBody>
      </p:sp>
      <p:sp>
        <p:nvSpPr>
          <p:cNvPr id="17" name="Shape 15"/>
          <p:cNvSpPr/>
          <p:nvPr/>
        </p:nvSpPr>
        <p:spPr>
          <a:xfrm>
            <a:off x="457200" y="35935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39852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The keys - so the coins - sat in one company's hands</a:t>
            </a:r>
            <a:endParaRPr lang="en-US" sz="1400" dirty="0"/>
          </a:p>
        </p:txBody>
      </p:sp>
      <p:sp>
        <p:nvSpPr>
          <p:cNvPr id="19" name="Shape 17"/>
          <p:cNvSpPr/>
          <p:nvPr/>
        </p:nvSpPr>
        <p:spPr>
          <a:xfrm>
            <a:off x="457200" y="411175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91668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When they vanished, the balances meant nothing</a:t>
            </a:r>
            <a:endParaRPr lang="en-US" sz="14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35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 backup phrase becomes the wallet seed</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Chapter 5 derives whole wallets from this</a:t>
            </a:r>
            <a:endParaRPr lang="en-US" sz="1350" dirty="0"/>
          </a:p>
        </p:txBody>
      </p:sp>
      <p:sp>
        <p:nvSpPr>
          <p:cNvPr id="7" name="Shape 5"/>
          <p:cNvSpPr/>
          <p:nvPr/>
        </p:nvSpPr>
        <p:spPr>
          <a:xfrm flipV="1">
            <a:off x="548640" y="2377440"/>
            <a:ext cx="3108960" cy="347472"/>
          </a:xfrm>
          <a:prstGeom prst="trapezoid">
            <a:avLst/>
          </a:prstGeom>
          <a:solidFill>
            <a:srgbClr val="2F6D62"/>
          </a:solidFill>
          <a:ln w="12700">
            <a:solidFill>
              <a:srgbClr val="FFFFFF"/>
            </a:solidFill>
            <a:prstDash val="solid"/>
          </a:ln>
        </p:spPr>
      </p:sp>
      <p:sp>
        <p:nvSpPr>
          <p:cNvPr id="8" name="Text 6"/>
          <p:cNvSpPr txBox="1"/>
          <p:nvPr/>
        </p:nvSpPr>
        <p:spPr>
          <a:xfrm>
            <a:off x="548640" y="2377440"/>
            <a:ext cx="310896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9" name="Shape 7"/>
          <p:cNvSpPr/>
          <p:nvPr/>
        </p:nvSpPr>
        <p:spPr>
          <a:xfrm flipV="1">
            <a:off x="828446" y="2834640"/>
            <a:ext cx="2549347" cy="347472"/>
          </a:xfrm>
          <a:prstGeom prst="trapezoid">
            <a:avLst/>
          </a:prstGeom>
          <a:solidFill>
            <a:srgbClr val="2F6D62"/>
          </a:solidFill>
          <a:ln w="12700">
            <a:solidFill>
              <a:srgbClr val="FFFFFF"/>
            </a:solidFill>
            <a:prstDash val="solid"/>
          </a:ln>
        </p:spPr>
      </p:sp>
      <p:sp>
        <p:nvSpPr>
          <p:cNvPr id="10" name="Text 8"/>
          <p:cNvSpPr txBox="1"/>
          <p:nvPr/>
        </p:nvSpPr>
        <p:spPr>
          <a:xfrm>
            <a:off x="828446" y="2834640"/>
            <a:ext cx="2549347"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11" name="Shape 9"/>
          <p:cNvSpPr/>
          <p:nvPr/>
        </p:nvSpPr>
        <p:spPr>
          <a:xfrm flipV="1">
            <a:off x="1108253" y="3291840"/>
            <a:ext cx="1989734" cy="347472"/>
          </a:xfrm>
          <a:prstGeom prst="trapezoid">
            <a:avLst/>
          </a:prstGeom>
          <a:solidFill>
            <a:srgbClr val="2F6D62"/>
          </a:solidFill>
          <a:ln w="12700">
            <a:solidFill>
              <a:srgbClr val="FFFFFF"/>
            </a:solidFill>
            <a:prstDash val="solid"/>
          </a:ln>
        </p:spPr>
      </p:sp>
      <p:sp>
        <p:nvSpPr>
          <p:cNvPr id="12" name="Text 10"/>
          <p:cNvSpPr txBox="1"/>
          <p:nvPr/>
        </p:nvSpPr>
        <p:spPr>
          <a:xfrm>
            <a:off x="1108253" y="3291840"/>
            <a:ext cx="1989734"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13" name="Shape 11"/>
          <p:cNvSpPr/>
          <p:nvPr/>
        </p:nvSpPr>
        <p:spPr>
          <a:xfrm flipV="1">
            <a:off x="1388059" y="3749040"/>
            <a:ext cx="1430122" cy="347472"/>
          </a:xfrm>
          <a:prstGeom prst="trapezoid">
            <a:avLst/>
          </a:prstGeom>
          <a:solidFill>
            <a:srgbClr val="D97A14"/>
          </a:solidFill>
          <a:ln w="12700">
            <a:solidFill>
              <a:srgbClr val="FFFFFF"/>
            </a:solidFill>
            <a:prstDash val="solid"/>
          </a:ln>
        </p:spPr>
      </p:sp>
      <p:sp>
        <p:nvSpPr>
          <p:cNvPr id="14" name="Text 12"/>
          <p:cNvSpPr txBox="1"/>
          <p:nvPr/>
        </p:nvSpPr>
        <p:spPr>
          <a:xfrm>
            <a:off x="1388059" y="3749040"/>
            <a:ext cx="143012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a:t>
            </a:r>
            <a:endParaRPr lang="en-US" sz="1050" dirty="0"/>
          </a:p>
        </p:txBody>
      </p:sp>
      <p:sp>
        <p:nvSpPr>
          <p:cNvPr id="15" name="Text 13"/>
          <p:cNvSpPr txBox="1"/>
          <p:nvPr/>
        </p:nvSpPr>
        <p:spPr>
          <a:xfrm>
            <a:off x="548640" y="4242816"/>
            <a:ext cx="310896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16" name="Text 14"/>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2,048 rounds from phrase to seed</a:t>
            </a:r>
            <a:endParaRPr lang="en-US" sz="1150" dirty="0"/>
          </a:p>
        </p:txBody>
      </p:sp>
      <p:sp>
        <p:nvSpPr>
          <p:cNvPr id="17" name="Shape 15"/>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18" name="Text 16"/>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hmac</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password, salt, iters = b'abandon', b'mnemonic', 2048</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u = hmac.new(password, salt + bytes([0, 0, 0, 1]),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seed =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range(iters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u = hmac.new(password, u,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seed = bytes(a ^ b for a, b in zip(seed,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(len(seed), seed.hex()[:8])</a:t>
            </a:r>
            <a:endParaRPr lang="en-US" sz="1000" dirty="0"/>
          </a:p>
        </p:txBody>
      </p:sp>
      <p:sp>
        <p:nvSpPr>
          <p:cNvPr id="19" name="Text 17"/>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(64, 'd96147bf')</a:t>
            </a:r>
            <a:endParaRPr lang="en-US" sz="1000" dirty="0"/>
          </a:p>
        </p:txBody>
      </p:sp>
      <p:sp>
        <p:nvSpPr>
          <p:cNvPr id="20" name="Text 18"/>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3.14.4</a:t>
            </a:r>
            <a:endParaRPr lang="en-US" sz="9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35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Text 15"/>
          <p:cNvSpPr txBox="1"/>
          <p:nvPr/>
        </p:nvSpPr>
        <p:spPr>
          <a:xfrm>
            <a:off x="3931920" y="248716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Her channel settles on-chain only twice</a:t>
            </a:r>
            <a:endParaRPr lang="en-US" sz="1150" dirty="0"/>
          </a:p>
        </p:txBody>
      </p:sp>
      <p:sp>
        <p:nvSpPr>
          <p:cNvPr id="18" name="Shape 16"/>
          <p:cNvSpPr/>
          <p:nvPr/>
        </p:nvSpPr>
        <p:spPr>
          <a:xfrm>
            <a:off x="3931920" y="2761488"/>
            <a:ext cx="4754880" cy="1481328"/>
          </a:xfrm>
          <a:prstGeom prst="roundRect">
            <a:avLst>
              <a:gd name="adj" fmla="val 6173"/>
            </a:avLst>
          </a:prstGeom>
          <a:solidFill>
            <a:srgbClr val="23272E"/>
          </a:solidFill>
          <a:ln w="12700">
            <a:solidFill>
              <a:srgbClr val="23272E"/>
            </a:solidFill>
            <a:prstDash val="solid"/>
          </a:ln>
        </p:spPr>
      </p:sp>
      <p:sp>
        <p:nvSpPr>
          <p:cNvPr id="19" name="Text 17"/>
          <p:cNvSpPr txBox="1"/>
          <p:nvPr/>
        </p:nvSpPr>
        <p:spPr>
          <a:xfrm>
            <a:off x="4114800" y="2880360"/>
            <a:ext cx="4389120" cy="1243584"/>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onchain, a, b = 2, 60_000, 40_000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range(100):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 b = a - 10, b + 10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 b, a + b, onchain)</a:t>
            </a:r>
            <a:endParaRPr lang="en-US" sz="1000" dirty="0"/>
          </a:p>
        </p:txBody>
      </p:sp>
      <p:sp>
        <p:nvSpPr>
          <p:cNvPr id="20" name="Text 18"/>
          <p:cNvSpPr txBox="1"/>
          <p:nvPr/>
        </p:nvSpPr>
        <p:spPr>
          <a:xfrm>
            <a:off x="3931920" y="4261104"/>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(59000, 41000, 100000, 2)</a:t>
            </a:r>
            <a:endParaRPr lang="en-US" sz="1000" dirty="0"/>
          </a:p>
        </p:txBody>
      </p:sp>
      <p:sp>
        <p:nvSpPr>
          <p:cNvPr id="21" name="Text 19"/>
          <p:cNvSpPr txBox="1"/>
          <p:nvPr/>
        </p:nvSpPr>
        <p:spPr>
          <a:xfrm>
            <a:off x="3931920" y="4517136"/>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3.14.4</a:t>
            </a:r>
            <a:endParaRPr lang="en-US" sz="900" dirty="0"/>
          </a:p>
        </p:txBody>
      </p:sp>
      <p:sp>
        <p:nvSpPr>
          <p:cNvPr id="22" name="Text 20"/>
          <p:cNvSpPr txBox="1"/>
          <p:nvPr/>
        </p:nvSpPr>
        <p:spPr>
          <a:xfrm>
            <a:off x="457200" y="27889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3" name="Shape 21"/>
          <p:cNvSpPr/>
          <p:nvPr/>
        </p:nvSpPr>
        <p:spPr>
          <a:xfrm>
            <a:off x="1737360" y="2816352"/>
            <a:ext cx="1554480" cy="310896"/>
          </a:xfrm>
          <a:prstGeom prst="roundRect">
            <a:avLst>
              <a:gd name="adj" fmla="val 14706"/>
            </a:avLst>
          </a:prstGeom>
          <a:solidFill>
            <a:srgbClr val="D97A14"/>
          </a:solidFill>
          <a:ln w="12700">
            <a:solidFill>
              <a:srgbClr val="D97A14"/>
            </a:solidFill>
            <a:prstDash val="solid"/>
          </a:ln>
        </p:spPr>
      </p:sp>
      <p:sp>
        <p:nvSpPr>
          <p:cNvPr id="24" name="Text 22"/>
          <p:cNvSpPr txBox="1"/>
          <p:nvPr/>
        </p:nvSpPr>
        <p:spPr>
          <a:xfrm>
            <a:off x="3346704" y="28163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5" name="Text 23"/>
          <p:cNvSpPr txBox="1"/>
          <p:nvPr/>
        </p:nvSpPr>
        <p:spPr>
          <a:xfrm>
            <a:off x="457200" y="3221736"/>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26" name="Shape 24"/>
          <p:cNvSpPr/>
          <p:nvPr/>
        </p:nvSpPr>
        <p:spPr>
          <a:xfrm>
            <a:off x="1737360" y="3249168"/>
            <a:ext cx="1080232" cy="310896"/>
          </a:xfrm>
          <a:prstGeom prst="roundRect">
            <a:avLst>
              <a:gd name="adj" fmla="val 14706"/>
            </a:avLst>
          </a:prstGeom>
          <a:solidFill>
            <a:srgbClr val="2F6D62"/>
          </a:solidFill>
          <a:ln w="12700">
            <a:solidFill>
              <a:srgbClr val="2F6D62"/>
            </a:solidFill>
            <a:prstDash val="solid"/>
          </a:ln>
        </p:spPr>
      </p:sp>
      <p:sp>
        <p:nvSpPr>
          <p:cNvPr id="27" name="Text 25"/>
          <p:cNvSpPr txBox="1"/>
          <p:nvPr/>
        </p:nvSpPr>
        <p:spPr>
          <a:xfrm>
            <a:off x="2872456" y="3249168"/>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28" name="Text 26"/>
          <p:cNvSpPr txBox="1"/>
          <p:nvPr/>
        </p:nvSpPr>
        <p:spPr>
          <a:xfrm>
            <a:off x="457200" y="365455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29" name="Shape 27"/>
          <p:cNvSpPr/>
          <p:nvPr/>
        </p:nvSpPr>
        <p:spPr>
          <a:xfrm>
            <a:off x="1737360" y="3681984"/>
            <a:ext cx="109728" cy="310896"/>
          </a:xfrm>
          <a:prstGeom prst="roundRect">
            <a:avLst>
              <a:gd name="adj" fmla="val 41667"/>
            </a:avLst>
          </a:prstGeom>
          <a:solidFill>
            <a:srgbClr val="D97A14"/>
          </a:solidFill>
          <a:ln w="12700">
            <a:solidFill>
              <a:srgbClr val="D97A14"/>
            </a:solidFill>
            <a:prstDash val="solid"/>
          </a:ln>
        </p:spPr>
      </p:sp>
      <p:sp>
        <p:nvSpPr>
          <p:cNvPr id="30" name="Text 28"/>
          <p:cNvSpPr txBox="1"/>
          <p:nvPr/>
        </p:nvSpPr>
        <p:spPr>
          <a:xfrm>
            <a:off x="1901952" y="368198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35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35</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35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35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Change one byte and every later link breaks</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Verification is recomputing, not trusting</a:t>
            </a:r>
            <a:endParaRPr lang="en-US" sz="1350" dirty="0"/>
          </a:p>
        </p:txBody>
      </p:sp>
      <p:sp>
        <p:nvSpPr>
          <p:cNvPr id="7" name="Shape 5"/>
          <p:cNvSpPr/>
          <p:nvPr/>
        </p:nvSpPr>
        <p:spPr>
          <a:xfrm>
            <a:off x="457200" y="2468880"/>
            <a:ext cx="853440" cy="1554480"/>
          </a:xfrm>
          <a:prstGeom prst="roundRect">
            <a:avLst>
              <a:gd name="adj" fmla="val 8571"/>
            </a:avLst>
          </a:prstGeom>
          <a:solidFill>
            <a:srgbClr val="F2ECE1"/>
          </a:solidFill>
          <a:ln w="22225">
            <a:solidFill>
              <a:srgbClr val="5B8C5A"/>
            </a:solidFill>
            <a:prstDash val="solid"/>
          </a:ln>
        </p:spPr>
      </p:sp>
      <p:sp>
        <p:nvSpPr>
          <p:cNvPr id="8" name="Text 6"/>
          <p:cNvSpPr txBox="1"/>
          <p:nvPr/>
        </p:nvSpPr>
        <p:spPr>
          <a:xfrm>
            <a:off x="457200" y="2523744"/>
            <a:ext cx="85344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0</a:t>
            </a:r>
            <a:endParaRPr lang="en-US" sz="1100" dirty="0"/>
          </a:p>
        </p:txBody>
      </p:sp>
      <p:sp>
        <p:nvSpPr>
          <p:cNvPr id="9" name="Text 7"/>
          <p:cNvSpPr txBox="1"/>
          <p:nvPr/>
        </p:nvSpPr>
        <p:spPr>
          <a:xfrm>
            <a:off x="502920" y="2834640"/>
            <a:ext cx="76200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0" name="Shape 8"/>
          <p:cNvSpPr/>
          <p:nvPr/>
        </p:nvSpPr>
        <p:spPr>
          <a:xfrm>
            <a:off x="1310640" y="3246120"/>
            <a:ext cx="365760" cy="0"/>
          </a:xfrm>
          <a:prstGeom prst="line">
            <a:avLst/>
          </a:prstGeom>
          <a:noFill/>
          <a:ln w="25400">
            <a:solidFill>
              <a:srgbClr val="B6533C"/>
            </a:solidFill>
            <a:prstDash val="solid"/>
            <a:tailEnd type="triangle"/>
          </a:ln>
        </p:spPr>
      </p:sp>
      <p:sp>
        <p:nvSpPr>
          <p:cNvPr id="11" name="Shape 9"/>
          <p:cNvSpPr/>
          <p:nvPr/>
        </p:nvSpPr>
        <p:spPr>
          <a:xfrm>
            <a:off x="1676400" y="2468880"/>
            <a:ext cx="853440" cy="1554480"/>
          </a:xfrm>
          <a:prstGeom prst="roundRect">
            <a:avLst>
              <a:gd name="adj" fmla="val 8571"/>
            </a:avLst>
          </a:prstGeom>
          <a:solidFill>
            <a:srgbClr val="F3DED6"/>
          </a:solidFill>
          <a:ln w="22225">
            <a:solidFill>
              <a:srgbClr val="B6533C"/>
            </a:solidFill>
            <a:prstDash val="solid"/>
          </a:ln>
        </p:spPr>
      </p:sp>
      <p:sp>
        <p:nvSpPr>
          <p:cNvPr id="12" name="Text 10"/>
          <p:cNvSpPr txBox="1"/>
          <p:nvPr/>
        </p:nvSpPr>
        <p:spPr>
          <a:xfrm>
            <a:off x="1676400" y="2523744"/>
            <a:ext cx="85344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1</a:t>
            </a:r>
            <a:endParaRPr lang="en-US" sz="1100" dirty="0"/>
          </a:p>
        </p:txBody>
      </p:sp>
      <p:sp>
        <p:nvSpPr>
          <p:cNvPr id="13" name="Text 11"/>
          <p:cNvSpPr txBox="1"/>
          <p:nvPr/>
        </p:nvSpPr>
        <p:spPr>
          <a:xfrm>
            <a:off x="1722120" y="2834640"/>
            <a:ext cx="76200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data changed!</a:t>
            </a:r>
            <a:endParaRPr lang="en-US" sz="850" dirty="0"/>
          </a:p>
        </p:txBody>
      </p:sp>
      <p:sp>
        <p:nvSpPr>
          <p:cNvPr id="14" name="Shape 12"/>
          <p:cNvSpPr/>
          <p:nvPr/>
        </p:nvSpPr>
        <p:spPr>
          <a:xfrm>
            <a:off x="2529840" y="3246120"/>
            <a:ext cx="365760" cy="0"/>
          </a:xfrm>
          <a:prstGeom prst="line">
            <a:avLst/>
          </a:prstGeom>
          <a:noFill/>
          <a:ln w="25400">
            <a:solidFill>
              <a:srgbClr val="B6533C"/>
            </a:solidFill>
            <a:prstDash val="solid"/>
            <a:tailEnd type="triangle"/>
          </a:ln>
        </p:spPr>
      </p:sp>
      <p:sp>
        <p:nvSpPr>
          <p:cNvPr id="15" name="Shape 13"/>
          <p:cNvSpPr/>
          <p:nvPr/>
        </p:nvSpPr>
        <p:spPr>
          <a:xfrm>
            <a:off x="2895600" y="2468880"/>
            <a:ext cx="853440" cy="1554480"/>
          </a:xfrm>
          <a:prstGeom prst="roundRect">
            <a:avLst>
              <a:gd name="adj" fmla="val 8571"/>
            </a:avLst>
          </a:prstGeom>
          <a:solidFill>
            <a:srgbClr val="F3DED6"/>
          </a:solidFill>
          <a:ln w="22225">
            <a:solidFill>
              <a:srgbClr val="B6533C"/>
            </a:solidFill>
            <a:prstDash val="solid"/>
          </a:ln>
        </p:spPr>
      </p:sp>
      <p:sp>
        <p:nvSpPr>
          <p:cNvPr id="16" name="Text 14"/>
          <p:cNvSpPr txBox="1"/>
          <p:nvPr/>
        </p:nvSpPr>
        <p:spPr>
          <a:xfrm>
            <a:off x="2895600" y="2523744"/>
            <a:ext cx="85344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2</a:t>
            </a:r>
            <a:endParaRPr lang="en-US" sz="1100" dirty="0"/>
          </a:p>
        </p:txBody>
      </p:sp>
      <p:sp>
        <p:nvSpPr>
          <p:cNvPr id="17" name="Text 15"/>
          <p:cNvSpPr txBox="1"/>
          <p:nvPr/>
        </p:nvSpPr>
        <p:spPr>
          <a:xfrm>
            <a:off x="2941320" y="2834640"/>
            <a:ext cx="76200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digest of block 1</a:t>
            </a:r>
            <a:endParaRPr lang="en-US" sz="850" dirty="0"/>
          </a:p>
        </p:txBody>
      </p:sp>
      <p:sp>
        <p:nvSpPr>
          <p:cNvPr id="18" name="Text 16"/>
          <p:cNvSpPr txBox="1"/>
          <p:nvPr/>
        </p:nvSpPr>
        <p:spPr>
          <a:xfrm>
            <a:off x="457200" y="4096512"/>
            <a:ext cx="329184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before, False after the change</a:t>
            </a:r>
            <a:endParaRPr lang="en-US" sz="1050" dirty="0"/>
          </a:p>
        </p:txBody>
      </p:sp>
      <p:sp>
        <p:nvSpPr>
          <p:cNvPr id="19" name="Text 17"/>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Tamper with block 1, watch block 2 refuse</a:t>
            </a:r>
            <a:endParaRPr lang="en-US" sz="1150" dirty="0"/>
          </a:p>
        </p:txBody>
      </p:sp>
      <p:sp>
        <p:nvSpPr>
          <p:cNvPr id="20" name="Shape 18"/>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21" name="Text 19"/>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import hashlib</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link(prev, data): return hashlib.sha256((prev + data).encode()).hexdigest()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data = ['Joe pays Alice 1', 'Alice pays Eve 2', 'Eve pays Joe 3']</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build(items):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hs, prev = [], 'genesis'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d in items: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prev = link(prev, d); hs.append(prev)</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hs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stored = build(data)</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tampered = ['Joe pays Alice 100'] + data[1:]</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950" dirty="0"/>
          </a:p>
        </p:txBody>
      </p:sp>
      <p:sp>
        <p:nvSpPr>
          <p:cNvPr id="22" name="Text 20"/>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950" b="1" dirty="0">
                <a:solidFill>
                  <a:srgbClr val="D97A14"/>
                </a:solidFill>
                <a:latin typeface="Courier New" pitchFamily="34" charset="0"/>
                <a:ea typeface="Courier New" pitchFamily="34" charset="-122"/>
                <a:cs typeface="Courier New" pitchFamily="34" charset="-120"/>
              </a:rPr>
              <a:t>result  </a:t>
            </a:r>
            <a:pPr indent="0" marL="0">
              <a:buNone/>
            </a:pPr>
            <a:r>
              <a:rPr lang="en-US" sz="950" dirty="0">
                <a:solidFill>
                  <a:srgbClr val="2B2622"/>
                </a:solidFill>
                <a:latin typeface="Courier New" pitchFamily="34" charset="0"/>
                <a:ea typeface="Courier New" pitchFamily="34" charset="-122"/>
                <a:cs typeface="Courier New" pitchFamily="34" charset="-120"/>
              </a:rPr>
              <a:t>(True, False)</a:t>
            </a:r>
            <a:endParaRPr lang="en-US" sz="950" dirty="0"/>
          </a:p>
        </p:txBody>
      </p:sp>
      <p:sp>
        <p:nvSpPr>
          <p:cNvPr id="23" name="Text 21"/>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3.14.4</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35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35</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530352"/>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530352"/>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895344"/>
            <a:ext cx="3033979" cy="530352"/>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895344"/>
            <a:ext cx="3033979"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35</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Channels move value off the chain</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The chain settles only open and close</a:t>
            </a:r>
            <a:endParaRPr lang="en-US" sz="1350" dirty="0"/>
          </a:p>
        </p:txBody>
      </p:sp>
      <p:sp>
        <p:nvSpPr>
          <p:cNvPr id="7" name="Shape 5"/>
          <p:cNvSpPr/>
          <p:nvPr/>
        </p:nvSpPr>
        <p:spPr>
          <a:xfrm>
            <a:off x="886968" y="3282696"/>
            <a:ext cx="505968" cy="0"/>
          </a:xfrm>
          <a:prstGeom prst="line">
            <a:avLst/>
          </a:prstGeom>
          <a:noFill/>
          <a:ln w="28575">
            <a:solidFill>
              <a:srgbClr val="D97A14"/>
            </a:solidFill>
            <a:prstDash val="solid"/>
            <a:tailEnd type="triangle"/>
          </a:ln>
        </p:spPr>
      </p:sp>
      <p:sp>
        <p:nvSpPr>
          <p:cNvPr id="8" name="Shape 6"/>
          <p:cNvSpPr/>
          <p:nvPr/>
        </p:nvSpPr>
        <p:spPr>
          <a:xfrm>
            <a:off x="466344" y="3063240"/>
            <a:ext cx="438912" cy="438912"/>
          </a:xfrm>
          <a:prstGeom prst="ellipse">
            <a:avLst/>
          </a:prstGeom>
          <a:solidFill>
            <a:srgbClr val="D97A14"/>
          </a:solidFill>
          <a:ln w="19050">
            <a:solidFill>
              <a:srgbClr val="FFFFFF"/>
            </a:solidFill>
            <a:prstDash val="solid"/>
          </a:ln>
        </p:spPr>
      </p:sp>
      <p:sp>
        <p:nvSpPr>
          <p:cNvPr id="9" name="Text 7"/>
          <p:cNvSpPr txBox="1"/>
          <p:nvPr/>
        </p:nvSpPr>
        <p:spPr>
          <a:xfrm>
            <a:off x="13716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0" name="Shape 8"/>
          <p:cNvSpPr/>
          <p:nvPr/>
        </p:nvSpPr>
        <p:spPr>
          <a:xfrm>
            <a:off x="1831848" y="3282696"/>
            <a:ext cx="505968" cy="0"/>
          </a:xfrm>
          <a:prstGeom prst="line">
            <a:avLst/>
          </a:prstGeom>
          <a:noFill/>
          <a:ln w="28575">
            <a:solidFill>
              <a:srgbClr val="D97A14"/>
            </a:solidFill>
            <a:prstDash val="solid"/>
            <a:tailEnd type="triangle"/>
          </a:ln>
        </p:spPr>
      </p:sp>
      <p:sp>
        <p:nvSpPr>
          <p:cNvPr id="11" name="Shape 9"/>
          <p:cNvSpPr/>
          <p:nvPr/>
        </p:nvSpPr>
        <p:spPr>
          <a:xfrm>
            <a:off x="1411224" y="3063240"/>
            <a:ext cx="438912" cy="438912"/>
          </a:xfrm>
          <a:prstGeom prst="ellipse">
            <a:avLst/>
          </a:prstGeom>
          <a:solidFill>
            <a:srgbClr val="2F6D62"/>
          </a:solidFill>
          <a:ln w="19050">
            <a:solidFill>
              <a:srgbClr val="FFFFFF"/>
            </a:solidFill>
            <a:prstDash val="solid"/>
          </a:ln>
        </p:spPr>
      </p:sp>
      <p:sp>
        <p:nvSpPr>
          <p:cNvPr id="12" name="Text 10"/>
          <p:cNvSpPr txBox="1"/>
          <p:nvPr/>
        </p:nvSpPr>
        <p:spPr>
          <a:xfrm>
            <a:off x="108204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3" name="Shape 11"/>
          <p:cNvSpPr/>
          <p:nvPr/>
        </p:nvSpPr>
        <p:spPr>
          <a:xfrm>
            <a:off x="2776728" y="3282696"/>
            <a:ext cx="505968" cy="0"/>
          </a:xfrm>
          <a:prstGeom prst="line">
            <a:avLst/>
          </a:prstGeom>
          <a:noFill/>
          <a:ln w="28575">
            <a:solidFill>
              <a:srgbClr val="D97A14"/>
            </a:solidFill>
            <a:prstDash val="solid"/>
            <a:tailEnd type="triangle"/>
          </a:ln>
        </p:spPr>
      </p:sp>
      <p:sp>
        <p:nvSpPr>
          <p:cNvPr id="14" name="Shape 12"/>
          <p:cNvSpPr/>
          <p:nvPr/>
        </p:nvSpPr>
        <p:spPr>
          <a:xfrm>
            <a:off x="2356104" y="3063240"/>
            <a:ext cx="438912" cy="438912"/>
          </a:xfrm>
          <a:prstGeom prst="ellipse">
            <a:avLst/>
          </a:prstGeom>
          <a:solidFill>
            <a:srgbClr val="2F6D62"/>
          </a:solidFill>
          <a:ln w="19050">
            <a:solidFill>
              <a:srgbClr val="FFFFFF"/>
            </a:solidFill>
            <a:prstDash val="solid"/>
          </a:ln>
        </p:spPr>
      </p:sp>
      <p:sp>
        <p:nvSpPr>
          <p:cNvPr id="15" name="Text 13"/>
          <p:cNvSpPr txBox="1"/>
          <p:nvPr/>
        </p:nvSpPr>
        <p:spPr>
          <a:xfrm>
            <a:off x="202692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16" name="Shape 14"/>
          <p:cNvSpPr/>
          <p:nvPr/>
        </p:nvSpPr>
        <p:spPr>
          <a:xfrm>
            <a:off x="3300984" y="3063240"/>
            <a:ext cx="438912" cy="438912"/>
          </a:xfrm>
          <a:prstGeom prst="ellipse">
            <a:avLst/>
          </a:prstGeom>
          <a:solidFill>
            <a:srgbClr val="D97A14"/>
          </a:solidFill>
          <a:ln w="19050">
            <a:solidFill>
              <a:srgbClr val="FFFFFF"/>
            </a:solidFill>
            <a:prstDash val="solid"/>
          </a:ln>
        </p:spPr>
      </p:sp>
      <p:sp>
        <p:nvSpPr>
          <p:cNvPr id="17" name="Text 15"/>
          <p:cNvSpPr txBox="1"/>
          <p:nvPr/>
        </p:nvSpPr>
        <p:spPr>
          <a:xfrm>
            <a:off x="297180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18" name="Text 16"/>
          <p:cNvSpPr txBox="1"/>
          <p:nvPr/>
        </p:nvSpPr>
        <p:spPr>
          <a:xfrm>
            <a:off x="365760" y="3941064"/>
            <a:ext cx="347472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 needed</a:t>
            </a:r>
            <a:endParaRPr lang="en-US" sz="1100" dirty="0"/>
          </a:p>
        </p:txBody>
      </p:sp>
      <p:sp>
        <p:nvSpPr>
          <p:cNvPr id="19" name="Text 17"/>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payment routed over three hops</a:t>
            </a:r>
            <a:endParaRPr lang="en-US" sz="1150" dirty="0"/>
          </a:p>
        </p:txBody>
      </p:sp>
      <p:sp>
        <p:nvSpPr>
          <p:cNvPr id="20" name="Shape 18"/>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21" name="Text 19"/>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channels = {('Alice', 'Bob'), ('Bob', 'Carol'), ('Carol', 'Dave')}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nbr =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for x, y in channels: nbr.setdefault(x, []).append(y); nbr.setdefault(y, []).append(x)</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path, frontier = {'Alice': ['Alice']}, ['Alice']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while 'Dave' not in path:</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nxt =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x in frontier: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y in nbr[x]:</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y not in path: path[y] = path[x] + [y]; nxt.append(y)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frontier = nxt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result = (path['Dave'], len(path['Dave']) - 1, ('Alice', 'Dave') in channels)</a:t>
            </a:r>
            <a:endParaRPr lang="en-US" sz="950" dirty="0"/>
          </a:p>
        </p:txBody>
      </p:sp>
      <p:sp>
        <p:nvSpPr>
          <p:cNvPr id="22" name="Text 20"/>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950" b="1" dirty="0">
                <a:solidFill>
                  <a:srgbClr val="D97A14"/>
                </a:solidFill>
                <a:latin typeface="Courier New" pitchFamily="34" charset="0"/>
                <a:ea typeface="Courier New" pitchFamily="34" charset="-122"/>
                <a:cs typeface="Courier New" pitchFamily="34" charset="-120"/>
              </a:rPr>
              <a:t>result  </a:t>
            </a:r>
            <a:pPr indent="0" marL="0">
              <a:buNone/>
            </a:pPr>
            <a:r>
              <a:rPr lang="en-US" sz="950" dirty="0">
                <a:solidFill>
                  <a:srgbClr val="2B2622"/>
                </a:solidFill>
                <a:latin typeface="Courier New" pitchFamily="34" charset="0"/>
                <a:ea typeface="Courier New" pitchFamily="34" charset="-122"/>
                <a:cs typeface="Courier New" pitchFamily="34" charset="-120"/>
              </a:rPr>
              <a:t>(['Alice', 'Bob', 'Carol', 'Dave'], 3, False)</a:t>
            </a:r>
            <a:endParaRPr lang="en-US" sz="950" dirty="0"/>
          </a:p>
        </p:txBody>
      </p:sp>
      <p:sp>
        <p:nvSpPr>
          <p:cNvPr id="23" name="Text 21"/>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3.14.4</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35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300" b="1" dirty="0">
                <a:solidFill>
                  <a:srgbClr val="2F6D62"/>
                </a:solidFill>
                <a:latin typeface="Cambria" pitchFamily="34" charset="0"/>
                <a:ea typeface="Cambria" pitchFamily="34" charset="-122"/>
                <a:cs typeface="Cambria" pitchFamily="34" charset="-120"/>
              </a:rPr>
              <a:t>Read</a:t>
            </a:r>
            <a:endParaRPr lang="en-US" sz="1300" dirty="0"/>
          </a:p>
        </p:txBody>
      </p:sp>
      <p:sp>
        <p:nvSpPr>
          <p:cNvPr id="7" name="Shape 5"/>
          <p:cNvSpPr/>
          <p:nvPr/>
        </p:nvSpPr>
        <p:spPr>
          <a:xfrm>
            <a:off x="493776" y="1737360"/>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64208"/>
            <a:ext cx="3753612" cy="3657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whitepaper (9 pages, 2008)  </a:t>
            </a:r>
            <a:pPr indent="0" marL="0">
              <a:buNone/>
            </a:pPr>
            <a:r>
              <a:rPr lang="en-US" sz="10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5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657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textbook, free (CC BY-SA)  </a:t>
            </a:r>
            <a:pPr indent="0" marL="0">
              <a:buNone/>
            </a:pPr>
            <a:r>
              <a:rPr lang="en-US" sz="10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github.com/bitcoinbook/bitcoinbook</a:t>
            </a:r>
            <a:endParaRPr lang="en-US" sz="1050" dirty="0"/>
          </a:p>
        </p:txBody>
      </p:sp>
      <p:sp>
        <p:nvSpPr>
          <p:cNvPr id="11" name="Shape 9"/>
          <p:cNvSpPr/>
          <p:nvPr/>
        </p:nvSpPr>
        <p:spPr>
          <a:xfrm>
            <a:off x="493776" y="2505456"/>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32304"/>
            <a:ext cx="3753612" cy="3657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Developer documentation  </a:t>
            </a:r>
            <a:pPr indent="0" marL="0">
              <a:buNone/>
            </a:pPr>
            <a:r>
              <a:rPr lang="en-US" sz="10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developer.bitcoin.org</a:t>
            </a:r>
            <a:endParaRPr lang="en-US" sz="1050" dirty="0"/>
          </a:p>
        </p:txBody>
      </p:sp>
      <p:sp>
        <p:nvSpPr>
          <p:cNvPr id="13" name="Text 11"/>
          <p:cNvSpPr txBox="1"/>
          <p:nvPr/>
        </p:nvSpPr>
        <p:spPr>
          <a:xfrm>
            <a:off x="457200" y="2907792"/>
            <a:ext cx="3954780" cy="274320"/>
          </a:xfrm>
          <a:prstGeom prst="rect">
            <a:avLst/>
          </a:prstGeom>
          <a:noFill/>
          <a:ln/>
        </p:spPr>
        <p:txBody>
          <a:bodyPr wrap="square" lIns="0" tIns="0" rIns="0" bIns="0" rtlCol="0" anchor="ctr"/>
          <a:lstStyle/>
          <a:p>
            <a:pPr indent="0" marL="0">
              <a:buNone/>
            </a:pPr>
            <a:r>
              <a:rPr lang="en-US" sz="1300" b="1" dirty="0">
                <a:solidFill>
                  <a:srgbClr val="2F6D62"/>
                </a:solidFill>
                <a:latin typeface="Cambria" pitchFamily="34" charset="0"/>
                <a:ea typeface="Cambria" pitchFamily="34" charset="-122"/>
                <a:cs typeface="Cambria" pitchFamily="34" charset="-120"/>
              </a:rPr>
              <a:t>Explore</a:t>
            </a:r>
            <a:endParaRPr lang="en-US" sz="130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657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the reference client  </a:t>
            </a:r>
            <a:pPr indent="0" marL="0">
              <a:buNone/>
            </a:pPr>
            <a:r>
              <a:rPr lang="en-US" sz="10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bitcoincore.org</a:t>
            </a:r>
            <a:endParaRPr lang="en-US" sz="1050" dirty="0"/>
          </a:p>
        </p:txBody>
      </p:sp>
      <p:sp>
        <p:nvSpPr>
          <p:cNvPr id="16" name="Shape 14"/>
          <p:cNvSpPr/>
          <p:nvPr/>
        </p:nvSpPr>
        <p:spPr>
          <a:xfrm>
            <a:off x="493776" y="365760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584448"/>
            <a:ext cx="3753612" cy="3657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mempool.space - watch blocks live  </a:t>
            </a:r>
            <a:pPr indent="0" marL="0">
              <a:buNone/>
            </a:pPr>
            <a:r>
              <a:rPr lang="en-US" sz="10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a:t>
            </a:r>
            <a:endParaRPr lang="en-US" sz="105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300" b="1" dirty="0">
                <a:solidFill>
                  <a:srgbClr val="2F6D62"/>
                </a:solidFill>
                <a:latin typeface="Cambria" pitchFamily="34" charset="0"/>
                <a:ea typeface="Cambria" pitchFamily="34" charset="-122"/>
                <a:cs typeface="Cambria" pitchFamily="34" charset="-120"/>
              </a:rPr>
              <a:t>Community</a:t>
            </a:r>
            <a:endParaRPr lang="en-US" sz="1300" dirty="0"/>
          </a:p>
        </p:txBody>
      </p:sp>
      <p:sp>
        <p:nvSpPr>
          <p:cNvPr id="19" name="Shape 17"/>
          <p:cNvSpPr/>
          <p:nvPr/>
        </p:nvSpPr>
        <p:spPr>
          <a:xfrm>
            <a:off x="4768596" y="1737360"/>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64208"/>
            <a:ext cx="3753612" cy="3657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Stack Exchange Q&amp;A  </a:t>
            </a:r>
            <a:pPr indent="0" marL="0">
              <a:buNone/>
            </a:pPr>
            <a:r>
              <a:rPr lang="en-US" sz="10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5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657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bitcointalk - the forum of Pizza Day  </a:t>
            </a:r>
            <a:pPr indent="0" marL="0">
              <a:buNone/>
            </a:pPr>
            <a:r>
              <a:rPr lang="en-US" sz="10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bitcointalk.org</a:t>
            </a:r>
            <a:endParaRPr lang="en-US" sz="105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300" b="1" dirty="0">
                <a:solidFill>
                  <a:srgbClr val="2F6D62"/>
                </a:solidFill>
                <a:latin typeface="Cambria" pitchFamily="34" charset="0"/>
                <a:ea typeface="Cambria" pitchFamily="34" charset="-122"/>
                <a:cs typeface="Cambria" pitchFamily="34" charset="-120"/>
              </a:rPr>
              <a:t>Seminal &amp; watch</a:t>
            </a:r>
            <a:endParaRPr lang="en-US" sz="1300" dirty="0"/>
          </a:p>
        </p:txBody>
      </p:sp>
      <p:sp>
        <p:nvSpPr>
          <p:cNvPr id="24" name="Shape 22"/>
          <p:cNvSpPr/>
          <p:nvPr/>
        </p:nvSpPr>
        <p:spPr>
          <a:xfrm>
            <a:off x="4768596" y="2889504"/>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816352"/>
            <a:ext cx="3753612" cy="3657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Hashcash, the proof-of-work paper  </a:t>
            </a:r>
            <a:pPr indent="0" marL="0">
              <a:buNone/>
            </a:pPr>
            <a:r>
              <a:rPr lang="en-US" sz="10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hashcash.org</a:t>
            </a:r>
            <a:endParaRPr lang="en-US" sz="1050" dirty="0"/>
          </a:p>
        </p:txBody>
      </p:sp>
      <p:sp>
        <p:nvSpPr>
          <p:cNvPr id="26" name="Shape 24"/>
          <p:cNvSpPr/>
          <p:nvPr/>
        </p:nvSpPr>
        <p:spPr>
          <a:xfrm>
            <a:off x="4768596" y="327355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200400"/>
            <a:ext cx="3753612" cy="3657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b-money, Wei Dai (1998)  </a:t>
            </a:r>
            <a:pPr indent="0" marL="0">
              <a:buNone/>
            </a:pPr>
            <a:r>
              <a:rPr lang="en-US" sz="10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weidai.com/bmoney.txt</a:t>
            </a:r>
            <a:endParaRPr lang="en-US" sz="1050" dirty="0"/>
          </a:p>
        </p:txBody>
      </p:sp>
      <p:sp>
        <p:nvSpPr>
          <p:cNvPr id="28" name="Shape 26"/>
          <p:cNvSpPr/>
          <p:nvPr/>
        </p:nvSpPr>
        <p:spPr>
          <a:xfrm>
            <a:off x="4768596" y="36576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584448"/>
            <a:ext cx="3753612" cy="36576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But how does bitcoin work? (3Blue1Brown)  </a:t>
            </a:r>
            <a:pPr indent="0" marL="0">
              <a:buNone/>
            </a:pPr>
            <a:r>
              <a:rPr lang="en-US" sz="10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youtube.com/watch?v=bBC-nXj3Ng4</a:t>
            </a:r>
            <a:endParaRPr lang="en-US" sz="10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35</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103120"/>
            <a:ext cx="8046720" cy="21031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35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2026-10-06T07:10:13Z</dcterms:created>
  <dcterms:modified xsi:type="dcterms:W3CDTF">2026-10-06T07:10:13Z</dcterms:modified>
</cp:coreProperties>
</file>