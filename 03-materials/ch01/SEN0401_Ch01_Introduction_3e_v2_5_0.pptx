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ASK: Which of these failures did cards fix - and at what new price?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Why does the same problem not exist for paper cash?
FULL TEXT: course page, chapter 1 - DoubleSpend.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What stops the network agreeing on the WRONG order? (chapter 12 answers)
FULL TEXT: course page, chapter 1 - DoubleSpend,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 TargetMode="External"/><Relationship Id="rId10" Type="http://schemas.openxmlformats.org/officeDocument/2006/relationships/hyperlink" Target="http://www.hashcash.org" TargetMode="External"/><Relationship Id="rId11" Type="http://schemas.openxmlformats.org/officeDocument/2006/relationships/hyperlink" Target="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59359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83280"/>
            <a:ext cx="2331720" cy="54864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orange bytes ARE the headline</a:t>
            </a:r>
            <a:endParaRPr lang="en-US" sz="1150" dirty="0"/>
          </a:p>
        </p:txBody>
      </p:sp>
      <p:sp>
        <p:nvSpPr>
          <p:cNvPr id="17" name="Shape 14"/>
          <p:cNvSpPr/>
          <p:nvPr/>
        </p:nvSpPr>
        <p:spPr>
          <a:xfrm>
            <a:off x="6080760" y="414223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6355080" y="3931920"/>
            <a:ext cx="2331720" cy="54864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timestamp and a manifesto at once</a:t>
            </a:r>
            <a:endParaRPr lang="en-US" sz="115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2743200" cy="402336"/>
          </a:xfrm>
          <a:prstGeom prst="roundRect">
            <a:avLst>
              <a:gd name="adj" fmla="val 50000"/>
            </a:avLst>
          </a:prstGeom>
          <a:solidFill>
            <a:srgbClr val="2F6D62"/>
          </a:solidFill>
          <a:ln w="12700">
            <a:solidFill>
              <a:srgbClr val="2F6D62"/>
            </a:solidFill>
            <a:prstDash val="solid"/>
          </a:ln>
        </p:spPr>
      </p:sp>
      <p:sp>
        <p:nvSpPr>
          <p:cNvPr id="15" name="Text 12"/>
          <p:cNvSpPr txBox="1"/>
          <p:nvPr/>
        </p:nvSpPr>
        <p:spPr>
          <a:xfrm>
            <a:off x="3383280" y="370332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January 2009</a:t>
            </a:r>
            <a:endParaRPr lang="en-US" sz="13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61188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missing piece: agreement without a leader</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3154680"/>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520440"/>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630168"/>
            <a:ext cx="548640" cy="0"/>
          </a:xfrm>
          <a:prstGeom prst="line">
            <a:avLst/>
          </a:prstGeom>
          <a:noFill/>
          <a:ln w="25400">
            <a:solidFill>
              <a:srgbClr val="D97A14"/>
            </a:solidFill>
            <a:prstDash val="solid"/>
            <a:tailEnd type="triangle"/>
          </a:ln>
        </p:spPr>
      </p:sp>
      <p:sp>
        <p:nvSpPr>
          <p:cNvPr id="18" name="Shape 15"/>
          <p:cNvSpPr/>
          <p:nvPr/>
        </p:nvSpPr>
        <p:spPr>
          <a:xfrm>
            <a:off x="5650992" y="3154680"/>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520440"/>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630168"/>
            <a:ext cx="548640" cy="0"/>
          </a:xfrm>
          <a:prstGeom prst="line">
            <a:avLst/>
          </a:prstGeom>
          <a:noFill/>
          <a:ln w="25400">
            <a:solidFill>
              <a:srgbClr val="D97A14"/>
            </a:solidFill>
            <a:prstDash val="solid"/>
            <a:tailEnd type="triangle"/>
          </a:ln>
        </p:spPr>
      </p:sp>
      <p:sp>
        <p:nvSpPr>
          <p:cNvPr id="22" name="Shape 19"/>
          <p:cNvSpPr/>
          <p:nvPr/>
        </p:nvSpPr>
        <p:spPr>
          <a:xfrm>
            <a:off x="7296912" y="3154680"/>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520440"/>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49884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417320"/>
            <a:ext cx="1600200" cy="1325880"/>
          </a:xfrm>
          <a:prstGeom prst="rect">
            <a:avLst/>
          </a:prstGeom>
        </p:spPr>
      </p:pic>
      <p:sp>
        <p:nvSpPr>
          <p:cNvPr id="8" name="Text 5"/>
          <p:cNvSpPr txBox="1"/>
          <p:nvPr/>
        </p:nvSpPr>
        <p:spPr>
          <a:xfrm>
            <a:off x="68580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417320"/>
            <a:ext cx="1600200" cy="1325880"/>
          </a:xfrm>
          <a:prstGeom prst="rect">
            <a:avLst/>
          </a:prstGeom>
        </p:spPr>
      </p:pic>
      <p:sp>
        <p:nvSpPr>
          <p:cNvPr id="10" name="Text 6"/>
          <p:cNvSpPr txBox="1"/>
          <p:nvPr/>
        </p:nvSpPr>
        <p:spPr>
          <a:xfrm>
            <a:off x="690372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552444"/>
            <a:ext cx="8229600" cy="0"/>
          </a:xfrm>
          <a:prstGeom prst="line">
            <a:avLst/>
          </a:prstGeom>
          <a:noFill/>
          <a:ln w="25400">
            <a:solidFill>
              <a:srgbClr val="C9BFAE"/>
            </a:solidFill>
            <a:prstDash val="solid"/>
          </a:ln>
        </p:spPr>
      </p:sp>
      <p:sp>
        <p:nvSpPr>
          <p:cNvPr id="13" name="Shape 9"/>
          <p:cNvSpPr/>
          <p:nvPr/>
        </p:nvSpPr>
        <p:spPr>
          <a:xfrm>
            <a:off x="557784" y="3470148"/>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470148"/>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470148"/>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470148"/>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470148"/>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470148"/>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680960" y="3076956"/>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223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33"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B6533C"/>
            </a:solidFill>
            <a:prstDash val="solid"/>
          </a:ln>
        </p:spPr>
      </p:sp>
      <p:sp>
        <p:nvSpPr>
          <p:cNvPr id="24" name="Shape 22"/>
          <p:cNvSpPr/>
          <p:nvPr/>
        </p:nvSpPr>
        <p:spPr>
          <a:xfrm>
            <a:off x="7114032" y="1956816"/>
            <a:ext cx="310896" cy="310896"/>
          </a:xfrm>
          <a:prstGeom prst="ellipse">
            <a:avLst/>
          </a:prstGeom>
          <a:solidFill>
            <a:srgbClr val="E8B94B"/>
          </a:solidFill>
          <a:ln w="15875">
            <a:solidFill>
              <a:srgbClr val="B98A2B"/>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B6533C"/>
            </a:solidFill>
            <a:prstDash val="solid"/>
          </a:ln>
        </p:spPr>
      </p:sp>
      <p:sp>
        <p:nvSpPr>
          <p:cNvPr id="28" name="Shape 26"/>
          <p:cNvSpPr/>
          <p:nvPr/>
        </p:nvSpPr>
        <p:spPr>
          <a:xfrm>
            <a:off x="7114032" y="3465576"/>
            <a:ext cx="310896" cy="310896"/>
          </a:xfrm>
          <a:prstGeom prst="ellipse">
            <a:avLst/>
          </a:prstGeom>
          <a:solidFill>
            <a:srgbClr val="E8B94B"/>
          </a:solidFill>
          <a:ln w="15875">
            <a:solidFill>
              <a:srgbClr val="B98A2B"/>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B6533C"/>
            </a:solidFill>
            <a:prstDash val="solid"/>
            <a:tailEnd type="triangle"/>
          </a:ln>
        </p:spPr>
      </p:sp>
      <p:sp>
        <p:nvSpPr>
          <p:cNvPr id="32" name="Shape 30"/>
          <p:cNvSpPr/>
          <p:nvPr/>
        </p:nvSpPr>
        <p:spPr>
          <a:xfrm>
            <a:off x="5303520" y="2880360"/>
            <a:ext cx="1417320" cy="740664"/>
          </a:xfrm>
          <a:prstGeom prst="line">
            <a:avLst/>
          </a:prstGeom>
          <a:noFill/>
          <a:ln w="25400">
            <a:solidFill>
              <a:srgbClr val="B6533C"/>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B6533C"/>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411480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18795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18795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51713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928970" y="1783080"/>
            <a:ext cx="1828800" cy="548640"/>
          </a:xfrm>
          <a:prstGeom prst="roundRect">
            <a:avLst>
              <a:gd name="adj" fmla="val 13333"/>
            </a:avLst>
          </a:prstGeom>
          <a:solidFill>
            <a:srgbClr val="F2ECE1"/>
          </a:solidFill>
          <a:ln w="19050">
            <a:solidFill>
              <a:srgbClr val="5B8C5A"/>
            </a:solidFill>
            <a:prstDash val="solid"/>
          </a:ln>
        </p:spPr>
      </p:sp>
      <p:sp>
        <p:nvSpPr>
          <p:cNvPr id="24" name="Text 22"/>
          <p:cNvSpPr txBox="1"/>
          <p:nvPr/>
        </p:nvSpPr>
        <p:spPr>
          <a:xfrm>
            <a:off x="6002122" y="178308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928970" y="3429000"/>
            <a:ext cx="1828800" cy="548640"/>
          </a:xfrm>
          <a:prstGeom prst="roundRect">
            <a:avLst>
              <a:gd name="adj" fmla="val 13333"/>
            </a:avLst>
          </a:prstGeom>
          <a:solidFill>
            <a:srgbClr val="F2ECE1"/>
          </a:solidFill>
          <a:ln w="19050">
            <a:solidFill>
              <a:srgbClr val="B6533C"/>
            </a:solidFill>
            <a:prstDash val="solid"/>
          </a:ln>
        </p:spPr>
      </p:sp>
      <p:sp>
        <p:nvSpPr>
          <p:cNvPr id="26" name="Text 24"/>
          <p:cNvSpPr txBox="1"/>
          <p:nvPr/>
        </p:nvSpPr>
        <p:spPr>
          <a:xfrm>
            <a:off x="6002122" y="342900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5212080" y="2057400"/>
            <a:ext cx="625450" cy="822960"/>
          </a:xfrm>
          <a:prstGeom prst="line">
            <a:avLst/>
          </a:prstGeom>
          <a:noFill/>
          <a:ln w="22225">
            <a:solidFill>
              <a:srgbClr val="8A9B94"/>
            </a:solidFill>
            <a:prstDash val="solid"/>
            <a:tailEnd type="triangle"/>
          </a:ln>
        </p:spPr>
      </p:sp>
      <p:sp>
        <p:nvSpPr>
          <p:cNvPr id="28" name="Shape 26"/>
          <p:cNvSpPr/>
          <p:nvPr/>
        </p:nvSpPr>
        <p:spPr>
          <a:xfrm>
            <a:off x="5212080" y="2880360"/>
            <a:ext cx="625450" cy="822960"/>
          </a:xfrm>
          <a:prstGeom prst="line">
            <a:avLst/>
          </a:prstGeom>
          <a:noFill/>
          <a:ln w="22225">
            <a:solidFill>
              <a:srgbClr val="8A9B94"/>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5B8C5A"/>
          </a:solidFill>
          <a:ln w="12700">
            <a:solidFill>
              <a:srgbClr val="5B8C5A"/>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F3DED6"/>
          </a:solidFill>
          <a:ln w="15875">
            <a:solidFill>
              <a:srgbClr val="B6533C"/>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B6533C"/>
                </a:solidFill>
                <a:latin typeface="Calibri" pitchFamily="34" charset="0"/>
                <a:ea typeface="Calibri" pitchFamily="34" charset="-122"/>
                <a:cs typeface="Calibri" pitchFamily="34" charset="-120"/>
              </a:rPr>
              <a:t>refused by every node </a:t>
            </a:r>
            <a:pPr algn="ctr" indent="0" marL="0">
              <a:buNone/>
            </a:pPr>
            <a:r>
              <a:rPr lang="en-US" sz="1200" b="1" dirty="0">
                <a:solidFill>
                  <a:srgbClr val="B6533C"/>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flipH="1">
            <a:off x="6830568" y="2057400"/>
            <a:ext cx="927202" cy="0"/>
          </a:xfrm>
          <a:prstGeom prst="line">
            <a:avLst/>
          </a:prstGeom>
          <a:noFill/>
          <a:ln w="25400">
            <a:solidFill>
              <a:srgbClr val="5B8C5A"/>
            </a:solidFill>
            <a:prstDash val="solid"/>
            <a:tailEnd type="triangle"/>
          </a:ln>
        </p:spPr>
      </p:sp>
      <p:sp>
        <p:nvSpPr>
          <p:cNvPr id="34" name="Shape 32"/>
          <p:cNvSpPr/>
          <p:nvPr/>
        </p:nvSpPr>
        <p:spPr>
          <a:xfrm flipH="1">
            <a:off x="6830568" y="3703320"/>
            <a:ext cx="927202" cy="0"/>
          </a:xfrm>
          <a:prstGeom prst="line">
            <a:avLst/>
          </a:prstGeom>
          <a:noFill/>
          <a:ln w="25400">
            <a:solidFill>
              <a:srgbClr val="B6533C"/>
            </a:solidFill>
            <a:prstDash val="solid"/>
            <a:tailEnd type="triangle"/>
          </a:ln>
        </p:spPr>
      </p:sp>
      <p:sp>
        <p:nvSpPr>
          <p:cNvPr id="35" name="Text 33"/>
          <p:cNvSpPr txBox="1"/>
          <p:nvPr/>
        </p:nvSpPr>
        <p:spPr>
          <a:xfrm>
            <a:off x="3931920" y="4041648"/>
            <a:ext cx="475488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334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Line 1 shifts 50 BTC right once per era, times 210,000 blocks, summed over 33 eras - the 20,999,999.9769 cap</a:t>
            </a:r>
            <a:endParaRPr lang="en-US" sz="110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6334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Line 2 shifts once for height 840,000: the subsidy halves to 3.125</a:t>
            </a:r>
            <a:endParaRPr lang="en-US" sz="110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6334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Line 3 asks five heights at once - the whole halving staircase</a:t>
            </a:r>
            <a:endParaRPr lang="en-US" sz="1100" dirty="0"/>
          </a:p>
        </p:txBody>
      </p:sp>
      <p:sp>
        <p:nvSpPr>
          <p:cNvPr id="15" name="Text 13"/>
          <p:cNvSpPr txBox="1"/>
          <p:nvPr/>
        </p:nvSpPr>
        <p:spPr>
          <a:xfrm>
            <a:off x="3840480" y="102412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cap, summed over 33 eras</a:t>
            </a:r>
            <a:endParaRPr lang="en-US" sz="1150" dirty="0"/>
          </a:p>
        </p:txBody>
      </p:sp>
      <p:sp>
        <p:nvSpPr>
          <p:cNvPr id="16" name="Shape 14"/>
          <p:cNvSpPr/>
          <p:nvPr/>
        </p:nvSpPr>
        <p:spPr>
          <a:xfrm>
            <a:off x="3840480" y="1298448"/>
            <a:ext cx="4846320" cy="914400"/>
          </a:xfrm>
          <a:prstGeom prst="roundRect">
            <a:avLst>
              <a:gd name="adj" fmla="val 10000"/>
            </a:avLst>
          </a:prstGeom>
          <a:solidFill>
            <a:srgbClr val="23272E"/>
          </a:solidFill>
          <a:ln w="12700">
            <a:solidFill>
              <a:srgbClr val="23272E"/>
            </a:solidFill>
            <a:prstDash val="solid"/>
          </a:ln>
        </p:spPr>
      </p:sp>
      <p:sp>
        <p:nvSpPr>
          <p:cNvPr id="17" name="Text 15"/>
          <p:cNvSpPr txBox="1"/>
          <p:nvPr/>
        </p:nvSpPr>
        <p:spPr>
          <a:xfrm>
            <a:off x="4023360" y="141732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8" name="Text 16"/>
          <p:cNvSpPr txBox="1"/>
          <p:nvPr/>
        </p:nvSpPr>
        <p:spPr>
          <a:xfrm>
            <a:off x="3840480" y="223113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840480" y="212140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halving = divide by two</a:t>
            </a:r>
            <a:endParaRPr lang="en-US" sz="1150" dirty="0"/>
          </a:p>
        </p:txBody>
      </p:sp>
      <p:sp>
        <p:nvSpPr>
          <p:cNvPr id="20" name="Shape 18"/>
          <p:cNvSpPr/>
          <p:nvPr/>
        </p:nvSpPr>
        <p:spPr>
          <a:xfrm>
            <a:off x="3840480" y="2395728"/>
            <a:ext cx="4846320" cy="914400"/>
          </a:xfrm>
          <a:prstGeom prst="roundRect">
            <a:avLst>
              <a:gd name="adj" fmla="val 10000"/>
            </a:avLst>
          </a:prstGeom>
          <a:solidFill>
            <a:srgbClr val="23272E"/>
          </a:solidFill>
          <a:ln w="12700">
            <a:solidFill>
              <a:srgbClr val="23272E"/>
            </a:solidFill>
            <a:prstDash val="solid"/>
          </a:ln>
        </p:spPr>
      </p:sp>
      <p:sp>
        <p:nvSpPr>
          <p:cNvPr id="21" name="Text 19"/>
          <p:cNvSpPr txBox="1"/>
          <p:nvPr/>
        </p:nvSpPr>
        <p:spPr>
          <a:xfrm>
            <a:off x="4023360" y="251460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22" name="Text 20"/>
          <p:cNvSpPr txBox="1"/>
          <p:nvPr/>
        </p:nvSpPr>
        <p:spPr>
          <a:xfrm>
            <a:off x="3840480" y="332841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Text 21"/>
          <p:cNvSpPr txBox="1"/>
          <p:nvPr/>
        </p:nvSpPr>
        <p:spPr>
          <a:xfrm>
            <a:off x="3840480" y="321868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subsidy at any block height</a:t>
            </a:r>
            <a:endParaRPr lang="en-US" sz="1150" dirty="0"/>
          </a:p>
        </p:txBody>
      </p:sp>
      <p:sp>
        <p:nvSpPr>
          <p:cNvPr id="24" name="Shape 22"/>
          <p:cNvSpPr/>
          <p:nvPr/>
        </p:nvSpPr>
        <p:spPr>
          <a:xfrm>
            <a:off x="3840480" y="3493008"/>
            <a:ext cx="4846320" cy="914400"/>
          </a:xfrm>
          <a:prstGeom prst="roundRect">
            <a:avLst>
              <a:gd name="adj" fmla="val 10000"/>
            </a:avLst>
          </a:prstGeom>
          <a:solidFill>
            <a:srgbClr val="23272E"/>
          </a:solidFill>
          <a:ln w="12700">
            <a:solidFill>
              <a:srgbClr val="23272E"/>
            </a:solidFill>
            <a:prstDash val="solid"/>
          </a:ln>
        </p:spPr>
      </p:sp>
      <p:sp>
        <p:nvSpPr>
          <p:cNvPr id="25" name="Text 23"/>
          <p:cNvSpPr txBox="1"/>
          <p:nvPr/>
        </p:nvSpPr>
        <p:spPr>
          <a:xfrm>
            <a:off x="4023360" y="361188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26" name="Text 24"/>
          <p:cNvSpPr txBox="1"/>
          <p:nvPr/>
        </p:nvSpPr>
        <p:spPr>
          <a:xfrm>
            <a:off x="3840480" y="442569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345643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 authority quotes a rate: the first line just divides one trade's amounts</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345643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line weights every trade by its volume - one fair daily figure</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345643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Exchanges and explorers publish exactly these numbers, trade by trade</a:t>
            </a:r>
            <a:endParaRPr lang="en-US" sz="1150" dirty="0"/>
          </a:p>
        </p:txBody>
      </p:sp>
      <p:sp>
        <p:nvSpPr>
          <p:cNvPr id="15" name="Text 13"/>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price is a ratio of two quotes</a:t>
            </a:r>
            <a:endParaRPr lang="en-US" sz="1150" dirty="0"/>
          </a:p>
        </p:txBody>
      </p:sp>
      <p:sp>
        <p:nvSpPr>
          <p:cNvPr id="16" name="Shape 14"/>
          <p:cNvSpPr/>
          <p:nvPr/>
        </p:nvSpPr>
        <p:spPr>
          <a:xfrm>
            <a:off x="4663440" y="1371600"/>
            <a:ext cx="402336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8" name="Text 16"/>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663440" y="25603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day summarised fairly, by volume</a:t>
            </a:r>
            <a:endParaRPr lang="en-US" sz="1150" dirty="0"/>
          </a:p>
        </p:txBody>
      </p:sp>
      <p:sp>
        <p:nvSpPr>
          <p:cNvPr id="20" name="Shape 18"/>
          <p:cNvSpPr/>
          <p:nvPr/>
        </p:nvSpPr>
        <p:spPr>
          <a:xfrm>
            <a:off x="4663440" y="2834640"/>
            <a:ext cx="402336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22" name="Text 20"/>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2743200" cy="402336"/>
          </a:xfrm>
          <a:prstGeom prst="roundRect">
            <a:avLst>
              <a:gd name="adj" fmla="val 50000"/>
            </a:avLst>
          </a:prstGeom>
          <a:solidFill>
            <a:srgbClr val="2F6D62"/>
          </a:solidFill>
          <a:ln w="12700">
            <a:solidFill>
              <a:srgbClr val="2F6D62"/>
            </a:solidFill>
            <a:prstDash val="solid"/>
          </a:ln>
        </p:spPr>
      </p:sp>
      <p:sp>
        <p:nvSpPr>
          <p:cNvPr id="20" name="Text 17"/>
          <p:cNvSpPr txBox="1"/>
          <p:nvPr/>
        </p:nvSpPr>
        <p:spPr>
          <a:xfrm>
            <a:off x="3611880" y="397764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 May 2010</a:t>
            </a:r>
            <a:endParaRPr lang="en-US" sz="13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Four peers start, each knowing one neighbour</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Each asks its neighbours for THEIR neighbours</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Links are counted when the gossip settles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4 links - a working net, no directory anywhere</a:t>
            </a:r>
            <a:endParaRPr lang="en-US" sz="1100" dirty="0"/>
          </a:p>
        </p:txBody>
      </p:sp>
      <p:pic>
        <p:nvPicPr>
          <p:cNvPr id="18" name="Image 0" descr="../../03-materials/ch01/assets/c8s06_mesh.png">    </p:cNvPr>
          <p:cNvPicPr>
            <a:picLocks noChangeAspect="1"/>
          </p:cNvPicPr>
          <p:nvPr/>
        </p:nvPicPr>
        <p:blipFill>
          <a:blip r:embed="rId1"/>
          <a:srcRect l="0" r="0" t="0" b="0"/>
          <a:stretch/>
        </p:blipFill>
        <p:spPr>
          <a:xfrm>
            <a:off x="3931920" y="1481328"/>
            <a:ext cx="2194560" cy="1627632"/>
          </a:xfrm>
          <a:prstGeom prst="rect">
            <a:avLst/>
          </a:prstGeom>
        </p:spPr>
      </p:pic>
      <p:sp>
        <p:nvSpPr>
          <p:cNvPr id="19" name="Text 16"/>
          <p:cNvSpPr txBox="1"/>
          <p:nvPr/>
        </p:nvSpPr>
        <p:spPr>
          <a:xfrm>
            <a:off x="3931920" y="31272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20" name="Shape 17"/>
          <p:cNvSpPr/>
          <p:nvPr/>
        </p:nvSpPr>
        <p:spPr>
          <a:xfrm>
            <a:off x="6400800" y="1481328"/>
            <a:ext cx="2286000" cy="1627632"/>
          </a:xfrm>
          <a:prstGeom prst="roundRect">
            <a:avLst>
              <a:gd name="adj" fmla="val 4494"/>
            </a:avLst>
          </a:prstGeom>
          <a:solidFill>
            <a:srgbClr val="F2ECE1"/>
          </a:solidFill>
          <a:ln w="12700">
            <a:solidFill>
              <a:srgbClr val="DFD6C7"/>
            </a:solidFill>
            <a:prstDash val="solid"/>
          </a:ln>
        </p:spPr>
      </p:sp>
      <p:sp>
        <p:nvSpPr>
          <p:cNvPr id="21" name="Text 18"/>
          <p:cNvSpPr txBox="1"/>
          <p:nvPr/>
        </p:nvSpPr>
        <p:spPr>
          <a:xfrm>
            <a:off x="6510528" y="1554480"/>
            <a:ext cx="2066544" cy="81381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22" name="Text 19"/>
          <p:cNvSpPr txBox="1"/>
          <p:nvPr/>
        </p:nvSpPr>
        <p:spPr>
          <a:xfrm>
            <a:off x="6510528" y="2327697"/>
            <a:ext cx="2066544" cy="71615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links counted by the run - no server, no registry</a:t>
            </a:r>
            <a:endParaRPr lang="en-US" sz="1150" dirty="0"/>
          </a:p>
        </p:txBody>
      </p:sp>
      <p:sp>
        <p:nvSpPr>
          <p:cNvPr id="23" name="Text 20"/>
          <p:cNvSpPr txBox="1"/>
          <p:nvPr/>
        </p:nvSpPr>
        <p:spPr>
          <a:xfrm>
            <a:off x="3931920" y="30358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4" name="Shape 21"/>
          <p:cNvSpPr/>
          <p:nvPr/>
        </p:nvSpPr>
        <p:spPr>
          <a:xfrm>
            <a:off x="3931920" y="3310128"/>
            <a:ext cx="4754880" cy="1216152"/>
          </a:xfrm>
          <a:prstGeom prst="roundRect">
            <a:avLst>
              <a:gd name="adj" fmla="val 7519"/>
            </a:avLst>
          </a:prstGeom>
          <a:solidFill>
            <a:srgbClr val="23272E"/>
          </a:solidFill>
          <a:ln w="12700">
            <a:solidFill>
              <a:srgbClr val="23272E"/>
            </a:solidFill>
            <a:prstDash val="solid"/>
          </a:ln>
        </p:spPr>
      </p:sp>
      <p:sp>
        <p:nvSpPr>
          <p:cNvPr id="25" name="Text 22"/>
          <p:cNvSpPr txBox="1"/>
          <p:nvPr/>
        </p:nvSpPr>
        <p:spPr>
          <a:xfrm>
            <a:off x="4114800" y="3429000"/>
            <a:ext cx="4389120" cy="9784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 {'A'}, 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while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p:txBody>
      </p:sp>
      <p:sp>
        <p:nvSpPr>
          <p:cNvPr id="26" name="Text 23"/>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4</a:t>
            </a:r>
            <a:endParaRPr lang="en-US" sz="900" dirty="0"/>
          </a:p>
        </p:txBody>
      </p:sp>
      <p:sp>
        <p:nvSpPr>
          <p:cNvPr id="27" name="Text 24"/>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Three blocks claim rewards at height 840,000</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Each claim is checked by the same arithmetic</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Verdicts: allowed, refused, allowed - see right</a:t>
            </a:r>
            <a:endParaRPr lang="en-US" sz="1100" dirty="0"/>
          </a:p>
        </p:txBody>
      </p:sp>
      <p:sp>
        <p:nvSpPr>
          <p:cNvPr id="18" name="Shape 16"/>
          <p:cNvSpPr/>
          <p:nvPr/>
        </p:nvSpPr>
        <p:spPr>
          <a:xfrm>
            <a:off x="3931920" y="1481328"/>
            <a:ext cx="4754880" cy="484632"/>
          </a:xfrm>
          <a:prstGeom prst="roundRect">
            <a:avLst>
              <a:gd name="adj" fmla="val 15094"/>
            </a:avLst>
          </a:prstGeom>
          <a:solidFill>
            <a:srgbClr val="F2ECE1"/>
          </a:solidFill>
          <a:ln w="19050">
            <a:solidFill>
              <a:srgbClr val="5B8C5A"/>
            </a:solidFill>
            <a:prstDash val="solid"/>
          </a:ln>
        </p:spPr>
      </p:sp>
      <p:sp>
        <p:nvSpPr>
          <p:cNvPr id="19" name="Shape 17"/>
          <p:cNvSpPr/>
          <p:nvPr/>
        </p:nvSpPr>
        <p:spPr>
          <a:xfrm>
            <a:off x="4023360" y="1577340"/>
            <a:ext cx="292608" cy="292608"/>
          </a:xfrm>
          <a:prstGeom prst="ellipse">
            <a:avLst/>
          </a:prstGeom>
          <a:solidFill>
            <a:srgbClr val="5B8C5A"/>
          </a:solidFill>
          <a:ln w="12700">
            <a:solidFill>
              <a:srgbClr val="5B8C5A"/>
            </a:solidFill>
            <a:prstDash val="solid"/>
          </a:ln>
        </p:spPr>
      </p:sp>
      <p:sp>
        <p:nvSpPr>
          <p:cNvPr id="20" name="Text 18"/>
          <p:cNvSpPr txBox="1"/>
          <p:nvPr/>
        </p:nvSpPr>
        <p:spPr>
          <a:xfrm>
            <a:off x="4023360" y="15773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4407408" y="1481328"/>
            <a:ext cx="4206240" cy="48463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22" name="Shape 20"/>
          <p:cNvSpPr/>
          <p:nvPr/>
        </p:nvSpPr>
        <p:spPr>
          <a:xfrm>
            <a:off x="3931920" y="2075688"/>
            <a:ext cx="4754880" cy="484632"/>
          </a:xfrm>
          <a:prstGeom prst="roundRect">
            <a:avLst>
              <a:gd name="adj" fmla="val 15094"/>
            </a:avLst>
          </a:prstGeom>
          <a:solidFill>
            <a:srgbClr val="F2ECE1"/>
          </a:solidFill>
          <a:ln w="19050">
            <a:solidFill>
              <a:srgbClr val="B6533C"/>
            </a:solidFill>
            <a:prstDash val="solid"/>
          </a:ln>
        </p:spPr>
      </p:sp>
      <p:sp>
        <p:nvSpPr>
          <p:cNvPr id="23" name="Shape 21"/>
          <p:cNvSpPr/>
          <p:nvPr/>
        </p:nvSpPr>
        <p:spPr>
          <a:xfrm>
            <a:off x="4023360" y="2171700"/>
            <a:ext cx="292608" cy="292608"/>
          </a:xfrm>
          <a:prstGeom prst="ellipse">
            <a:avLst/>
          </a:prstGeom>
          <a:solidFill>
            <a:srgbClr val="B6533C"/>
          </a:solidFill>
          <a:ln w="12700">
            <a:solidFill>
              <a:srgbClr val="B6533C"/>
            </a:solidFill>
            <a:prstDash val="solid"/>
          </a:ln>
        </p:spPr>
      </p:sp>
      <p:sp>
        <p:nvSpPr>
          <p:cNvPr id="24" name="Text 22"/>
          <p:cNvSpPr txBox="1"/>
          <p:nvPr/>
        </p:nvSpPr>
        <p:spPr>
          <a:xfrm>
            <a:off x="4023360" y="21717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4407408" y="2075688"/>
            <a:ext cx="4206240" cy="48463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6" name="Shape 24"/>
          <p:cNvSpPr/>
          <p:nvPr/>
        </p:nvSpPr>
        <p:spPr>
          <a:xfrm>
            <a:off x="3931920" y="2670048"/>
            <a:ext cx="4754880" cy="484632"/>
          </a:xfrm>
          <a:prstGeom prst="roundRect">
            <a:avLst>
              <a:gd name="adj" fmla="val 15094"/>
            </a:avLst>
          </a:prstGeom>
          <a:solidFill>
            <a:srgbClr val="F2ECE1"/>
          </a:solidFill>
          <a:ln w="19050">
            <a:solidFill>
              <a:srgbClr val="5B8C5A"/>
            </a:solidFill>
            <a:prstDash val="solid"/>
          </a:ln>
        </p:spPr>
      </p:sp>
      <p:sp>
        <p:nvSpPr>
          <p:cNvPr id="27" name="Shape 25"/>
          <p:cNvSpPr/>
          <p:nvPr/>
        </p:nvSpPr>
        <p:spPr>
          <a:xfrm>
            <a:off x="4023360" y="2766060"/>
            <a:ext cx="292608" cy="292608"/>
          </a:xfrm>
          <a:prstGeom prst="ellipse">
            <a:avLst/>
          </a:prstGeom>
          <a:solidFill>
            <a:srgbClr val="5B8C5A"/>
          </a:solidFill>
          <a:ln w="12700">
            <a:solidFill>
              <a:srgbClr val="5B8C5A"/>
            </a:solidFill>
            <a:prstDash val="solid"/>
          </a:ln>
        </p:spPr>
      </p:sp>
      <p:sp>
        <p:nvSpPr>
          <p:cNvPr id="28" name="Text 26"/>
          <p:cNvSpPr txBox="1"/>
          <p:nvPr/>
        </p:nvSpPr>
        <p:spPr>
          <a:xfrm>
            <a:off x="4023360" y="276606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9" name="Text 27"/>
          <p:cNvSpPr txBox="1"/>
          <p:nvPr/>
        </p:nvSpPr>
        <p:spPr>
          <a:xfrm>
            <a:off x="4407408" y="2670048"/>
            <a:ext cx="4206240" cy="48463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30" name="Text 28"/>
          <p:cNvSpPr txBox="1"/>
          <p:nvPr/>
        </p:nvSpPr>
        <p:spPr>
          <a:xfrm>
            <a:off x="3931920" y="32004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31" name="Shape 29"/>
          <p:cNvSpPr/>
          <p:nvPr/>
        </p:nvSpPr>
        <p:spPr>
          <a:xfrm>
            <a:off x="3931920" y="3474720"/>
            <a:ext cx="4754880" cy="1051560"/>
          </a:xfrm>
          <a:prstGeom prst="roundRect">
            <a:avLst>
              <a:gd name="adj" fmla="val 8696"/>
            </a:avLst>
          </a:prstGeom>
          <a:solidFill>
            <a:srgbClr val="23272E"/>
          </a:solidFill>
          <a:ln w="12700">
            <a:solidFill>
              <a:srgbClr val="23272E"/>
            </a:solidFill>
            <a:prstDash val="solid"/>
          </a:ln>
        </p:spPr>
      </p:sp>
      <p:sp>
        <p:nvSpPr>
          <p:cNvPr id="32" name="Text 30"/>
          <p:cNvSpPr txBox="1"/>
          <p:nvPr/>
        </p:nvSpPr>
        <p:spPr>
          <a:xfrm>
            <a:off x="4114800" y="3593592"/>
            <a:ext cx="4389120" cy="81381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def accept(claim, height, fees):</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subsidy = (50 * 10**8) &gt;&gt; (height // 210000)</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return claim &lt;= subsidy + fees</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850" dirty="0"/>
          </a:p>
        </p:txBody>
      </p:sp>
      <p:sp>
        <p:nvSpPr>
          <p:cNvPr id="33" name="Text 31"/>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 True]</a:t>
            </a:r>
            <a:endParaRPr lang="en-US" sz="900" dirty="0"/>
          </a:p>
        </p:txBody>
      </p:sp>
      <p:sp>
        <p:nvSpPr>
          <p:cNvPr id="34" name="Text 32"/>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February 2014</a:t>
            </a:r>
            <a:endParaRPr lang="en-US" sz="1300" dirty="0"/>
          </a:p>
        </p:txBody>
      </p:sp>
      <p:sp>
        <p:nvSpPr>
          <p:cNvPr id="6" name="Shape 4"/>
          <p:cNvSpPr/>
          <p:nvPr/>
        </p:nvSpPr>
        <p:spPr>
          <a:xfrm>
            <a:off x="457200" y="1371600"/>
            <a:ext cx="25908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8" name="Text 6"/>
          <p:cNvSpPr txBox="1"/>
          <p:nvPr/>
        </p:nvSpPr>
        <p:spPr>
          <a:xfrm>
            <a:off x="5669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reported missing in the 2014 bankruptcy filing</a:t>
            </a:r>
            <a:endParaRPr lang="en-US" sz="1150" dirty="0"/>
          </a:p>
        </p:txBody>
      </p:sp>
      <p:sp>
        <p:nvSpPr>
          <p:cNvPr id="9" name="Shape 7"/>
          <p:cNvSpPr/>
          <p:nvPr/>
        </p:nvSpPr>
        <p:spPr>
          <a:xfrm>
            <a:off x="3276600" y="1371600"/>
            <a:ext cx="2590800" cy="1280160"/>
          </a:xfrm>
          <a:prstGeom prst="roundRect">
            <a:avLst>
              <a:gd name="adj" fmla="val 5714"/>
            </a:avLst>
          </a:prstGeom>
          <a:solidFill>
            <a:srgbClr val="F2ECE1"/>
          </a:solidFill>
          <a:ln w="12700">
            <a:solidFill>
              <a:srgbClr val="DFD6C7"/>
            </a:solidFill>
            <a:prstDash val="solid"/>
          </a:ln>
        </p:spPr>
      </p:sp>
      <p:sp>
        <p:nvSpPr>
          <p:cNvPr id="10" name="Text 8"/>
          <p:cNvSpPr txBox="1"/>
          <p:nvPr/>
        </p:nvSpPr>
        <p:spPr>
          <a:xfrm>
            <a:off x="33863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1" name="Text 9"/>
          <p:cNvSpPr txBox="1"/>
          <p:nvPr/>
        </p:nvSpPr>
        <p:spPr>
          <a:xfrm>
            <a:off x="33863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exchange in the world</a:t>
            </a:r>
            <a:endParaRPr lang="en-US" sz="1150" dirty="0"/>
          </a:p>
        </p:txBody>
      </p:sp>
      <p:sp>
        <p:nvSpPr>
          <p:cNvPr id="12" name="Shape 10"/>
          <p:cNvSpPr/>
          <p:nvPr/>
        </p:nvSpPr>
        <p:spPr>
          <a:xfrm>
            <a:off x="6096000" y="1371600"/>
            <a:ext cx="2590800" cy="1280160"/>
          </a:xfrm>
          <a:prstGeom prst="roundRect">
            <a:avLst>
              <a:gd name="adj" fmla="val 5714"/>
            </a:avLst>
          </a:prstGeom>
          <a:solidFill>
            <a:srgbClr val="F2ECE1"/>
          </a:solidFill>
          <a:ln w="12700">
            <a:solidFill>
              <a:srgbClr val="DFD6C7"/>
            </a:solidFill>
            <a:prstDash val="solid"/>
          </a:ln>
        </p:spPr>
      </p:sp>
      <p:sp>
        <p:nvSpPr>
          <p:cNvPr id="13" name="Text 11"/>
          <p:cNvSpPr txBox="1"/>
          <p:nvPr/>
        </p:nvSpPr>
        <p:spPr>
          <a:xfrm>
            <a:off x="62057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5" name="Shape 13"/>
          <p:cNvSpPr/>
          <p:nvPr/>
        </p:nvSpPr>
        <p:spPr>
          <a:xfrm>
            <a:off x="457200" y="30754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88036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Customers saw balances on a website</a:t>
            </a:r>
            <a:endParaRPr lang="en-US" sz="1400" dirty="0"/>
          </a:p>
        </p:txBody>
      </p:sp>
      <p:sp>
        <p:nvSpPr>
          <p:cNvPr id="17" name="Shape 15"/>
          <p:cNvSpPr/>
          <p:nvPr/>
        </p:nvSpPr>
        <p:spPr>
          <a:xfrm>
            <a:off x="457200" y="3593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9852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The keys - so the coins - sat in one company's hands</a:t>
            </a:r>
            <a:endParaRPr lang="en-US" sz="1400" dirty="0"/>
          </a:p>
        </p:txBody>
      </p:sp>
      <p:sp>
        <p:nvSpPr>
          <p:cNvPr id="19" name="Shape 17"/>
          <p:cNvSpPr/>
          <p:nvPr/>
        </p:nvSpPr>
        <p:spPr>
          <a:xfrm>
            <a:off x="457200" y="411175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91668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When they vanished, the balances meant nothing</a:t>
            </a:r>
            <a:endParaRPr lang="en-US" sz="14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8" name="Shape 16"/>
          <p:cNvSpPr/>
          <p:nvPr/>
        </p:nvSpPr>
        <p:spPr>
          <a:xfrm flipV="1">
            <a:off x="4206240" y="1481328"/>
            <a:ext cx="4206240" cy="214884"/>
          </a:xfrm>
          <a:prstGeom prst="trapezoid">
            <a:avLst/>
          </a:prstGeom>
          <a:solidFill>
            <a:srgbClr val="2F6D62"/>
          </a:solidFill>
          <a:ln w="12700">
            <a:solidFill>
              <a:srgbClr val="FFFFFF"/>
            </a:solidFill>
            <a:prstDash val="solid"/>
          </a:ln>
        </p:spPr>
      </p:sp>
      <p:sp>
        <p:nvSpPr>
          <p:cNvPr id="19" name="Text 17"/>
          <p:cNvSpPr txBox="1"/>
          <p:nvPr/>
        </p:nvSpPr>
        <p:spPr>
          <a:xfrm>
            <a:off x="4206240" y="1481328"/>
            <a:ext cx="4206240"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20" name="Shape 18"/>
          <p:cNvSpPr/>
          <p:nvPr/>
        </p:nvSpPr>
        <p:spPr>
          <a:xfrm flipV="1">
            <a:off x="4584802" y="1805940"/>
            <a:ext cx="3449117" cy="214884"/>
          </a:xfrm>
          <a:prstGeom prst="trapezoid">
            <a:avLst/>
          </a:prstGeom>
          <a:solidFill>
            <a:srgbClr val="2F6D62"/>
          </a:solidFill>
          <a:ln w="12700">
            <a:solidFill>
              <a:srgbClr val="FFFFFF"/>
            </a:solidFill>
            <a:prstDash val="solid"/>
          </a:ln>
        </p:spPr>
      </p:sp>
      <p:sp>
        <p:nvSpPr>
          <p:cNvPr id="21" name="Text 19"/>
          <p:cNvSpPr txBox="1"/>
          <p:nvPr/>
        </p:nvSpPr>
        <p:spPr>
          <a:xfrm>
            <a:off x="4584802" y="1805940"/>
            <a:ext cx="3449117"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22" name="Shape 20"/>
          <p:cNvSpPr/>
          <p:nvPr/>
        </p:nvSpPr>
        <p:spPr>
          <a:xfrm flipV="1">
            <a:off x="4963363" y="2130552"/>
            <a:ext cx="2691994" cy="214884"/>
          </a:xfrm>
          <a:prstGeom prst="trapezoid">
            <a:avLst/>
          </a:prstGeom>
          <a:solidFill>
            <a:srgbClr val="2F6D62"/>
          </a:solidFill>
          <a:ln w="12700">
            <a:solidFill>
              <a:srgbClr val="FFFFFF"/>
            </a:solidFill>
            <a:prstDash val="solid"/>
          </a:ln>
        </p:spPr>
      </p:sp>
      <p:sp>
        <p:nvSpPr>
          <p:cNvPr id="23" name="Text 21"/>
          <p:cNvSpPr txBox="1"/>
          <p:nvPr/>
        </p:nvSpPr>
        <p:spPr>
          <a:xfrm>
            <a:off x="4963363" y="2130552"/>
            <a:ext cx="2691994"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4" name="Shape 22"/>
          <p:cNvSpPr/>
          <p:nvPr/>
        </p:nvSpPr>
        <p:spPr>
          <a:xfrm flipV="1">
            <a:off x="5341925" y="2455164"/>
            <a:ext cx="1934870" cy="214884"/>
          </a:xfrm>
          <a:prstGeom prst="trapezoid">
            <a:avLst/>
          </a:prstGeom>
          <a:solidFill>
            <a:srgbClr val="D97A14"/>
          </a:solidFill>
          <a:ln w="12700">
            <a:solidFill>
              <a:srgbClr val="FFFFFF"/>
            </a:solidFill>
            <a:prstDash val="solid"/>
          </a:ln>
        </p:spPr>
      </p:sp>
      <p:sp>
        <p:nvSpPr>
          <p:cNvPr id="25" name="Text 23"/>
          <p:cNvSpPr txBox="1"/>
          <p:nvPr/>
        </p:nvSpPr>
        <p:spPr>
          <a:xfrm>
            <a:off x="5341925" y="2455164"/>
            <a:ext cx="1934870" cy="2148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6" name="Text 24"/>
          <p:cNvSpPr txBox="1"/>
          <p:nvPr/>
        </p:nvSpPr>
        <p:spPr>
          <a:xfrm>
            <a:off x="4206240" y="2816352"/>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7" name="Text 25"/>
          <p:cNvSpPr txBox="1"/>
          <p:nvPr/>
        </p:nvSpPr>
        <p:spPr>
          <a:xfrm>
            <a:off x="3931920" y="29260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3931920" y="3200400"/>
            <a:ext cx="4754880" cy="1325880"/>
          </a:xfrm>
          <a:prstGeom prst="roundRect">
            <a:avLst>
              <a:gd name="adj" fmla="val 6897"/>
            </a:avLst>
          </a:prstGeom>
          <a:solidFill>
            <a:srgbClr val="23272E"/>
          </a:solidFill>
          <a:ln w="12700">
            <a:solidFill>
              <a:srgbClr val="23272E"/>
            </a:solidFill>
            <a:prstDash val="solid"/>
          </a:ln>
        </p:spPr>
      </p:sp>
      <p:sp>
        <p:nvSpPr>
          <p:cNvPr id="29" name="Text 27"/>
          <p:cNvSpPr txBox="1"/>
          <p:nvPr/>
        </p:nvSpPr>
        <p:spPr>
          <a:xfrm>
            <a:off x="4114800" y="3319272"/>
            <a:ext cx="4389120" cy="108813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import hmac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password, salt, iters = b'abandon', b'mnemonic', 2048</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seed =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for _ in range(iters - 1):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 = hmac.new(password, u, 'sha512').digest()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seed = bytes(a ^ b for a, b in zip(seed,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(len(seed), seed.hex()[:8])</a:t>
            </a:r>
            <a:endParaRPr lang="en-US" sz="800" dirty="0"/>
          </a:p>
        </p:txBody>
      </p:sp>
      <p:sp>
        <p:nvSpPr>
          <p:cNvPr id="30" name="Text 28"/>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(64, 'd96147bf')</a:t>
            </a:r>
            <a:endParaRPr lang="en-US" sz="900" dirty="0"/>
          </a:p>
        </p:txBody>
      </p:sp>
      <p:sp>
        <p:nvSpPr>
          <p:cNvPr id="31" name="Text 29"/>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761488"/>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761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72491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20" name="Shape 18"/>
          <p:cNvSpPr/>
          <p:nvPr/>
        </p:nvSpPr>
        <p:spPr>
          <a:xfrm>
            <a:off x="457200" y="3340608"/>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340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30403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3" name="Shape 21"/>
          <p:cNvSpPr/>
          <p:nvPr/>
        </p:nvSpPr>
        <p:spPr>
          <a:xfrm>
            <a:off x="457200" y="3919728"/>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919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88315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6" name="Text 24"/>
          <p:cNvSpPr txBox="1"/>
          <p:nvPr/>
        </p:nvSpPr>
        <p:spPr>
          <a:xfrm>
            <a:off x="3931920" y="263347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7" name="Shape 25"/>
          <p:cNvSpPr/>
          <p:nvPr/>
        </p:nvSpPr>
        <p:spPr>
          <a:xfrm>
            <a:off x="5212080" y="2660904"/>
            <a:ext cx="2240280" cy="310896"/>
          </a:xfrm>
          <a:prstGeom prst="roundRect">
            <a:avLst>
              <a:gd name="adj" fmla="val 14706"/>
            </a:avLst>
          </a:prstGeom>
          <a:solidFill>
            <a:srgbClr val="D97A14"/>
          </a:solidFill>
          <a:ln w="12700">
            <a:solidFill>
              <a:srgbClr val="D97A14"/>
            </a:solidFill>
            <a:prstDash val="solid"/>
          </a:ln>
        </p:spPr>
      </p:sp>
      <p:sp>
        <p:nvSpPr>
          <p:cNvPr id="28" name="Text 26"/>
          <p:cNvSpPr txBox="1"/>
          <p:nvPr/>
        </p:nvSpPr>
        <p:spPr>
          <a:xfrm>
            <a:off x="7507224" y="266090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9" name="Text 27"/>
          <p:cNvSpPr txBox="1"/>
          <p:nvPr/>
        </p:nvSpPr>
        <p:spPr>
          <a:xfrm>
            <a:off x="3931920" y="287731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30" name="Shape 28"/>
          <p:cNvSpPr/>
          <p:nvPr/>
        </p:nvSpPr>
        <p:spPr>
          <a:xfrm>
            <a:off x="5212080" y="2904744"/>
            <a:ext cx="1556805" cy="310896"/>
          </a:xfrm>
          <a:prstGeom prst="roundRect">
            <a:avLst>
              <a:gd name="adj" fmla="val 14706"/>
            </a:avLst>
          </a:prstGeom>
          <a:solidFill>
            <a:srgbClr val="2F6D62"/>
          </a:solidFill>
          <a:ln w="12700">
            <a:solidFill>
              <a:srgbClr val="2F6D62"/>
            </a:solidFill>
            <a:prstDash val="solid"/>
          </a:ln>
        </p:spPr>
      </p:sp>
      <p:sp>
        <p:nvSpPr>
          <p:cNvPr id="31" name="Text 29"/>
          <p:cNvSpPr txBox="1"/>
          <p:nvPr/>
        </p:nvSpPr>
        <p:spPr>
          <a:xfrm>
            <a:off x="6823749" y="290474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32" name="Text 30"/>
          <p:cNvSpPr txBox="1"/>
          <p:nvPr/>
        </p:nvSpPr>
        <p:spPr>
          <a:xfrm>
            <a:off x="3931920" y="31211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3" name="Shape 31"/>
          <p:cNvSpPr/>
          <p:nvPr/>
        </p:nvSpPr>
        <p:spPr>
          <a:xfrm>
            <a:off x="5212080" y="3148584"/>
            <a:ext cx="109728" cy="310896"/>
          </a:xfrm>
          <a:prstGeom prst="roundRect">
            <a:avLst>
              <a:gd name="adj" fmla="val 41667"/>
            </a:avLst>
          </a:prstGeom>
          <a:solidFill>
            <a:srgbClr val="D97A14"/>
          </a:solidFill>
          <a:ln w="12700">
            <a:solidFill>
              <a:srgbClr val="D97A14"/>
            </a:solidFill>
            <a:prstDash val="solid"/>
          </a:ln>
        </p:spPr>
      </p:sp>
      <p:sp>
        <p:nvSpPr>
          <p:cNvPr id="34" name="Text 32"/>
          <p:cNvSpPr txBox="1"/>
          <p:nvPr/>
        </p:nvSpPr>
        <p:spPr>
          <a:xfrm>
            <a:off x="5376672" y="31485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3931920" y="3493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6" name="Shape 34"/>
          <p:cNvSpPr/>
          <p:nvPr/>
        </p:nvSpPr>
        <p:spPr>
          <a:xfrm>
            <a:off x="3931920" y="3767328"/>
            <a:ext cx="4754880" cy="758952"/>
          </a:xfrm>
          <a:prstGeom prst="roundRect">
            <a:avLst>
              <a:gd name="adj" fmla="val 12048"/>
            </a:avLst>
          </a:prstGeom>
          <a:solidFill>
            <a:srgbClr val="23272E"/>
          </a:solidFill>
          <a:ln w="12700">
            <a:solidFill>
              <a:srgbClr val="23272E"/>
            </a:solidFill>
            <a:prstDash val="solid"/>
          </a:ln>
        </p:spPr>
      </p:sp>
      <p:sp>
        <p:nvSpPr>
          <p:cNvPr id="37" name="Text 35"/>
          <p:cNvSpPr txBox="1"/>
          <p:nvPr/>
        </p:nvSpPr>
        <p:spPr>
          <a:xfrm>
            <a:off x="4114800" y="3886200"/>
            <a:ext cx="4389120" cy="5212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onchain, a, b = 2, 60_000, 40_000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for _ in range(100):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 b = a - 10, b + 10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(a, b, a + b, onchain)</a:t>
            </a:r>
            <a:endParaRPr lang="en-US" sz="800" dirty="0"/>
          </a:p>
        </p:txBody>
      </p:sp>
      <p:sp>
        <p:nvSpPr>
          <p:cNvPr id="38" name="Text 36"/>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(59000, 41000, 100000, 2)</a:t>
            </a:r>
            <a:endParaRPr lang="en-US" sz="900" dirty="0"/>
          </a:p>
        </p:txBody>
      </p:sp>
      <p:sp>
        <p:nvSpPr>
          <p:cNvPr id="39" name="Text 37"/>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block stores the digest of the one before</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Verify = recompute every digest: True</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one byte in block 1 - block 2 refuses: False</a:t>
            </a:r>
            <a:endParaRPr lang="en-US" sz="1050" dirty="0"/>
          </a:p>
        </p:txBody>
      </p:sp>
      <p:sp>
        <p:nvSpPr>
          <p:cNvPr id="15" name="Shape 13"/>
          <p:cNvSpPr/>
          <p:nvPr/>
        </p:nvSpPr>
        <p:spPr>
          <a:xfrm>
            <a:off x="457200" y="3017520"/>
            <a:ext cx="838200" cy="1024128"/>
          </a:xfrm>
          <a:prstGeom prst="roundRect">
            <a:avLst>
              <a:gd name="adj" fmla="val 8727"/>
            </a:avLst>
          </a:prstGeom>
          <a:solidFill>
            <a:srgbClr val="F2ECE1"/>
          </a:solidFill>
          <a:ln w="22225">
            <a:solidFill>
              <a:srgbClr val="5B8C5A"/>
            </a:solidFill>
            <a:prstDash val="solid"/>
          </a:ln>
        </p:spPr>
      </p:sp>
      <p:sp>
        <p:nvSpPr>
          <p:cNvPr id="16" name="Text 14"/>
          <p:cNvSpPr txBox="1"/>
          <p:nvPr/>
        </p:nvSpPr>
        <p:spPr>
          <a:xfrm>
            <a:off x="457200" y="3072384"/>
            <a:ext cx="8382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17" name="Text 15"/>
          <p:cNvSpPr txBox="1"/>
          <p:nvPr/>
        </p:nvSpPr>
        <p:spPr>
          <a:xfrm>
            <a:off x="502920" y="3383280"/>
            <a:ext cx="7467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8" name="Shape 16"/>
          <p:cNvSpPr/>
          <p:nvPr/>
        </p:nvSpPr>
        <p:spPr>
          <a:xfrm>
            <a:off x="1295400" y="3529584"/>
            <a:ext cx="365760" cy="0"/>
          </a:xfrm>
          <a:prstGeom prst="line">
            <a:avLst/>
          </a:prstGeom>
          <a:noFill/>
          <a:ln w="25400">
            <a:solidFill>
              <a:srgbClr val="B6533C"/>
            </a:solidFill>
            <a:prstDash val="solid"/>
            <a:tailEnd type="triangle"/>
          </a:ln>
        </p:spPr>
      </p:sp>
      <p:sp>
        <p:nvSpPr>
          <p:cNvPr id="19" name="Shape 17"/>
          <p:cNvSpPr/>
          <p:nvPr/>
        </p:nvSpPr>
        <p:spPr>
          <a:xfrm>
            <a:off x="1661160" y="3017520"/>
            <a:ext cx="838200" cy="1024128"/>
          </a:xfrm>
          <a:prstGeom prst="roundRect">
            <a:avLst>
              <a:gd name="adj" fmla="val 8727"/>
            </a:avLst>
          </a:prstGeom>
          <a:solidFill>
            <a:srgbClr val="F3DED6"/>
          </a:solidFill>
          <a:ln w="22225">
            <a:solidFill>
              <a:srgbClr val="B6533C"/>
            </a:solidFill>
            <a:prstDash val="solid"/>
          </a:ln>
        </p:spPr>
      </p:sp>
      <p:sp>
        <p:nvSpPr>
          <p:cNvPr id="20" name="Text 18"/>
          <p:cNvSpPr txBox="1"/>
          <p:nvPr/>
        </p:nvSpPr>
        <p:spPr>
          <a:xfrm>
            <a:off x="1661160" y="3072384"/>
            <a:ext cx="8382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21" name="Text 19"/>
          <p:cNvSpPr txBox="1"/>
          <p:nvPr/>
        </p:nvSpPr>
        <p:spPr>
          <a:xfrm>
            <a:off x="1706880" y="3383280"/>
            <a:ext cx="7467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22" name="Shape 20"/>
          <p:cNvSpPr/>
          <p:nvPr/>
        </p:nvSpPr>
        <p:spPr>
          <a:xfrm>
            <a:off x="2499360" y="3529584"/>
            <a:ext cx="365760" cy="0"/>
          </a:xfrm>
          <a:prstGeom prst="line">
            <a:avLst/>
          </a:prstGeom>
          <a:noFill/>
          <a:ln w="25400">
            <a:solidFill>
              <a:srgbClr val="B6533C"/>
            </a:solidFill>
            <a:prstDash val="solid"/>
            <a:tailEnd type="triangle"/>
          </a:ln>
        </p:spPr>
      </p:sp>
      <p:sp>
        <p:nvSpPr>
          <p:cNvPr id="23" name="Shape 21"/>
          <p:cNvSpPr/>
          <p:nvPr/>
        </p:nvSpPr>
        <p:spPr>
          <a:xfrm>
            <a:off x="2865120" y="3017520"/>
            <a:ext cx="838200" cy="1024128"/>
          </a:xfrm>
          <a:prstGeom prst="roundRect">
            <a:avLst>
              <a:gd name="adj" fmla="val 8727"/>
            </a:avLst>
          </a:prstGeom>
          <a:solidFill>
            <a:srgbClr val="F3DED6"/>
          </a:solidFill>
          <a:ln w="22225">
            <a:solidFill>
              <a:srgbClr val="B6533C"/>
            </a:solidFill>
            <a:prstDash val="solid"/>
          </a:ln>
        </p:spPr>
      </p:sp>
      <p:sp>
        <p:nvSpPr>
          <p:cNvPr id="24" name="Text 22"/>
          <p:cNvSpPr txBox="1"/>
          <p:nvPr/>
        </p:nvSpPr>
        <p:spPr>
          <a:xfrm>
            <a:off x="2865120" y="3072384"/>
            <a:ext cx="8382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25" name="Text 23"/>
          <p:cNvSpPr txBox="1"/>
          <p:nvPr/>
        </p:nvSpPr>
        <p:spPr>
          <a:xfrm>
            <a:off x="2910840" y="3383280"/>
            <a:ext cx="7467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26" name="Text 24"/>
          <p:cNvSpPr txBox="1"/>
          <p:nvPr/>
        </p:nvSpPr>
        <p:spPr>
          <a:xfrm>
            <a:off x="457200" y="4114800"/>
            <a:ext cx="32461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7" name="Text 25"/>
          <p:cNvSpPr txBox="1"/>
          <p:nvPr/>
        </p:nvSpPr>
        <p:spPr>
          <a:xfrm>
            <a:off x="3931920" y="1207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3931920" y="1481328"/>
            <a:ext cx="4754880" cy="3017520"/>
          </a:xfrm>
          <a:prstGeom prst="roundRect">
            <a:avLst>
              <a:gd name="adj" fmla="val 3030"/>
            </a:avLst>
          </a:prstGeom>
          <a:solidFill>
            <a:srgbClr val="23272E"/>
          </a:solidFill>
          <a:ln w="12700">
            <a:solidFill>
              <a:srgbClr val="23272E"/>
            </a:solidFill>
            <a:prstDash val="solid"/>
          </a:ln>
        </p:spPr>
      </p:sp>
      <p:sp>
        <p:nvSpPr>
          <p:cNvPr id="29" name="Text 27"/>
          <p:cNvSpPr txBox="1"/>
          <p:nvPr/>
        </p:nvSpPr>
        <p:spPr>
          <a:xfrm>
            <a:off x="4114800" y="1600200"/>
            <a:ext cx="4389120" cy="277977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import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def build(items):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hs, prev = [], 'genesis'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d in items: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prev = link(prev, d); hs.append(prev)</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hs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stored = build(data)</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tampered = ['Joe pays Alice 100'] + data[1:]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00" dirty="0"/>
          </a:p>
        </p:txBody>
      </p:sp>
      <p:sp>
        <p:nvSpPr>
          <p:cNvPr id="30" name="Text 28"/>
          <p:cNvSpPr txBox="1"/>
          <p:nvPr/>
        </p:nvSpPr>
        <p:spPr>
          <a:xfrm>
            <a:off x="3931920" y="4517136"/>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a:t>
            </a:r>
            <a:endParaRPr lang="en-US" sz="900" dirty="0"/>
          </a:p>
        </p:txBody>
      </p:sp>
      <p:sp>
        <p:nvSpPr>
          <p:cNvPr id="31" name="Text 29"/>
          <p:cNvSpPr txBox="1"/>
          <p:nvPr/>
        </p:nvSpPr>
        <p:spPr>
          <a:xfrm>
            <a:off x="3931920" y="4773168"/>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Channels: Alice-Bob, Bob-Carol, Carol-Dave</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pays Dave with no direct channel</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path is searched and found: 3 hops, chain untouched</a:t>
            </a:r>
            <a:endParaRPr lang="en-US" sz="1050" dirty="0"/>
          </a:p>
        </p:txBody>
      </p:sp>
      <p:sp>
        <p:nvSpPr>
          <p:cNvPr id="15" name="Shape 13"/>
          <p:cNvSpPr/>
          <p:nvPr/>
        </p:nvSpPr>
        <p:spPr>
          <a:xfrm>
            <a:off x="886968" y="3602736"/>
            <a:ext cx="490728" cy="0"/>
          </a:xfrm>
          <a:prstGeom prst="line">
            <a:avLst/>
          </a:prstGeom>
          <a:noFill/>
          <a:ln w="28575">
            <a:solidFill>
              <a:srgbClr val="D97A14"/>
            </a:solidFill>
            <a:prstDash val="solid"/>
            <a:tailEnd type="triangle"/>
          </a:ln>
        </p:spPr>
      </p:sp>
      <p:sp>
        <p:nvSpPr>
          <p:cNvPr id="16" name="Shape 14"/>
          <p:cNvSpPr/>
          <p:nvPr/>
        </p:nvSpPr>
        <p:spPr>
          <a:xfrm>
            <a:off x="466344" y="3383280"/>
            <a:ext cx="438912" cy="438912"/>
          </a:xfrm>
          <a:prstGeom prst="ellipse">
            <a:avLst/>
          </a:prstGeom>
          <a:solidFill>
            <a:srgbClr val="D97A14"/>
          </a:solidFill>
          <a:ln w="19050">
            <a:solidFill>
              <a:srgbClr val="FFFFFF"/>
            </a:solidFill>
            <a:prstDash val="solid"/>
          </a:ln>
        </p:spPr>
      </p:sp>
      <p:sp>
        <p:nvSpPr>
          <p:cNvPr id="17" name="Text 15"/>
          <p:cNvSpPr txBox="1"/>
          <p:nvPr/>
        </p:nvSpPr>
        <p:spPr>
          <a:xfrm>
            <a:off x="137160" y="38770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8" name="Shape 16"/>
          <p:cNvSpPr/>
          <p:nvPr/>
        </p:nvSpPr>
        <p:spPr>
          <a:xfrm>
            <a:off x="1816608" y="3602736"/>
            <a:ext cx="490728" cy="0"/>
          </a:xfrm>
          <a:prstGeom prst="line">
            <a:avLst/>
          </a:prstGeom>
          <a:noFill/>
          <a:ln w="28575">
            <a:solidFill>
              <a:srgbClr val="D97A14"/>
            </a:solidFill>
            <a:prstDash val="solid"/>
            <a:tailEnd type="triangle"/>
          </a:ln>
        </p:spPr>
      </p:sp>
      <p:sp>
        <p:nvSpPr>
          <p:cNvPr id="19" name="Shape 17"/>
          <p:cNvSpPr/>
          <p:nvPr/>
        </p:nvSpPr>
        <p:spPr>
          <a:xfrm>
            <a:off x="1395984" y="3383280"/>
            <a:ext cx="438912" cy="438912"/>
          </a:xfrm>
          <a:prstGeom prst="ellipse">
            <a:avLst/>
          </a:prstGeom>
          <a:solidFill>
            <a:srgbClr val="2F6D62"/>
          </a:solidFill>
          <a:ln w="19050">
            <a:solidFill>
              <a:srgbClr val="FFFFFF"/>
            </a:solidFill>
            <a:prstDash val="solid"/>
          </a:ln>
        </p:spPr>
      </p:sp>
      <p:sp>
        <p:nvSpPr>
          <p:cNvPr id="20" name="Text 18"/>
          <p:cNvSpPr txBox="1"/>
          <p:nvPr/>
        </p:nvSpPr>
        <p:spPr>
          <a:xfrm>
            <a:off x="1066800" y="38770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21" name="Shape 19"/>
          <p:cNvSpPr/>
          <p:nvPr/>
        </p:nvSpPr>
        <p:spPr>
          <a:xfrm>
            <a:off x="2746248" y="3602736"/>
            <a:ext cx="490728" cy="0"/>
          </a:xfrm>
          <a:prstGeom prst="line">
            <a:avLst/>
          </a:prstGeom>
          <a:noFill/>
          <a:ln w="28575">
            <a:solidFill>
              <a:srgbClr val="D97A14"/>
            </a:solidFill>
            <a:prstDash val="solid"/>
            <a:tailEnd type="triangle"/>
          </a:ln>
        </p:spPr>
      </p:sp>
      <p:sp>
        <p:nvSpPr>
          <p:cNvPr id="22" name="Shape 20"/>
          <p:cNvSpPr/>
          <p:nvPr/>
        </p:nvSpPr>
        <p:spPr>
          <a:xfrm>
            <a:off x="2325624" y="3383280"/>
            <a:ext cx="438912" cy="438912"/>
          </a:xfrm>
          <a:prstGeom prst="ellipse">
            <a:avLst/>
          </a:prstGeom>
          <a:solidFill>
            <a:srgbClr val="2F6D62"/>
          </a:solidFill>
          <a:ln w="19050">
            <a:solidFill>
              <a:srgbClr val="FFFFFF"/>
            </a:solidFill>
            <a:prstDash val="solid"/>
          </a:ln>
        </p:spPr>
      </p:sp>
      <p:sp>
        <p:nvSpPr>
          <p:cNvPr id="23" name="Text 21"/>
          <p:cNvSpPr txBox="1"/>
          <p:nvPr/>
        </p:nvSpPr>
        <p:spPr>
          <a:xfrm>
            <a:off x="1996440" y="38770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4" name="Shape 22"/>
          <p:cNvSpPr/>
          <p:nvPr/>
        </p:nvSpPr>
        <p:spPr>
          <a:xfrm>
            <a:off x="3255264" y="3383280"/>
            <a:ext cx="438912" cy="438912"/>
          </a:xfrm>
          <a:prstGeom prst="ellipse">
            <a:avLst/>
          </a:prstGeom>
          <a:solidFill>
            <a:srgbClr val="D97A14"/>
          </a:solidFill>
          <a:ln w="19050">
            <a:solidFill>
              <a:srgbClr val="FFFFFF"/>
            </a:solidFill>
            <a:prstDash val="solid"/>
          </a:ln>
        </p:spPr>
      </p:sp>
      <p:sp>
        <p:nvSpPr>
          <p:cNvPr id="25" name="Text 23"/>
          <p:cNvSpPr txBox="1"/>
          <p:nvPr/>
        </p:nvSpPr>
        <p:spPr>
          <a:xfrm>
            <a:off x="2926080" y="38770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6" name="Text 24"/>
          <p:cNvSpPr txBox="1"/>
          <p:nvPr/>
        </p:nvSpPr>
        <p:spPr>
          <a:xfrm>
            <a:off x="365760" y="4261104"/>
            <a:ext cx="34290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7" name="Text 25"/>
          <p:cNvSpPr txBox="1"/>
          <p:nvPr/>
        </p:nvSpPr>
        <p:spPr>
          <a:xfrm>
            <a:off x="3931920" y="1207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3931920" y="1481328"/>
            <a:ext cx="4754880" cy="3017520"/>
          </a:xfrm>
          <a:prstGeom prst="roundRect">
            <a:avLst>
              <a:gd name="adj" fmla="val 3030"/>
            </a:avLst>
          </a:prstGeom>
          <a:solidFill>
            <a:srgbClr val="23272E"/>
          </a:solidFill>
          <a:ln w="12700">
            <a:solidFill>
              <a:srgbClr val="23272E"/>
            </a:solidFill>
            <a:prstDash val="solid"/>
          </a:ln>
        </p:spPr>
      </p:sp>
      <p:sp>
        <p:nvSpPr>
          <p:cNvPr id="29" name="Text 27"/>
          <p:cNvSpPr txBox="1"/>
          <p:nvPr/>
        </p:nvSpPr>
        <p:spPr>
          <a:xfrm>
            <a:off x="4114800" y="1600200"/>
            <a:ext cx="4389120" cy="277977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channels = {('Alice', 'Bob'), ('Bob', 'Carol'), ('Carol', 'Dave')}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nbr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path, frontier = {'Alice': ['Alice']}, ['Alice']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while 'Dave' not in path:</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nxt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x in frontier: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y in nbr[x]:</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y not in path: path[y] = path[x] + [y]; nxt.append(y)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frontier = nxt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00" dirty="0"/>
          </a:p>
        </p:txBody>
      </p:sp>
      <p:sp>
        <p:nvSpPr>
          <p:cNvPr id="30" name="Text 28"/>
          <p:cNvSpPr txBox="1"/>
          <p:nvPr/>
        </p:nvSpPr>
        <p:spPr>
          <a:xfrm>
            <a:off x="3931920" y="4517136"/>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(['Alice', 'Bob', 'Carol', 'Dave'], 3, False)</a:t>
            </a:r>
            <a:endParaRPr lang="en-US" sz="900" dirty="0"/>
          </a:p>
        </p:txBody>
      </p:sp>
      <p:sp>
        <p:nvSpPr>
          <p:cNvPr id="31" name="Text 29"/>
          <p:cNvSpPr txBox="1"/>
          <p:nvPr/>
        </p:nvSpPr>
        <p:spPr>
          <a:xfrm>
            <a:off x="3931920" y="4773168"/>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Developer documentation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block 0 came from here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20" name="Shape 18"/>
          <p:cNvSpPr/>
          <p:nvPr/>
        </p:nvSpPr>
        <p:spPr>
          <a:xfrm>
            <a:off x="493776" y="404164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968496"/>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CoinGecko - market data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5" name="Shape 23"/>
          <p:cNvSpPr/>
          <p:nvPr/>
        </p:nvSpPr>
        <p:spPr>
          <a:xfrm>
            <a:off x="4768596" y="204825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a:t>
            </a:r>
            <a:endParaRPr lang="en-US" sz="1000" dirty="0"/>
          </a:p>
        </p:txBody>
      </p:sp>
      <p:sp>
        <p:nvSpPr>
          <p:cNvPr id="27" name="Text 25"/>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2491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hashcash.org</a:t>
            </a:r>
            <a:endParaRPr lang="en-US" sz="1000" dirty="0"/>
          </a:p>
        </p:txBody>
      </p:sp>
      <p:sp>
        <p:nvSpPr>
          <p:cNvPr id="30" name="Shape 28"/>
          <p:cNvSpPr/>
          <p:nvPr/>
        </p:nvSpPr>
        <p:spPr>
          <a:xfrm>
            <a:off x="4768596" y="30540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b-money, Wei Dai (1998)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00" dirty="0"/>
          </a:p>
        </p:txBody>
      </p:sp>
      <p:sp>
        <p:nvSpPr>
          <p:cNvPr id="32" name="Shape 30"/>
          <p:cNvSpPr/>
          <p:nvPr/>
        </p:nvSpPr>
        <p:spPr>
          <a:xfrm>
            <a:off x="4768596" y="338328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2026-10-06T08:06:44Z</dcterms:created>
  <dcterms:modified xsi:type="dcterms:W3CDTF">2026-10-06T08:06:44Z</dcterms:modified>
</cp:coreProperties>
</file>